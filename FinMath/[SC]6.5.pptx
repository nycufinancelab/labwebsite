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3705" autoAdjust="0"/>
  </p:normalViewPr>
  <p:slideViewPr>
    <p:cSldViewPr>
      <p:cViewPr>
        <p:scale>
          <a:sx n="70" d="100"/>
          <a:sy n="70" d="100"/>
        </p:scale>
        <p:origin x="-516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E4875-D422-43EF-A037-B1AFB4E9913E}" type="datetimeFigureOut">
              <a:rPr lang="zh-TW" altLang="en-US" smtClean="0"/>
              <a:pPr/>
              <a:t>2008/5/22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314E5-42A5-4A5F-8D32-80AEB08F8DB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314E5-42A5-4A5F-8D32-80AEB08F8DB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1200" dirty="0" smtClean="0">
                <a:latin typeface="Cambria Math" pitchFamily="18" charset="0"/>
                <a:ea typeface="Cambria Math" pitchFamily="18" charset="0"/>
              </a:rPr>
              <a:t>Money market account</a:t>
            </a:r>
            <a:r>
              <a:rPr lang="zh-TW" altLang="en-US" sz="1200" dirty="0" smtClean="0">
                <a:latin typeface="+mn-lt"/>
                <a:ea typeface="+mn-ea"/>
              </a:rPr>
              <a:t>：期初存</a:t>
            </a:r>
            <a:r>
              <a:rPr lang="en-US" altLang="zh-TW" sz="1200" dirty="0" smtClean="0">
                <a:latin typeface="+mn-lt"/>
                <a:ea typeface="+mn-ea"/>
              </a:rPr>
              <a:t>$1</a:t>
            </a:r>
            <a:r>
              <a:rPr lang="zh-TW" altLang="en-US" sz="1200" dirty="0" smtClean="0">
                <a:latin typeface="+mn-lt"/>
                <a:ea typeface="+mn-ea"/>
              </a:rPr>
              <a:t>，在時間等於</a:t>
            </a:r>
            <a:r>
              <a:rPr lang="en-US" altLang="zh-TW" sz="1200" dirty="0" smtClean="0">
                <a:latin typeface="+mn-lt"/>
                <a:ea typeface="+mn-ea"/>
              </a:rPr>
              <a:t>t</a:t>
            </a:r>
            <a:r>
              <a:rPr lang="zh-TW" altLang="en-US" sz="1200" dirty="0" smtClean="0">
                <a:latin typeface="+mn-lt"/>
                <a:ea typeface="+mn-ea"/>
              </a:rPr>
              <a:t>時帳戶所持有金額</a:t>
            </a:r>
            <a:endParaRPr lang="en-US" altLang="zh-TW" sz="1200" dirty="0" smtClean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314E5-42A5-4A5F-8D32-80AEB08F8DB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B( t, T)=V(t)  B(T,T)=1</a:t>
            </a:r>
            <a:r>
              <a:rPr lang="zh-TW" altLang="en-US" dirty="0" smtClean="0"/>
              <a:t>代入</a:t>
            </a:r>
            <a:r>
              <a:rPr lang="en-US" altLang="zh-TW" dirty="0" smtClean="0"/>
              <a:t>(5.2.30)</a:t>
            </a:r>
            <a:r>
              <a:rPr lang="zh-TW" altLang="en-US" dirty="0" smtClean="0"/>
              <a:t>，即可滿足</a:t>
            </a:r>
            <a:r>
              <a:rPr lang="en-US" altLang="zh-TW" dirty="0" smtClean="0"/>
              <a:t>(6.5.2)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314E5-42A5-4A5F-8D32-80AEB08F8DB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affine:</a:t>
            </a:r>
            <a:r>
              <a:rPr lang="zh-TW" altLang="en-US" dirty="0" smtClean="0"/>
              <a:t> 相對於</a:t>
            </a:r>
            <a:r>
              <a:rPr lang="en-US" altLang="zh-TW" dirty="0" smtClean="0"/>
              <a:t>linear</a:t>
            </a:r>
          </a:p>
          <a:p>
            <a:r>
              <a:rPr lang="zh-TW" altLang="en-US" dirty="0" smtClean="0"/>
              <a:t>在利率模型中，</a:t>
            </a:r>
            <a:r>
              <a:rPr lang="en-US" altLang="zh-TW" dirty="0" smtClean="0"/>
              <a:t>linear</a:t>
            </a:r>
            <a:r>
              <a:rPr lang="zh-TW" altLang="en-US" dirty="0" smtClean="0"/>
              <a:t>指通過原點的直線，</a:t>
            </a:r>
            <a:r>
              <a:rPr lang="en-US" altLang="zh-TW" dirty="0" smtClean="0"/>
              <a:t>affine</a:t>
            </a:r>
            <a:r>
              <a:rPr lang="zh-TW" altLang="en-US" dirty="0" smtClean="0"/>
              <a:t>則有截距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314E5-42A5-4A5F-8D32-80AEB08F8DB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314E5-42A5-4A5F-8D32-80AEB08F8DB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f(t ,r)=exp( -r*C-A)    </a:t>
            </a:r>
            <a:r>
              <a:rPr lang="zh-TW" altLang="en-US" dirty="0" smtClean="0"/>
              <a:t>所以</a:t>
            </a:r>
            <a:r>
              <a:rPr lang="en-US" altLang="zh-TW" dirty="0" smtClean="0"/>
              <a:t>t=T</a:t>
            </a:r>
            <a:r>
              <a:rPr lang="zh-TW" altLang="en-US" dirty="0" smtClean="0"/>
              <a:t>時，</a:t>
            </a:r>
            <a:r>
              <a:rPr lang="en-US" altLang="zh-TW" dirty="0" smtClean="0"/>
              <a:t>C(T,T)=A(T,T)=0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314E5-42A5-4A5F-8D32-80AEB08F8DB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解</a:t>
            </a:r>
            <a:r>
              <a:rPr lang="en-US" altLang="zh-TW" dirty="0" smtClean="0"/>
              <a:t>A(</a:t>
            </a:r>
            <a:r>
              <a:rPr lang="zh-TW" altLang="en-US" dirty="0" smtClean="0"/>
              <a:t> </a:t>
            </a:r>
            <a:r>
              <a:rPr lang="en-US" altLang="zh-TW" dirty="0" smtClean="0"/>
              <a:t>t,</a:t>
            </a:r>
            <a:r>
              <a:rPr lang="zh-TW" altLang="en-US" dirty="0" smtClean="0"/>
              <a:t> </a:t>
            </a:r>
            <a:r>
              <a:rPr lang="en-US" altLang="zh-TW" dirty="0" smtClean="0"/>
              <a:t>T)</a:t>
            </a:r>
            <a:r>
              <a:rPr lang="zh-TW" altLang="en-US" dirty="0" smtClean="0"/>
              <a:t>之微分方程，因為等號右邊沒有</a:t>
            </a:r>
            <a:r>
              <a:rPr lang="en-US" altLang="zh-TW" dirty="0" smtClean="0"/>
              <a:t>A(</a:t>
            </a:r>
            <a:r>
              <a:rPr lang="zh-TW" altLang="en-US" dirty="0" smtClean="0"/>
              <a:t> </a:t>
            </a:r>
            <a:r>
              <a:rPr lang="en-US" altLang="zh-TW" dirty="0" smtClean="0"/>
              <a:t>t,</a:t>
            </a:r>
            <a:r>
              <a:rPr lang="zh-TW" altLang="en-US" dirty="0" smtClean="0"/>
              <a:t> </a:t>
            </a:r>
            <a:r>
              <a:rPr lang="en-US" altLang="zh-TW" dirty="0" smtClean="0"/>
              <a:t>T)</a:t>
            </a:r>
            <a:r>
              <a:rPr lang="zh-TW" altLang="en-US" dirty="0" smtClean="0"/>
              <a:t>，故照一般解法即可，不用像解</a:t>
            </a:r>
            <a:r>
              <a:rPr lang="en-US" altLang="zh-TW" dirty="0" smtClean="0"/>
              <a:t>C(</a:t>
            </a:r>
            <a:r>
              <a:rPr lang="zh-TW" altLang="en-US" dirty="0" smtClean="0"/>
              <a:t> </a:t>
            </a:r>
            <a:r>
              <a:rPr lang="en-US" altLang="zh-TW" dirty="0" smtClean="0"/>
              <a:t>t,</a:t>
            </a:r>
            <a:r>
              <a:rPr lang="zh-TW" altLang="en-US" dirty="0" smtClean="0"/>
              <a:t> </a:t>
            </a:r>
            <a:r>
              <a:rPr lang="en-US" altLang="zh-TW" dirty="0" smtClean="0"/>
              <a:t>T)</a:t>
            </a:r>
            <a:r>
              <a:rPr lang="zh-TW" altLang="en-US" dirty="0" smtClean="0"/>
              <a:t>一樣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314E5-42A5-4A5F-8D32-80AEB08F8DB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4.png"/><Relationship Id="rId7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7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86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42910" y="714356"/>
            <a:ext cx="7772400" cy="5286412"/>
          </a:xfrm>
        </p:spPr>
        <p:txBody>
          <a:bodyPr>
            <a:normAutofit/>
          </a:bodyPr>
          <a:lstStyle/>
          <a:p>
            <a:r>
              <a:rPr lang="en-US" altLang="zh-TW" sz="4200" b="1" dirty="0" smtClean="0">
                <a:latin typeface="Cambria Math" pitchFamily="18" charset="0"/>
                <a:ea typeface="Cambria Math" pitchFamily="18" charset="0"/>
              </a:rPr>
              <a:t>Stochastic Calculus for Finance II</a:t>
            </a:r>
            <a:r>
              <a:rPr lang="en-US" altLang="zh-TW" dirty="0" smtClean="0">
                <a:latin typeface="Cambria Math" pitchFamily="18" charset="0"/>
                <a:ea typeface="Cambria Math" pitchFamily="18" charset="0"/>
              </a:rPr>
              <a:t/>
            </a:r>
            <a:br>
              <a:rPr lang="en-US" altLang="zh-TW" dirty="0" smtClean="0">
                <a:latin typeface="Cambria Math" pitchFamily="18" charset="0"/>
                <a:ea typeface="Cambria Math" pitchFamily="18" charset="0"/>
              </a:rPr>
            </a:br>
            <a:r>
              <a:rPr lang="en-US" altLang="zh-TW" sz="3200" dirty="0" smtClean="0">
                <a:latin typeface="Cambria Math" pitchFamily="18" charset="0"/>
                <a:ea typeface="Cambria Math" pitchFamily="18" charset="0"/>
              </a:rPr>
              <a:t>Steven  E. Shreve</a:t>
            </a:r>
            <a:br>
              <a:rPr lang="en-US" altLang="zh-TW" sz="3200" dirty="0" smtClean="0">
                <a:latin typeface="Cambria Math" pitchFamily="18" charset="0"/>
                <a:ea typeface="Cambria Math" pitchFamily="18" charset="0"/>
              </a:rPr>
            </a:br>
            <a:r>
              <a:rPr lang="en-US" altLang="zh-TW" sz="3200" dirty="0" smtClean="0">
                <a:latin typeface="Cambria Math" pitchFamily="18" charset="0"/>
                <a:ea typeface="Cambria Math" pitchFamily="18" charset="0"/>
              </a:rPr>
              <a:t/>
            </a:r>
            <a:br>
              <a:rPr lang="en-US" altLang="zh-TW" sz="3200" dirty="0" smtClean="0">
                <a:latin typeface="Cambria Math" pitchFamily="18" charset="0"/>
                <a:ea typeface="Cambria Math" pitchFamily="18" charset="0"/>
              </a:rPr>
            </a:br>
            <a:r>
              <a:rPr lang="en-US" altLang="zh-TW" b="1" dirty="0" smtClean="0">
                <a:latin typeface="Cambria Math" pitchFamily="18" charset="0"/>
                <a:ea typeface="Cambria Math" pitchFamily="18" charset="0"/>
              </a:rPr>
              <a:t> 6.5  Interest Rate Models </a:t>
            </a:r>
            <a:r>
              <a:rPr lang="en-US" altLang="zh-TW" sz="3000" dirty="0" smtClean="0">
                <a:latin typeface="Cambria Math" pitchFamily="18" charset="0"/>
                <a:ea typeface="Cambria Math" pitchFamily="18" charset="0"/>
              </a:rPr>
              <a:t>(1)</a:t>
            </a:r>
            <a:r>
              <a:rPr lang="en-US" altLang="zh-TW" b="1" dirty="0" smtClean="0">
                <a:latin typeface="Cambria Math" pitchFamily="18" charset="0"/>
                <a:ea typeface="Cambria Math" pitchFamily="18" charset="0"/>
              </a:rPr>
              <a:t/>
            </a:r>
            <a:br>
              <a:rPr lang="en-US" altLang="zh-TW" b="1" dirty="0" smtClean="0">
                <a:latin typeface="Cambria Math" pitchFamily="18" charset="0"/>
                <a:ea typeface="Cambria Math" pitchFamily="18" charset="0"/>
              </a:rPr>
            </a:br>
            <a:r>
              <a:rPr lang="en-US" altLang="zh-TW" b="1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b="1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3600" b="1" dirty="0" smtClean="0">
                <a:latin typeface="微軟正黑體" pitchFamily="34" charset="-120"/>
                <a:ea typeface="微軟正黑體" pitchFamily="34" charset="-120"/>
              </a:rPr>
              <a:t>交大財金所碩一  許嵐鈞</a:t>
            </a:r>
            <a:r>
              <a:rPr lang="zh-TW" altLang="en-US" sz="3600" b="1" dirty="0" smtClean="0">
                <a:latin typeface="Cambria Math" pitchFamily="18" charset="0"/>
                <a:ea typeface="Cambria Math" pitchFamily="18" charset="0"/>
              </a:rPr>
              <a:t>            </a:t>
            </a:r>
            <a:r>
              <a:rPr lang="en-US" altLang="zh-TW" b="1" dirty="0" smtClean="0">
                <a:latin typeface="Cambria Math" pitchFamily="18" charset="0"/>
                <a:ea typeface="Cambria Math" pitchFamily="18" charset="0"/>
              </a:rPr>
              <a:t/>
            </a:r>
            <a:br>
              <a:rPr lang="en-US" altLang="zh-TW" b="1" dirty="0" smtClean="0">
                <a:latin typeface="Cambria Math" pitchFamily="18" charset="0"/>
                <a:ea typeface="Cambria Math" pitchFamily="18" charset="0"/>
              </a:rPr>
            </a:br>
            <a:endParaRPr lang="zh-TW" altLang="en-US" sz="2400" dirty="0">
              <a:latin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Cambria Math" pitchFamily="18" charset="0"/>
                <a:ea typeface="Cambria Math" pitchFamily="18" charset="0"/>
              </a:rPr>
              <a:t>Short-rate models</a:t>
            </a:r>
            <a:endParaRPr lang="zh-TW" altLang="en-US" dirty="0">
              <a:latin typeface="Cambria Math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Simplest models for fixed income markets:</a:t>
            </a:r>
          </a:p>
          <a:p>
            <a:endParaRPr lang="en-US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Risk-neutral measures &amp; risk-neutral pricing formula:</a:t>
            </a:r>
            <a:r>
              <a:rPr lang="zh-TW" altLang="en-US" sz="2400" dirty="0" smtClean="0">
                <a:latin typeface="Cambria Math" pitchFamily="18" charset="0"/>
              </a:rPr>
              <a:t>    </a:t>
            </a: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discounted assets prices are 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martingales.</a:t>
            </a: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R(t) is for short-term 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borrowing.</a:t>
            </a: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One factor model: R(t) determined by only 1 stochastic differential equation, cannot capture complicated yield curve 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behavior.</a:t>
            </a: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zh-TW" altLang="en-US" sz="2400" dirty="0">
              <a:latin typeface="Cambria Math" pitchFamily="18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2214554"/>
            <a:ext cx="5133975" cy="400050"/>
          </a:xfrm>
          <a:prstGeom prst="rect">
            <a:avLst/>
          </a:prstGeom>
          <a:noFill/>
        </p:spPr>
      </p:pic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92" y="2214554"/>
            <a:ext cx="885825" cy="361950"/>
          </a:xfrm>
          <a:prstGeom prst="rect">
            <a:avLst/>
          </a:prstGeom>
          <a:noFill/>
        </p:spPr>
      </p:pic>
      <p:sp>
        <p:nvSpPr>
          <p:cNvPr id="4110" name="Rectangle 14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13" name="日期版面配置區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Cambria Math" pitchFamily="18" charset="0"/>
                <a:ea typeface="Cambria Math" pitchFamily="18" charset="0"/>
              </a:rPr>
              <a:t>Review: discount process</a:t>
            </a:r>
            <a:endParaRPr lang="zh-TW" altLang="en-US" dirty="0">
              <a:latin typeface="Cambria Math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Discount process:</a:t>
            </a: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Money market account price process:</a:t>
            </a:r>
          </a:p>
          <a:p>
            <a:pPr>
              <a:buNone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r>
              <a:rPr lang="en-US" altLang="zh-TW" sz="2400" dirty="0" smtClean="0"/>
              <a:t> </a:t>
            </a:r>
          </a:p>
          <a:p>
            <a:pPr>
              <a:buNone/>
            </a:pPr>
            <a:r>
              <a:rPr lang="en-US" altLang="zh-TW" dirty="0" smtClean="0"/>
              <a:t> 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3429000"/>
            <a:ext cx="3114675" cy="828675"/>
          </a:xfrm>
          <a:prstGeom prst="rect">
            <a:avLst/>
          </a:prstGeom>
          <a:noFill/>
        </p:spPr>
      </p:pic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12858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0" y="11525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0" y="11525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1928802"/>
            <a:ext cx="3390900" cy="828675"/>
          </a:xfrm>
          <a:prstGeom prst="rect">
            <a:avLst/>
          </a:prstGeom>
          <a:noFill/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12858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00958" y="2214554"/>
            <a:ext cx="1057275" cy="361950"/>
          </a:xfrm>
          <a:prstGeom prst="rect">
            <a:avLst/>
          </a:prstGeom>
          <a:noFill/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4853000"/>
            <a:ext cx="2895600" cy="361950"/>
          </a:xfrm>
          <a:prstGeom prst="rect">
            <a:avLst/>
          </a:prstGeom>
          <a:noFill/>
        </p:spPr>
      </p:pic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819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14876" y="4643446"/>
            <a:ext cx="2495550" cy="762000"/>
          </a:xfrm>
          <a:prstGeom prst="rect">
            <a:avLst/>
          </a:prstGeom>
          <a:noFill/>
        </p:spPr>
      </p:pic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0" y="12192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200" dirty="0" smtClean="0">
                <a:latin typeface="Cambria Math" pitchFamily="18" charset="0"/>
                <a:ea typeface="Cambria Math" pitchFamily="18" charset="0"/>
              </a:rPr>
              <a:t>Zero-coupon bond pricing formula</a:t>
            </a:r>
            <a:endParaRPr lang="zh-TW" altLang="en-US" sz="4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Risk-neutral pricing formula:</a:t>
            </a: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Zero-coupon bond pricing formula:</a:t>
            </a:r>
          </a:p>
          <a:p>
            <a:pPr>
              <a:buNone/>
            </a:pPr>
            <a:r>
              <a:rPr lang="en-US" altLang="zh-TW" dirty="0" smtClean="0"/>
              <a:t>   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2285992"/>
            <a:ext cx="3990975" cy="371475"/>
          </a:xfrm>
          <a:prstGeom prst="rect">
            <a:avLst/>
          </a:prstGeom>
          <a:noFill/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15253" y="2357430"/>
            <a:ext cx="1057275" cy="361950"/>
          </a:xfrm>
          <a:prstGeom prst="rect">
            <a:avLst/>
          </a:prstGeom>
          <a:noFill/>
        </p:spPr>
      </p:pic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3500438"/>
            <a:ext cx="3657600" cy="371475"/>
          </a:xfrm>
          <a:prstGeom prst="rect">
            <a:avLst/>
          </a:prstGeom>
          <a:noFill/>
        </p:spPr>
      </p:pic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86703" y="3571876"/>
            <a:ext cx="885825" cy="361950"/>
          </a:xfrm>
          <a:prstGeom prst="rect">
            <a:avLst/>
          </a:prstGeom>
          <a:noFill/>
        </p:spPr>
      </p:pic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4071942"/>
            <a:ext cx="5143500" cy="971550"/>
          </a:xfrm>
          <a:prstGeom prst="rect">
            <a:avLst/>
          </a:prstGeom>
          <a:noFill/>
        </p:spPr>
      </p:pic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0" y="1428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19716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kumimoji="1" lang="en-US" altLang="zh-TW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新細明體" pitchFamily="18" charset="-120"/>
                <a:cs typeface="Times New Roman" pitchFamily="18" charset="0"/>
              </a:rPr>
              <a:t>   </a:t>
            </a:r>
            <a:endParaRPr kumimoji="1" lang="en-US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050" name="Picture 26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86703" y="5286388"/>
            <a:ext cx="885825" cy="361950"/>
          </a:xfrm>
          <a:prstGeom prst="rect">
            <a:avLst/>
          </a:prstGeom>
          <a:noFill/>
        </p:spPr>
      </p:pic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053" name="Picture 29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43042" y="5286388"/>
            <a:ext cx="2552700" cy="542925"/>
          </a:xfrm>
          <a:prstGeom prst="rect">
            <a:avLst/>
          </a:prstGeom>
          <a:noFill/>
        </p:spPr>
      </p:pic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1000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" name="投影片編號版面配置區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29" name="日期版面配置區 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dirty="0" smtClean="0">
                <a:latin typeface="Cambria Math" pitchFamily="18" charset="0"/>
                <a:ea typeface="Cambria Math" pitchFamily="18" charset="0"/>
                <a:cs typeface="+mn-cs"/>
              </a:rPr>
              <a:t>Yield</a:t>
            </a:r>
            <a:endParaRPr lang="zh-TW" altLang="en-US" dirty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64305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Define the constant rate of continuously interest between time t and T as yield:</a:t>
            </a: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equivalently, </a:t>
            </a:r>
          </a:p>
          <a:p>
            <a:pPr>
              <a:buNone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Short rate decided by (6.5.1), long rate determined by the formula above; no long rate model 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separately.</a:t>
            </a: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lnSpc>
                <a:spcPct val="160000"/>
              </a:lnSpc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R is given by SDE, it is a Markov process  </a:t>
            </a:r>
            <a:r>
              <a:rPr lang="en-US" altLang="zh-TW" sz="2200" dirty="0" smtClean="0">
                <a:latin typeface="Cambria Math" pitchFamily="18" charset="0"/>
                <a:ea typeface="Cambria Math" pitchFamily="18" charset="0"/>
              </a:rPr>
              <a:t>(P.267 Corollary 6.3.2)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                                                                   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                                                                     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  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</a:t>
            </a:r>
            <a:r>
              <a:rPr lang="en-US" altLang="zh-TW" sz="2600" dirty="0" smtClean="0">
                <a:latin typeface="Cambria Math" pitchFamily="18" charset="0"/>
                <a:ea typeface="Cambria Math" pitchFamily="18" charset="0"/>
              </a:rPr>
              <a:t>so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</a:t>
            </a:r>
          </a:p>
          <a:p>
            <a:pPr>
              <a:buNone/>
            </a:pPr>
            <a:endParaRPr lang="zh-TW" altLang="en-US" sz="24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2143116"/>
            <a:ext cx="3667125" cy="685800"/>
          </a:xfrm>
          <a:prstGeom prst="rect">
            <a:avLst/>
          </a:prstGeom>
          <a:noFill/>
        </p:spPr>
      </p:pic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11430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43174" y="2895599"/>
            <a:ext cx="2847975" cy="390525"/>
          </a:xfrm>
          <a:prstGeom prst="rect">
            <a:avLst/>
          </a:prstGeom>
          <a:noFill/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847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4857760"/>
            <a:ext cx="3914775" cy="542925"/>
          </a:xfrm>
          <a:prstGeom prst="rect">
            <a:avLst/>
          </a:prstGeom>
          <a:noFill/>
        </p:spPr>
      </p:pic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1000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71604" y="5572140"/>
            <a:ext cx="5181600" cy="581025"/>
          </a:xfrm>
          <a:prstGeom prst="rect">
            <a:avLst/>
          </a:prstGeom>
          <a:noFill/>
        </p:spPr>
      </p:pic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8442" name="Picture 10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14942" y="5000636"/>
            <a:ext cx="1695450" cy="361950"/>
          </a:xfrm>
          <a:prstGeom prst="rect">
            <a:avLst/>
          </a:prstGeom>
          <a:noFill/>
        </p:spPr>
      </p:pic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20" name="日期版面配置區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ct val="20000"/>
              </a:spcBef>
            </a:pPr>
            <a:r>
              <a:rPr lang="en-US" altLang="zh-TW" dirty="0" smtClean="0">
                <a:latin typeface="Cambria Math" pitchFamily="18" charset="0"/>
                <a:ea typeface="Cambria Math" pitchFamily="18" charset="0"/>
                <a:cs typeface="+mn-cs"/>
              </a:rPr>
              <a:t>Find the PDE of unknown </a:t>
            </a:r>
            <a:endParaRPr lang="zh-TW" altLang="en-US" i="1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Review: P.269, principle behind Feynman-</a:t>
            </a:r>
            <a:r>
              <a:rPr lang="en-US" altLang="zh-TW" sz="2400" dirty="0" err="1" smtClean="0">
                <a:latin typeface="Cambria Math" pitchFamily="18" charset="0"/>
                <a:ea typeface="Cambria Math" pitchFamily="18" charset="0"/>
              </a:rPr>
              <a:t>Kac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Theorem:</a:t>
            </a:r>
          </a:p>
          <a:p>
            <a:pPr marL="742950" lvl="2" indent="-342900">
              <a:buFont typeface="Wingdings" pitchFamily="2" charset="2"/>
              <a:buChar char="Ø"/>
            </a:pPr>
            <a:r>
              <a:rPr lang="en-US" altLang="zh-TW" sz="2000" dirty="0" smtClean="0">
                <a:latin typeface="Cambria Math" pitchFamily="18" charset="0"/>
                <a:ea typeface="Cambria Math" pitchFamily="18" charset="0"/>
              </a:rPr>
              <a:t>find the martingale </a:t>
            </a:r>
          </a:p>
          <a:p>
            <a:pPr marL="742950" lvl="2" indent="-342900">
              <a:buFont typeface="Wingdings" pitchFamily="2" charset="2"/>
              <a:buChar char="Ø"/>
            </a:pPr>
            <a:r>
              <a:rPr lang="en-US" altLang="zh-TW" sz="2000" dirty="0" smtClean="0">
                <a:latin typeface="Cambria Math" pitchFamily="18" charset="0"/>
                <a:ea typeface="Cambria Math" pitchFamily="18" charset="0"/>
              </a:rPr>
              <a:t>take the differential </a:t>
            </a:r>
          </a:p>
          <a:p>
            <a:pPr marL="742950" lvl="2" indent="-342900">
              <a:buFont typeface="Wingdings" pitchFamily="2" charset="2"/>
              <a:buChar char="Ø"/>
            </a:pPr>
            <a:r>
              <a:rPr lang="en-US" altLang="zh-TW" sz="2000" dirty="0" smtClean="0">
                <a:latin typeface="Cambria Math" pitchFamily="18" charset="0"/>
                <a:ea typeface="Cambria Math" pitchFamily="18" charset="0"/>
              </a:rPr>
              <a:t>set the </a:t>
            </a:r>
            <a:r>
              <a:rPr lang="en-US" altLang="zh-TW" sz="2000" dirty="0" err="1" smtClean="0">
                <a:latin typeface="Cambria Math" pitchFamily="18" charset="0"/>
                <a:ea typeface="Cambria Math" pitchFamily="18" charset="0"/>
              </a:rPr>
              <a:t>dt</a:t>
            </a:r>
            <a:r>
              <a:rPr lang="en-US" altLang="zh-TW" sz="2000" dirty="0" smtClean="0">
                <a:latin typeface="Cambria Math" pitchFamily="18" charset="0"/>
                <a:ea typeface="Cambria Math" pitchFamily="18" charset="0"/>
              </a:rPr>
              <a:t> term to zero</a:t>
            </a:r>
          </a:p>
          <a:p>
            <a:pPr marL="742950" lvl="2" indent="-342900">
              <a:buNone/>
            </a:pPr>
            <a:r>
              <a:rPr lang="en-US" altLang="zh-TW" dirty="0" smtClean="0">
                <a:latin typeface="Cambria Math" pitchFamily="18" charset="0"/>
                <a:ea typeface="Cambria Math" pitchFamily="18" charset="0"/>
              </a:rPr>
              <a:t>Then we will have a PDE, which can be solved numerically.</a:t>
            </a: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Feynman-</a:t>
            </a:r>
            <a:r>
              <a:rPr lang="en-US" altLang="zh-TW" sz="2400" dirty="0" err="1" smtClean="0">
                <a:latin typeface="Cambria Math" pitchFamily="18" charset="0"/>
                <a:ea typeface="Cambria Math" pitchFamily="18" charset="0"/>
              </a:rPr>
              <a:t>Kac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Theorem: relates SDE and 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PDE.</a:t>
            </a: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Numerical algorithm: converge quickly in one-dimension, and give the function g(</a:t>
            </a:r>
            <a:r>
              <a:rPr lang="en-US" altLang="zh-TW" sz="2400" dirty="0" err="1" smtClean="0">
                <a:latin typeface="Cambria Math" pitchFamily="18" charset="0"/>
                <a:ea typeface="Cambria Math" pitchFamily="18" charset="0"/>
              </a:rPr>
              <a:t>t,x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) of all (</a:t>
            </a:r>
            <a:r>
              <a:rPr lang="en-US" altLang="zh-TW" sz="2400" dirty="0" err="1" smtClean="0">
                <a:latin typeface="Cambria Math" pitchFamily="18" charset="0"/>
                <a:ea typeface="Cambria Math" pitchFamily="18" charset="0"/>
              </a:rPr>
              <a:t>t,x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) simultaneously. </a:t>
            </a:r>
          </a:p>
          <a:p>
            <a:pPr marL="742950" lvl="2" indent="-342900">
              <a:buNone/>
            </a:pPr>
            <a:endParaRPr lang="en-US" altLang="zh-TW" dirty="0" smtClean="0">
              <a:latin typeface="Cambria Math" pitchFamily="18" charset="0"/>
              <a:ea typeface="Cambria Math" pitchFamily="18" charset="0"/>
            </a:endParaRPr>
          </a:p>
          <a:p>
            <a:pPr marL="742950" lvl="2" indent="-342900">
              <a:buNone/>
            </a:pPr>
            <a:endParaRPr lang="en-US" altLang="zh-TW" dirty="0" smtClean="0">
              <a:latin typeface="Cambria Math" pitchFamily="18" charset="0"/>
              <a:ea typeface="Cambria Math" pitchFamily="18" charset="0"/>
            </a:endParaRPr>
          </a:p>
          <a:p>
            <a:pPr marL="742950" lvl="2" indent="-342900"/>
            <a:endParaRPr lang="en-US" altLang="zh-TW" dirty="0" smtClean="0">
              <a:latin typeface="Cambria Math" pitchFamily="18" charset="0"/>
              <a:ea typeface="Cambria Math" pitchFamily="18" charset="0"/>
            </a:endParaRPr>
          </a:p>
          <a:p>
            <a:pPr marL="742950" lvl="2" indent="-342900">
              <a:buNone/>
            </a:pPr>
            <a:endParaRPr lang="zh-TW" altLang="en-US" sz="2000" dirty="0" smtClean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86578" y="500042"/>
            <a:ext cx="1504950" cy="657225"/>
          </a:xfrm>
          <a:prstGeom prst="rect">
            <a:avLst/>
          </a:prstGeom>
          <a:noFill/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11144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6381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0" y="752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0" y="7239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ct val="20000"/>
              </a:spcBef>
            </a:pPr>
            <a:r>
              <a:rPr lang="en-US" altLang="zh-TW" dirty="0" smtClean="0">
                <a:latin typeface="Cambria Math" pitchFamily="18" charset="0"/>
                <a:ea typeface="Cambria Math" pitchFamily="18" charset="0"/>
                <a:cs typeface="+mn-cs"/>
              </a:rPr>
              <a:t>Find the PDE of unknown </a:t>
            </a:r>
            <a:endParaRPr lang="zh-TW" altLang="en-US" i="1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pPr marL="342900" lvl="2" indent="-342900"/>
            <a:r>
              <a:rPr lang="en-US" altLang="zh-TW" dirty="0" smtClean="0">
                <a:latin typeface="Cambria Math" pitchFamily="18" charset="0"/>
                <a:ea typeface="Cambria Math" pitchFamily="18" charset="0"/>
              </a:rPr>
              <a:t>Find the martingale:  </a:t>
            </a: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Take the differential:</a:t>
            </a: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Set </a:t>
            </a:r>
            <a:r>
              <a:rPr lang="en-US" altLang="zh-TW" sz="2400" dirty="0" err="1" smtClean="0">
                <a:latin typeface="Cambria Math" pitchFamily="18" charset="0"/>
                <a:ea typeface="Cambria Math" pitchFamily="18" charset="0"/>
              </a:rPr>
              <a:t>dt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term to zero:</a:t>
            </a:r>
          </a:p>
          <a:p>
            <a:pPr marL="342900" lvl="1" indent="-342900">
              <a:lnSpc>
                <a:spcPct val="150000"/>
              </a:lnSpc>
              <a:buNone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 marL="742950" lvl="2" indent="-342900">
              <a:buNone/>
            </a:pPr>
            <a:endParaRPr lang="en-US" altLang="zh-TW" dirty="0" smtClean="0">
              <a:latin typeface="Cambria Math" pitchFamily="18" charset="0"/>
              <a:ea typeface="Cambria Math" pitchFamily="18" charset="0"/>
            </a:endParaRPr>
          </a:p>
          <a:p>
            <a:pPr marL="742950" lvl="2" indent="-342900">
              <a:buNone/>
            </a:pPr>
            <a:endParaRPr lang="en-US" altLang="zh-TW" dirty="0" smtClean="0">
              <a:latin typeface="Cambria Math" pitchFamily="18" charset="0"/>
              <a:ea typeface="Cambria Math" pitchFamily="18" charset="0"/>
            </a:endParaRPr>
          </a:p>
          <a:p>
            <a:pPr marL="742950" lvl="2" indent="-342900"/>
            <a:endParaRPr lang="en-US" altLang="zh-TW" dirty="0" smtClean="0">
              <a:latin typeface="Cambria Math" pitchFamily="18" charset="0"/>
              <a:ea typeface="Cambria Math" pitchFamily="18" charset="0"/>
            </a:endParaRPr>
          </a:p>
          <a:p>
            <a:pPr marL="742950" lvl="2" indent="-342900">
              <a:buNone/>
            </a:pPr>
            <a:endParaRPr lang="zh-TW" altLang="en-US" sz="2000" dirty="0" smtClean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86578" y="500042"/>
            <a:ext cx="1504950" cy="657225"/>
          </a:xfrm>
          <a:prstGeom prst="rect">
            <a:avLst/>
          </a:prstGeom>
          <a:noFill/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11144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14744" y="1714488"/>
            <a:ext cx="3743325" cy="361950"/>
          </a:xfrm>
          <a:prstGeom prst="rect">
            <a:avLst/>
          </a:prstGeom>
          <a:noFill/>
        </p:spPr>
      </p:pic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57620" y="2214554"/>
            <a:ext cx="2209800" cy="504825"/>
          </a:xfrm>
          <a:prstGeom prst="rect">
            <a:avLst/>
          </a:prstGeom>
          <a:noFill/>
        </p:spPr>
      </p:pic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962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9465" name="Picture 9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2714620"/>
            <a:ext cx="3638550" cy="314325"/>
          </a:xfrm>
          <a:prstGeom prst="rect">
            <a:avLst/>
          </a:prstGeom>
          <a:noFill/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3071810"/>
            <a:ext cx="4867275" cy="523875"/>
          </a:xfrm>
          <a:prstGeom prst="rect">
            <a:avLst/>
          </a:prstGeom>
          <a:noFill/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3571876"/>
            <a:ext cx="4257675" cy="523875"/>
          </a:xfrm>
          <a:prstGeom prst="rect">
            <a:avLst/>
          </a:prstGeom>
          <a:noFill/>
        </p:spPr>
      </p:pic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0" y="771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0" y="12954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69" name="Picture 13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29322" y="3214686"/>
            <a:ext cx="1076325" cy="209550"/>
          </a:xfrm>
          <a:prstGeom prst="rect">
            <a:avLst/>
          </a:prstGeom>
          <a:noFill/>
        </p:spPr>
      </p:pic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73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72" name="Picture 16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4143380"/>
            <a:ext cx="5000625" cy="523875"/>
          </a:xfrm>
          <a:prstGeom prst="rect">
            <a:avLst/>
          </a:prstGeom>
          <a:noFill/>
        </p:spPr>
      </p:pic>
      <p:sp>
        <p:nvSpPr>
          <p:cNvPr id="1947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74" name="Picture 18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43636" y="4286256"/>
            <a:ext cx="1095375" cy="209550"/>
          </a:xfrm>
          <a:prstGeom prst="rect">
            <a:avLst/>
          </a:prstGeom>
          <a:noFill/>
        </p:spPr>
      </p:pic>
      <p:sp>
        <p:nvSpPr>
          <p:cNvPr id="1947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76" name="Picture 20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5214950"/>
            <a:ext cx="523875" cy="295275"/>
          </a:xfrm>
          <a:prstGeom prst="rect">
            <a:avLst/>
          </a:prstGeom>
          <a:noFill/>
        </p:spPr>
      </p:pic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80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82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84" name="Rectangle 2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85" name="Rectangle 29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43042" y="5072074"/>
            <a:ext cx="5076825" cy="571500"/>
          </a:xfrm>
          <a:prstGeom prst="rect">
            <a:avLst/>
          </a:prstGeom>
          <a:noFill/>
        </p:spPr>
      </p:pic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8" name="投影片編號版面配置區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39" name="日期版面配置區 3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3735" y="5214950"/>
            <a:ext cx="942975" cy="295275"/>
          </a:xfrm>
          <a:prstGeom prst="rect">
            <a:avLst/>
          </a:prstGeom>
          <a:noFill/>
        </p:spPr>
      </p:pic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43900" y="5214950"/>
            <a:ext cx="733425" cy="295275"/>
          </a:xfrm>
          <a:prstGeom prst="rect">
            <a:avLst/>
          </a:prstGeom>
          <a:noFill/>
        </p:spPr>
      </p:pic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857224" y="5643578"/>
            <a:ext cx="250033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新細明體" pitchFamily="18" charset="-120"/>
                <a:cs typeface="Times New Roman" pitchFamily="18" charset="0"/>
              </a:rPr>
              <a:t>Terminal condition:</a:t>
            </a:r>
            <a:endParaRPr kumimoji="1" lang="en-US" altLang="zh-TW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00430" y="5715016"/>
            <a:ext cx="2209800" cy="295275"/>
          </a:xfrm>
          <a:prstGeom prst="rect">
            <a:avLst/>
          </a:prstGeom>
          <a:noFill/>
        </p:spPr>
      </p:pic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43900" y="5715016"/>
            <a:ext cx="733425" cy="295275"/>
          </a:xfrm>
          <a:prstGeom prst="rect">
            <a:avLst/>
          </a:prstGeom>
          <a:noFill/>
        </p:spPr>
      </p:pic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dirty="0" smtClean="0">
                <a:latin typeface="Cambria Math" pitchFamily="18" charset="0"/>
                <a:ea typeface="Cambria Math" pitchFamily="18" charset="0"/>
                <a:cs typeface="+mn-cs"/>
              </a:rPr>
              <a:t>Hull-White interest model</a:t>
            </a:r>
            <a:endParaRPr lang="zh-TW" altLang="en-US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SDE of R(t):</a:t>
            </a: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so PDE for the zero coupon bond:</a:t>
            </a: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Guess the solution has the form: (verify later)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</a:t>
            </a:r>
          </a:p>
          <a:p>
            <a:pPr>
              <a:buNone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C(t, T) and A(t, T) are nonrandom functions to be determined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</a:t>
            </a:r>
            <a:endParaRPr lang="zh-TW" altLang="en-US" sz="2400" dirty="0" smtClean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43174" y="1643050"/>
            <a:ext cx="5038725" cy="361950"/>
          </a:xfrm>
          <a:prstGeom prst="rect">
            <a:avLst/>
          </a:prstGeom>
          <a:noFill/>
        </p:spPr>
      </p:pic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819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2143116"/>
            <a:ext cx="5772150" cy="295275"/>
          </a:xfrm>
          <a:prstGeom prst="rect">
            <a:avLst/>
          </a:prstGeom>
          <a:noFill/>
        </p:spPr>
      </p:pic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2571744"/>
            <a:ext cx="3171825" cy="342900"/>
          </a:xfrm>
          <a:prstGeom prst="rect">
            <a:avLst/>
          </a:prstGeom>
          <a:noFill/>
        </p:spPr>
      </p:pic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3562" name="Picture 10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57686" y="2571744"/>
            <a:ext cx="1914525" cy="342900"/>
          </a:xfrm>
          <a:prstGeom prst="rect">
            <a:avLst/>
          </a:prstGeom>
          <a:noFill/>
        </p:spPr>
      </p:pic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3566" name="Picture 1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53050" y="3400429"/>
            <a:ext cx="2990850" cy="600075"/>
          </a:xfrm>
          <a:prstGeom prst="rect">
            <a:avLst/>
          </a:prstGeom>
          <a:noFill/>
        </p:spPr>
      </p:pic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3568" name="Picture 16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10581" y="3562353"/>
            <a:ext cx="790575" cy="295275"/>
          </a:xfrm>
          <a:prstGeom prst="rect">
            <a:avLst/>
          </a:prstGeom>
          <a:noFill/>
        </p:spPr>
      </p:pic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3570" name="Picture 18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4714884"/>
            <a:ext cx="3086100" cy="390525"/>
          </a:xfrm>
          <a:prstGeom prst="rect">
            <a:avLst/>
          </a:prstGeom>
          <a:noFill/>
        </p:spPr>
      </p:pic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0" y="847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09641" y="3533778"/>
            <a:ext cx="4162425" cy="323850"/>
          </a:xfrm>
          <a:prstGeom prst="rect">
            <a:avLst/>
          </a:prstGeom>
          <a:noFill/>
        </p:spPr>
      </p:pic>
      <p:sp>
        <p:nvSpPr>
          <p:cNvPr id="25" name="投影片編號版面配置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dirty="0" smtClean="0">
                <a:latin typeface="Cambria Math" pitchFamily="18" charset="0"/>
                <a:ea typeface="Cambria Math" pitchFamily="18" charset="0"/>
                <a:cs typeface="+mn-cs"/>
              </a:rPr>
              <a:t>Hull-White interest model</a:t>
            </a:r>
            <a:endParaRPr lang="zh-TW" altLang="en-US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>
              <a:buNone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</a:t>
            </a:r>
          </a:p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Yield: </a:t>
            </a:r>
            <a:r>
              <a:rPr lang="en-US" altLang="zh-TW" sz="1800" dirty="0" smtClean="0">
                <a:latin typeface="Cambria Math" pitchFamily="18" charset="0"/>
                <a:ea typeface="Cambria Math" pitchFamily="18" charset="0"/>
              </a:rPr>
              <a:t>(constant rate of continuously interest between time t and T)</a:t>
            </a: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TW" sz="2200" dirty="0" smtClean="0">
                <a:latin typeface="Cambria Math" pitchFamily="18" charset="0"/>
                <a:ea typeface="Cambria Math" pitchFamily="18" charset="0"/>
              </a:rPr>
              <a:t>       is an “affine” function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Hull-White model is a special case of  “affine yield function</a:t>
            </a: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”.</a:t>
            </a:r>
            <a:endParaRPr lang="zh-TW" altLang="en-US" sz="2400" dirty="0" smtClean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819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0" y="847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1643050"/>
            <a:ext cx="4191000" cy="295275"/>
          </a:xfrm>
          <a:prstGeom prst="rect">
            <a:avLst/>
          </a:prstGeom>
          <a:noFill/>
        </p:spPr>
      </p:pic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752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25610" name="Picture 10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2062155"/>
            <a:ext cx="2676525" cy="295275"/>
          </a:xfrm>
          <a:prstGeom prst="rect">
            <a:avLst/>
          </a:prstGeom>
          <a:noFill/>
        </p:spPr>
      </p:pic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2481258"/>
            <a:ext cx="2705100" cy="304800"/>
          </a:xfrm>
          <a:prstGeom prst="rect">
            <a:avLst/>
          </a:prstGeom>
          <a:noFill/>
        </p:spPr>
      </p:pic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12" name="Rectangle 12"/>
          <p:cNvSpPr>
            <a:spLocks noChangeArrowheads="1"/>
          </p:cNvSpPr>
          <p:nvPr/>
        </p:nvSpPr>
        <p:spPr bwMode="auto">
          <a:xfrm>
            <a:off x="0" y="752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0" y="1514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5617" name="Picture 17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2928934"/>
            <a:ext cx="5210175" cy="581025"/>
          </a:xfrm>
          <a:prstGeom prst="rect">
            <a:avLst/>
          </a:prstGeom>
          <a:noFill/>
        </p:spPr>
      </p:pic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2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5620" name="Picture 20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4143380"/>
            <a:ext cx="3305175" cy="628650"/>
          </a:xfrm>
          <a:prstGeom prst="rect">
            <a:avLst/>
          </a:prstGeom>
          <a:noFill/>
        </p:spPr>
      </p:pic>
      <p:sp>
        <p:nvSpPr>
          <p:cNvPr id="2562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5622" name="Picture 2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29124" y="4143380"/>
            <a:ext cx="3257550" cy="628650"/>
          </a:xfrm>
          <a:prstGeom prst="rect">
            <a:avLst/>
          </a:prstGeom>
          <a:noFill/>
        </p:spPr>
      </p:pic>
      <p:sp>
        <p:nvSpPr>
          <p:cNvPr id="2562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4" name="投影片編號版面配置區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35" name="日期版面配置區 3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dirty="0" smtClean="0">
                <a:latin typeface="Cambria Math" pitchFamily="18" charset="0"/>
                <a:ea typeface="Cambria Math" pitchFamily="18" charset="0"/>
                <a:cs typeface="+mn-cs"/>
              </a:rPr>
              <a:t>Hull-White interest model</a:t>
            </a:r>
            <a:endParaRPr lang="zh-TW" altLang="en-US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/>
          </a:bodyPr>
          <a:lstStyle/>
          <a:p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Substitute into (6.5.6),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>
              <a:buNone/>
            </a:pPr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</a:t>
            </a:r>
            <a:r>
              <a:rPr lang="en-US" altLang="zh-TW" sz="2200" dirty="0" smtClean="0">
                <a:latin typeface="Cambria Math" pitchFamily="18" charset="0"/>
                <a:ea typeface="Cambria Math" pitchFamily="18" charset="0"/>
              </a:rPr>
              <a:t>The equation must hold for all r, so</a:t>
            </a:r>
          </a:p>
          <a:p>
            <a:pPr>
              <a:buNone/>
            </a:pPr>
            <a:r>
              <a:rPr lang="en-US" altLang="zh-TW" sz="2200" dirty="0" smtClean="0">
                <a:latin typeface="Cambria Math" pitchFamily="18" charset="0"/>
                <a:ea typeface="Cambria Math" pitchFamily="18" charset="0"/>
              </a:rPr>
              <a:t>    </a:t>
            </a:r>
          </a:p>
          <a:p>
            <a:pPr>
              <a:buNone/>
            </a:pPr>
            <a:r>
              <a:rPr lang="en-US" altLang="zh-TW" sz="2200" dirty="0" smtClean="0">
                <a:latin typeface="Cambria Math" pitchFamily="18" charset="0"/>
                <a:ea typeface="Cambria Math" pitchFamily="18" charset="0"/>
              </a:rPr>
              <a:t>     substitute back into (6.5.7), then</a:t>
            </a:r>
          </a:p>
          <a:p>
            <a:pPr>
              <a:buNone/>
            </a:pPr>
            <a:r>
              <a:rPr lang="en-US" altLang="zh-TW" sz="2200" dirty="0" smtClean="0">
                <a:latin typeface="Cambria Math" pitchFamily="18" charset="0"/>
                <a:ea typeface="Cambria Math" pitchFamily="18" charset="0"/>
              </a:rPr>
              <a:t>      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819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0" y="847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752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12" name="Rectangle 12"/>
          <p:cNvSpPr>
            <a:spLocks noChangeArrowheads="1"/>
          </p:cNvSpPr>
          <p:nvPr/>
        </p:nvSpPr>
        <p:spPr bwMode="auto">
          <a:xfrm>
            <a:off x="0" y="752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0" y="1514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2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2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2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2143116"/>
            <a:ext cx="3305175" cy="295275"/>
          </a:xfrm>
          <a:prstGeom prst="rect">
            <a:avLst/>
          </a:prstGeom>
          <a:noFill/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14810" y="2143116"/>
            <a:ext cx="3505200" cy="295275"/>
          </a:xfrm>
          <a:prstGeom prst="rect">
            <a:avLst/>
          </a:prstGeom>
          <a:noFill/>
        </p:spPr>
      </p:pic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3000372"/>
            <a:ext cx="5486400" cy="1123950"/>
          </a:xfrm>
          <a:prstGeom prst="rect">
            <a:avLst/>
          </a:prstGeom>
          <a:noFill/>
        </p:spPr>
      </p:pic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68" name="Picture 1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72198" y="3714752"/>
            <a:ext cx="400050" cy="295275"/>
          </a:xfrm>
          <a:prstGeom prst="rect">
            <a:avLst/>
          </a:prstGeom>
          <a:noFill/>
        </p:spPr>
      </p:pic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71" name="Picture 1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767665" y="3714752"/>
            <a:ext cx="733425" cy="295275"/>
          </a:xfrm>
          <a:prstGeom prst="rect">
            <a:avLst/>
          </a:prstGeom>
          <a:noFill/>
        </p:spPr>
      </p:pic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73" name="Picture 17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4786322"/>
            <a:ext cx="2771775" cy="295275"/>
          </a:xfrm>
          <a:prstGeom prst="rect">
            <a:avLst/>
          </a:prstGeom>
          <a:noFill/>
        </p:spPr>
      </p:pic>
      <p:sp>
        <p:nvSpPr>
          <p:cNvPr id="19476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75" name="Picture 19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767665" y="4786322"/>
            <a:ext cx="733425" cy="295275"/>
          </a:xfrm>
          <a:prstGeom prst="rect">
            <a:avLst/>
          </a:prstGeom>
          <a:noFill/>
        </p:spPr>
      </p:pic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77" name="Picture 21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5572140"/>
            <a:ext cx="4457700" cy="571500"/>
          </a:xfrm>
          <a:prstGeom prst="rect">
            <a:avLst/>
          </a:prstGeom>
          <a:noFill/>
        </p:spPr>
      </p:pic>
      <p:sp>
        <p:nvSpPr>
          <p:cNvPr id="19480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9479" name="Picture 23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767665" y="5715016"/>
            <a:ext cx="733425" cy="295275"/>
          </a:xfrm>
          <a:prstGeom prst="rect">
            <a:avLst/>
          </a:prstGeom>
          <a:noFill/>
        </p:spPr>
      </p:pic>
      <p:sp>
        <p:nvSpPr>
          <p:cNvPr id="19482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4" name="投影片編號版面配置區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5" name="日期版面配置區 5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71934" y="2500306"/>
            <a:ext cx="3876675" cy="5810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dirty="0" smtClean="0">
                <a:latin typeface="Cambria Math" pitchFamily="18" charset="0"/>
                <a:ea typeface="Cambria Math" pitchFamily="18" charset="0"/>
                <a:cs typeface="+mn-cs"/>
              </a:rPr>
              <a:t>Hull-White interest model</a:t>
            </a:r>
            <a:endParaRPr lang="zh-TW" altLang="en-US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643050"/>
            <a:ext cx="8501122" cy="5000660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sz="4400" dirty="0" smtClean="0">
                <a:latin typeface="Cambria Math" pitchFamily="18" charset="0"/>
                <a:ea typeface="Cambria Math" pitchFamily="18" charset="0"/>
              </a:rPr>
              <a:t>The ODE and the terminal condition</a:t>
            </a:r>
          </a:p>
          <a:p>
            <a:pPr>
              <a:lnSpc>
                <a:spcPct val="170000"/>
              </a:lnSpc>
              <a:buNone/>
            </a:pPr>
            <a:r>
              <a:rPr lang="en-US" altLang="zh-TW" sz="4400" dirty="0" smtClean="0">
                <a:latin typeface="Cambria Math" pitchFamily="18" charset="0"/>
                <a:ea typeface="Cambria Math" pitchFamily="18" charset="0"/>
              </a:rPr>
              <a:t>      (because (6.5.5)holds for all r) can solve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4400" dirty="0" smtClean="0">
                <a:latin typeface="Cambria Math" pitchFamily="18" charset="0"/>
                <a:ea typeface="Cambria Math" pitchFamily="18" charset="0"/>
              </a:rPr>
              <a:t>                </a:t>
            </a:r>
          </a:p>
          <a:p>
            <a:pPr>
              <a:buNone/>
            </a:pPr>
            <a:endParaRPr lang="en-US" altLang="zh-TW" sz="4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altLang="zh-TW" sz="4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altLang="zh-TW" sz="44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altLang="zh-TW" sz="4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lnSpc>
                <a:spcPct val="170000"/>
              </a:lnSpc>
            </a:pPr>
            <a:r>
              <a:rPr lang="en-US" altLang="zh-TW" sz="4400" dirty="0" smtClean="0">
                <a:latin typeface="Cambria Math" pitchFamily="18" charset="0"/>
                <a:ea typeface="Cambria Math" pitchFamily="18" charset="0"/>
              </a:rPr>
              <a:t>In conclusion, we have an explicit formula for the price of a zero-coupon bond as a function of R(t) in Hull-White model: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  </a:t>
            </a:r>
          </a:p>
          <a:p>
            <a:pPr>
              <a:buNone/>
            </a:pPr>
            <a:r>
              <a:rPr lang="en-US" altLang="zh-TW" sz="2400" dirty="0" smtClean="0">
                <a:latin typeface="Cambria Math" pitchFamily="18" charset="0"/>
                <a:ea typeface="Cambria Math" pitchFamily="18" charset="0"/>
              </a:rPr>
              <a:t>    </a:t>
            </a:r>
            <a:r>
              <a:rPr lang="en-US" altLang="zh-TW" sz="2200" dirty="0" smtClean="0">
                <a:latin typeface="Cambria Math" pitchFamily="18" charset="0"/>
                <a:ea typeface="Cambria Math" pitchFamily="18" charset="0"/>
              </a:rPr>
              <a:t>      </a:t>
            </a:r>
          </a:p>
          <a:p>
            <a:pPr>
              <a:buNone/>
            </a:pPr>
            <a:endParaRPr lang="en-US" altLang="zh-TW" sz="2200" dirty="0" smtClean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819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0" y="847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752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12" name="Rectangle 12"/>
          <p:cNvSpPr>
            <a:spLocks noChangeArrowheads="1"/>
          </p:cNvSpPr>
          <p:nvPr/>
        </p:nvSpPr>
        <p:spPr bwMode="auto">
          <a:xfrm>
            <a:off x="0" y="752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0" y="15144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62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2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562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76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80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482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5008" y="1643050"/>
            <a:ext cx="2838450" cy="361950"/>
          </a:xfrm>
          <a:prstGeom prst="rect">
            <a:avLst/>
          </a:prstGeom>
          <a:noFill/>
        </p:spPr>
      </p:pic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2786058"/>
            <a:ext cx="3400425" cy="819150"/>
          </a:xfrm>
          <a:prstGeom prst="rect">
            <a:avLst/>
          </a:prstGeom>
          <a:noFill/>
        </p:spPr>
      </p:pic>
      <p:sp>
        <p:nvSpPr>
          <p:cNvPr id="2663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6640" name="Picture 1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5984" y="3643314"/>
            <a:ext cx="4981575" cy="828675"/>
          </a:xfrm>
          <a:prstGeom prst="rect">
            <a:avLst/>
          </a:prstGeom>
          <a:noFill/>
        </p:spPr>
      </p:pic>
      <p:sp>
        <p:nvSpPr>
          <p:cNvPr id="26643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664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6644" name="Picture 20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81941" y="3929066"/>
            <a:ext cx="962025" cy="323850"/>
          </a:xfrm>
          <a:prstGeom prst="rect">
            <a:avLst/>
          </a:prstGeom>
          <a:noFill/>
        </p:spPr>
      </p:pic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6646" name="Picture 2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81941" y="3143248"/>
            <a:ext cx="962025" cy="323850"/>
          </a:xfrm>
          <a:prstGeom prst="rect">
            <a:avLst/>
          </a:prstGeom>
          <a:noFill/>
        </p:spPr>
      </p:pic>
      <p:sp>
        <p:nvSpPr>
          <p:cNvPr id="26649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6648" name="Picture 24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57950" y="2214554"/>
            <a:ext cx="2381250" cy="361950"/>
          </a:xfrm>
          <a:prstGeom prst="rect">
            <a:avLst/>
          </a:prstGeom>
          <a:noFill/>
        </p:spPr>
      </p:pic>
      <p:sp>
        <p:nvSpPr>
          <p:cNvPr id="26650" name="Rectangle 26"/>
          <p:cNvSpPr>
            <a:spLocks noChangeArrowheads="1"/>
          </p:cNvSpPr>
          <p:nvPr/>
        </p:nvSpPr>
        <p:spPr bwMode="auto">
          <a:xfrm>
            <a:off x="0" y="819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6652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6651" name="Picture 27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3857628"/>
            <a:ext cx="1190625" cy="361950"/>
          </a:xfrm>
          <a:prstGeom prst="rect">
            <a:avLst/>
          </a:prstGeom>
          <a:noFill/>
        </p:spPr>
      </p:pic>
      <p:sp>
        <p:nvSpPr>
          <p:cNvPr id="26654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6653" name="Picture 29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2509" y="5929330"/>
            <a:ext cx="4905375" cy="390525"/>
          </a:xfrm>
          <a:prstGeom prst="rect">
            <a:avLst/>
          </a:prstGeom>
          <a:noFill/>
        </p:spPr>
      </p:pic>
      <p:sp>
        <p:nvSpPr>
          <p:cNvPr id="83" name="投影片編號版面配置區 8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84" name="日期版面配置區 8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sz="4000" dirty="0" smtClean="0">
                <a:latin typeface="Cambria Math" pitchFamily="18" charset="0"/>
                <a:ea typeface="Cambria Math" pitchFamily="18" charset="0"/>
                <a:cs typeface="+mn-cs"/>
              </a:rPr>
              <a:t>Exercise 6.3 (</a:t>
            </a:r>
            <a:r>
              <a:rPr lang="en-US" altLang="zh-TW" sz="3200" dirty="0" smtClean="0">
                <a:latin typeface="Cambria Math" pitchFamily="18" charset="0"/>
                <a:ea typeface="Cambria Math" pitchFamily="18" charset="0"/>
                <a:cs typeface="+mn-cs"/>
              </a:rPr>
              <a:t>Solution of Hull-White model)</a:t>
            </a:r>
            <a:endParaRPr lang="zh-TW" altLang="en-US" sz="3200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61" name="Picture 1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1785926"/>
            <a:ext cx="2543175" cy="295275"/>
          </a:xfrm>
          <a:prstGeom prst="rect">
            <a:avLst/>
          </a:prstGeom>
          <a:noFill/>
        </p:spPr>
      </p:pic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63" name="Picture 1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868" y="1785926"/>
            <a:ext cx="2771775" cy="295275"/>
          </a:xfrm>
          <a:prstGeom prst="rect">
            <a:avLst/>
          </a:prstGeom>
          <a:noFill/>
        </p:spPr>
      </p:pic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67" name="Picture 1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72264" y="1776403"/>
            <a:ext cx="1343025" cy="295275"/>
          </a:xfrm>
          <a:prstGeom prst="rect">
            <a:avLst/>
          </a:prstGeom>
          <a:noFill/>
        </p:spPr>
      </p:pic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69" name="Picture 2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2285992"/>
            <a:ext cx="4029075" cy="581025"/>
          </a:xfrm>
          <a:prstGeom prst="rect">
            <a:avLst/>
          </a:prstGeom>
          <a:noFill/>
        </p:spPr>
      </p:pic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72" name="Picture 2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3062289"/>
            <a:ext cx="4143375" cy="581025"/>
          </a:xfrm>
          <a:prstGeom prst="rect">
            <a:avLst/>
          </a:prstGeom>
          <a:noFill/>
        </p:spPr>
      </p:pic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75" name="Picture 2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3786190"/>
            <a:ext cx="4943475" cy="581025"/>
          </a:xfrm>
          <a:prstGeom prst="rect">
            <a:avLst/>
          </a:prstGeom>
          <a:noFill/>
        </p:spPr>
      </p:pic>
      <p:sp>
        <p:nvSpPr>
          <p:cNvPr id="27678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77" name="Picture 29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72198" y="3857628"/>
            <a:ext cx="1581150" cy="390525"/>
          </a:xfrm>
          <a:prstGeom prst="rect">
            <a:avLst/>
          </a:prstGeom>
          <a:noFill/>
        </p:spPr>
      </p:pic>
      <p:sp>
        <p:nvSpPr>
          <p:cNvPr id="27680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79" name="Picture 31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4429132"/>
            <a:ext cx="5019675" cy="590550"/>
          </a:xfrm>
          <a:prstGeom prst="rect">
            <a:avLst/>
          </a:prstGeom>
          <a:noFill/>
        </p:spPr>
      </p:pic>
      <p:sp>
        <p:nvSpPr>
          <p:cNvPr id="2768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81" name="Picture 33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43636" y="4500570"/>
            <a:ext cx="1581150" cy="390525"/>
          </a:xfrm>
          <a:prstGeom prst="rect">
            <a:avLst/>
          </a:prstGeom>
          <a:noFill/>
        </p:spPr>
      </p:pic>
      <p:sp>
        <p:nvSpPr>
          <p:cNvPr id="27684" name="Rectangle 3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83" name="Picture 35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5214950"/>
            <a:ext cx="4286250" cy="581025"/>
          </a:xfrm>
          <a:prstGeom prst="rect">
            <a:avLst/>
          </a:prstGeom>
          <a:noFill/>
        </p:spPr>
      </p:pic>
      <p:sp>
        <p:nvSpPr>
          <p:cNvPr id="27685" name="Rectangle 37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90" name="Rectangle 4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89" name="Picture 41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6" y="3000372"/>
            <a:ext cx="457200" cy="657225"/>
          </a:xfrm>
          <a:prstGeom prst="rect">
            <a:avLst/>
          </a:prstGeom>
          <a:noFill/>
        </p:spPr>
      </p:pic>
      <p:sp>
        <p:nvSpPr>
          <p:cNvPr id="27691" name="Rectangle 43"/>
          <p:cNvSpPr>
            <a:spLocks noChangeArrowheads="1"/>
          </p:cNvSpPr>
          <p:nvPr/>
        </p:nvSpPr>
        <p:spPr bwMode="auto">
          <a:xfrm>
            <a:off x="0" y="1114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sz="4000" dirty="0" smtClean="0">
                <a:latin typeface="Cambria Math" pitchFamily="18" charset="0"/>
                <a:ea typeface="Cambria Math" pitchFamily="18" charset="0"/>
                <a:cs typeface="+mn-cs"/>
              </a:rPr>
              <a:t>Exercise 6.3 (</a:t>
            </a:r>
            <a:r>
              <a:rPr lang="en-US" altLang="zh-TW" sz="3200" dirty="0" smtClean="0">
                <a:latin typeface="Cambria Math" pitchFamily="18" charset="0"/>
                <a:ea typeface="Cambria Math" pitchFamily="18" charset="0"/>
                <a:cs typeface="+mn-cs"/>
              </a:rPr>
              <a:t>Solution of Hull-White model)</a:t>
            </a:r>
            <a:endParaRPr lang="zh-TW" altLang="en-US" sz="3200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78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80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8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84" name="Rectangle 3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85" name="Rectangle 37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90" name="Rectangle 4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89" name="Picture 4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0024" y="2771775"/>
            <a:ext cx="457200" cy="657225"/>
          </a:xfrm>
          <a:prstGeom prst="rect">
            <a:avLst/>
          </a:prstGeom>
          <a:noFill/>
        </p:spPr>
      </p:pic>
      <p:sp>
        <p:nvSpPr>
          <p:cNvPr id="27691" name="Rectangle 43"/>
          <p:cNvSpPr>
            <a:spLocks noChangeArrowheads="1"/>
          </p:cNvSpPr>
          <p:nvPr/>
        </p:nvSpPr>
        <p:spPr bwMode="auto">
          <a:xfrm>
            <a:off x="0" y="1114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2352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0" y="29908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0" y="3800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684" name="Picture 1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95359" y="1776403"/>
            <a:ext cx="4962525" cy="295275"/>
          </a:xfrm>
          <a:prstGeom prst="rect">
            <a:avLst/>
          </a:prstGeom>
          <a:noFill/>
        </p:spPr>
      </p:pic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686" name="Picture 1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29322" y="1785926"/>
            <a:ext cx="466725" cy="295275"/>
          </a:xfrm>
          <a:prstGeom prst="rect">
            <a:avLst/>
          </a:prstGeom>
          <a:noFill/>
        </p:spPr>
      </p:pic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688" name="Picture 1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00826" y="1776403"/>
            <a:ext cx="2286000" cy="295275"/>
          </a:xfrm>
          <a:prstGeom prst="rect">
            <a:avLst/>
          </a:prstGeom>
          <a:noFill/>
        </p:spPr>
      </p:pic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691" name="Picture 19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2285992"/>
            <a:ext cx="3829050" cy="295275"/>
          </a:xfrm>
          <a:prstGeom prst="rect">
            <a:avLst/>
          </a:prstGeom>
          <a:noFill/>
        </p:spPr>
      </p:pic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新細明體" pitchFamily="18" charset="-120"/>
                <a:cs typeface="Times New Roman" pitchFamily="18" charset="0"/>
              </a:rPr>
              <a:t> </a:t>
            </a:r>
            <a:endParaRPr kumimoji="1" lang="en-US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28699" name="Picture 27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480" y="2857496"/>
            <a:ext cx="4362450" cy="409575"/>
          </a:xfrm>
          <a:prstGeom prst="rect">
            <a:avLst/>
          </a:prstGeom>
          <a:noFill/>
        </p:spPr>
      </p:pic>
      <p:sp>
        <p:nvSpPr>
          <p:cNvPr id="28701" name="Rectangle 29"/>
          <p:cNvSpPr>
            <a:spLocks noChangeArrowheads="1"/>
          </p:cNvSpPr>
          <p:nvPr/>
        </p:nvSpPr>
        <p:spPr bwMode="auto">
          <a:xfrm>
            <a:off x="0" y="409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zh-TW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 </a:t>
            </a: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703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702" name="Picture 30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57938" y="2743200"/>
            <a:ext cx="2057400" cy="685800"/>
          </a:xfrm>
          <a:prstGeom prst="rect">
            <a:avLst/>
          </a:prstGeom>
          <a:noFill/>
        </p:spPr>
      </p:pic>
      <p:sp>
        <p:nvSpPr>
          <p:cNvPr id="28705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704" name="Picture 32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47722" y="3633791"/>
            <a:ext cx="1409700" cy="295275"/>
          </a:xfrm>
          <a:prstGeom prst="rect">
            <a:avLst/>
          </a:prstGeom>
          <a:noFill/>
        </p:spPr>
      </p:pic>
      <p:sp>
        <p:nvSpPr>
          <p:cNvPr id="28707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706" name="Picture 34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00298" y="3586166"/>
            <a:ext cx="4238625" cy="342900"/>
          </a:xfrm>
          <a:prstGeom prst="rect">
            <a:avLst/>
          </a:prstGeom>
          <a:noFill/>
        </p:spPr>
      </p:pic>
      <p:sp>
        <p:nvSpPr>
          <p:cNvPr id="28709" name="Rectangle 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708" name="Picture 36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4171960"/>
            <a:ext cx="4438650" cy="685800"/>
          </a:xfrm>
          <a:prstGeom prst="rect">
            <a:avLst/>
          </a:prstGeom>
          <a:noFill/>
        </p:spPr>
      </p:pic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712" name="Rectangle 4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711" name="Picture 39"/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5000636"/>
            <a:ext cx="5210175" cy="809625"/>
          </a:xfrm>
          <a:prstGeom prst="rect">
            <a:avLst/>
          </a:prstGeom>
          <a:noFill/>
        </p:spPr>
      </p:pic>
      <p:sp>
        <p:nvSpPr>
          <p:cNvPr id="28713" name="Rectangle 41"/>
          <p:cNvSpPr>
            <a:spLocks noChangeArrowheads="1"/>
          </p:cNvSpPr>
          <p:nvPr/>
        </p:nvSpPr>
        <p:spPr bwMode="auto">
          <a:xfrm>
            <a:off x="0" y="1266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715" name="Rectangle 4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716" name="Rectangle 44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718" name="Rectangle 4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717" name="Picture 45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2857496"/>
            <a:ext cx="800100" cy="457200"/>
          </a:xfrm>
          <a:prstGeom prst="rect">
            <a:avLst/>
          </a:prstGeom>
          <a:noFill/>
        </p:spPr>
      </p:pic>
      <p:sp>
        <p:nvSpPr>
          <p:cNvPr id="28719" name="Rectangle 47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721" name="Rectangle 4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8720" name="Picture 48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628" y="2100258"/>
            <a:ext cx="2828925" cy="685800"/>
          </a:xfrm>
          <a:prstGeom prst="rect">
            <a:avLst/>
          </a:prstGeom>
          <a:noFill/>
        </p:spPr>
      </p:pic>
      <p:sp>
        <p:nvSpPr>
          <p:cNvPr id="28722" name="Rectangle 50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sz="4000" dirty="0" smtClean="0">
                <a:latin typeface="Cambria Math" pitchFamily="18" charset="0"/>
                <a:ea typeface="Cambria Math" pitchFamily="18" charset="0"/>
                <a:cs typeface="+mn-cs"/>
              </a:rPr>
              <a:t>Exercise 6.3 (</a:t>
            </a:r>
            <a:r>
              <a:rPr lang="en-US" altLang="zh-TW" sz="3200" dirty="0" smtClean="0">
                <a:latin typeface="Cambria Math" pitchFamily="18" charset="0"/>
                <a:ea typeface="Cambria Math" pitchFamily="18" charset="0"/>
                <a:cs typeface="+mn-cs"/>
              </a:rPr>
              <a:t>Solution of Hull-White model)</a:t>
            </a:r>
            <a:endParaRPr lang="zh-TW" altLang="en-US" sz="3200" dirty="0" smtClean="0"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May21, 2008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78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80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8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84" name="Rectangle 3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7685" name="Rectangle 37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7690" name="Rectangle 4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7689" name="Picture 4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6" y="3414717"/>
            <a:ext cx="457200" cy="657225"/>
          </a:xfrm>
          <a:prstGeom prst="rect">
            <a:avLst/>
          </a:prstGeom>
          <a:noFill/>
        </p:spPr>
      </p:pic>
      <p:sp>
        <p:nvSpPr>
          <p:cNvPr id="27691" name="Rectangle 43"/>
          <p:cNvSpPr>
            <a:spLocks noChangeArrowheads="1"/>
          </p:cNvSpPr>
          <p:nvPr/>
        </p:nvSpPr>
        <p:spPr bwMode="auto">
          <a:xfrm>
            <a:off x="0" y="1114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2352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0" y="29908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0" y="3800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新細明體" pitchFamily="18" charset="-120"/>
                <a:cs typeface="Times New Roman" pitchFamily="18" charset="0"/>
              </a:rPr>
              <a:t> </a:t>
            </a:r>
            <a:endParaRPr kumimoji="1" lang="en-US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701" name="Rectangle 29"/>
          <p:cNvSpPr>
            <a:spLocks noChangeArrowheads="1"/>
          </p:cNvSpPr>
          <p:nvPr/>
        </p:nvSpPr>
        <p:spPr bwMode="auto">
          <a:xfrm>
            <a:off x="0" y="409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zh-TW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 </a:t>
            </a: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703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705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707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709" name="Rectangle 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8712" name="Rectangle 4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8713" name="Rectangle 41"/>
          <p:cNvSpPr>
            <a:spLocks noChangeArrowheads="1"/>
          </p:cNvSpPr>
          <p:nvPr/>
        </p:nvSpPr>
        <p:spPr bwMode="auto">
          <a:xfrm>
            <a:off x="0" y="1266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1776403"/>
            <a:ext cx="3048000" cy="295275"/>
          </a:xfrm>
          <a:prstGeom prst="rect">
            <a:avLst/>
          </a:prstGeom>
          <a:noFill/>
        </p:spPr>
      </p:pic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71934" y="1643050"/>
            <a:ext cx="4562475" cy="571500"/>
          </a:xfrm>
          <a:prstGeom prst="rect">
            <a:avLst/>
          </a:prstGeom>
          <a:noFill/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1028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06" name="Picture 10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2357430"/>
            <a:ext cx="4257675" cy="295275"/>
          </a:xfrm>
          <a:prstGeom prst="rect">
            <a:avLst/>
          </a:prstGeom>
          <a:noFill/>
        </p:spPr>
      </p:pic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09" name="Picture 13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29256" y="2357430"/>
            <a:ext cx="2857500" cy="295275"/>
          </a:xfrm>
          <a:prstGeom prst="rect">
            <a:avLst/>
          </a:prstGeom>
          <a:noFill/>
        </p:spPr>
      </p:pic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14" name="Picture 18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57620" y="2657476"/>
            <a:ext cx="5210175" cy="914400"/>
          </a:xfrm>
          <a:prstGeom prst="rect">
            <a:avLst/>
          </a:prstGeom>
          <a:noFill/>
        </p:spPr>
      </p:pic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18" name="Rectangle 2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17" name="Picture 21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2990849"/>
            <a:ext cx="2857500" cy="295275"/>
          </a:xfrm>
          <a:prstGeom prst="rect">
            <a:avLst/>
          </a:prstGeom>
          <a:noFill/>
        </p:spPr>
      </p:pic>
      <p:sp>
        <p:nvSpPr>
          <p:cNvPr id="29719" name="Rectangle 23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21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20" name="Picture 24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43115" y="3490917"/>
            <a:ext cx="4772025" cy="581025"/>
          </a:xfrm>
          <a:prstGeom prst="rect">
            <a:avLst/>
          </a:prstGeom>
          <a:noFill/>
        </p:spPr>
      </p:pic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23" name="Picture 27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4500570"/>
            <a:ext cx="1724025" cy="285750"/>
          </a:xfrm>
          <a:prstGeom prst="rect">
            <a:avLst/>
          </a:prstGeom>
          <a:noFill/>
        </p:spPr>
      </p:pic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0" y="1114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30" name="Rectangle 3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29" name="Picture 33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14612" y="4286256"/>
            <a:ext cx="4619625" cy="695325"/>
          </a:xfrm>
          <a:prstGeom prst="rect">
            <a:avLst/>
          </a:prstGeom>
          <a:noFill/>
        </p:spPr>
      </p:pic>
      <p:sp>
        <p:nvSpPr>
          <p:cNvPr id="29731" name="Rectangle 35"/>
          <p:cNvSpPr>
            <a:spLocks noChangeArrowheads="1"/>
          </p:cNvSpPr>
          <p:nvPr/>
        </p:nvSpPr>
        <p:spPr bwMode="auto">
          <a:xfrm>
            <a:off x="0" y="1152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33" name="Rectangle 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32" name="Picture 36"/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5357826"/>
            <a:ext cx="990600" cy="295275"/>
          </a:xfrm>
          <a:prstGeom prst="rect">
            <a:avLst/>
          </a:prstGeom>
          <a:noFill/>
        </p:spPr>
      </p:pic>
      <p:sp>
        <p:nvSpPr>
          <p:cNvPr id="29734" name="Rectangle 38"/>
          <p:cNvSpPr>
            <a:spLocks noChangeArrowheads="1"/>
          </p:cNvSpPr>
          <p:nvPr/>
        </p:nvSpPr>
        <p:spPr bwMode="auto">
          <a:xfrm>
            <a:off x="0" y="752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36" name="Rectangle 4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35" name="Picture 39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3108" y="5162567"/>
            <a:ext cx="4391025" cy="695325"/>
          </a:xfrm>
          <a:prstGeom prst="rect">
            <a:avLst/>
          </a:prstGeom>
          <a:noFill/>
        </p:spPr>
      </p:pic>
      <p:sp>
        <p:nvSpPr>
          <p:cNvPr id="29737" name="Rectangle 41"/>
          <p:cNvSpPr>
            <a:spLocks noChangeArrowheads="1"/>
          </p:cNvSpPr>
          <p:nvPr/>
        </p:nvSpPr>
        <p:spPr bwMode="auto">
          <a:xfrm>
            <a:off x="0" y="1152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739" name="Rectangle 4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9738" name="Picture 42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3543304"/>
            <a:ext cx="800100" cy="457200"/>
          </a:xfrm>
          <a:prstGeom prst="rect">
            <a:avLst/>
          </a:prstGeom>
          <a:noFill/>
        </p:spPr>
      </p:pic>
      <p:sp>
        <p:nvSpPr>
          <p:cNvPr id="29740" name="Rectangle 44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613</Words>
  <PresentationFormat>如螢幕大小 (4:3)</PresentationFormat>
  <Paragraphs>160</Paragraphs>
  <Slides>14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Stochastic Calculus for Finance II Steven  E. Shreve   6.5  Interest Rate Models (1)  交大財金所碩一  許嵐鈞             </vt:lpstr>
      <vt:lpstr>Short-rate models</vt:lpstr>
      <vt:lpstr>Review: discount process</vt:lpstr>
      <vt:lpstr>Zero-coupon bond pricing formula</vt:lpstr>
      <vt:lpstr>Yield</vt:lpstr>
      <vt:lpstr>Find the PDE of unknown </vt:lpstr>
      <vt:lpstr>Find the PDE of unknown </vt:lpstr>
      <vt:lpstr>Hull-White interest model</vt:lpstr>
      <vt:lpstr>Hull-White interest model</vt:lpstr>
      <vt:lpstr>Hull-White interest model</vt:lpstr>
      <vt:lpstr>Hull-White interest model</vt:lpstr>
      <vt:lpstr>Exercise 6.3 (Solution of Hull-White model)</vt:lpstr>
      <vt:lpstr>Exercise 6.3 (Solution of Hull-White model)</vt:lpstr>
      <vt:lpstr>Exercise 6.3 (Solution of Hull-White model)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Calculus for Finance II Steven E. Shreve   6.5 Interest Rate Models</dc:title>
  <cp:lastModifiedBy>Thierry Hsu</cp:lastModifiedBy>
  <cp:revision>43</cp:revision>
  <dcterms:modified xsi:type="dcterms:W3CDTF">2008-05-22T05:10:57Z</dcterms:modified>
</cp:coreProperties>
</file>