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1" d="100"/>
          <a:sy n="71" d="100"/>
        </p:scale>
        <p:origin x="1356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4D0E03-279E-4AC2-9FD6-D1FD02FD3BEC}" type="datetimeFigureOut">
              <a:rPr lang="zh-TW" altLang="en-US" smtClean="0"/>
              <a:t>2014/6/24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8C03E8-2FF5-4EBF-9BC3-4EDADCD522C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331444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8C03E8-2FF5-4EBF-9BC3-4EDADCD522C8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75811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2014/6/24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2014/6/24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2014/6/24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2014/6/24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2014/6/24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2014/6/24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2014/6/24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2014/6/24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2014/6/24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2014/6/24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2014/6/24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  <a:t>2014/6/24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CH2</a:t>
            </a:r>
            <a:r>
              <a:rPr lang="zh-TW" altLang="en-US" dirty="0" smtClean="0"/>
              <a:t> </a:t>
            </a:r>
            <a:r>
              <a:rPr lang="en-US" altLang="zh-TW" dirty="0" smtClean="0"/>
              <a:t>Time series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89333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Agenda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altLang="zh-TW" dirty="0" smtClean="0"/>
              <a:t>Overview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 smtClean="0"/>
              <a:t>Autocorrelation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/>
              <a:t>Time Series Model- </a:t>
            </a:r>
            <a:r>
              <a:rPr lang="en-US" altLang="zh-TW" dirty="0" smtClean="0"/>
              <a:t>White noise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/>
              <a:t>Time Series Model- </a:t>
            </a:r>
            <a:r>
              <a:rPr lang="en-US" altLang="zh-TW" dirty="0" smtClean="0"/>
              <a:t>MA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/>
              <a:t>Time Series Model- </a:t>
            </a:r>
            <a:r>
              <a:rPr lang="en-US" altLang="zh-TW" dirty="0" smtClean="0"/>
              <a:t>AR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/>
              <a:t>Time Series Model- ARMA</a:t>
            </a:r>
          </a:p>
        </p:txBody>
      </p:sp>
    </p:spTree>
    <p:extLst>
      <p:ext uri="{BB962C8B-B14F-4D97-AF65-F5344CB8AC3E}">
        <p14:creationId xmlns:p14="http://schemas.microsoft.com/office/powerpoint/2010/main" val="27494900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1143000"/>
          </a:xfrm>
        </p:spPr>
        <p:txBody>
          <a:bodyPr/>
          <a:lstStyle/>
          <a:p>
            <a:r>
              <a:rPr lang="en-US" altLang="zh-TW" dirty="0" smtClean="0"/>
              <a:t>Overview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1143000"/>
            <a:ext cx="9144000" cy="4939755"/>
          </a:xfrm>
        </p:spPr>
        <p:txBody>
          <a:bodyPr>
            <a:normAutofit/>
          </a:bodyPr>
          <a:lstStyle/>
          <a:p>
            <a:r>
              <a:rPr lang="en-US" altLang="zh-TW" u="sng" dirty="0" smtClean="0"/>
              <a:t>Define</a:t>
            </a:r>
            <a:r>
              <a:rPr lang="en-US" altLang="zh-TW" dirty="0" smtClean="0"/>
              <a:t> : </a:t>
            </a:r>
          </a:p>
          <a:p>
            <a:pPr marL="0" indent="0">
              <a:buNone/>
            </a:pPr>
            <a:r>
              <a:rPr lang="en-US" altLang="zh-TW" dirty="0" smtClean="0"/>
              <a:t>    A </a:t>
            </a:r>
            <a:r>
              <a:rPr lang="en-US" altLang="zh-TW" dirty="0"/>
              <a:t>time series is a sequence of values  </a:t>
            </a:r>
            <a:r>
              <a:rPr lang="en-US" altLang="zh-TW" dirty="0" smtClean="0"/>
              <a:t>measured</a:t>
            </a:r>
          </a:p>
          <a:p>
            <a:pPr marL="0" indent="0">
              <a:buNone/>
            </a:pPr>
            <a:r>
              <a:rPr lang="en-US" altLang="zh-TW" dirty="0"/>
              <a:t> </a:t>
            </a:r>
            <a:r>
              <a:rPr lang="en-US" altLang="zh-TW" dirty="0" smtClean="0"/>
              <a:t>  </a:t>
            </a:r>
            <a:r>
              <a:rPr lang="en-US" altLang="zh-TW" dirty="0" smtClean="0"/>
              <a:t> </a:t>
            </a:r>
            <a:r>
              <a:rPr lang="en-US" altLang="zh-TW" dirty="0" smtClean="0"/>
              <a:t>over </a:t>
            </a:r>
            <a:r>
              <a:rPr lang="en-US" altLang="zh-TW" dirty="0"/>
              <a:t>time</a:t>
            </a:r>
            <a:r>
              <a:rPr lang="en-US" altLang="zh-TW" dirty="0" smtClean="0"/>
              <a:t>.</a:t>
            </a:r>
            <a:endParaRPr lang="en-US" altLang="zh-TW" u="sng" dirty="0" smtClean="0"/>
          </a:p>
          <a:p>
            <a:pPr marL="914400" lvl="1" indent="-514350">
              <a:buFont typeface="+mj-lt"/>
              <a:buAutoNum type="arabicPeriod"/>
            </a:pPr>
            <a:r>
              <a:rPr lang="en-US" altLang="zh-TW" dirty="0" smtClean="0"/>
              <a:t>Deterministic </a:t>
            </a:r>
            <a:r>
              <a:rPr lang="en-US" altLang="zh-TW" dirty="0"/>
              <a:t>time </a:t>
            </a:r>
            <a:r>
              <a:rPr lang="en-US" altLang="zh-TW" dirty="0" smtClean="0"/>
              <a:t>series:</a:t>
            </a:r>
            <a:endParaRPr lang="zh-TW" altLang="en-US" dirty="0" smtClean="0"/>
          </a:p>
          <a:p>
            <a:pPr marL="800100" lvl="2" indent="0">
              <a:buNone/>
            </a:pPr>
            <a:r>
              <a:rPr lang="en-US" altLang="zh-TW" dirty="0" smtClean="0"/>
              <a:t>  -&gt;Derived </a:t>
            </a:r>
            <a:r>
              <a:rPr lang="en-US" altLang="zh-TW" dirty="0"/>
              <a:t>from a fixed deterministic </a:t>
            </a:r>
            <a:r>
              <a:rPr lang="en-US" altLang="zh-TW" dirty="0" smtClean="0"/>
              <a:t>formula.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altLang="zh-TW" dirty="0"/>
              <a:t>P</a:t>
            </a:r>
            <a:r>
              <a:rPr lang="en-US" altLang="zh-TW" dirty="0" smtClean="0"/>
              <a:t>robabilistic </a:t>
            </a:r>
            <a:r>
              <a:rPr lang="en-US" altLang="zh-TW" dirty="0"/>
              <a:t>or </a:t>
            </a:r>
            <a:r>
              <a:rPr lang="en-US" altLang="zh-TW" dirty="0" smtClean="0"/>
              <a:t>Stochastic </a:t>
            </a:r>
            <a:r>
              <a:rPr lang="en-US" altLang="zh-TW" dirty="0"/>
              <a:t>time </a:t>
            </a:r>
            <a:r>
              <a:rPr lang="en-US" altLang="zh-TW" dirty="0" smtClean="0"/>
              <a:t>series:</a:t>
            </a:r>
          </a:p>
          <a:p>
            <a:pPr marL="800100" lvl="2" indent="0">
              <a:buNone/>
            </a:pPr>
            <a:r>
              <a:rPr lang="en-US" altLang="zh-TW" dirty="0" smtClean="0"/>
              <a:t>  -&gt;Obtained by </a:t>
            </a:r>
            <a:r>
              <a:rPr lang="en-US" altLang="zh-TW" dirty="0"/>
              <a:t>drawing a sample from a </a:t>
            </a:r>
            <a:r>
              <a:rPr lang="en-US" altLang="zh-TW" dirty="0" smtClean="0"/>
              <a:t>probability distribution.</a:t>
            </a:r>
          </a:p>
          <a:p>
            <a:pPr marL="0" indent="0">
              <a:buNone/>
            </a:pPr>
            <a:r>
              <a:rPr lang="en-US" altLang="zh-TW" dirty="0" smtClean="0"/>
              <a:t>    We </a:t>
            </a:r>
            <a:r>
              <a:rPr lang="en-US" altLang="zh-TW" dirty="0" smtClean="0"/>
              <a:t>focus </a:t>
            </a:r>
            <a:r>
              <a:rPr lang="en-US" altLang="zh-TW" dirty="0"/>
              <a:t>on Probabilistic or Stochastic time </a:t>
            </a:r>
            <a:r>
              <a:rPr lang="en-US" altLang="zh-TW" dirty="0" smtClean="0"/>
              <a:t>series</a:t>
            </a:r>
          </a:p>
          <a:p>
            <a:pPr marL="0" indent="0">
              <a:buNone/>
            </a:pPr>
            <a:r>
              <a:rPr lang="en-US" altLang="zh-TW" dirty="0" smtClean="0"/>
              <a:t>    in this chapter.</a:t>
            </a:r>
          </a:p>
          <a:p>
            <a:pPr marL="800100" lvl="2" indent="0">
              <a:buNone/>
            </a:pPr>
            <a:endParaRPr lang="zh-TW" altLang="en-US" u="sng" dirty="0"/>
          </a:p>
        </p:txBody>
      </p:sp>
    </p:spTree>
    <p:extLst>
      <p:ext uri="{BB962C8B-B14F-4D97-AF65-F5344CB8AC3E}">
        <p14:creationId xmlns:p14="http://schemas.microsoft.com/office/powerpoint/2010/main" val="3537758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67544" y="21497"/>
            <a:ext cx="8229600" cy="1143000"/>
          </a:xfrm>
        </p:spPr>
        <p:txBody>
          <a:bodyPr/>
          <a:lstStyle/>
          <a:p>
            <a:r>
              <a:rPr lang="en-US" altLang="zh-TW" dirty="0" smtClean="0"/>
              <a:t>Autocorrelation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95536" y="1340768"/>
            <a:ext cx="8229600" cy="5145435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altLang="zh-TW" dirty="0" smtClean="0"/>
              <a:t>Is </a:t>
            </a:r>
            <a:r>
              <a:rPr lang="en-US" altLang="zh-TW" dirty="0"/>
              <a:t>there a relationship between the value now and </a:t>
            </a:r>
            <a:r>
              <a:rPr lang="en-US" altLang="zh-TW" dirty="0" smtClean="0"/>
              <a:t>the value </a:t>
            </a:r>
            <a:r>
              <a:rPr lang="en-US" altLang="zh-TW" dirty="0"/>
              <a:t>observed one </a:t>
            </a:r>
            <a:r>
              <a:rPr lang="en-US" altLang="zh-TW" dirty="0" smtClean="0"/>
              <a:t>time(even more) </a:t>
            </a:r>
            <a:r>
              <a:rPr lang="en-US" altLang="zh-TW" dirty="0"/>
              <a:t>step in the past</a:t>
            </a:r>
            <a:r>
              <a:rPr lang="en-US" altLang="zh-TW" dirty="0" smtClean="0"/>
              <a:t>?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/>
              <a:t>The strength of the (linear) relationship is reflected in </a:t>
            </a:r>
            <a:r>
              <a:rPr lang="en-US" altLang="zh-TW" dirty="0" smtClean="0"/>
              <a:t>the correlation </a:t>
            </a:r>
            <a:r>
              <a:rPr lang="en-US" altLang="zh-TW" dirty="0"/>
              <a:t>number</a:t>
            </a:r>
            <a:r>
              <a:rPr lang="en-US" altLang="zh-TW" dirty="0" smtClean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/>
              <a:t>The answer to these questions, spanning the entire range of time </a:t>
            </a:r>
            <a:r>
              <a:rPr lang="en-US" altLang="zh-TW" dirty="0" smtClean="0"/>
              <a:t>steps , could </a:t>
            </a:r>
            <a:r>
              <a:rPr lang="en-US" altLang="zh-TW" dirty="0"/>
              <a:t>very well be the </a:t>
            </a:r>
            <a:r>
              <a:rPr lang="en-US" altLang="zh-TW" u="sng" dirty="0"/>
              <a:t>autocorrelation function</a:t>
            </a:r>
            <a:r>
              <a:rPr lang="en-US" altLang="zh-TW" dirty="0"/>
              <a:t>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022627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1143000"/>
          </a:xfrm>
        </p:spPr>
        <p:txBody>
          <a:bodyPr/>
          <a:lstStyle/>
          <a:p>
            <a:r>
              <a:rPr lang="en-US" altLang="zh-TW" dirty="0"/>
              <a:t>Autocorrelation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0" y="980728"/>
                <a:ext cx="9036496" cy="5760640"/>
              </a:xfrm>
            </p:spPr>
            <p:txBody>
              <a:bodyPr>
                <a:normAutofit/>
              </a:bodyPr>
              <a:lstStyle/>
              <a:p>
                <a:r>
                  <a:rPr lang="en-US" altLang="zh-TW" dirty="0" smtClean="0"/>
                  <a:t>The </a:t>
                </a:r>
                <a:r>
                  <a:rPr lang="en-US" altLang="zh-TW" dirty="0"/>
                  <a:t>autocorrelation </a:t>
                </a:r>
                <a:r>
                  <a:rPr lang="en-US" altLang="zh-TW" dirty="0" smtClean="0"/>
                  <a:t>function:</a:t>
                </a:r>
              </a:p>
              <a:p>
                <a:pPr marL="400050" lvl="1" indent="0">
                  <a:buNone/>
                </a:pPr>
                <a:r>
                  <a:rPr lang="en-US" altLang="zh-TW" sz="2000" dirty="0" smtClean="0"/>
                  <a:t>The </a:t>
                </a:r>
                <a:r>
                  <a:rPr lang="en-US" altLang="zh-TW" sz="2000" dirty="0"/>
                  <a:t>plot of the correlation between </a:t>
                </a:r>
                <a:r>
                  <a:rPr lang="en-US" altLang="zh-TW" sz="2000" dirty="0" smtClean="0"/>
                  <a:t>values in </a:t>
                </a:r>
                <a:r>
                  <a:rPr lang="en-US" altLang="zh-TW" sz="2000" dirty="0"/>
                  <a:t>the time series based on the time interval between </a:t>
                </a:r>
                <a:r>
                  <a:rPr lang="en-US" altLang="zh-TW" sz="2000" dirty="0" smtClean="0"/>
                  <a:t>them</a:t>
                </a:r>
                <a:r>
                  <a:rPr lang="en-US" altLang="zh-TW" sz="1600" dirty="0" smtClean="0"/>
                  <a:t>:</a:t>
                </a:r>
              </a:p>
              <a:p>
                <a:pPr marL="400050" lvl="1" indent="0">
                  <a:buNone/>
                </a:pPr>
                <a:endParaRPr lang="en-US" altLang="zh-TW" sz="1600" dirty="0"/>
              </a:p>
              <a:p>
                <a:pPr marL="400050" lvl="1" indent="0">
                  <a:buNone/>
                </a:pPr>
                <a:r>
                  <a:rPr lang="en-US" altLang="zh-TW" sz="1600" dirty="0" smtClean="0"/>
                  <a:t> </a:t>
                </a:r>
                <a:r>
                  <a:rPr lang="en-US" altLang="zh-TW" sz="2000" i="1" u="sng" dirty="0"/>
                  <a:t>X</a:t>
                </a:r>
                <a:r>
                  <a:rPr lang="en-US" altLang="zh-TW" sz="2000" u="sng" dirty="0" smtClean="0"/>
                  <a:t>-axis</a:t>
                </a:r>
                <a:r>
                  <a:rPr lang="en-US" altLang="zh-TW" sz="2000" dirty="0" smtClean="0"/>
                  <a:t> : The </a:t>
                </a:r>
                <a:r>
                  <a:rPr lang="en-US" altLang="zh-TW" sz="2000" dirty="0"/>
                  <a:t>length of the time lag between the current value </a:t>
                </a:r>
                <a:r>
                  <a:rPr lang="en-US" altLang="zh-TW" sz="2000" dirty="0" smtClean="0"/>
                  <a:t>and </a:t>
                </a:r>
                <a:r>
                  <a:rPr lang="en-US" altLang="zh-TW" sz="2000" dirty="0" smtClean="0"/>
                  <a:t>the value in the</a:t>
                </a:r>
              </a:p>
              <a:p>
                <a:pPr marL="400050" lvl="1" indent="0">
                  <a:buNone/>
                </a:pPr>
                <a:r>
                  <a:rPr lang="en-US" altLang="zh-TW" sz="2000" dirty="0"/>
                  <a:t> </a:t>
                </a:r>
                <a:r>
                  <a:rPr lang="en-US" altLang="zh-TW" sz="2000" dirty="0" smtClean="0"/>
                  <a:t>           </a:t>
                </a:r>
                <a:r>
                  <a:rPr lang="en-US" altLang="zh-TW" sz="2000" dirty="0" smtClean="0"/>
                  <a:t>  past.</a:t>
                </a:r>
              </a:p>
              <a:p>
                <a:pPr marL="400050" lvl="1" indent="0">
                  <a:buNone/>
                </a:pPr>
                <a:endParaRPr lang="en-US" altLang="zh-TW" sz="2000" dirty="0" smtClean="0"/>
              </a:p>
              <a:p>
                <a:pPr marL="400050" lvl="1" indent="0">
                  <a:buNone/>
                </a:pPr>
                <a:r>
                  <a:rPr lang="en-US" altLang="zh-TW" sz="2000" i="1" u="sng" dirty="0"/>
                  <a:t>Y</a:t>
                </a:r>
                <a:r>
                  <a:rPr lang="en-US" altLang="zh-TW" sz="2000" u="sng" dirty="0" smtClean="0"/>
                  <a:t>-axis</a:t>
                </a:r>
                <a:r>
                  <a:rPr lang="en-US" altLang="zh-TW" sz="2000" dirty="0" smtClean="0"/>
                  <a:t> :  Value </a:t>
                </a:r>
                <a:r>
                  <a:rPr lang="en-US" altLang="zh-TW" sz="2000" dirty="0"/>
                  <a:t>for a time lag </a:t>
                </a:r>
                <a:r>
                  <a:rPr lang="en-US" altLang="zh-TW" sz="2000" dirty="0" smtClean="0"/>
                  <a:t>t , </a:t>
                </a:r>
                <a:r>
                  <a:rPr lang="en-US" altLang="zh-TW" sz="2000" dirty="0"/>
                  <a:t>(</a:t>
                </a:r>
                <a:r>
                  <a:rPr lang="en-US" altLang="zh-TW" sz="2000" i="1" dirty="0"/>
                  <a:t>x </a:t>
                </a:r>
                <a:r>
                  <a:rPr lang="en-US" altLang="zh-TW" sz="2000" dirty="0"/>
                  <a:t>= t) is the correlation </a:t>
                </a:r>
                <a:r>
                  <a:rPr lang="en-US" altLang="zh-TW" sz="2000" dirty="0" smtClean="0"/>
                  <a:t>between the </a:t>
                </a:r>
                <a:r>
                  <a:rPr lang="en-US" altLang="zh-TW" sz="2000" dirty="0" smtClean="0"/>
                  <a:t>values</a:t>
                </a:r>
              </a:p>
              <a:p>
                <a:pPr marL="400050" lvl="1" indent="0">
                  <a:buNone/>
                </a:pPr>
                <a:r>
                  <a:rPr lang="en-US" altLang="zh-TW" sz="2000" dirty="0"/>
                  <a:t> </a:t>
                </a:r>
                <a:r>
                  <a:rPr lang="en-US" altLang="zh-TW" sz="2000" dirty="0" smtClean="0"/>
                  <a:t>             </a:t>
                </a:r>
                <a:r>
                  <a:rPr lang="en-US" altLang="zh-TW" sz="2000" dirty="0" smtClean="0"/>
                  <a:t> </a:t>
                </a:r>
                <a:r>
                  <a:rPr lang="en-US" altLang="zh-TW" sz="2000" dirty="0"/>
                  <a:t>in the time series t time units </a:t>
                </a:r>
                <a:r>
                  <a:rPr lang="en-US" altLang="zh-TW" sz="2000" dirty="0" smtClean="0"/>
                  <a:t>apart . Use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TW" sz="2000" i="1"/>
                        </m:ctrlPr>
                      </m:accPr>
                      <m:e>
                        <m:r>
                          <a:rPr lang="zh-TW" altLang="en-US" sz="2000" i="1"/>
                          <m:t>𝜌</m:t>
                        </m:r>
                      </m:e>
                    </m:acc>
                    <m:d>
                      <m:dPr>
                        <m:ctrlPr>
                          <a:rPr lang="en-US" altLang="zh-TW" sz="2000" i="1"/>
                        </m:ctrlPr>
                      </m:dPr>
                      <m:e>
                        <m:r>
                          <a:rPr lang="zh-TW" altLang="en-US" sz="2000" i="1"/>
                          <m:t>𝜏</m:t>
                        </m:r>
                      </m:e>
                    </m:d>
                  </m:oMath>
                </a14:m>
                <a:r>
                  <a:rPr lang="en-US" altLang="zh-TW" sz="2000" dirty="0" smtClean="0"/>
                  <a:t> to estimate correlation</a:t>
                </a:r>
                <a:r>
                  <a:rPr lang="en-US" altLang="zh-TW" sz="2000" dirty="0" smtClean="0"/>
                  <a:t>.</a:t>
                </a:r>
              </a:p>
              <a:p>
                <a:pPr marL="400050" lvl="1" indent="0">
                  <a:buNone/>
                </a:pPr>
                <a:endParaRPr lang="en-US" altLang="zh-TW" sz="2000" dirty="0"/>
              </a:p>
              <a:p>
                <a:pPr marL="400050" lvl="1" indent="0">
                  <a:buNone/>
                </a:pPr>
                <a:endParaRPr lang="en-US" altLang="zh-TW" sz="2000" dirty="0" smtClean="0"/>
              </a:p>
              <a:p>
                <a:pPr marL="40005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TW" altLang="en-US" sz="2400" i="1" smtClean="0">
                              <a:latin typeface="Cambria Math"/>
                            </a:rPr>
                            <m:t>𝜌</m:t>
                          </m:r>
                        </m:e>
                      </m:acc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400" b="0" i="1" smtClean="0">
                              <a:latin typeface="Cambria Math"/>
                            </a:rPr>
                            <m:t>𝜏</m:t>
                          </m:r>
                        </m:e>
                      </m:d>
                      <m:r>
                        <a:rPr lang="en-US" altLang="zh-TW" sz="24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2400" b="0" i="1" smtClean="0"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TW" sz="2400" b="0" i="1" smtClean="0">
                                  <a:latin typeface="Cambria Math"/>
                                </a:rPr>
                                <m:t>𝑇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TW" sz="2400" b="0" i="1" smtClean="0">
                                  <a:latin typeface="Cambria Math"/>
                                </a:rPr>
                                <m:t>𝑡</m:t>
                              </m:r>
                              <m:r>
                                <a:rPr lang="en-US" altLang="zh-TW" sz="2400" b="0" i="1" smtClean="0">
                                  <a:latin typeface="Cambria Math"/>
                                </a:rPr>
                                <m:t>=</m:t>
                              </m:r>
                              <m:r>
                                <a:rPr lang="zh-TW" altLang="en-US" sz="2400" b="0" i="1" smtClean="0">
                                  <a:latin typeface="Cambria Math"/>
                                </a:rPr>
                                <m:t>𝜏</m:t>
                              </m:r>
                              <m:r>
                                <a:rPr lang="en-US" altLang="zh-TW" sz="2400" b="0" i="1" smtClean="0">
                                  <a:latin typeface="Cambria Math"/>
                                </a:rPr>
                                <m:t>+1</m:t>
                              </m:r>
                            </m:sub>
                            <m:sup>
                              <m:r>
                                <a:rPr lang="en-US" altLang="zh-TW" sz="2400" b="0" i="1" smtClean="0">
                                  <a:latin typeface="Cambria Math"/>
                                </a:rPr>
                                <m:t>𝑇</m:t>
                              </m:r>
                            </m:sup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400" b="0" i="1" smtClean="0">
                                          <a:latin typeface="Cambria Math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zh-TW" sz="2400" b="0" i="1" smtClean="0">
                                          <a:latin typeface="Cambria Math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altLang="zh-TW" sz="2400" b="0" i="1" smtClean="0">
                                      <a:latin typeface="Cambria Math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altLang="zh-TW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400" b="0" i="1" smtClean="0">
                                          <a:latin typeface="Cambria Math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</m:d>
                              <m:r>
                                <a:rPr lang="en-US" altLang="zh-TW" sz="2400" b="0" i="1" smtClean="0">
                                  <a:latin typeface="Cambria Math"/>
                                </a:rPr>
                                <m:t>[</m:t>
                              </m:r>
                              <m:sSub>
                                <m:sSubPr>
                                  <m:ctrlP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b="0" i="1" smtClean="0">
                                      <a:latin typeface="Cambria Math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TW" sz="2400" b="0" i="1" smtClean="0">
                                      <a:latin typeface="Cambria Math"/>
                                    </a:rPr>
                                    <m:t>𝑡</m:t>
                                  </m:r>
                                  <m:r>
                                    <a:rPr lang="en-US" altLang="zh-TW" sz="2400" b="0" i="1" smtClean="0">
                                      <a:latin typeface="Cambria Math"/>
                                    </a:rPr>
                                    <m:t>−</m:t>
                                  </m:r>
                                  <m:r>
                                    <a:rPr lang="zh-TW" altLang="en-US" sz="2400" b="0" i="1" smtClean="0">
                                      <a:latin typeface="Cambria Math"/>
                                    </a:rPr>
                                    <m:t>𝜏</m:t>
                                  </m:r>
                                </m:sub>
                              </m:sSub>
                              <m:r>
                                <a:rPr lang="en-US" altLang="zh-TW" sz="2400" b="0" i="1" smtClean="0">
                                  <a:latin typeface="Cambria Math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2400" b="0" i="1" smtClean="0">
                                      <a:latin typeface="Cambria Math"/>
                                    </a:rPr>
                                    <m:t>𝑦</m:t>
                                  </m:r>
                                </m:e>
                              </m:acc>
                              <m:r>
                                <a:rPr lang="en-US" altLang="zh-TW" sz="2400" b="0" i="1" smtClean="0">
                                  <a:latin typeface="Cambria Math"/>
                                </a:rPr>
                                <m:t>]</m:t>
                              </m:r>
                            </m:e>
                          </m:nary>
                        </m:num>
                        <m:den>
                          <m:f>
                            <m:f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2400" b="0" i="1" smtClean="0"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TW" sz="2400" b="0" i="1" smtClean="0">
                                  <a:latin typeface="Cambria Math"/>
                                </a:rPr>
                                <m:t>𝑇</m:t>
                              </m:r>
                            </m:den>
                          </m:f>
                          <m:nary>
                            <m:naryPr>
                              <m:chr m:val="∑"/>
                              <m:limLoc m:val="subSup"/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US" altLang="zh-TW" sz="2400" b="0" i="1" smtClean="0">
                                  <a:latin typeface="Cambria Math"/>
                                </a:rPr>
                                <m:t>𝑡</m:t>
                              </m:r>
                              <m:r>
                                <a:rPr lang="en-US" altLang="zh-TW" sz="2400" b="0" i="1" smtClean="0">
                                  <a:latin typeface="Cambria Math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TW" sz="2400" b="0" i="1" smtClean="0">
                                  <a:latin typeface="Cambria Math"/>
                                </a:rPr>
                                <m:t>𝑇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2400" b="0" i="1" smtClean="0">
                                      <a:latin typeface="Cambria Math"/>
                                    </a:rPr>
                                    <m:t>[</m:t>
                                  </m:r>
                                  <m:sSub>
                                    <m:sSubPr>
                                      <m:ctrl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400" i="1">
                                          <a:latin typeface="Cambria Math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zh-TW" sz="2400" i="1">
                                          <a:latin typeface="Cambria Math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altLang="zh-TW" sz="2400" i="1">
                                      <a:latin typeface="Cambria Math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400" i="1">
                                          <a:latin typeface="Cambria Math"/>
                                        </a:rPr>
                                        <m:t>𝑦</m:t>
                                      </m:r>
                                    </m:e>
                                  </m:acc>
                                  <m:r>
                                    <a:rPr lang="en-US" altLang="zh-TW" sz="2400" b="0" i="1" smtClean="0">
                                      <a:latin typeface="Cambria Math"/>
                                    </a:rPr>
                                    <m:t>]</m:t>
                                  </m:r>
                                </m:e>
                                <m:sup>
                                  <m:r>
                                    <a:rPr lang="en-US" altLang="zh-TW" sz="2400" b="0" i="1" smtClean="0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lang="en-US" altLang="zh-TW" sz="2400" dirty="0" smtClean="0"/>
              </a:p>
              <a:p>
                <a:pPr marL="400050" lvl="1" indent="0">
                  <a:buNone/>
                </a:pPr>
                <a:endParaRPr lang="zh-TW" altLang="en-US" sz="2000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980728"/>
                <a:ext cx="9036496" cy="5760640"/>
              </a:xfrm>
              <a:blipFill rotWithShape="0">
                <a:blip r:embed="rId2"/>
                <a:stretch>
                  <a:fillRect l="-1552" t="-13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79509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38527" y="0"/>
            <a:ext cx="8229600" cy="1143000"/>
          </a:xfrm>
        </p:spPr>
        <p:txBody>
          <a:bodyPr/>
          <a:lstStyle/>
          <a:p>
            <a:r>
              <a:rPr lang="en-US" altLang="zh-TW" dirty="0"/>
              <a:t>Autocorrelation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39552" y="1340768"/>
            <a:ext cx="8229600" cy="4525963"/>
          </a:xfrm>
        </p:spPr>
        <p:txBody>
          <a:bodyPr/>
          <a:lstStyle/>
          <a:p>
            <a:r>
              <a:rPr lang="en-US" altLang="zh-TW" dirty="0" err="1" smtClean="0"/>
              <a:t>Correlogram</a:t>
            </a:r>
            <a:r>
              <a:rPr lang="en-US" altLang="zh-TW" dirty="0" smtClean="0"/>
              <a:t>:</a:t>
            </a:r>
          </a:p>
          <a:p>
            <a:pPr marL="0" indent="0">
              <a:buNone/>
            </a:pPr>
            <a:endParaRPr lang="en-US" altLang="zh-TW" dirty="0" smtClean="0"/>
          </a:p>
          <a:p>
            <a:pPr marL="914400" lvl="1" indent="-514350">
              <a:buFont typeface="+mj-lt"/>
              <a:buAutoNum type="arabicParenR"/>
            </a:pPr>
            <a:r>
              <a:rPr lang="en-US" altLang="zh-TW" dirty="0" smtClean="0"/>
              <a:t>The </a:t>
            </a:r>
            <a:r>
              <a:rPr lang="en-US" altLang="zh-TW" dirty="0"/>
              <a:t>plot of the estimated correlation against time intervals forms an </a:t>
            </a:r>
            <a:r>
              <a:rPr lang="en-US" altLang="zh-TW" dirty="0" smtClean="0"/>
              <a:t>estimation of </a:t>
            </a:r>
            <a:r>
              <a:rPr lang="en-US" altLang="zh-TW" dirty="0"/>
              <a:t>the autocorrelation function, called the </a:t>
            </a:r>
            <a:r>
              <a:rPr lang="en-US" altLang="zh-TW" i="1" dirty="0" err="1"/>
              <a:t>correlogram</a:t>
            </a:r>
            <a:r>
              <a:rPr lang="en-US" altLang="zh-TW" dirty="0" smtClean="0"/>
              <a:t>.</a:t>
            </a:r>
          </a:p>
          <a:p>
            <a:pPr marL="0" indent="0">
              <a:buNone/>
            </a:pPr>
            <a:endParaRPr lang="en-US" altLang="zh-TW" dirty="0" smtClean="0"/>
          </a:p>
          <a:p>
            <a:pPr marL="914400" lvl="1" indent="-514350">
              <a:buFont typeface="+mj-lt"/>
              <a:buAutoNum type="arabicParenR" startAt="2"/>
            </a:pPr>
            <a:r>
              <a:rPr lang="en-US" altLang="zh-TW" dirty="0" smtClean="0"/>
              <a:t>It </a:t>
            </a:r>
            <a:r>
              <a:rPr lang="en-US" altLang="zh-TW" dirty="0"/>
              <a:t>serves </a:t>
            </a:r>
            <a:r>
              <a:rPr lang="en-US" altLang="zh-TW" dirty="0" smtClean="0"/>
              <a:t>as a </a:t>
            </a:r>
            <a:r>
              <a:rPr lang="en-US" altLang="zh-TW" dirty="0"/>
              <a:t>proxy for the autocorrelation function of the time series.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16976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zh-TW" dirty="0" smtClean="0"/>
              <a:t>Time Series Model-</a:t>
            </a:r>
            <a:r>
              <a:rPr lang="en-US" altLang="zh-TW" dirty="0"/>
              <a:t> White Noise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467544" y="836712"/>
                <a:ext cx="8229600" cy="5832648"/>
              </a:xfrm>
            </p:spPr>
            <p:txBody>
              <a:bodyPr/>
              <a:lstStyle/>
              <a:p>
                <a:pPr marL="0" indent="0">
                  <a:buNone/>
                </a:pPr>
                <a:endParaRPr lang="en-US" altLang="zh-TW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/>
                            </a:rPr>
                            <m:t>𝑡</m:t>
                          </m:r>
                        </m:sub>
                      </m:sSub>
                      <m:r>
                        <a:rPr lang="en-US" altLang="zh-TW" b="0" i="1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b="0" i="1" smtClean="0">
                              <a:latin typeface="Cambria Math"/>
                            </a:rPr>
                            <m:t>𝜀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altLang="zh-TW" dirty="0" smtClean="0"/>
              </a:p>
              <a:p>
                <a:pPr marL="0" indent="0">
                  <a:buNone/>
                </a:pPr>
                <a:endParaRPr lang="en-US" altLang="zh-TW" dirty="0" smtClean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altLang="zh-TW" dirty="0"/>
                  <a:t>It is </a:t>
                </a:r>
                <a:r>
                  <a:rPr lang="en-US" altLang="zh-TW" dirty="0" smtClean="0"/>
                  <a:t>constructed by </a:t>
                </a:r>
                <a:r>
                  <a:rPr lang="en-US" altLang="zh-TW" dirty="0"/>
                  <a:t>drawing a value from a normal distribution at each time </a:t>
                </a:r>
                <a:r>
                  <a:rPr lang="en-US" altLang="zh-TW" dirty="0" smtClean="0"/>
                  <a:t>instance</a:t>
                </a:r>
                <a:r>
                  <a:rPr lang="en-US" altLang="zh-TW" dirty="0"/>
                  <a:t> and the parameters of the normal distribution are fixed </a:t>
                </a:r>
                <a:r>
                  <a:rPr lang="en-US" altLang="zh-TW" dirty="0" smtClean="0"/>
                  <a:t>and do </a:t>
                </a:r>
                <a:r>
                  <a:rPr lang="en-US" altLang="zh-TW" dirty="0"/>
                  <a:t>not change with time</a:t>
                </a:r>
                <a:r>
                  <a:rPr lang="en-US" altLang="zh-TW" dirty="0" smtClean="0"/>
                  <a:t>.</a:t>
                </a:r>
              </a:p>
              <a:p>
                <a:pPr marL="1257300" lvl="2" indent="-457200">
                  <a:buFont typeface="+mj-lt"/>
                  <a:buAutoNum type="arabicPeriod"/>
                </a:pPr>
                <a:endParaRPr lang="en-US" altLang="zh-TW" dirty="0" smtClean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altLang="zh-TW" dirty="0"/>
                  <a:t>T</a:t>
                </a:r>
                <a:r>
                  <a:rPr lang="en-US" altLang="zh-TW" dirty="0" smtClean="0"/>
                  <a:t>he </a:t>
                </a:r>
                <a:r>
                  <a:rPr lang="en-US" altLang="zh-TW" dirty="0"/>
                  <a:t>most widely used version of white noise in practice and is </a:t>
                </a:r>
                <a:r>
                  <a:rPr lang="en-US" altLang="zh-TW" dirty="0" smtClean="0"/>
                  <a:t>referred to </a:t>
                </a:r>
                <a:r>
                  <a:rPr lang="en-US" altLang="zh-TW" dirty="0"/>
                  <a:t>as Gaussian white noise.</a:t>
                </a:r>
              </a:p>
              <a:p>
                <a:pPr marL="1257300" lvl="2" indent="-457200">
                  <a:buFont typeface="+mj-lt"/>
                  <a:buAutoNum type="arabicPeriod"/>
                </a:pP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67544" y="836712"/>
                <a:ext cx="8229600" cy="5832648"/>
              </a:xfrm>
              <a:blipFill rotWithShape="1">
                <a:blip r:embed="rId2"/>
                <a:stretch>
                  <a:fillRect l="-2000" r="-2222" b="-114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37716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1143000"/>
          </a:xfrm>
        </p:spPr>
        <p:txBody>
          <a:bodyPr/>
          <a:lstStyle/>
          <a:p>
            <a:r>
              <a:rPr lang="en-US" altLang="zh-TW" dirty="0"/>
              <a:t>Time Series </a:t>
            </a:r>
            <a:r>
              <a:rPr lang="en-US" altLang="zh-TW" dirty="0" smtClean="0"/>
              <a:t>Model-</a:t>
            </a:r>
            <a:r>
              <a:rPr lang="en-US" altLang="zh-TW" dirty="0"/>
              <a:t> White Noise</a:t>
            </a:r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467544" y="836712"/>
            <a:ext cx="7881987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 startAt="3"/>
            </a:pPr>
            <a:r>
              <a:rPr lang="en-US" altLang="zh-TW" sz="3200" dirty="0" smtClean="0"/>
              <a:t>White noise series:</a:t>
            </a:r>
          </a:p>
          <a:p>
            <a:pPr lvl="1"/>
            <a:endParaRPr lang="en-US" altLang="zh-TW" sz="3200" dirty="0" smtClean="0"/>
          </a:p>
          <a:p>
            <a:pPr lvl="1"/>
            <a:r>
              <a:rPr lang="en-US" altLang="zh-TW" sz="3200" dirty="0" smtClean="0"/>
              <a:t>      </a:t>
            </a:r>
          </a:p>
          <a:p>
            <a:pPr lvl="1"/>
            <a:endParaRPr lang="zh-TW" altLang="en-US" sz="3200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1268760"/>
            <a:ext cx="6480610" cy="259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1369" y="3861048"/>
            <a:ext cx="6336704" cy="2771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77247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1143000"/>
          </a:xfrm>
        </p:spPr>
        <p:txBody>
          <a:bodyPr/>
          <a:lstStyle/>
          <a:p>
            <a:r>
              <a:rPr lang="en-US" altLang="zh-TW" dirty="0"/>
              <a:t>Time Series Model- White Noise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>
          <a:xfrm>
            <a:off x="395536" y="908720"/>
            <a:ext cx="8229600" cy="5217443"/>
          </a:xfrm>
        </p:spPr>
        <p:txBody>
          <a:bodyPr/>
          <a:lstStyle/>
          <a:p>
            <a:pPr marL="0" indent="0">
              <a:buNone/>
            </a:pPr>
            <a:r>
              <a:rPr lang="en-US" altLang="zh-TW" u="sng" dirty="0" smtClean="0"/>
              <a:t>Analysis:</a:t>
            </a:r>
          </a:p>
          <a:p>
            <a:pPr marL="0" indent="0">
              <a:buNone/>
            </a:pPr>
            <a:endParaRPr lang="en-US" altLang="zh-TW" u="sng" dirty="0" smtClean="0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1340768"/>
            <a:ext cx="6480610" cy="259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7049" y="3933056"/>
            <a:ext cx="6336704" cy="2771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圓角矩形 6"/>
          <p:cNvSpPr/>
          <p:nvPr/>
        </p:nvSpPr>
        <p:spPr>
          <a:xfrm>
            <a:off x="3059832" y="4221088"/>
            <a:ext cx="360040" cy="18002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/>
          <p:cNvSpPr txBox="1"/>
          <p:nvPr/>
        </p:nvSpPr>
        <p:spPr>
          <a:xfrm>
            <a:off x="2799195" y="3939092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1.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4908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1143000"/>
          </a:xfrm>
        </p:spPr>
        <p:txBody>
          <a:bodyPr/>
          <a:lstStyle/>
          <a:p>
            <a:r>
              <a:rPr lang="en-US" altLang="zh-TW" dirty="0"/>
              <a:t>Time Series Model- White Noise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96752"/>
                <a:ext cx="8229600" cy="4929411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altLang="zh-TW" u="sng" dirty="0" smtClean="0"/>
                  <a:t>Analysis:</a:t>
                </a:r>
              </a:p>
              <a:p>
                <a:pPr marL="0" indent="0">
                  <a:buNone/>
                </a:pPr>
                <a:endParaRPr lang="en-US" altLang="zh-TW" u="sng" dirty="0" smtClean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altLang="zh-TW" sz="2400" dirty="0" smtClean="0"/>
                  <a:t>At the lag </a:t>
                </a:r>
                <a:r>
                  <a:rPr lang="en-US" altLang="zh-TW" sz="2400" dirty="0"/>
                  <a:t>value of zero, the correlation is unity; that is, every sample is </a:t>
                </a:r>
                <a:r>
                  <a:rPr lang="en-US" altLang="zh-TW" sz="2400" dirty="0" smtClean="0"/>
                  <a:t>perfectly correlated </a:t>
                </a:r>
                <a:r>
                  <a:rPr lang="en-US" altLang="zh-TW" sz="2400" dirty="0"/>
                  <a:t>with itself</a:t>
                </a:r>
                <a:r>
                  <a:rPr lang="en-US" altLang="zh-TW" sz="2400" dirty="0" smtClean="0"/>
                  <a:t>.</a:t>
                </a:r>
              </a:p>
              <a:p>
                <a:pPr marL="0" lvl="1" indent="0">
                  <a:buNone/>
                </a:pPr>
                <a:r>
                  <a:rPr lang="en-US" altLang="zh-TW" sz="2400" dirty="0" smtClean="0"/>
                  <a:t>        </a:t>
                </a:r>
                <a14:m>
                  <m:oMath xmlns:m="http://schemas.openxmlformats.org/officeDocument/2006/math">
                    <m:r>
                      <a:rPr lang="zh-TW" altLang="en-US" sz="2400" i="1" smtClean="0">
                        <a:latin typeface="Cambria Math"/>
                      </a:rPr>
                      <m:t>𝜏</m:t>
                    </m:r>
                    <m:r>
                      <a:rPr lang="en-US" altLang="zh-TW" sz="2400" b="0" i="1" smtClean="0">
                        <a:latin typeface="Cambria Math"/>
                      </a:rPr>
                      <m:t>=0⇒ </m:t>
                    </m:r>
                    <m:acc>
                      <m:accPr>
                        <m:chr m:val="̂"/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TW" altLang="en-US" sz="2400" i="1">
                            <a:latin typeface="Cambria Math"/>
                          </a:rPr>
                          <m:t>𝜌</m:t>
                        </m:r>
                      </m:e>
                    </m:acc>
                    <m:d>
                      <m:d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b="0" i="1" smtClean="0">
                            <a:latin typeface="Cambria Math"/>
                          </a:rPr>
                          <m:t>0</m:t>
                        </m:r>
                      </m:e>
                    </m:d>
                    <m:r>
                      <a:rPr lang="en-US" altLang="zh-TW" sz="2400" i="1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sz="2400" i="1">
                                <a:latin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TW" sz="2400" i="1">
                                <a:latin typeface="Cambria Math"/>
                              </a:rPr>
                              <m:t>𝑇</m:t>
                            </m:r>
                          </m:den>
                        </m:f>
                        <m:nary>
                          <m:naryPr>
                            <m:chr m:val="∑"/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TW" sz="2400" i="1">
                                <a:latin typeface="Cambria Math"/>
                              </a:rPr>
                              <m:t>𝑡</m:t>
                            </m:r>
                            <m:r>
                              <a:rPr lang="en-US" altLang="zh-TW" sz="2400" i="1">
                                <a:latin typeface="Cambria Math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TW" sz="2400" i="1">
                                <a:latin typeface="Cambria Math"/>
                              </a:rPr>
                              <m:t>𝑇</m:t>
                            </m:r>
                          </m:sup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i="1">
                                        <a:latin typeface="Cambria Math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TW" sz="2400" i="1">
                                        <a:latin typeface="Cambria Math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altLang="zh-TW" sz="2400" i="1">
                                    <a:latin typeface="Cambria Math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TW" sz="2400" i="1">
                                        <a:latin typeface="Cambria Math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</m:d>
                            <m:r>
                              <a:rPr lang="en-US" altLang="zh-TW" sz="2400" i="1">
                                <a:latin typeface="Cambria Math"/>
                              </a:rPr>
                              <m:t>[</m:t>
                            </m:r>
                            <m:sSub>
                              <m:sSubPr>
                                <m:ctrlP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400" i="1">
                                    <a:latin typeface="Cambria Math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TW" sz="2400" i="1">
                                    <a:latin typeface="Cambria Math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altLang="zh-TW" sz="2400" i="1">
                                <a:latin typeface="Cambria Math"/>
                              </a:rPr>
                              <m:t>−</m:t>
                            </m:r>
                            <m:acc>
                              <m:accPr>
                                <m:chr m:val="̅"/>
                                <m:ctrlP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400" i="1">
                                    <a:latin typeface="Cambria Math"/>
                                  </a:rPr>
                                  <m:t>𝑦</m:t>
                                </m:r>
                              </m:e>
                            </m:acc>
                            <m:r>
                              <a:rPr lang="en-US" altLang="zh-TW" sz="2400" i="1">
                                <a:latin typeface="Cambria Math"/>
                              </a:rPr>
                              <m:t>]</m:t>
                            </m:r>
                          </m:e>
                        </m:nary>
                      </m:num>
                      <m:den>
                        <m:f>
                          <m:f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sz="2400" i="1">
                                <a:latin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TW" sz="2400" i="1">
                                <a:latin typeface="Cambria Math"/>
                              </a:rPr>
                              <m:t>𝑇</m:t>
                            </m:r>
                          </m:den>
                        </m:f>
                        <m:nary>
                          <m:naryPr>
                            <m:chr m:val="∑"/>
                            <m:limLoc m:val="subSup"/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5"/>
                              </m:rPr>
                              <a:rPr lang="en-US" altLang="zh-TW" sz="2400" i="1">
                                <a:latin typeface="Cambria Math"/>
                              </a:rPr>
                              <m:t>𝑡</m:t>
                            </m:r>
                            <m:r>
                              <a:rPr lang="en-US" altLang="zh-TW" sz="2400" i="1">
                                <a:latin typeface="Cambria Math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TW" sz="2400" i="1">
                                <a:latin typeface="Cambria Math"/>
                              </a:rPr>
                              <m:t>𝑇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sz="2400" i="1">
                                    <a:latin typeface="Cambria Math"/>
                                  </a:rPr>
                                  <m:t>[</m:t>
                                </m:r>
                                <m:sSub>
                                  <m:sSubPr>
                                    <m:ctrlP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i="1">
                                        <a:latin typeface="Cambria Math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TW" sz="2400" i="1">
                                        <a:latin typeface="Cambria Math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altLang="zh-TW" sz="2400" i="1">
                                    <a:latin typeface="Cambria Math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TW" sz="2400" i="1">
                                        <a:latin typeface="Cambria Math"/>
                                      </a:rPr>
                                      <m:t>𝑦</m:t>
                                    </m:r>
                                  </m:e>
                                </m:acc>
                                <m:r>
                                  <a:rPr lang="en-US" altLang="zh-TW" sz="2400" i="1">
                                    <a:latin typeface="Cambria Math"/>
                                  </a:rPr>
                                  <m:t>]</m:t>
                                </m:r>
                              </m:e>
                              <m:sup>
                                <m:r>
                                  <a:rPr lang="en-US" altLang="zh-TW" sz="2400" i="1">
                                    <a:latin typeface="Cambria Math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den>
                    </m:f>
                    <m:r>
                      <a:rPr lang="en-US" altLang="zh-TW" sz="2400" b="0" i="1" smtClean="0">
                        <a:latin typeface="Cambria Math"/>
                      </a:rPr>
                      <m:t>=1</m:t>
                    </m:r>
                  </m:oMath>
                </a14:m>
                <a:endParaRPr lang="en-US" altLang="zh-TW" sz="2400" dirty="0" smtClean="0"/>
              </a:p>
              <a:p>
                <a:pPr marL="0" lvl="1" indent="0">
                  <a:buNone/>
                </a:pPr>
                <a:endParaRPr lang="en-US" altLang="zh-TW" sz="2400" dirty="0" smtClean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altLang="zh-TW" sz="24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/>
                          </a:rPr>
                          <m:t>𝑡</m:t>
                        </m:r>
                      </m:sub>
                    </m:sSub>
                    <m:r>
                      <a:rPr lang="en-US" altLang="zh-TW" sz="2400" b="0" i="1" smtClean="0">
                        <a:latin typeface="Cambria Math"/>
                      </a:rPr>
                      <m:t>= </m:t>
                    </m:r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400" b="0" i="1" smtClean="0">
                            <a:latin typeface="Cambria Math"/>
                          </a:rPr>
                          <m:t>𝜀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/>
                          </a:rPr>
                          <m:t>𝑡</m:t>
                        </m:r>
                      </m:sub>
                    </m:sSub>
                    <m:r>
                      <a:rPr lang="en-US" altLang="zh-TW" sz="2400" b="0" i="1" smtClean="0">
                        <a:latin typeface="Cambria Math"/>
                      </a:rPr>
                      <m:t> ~ </m:t>
                    </m:r>
                    <m:r>
                      <a:rPr lang="en-US" altLang="zh-TW" sz="2400" b="0" i="1" smtClean="0">
                        <a:latin typeface="Cambria Math"/>
                        <a:ea typeface="Cambria Math"/>
                      </a:rPr>
                      <m:t>𝑁𝑜𝑟𝑚𝑎𝑙</m:t>
                    </m:r>
                    <m:r>
                      <a:rPr lang="en-US" altLang="zh-TW" sz="2400" b="0" i="1" smtClean="0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altLang="zh-TW" sz="2400" b="0" i="1" smtClean="0">
                        <a:latin typeface="Cambria Math"/>
                        <a:ea typeface="Cambria Math"/>
                      </a:rPr>
                      <m:t>𝑑𝑖𝑠𝑡</m:t>
                    </m:r>
                    <m:r>
                      <a:rPr lang="en-US" altLang="zh-TW" sz="2400" b="0" i="1" smtClean="0">
                        <a:latin typeface="Cambria Math"/>
                        <a:ea typeface="Cambria Math"/>
                      </a:rPr>
                      <m:t>, ∴</m:t>
                    </m:r>
                    <m:r>
                      <a:rPr lang="en-US" altLang="zh-TW" sz="2400" b="0" i="1" smtClean="0">
                        <a:latin typeface="Cambria Math"/>
                        <a:ea typeface="Cambria Math"/>
                      </a:rPr>
                      <m:t>𝑐𝑜𝑟𝑟</m:t>
                    </m:r>
                    <m:d>
                      <m:d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zh-TW" altLang="en-US" sz="2400" b="0" i="1" smtClean="0">
                                <a:latin typeface="Cambria Math"/>
                                <a:ea typeface="Cambria Math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/>
                                <a:ea typeface="Cambria Math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TW" sz="2400" b="0" i="1" smtClean="0">
                            <a:latin typeface="Cambria Math"/>
                            <a:ea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zh-TW" altLang="en-US" sz="2400" b="0" i="1" smtClean="0">
                                <a:latin typeface="Cambria Math"/>
                                <a:ea typeface="Cambria Math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/>
                                <a:ea typeface="Cambria Math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US" altLang="zh-TW" sz="2400" b="0" i="1" smtClean="0">
                        <a:latin typeface="Cambria Math"/>
                        <a:ea typeface="Cambria Math"/>
                      </a:rPr>
                      <m:t>=0</m:t>
                    </m:r>
                  </m:oMath>
                </a14:m>
                <a:endParaRPr lang="en-US" altLang="zh-TW" sz="2400" dirty="0" smtClean="0"/>
              </a:p>
              <a:p>
                <a:pPr marL="0" indent="0">
                  <a:buNone/>
                </a:pPr>
                <a:r>
                  <a:rPr lang="en-US" altLang="zh-TW" sz="2400" dirty="0" smtClean="0"/>
                  <a:t>       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/>
                      </a:rPr>
                      <m:t>⇒</m:t>
                    </m:r>
                  </m:oMath>
                </a14:m>
                <a:r>
                  <a:rPr lang="en-US" altLang="zh-TW" sz="2400" dirty="0" smtClean="0"/>
                  <a:t>T</a:t>
                </a:r>
                <a:r>
                  <a:rPr lang="en-US" altLang="zh-TW" sz="2400" dirty="0"/>
                  <a:t>he correlation between </a:t>
                </a:r>
                <a:r>
                  <a:rPr lang="en-US" altLang="zh-TW" sz="2400" dirty="0" smtClean="0"/>
                  <a:t>the values </a:t>
                </a:r>
                <a:r>
                  <a:rPr lang="en-US" altLang="zh-TW" sz="2400" dirty="0"/>
                  <a:t>for all time intervals </a:t>
                </a:r>
                <a:r>
                  <a:rPr lang="en-US" altLang="zh-TW" sz="2400" dirty="0" smtClean="0"/>
                  <a:t>is</a:t>
                </a:r>
              </a:p>
              <a:p>
                <a:pPr marL="0" indent="0">
                  <a:buNone/>
                </a:pPr>
                <a:r>
                  <a:rPr lang="en-US" altLang="zh-TW" sz="2400" dirty="0"/>
                  <a:t> </a:t>
                </a:r>
                <a:r>
                  <a:rPr lang="en-US" altLang="zh-TW" sz="2400" dirty="0" smtClean="0"/>
                  <a:t>            zero.  </a:t>
                </a:r>
                <a:endParaRPr lang="en-US" altLang="zh-TW" sz="2400" dirty="0"/>
              </a:p>
              <a:p>
                <a:pPr marL="514350" indent="-514350">
                  <a:buFont typeface="+mj-lt"/>
                  <a:buAutoNum type="arabicPeriod"/>
                </a:pPr>
                <a:endParaRPr lang="zh-TW" altLang="en-US" sz="2400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96752"/>
                <a:ext cx="8229600" cy="4929411"/>
              </a:xfrm>
              <a:blipFill rotWithShape="1">
                <a:blip r:embed="rId2"/>
                <a:stretch>
                  <a:fillRect l="-1852" t="-1607" r="-155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字方塊 3"/>
          <p:cNvSpPr txBox="1"/>
          <p:nvPr/>
        </p:nvSpPr>
        <p:spPr>
          <a:xfrm>
            <a:off x="2123728" y="4509120"/>
            <a:ext cx="412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 smtClean="0"/>
              <a:t>iid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35825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67544" y="7430"/>
            <a:ext cx="8229600" cy="1143000"/>
          </a:xfrm>
        </p:spPr>
        <p:txBody>
          <a:bodyPr/>
          <a:lstStyle/>
          <a:p>
            <a:r>
              <a:rPr lang="en-US" altLang="zh-TW" dirty="0"/>
              <a:t>Time Series Model- White Noise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616624"/>
          </a:xfrm>
        </p:spPr>
        <p:txBody>
          <a:bodyPr/>
          <a:lstStyle/>
          <a:p>
            <a:pPr marL="514350" indent="-514350">
              <a:buFont typeface="+mj-lt"/>
              <a:buAutoNum type="arabicPeriod" startAt="4"/>
            </a:pPr>
            <a:r>
              <a:rPr lang="en-US" altLang="zh-TW" u="sng" dirty="0"/>
              <a:t>Question</a:t>
            </a:r>
            <a:r>
              <a:rPr lang="en-US" altLang="zh-TW" u="sng" dirty="0" smtClean="0"/>
              <a:t>: </a:t>
            </a:r>
          </a:p>
          <a:p>
            <a:pPr marL="400050" lvl="1" indent="0">
              <a:buNone/>
            </a:pPr>
            <a:r>
              <a:rPr lang="en-US" altLang="zh-TW" dirty="0" smtClean="0"/>
              <a:t>Does </a:t>
            </a:r>
            <a:r>
              <a:rPr lang="en-US" altLang="zh-TW" dirty="0"/>
              <a:t>knowledge of the past realization help </a:t>
            </a:r>
            <a:r>
              <a:rPr lang="en-US" altLang="zh-TW" dirty="0" smtClean="0"/>
              <a:t>in the </a:t>
            </a:r>
            <a:r>
              <a:rPr lang="en-US" altLang="zh-TW" dirty="0"/>
              <a:t>prediction of the time series value in the next time instant</a:t>
            </a:r>
            <a:r>
              <a:rPr lang="en-US" altLang="zh-TW" dirty="0" smtClean="0"/>
              <a:t>?</a:t>
            </a:r>
          </a:p>
          <a:p>
            <a:pPr marL="400050" lvl="1" indent="0">
              <a:buNone/>
            </a:pPr>
            <a:r>
              <a:rPr lang="en-US" altLang="zh-TW" sz="2400" dirty="0" smtClean="0"/>
              <a:t>  </a:t>
            </a:r>
            <a:r>
              <a:rPr lang="en-US" altLang="zh-TW" sz="2400" u="sng" dirty="0" err="1" smtClean="0"/>
              <a:t>Ans</a:t>
            </a:r>
            <a:r>
              <a:rPr lang="en-US" altLang="zh-TW" sz="2400" dirty="0"/>
              <a:t> </a:t>
            </a:r>
            <a:r>
              <a:rPr lang="en-US" altLang="zh-TW" sz="2400" dirty="0" smtClean="0"/>
              <a:t>:</a:t>
            </a:r>
            <a:endParaRPr lang="en-US" altLang="zh-TW" sz="2400" dirty="0" smtClean="0"/>
          </a:p>
          <a:p>
            <a:pPr marL="400050" lvl="1" indent="0">
              <a:buNone/>
            </a:pPr>
            <a:r>
              <a:rPr lang="en-US" altLang="zh-TW" sz="2400" dirty="0"/>
              <a:t> </a:t>
            </a:r>
            <a:r>
              <a:rPr lang="en-US" altLang="zh-TW" sz="2400" dirty="0" smtClean="0"/>
              <a:t>      Past  realization  can  help  to  estimate  the  </a:t>
            </a:r>
            <a:r>
              <a:rPr lang="en-US" altLang="zh-TW" sz="2400" dirty="0" err="1" smtClean="0"/>
              <a:t>varience</a:t>
            </a:r>
            <a:r>
              <a:rPr lang="en-US" altLang="zh-TW" sz="2400" dirty="0" smtClean="0"/>
              <a:t>  of  Normal dist. , </a:t>
            </a:r>
            <a:r>
              <a:rPr lang="en-US" altLang="zh-TW" sz="2400" dirty="0"/>
              <a:t>so </a:t>
            </a:r>
            <a:r>
              <a:rPr lang="en-US" altLang="zh-TW" sz="2400" dirty="0" smtClean="0"/>
              <a:t> we  can  arrive  </a:t>
            </a:r>
            <a:r>
              <a:rPr lang="en-US" altLang="zh-TW" sz="2400" dirty="0"/>
              <a:t>at </a:t>
            </a:r>
            <a:r>
              <a:rPr lang="en-US" altLang="zh-TW" sz="2400" dirty="0" smtClean="0"/>
              <a:t> some  intelligent conclusions  about  the  odds  of  </a:t>
            </a:r>
            <a:r>
              <a:rPr lang="en-US" altLang="zh-TW" sz="2400" dirty="0"/>
              <a:t>the next </a:t>
            </a:r>
            <a:r>
              <a:rPr lang="en-US" altLang="zh-TW" sz="2400" dirty="0" smtClean="0"/>
              <a:t> realization  of </a:t>
            </a:r>
            <a:r>
              <a:rPr lang="en-US" altLang="zh-TW" sz="2400" dirty="0"/>
              <a:t>the time </a:t>
            </a:r>
            <a:r>
              <a:rPr lang="en-US" altLang="zh-TW" sz="2400" dirty="0" smtClean="0"/>
              <a:t> series  being  greater  than  </a:t>
            </a:r>
            <a:r>
              <a:rPr lang="en-US" altLang="zh-TW" sz="2400" dirty="0"/>
              <a:t>or </a:t>
            </a:r>
            <a:r>
              <a:rPr lang="en-US" altLang="zh-TW" sz="2400" dirty="0" smtClean="0"/>
              <a:t> less  than  some  </a:t>
            </a:r>
            <a:r>
              <a:rPr lang="en-US" altLang="zh-TW" sz="2400" dirty="0"/>
              <a:t>value</a:t>
            </a:r>
            <a:r>
              <a:rPr lang="en-US" altLang="zh-TW" sz="2400" dirty="0" smtClean="0"/>
              <a:t>. (like </a:t>
            </a:r>
            <a:r>
              <a:rPr lang="en-US" altLang="zh-TW" sz="2400" dirty="0" err="1"/>
              <a:t>Chebyshev's</a:t>
            </a:r>
            <a:r>
              <a:rPr lang="en-US" altLang="zh-TW" sz="2400" dirty="0"/>
              <a:t> </a:t>
            </a:r>
            <a:r>
              <a:rPr lang="en-US" altLang="zh-TW" sz="2400" dirty="0" smtClean="0"/>
              <a:t>Inequality)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078419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1143000"/>
          </a:xfrm>
        </p:spPr>
        <p:txBody>
          <a:bodyPr/>
          <a:lstStyle/>
          <a:p>
            <a:r>
              <a:rPr lang="en-US" altLang="zh-TW" dirty="0"/>
              <a:t>Time Series Model- White Noise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929411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5"/>
            </a:pPr>
            <a:r>
              <a:rPr lang="en-US" altLang="zh-TW" dirty="0" smtClean="0"/>
              <a:t>Summary:</a:t>
            </a:r>
          </a:p>
          <a:p>
            <a:pPr marL="0" indent="0">
              <a:buNone/>
            </a:pPr>
            <a:endParaRPr lang="en-US" altLang="zh-TW" dirty="0" smtClean="0"/>
          </a:p>
          <a:p>
            <a:pPr marL="914400" lvl="1" indent="-514350">
              <a:buFont typeface="+mj-lt"/>
              <a:buAutoNum type="arabicParenR"/>
            </a:pPr>
            <a:r>
              <a:rPr lang="en-US" altLang="zh-TW" dirty="0" smtClean="0"/>
              <a:t>The </a:t>
            </a:r>
            <a:r>
              <a:rPr lang="en-US" altLang="zh-TW" dirty="0"/>
              <a:t>variance of the value at </a:t>
            </a:r>
            <a:r>
              <a:rPr lang="en-US" altLang="zh-TW" dirty="0" smtClean="0"/>
              <a:t>each point </a:t>
            </a:r>
            <a:r>
              <a:rPr lang="en-US" altLang="zh-TW" dirty="0"/>
              <a:t>in the series is the variance of the normal distribution used for </a:t>
            </a:r>
            <a:r>
              <a:rPr lang="en-US" altLang="zh-TW" dirty="0" smtClean="0"/>
              <a:t>drawing the </a:t>
            </a:r>
            <a:r>
              <a:rPr lang="en-US" altLang="zh-TW" dirty="0"/>
              <a:t>white noise values</a:t>
            </a:r>
            <a:r>
              <a:rPr lang="en-US" altLang="zh-TW" dirty="0" smtClean="0"/>
              <a:t>.</a:t>
            </a:r>
          </a:p>
          <a:p>
            <a:pPr marL="914400" lvl="1" indent="-514350">
              <a:buFont typeface="+mj-lt"/>
              <a:buAutoNum type="arabicParenR"/>
            </a:pPr>
            <a:endParaRPr lang="en-US" altLang="zh-TW" dirty="0"/>
          </a:p>
          <a:p>
            <a:pPr marL="914400" lvl="1" indent="-514350">
              <a:buFont typeface="+mj-lt"/>
              <a:buAutoNum type="arabicParenR"/>
            </a:pPr>
            <a:r>
              <a:rPr lang="en-US" altLang="zh-TW" dirty="0"/>
              <a:t>This distribution with a specific mean and </a:t>
            </a:r>
            <a:r>
              <a:rPr lang="en-US" altLang="zh-TW" dirty="0" smtClean="0"/>
              <a:t>variance is </a:t>
            </a:r>
            <a:r>
              <a:rPr lang="en-US" altLang="zh-TW" dirty="0"/>
              <a:t>time invariant. Thus, a white noise series is a sequence of </a:t>
            </a:r>
            <a:r>
              <a:rPr lang="en-US" altLang="zh-TW" dirty="0" smtClean="0"/>
              <a:t>uncorrelated random </a:t>
            </a:r>
            <a:r>
              <a:rPr lang="en-US" altLang="zh-TW" dirty="0"/>
              <a:t>variables with constant mean and variance.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2816285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67544" y="-56271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zh-TW" dirty="0"/>
              <a:t>Time Series Model- </a:t>
            </a:r>
            <a:r>
              <a:rPr lang="en-US" altLang="zh-TW" dirty="0" smtClean="0"/>
              <a:t>MA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467544" y="692696"/>
                <a:ext cx="8229600" cy="514543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TW" sz="2400" dirty="0" smtClean="0"/>
                  <a:t>          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/>
                          </a:rPr>
                          <m:t>𝑡</m:t>
                        </m:r>
                      </m:sub>
                    </m:sSub>
                    <m:r>
                      <a:rPr lang="en-US" altLang="zh-TW" sz="2400" b="0" i="1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400" b="0" i="1" smtClean="0">
                            <a:latin typeface="Cambria Math"/>
                          </a:rPr>
                          <m:t>𝜀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/>
                          </a:rPr>
                          <m:t>𝑡</m:t>
                        </m:r>
                      </m:sub>
                    </m:sSub>
                    <m:r>
                      <a:rPr lang="en-US" altLang="zh-TW" sz="2400" b="0" i="1" smtClean="0">
                        <a:latin typeface="Cambria Math"/>
                      </a:rPr>
                      <m:t>+</m:t>
                    </m:r>
                    <m:r>
                      <a:rPr lang="zh-TW" altLang="en-US" sz="2400" b="0" i="1" smtClean="0">
                        <a:latin typeface="Cambria Math"/>
                      </a:rPr>
                      <m:t>𝛽</m:t>
                    </m:r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400" b="0" i="1" smtClean="0">
                            <a:latin typeface="Cambria Math"/>
                          </a:rPr>
                          <m:t>𝜀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/>
                          </a:rPr>
                          <m:t>𝑡</m:t>
                        </m:r>
                        <m:r>
                          <a:rPr lang="en-US" altLang="zh-TW" sz="2400" b="0" i="1" smtClean="0">
                            <a:latin typeface="Cambria Math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zh-TW" altLang="en-US" sz="2400" dirty="0" smtClean="0"/>
                  <a:t> </a:t>
                </a:r>
                <a:r>
                  <a:rPr lang="en-US" altLang="zh-TW" sz="2400" dirty="0" smtClean="0"/>
                  <a:t>called MA(1)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altLang="zh-TW" sz="2400" dirty="0" smtClean="0"/>
                  <a:t>MA  means  </a:t>
                </a:r>
                <a:r>
                  <a:rPr lang="en-US" altLang="zh-TW" sz="2400" u="sng" dirty="0" smtClean="0"/>
                  <a:t>moving average </a:t>
                </a:r>
                <a:r>
                  <a:rPr lang="en-US" altLang="zh-TW" sz="2400" dirty="0" smtClean="0"/>
                  <a:t>. If </a:t>
                </a:r>
                <a14:m>
                  <m:oMath xmlns:m="http://schemas.openxmlformats.org/officeDocument/2006/math">
                    <m:r>
                      <a:rPr lang="zh-TW" altLang="en-US" sz="2400" i="1">
                        <a:latin typeface="Cambria Math"/>
                      </a:rPr>
                      <m:t>𝛽</m:t>
                    </m:r>
                  </m:oMath>
                </a14:m>
                <a:r>
                  <a:rPr lang="zh-TW" altLang="en-US" sz="2400" dirty="0" smtClean="0"/>
                  <a:t> </a:t>
                </a:r>
                <a:r>
                  <a:rPr lang="en-US" altLang="zh-TW" sz="2400" dirty="0" smtClean="0"/>
                  <a:t>= 0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US" altLang="zh-TW" sz="2400" i="1">
                            <a:latin typeface="Cambria Math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TW" altLang="en-US" sz="2400" dirty="0" smtClean="0"/>
                  <a:t> </a:t>
                </a:r>
                <a:r>
                  <a:rPr lang="en-US" altLang="zh-TW" sz="2400" dirty="0" smtClean="0"/>
                  <a:t>is white  noises.</a:t>
                </a:r>
              </a:p>
              <a:p>
                <a:pPr marL="0" indent="0">
                  <a:buNone/>
                </a:pPr>
                <a:endParaRPr lang="en-US" altLang="zh-TW" sz="2400" dirty="0" smtClean="0"/>
              </a:p>
              <a:p>
                <a:pPr marL="514350" indent="-514350">
                  <a:buFont typeface="+mj-lt"/>
                  <a:buAutoNum type="arabicPeriod" startAt="2"/>
                </a:pPr>
                <a:r>
                  <a:rPr lang="en-US" altLang="zh-TW" sz="2400" dirty="0" smtClean="0"/>
                  <a:t>In  the  </a:t>
                </a:r>
                <a:r>
                  <a:rPr lang="en-US" altLang="zh-TW" sz="2400" dirty="0" err="1" smtClean="0"/>
                  <a:t>correlogram</a:t>
                </a:r>
                <a:r>
                  <a:rPr lang="en-US" altLang="zh-TW" sz="2400" dirty="0" smtClean="0"/>
                  <a:t> , there </a:t>
                </a:r>
                <a:r>
                  <a:rPr lang="en-US" altLang="zh-TW" sz="2400" dirty="0"/>
                  <a:t>is a steep drop in the value after</a:t>
                </a:r>
                <a14:m>
                  <m:oMath xmlns:m="http://schemas.openxmlformats.org/officeDocument/2006/math">
                    <m:r>
                      <a:rPr lang="en-US" altLang="zh-TW" sz="2400" b="0" i="0" smtClean="0">
                        <a:latin typeface="Cambria Math"/>
                      </a:rPr>
                      <m:t> </m:t>
                    </m:r>
                    <m:r>
                      <a:rPr lang="zh-TW" altLang="en-US" sz="2400" i="1">
                        <a:latin typeface="Cambria Math"/>
                      </a:rPr>
                      <m:t>𝜏</m:t>
                    </m:r>
                  </m:oMath>
                </a14:m>
                <a:r>
                  <a:rPr lang="en-US" altLang="zh-TW" sz="2400" dirty="0" smtClean="0"/>
                  <a:t> </a:t>
                </a:r>
                <a:r>
                  <a:rPr lang="en-US" altLang="zh-TW" sz="2400" dirty="0"/>
                  <a:t>= 1</a:t>
                </a:r>
                <a:r>
                  <a:rPr lang="en-US" altLang="zh-TW" sz="2400" dirty="0" smtClean="0"/>
                  <a:t>.</a:t>
                </a:r>
              </a:p>
              <a:p>
                <a:pPr marL="514350" indent="-514350">
                  <a:buFont typeface="+mj-lt"/>
                  <a:buAutoNum type="arabicPeriod" startAt="2"/>
                </a:pPr>
                <a:endParaRPr lang="en-US" altLang="zh-TW" dirty="0" smtClean="0"/>
              </a:p>
              <a:p>
                <a:pPr marL="514350" indent="-514350">
                  <a:buFont typeface="+mj-lt"/>
                  <a:buAutoNum type="arabicPeriod" startAt="2"/>
                </a:pPr>
                <a:endParaRPr lang="en-US" altLang="zh-TW" dirty="0" smtClean="0"/>
              </a:p>
              <a:p>
                <a:pPr marL="514350" indent="-514350">
                  <a:buFont typeface="+mj-lt"/>
                  <a:buAutoNum type="arabicPeriod" startAt="2"/>
                </a:pP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67544" y="692696"/>
                <a:ext cx="8229600" cy="5145435"/>
              </a:xfrm>
              <a:blipFill rotWithShape="1">
                <a:blip r:embed="rId2"/>
                <a:stretch>
                  <a:fillRect l="-1185" t="-9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4021" y="2780928"/>
            <a:ext cx="5760640" cy="4077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弧形接點 5"/>
          <p:cNvCxnSpPr/>
          <p:nvPr/>
        </p:nvCxnSpPr>
        <p:spPr>
          <a:xfrm rot="16200000" flipH="1">
            <a:off x="2159732" y="5265204"/>
            <a:ext cx="648072" cy="288032"/>
          </a:xfrm>
          <a:prstGeom prst="curvedConnector3">
            <a:avLst>
              <a:gd name="adj1" fmla="val 47829"/>
            </a:avLst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字方塊 7"/>
          <p:cNvSpPr txBox="1"/>
          <p:nvPr/>
        </p:nvSpPr>
        <p:spPr>
          <a:xfrm>
            <a:off x="2627784" y="5085184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Why?</a:t>
            </a:r>
          </a:p>
        </p:txBody>
      </p:sp>
    </p:spTree>
    <p:extLst>
      <p:ext uri="{BB962C8B-B14F-4D97-AF65-F5344CB8AC3E}">
        <p14:creationId xmlns:p14="http://schemas.microsoft.com/office/powerpoint/2010/main" val="3407244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67544" y="21497"/>
            <a:ext cx="8229600" cy="1143000"/>
          </a:xfrm>
        </p:spPr>
        <p:txBody>
          <a:bodyPr/>
          <a:lstStyle/>
          <a:p>
            <a:r>
              <a:rPr lang="en-US" altLang="zh-TW" dirty="0"/>
              <a:t>Time Series Model- MA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內容版面配置區 4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u="sng" dirty="0" smtClean="0"/>
                  <a:t>Why?</a:t>
                </a:r>
              </a:p>
              <a:p>
                <a:pPr marL="800100" lvl="2" indent="0">
                  <a:buNone/>
                </a:pPr>
                <a:r>
                  <a:rPr lang="en-US" altLang="zh-TW" dirty="0" smtClean="0"/>
                  <a:t>If</a:t>
                </a:r>
                <a14:m>
                  <m:oMath xmlns:m="http://schemas.openxmlformats.org/officeDocument/2006/math">
                    <m:r>
                      <a:rPr lang="en-US" altLang="zh-TW" b="0" i="0" smtClean="0">
                        <a:latin typeface="Cambria Math"/>
                      </a:rPr>
                      <m:t> </m:t>
                    </m:r>
                    <m:r>
                      <a:rPr lang="zh-TW" altLang="en-US" i="1">
                        <a:latin typeface="Cambria Math"/>
                      </a:rPr>
                      <m:t>𝜏</m:t>
                    </m:r>
                  </m:oMath>
                </a14:m>
                <a:r>
                  <a:rPr lang="en-US" altLang="zh-TW" dirty="0"/>
                  <a:t> = 1 , have </a:t>
                </a:r>
                <a:r>
                  <a:rPr lang="en-US" altLang="zh-TW" dirty="0" smtClean="0"/>
                  <a:t> in  </a:t>
                </a:r>
                <a:r>
                  <a:rPr lang="en-US" altLang="zh-TW" dirty="0"/>
                  <a:t>their </a:t>
                </a:r>
                <a:r>
                  <a:rPr lang="en-US" altLang="zh-TW" dirty="0" smtClean="0"/>
                  <a:t> terms  one  common  white  noise </a:t>
                </a:r>
                <a:r>
                  <a:rPr lang="en-US" altLang="zh-TW" dirty="0"/>
                  <a:t>realization </a:t>
                </a:r>
                <a:r>
                  <a:rPr lang="en-US" altLang="zh-TW" dirty="0" smtClean="0"/>
                  <a:t> value . Between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TW" dirty="0" smtClean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dirty="0" smtClean="0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US" altLang="zh-TW" b="0" i="1" dirty="0" smtClean="0">
                            <a:latin typeface="Cambria Math"/>
                          </a:rPr>
                          <m:t>𝑡</m:t>
                        </m:r>
                        <m:r>
                          <a:rPr lang="en-US" altLang="zh-TW" b="0" i="1" dirty="0" smtClean="0">
                            <a:latin typeface="Cambria Math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altLang="zh-TW" dirty="0" smtClean="0"/>
                  <a:t> ,the </a:t>
                </a:r>
                <a:r>
                  <a:rPr lang="en-US" altLang="zh-TW" dirty="0"/>
                  <a:t>common white </a:t>
                </a:r>
                <a:r>
                  <a:rPr lang="en-US" altLang="zh-TW" dirty="0" smtClean="0"/>
                  <a:t> noise  </a:t>
                </a:r>
                <a:r>
                  <a:rPr lang="en-US" altLang="zh-TW" dirty="0"/>
                  <a:t>realization </a:t>
                </a:r>
                <a:r>
                  <a:rPr lang="en-US" altLang="zh-TW" dirty="0" smtClean="0"/>
                  <a:t> is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 smtClean="0">
                            <a:latin typeface="Cambria Math"/>
                          </a:rPr>
                          <m:t>𝜀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TW" dirty="0" smtClean="0"/>
                  <a:t> , between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𝑡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altLang="zh-TW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 dirty="0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US" altLang="zh-TW" i="1" dirty="0">
                            <a:latin typeface="Cambria Math"/>
                          </a:rPr>
                          <m:t>𝑡</m:t>
                        </m:r>
                        <m:r>
                          <a:rPr lang="en-US" altLang="zh-TW" i="1" dirty="0">
                            <a:latin typeface="Cambria Math"/>
                          </a:rPr>
                          <m:t>+2</m:t>
                        </m:r>
                      </m:sub>
                    </m:sSub>
                    <m:r>
                      <a:rPr lang="en-US" altLang="zh-TW" b="0" i="1" dirty="0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altLang="zh-TW" dirty="0" smtClean="0"/>
                  <a:t>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latin typeface="Cambria Math"/>
                          </a:rPr>
                          <m:t>𝜀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𝑡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altLang="zh-TW" dirty="0" smtClean="0"/>
                  <a:t> </a:t>
                </a:r>
                <a:r>
                  <a:rPr lang="en-US" altLang="zh-TW" dirty="0"/>
                  <a:t>…..,so we </a:t>
                </a:r>
                <a:r>
                  <a:rPr lang="en-US" altLang="zh-TW" dirty="0" smtClean="0"/>
                  <a:t>expect  there  to  </a:t>
                </a:r>
                <a:r>
                  <a:rPr lang="en-US" altLang="zh-TW" dirty="0"/>
                  <a:t>be </a:t>
                </a:r>
                <a:r>
                  <a:rPr lang="en-US" altLang="zh-TW" dirty="0" smtClean="0"/>
                  <a:t> some  correlation between  </a:t>
                </a:r>
                <a:r>
                  <a:rPr lang="en-US" altLang="zh-TW" dirty="0"/>
                  <a:t>them</a:t>
                </a:r>
                <a:r>
                  <a:rPr lang="en-US" altLang="zh-TW" dirty="0" smtClean="0"/>
                  <a:t>.</a:t>
                </a:r>
              </a:p>
              <a:p>
                <a:pPr marL="800100" lvl="2" indent="0">
                  <a:buNone/>
                </a:pPr>
                <a:r>
                  <a:rPr lang="en-US" altLang="zh-TW" dirty="0" smtClean="0"/>
                  <a:t>If</a:t>
                </a:r>
                <a14:m>
                  <m:oMath xmlns:m="http://schemas.openxmlformats.org/officeDocument/2006/math">
                    <m:r>
                      <a:rPr lang="en-US" altLang="zh-TW" b="0" i="0" smtClean="0">
                        <a:latin typeface="Cambria Math"/>
                      </a:rPr>
                      <m:t>  </m:t>
                    </m:r>
                    <m:r>
                      <a:rPr lang="zh-TW" altLang="en-US" i="1">
                        <a:latin typeface="Cambria Math"/>
                      </a:rPr>
                      <m:t>𝜏</m:t>
                    </m:r>
                  </m:oMath>
                </a14:m>
                <a:r>
                  <a:rPr lang="en-US" altLang="zh-TW" dirty="0"/>
                  <a:t> = 2 , have  </a:t>
                </a:r>
                <a:r>
                  <a:rPr lang="en-US" altLang="zh-TW" dirty="0" smtClean="0"/>
                  <a:t>no  common  </a:t>
                </a:r>
                <a:r>
                  <a:rPr lang="en-US" altLang="zh-TW" dirty="0"/>
                  <a:t>white  noise realization  value </a:t>
                </a:r>
                <a:r>
                  <a:rPr lang="en-US" altLang="zh-TW" dirty="0" smtClean="0"/>
                  <a:t>.</a:t>
                </a:r>
              </a:p>
              <a:p>
                <a:pPr marL="800100" lvl="2" indent="0">
                  <a:buNone/>
                </a:pPr>
                <a:r>
                  <a:rPr lang="en-US" altLang="zh-TW" dirty="0"/>
                  <a:t>between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TW" dirty="0"/>
                  <a:t> and </a:t>
                </a:r>
                <a:r>
                  <a:rPr lang="en-US" altLang="zh-TW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 dirty="0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US" altLang="zh-TW" i="1" dirty="0">
                            <a:latin typeface="Cambria Math"/>
                          </a:rPr>
                          <m:t>𝑡</m:t>
                        </m:r>
                        <m:r>
                          <a:rPr lang="en-US" altLang="zh-TW" i="1" dirty="0">
                            <a:latin typeface="Cambria Math"/>
                          </a:rPr>
                          <m:t>+2</m:t>
                        </m:r>
                      </m:sub>
                    </m:sSub>
                  </m:oMath>
                </a14:m>
                <a:r>
                  <a:rPr lang="en-US" altLang="zh-TW" dirty="0"/>
                  <a:t> </a:t>
                </a:r>
                <a:r>
                  <a:rPr lang="en-US" altLang="zh-TW" dirty="0" smtClean="0"/>
                  <a:t> are  </a:t>
                </a:r>
                <a:r>
                  <a:rPr lang="en-US" altLang="zh-TW" dirty="0"/>
                  <a:t>independent </a:t>
                </a:r>
                <a:r>
                  <a:rPr lang="en-US" altLang="zh-TW" dirty="0" smtClean="0"/>
                  <a:t> drawings  from </a:t>
                </a:r>
                <a:r>
                  <a:rPr lang="en-US" altLang="zh-TW" dirty="0"/>
                  <a:t>normal </a:t>
                </a:r>
                <a:r>
                  <a:rPr lang="en-US" altLang="zh-TW" dirty="0" smtClean="0"/>
                  <a:t> distributions  and  are  therefore  uncorrelated </a:t>
                </a:r>
                <a:r>
                  <a:rPr lang="en-US" altLang="zh-TW" dirty="0"/>
                  <a:t>(correlation = 0).</a:t>
                </a:r>
              </a:p>
            </p:txBody>
          </p:sp>
        </mc:Choice>
        <mc:Fallback>
          <p:sp>
            <p:nvSpPr>
              <p:cNvPr id="5" name="內容版面配置區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704" t="-1752" r="-207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767502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67544" y="7430"/>
            <a:ext cx="8229600" cy="1143000"/>
          </a:xfrm>
        </p:spPr>
        <p:txBody>
          <a:bodyPr/>
          <a:lstStyle/>
          <a:p>
            <a:r>
              <a:rPr lang="en-US" altLang="zh-TW" dirty="0"/>
              <a:t>Time Series Model- MA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908720"/>
                <a:ext cx="8579296" cy="5217443"/>
              </a:xfrm>
            </p:spPr>
            <p:txBody>
              <a:bodyPr>
                <a:normAutofit/>
              </a:bodyPr>
              <a:lstStyle/>
              <a:p>
                <a:pPr marL="514350" indent="-514350">
                  <a:buFont typeface="+mj-lt"/>
                  <a:buAutoNum type="arabicPeriod" startAt="4"/>
                </a:pPr>
                <a:r>
                  <a:rPr lang="en-US" altLang="zh-TW" dirty="0" smtClean="0"/>
                  <a:t>Does knowledge of the past realization help in the prediction of the </a:t>
                </a:r>
                <a:r>
                  <a:rPr lang="en-US" altLang="zh-TW" dirty="0"/>
                  <a:t>next time series value</a:t>
                </a:r>
                <a:r>
                  <a:rPr lang="en-US" altLang="zh-TW" dirty="0" smtClean="0"/>
                  <a:t>?</a:t>
                </a:r>
              </a:p>
              <a:p>
                <a:pPr marL="914400" lvl="1" indent="-514350">
                  <a:buFont typeface="+mj-lt"/>
                  <a:buAutoNum type="arabicParenR"/>
                </a:pPr>
                <a:r>
                  <a:rPr lang="en-US" altLang="zh-TW" dirty="0"/>
                  <a:t>At time </a:t>
                </a:r>
                <a:r>
                  <a:rPr lang="en-US" altLang="zh-TW" dirty="0" smtClean="0"/>
                  <a:t>step t </a:t>
                </a:r>
                <a:r>
                  <a:rPr lang="en-US" altLang="zh-TW" dirty="0"/>
                  <a:t>we know what the white noise realization was at time step t – 1</a:t>
                </a:r>
                <a:r>
                  <a:rPr lang="en-US" altLang="zh-TW" dirty="0" smtClean="0"/>
                  <a:t>.</a:t>
                </a:r>
              </a:p>
              <a:p>
                <a:pPr marL="914400" lvl="1" indent="-514350">
                  <a:buFont typeface="+mj-lt"/>
                  <a:buAutoNum type="arabicParenR"/>
                </a:pPr>
                <a:r>
                  <a:rPr lang="en-US" altLang="zh-TW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𝑡</m:t>
                        </m:r>
                      </m:sub>
                    </m:sSub>
                    <m:r>
                      <a:rPr lang="en-US" altLang="zh-TW" b="0" i="1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b="0" i="1" smtClean="0">
                            <a:latin typeface="Cambria Math"/>
                          </a:rPr>
                          <m:t>𝜀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𝑡</m:t>
                        </m:r>
                      </m:sub>
                    </m:sSub>
                    <m:r>
                      <a:rPr lang="en-US" altLang="zh-TW" b="0" i="1" smtClean="0">
                        <a:latin typeface="Cambria Math"/>
                      </a:rPr>
                      <m:t>+</m:t>
                    </m:r>
                    <m:r>
                      <a:rPr lang="zh-TW" altLang="en-US" b="0" i="1" smtClean="0">
                        <a:latin typeface="Cambria Math"/>
                      </a:rPr>
                      <m:t>𝛽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b="0" i="1" smtClean="0">
                            <a:latin typeface="Cambria Math"/>
                          </a:rPr>
                          <m:t>𝜀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𝑡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altLang="zh-TW" dirty="0" smtClean="0"/>
                  <a:t> is normal distribution with the</a:t>
                </a:r>
              </a:p>
              <a:p>
                <a:pPr marL="400050" lvl="1" indent="0">
                  <a:buNone/>
                </a:pPr>
                <a:r>
                  <a:rPr lang="en-US" altLang="zh-TW" dirty="0" smtClean="0"/>
                  <a:t>       mean</a:t>
                </a:r>
                <a14:m>
                  <m:oMath xmlns:m="http://schemas.openxmlformats.org/officeDocument/2006/math">
                    <m:r>
                      <a:rPr lang="en-US" altLang="zh-TW" b="0" i="0" smtClean="0">
                        <a:latin typeface="Cambria Math"/>
                      </a:rPr>
                      <m:t> </m:t>
                    </m:r>
                    <m:sSubSup>
                      <m:sSubSupPr>
                        <m:ctrlPr>
                          <a:rPr lang="zh-TW" altLang="zh-TW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𝑝𝑟𝑒𝑑</m:t>
                        </m:r>
                      </m:sup>
                    </m:sSubSup>
                    <m:r>
                      <a:rPr lang="en-US" altLang="zh-TW" b="0" i="1" smtClean="0">
                        <a:latin typeface="Cambria Math"/>
                      </a:rPr>
                      <m:t>= </m:t>
                    </m:r>
                    <m:r>
                      <a:rPr lang="zh-TW" altLang="en-US" b="0" i="1" smtClean="0">
                        <a:latin typeface="Cambria Math"/>
                      </a:rPr>
                      <m:t>𝛽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b="0" i="1" smtClean="0">
                            <a:latin typeface="Cambria Math"/>
                          </a:rPr>
                          <m:t>𝜀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𝑡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altLang="zh-TW" dirty="0" smtClean="0"/>
                  <a:t>, and the </a:t>
                </a:r>
                <a:r>
                  <a:rPr lang="en-US" altLang="zh-TW" dirty="0" smtClean="0"/>
                  <a:t>variance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/>
                      </a:rPr>
                      <m:t>𝑉𝑎𝑟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b="0" i="1" smtClean="0">
                                <a:latin typeface="Cambria Math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TW" b="0" dirty="0" smtClean="0"/>
                  <a:t>.</a:t>
                </a:r>
              </a:p>
              <a:p>
                <a:pPr marL="400050" lvl="1" indent="0">
                  <a:buNone/>
                </a:pPr>
                <a:r>
                  <a:rPr lang="en-US" altLang="zh-TW" dirty="0"/>
                  <a:t> </a:t>
                </a:r>
                <a:r>
                  <a:rPr lang="en-US" altLang="zh-TW" dirty="0" smtClean="0"/>
                  <a:t>      But </a:t>
                </a:r>
                <a:r>
                  <a:rPr lang="en-US" altLang="zh-TW" dirty="0"/>
                  <a:t>those </a:t>
                </a:r>
                <a:r>
                  <a:rPr lang="en-US" altLang="zh-TW" dirty="0" smtClean="0"/>
                  <a:t>value are based on the </a:t>
                </a:r>
                <a:r>
                  <a:rPr lang="en-US" altLang="zh-TW" u="sng" dirty="0"/>
                  <a:t>condition</a:t>
                </a:r>
                <a:r>
                  <a:rPr lang="en-US" altLang="zh-TW" dirty="0"/>
                  <a:t> </a:t>
                </a:r>
                <a:r>
                  <a:rPr lang="en-US" altLang="zh-TW" dirty="0" smtClean="0"/>
                  <a:t>that we   </a:t>
                </a:r>
              </a:p>
              <a:p>
                <a:pPr marL="400050" lvl="1" indent="0">
                  <a:buNone/>
                </a:pPr>
                <a:r>
                  <a:rPr lang="en-US" altLang="zh-TW" dirty="0"/>
                  <a:t> </a:t>
                </a:r>
                <a:r>
                  <a:rPr lang="en-US" altLang="zh-TW" dirty="0" smtClean="0"/>
                  <a:t>      know </a:t>
                </a:r>
                <a:r>
                  <a:rPr lang="en-US" altLang="zh-TW" dirty="0"/>
                  <a:t>the </a:t>
                </a:r>
                <a:r>
                  <a:rPr lang="en-US" altLang="zh-TW" dirty="0" smtClean="0"/>
                  <a:t>past realization of the time series.</a:t>
                </a:r>
              </a:p>
              <a:p>
                <a:pPr marL="400050" lvl="1" indent="0">
                  <a:buNone/>
                </a:pPr>
                <a:r>
                  <a:rPr lang="en-US" altLang="zh-TW" dirty="0"/>
                  <a:t> </a:t>
                </a:r>
                <a:r>
                  <a:rPr lang="en-US" altLang="zh-TW" dirty="0" smtClean="0"/>
                  <a:t>      </a:t>
                </a:r>
                <a:r>
                  <a:rPr lang="en-US" altLang="zh-TW" dirty="0" smtClean="0"/>
                  <a:t>So , it </a:t>
                </a:r>
                <a:r>
                  <a:rPr lang="en-US" altLang="zh-TW" dirty="0" smtClean="0"/>
                  <a:t>is the conditional mean </a:t>
                </a:r>
                <a:r>
                  <a:rPr lang="en-US" altLang="zh-TW" dirty="0"/>
                  <a:t>and the </a:t>
                </a:r>
                <a:r>
                  <a:rPr lang="en-US" altLang="zh-TW" dirty="0" smtClean="0"/>
                  <a:t>conditional</a:t>
                </a:r>
              </a:p>
              <a:p>
                <a:pPr marL="400050" lvl="1" indent="0">
                  <a:buNone/>
                </a:pPr>
                <a:r>
                  <a:rPr lang="en-US" altLang="zh-TW" dirty="0"/>
                  <a:t> </a:t>
                </a:r>
                <a:r>
                  <a:rPr lang="en-US" altLang="zh-TW" dirty="0" smtClean="0"/>
                  <a:t>      </a:t>
                </a:r>
                <a:r>
                  <a:rPr lang="en-US" altLang="zh-TW" dirty="0"/>
                  <a:t>variance of the time series.</a:t>
                </a:r>
                <a:endParaRPr lang="en-US" altLang="zh-TW" dirty="0" smtClean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908720"/>
                <a:ext cx="8579296" cy="5217443"/>
              </a:xfrm>
              <a:blipFill rotWithShape="0">
                <a:blip r:embed="rId2"/>
                <a:stretch>
                  <a:fillRect l="-1848" t="-1752" r="-3696" b="-257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527632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67544" y="21497"/>
            <a:ext cx="8229600" cy="1143000"/>
          </a:xfrm>
        </p:spPr>
        <p:txBody>
          <a:bodyPr/>
          <a:lstStyle/>
          <a:p>
            <a:r>
              <a:rPr lang="en-US" altLang="zh-TW" dirty="0"/>
              <a:t>Time Series Model- MA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251520" y="980728"/>
                <a:ext cx="8640960" cy="5145435"/>
              </a:xfrm>
            </p:spPr>
            <p:txBody>
              <a:bodyPr>
                <a:normAutofit/>
              </a:bodyPr>
              <a:lstStyle/>
              <a:p>
                <a:pPr marL="514350" indent="-514350">
                  <a:buFont typeface="+mj-lt"/>
                  <a:buAutoNum type="arabicPeriod" startAt="5"/>
                </a:pPr>
                <a:r>
                  <a:rPr lang="en-US" altLang="zh-TW" dirty="0" smtClean="0"/>
                  <a:t>Summary:</a:t>
                </a:r>
              </a:p>
              <a:p>
                <a:pPr marL="914400" lvl="1" indent="-514350">
                  <a:buFont typeface="+mj-lt"/>
                  <a:buAutoNum type="arabicParenR"/>
                </a:pPr>
                <a:r>
                  <a:rPr lang="en-US" altLang="zh-TW" dirty="0"/>
                  <a:t>The series is </a:t>
                </a:r>
                <a:r>
                  <a:rPr lang="en-US" altLang="zh-TW" dirty="0" smtClean="0"/>
                  <a:t>called </a:t>
                </a:r>
                <a:r>
                  <a:rPr lang="en-US" altLang="zh-TW" dirty="0"/>
                  <a:t>a moving average (MA) </a:t>
                </a:r>
                <a:r>
                  <a:rPr lang="en-US" altLang="zh-TW" dirty="0" smtClean="0"/>
                  <a:t>series </a:t>
                </a:r>
                <a:r>
                  <a:rPr lang="en-US" altLang="zh-TW" dirty="0"/>
                  <a:t>because it was constructed using a linear </a:t>
                </a:r>
                <a:r>
                  <a:rPr lang="en-US" altLang="zh-TW" dirty="0" smtClean="0"/>
                  <a:t>combination (moving </a:t>
                </a:r>
                <a:r>
                  <a:rPr lang="en-US" altLang="zh-TW" dirty="0"/>
                  <a:t>average) of white noise realizations</a:t>
                </a:r>
                <a:r>
                  <a:rPr lang="en-US" altLang="zh-TW" dirty="0" smtClean="0"/>
                  <a:t>.</a:t>
                </a:r>
              </a:p>
              <a:p>
                <a:pPr marL="914400" lvl="1" indent="-514350">
                  <a:buFont typeface="+mj-lt"/>
                  <a:buAutoNum type="arabicParenR"/>
                </a:pPr>
                <a:r>
                  <a:rPr lang="en-US" altLang="zh-TW" dirty="0" smtClean="0"/>
                  <a:t>It </a:t>
                </a:r>
                <a:r>
                  <a:rPr lang="en-US" altLang="zh-TW" dirty="0"/>
                  <a:t>is </a:t>
                </a:r>
                <a:r>
                  <a:rPr lang="en-US" altLang="zh-TW" dirty="0" smtClean="0"/>
                  <a:t>easily generalized </a:t>
                </a:r>
                <a:r>
                  <a:rPr lang="en-US" altLang="zh-TW" dirty="0"/>
                  <a:t>to a series where the value is constructed using q lagged </a:t>
                </a:r>
                <a:r>
                  <a:rPr lang="en-US" altLang="zh-TW" dirty="0" smtClean="0"/>
                  <a:t>value of white noise </a:t>
                </a:r>
                <a:r>
                  <a:rPr lang="en-US" altLang="zh-TW" dirty="0"/>
                  <a:t>realizations</a:t>
                </a:r>
                <a:r>
                  <a:rPr lang="en-US" altLang="zh-TW" dirty="0" smtClean="0"/>
                  <a:t>.</a:t>
                </a:r>
              </a:p>
              <a:p>
                <a:pPr marL="400050" lvl="1" indent="0">
                  <a:buNone/>
                </a:pPr>
                <a:r>
                  <a:rPr lang="en-US" altLang="zh-TW" dirty="0" smtClean="0"/>
                  <a:t>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𝑡</m:t>
                        </m:r>
                      </m:sub>
                    </m:sSub>
                    <m:r>
                      <a:rPr lang="en-US" altLang="zh-TW" b="0" i="1" smtClean="0">
                        <a:latin typeface="Cambria Math"/>
                      </a:rPr>
                      <m:t>= 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b="0" i="1" smtClean="0">
                            <a:latin typeface="Cambria Math"/>
                          </a:rPr>
                          <m:t>𝜀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𝑡</m:t>
                        </m:r>
                      </m:sub>
                    </m:sSub>
                    <m:r>
                      <a:rPr lang="en-US" altLang="zh-TW" b="0" i="1" smtClean="0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b="0" i="1" smtClean="0">
                            <a:latin typeface="Cambria Math"/>
                          </a:rPr>
                          <m:t>𝛽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b="0" i="1" smtClean="0">
                            <a:latin typeface="Cambria Math"/>
                          </a:rPr>
                          <m:t>𝜀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𝑡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−1</m:t>
                        </m:r>
                      </m:sub>
                    </m:sSub>
                    <m:r>
                      <a:rPr lang="en-US" altLang="zh-TW" b="0" i="1" smtClean="0">
                        <a:latin typeface="Cambria Math"/>
                      </a:rPr>
                      <m:t>+…+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b="0" i="1" smtClean="0">
                            <a:latin typeface="Cambria Math"/>
                          </a:rPr>
                          <m:t>𝛽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𝑞</m:t>
                        </m:r>
                      </m:sub>
                    </m:sSub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b="0" i="1" smtClean="0">
                            <a:latin typeface="Cambria Math"/>
                          </a:rPr>
                          <m:t>𝜀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𝑡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−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𝑞</m:t>
                        </m:r>
                      </m:sub>
                    </m:sSub>
                    <m:r>
                      <a:rPr lang="en-US" altLang="zh-TW" b="0" i="0" smtClean="0">
                        <a:latin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TW" b="0" i="0" smtClean="0">
                        <a:latin typeface="Cambria Math"/>
                      </a:rPr>
                      <m:t>called</m:t>
                    </m:r>
                    <m:r>
                      <a:rPr lang="en-US" altLang="zh-TW" b="0" i="0" smtClean="0">
                        <a:latin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TW" b="0" i="0" smtClean="0">
                        <a:latin typeface="Cambria Math"/>
                      </a:rPr>
                      <m:t>MA</m:t>
                    </m:r>
                    <m:r>
                      <a:rPr lang="en-US" altLang="zh-TW" b="0" i="0" smtClean="0">
                        <a:latin typeface="Cambria Math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TW" b="0" i="0" smtClean="0">
                        <a:latin typeface="Cambria Math"/>
                      </a:rPr>
                      <m:t>q</m:t>
                    </m:r>
                    <m:r>
                      <a:rPr lang="en-US" altLang="zh-TW" b="0" i="0" smtClean="0">
                        <a:latin typeface="Cambria Math"/>
                      </a:rPr>
                      <m:t>)</m:t>
                    </m:r>
                  </m:oMath>
                </a14:m>
                <a:endParaRPr lang="en-US" altLang="zh-TW" dirty="0" smtClean="0"/>
              </a:p>
              <a:p>
                <a:pPr marL="400050" lvl="1" indent="0">
                  <a:buNone/>
                </a:pP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1520" y="980728"/>
                <a:ext cx="8640960" cy="5145435"/>
              </a:xfrm>
              <a:blipFill rotWithShape="1">
                <a:blip r:embed="rId2"/>
                <a:stretch>
                  <a:fillRect l="-1834" t="-1777" r="-56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570236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67544" y="23167"/>
            <a:ext cx="8229600" cy="1143000"/>
          </a:xfrm>
        </p:spPr>
        <p:txBody>
          <a:bodyPr/>
          <a:lstStyle/>
          <a:p>
            <a:r>
              <a:rPr lang="en-US" altLang="zh-TW" dirty="0"/>
              <a:t>Time Series Model- </a:t>
            </a:r>
            <a:r>
              <a:rPr lang="en-US" altLang="zh-TW" dirty="0" smtClean="0"/>
              <a:t>AR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179512" y="980728"/>
                <a:ext cx="8784976" cy="5145435"/>
              </a:xfrm>
            </p:spPr>
            <p:txBody>
              <a:bodyPr>
                <a:normAutofit fontScale="92500"/>
              </a:bodyPr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en-US" altLang="zh-TW" dirty="0" smtClean="0"/>
                  <a:t>AR means </a:t>
                </a:r>
                <a:r>
                  <a:rPr lang="en-US" altLang="zh-TW" u="sng" dirty="0" smtClean="0"/>
                  <a:t>autoregressive process</a:t>
                </a:r>
                <a:r>
                  <a:rPr lang="en-US" altLang="zh-TW" dirty="0" smtClean="0"/>
                  <a:t> .</a:t>
                </a:r>
                <a:endParaRPr lang="en-US" altLang="zh-TW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altLang="zh-TW" dirty="0"/>
                  <a:t>It construct the series using a </a:t>
                </a:r>
                <a:r>
                  <a:rPr lang="en-US" altLang="zh-TW" dirty="0" smtClean="0"/>
                  <a:t>linear combination </a:t>
                </a:r>
                <a:r>
                  <a:rPr lang="en-US" altLang="zh-TW" dirty="0"/>
                  <a:t>of </a:t>
                </a:r>
                <a:r>
                  <a:rPr lang="en-US" altLang="zh-TW" u="sng" dirty="0"/>
                  <a:t>infinite </a:t>
                </a:r>
                <a:r>
                  <a:rPr lang="en-US" altLang="zh-TW" u="sng" dirty="0" smtClean="0"/>
                  <a:t>past values </a:t>
                </a:r>
                <a:r>
                  <a:rPr lang="en-US" altLang="zh-TW" dirty="0"/>
                  <a:t>of the white noise realization</a:t>
                </a:r>
                <a:r>
                  <a:rPr lang="en-US" altLang="zh-TW" dirty="0" smtClean="0"/>
                  <a:t>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𝑡</m:t>
                        </m:r>
                      </m:sub>
                    </m:sSub>
                    <m:r>
                      <a:rPr lang="en-US" altLang="zh-TW" b="0" i="1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b="0" i="1" smtClean="0">
                            <a:latin typeface="Cambria Math"/>
                          </a:rPr>
                          <m:t>𝜀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𝑡</m:t>
                        </m:r>
                      </m:sub>
                    </m:sSub>
                    <m:r>
                      <a:rPr lang="en-US" altLang="zh-TW" b="0" i="1" smtClean="0">
                        <a:latin typeface="Cambria Math"/>
                      </a:rPr>
                      <m:t>+</m:t>
                    </m:r>
                    <m:r>
                      <a:rPr lang="zh-TW" altLang="en-US" b="0" i="1" smtClean="0">
                        <a:latin typeface="Cambria Math"/>
                      </a:rPr>
                      <m:t>𝛼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b="0" i="1" smtClean="0">
                            <a:latin typeface="Cambria Math"/>
                          </a:rPr>
                          <m:t>𝜀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𝑡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−1</m:t>
                        </m:r>
                      </m:sub>
                    </m:sSub>
                    <m:r>
                      <a:rPr lang="en-US" altLang="zh-TW" b="0" i="1" smtClean="0">
                        <a:latin typeface="Cambria Math"/>
                      </a:rPr>
                      <m:t>+</m:t>
                    </m:r>
                    <m:sSup>
                      <m:sSup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TW" altLang="en-US" b="0" i="1" smtClean="0">
                            <a:latin typeface="Cambria Math"/>
                          </a:rPr>
                          <m:t>𝛼</m:t>
                        </m:r>
                      </m:e>
                      <m:sup>
                        <m:r>
                          <a:rPr lang="en-US" altLang="zh-TW" b="0" i="1" smtClean="0">
                            <a:latin typeface="Cambria Math"/>
                          </a:rPr>
                          <m:t>2</m:t>
                        </m:r>
                      </m:sup>
                    </m:sSup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b="0" i="1" smtClean="0">
                            <a:latin typeface="Cambria Math"/>
                          </a:rPr>
                          <m:t>𝜀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𝑡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−2</m:t>
                        </m:r>
                      </m:sub>
                    </m:sSub>
                    <m:r>
                      <a:rPr lang="en-US" altLang="zh-TW" b="0" i="1" smtClean="0">
                        <a:latin typeface="Cambria Math"/>
                      </a:rPr>
                      <m:t>+…</m:t>
                    </m:r>
                  </m:oMath>
                </a14:m>
                <a:r>
                  <a:rPr lang="en-US" altLang="zh-TW" dirty="0" smtClean="0"/>
                  <a:t>,</a:t>
                </a:r>
              </a:p>
              <a:p>
                <a:pPr marL="0" indent="0">
                  <a:buNone/>
                </a:pPr>
                <a:r>
                  <a:rPr lang="en-US" altLang="zh-TW" dirty="0"/>
                  <a:t> </a:t>
                </a:r>
                <a:r>
                  <a:rPr lang="en-US" altLang="zh-TW" dirty="0" smtClean="0"/>
                  <a:t>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𝑡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−1</m:t>
                        </m:r>
                      </m:sub>
                    </m:sSub>
                    <m:r>
                      <a:rPr lang="en-US" altLang="zh-TW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latin typeface="Cambria Math"/>
                          </a:rPr>
                          <m:t>𝜀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𝑡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−1</m:t>
                        </m:r>
                      </m:sub>
                    </m:sSub>
                    <m:r>
                      <a:rPr lang="en-US" altLang="zh-TW" i="1">
                        <a:latin typeface="Cambria Math"/>
                      </a:rPr>
                      <m:t>+</m:t>
                    </m:r>
                    <m:r>
                      <a:rPr lang="zh-TW" altLang="en-US" i="1">
                        <a:latin typeface="Cambria Math"/>
                      </a:rPr>
                      <m:t>𝛼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latin typeface="Cambria Math"/>
                          </a:rPr>
                          <m:t>𝜀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𝑡</m:t>
                        </m:r>
                        <m:r>
                          <a:rPr lang="en-US" altLang="zh-TW" i="1">
                            <a:latin typeface="Cambria Math"/>
                          </a:rPr>
                          <m:t>−2</m:t>
                        </m:r>
                      </m:sub>
                    </m:sSub>
                    <m:r>
                      <a:rPr lang="en-US" altLang="zh-TW" i="1">
                        <a:latin typeface="Cambria Math"/>
                      </a:rPr>
                      <m:t>+</m:t>
                    </m:r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TW" altLang="en-US" i="1">
                            <a:latin typeface="Cambria Math"/>
                          </a:rPr>
                          <m:t>𝛼</m:t>
                        </m:r>
                      </m:e>
                      <m:sup>
                        <m:r>
                          <a:rPr lang="en-US" altLang="zh-TW" i="1">
                            <a:latin typeface="Cambria Math"/>
                          </a:rPr>
                          <m:t>2</m:t>
                        </m:r>
                      </m:sup>
                    </m:sSup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latin typeface="Cambria Math"/>
                          </a:rPr>
                          <m:t>𝜀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𝑡</m:t>
                        </m:r>
                        <m:r>
                          <a:rPr lang="en-US" altLang="zh-TW" i="1">
                            <a:latin typeface="Cambria Math"/>
                          </a:rPr>
                          <m:t>−3</m:t>
                        </m:r>
                      </m:sub>
                    </m:sSub>
                    <m:r>
                      <a:rPr lang="en-US" altLang="zh-TW" i="1">
                        <a:latin typeface="Cambria Math"/>
                      </a:rPr>
                      <m:t>+…</m:t>
                    </m:r>
                  </m:oMath>
                </a14:m>
                <a:endParaRPr lang="en-US" altLang="zh-TW" dirty="0" smtClean="0"/>
              </a:p>
              <a:p>
                <a:pPr marL="0" indent="0">
                  <a:buNone/>
                </a:pPr>
                <a:r>
                  <a:rPr lang="en-US" altLang="zh-TW" dirty="0"/>
                  <a:t> </a:t>
                </a:r>
                <a:r>
                  <a:rPr lang="en-US" altLang="zh-TW" dirty="0" smtClean="0"/>
                  <a:t>      </a:t>
                </a:r>
                <a14:m>
                  <m:oMath xmlns:m="http://schemas.openxmlformats.org/officeDocument/2006/math">
                    <m:r>
                      <a:rPr lang="en-US" altLang="zh-TW" i="1" smtClean="0">
                        <a:latin typeface="Cambria Math"/>
                        <a:ea typeface="Cambria Math"/>
                      </a:rPr>
                      <m:t>∴</m:t>
                    </m:r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  <a:ea typeface="Cambria Math"/>
                          </a:rPr>
                          <m:t>𝑦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  <a:ea typeface="Cambria Math"/>
                          </a:rPr>
                          <m:t>𝑡</m:t>
                        </m:r>
                      </m:sub>
                    </m:sSub>
                    <m:r>
                      <a:rPr lang="en-US" altLang="zh-TW" b="0" i="1" smtClean="0">
                        <a:latin typeface="Cambria Math"/>
                        <a:ea typeface="Cambria Math"/>
                      </a:rPr>
                      <m:t>=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zh-TW" altLang="en-US" b="0" i="1" smtClean="0">
                            <a:latin typeface="Cambria Math"/>
                            <a:ea typeface="Cambria Math"/>
                          </a:rPr>
                          <m:t>𝛼</m:t>
                        </m:r>
                        <m:r>
                          <a:rPr lang="en-US" altLang="zh-TW" b="0" i="1" smtClean="0">
                            <a:latin typeface="Cambria Math"/>
                            <a:ea typeface="Cambria Math"/>
                          </a:rPr>
                          <m:t>𝑦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  <a:ea typeface="Cambria Math"/>
                          </a:rPr>
                          <m:t>𝑡</m:t>
                        </m:r>
                        <m:r>
                          <a:rPr lang="en-US" altLang="zh-TW" b="0" i="1" smtClean="0">
                            <a:latin typeface="Cambria Math"/>
                            <a:ea typeface="Cambria Math"/>
                          </a:rPr>
                          <m:t>−1</m:t>
                        </m:r>
                      </m:sub>
                    </m:sSub>
                    <m:r>
                      <a:rPr lang="en-US" altLang="zh-TW" b="0" i="1" smtClean="0">
                        <a:latin typeface="Cambria Math"/>
                        <a:ea typeface="Cambria Math"/>
                      </a:rPr>
                      <m:t>+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zh-TW" altLang="en-US" b="0" i="1" smtClean="0">
                            <a:latin typeface="Cambria Math"/>
                            <a:ea typeface="Cambria Math"/>
                          </a:rPr>
                          <m:t>𝜀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  <a:ea typeface="Cambria Math"/>
                          </a:rPr>
                          <m:t>𝑡</m:t>
                        </m:r>
                      </m:sub>
                    </m:sSub>
                  </m:oMath>
                </a14:m>
                <a:endParaRPr lang="en-US" altLang="zh-TW" dirty="0" smtClean="0"/>
              </a:p>
              <a:p>
                <a:pPr marL="0" indent="0">
                  <a:buNone/>
                </a:pPr>
                <a:r>
                  <a:rPr lang="en-US" altLang="zh-TW" dirty="0"/>
                  <a:t>       Since the next value in </a:t>
                </a:r>
                <a:r>
                  <a:rPr lang="en-US" altLang="zh-TW" dirty="0" smtClean="0"/>
                  <a:t>the time </a:t>
                </a:r>
                <a:r>
                  <a:rPr lang="en-US" altLang="zh-TW" dirty="0"/>
                  <a:t>series is </a:t>
                </a:r>
                <a:r>
                  <a:rPr lang="en-US" altLang="zh-TW" dirty="0" smtClean="0"/>
                  <a:t>obtained</a:t>
                </a:r>
              </a:p>
              <a:p>
                <a:pPr marL="0" indent="0">
                  <a:buNone/>
                </a:pPr>
                <a:r>
                  <a:rPr lang="en-US" altLang="zh-TW" dirty="0"/>
                  <a:t> </a:t>
                </a:r>
                <a:r>
                  <a:rPr lang="en-US" altLang="zh-TW" dirty="0" smtClean="0"/>
                  <a:t>      </a:t>
                </a:r>
                <a:r>
                  <a:rPr lang="en-US" altLang="zh-TW" dirty="0"/>
                  <a:t>by multiplying the past value with the slope of </a:t>
                </a:r>
                <a:r>
                  <a:rPr lang="en-US" altLang="zh-TW" dirty="0" smtClean="0"/>
                  <a:t>the</a:t>
                </a:r>
              </a:p>
              <a:p>
                <a:pPr marL="0" indent="0">
                  <a:buNone/>
                </a:pPr>
                <a:r>
                  <a:rPr lang="zh-TW" altLang="en-US" dirty="0" smtClean="0"/>
                  <a:t>       </a:t>
                </a:r>
                <a:r>
                  <a:rPr lang="en-US" altLang="zh-TW" dirty="0" smtClean="0"/>
                  <a:t>regression</a:t>
                </a:r>
                <a:r>
                  <a:rPr lang="en-US" altLang="zh-TW" dirty="0"/>
                  <a:t>, it is called an autoregressive (AR) series.</a:t>
                </a:r>
                <a:endParaRPr lang="zh-TW" altLang="en-US" dirty="0"/>
              </a:p>
              <a:p>
                <a:pPr marL="0" indent="0">
                  <a:buNone/>
                </a:pPr>
                <a:endParaRPr lang="zh-TW" altLang="en-US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9512" y="980728"/>
                <a:ext cx="8784976" cy="5145435"/>
              </a:xfrm>
              <a:blipFill rotWithShape="0">
                <a:blip r:embed="rId2"/>
                <a:stretch>
                  <a:fillRect l="-1664" t="-1540" r="-104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051573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1143000"/>
          </a:xfrm>
        </p:spPr>
        <p:txBody>
          <a:bodyPr/>
          <a:lstStyle/>
          <a:p>
            <a:r>
              <a:rPr lang="en-US" altLang="zh-TW" dirty="0"/>
              <a:t>Time Series Model- AR</a:t>
            </a:r>
            <a:endParaRPr lang="zh-TW" altLang="en-US" dirty="0"/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768" y="2132856"/>
            <a:ext cx="4170174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弧形接點 5"/>
          <p:cNvCxnSpPr/>
          <p:nvPr/>
        </p:nvCxnSpPr>
        <p:spPr>
          <a:xfrm rot="16200000" flipH="1">
            <a:off x="3347864" y="4509120"/>
            <a:ext cx="1008112" cy="1008112"/>
          </a:xfrm>
          <a:prstGeom prst="curvedConnector3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字方塊 7"/>
          <p:cNvSpPr txBox="1"/>
          <p:nvPr/>
        </p:nvSpPr>
        <p:spPr>
          <a:xfrm>
            <a:off x="107504" y="1052736"/>
            <a:ext cx="892899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 startAt="4"/>
            </a:pPr>
            <a:r>
              <a:rPr lang="en-US" altLang="zh-TW" sz="3200" dirty="0" smtClean="0"/>
              <a:t>The</a:t>
            </a:r>
            <a:r>
              <a:rPr lang="zh-TW" altLang="en-US" sz="3200" dirty="0" smtClean="0"/>
              <a:t> </a:t>
            </a:r>
            <a:r>
              <a:rPr lang="en-US" altLang="zh-TW" sz="3200" dirty="0" smtClean="0"/>
              <a:t>correlation </a:t>
            </a:r>
            <a:r>
              <a:rPr lang="en-US" altLang="zh-TW" sz="3200" dirty="0"/>
              <a:t>values fall off gradually with increasing lag values</a:t>
            </a:r>
            <a:endParaRPr lang="zh-TW" altLang="en-US" sz="3200" dirty="0"/>
          </a:p>
        </p:txBody>
      </p:sp>
    </p:spTree>
    <p:extLst>
      <p:ext uri="{BB962C8B-B14F-4D97-AF65-F5344CB8AC3E}">
        <p14:creationId xmlns:p14="http://schemas.microsoft.com/office/powerpoint/2010/main" val="35870401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1143000"/>
          </a:xfrm>
        </p:spPr>
        <p:txBody>
          <a:bodyPr/>
          <a:lstStyle/>
          <a:p>
            <a:r>
              <a:rPr lang="en-US" altLang="zh-TW" dirty="0"/>
              <a:t>Time Series Model- AR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052736"/>
                <a:ext cx="8579296" cy="5073427"/>
              </a:xfrm>
            </p:spPr>
            <p:txBody>
              <a:bodyPr/>
              <a:lstStyle/>
              <a:p>
                <a:r>
                  <a:rPr lang="en-US" altLang="zh-TW" u="sng" dirty="0" smtClean="0"/>
                  <a:t>Why?</a:t>
                </a:r>
              </a:p>
              <a:p>
                <a:pPr marL="971550" lvl="1" indent="-514350">
                  <a:buFont typeface="+mj-lt"/>
                  <a:buAutoNum type="arabicParenR"/>
                </a:pPr>
                <a:r>
                  <a:rPr lang="en-US" altLang="zh-TW" dirty="0"/>
                  <a:t>Every time step </a:t>
                </a:r>
                <a:r>
                  <a:rPr lang="en-US" altLang="zh-TW" dirty="0" smtClean="0"/>
                  <a:t>has in </a:t>
                </a:r>
                <a:r>
                  <a:rPr lang="en-US" altLang="zh-TW" dirty="0"/>
                  <a:t>it additive </a:t>
                </a:r>
                <a:r>
                  <a:rPr lang="en-US" altLang="zh-TW" dirty="0" smtClean="0"/>
                  <a:t>terms comprising </a:t>
                </a:r>
                <a:r>
                  <a:rPr lang="en-US" altLang="zh-TW" dirty="0"/>
                  <a:t>all the previous white noise realizations</a:t>
                </a:r>
                <a:r>
                  <a:rPr lang="en-US" altLang="zh-TW" dirty="0" smtClean="0"/>
                  <a:t>.</a:t>
                </a:r>
              </a:p>
              <a:p>
                <a:pPr marL="971550" lvl="1" indent="-514350">
                  <a:buFont typeface="+mj-lt"/>
                  <a:buAutoNum type="arabicParenR"/>
                </a:pPr>
                <a:r>
                  <a:rPr lang="en-US" altLang="zh-TW" dirty="0" smtClean="0"/>
                  <a:t>There </a:t>
                </a:r>
                <a:r>
                  <a:rPr lang="en-US" altLang="zh-TW" dirty="0"/>
                  <a:t>will always be white noise realizations that are common </a:t>
                </a:r>
                <a:r>
                  <a:rPr lang="en-US" altLang="zh-TW" dirty="0" smtClean="0"/>
                  <a:t>between two </a:t>
                </a:r>
                <a:r>
                  <a:rPr lang="en-US" altLang="zh-TW" dirty="0"/>
                  <a:t>values of the time series however far apart they may be.</a:t>
                </a:r>
                <a:endParaRPr lang="en-US" altLang="zh-TW" dirty="0" smtClean="0"/>
              </a:p>
              <a:p>
                <a:pPr marL="971550" lvl="1" indent="-514350">
                  <a:buFont typeface="+mj-lt"/>
                  <a:buAutoNum type="arabicParenR"/>
                </a:pPr>
                <a:r>
                  <a:rPr lang="en-US" altLang="zh-TW" dirty="0" smtClean="0"/>
                  <a:t>Knowledge </a:t>
                </a:r>
                <a:r>
                  <a:rPr lang="en-US" altLang="zh-TW" dirty="0"/>
                  <a:t>of the past values of the time series is helpful in </a:t>
                </a:r>
                <a:r>
                  <a:rPr lang="en-US" altLang="zh-TW" dirty="0" smtClean="0"/>
                  <a:t>predicting what </a:t>
                </a:r>
                <a:r>
                  <a:rPr lang="en-US" altLang="zh-TW" dirty="0"/>
                  <a:t>the next value </a:t>
                </a:r>
                <a:r>
                  <a:rPr lang="en-US" altLang="zh-TW" dirty="0" smtClean="0"/>
                  <a:t>.</a:t>
                </a:r>
              </a:p>
              <a:p>
                <a:pPr marL="971550" lvl="1" indent="-514350">
                  <a:buFont typeface="+mj-lt"/>
                  <a:buAutoNum type="arabicParenR"/>
                </a:pPr>
                <a:r>
                  <a:rPr lang="en-US" altLang="zh-TW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𝑡</m:t>
                        </m:r>
                      </m:sub>
                    </m:sSub>
                    <m:r>
                      <a:rPr lang="en-US" altLang="zh-TW" b="0" i="1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b="0" i="1" smtClean="0">
                            <a:latin typeface="Cambria Math"/>
                          </a:rPr>
                          <m:t>𝜀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𝑡</m:t>
                        </m:r>
                      </m:sub>
                    </m:sSub>
                    <m:r>
                      <a:rPr lang="en-US" altLang="zh-TW" b="0" i="1" smtClean="0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b="0" i="1" smtClean="0">
                            <a:latin typeface="Cambria Math"/>
                          </a:rPr>
                          <m:t>𝛼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𝑡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−1</m:t>
                        </m:r>
                      </m:sub>
                    </m:sSub>
                    <m:r>
                      <a:rPr lang="en-US" altLang="zh-TW" b="0" i="1" smtClean="0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b="0" i="1" smtClean="0">
                            <a:latin typeface="Cambria Math"/>
                          </a:rPr>
                          <m:t>𝛼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𝑡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−2</m:t>
                        </m:r>
                      </m:sub>
                    </m:sSub>
                    <m:r>
                      <a:rPr lang="en-US" altLang="zh-TW" b="0" i="1" smtClean="0">
                        <a:latin typeface="Cambria Math"/>
                      </a:rPr>
                      <m:t>+…+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b="0" i="1" smtClean="0">
                            <a:latin typeface="Cambria Math"/>
                          </a:rPr>
                          <m:t>𝛼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𝑝</m:t>
                        </m:r>
                      </m:sub>
                    </m:sSub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𝑡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−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is AR(p).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052736"/>
                <a:ext cx="8579296" cy="5073427"/>
              </a:xfrm>
              <a:blipFill rotWithShape="1">
                <a:blip r:embed="rId2"/>
                <a:stretch>
                  <a:fillRect l="-1564" t="-1563" r="-213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57043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1143000"/>
          </a:xfrm>
        </p:spPr>
        <p:txBody>
          <a:bodyPr/>
          <a:lstStyle/>
          <a:p>
            <a:r>
              <a:rPr lang="en-US" altLang="zh-TW" dirty="0"/>
              <a:t>Time Series </a:t>
            </a:r>
            <a:r>
              <a:rPr lang="en-US" altLang="zh-TW" dirty="0" smtClean="0"/>
              <a:t>Model- ARMA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908720"/>
                <a:ext cx="8579296" cy="583264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altLang="zh-TW" dirty="0"/>
                  <a:t> </a:t>
                </a:r>
                <a:r>
                  <a:rPr lang="en-US" altLang="zh-TW" dirty="0" smtClean="0"/>
                  <a:t>              </a:t>
                </a:r>
                <a:r>
                  <a:rPr lang="en-US" altLang="zh-TW" dirty="0" smtClean="0"/>
                  <a:t>(Just </a:t>
                </a:r>
                <a:r>
                  <a:rPr lang="en-US" altLang="zh-TW" dirty="0" smtClean="0"/>
                  <a:t>The General ARMA Process)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altLang="zh-TW" dirty="0"/>
                  <a:t>The AR(p) and MA(q) models can be mixed to form an ARMA(p, q) </a:t>
                </a:r>
                <a:r>
                  <a:rPr lang="en-US" altLang="zh-TW" dirty="0" smtClean="0"/>
                  <a:t>model.</a:t>
                </a:r>
              </a:p>
              <a:p>
                <a:pPr marL="0" indent="0">
                  <a:buNone/>
                </a:pPr>
                <a:r>
                  <a:rPr lang="en-US" altLang="zh-TW" dirty="0" smtClean="0"/>
                  <a:t>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𝑡</m:t>
                        </m:r>
                      </m:sub>
                    </m:sSub>
                    <m:r>
                      <a:rPr lang="en-US" altLang="zh-TW" b="0" i="1" smtClean="0">
                        <a:latin typeface="Cambria Math"/>
                      </a:rPr>
                      <m:t>=[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latin typeface="Cambria Math"/>
                          </a:rPr>
                          <m:t>𝛼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𝑡</m:t>
                        </m:r>
                        <m:r>
                          <a:rPr lang="en-US" altLang="zh-TW" i="1">
                            <a:latin typeface="Cambria Math"/>
                          </a:rPr>
                          <m:t>−1</m:t>
                        </m:r>
                      </m:sub>
                    </m:sSub>
                    <m:r>
                      <a:rPr lang="en-US" altLang="zh-TW" i="1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latin typeface="Cambria Math"/>
                          </a:rPr>
                          <m:t>𝛼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𝑡</m:t>
                        </m:r>
                        <m:r>
                          <a:rPr lang="en-US" altLang="zh-TW" i="1">
                            <a:latin typeface="Cambria Math"/>
                          </a:rPr>
                          <m:t>−2</m:t>
                        </m:r>
                      </m:sub>
                    </m:sSub>
                    <m:r>
                      <a:rPr lang="en-US" altLang="zh-TW" i="1">
                        <a:latin typeface="Cambria Math"/>
                      </a:rPr>
                      <m:t>+…+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latin typeface="Cambria Math"/>
                          </a:rPr>
                          <m:t>𝛼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𝑝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𝑡</m:t>
                        </m:r>
                        <m:r>
                          <a:rPr lang="en-US" altLang="zh-TW" i="1">
                            <a:latin typeface="Cambria Math"/>
                          </a:rPr>
                          <m:t>−</m:t>
                        </m:r>
                        <m:r>
                          <a:rPr lang="en-US" altLang="zh-TW" i="1">
                            <a:latin typeface="Cambria Math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altLang="zh-TW" dirty="0" smtClean="0"/>
                  <a:t>]+</a:t>
                </a:r>
              </a:p>
              <a:p>
                <a:pPr marL="0" indent="0">
                  <a:buNone/>
                </a:pPr>
                <a:r>
                  <a:rPr lang="en-US" altLang="zh-TW" dirty="0"/>
                  <a:t> </a:t>
                </a:r>
                <a:r>
                  <a:rPr lang="en-US" altLang="zh-TW" dirty="0" smtClean="0"/>
                  <a:t>               [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latin typeface="Cambria Math"/>
                          </a:rPr>
                          <m:t>𝜀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𝑡</m:t>
                        </m:r>
                      </m:sub>
                    </m:sSub>
                    <m:r>
                      <a:rPr lang="en-US" altLang="zh-TW" i="1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latin typeface="Cambria Math"/>
                          </a:rPr>
                          <m:t>𝛽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latin typeface="Cambria Math"/>
                          </a:rPr>
                          <m:t>𝜀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𝑡</m:t>
                        </m:r>
                        <m:r>
                          <a:rPr lang="en-US" altLang="zh-TW" i="1">
                            <a:latin typeface="Cambria Math"/>
                          </a:rPr>
                          <m:t>−1</m:t>
                        </m:r>
                      </m:sub>
                    </m:sSub>
                    <m:r>
                      <a:rPr lang="en-US" altLang="zh-TW" i="1">
                        <a:latin typeface="Cambria Math"/>
                      </a:rPr>
                      <m:t>+…+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latin typeface="Cambria Math"/>
                          </a:rPr>
                          <m:t>𝛽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𝑞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latin typeface="Cambria Math"/>
                          </a:rPr>
                          <m:t>𝜀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𝑡</m:t>
                        </m:r>
                        <m:r>
                          <a:rPr lang="en-US" altLang="zh-TW" i="1">
                            <a:latin typeface="Cambria Math"/>
                          </a:rPr>
                          <m:t>−</m:t>
                        </m:r>
                        <m:r>
                          <a:rPr lang="en-US" altLang="zh-TW" i="1">
                            <a:latin typeface="Cambria Math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en-US" altLang="zh-TW" dirty="0" smtClean="0"/>
                  <a:t>]</a:t>
                </a:r>
              </a:p>
              <a:p>
                <a:pPr marL="514350" indent="-514350">
                  <a:buFont typeface="+mj-lt"/>
                  <a:buAutoNum type="arabicPeriod" startAt="2"/>
                </a:pPr>
                <a:r>
                  <a:rPr lang="en-US" altLang="zh-TW" dirty="0"/>
                  <a:t>The preceding </a:t>
                </a:r>
                <a:r>
                  <a:rPr lang="en-US" altLang="zh-TW" dirty="0" smtClean="0"/>
                  <a:t>models are </a:t>
                </a:r>
                <a:r>
                  <a:rPr lang="en-US" altLang="zh-TW" dirty="0"/>
                  <a:t>all constructed using a linear combination of past values of the </a:t>
                </a:r>
                <a:r>
                  <a:rPr lang="en-US" altLang="zh-TW" dirty="0" smtClean="0"/>
                  <a:t>white noise </a:t>
                </a:r>
                <a:r>
                  <a:rPr lang="en-US" altLang="zh-TW" dirty="0"/>
                  <a:t>series</a:t>
                </a:r>
                <a:r>
                  <a:rPr lang="en-US" altLang="zh-TW" dirty="0" smtClean="0"/>
                  <a:t>.</a:t>
                </a:r>
              </a:p>
              <a:p>
                <a:pPr marL="514350" indent="-514350">
                  <a:buFont typeface="+mj-lt"/>
                  <a:buAutoNum type="arabicPeriod" startAt="2"/>
                </a:pPr>
                <a:r>
                  <a:rPr lang="en-US" altLang="zh-TW" dirty="0" smtClean="0"/>
                  <a:t>The </a:t>
                </a:r>
                <a:r>
                  <a:rPr lang="en-US" altLang="zh-TW" dirty="0"/>
                  <a:t>sum of two </a:t>
                </a:r>
                <a:r>
                  <a:rPr lang="en-US" altLang="zh-TW" dirty="0" smtClean="0"/>
                  <a:t>independent ARMA </a:t>
                </a:r>
                <a:r>
                  <a:rPr lang="en-US" altLang="zh-TW" dirty="0"/>
                  <a:t>series is also ARMA.</a:t>
                </a:r>
                <a:endParaRPr lang="en-US" altLang="zh-TW" dirty="0" smtClean="0"/>
              </a:p>
              <a:p>
                <a:pPr marL="514350" indent="-514350">
                  <a:buFont typeface="+mj-lt"/>
                  <a:buAutoNum type="arabicPeriod" startAt="2"/>
                </a:pPr>
                <a:endParaRPr lang="zh-TW" altLang="en-US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908720"/>
                <a:ext cx="8579296" cy="5832648"/>
              </a:xfrm>
              <a:blipFill rotWithShape="0">
                <a:blip r:embed="rId2"/>
                <a:stretch>
                  <a:fillRect l="-1848" t="-1358" r="-255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87369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1143000"/>
          </a:xfrm>
        </p:spPr>
        <p:txBody>
          <a:bodyPr/>
          <a:lstStyle/>
          <a:p>
            <a:r>
              <a:rPr lang="en-US" altLang="zh-TW" dirty="0"/>
              <a:t>The Random Walk Process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107504" y="980728"/>
                <a:ext cx="8928992" cy="5145435"/>
              </a:xfrm>
            </p:spPr>
            <p:txBody>
              <a:bodyPr>
                <a:normAutofit/>
              </a:bodyPr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en-US" altLang="zh-TW" dirty="0" smtClean="0"/>
                  <a:t>A random walk is an AR(1) series </a:t>
                </a:r>
                <a:r>
                  <a:rPr lang="en-US" altLang="zh-TW" dirty="0" smtClean="0"/>
                  <a:t>with </a:t>
                </a:r>
                <a14:m>
                  <m:oMath xmlns:m="http://schemas.openxmlformats.org/officeDocument/2006/math">
                    <m:r>
                      <a:rPr lang="zh-TW" altLang="en-US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altLang="zh-TW" dirty="0" smtClean="0"/>
                  <a:t> = </a:t>
                </a:r>
                <a:r>
                  <a:rPr lang="en-US" altLang="zh-TW" dirty="0" smtClean="0"/>
                  <a:t>1.</a:t>
                </a:r>
              </a:p>
              <a:p>
                <a:pPr marL="0" indent="0">
                  <a:buNone/>
                </a:pPr>
                <a:r>
                  <a:rPr lang="en-US" altLang="zh-TW" dirty="0" smtClean="0"/>
                  <a:t>      From </a:t>
                </a:r>
                <a:r>
                  <a:rPr lang="en-US" altLang="zh-TW" dirty="0"/>
                  <a:t>the definition of </a:t>
                </a:r>
                <a:r>
                  <a:rPr lang="en-US" altLang="zh-TW" dirty="0" smtClean="0"/>
                  <a:t>an AR </a:t>
                </a:r>
                <a:r>
                  <a:rPr lang="en-US" altLang="zh-TW" dirty="0"/>
                  <a:t>series </a:t>
                </a:r>
                <a:r>
                  <a:rPr lang="en-US" altLang="zh-TW" dirty="0" smtClean="0"/>
                  <a:t>given</a:t>
                </a:r>
                <a:r>
                  <a:rPr lang="en-US" altLang="zh-TW" dirty="0"/>
                  <a:t>, </a:t>
                </a:r>
                <a:r>
                  <a:rPr lang="en-US" altLang="zh-TW" dirty="0" smtClean="0"/>
                  <a:t>the</a:t>
                </a:r>
              </a:p>
              <a:p>
                <a:pPr marL="0" indent="0">
                  <a:buNone/>
                </a:pPr>
                <a:r>
                  <a:rPr lang="en-US" altLang="zh-TW" dirty="0"/>
                  <a:t> </a:t>
                </a:r>
                <a:r>
                  <a:rPr lang="en-US" altLang="zh-TW" dirty="0" smtClean="0"/>
                  <a:t>     value </a:t>
                </a:r>
                <a:r>
                  <a:rPr lang="en-US" altLang="zh-TW" dirty="0"/>
                  <a:t>of the time series at time </a:t>
                </a:r>
                <a:r>
                  <a:rPr lang="en-US" altLang="zh-TW" dirty="0" smtClean="0"/>
                  <a:t>t :</a:t>
                </a:r>
              </a:p>
              <a:p>
                <a:pPr marL="0" indent="0">
                  <a:buNone/>
                </a:pPr>
                <a:r>
                  <a:rPr lang="en-US" altLang="zh-TW" dirty="0"/>
                  <a:t> </a:t>
                </a:r>
                <a:r>
                  <a:rPr lang="en-US" altLang="zh-TW" dirty="0" smtClean="0"/>
                  <a:t>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𝑡</m:t>
                        </m:r>
                      </m:sub>
                    </m:sSub>
                    <m:r>
                      <a:rPr lang="en-US" altLang="zh-TW" b="0" i="1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b="0" i="1" smtClean="0">
                            <a:latin typeface="Cambria Math"/>
                          </a:rPr>
                          <m:t>𝜀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𝑡</m:t>
                        </m:r>
                      </m:sub>
                    </m:sSub>
                    <m:r>
                      <a:rPr lang="en-US" altLang="zh-TW" b="0" i="1" smtClean="0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b="0" i="1" smtClean="0">
                            <a:latin typeface="Cambria Math"/>
                          </a:rPr>
                          <m:t>𝜀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𝑡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−1</m:t>
                        </m:r>
                      </m:sub>
                    </m:sSub>
                    <m:r>
                      <a:rPr lang="en-US" altLang="zh-TW" b="0" i="1" smtClean="0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b="0" i="1" smtClean="0">
                            <a:latin typeface="Cambria Math"/>
                          </a:rPr>
                          <m:t>𝜀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𝑡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−2</m:t>
                        </m:r>
                      </m:sub>
                    </m:sSub>
                    <m:r>
                      <a:rPr lang="en-US" altLang="zh-TW" b="0" i="1" smtClean="0">
                        <a:latin typeface="Cambria Math"/>
                      </a:rPr>
                      <m:t>+…=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b="0" i="1" smtClean="0">
                            <a:latin typeface="Cambria Math"/>
                          </a:rPr>
                          <m:t>𝜀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𝑡</m:t>
                        </m:r>
                      </m:sub>
                    </m:sSub>
                    <m:r>
                      <a:rPr lang="en-US" altLang="zh-TW" b="0" i="1" smtClean="0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𝑡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zh-TW" altLang="en-US" dirty="0" smtClean="0"/>
                  <a:t> </a:t>
                </a:r>
                <a:endParaRPr lang="en-US" altLang="zh-TW" dirty="0" smtClean="0"/>
              </a:p>
              <a:p>
                <a:pPr marL="0" indent="0">
                  <a:buNone/>
                </a:pPr>
                <a:endParaRPr lang="zh-TW" altLang="en-US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7504" y="980728"/>
                <a:ext cx="8928992" cy="5145435"/>
              </a:xfrm>
              <a:blipFill rotWithShape="0">
                <a:blip r:embed="rId2"/>
                <a:stretch>
                  <a:fillRect l="-1844" t="-17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3286125"/>
            <a:ext cx="5400600" cy="3571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629978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1143000"/>
          </a:xfrm>
        </p:spPr>
        <p:txBody>
          <a:bodyPr/>
          <a:lstStyle/>
          <a:p>
            <a:r>
              <a:rPr lang="en-US" altLang="zh-TW" dirty="0"/>
              <a:t>The Random Walk Process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0" y="836712"/>
                <a:ext cx="9144000" cy="6021288"/>
              </a:xfrm>
            </p:spPr>
            <p:txBody>
              <a:bodyPr>
                <a:normAutofit/>
              </a:bodyPr>
              <a:lstStyle/>
              <a:p>
                <a:pPr marL="514350" indent="-514350">
                  <a:buFont typeface="+mj-lt"/>
                  <a:buAutoNum type="arabicPeriod" startAt="2"/>
                </a:pPr>
                <a:r>
                  <a:rPr lang="en-US" altLang="zh-TW" dirty="0" smtClean="0"/>
                  <a:t>Properties </a:t>
                </a:r>
                <a:r>
                  <a:rPr lang="en-US" altLang="zh-TW" dirty="0"/>
                  <a:t>of the random </a:t>
                </a:r>
                <a:r>
                  <a:rPr lang="en-US" altLang="zh-TW" dirty="0" smtClean="0"/>
                  <a:t>walk:</a:t>
                </a:r>
              </a:p>
              <a:p>
                <a:pPr marL="914400" lvl="1" indent="-514350">
                  <a:buFont typeface="+mj-lt"/>
                  <a:buAutoNum type="arabicParenR"/>
                </a:pPr>
                <a:r>
                  <a:rPr lang="en-US" altLang="zh-TW" dirty="0"/>
                  <a:t>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/>
                      </a:rPr>
                      <m:t>𝑉𝑎𝑟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altLang="zh-TW" b="0" i="1" smtClean="0">
                        <a:latin typeface="Cambria Math"/>
                      </a:rPr>
                      <m:t>=</m:t>
                    </m:r>
                    <m:r>
                      <a:rPr lang="en-US" altLang="zh-TW" b="0" i="1" smtClean="0">
                        <a:latin typeface="Cambria Math"/>
                      </a:rPr>
                      <m:t>𝑉𝑎𝑟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b="0" i="1" smtClean="0">
                                <a:latin typeface="Cambria Math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altLang="zh-TW" b="0" i="1" smtClean="0">
                        <a:latin typeface="Cambria Math"/>
                      </a:rPr>
                      <m:t>+</m:t>
                    </m:r>
                    <m:r>
                      <a:rPr lang="en-US" altLang="zh-TW" b="0" i="1" smtClean="0">
                        <a:latin typeface="Cambria Math"/>
                      </a:rPr>
                      <m:t>𝑉𝑎𝑟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b="0" i="1" smtClean="0">
                                <a:latin typeface="Cambria Math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/>
                              </a:rPr>
                              <m:t>𝑡</m:t>
                            </m:r>
                            <m:r>
                              <a:rPr lang="en-US" altLang="zh-TW" b="0" i="1" smtClean="0">
                                <a:latin typeface="Cambria Math"/>
                              </a:rPr>
                              <m:t>−1</m:t>
                            </m:r>
                          </m:sub>
                        </m:sSub>
                      </m:e>
                    </m:d>
                    <m:r>
                      <a:rPr lang="en-US" altLang="zh-TW" b="0" i="1" smtClean="0">
                        <a:latin typeface="Cambria Math"/>
                      </a:rPr>
                      <m:t>+…+</m:t>
                    </m:r>
                    <m:r>
                      <a:rPr lang="en-US" altLang="zh-TW" b="0" i="1" smtClean="0">
                        <a:latin typeface="Cambria Math"/>
                      </a:rPr>
                      <m:t>𝑉𝑎𝑟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b="0" i="1" smtClean="0">
                                <a:latin typeface="Cambria Math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endParaRPr lang="en-US" altLang="zh-TW" b="0" dirty="0" smtClean="0"/>
              </a:p>
              <a:p>
                <a:pPr marL="400050" lvl="1" indent="0">
                  <a:buNone/>
                </a:pPr>
                <a:r>
                  <a:rPr lang="en-US" altLang="zh-TW" dirty="0" smtClean="0"/>
                  <a:t>                       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/>
                      </a:rPr>
                      <m:t>=</m:t>
                    </m:r>
                    <m:r>
                      <a:rPr lang="en-US" altLang="zh-TW" b="0" i="1" smtClean="0">
                        <a:latin typeface="Cambria Math"/>
                      </a:rPr>
                      <m:t>𝑡</m:t>
                    </m:r>
                    <m:r>
                      <a:rPr lang="en-US" altLang="zh-TW" b="0" i="1" smtClean="0">
                        <a:latin typeface="Cambria Math"/>
                      </a:rPr>
                      <m:t>∗</m:t>
                    </m:r>
                    <m:r>
                      <a:rPr lang="en-US" altLang="zh-TW" b="0" i="1" smtClean="0">
                        <a:latin typeface="Cambria Math"/>
                      </a:rPr>
                      <m:t>𝑉𝑎𝑟</m:t>
                    </m:r>
                    <m:r>
                      <a:rPr lang="en-US" altLang="zh-TW" b="0" i="1" smtClean="0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b="0" i="1" smtClean="0">
                            <a:latin typeface="Cambria Math"/>
                          </a:rPr>
                          <m:t>𝜀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𝑡</m:t>
                        </m:r>
                      </m:sub>
                    </m:sSub>
                    <m:r>
                      <a:rPr lang="en-US" altLang="zh-TW" b="0" i="1" smtClean="0">
                        <a:latin typeface="Cambria Math"/>
                      </a:rPr>
                      <m:t>)</m:t>
                    </m:r>
                  </m:oMath>
                </a14:m>
                <a:endParaRPr lang="en-US" altLang="zh-TW" dirty="0" smtClean="0"/>
              </a:p>
              <a:p>
                <a:pPr marL="400050" lvl="1" indent="0">
                  <a:buNone/>
                </a:pPr>
                <a:r>
                  <a:rPr lang="en-US" altLang="zh-TW" dirty="0"/>
                  <a:t> </a:t>
                </a:r>
                <a:r>
                  <a:rPr lang="en-US" altLang="zh-TW" dirty="0" smtClean="0"/>
                  <a:t>      The </a:t>
                </a:r>
                <a:r>
                  <a:rPr lang="en-US" altLang="zh-TW" dirty="0"/>
                  <a:t>variance depends on the time instant, and </a:t>
                </a:r>
                <a:r>
                  <a:rPr lang="en-US" altLang="zh-TW" dirty="0" smtClean="0"/>
                  <a:t>it  </a:t>
                </a:r>
              </a:p>
              <a:p>
                <a:pPr marL="400050" lvl="1" indent="0">
                  <a:buNone/>
                </a:pPr>
                <a:r>
                  <a:rPr lang="en-US" altLang="zh-TW" dirty="0"/>
                  <a:t> </a:t>
                </a:r>
                <a:r>
                  <a:rPr lang="en-US" altLang="zh-TW" dirty="0" smtClean="0"/>
                  <a:t>      increases linearly </a:t>
                </a:r>
                <a:r>
                  <a:rPr lang="en-US" altLang="zh-TW" dirty="0"/>
                  <a:t>with time t and </a:t>
                </a:r>
                <a:r>
                  <a:rPr lang="en-US" altLang="zh-TW" dirty="0" smtClean="0"/>
                  <a:t>the standard</a:t>
                </a:r>
              </a:p>
              <a:p>
                <a:pPr marL="400050" lvl="1" indent="0">
                  <a:buNone/>
                </a:pPr>
                <a:r>
                  <a:rPr lang="en-US" altLang="zh-TW" dirty="0"/>
                  <a:t> </a:t>
                </a:r>
                <a:r>
                  <a:rPr lang="en-US" altLang="zh-TW" dirty="0" smtClean="0"/>
                  <a:t>      </a:t>
                </a:r>
                <a:r>
                  <a:rPr lang="en-US" altLang="zh-TW" dirty="0"/>
                  <a:t>deviation increases linearly </a:t>
                </a:r>
                <a:r>
                  <a:rPr lang="en-US" altLang="zh-TW" dirty="0" smtClean="0"/>
                  <a:t>with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TW" b="0" i="1" smtClean="0">
                            <a:latin typeface="Cambria Math"/>
                          </a:rPr>
                          <m:t>𝑡</m:t>
                        </m:r>
                      </m:e>
                    </m:rad>
                  </m:oMath>
                </a14:m>
                <a:r>
                  <a:rPr lang="en-US" altLang="zh-TW" dirty="0" smtClean="0"/>
                  <a:t>.</a:t>
                </a:r>
              </a:p>
              <a:p>
                <a:pPr marL="400050" lvl="1" indent="0">
                  <a:buNone/>
                </a:pPr>
                <a:endParaRPr lang="en-US" altLang="zh-TW" dirty="0" smtClean="0"/>
              </a:p>
              <a:p>
                <a:pPr marL="914400" lvl="1" indent="-514350">
                  <a:buFont typeface="+mj-lt"/>
                  <a:buAutoNum type="arabicParenR" startAt="2"/>
                </a:pPr>
                <a:r>
                  <a:rPr lang="en-US" altLang="zh-TW" dirty="0" smtClean="0"/>
                  <a:t>The statistical </a:t>
                </a:r>
                <a:r>
                  <a:rPr lang="en-US" altLang="zh-TW" dirty="0"/>
                  <a:t>parameters like the unconditional mean and variance are not </a:t>
                </a:r>
                <a:r>
                  <a:rPr lang="en-US" altLang="zh-TW" dirty="0" smtClean="0"/>
                  <a:t>time invariant</a:t>
                </a:r>
                <a:r>
                  <a:rPr lang="en-US" altLang="zh-TW" dirty="0"/>
                  <a:t>, or stationary. The series is therefore called a </a:t>
                </a:r>
                <a:r>
                  <a:rPr lang="en-US" altLang="zh-TW" dirty="0" smtClean="0"/>
                  <a:t>non-stationary </a:t>
                </a:r>
                <a:r>
                  <a:rPr lang="en-US" altLang="zh-TW" dirty="0" smtClean="0"/>
                  <a:t>time series.</a:t>
                </a:r>
              </a:p>
              <a:p>
                <a:pPr marL="400050" lvl="1" indent="0">
                  <a:buNone/>
                </a:pPr>
                <a:endParaRPr lang="en-US" altLang="zh-TW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836712"/>
                <a:ext cx="9144000" cy="6021288"/>
              </a:xfrm>
              <a:blipFill rotWithShape="0">
                <a:blip r:embed="rId2"/>
                <a:stretch>
                  <a:fillRect l="-1733" t="-151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727490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1143000"/>
          </a:xfrm>
        </p:spPr>
        <p:txBody>
          <a:bodyPr/>
          <a:lstStyle/>
          <a:p>
            <a:r>
              <a:rPr lang="en-US" altLang="zh-TW" dirty="0"/>
              <a:t>The Random Walk </a:t>
            </a:r>
            <a:r>
              <a:rPr lang="en-US" altLang="zh-TW" dirty="0" smtClean="0"/>
              <a:t>Process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179512" y="908720"/>
                <a:ext cx="8856984" cy="6048672"/>
              </a:xfrm>
            </p:spPr>
            <p:txBody>
              <a:bodyPr>
                <a:normAutofit/>
              </a:bodyPr>
              <a:lstStyle/>
              <a:p>
                <a:pPr marL="971550" lvl="1" indent="-514350">
                  <a:buFont typeface="+mj-lt"/>
                  <a:buAutoNum type="arabicParenR" startAt="3"/>
                </a:pPr>
                <a:r>
                  <a:rPr lang="en-US" altLang="zh-TW" dirty="0" smtClean="0"/>
                  <a:t>The </a:t>
                </a:r>
                <a:r>
                  <a:rPr lang="en-US" altLang="zh-TW" dirty="0"/>
                  <a:t>correlation between a value and its immediate lagging value is 1</a:t>
                </a:r>
                <a:r>
                  <a:rPr lang="en-US" altLang="zh-TW" dirty="0" smtClean="0"/>
                  <a:t>.</a:t>
                </a:r>
              </a:p>
              <a:p>
                <a:pPr marL="971550" lvl="1" indent="-514350">
                  <a:buFont typeface="+mj-lt"/>
                  <a:buAutoNum type="arabicParenR" startAt="3"/>
                </a:pPr>
                <a:r>
                  <a:rPr lang="en-US" altLang="zh-TW" dirty="0"/>
                  <a:t>P</a:t>
                </a:r>
                <a:r>
                  <a:rPr lang="en-US" altLang="zh-TW" dirty="0" smtClean="0"/>
                  <a:t>rediction </a:t>
                </a:r>
                <a:r>
                  <a:rPr lang="en-US" altLang="zh-TW" dirty="0"/>
                  <a:t>for the next time </a:t>
                </a:r>
                <a:r>
                  <a:rPr lang="en-US" altLang="zh-TW" dirty="0" smtClean="0"/>
                  <a:t>step would </a:t>
                </a:r>
                <a:r>
                  <a:rPr lang="en-US" altLang="zh-TW" dirty="0"/>
                  <a:t>then be a value with </a:t>
                </a:r>
                <a:r>
                  <a:rPr lang="en-US" altLang="zh-TW" dirty="0" smtClean="0"/>
                  <a:t>mean equal </a:t>
                </a:r>
                <a:r>
                  <a:rPr lang="en-US" altLang="zh-TW" dirty="0"/>
                  <a:t>to </a:t>
                </a:r>
                <a:r>
                  <a:rPr lang="en-US" altLang="zh-TW" dirty="0" smtClean="0"/>
                  <a:t>the current </a:t>
                </a:r>
                <a:r>
                  <a:rPr lang="en-US" altLang="zh-TW" dirty="0"/>
                  <a:t>time </a:t>
                </a:r>
                <a:r>
                  <a:rPr lang="en-US" altLang="zh-TW" dirty="0" smtClean="0"/>
                  <a:t>step </a:t>
                </a:r>
              </a:p>
              <a:p>
                <a:pPr marL="457200" lvl="1" indent="0">
                  <a:buNone/>
                </a:pPr>
                <a:r>
                  <a:rPr lang="en-US" altLang="zh-TW" dirty="0" smtClean="0"/>
                  <a:t>    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TW" altLang="zh-TW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i="1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𝑡</m:t>
                        </m:r>
                      </m:sub>
                      <m:sup>
                        <m:r>
                          <a:rPr lang="en-US" altLang="zh-TW" i="1">
                            <a:latin typeface="Cambria Math"/>
                          </a:rPr>
                          <m:t>𝑝𝑟𝑒𝑑</m:t>
                        </m:r>
                      </m:sup>
                    </m:sSubSup>
                    <m:r>
                      <a:rPr lang="en-US" altLang="zh-TW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𝑡</m:t>
                        </m:r>
                        <m:r>
                          <a:rPr lang="en-US" altLang="zh-TW" i="1">
                            <a:latin typeface="Cambria Math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zh-TW" altLang="en-US" dirty="0"/>
                  <a:t> 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,and the variance </a:t>
                </a:r>
                <a:r>
                  <a:rPr lang="en-US" altLang="zh-TW" dirty="0"/>
                  <a:t>is equal to the </a:t>
                </a:r>
                <a:r>
                  <a:rPr lang="en-US" altLang="zh-TW" dirty="0" err="1"/>
                  <a:t>the</a:t>
                </a:r>
                <a:r>
                  <a:rPr lang="en-US" altLang="zh-TW" dirty="0"/>
                  <a:t> </a:t>
                </a:r>
                <a:endParaRPr lang="en-US" altLang="zh-TW" dirty="0" smtClean="0"/>
              </a:p>
              <a:p>
                <a:pPr marL="457200" lvl="1" indent="0">
                  <a:buNone/>
                </a:pPr>
                <a:r>
                  <a:rPr lang="en-US" altLang="zh-TW" dirty="0"/>
                  <a:t> </a:t>
                </a:r>
                <a:r>
                  <a:rPr lang="en-US" altLang="zh-TW" dirty="0" smtClean="0"/>
                  <a:t>     white </a:t>
                </a:r>
                <a:r>
                  <a:rPr lang="en-US" altLang="zh-TW" dirty="0"/>
                  <a:t>noise </a:t>
                </a:r>
                <a:r>
                  <a:rPr lang="en-US" altLang="zh-TW" dirty="0" smtClean="0"/>
                  <a:t>realizations</a:t>
                </a:r>
                <a:r>
                  <a:rPr lang="en-US" altLang="zh-TW" dirty="0" smtClean="0"/>
                  <a:t>.</a:t>
                </a:r>
              </a:p>
              <a:p>
                <a:pPr marL="971550" lvl="1" indent="-514350">
                  <a:buFont typeface="+mj-lt"/>
                  <a:buAutoNum type="arabicParenR" startAt="5"/>
                </a:pPr>
                <a:r>
                  <a:rPr lang="en-US" altLang="zh-TW" dirty="0"/>
                  <a:t>Such series where the expected value at the next time step </a:t>
                </a:r>
                <a:r>
                  <a:rPr lang="en-US" altLang="zh-TW" dirty="0" smtClean="0"/>
                  <a:t>is the </a:t>
                </a:r>
                <a:r>
                  <a:rPr lang="en-US" altLang="zh-TW" dirty="0"/>
                  <a:t>value at the current time step are known as martingales. </a:t>
                </a:r>
                <a:endParaRPr lang="en-US" altLang="zh-TW" dirty="0" smtClean="0"/>
              </a:p>
              <a:p>
                <a:pPr marL="457200" lvl="1" indent="0">
                  <a:buNone/>
                </a:pPr>
                <a:r>
                  <a:rPr lang="en-US" altLang="zh-TW" u="sng" dirty="0" smtClean="0"/>
                  <a:t>Note</a:t>
                </a:r>
              </a:p>
              <a:p>
                <a:pPr marL="457200" lvl="1" indent="0">
                  <a:buNone/>
                </a:pPr>
                <a:r>
                  <a:rPr lang="en-US" altLang="zh-TW" b="0" dirty="0" smtClean="0"/>
                  <a:t>      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TW" dirty="0" smtClean="0"/>
                  <a:t>|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TW" b="0" i="1" dirty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     </m:t>
                    </m:r>
                    <m:sSub>
                      <m:sSubPr>
                        <m:ctrlP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𝑖𝑠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𝑚𝑎𝑟𝑡𝑖𝑛𝑔𝑎𝑙𝑒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𝑝𝑟𝑜𝑐𝑒𝑠𝑠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altLang="zh-TW" dirty="0" smtClean="0"/>
                  <a:t>  </a:t>
                </a:r>
              </a:p>
              <a:p>
                <a:pPr marL="457200" lvl="1" indent="0">
                  <a:buNone/>
                </a:pPr>
                <a:r>
                  <a:rPr lang="en-US" altLang="zh-TW" u="sng" dirty="0"/>
                  <a:t> </a:t>
                </a:r>
                <a:r>
                  <a:rPr lang="en-US" altLang="zh-TW" u="sng" dirty="0" smtClean="0"/>
                  <a:t>     </a:t>
                </a:r>
                <a:endParaRPr lang="en-US" altLang="zh-TW" u="sng" dirty="0"/>
              </a:p>
              <a:p>
                <a:pPr marL="457200" lvl="1" indent="0">
                  <a:buNone/>
                </a:pPr>
                <a:endParaRPr lang="zh-TW" altLang="en-US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9512" y="908720"/>
                <a:ext cx="8856984" cy="6048672"/>
              </a:xfrm>
              <a:blipFill rotWithShape="0">
                <a:blip r:embed="rId2"/>
                <a:stretch>
                  <a:fillRect t="-110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295120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983413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10367</TotalTime>
  <Words>818</Words>
  <Application>Microsoft Office PowerPoint</Application>
  <PresentationFormat>如螢幕大小 (4:3)</PresentationFormat>
  <Paragraphs>148</Paragraphs>
  <Slides>24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24</vt:i4>
      </vt:variant>
    </vt:vector>
  </HeadingPairs>
  <TitlesOfParts>
    <vt:vector size="29" baseType="lpstr">
      <vt:lpstr>新細明體</vt:lpstr>
      <vt:lpstr>Arial</vt:lpstr>
      <vt:lpstr>Calibri</vt:lpstr>
      <vt:lpstr>Cambria Math</vt:lpstr>
      <vt:lpstr>Office 佈景主題</vt:lpstr>
      <vt:lpstr>CH2 Time series</vt:lpstr>
      <vt:lpstr>Agenda</vt:lpstr>
      <vt:lpstr>Overview</vt:lpstr>
      <vt:lpstr>Autocorrelation</vt:lpstr>
      <vt:lpstr>Autocorrelation</vt:lpstr>
      <vt:lpstr>Autocorrelation</vt:lpstr>
      <vt:lpstr>Time Series Model- White Noise</vt:lpstr>
      <vt:lpstr>Time Series Model- White Noise</vt:lpstr>
      <vt:lpstr>Time Series Model- White Noise</vt:lpstr>
      <vt:lpstr>Time Series Model- White Noise</vt:lpstr>
      <vt:lpstr>Time Series Model- White Noise</vt:lpstr>
      <vt:lpstr>Time Series Model- White Noise</vt:lpstr>
      <vt:lpstr>Time Series Model- MA</vt:lpstr>
      <vt:lpstr>Time Series Model- MA</vt:lpstr>
      <vt:lpstr>Time Series Model- MA</vt:lpstr>
      <vt:lpstr>Time Series Model- MA</vt:lpstr>
      <vt:lpstr>Time Series Model- AR</vt:lpstr>
      <vt:lpstr>Time Series Model- AR</vt:lpstr>
      <vt:lpstr>Time Series Model- AR</vt:lpstr>
      <vt:lpstr>Time Series Model- ARMA</vt:lpstr>
      <vt:lpstr>The Random Walk Process</vt:lpstr>
      <vt:lpstr>The Random Walk Process</vt:lpstr>
      <vt:lpstr>The Random Walk Process</vt:lpstr>
      <vt:lpstr>PowerPoint 簡報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CH2 Time series</dc:title>
  <dc:creator>沈宣佑</dc:creator>
  <cp:lastModifiedBy>david</cp:lastModifiedBy>
  <cp:revision>53</cp:revision>
  <dcterms:created xsi:type="dcterms:W3CDTF">2014-06-01T17:53:37Z</dcterms:created>
  <dcterms:modified xsi:type="dcterms:W3CDTF">2014-06-24T07:38:48Z</dcterms:modified>
</cp:coreProperties>
</file>