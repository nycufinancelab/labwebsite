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rawings/drawing2.xml" ContentType="application/vnd.openxmlformats-officedocument.drawingml.chartshape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charts/chart3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Default Extension="png" ContentType="image/png"/>
  <Override PartName="/ppt/drawings/drawing3.xml" ContentType="application/vnd.openxmlformats-officedocument.drawingml.chartshape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rawings/drawing1.xml" ContentType="application/vnd.openxmlformats-officedocument.drawingml.chartshape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20" r:id="rId1"/>
  </p:sldMasterIdLst>
  <p:notesMasterIdLst>
    <p:notesMasterId r:id="rId44"/>
  </p:notesMasterIdLst>
  <p:sldIdLst>
    <p:sldId id="256" r:id="rId2"/>
    <p:sldId id="257" r:id="rId3"/>
    <p:sldId id="258" r:id="rId4"/>
    <p:sldId id="272" r:id="rId5"/>
    <p:sldId id="262" r:id="rId6"/>
    <p:sldId id="268" r:id="rId7"/>
    <p:sldId id="269" r:id="rId8"/>
    <p:sldId id="273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60" r:id="rId23"/>
    <p:sldId id="361" r:id="rId24"/>
    <p:sldId id="334" r:id="rId25"/>
    <p:sldId id="320" r:id="rId26"/>
    <p:sldId id="321" r:id="rId27"/>
    <p:sldId id="322" r:id="rId28"/>
    <p:sldId id="323" r:id="rId29"/>
    <p:sldId id="324" r:id="rId30"/>
    <p:sldId id="325" r:id="rId31"/>
    <p:sldId id="311" r:id="rId32"/>
    <p:sldId id="312" r:id="rId33"/>
    <p:sldId id="313" r:id="rId34"/>
    <p:sldId id="314" r:id="rId35"/>
    <p:sldId id="363" r:id="rId36"/>
    <p:sldId id="315" r:id="rId37"/>
    <p:sldId id="329" r:id="rId38"/>
    <p:sldId id="330" r:id="rId39"/>
    <p:sldId id="362" r:id="rId40"/>
    <p:sldId id="317" r:id="rId41"/>
    <p:sldId id="318" r:id="rId42"/>
    <p:sldId id="338" r:id="rId43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672" autoAdjust="0"/>
    <p:restoredTop sz="94660"/>
  </p:normalViewPr>
  <p:slideViewPr>
    <p:cSldViewPr>
      <p:cViewPr varScale="1">
        <p:scale>
          <a:sx n="68" d="100"/>
          <a:sy n="68" d="100"/>
        </p:scale>
        <p:origin x="-66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F:\&#35413;&#20729;&#32080;&#26524;\Embedded%20bond%20option%20&amp;%20caplet.xls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F:\&#35413;&#20729;&#32080;&#26524;\Embedded%20bond%20option%20&amp;%20caplet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Documents%20and%20Settings\George\&#26700;&#38754;\&#30889;&#22763;&#35542;&#25991;\&#35413;&#20729;&#32080;&#26524;\Embedded%20bond%20option%20&amp;%20capl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title>
      <c:layout/>
    </c:title>
    <c:plotArea>
      <c:layout>
        <c:manualLayout>
          <c:layoutTarget val="inner"/>
          <c:xMode val="edge"/>
          <c:yMode val="edge"/>
          <c:x val="0.15006590796681504"/>
          <c:y val="0.15938469339059891"/>
          <c:w val="0.72518302584058902"/>
          <c:h val="0.56220323311858877"/>
        </c:manualLayout>
      </c:layout>
      <c:lineChart>
        <c:grouping val="standard"/>
        <c:ser>
          <c:idx val="0"/>
          <c:order val="0"/>
          <c:tx>
            <c:strRef>
              <c:f>'option value vs. strike price'!$B$1</c:f>
              <c:strCache>
                <c:ptCount val="1"/>
                <c:pt idx="0">
                  <c:v>Embedded Option Value</c:v>
                </c:pt>
              </c:strCache>
            </c:strRef>
          </c:tx>
          <c:cat>
            <c:numRef>
              <c:f>'option value vs. strike price'!$A$2:$A$36</c:f>
              <c:numCache>
                <c:formatCode>General</c:formatCode>
                <c:ptCount val="35"/>
                <c:pt idx="0">
                  <c:v>0.952380952380952</c:v>
                </c:pt>
                <c:pt idx="1">
                  <c:v>0.95248095238095198</c:v>
                </c:pt>
                <c:pt idx="2">
                  <c:v>0.95258095238095197</c:v>
                </c:pt>
                <c:pt idx="3">
                  <c:v>0.95268095238095241</c:v>
                </c:pt>
                <c:pt idx="4">
                  <c:v>0.95278095238095195</c:v>
                </c:pt>
                <c:pt idx="5">
                  <c:v>0.95288095238095205</c:v>
                </c:pt>
                <c:pt idx="6">
                  <c:v>0.95298095238095204</c:v>
                </c:pt>
                <c:pt idx="7">
                  <c:v>0.95308095238095203</c:v>
                </c:pt>
                <c:pt idx="8">
                  <c:v>0.95318095238095202</c:v>
                </c:pt>
                <c:pt idx="9">
                  <c:v>0.95328095238095201</c:v>
                </c:pt>
                <c:pt idx="10">
                  <c:v>0.953380952380952</c:v>
                </c:pt>
                <c:pt idx="11">
                  <c:v>0.95348095238095198</c:v>
                </c:pt>
                <c:pt idx="12">
                  <c:v>0.95358095238095197</c:v>
                </c:pt>
                <c:pt idx="13">
                  <c:v>0.95368095238095241</c:v>
                </c:pt>
                <c:pt idx="14">
                  <c:v>0.95378095238095195</c:v>
                </c:pt>
                <c:pt idx="15">
                  <c:v>0.95388095238095205</c:v>
                </c:pt>
                <c:pt idx="16">
                  <c:v>0.95398095238095204</c:v>
                </c:pt>
                <c:pt idx="17">
                  <c:v>0.95408095238095203</c:v>
                </c:pt>
                <c:pt idx="18">
                  <c:v>0.95418095238095202</c:v>
                </c:pt>
                <c:pt idx="19">
                  <c:v>0.95428095238095201</c:v>
                </c:pt>
                <c:pt idx="20">
                  <c:v>0.954380952380952</c:v>
                </c:pt>
                <c:pt idx="21">
                  <c:v>0.95448095238095199</c:v>
                </c:pt>
                <c:pt idx="22">
                  <c:v>0.95458095238095197</c:v>
                </c:pt>
                <c:pt idx="23">
                  <c:v>0.95468095238095241</c:v>
                </c:pt>
                <c:pt idx="24">
                  <c:v>0.95478095238095195</c:v>
                </c:pt>
                <c:pt idx="25">
                  <c:v>0.95488095238095205</c:v>
                </c:pt>
                <c:pt idx="26">
                  <c:v>0.95498095238095204</c:v>
                </c:pt>
                <c:pt idx="27">
                  <c:v>0.95508095238095203</c:v>
                </c:pt>
                <c:pt idx="28">
                  <c:v>0.95518095238095202</c:v>
                </c:pt>
                <c:pt idx="29">
                  <c:v>0.95528095238095201</c:v>
                </c:pt>
                <c:pt idx="30">
                  <c:v>0.955380952380952</c:v>
                </c:pt>
                <c:pt idx="31">
                  <c:v>0.95548095238095199</c:v>
                </c:pt>
                <c:pt idx="32">
                  <c:v>0.95558095238095198</c:v>
                </c:pt>
                <c:pt idx="33">
                  <c:v>0.95568095238095241</c:v>
                </c:pt>
                <c:pt idx="34">
                  <c:v>0.95578095238095195</c:v>
                </c:pt>
              </c:numCache>
            </c:numRef>
          </c:cat>
          <c:val>
            <c:numRef>
              <c:f>'option value vs. strike price'!$B$2:$B$36</c:f>
              <c:numCache>
                <c:formatCode>0.000000000000_ </c:formatCode>
                <c:ptCount val="35"/>
                <c:pt idx="0">
                  <c:v>2.3422636849789987E-3</c:v>
                </c:pt>
                <c:pt idx="1">
                  <c:v>2.2918203664910029E-3</c:v>
                </c:pt>
                <c:pt idx="2">
                  <c:v>2.241377048003004E-3</c:v>
                </c:pt>
                <c:pt idx="3">
                  <c:v>2.1909337295160018E-3</c:v>
                </c:pt>
                <c:pt idx="4">
                  <c:v>2.1404904110280012E-3</c:v>
                </c:pt>
                <c:pt idx="5">
                  <c:v>2.094992428414E-3</c:v>
                </c:pt>
                <c:pt idx="6">
                  <c:v>2.0547327990560011E-3</c:v>
                </c:pt>
                <c:pt idx="7">
                  <c:v>2.0144731696980001E-3</c:v>
                </c:pt>
                <c:pt idx="8">
                  <c:v>1.9742135403410027E-3</c:v>
                </c:pt>
                <c:pt idx="9">
                  <c:v>1.9339539109830023E-3</c:v>
                </c:pt>
                <c:pt idx="10">
                  <c:v>1.893694281625E-3</c:v>
                </c:pt>
                <c:pt idx="11">
                  <c:v>1.8534346522669999E-3</c:v>
                </c:pt>
                <c:pt idx="12">
                  <c:v>1.8131750229090017E-3</c:v>
                </c:pt>
                <c:pt idx="13">
                  <c:v>1.7729153935510009E-3</c:v>
                </c:pt>
                <c:pt idx="14">
                  <c:v>1.7326557641930023E-3</c:v>
                </c:pt>
                <c:pt idx="15">
                  <c:v>1.6923961348360029E-3</c:v>
                </c:pt>
                <c:pt idx="16">
                  <c:v>1.6521365054780017E-3</c:v>
                </c:pt>
                <c:pt idx="17">
                  <c:v>1.6118768761200009E-3</c:v>
                </c:pt>
                <c:pt idx="18">
                  <c:v>1.5716172467620017E-3</c:v>
                </c:pt>
                <c:pt idx="19">
                  <c:v>1.531357617404E-3</c:v>
                </c:pt>
                <c:pt idx="20">
                  <c:v>1.491097988046001E-3</c:v>
                </c:pt>
                <c:pt idx="21">
                  <c:v>1.450838358688E-3</c:v>
                </c:pt>
                <c:pt idx="22">
                  <c:v>1.4105787293310008E-3</c:v>
                </c:pt>
                <c:pt idx="23">
                  <c:v>1.3784526075340008E-3</c:v>
                </c:pt>
                <c:pt idx="24">
                  <c:v>1.3479849869549999E-3</c:v>
                </c:pt>
                <c:pt idx="25">
                  <c:v>1.3175173663760023E-3</c:v>
                </c:pt>
                <c:pt idx="26">
                  <c:v>1.2870497457970001E-3</c:v>
                </c:pt>
                <c:pt idx="27">
                  <c:v>1.2565821252180018E-3</c:v>
                </c:pt>
                <c:pt idx="28">
                  <c:v>1.2261145046390009E-3</c:v>
                </c:pt>
                <c:pt idx="29">
                  <c:v>1.1956468840600008E-3</c:v>
                </c:pt>
                <c:pt idx="30">
                  <c:v>1.1651792634810015E-3</c:v>
                </c:pt>
                <c:pt idx="31">
                  <c:v>1.1347116429020001E-3</c:v>
                </c:pt>
                <c:pt idx="32">
                  <c:v>1.1042440223230012E-3</c:v>
                </c:pt>
                <c:pt idx="33">
                  <c:v>1.0737764017440001E-3</c:v>
                </c:pt>
                <c:pt idx="34">
                  <c:v>1.043308781165E-3</c:v>
                </c:pt>
              </c:numCache>
            </c:numRef>
          </c:val>
        </c:ser>
        <c:marker val="1"/>
        <c:axId val="209012992"/>
        <c:axId val="213909504"/>
      </c:lineChart>
      <c:catAx>
        <c:axId val="209012992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sz="1800"/>
            </a:pPr>
            <a:endParaRPr lang="zh-TW"/>
          </a:p>
        </c:txPr>
        <c:crossAx val="213909504"/>
        <c:crosses val="autoZero"/>
        <c:lblAlgn val="ctr"/>
        <c:lblOffset val="100"/>
      </c:catAx>
      <c:valAx>
        <c:axId val="213909504"/>
        <c:scaling>
          <c:orientation val="minMax"/>
        </c:scaling>
        <c:axPos val="l"/>
        <c:majorGridlines/>
        <c:numFmt formatCode="0.000000000000_ " sourceLinked="1"/>
        <c:tickLblPos val="nextTo"/>
        <c:txPr>
          <a:bodyPr/>
          <a:lstStyle/>
          <a:p>
            <a:pPr>
              <a:defRPr sz="1800"/>
            </a:pPr>
            <a:endParaRPr lang="zh-TW"/>
          </a:p>
        </c:txPr>
        <c:crossAx val="20901299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4907635525443981"/>
          <c:y val="0.52441690527320373"/>
          <c:w val="0.1390718758457217"/>
          <c:h val="0.14425345979479856"/>
        </c:manualLayout>
      </c:layout>
    </c:legend>
    <c:plotVisOnly val="1"/>
  </c:chart>
  <c:externalData r:id="rId1"/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title>
      <c:layout/>
    </c:title>
    <c:plotArea>
      <c:layout>
        <c:manualLayout>
          <c:layoutTarget val="inner"/>
          <c:xMode val="edge"/>
          <c:yMode val="edge"/>
          <c:x val="0.22231483625979553"/>
          <c:y val="0.13891991544472462"/>
          <c:w val="0.69112401525390965"/>
          <c:h val="0.72412614252364182"/>
        </c:manualLayout>
      </c:layout>
      <c:lineChart>
        <c:grouping val="standard"/>
        <c:ser>
          <c:idx val="0"/>
          <c:order val="0"/>
          <c:tx>
            <c:strRef>
              <c:f>'embedded bond option'!$B$53</c:f>
              <c:strCache>
                <c:ptCount val="1"/>
                <c:pt idx="0">
                  <c:v>Embedded Option Value</c:v>
                </c:pt>
              </c:strCache>
            </c:strRef>
          </c:tx>
          <c:spPr>
            <a:ln>
              <a:solidFill>
                <a:srgbClr val="00B050"/>
              </a:solidFill>
            </a:ln>
          </c:spPr>
          <c:marker>
            <c:spPr>
              <a:ln>
                <a:solidFill>
                  <a:srgbClr val="00B050"/>
                </a:solidFill>
              </a:ln>
            </c:spPr>
          </c:marker>
          <c:cat>
            <c:numRef>
              <c:f>'embedded bond option'!$A$54:$A$74</c:f>
              <c:numCache>
                <c:formatCode>0.00_ </c:formatCode>
                <c:ptCount val="21"/>
                <c:pt idx="0">
                  <c:v>0.1</c:v>
                </c:pt>
                <c:pt idx="1">
                  <c:v>0.11</c:v>
                </c:pt>
                <c:pt idx="2">
                  <c:v>0.12000000000000002</c:v>
                </c:pt>
                <c:pt idx="3">
                  <c:v>0.13</c:v>
                </c:pt>
                <c:pt idx="4">
                  <c:v>0.14000000000000001</c:v>
                </c:pt>
                <c:pt idx="5">
                  <c:v>0.15000000000000011</c:v>
                </c:pt>
                <c:pt idx="6">
                  <c:v>0.16</c:v>
                </c:pt>
                <c:pt idx="7">
                  <c:v>0.17</c:v>
                </c:pt>
                <c:pt idx="8">
                  <c:v>0.1800000000000001</c:v>
                </c:pt>
                <c:pt idx="9">
                  <c:v>0.19</c:v>
                </c:pt>
                <c:pt idx="10">
                  <c:v>0.2</c:v>
                </c:pt>
                <c:pt idx="11">
                  <c:v>0.2100000000000001</c:v>
                </c:pt>
                <c:pt idx="12">
                  <c:v>0.22</c:v>
                </c:pt>
                <c:pt idx="13">
                  <c:v>0.23</c:v>
                </c:pt>
                <c:pt idx="14">
                  <c:v>0.2400000000000001</c:v>
                </c:pt>
                <c:pt idx="15">
                  <c:v>0.25</c:v>
                </c:pt>
                <c:pt idx="16">
                  <c:v>0.26</c:v>
                </c:pt>
                <c:pt idx="17">
                  <c:v>0.27</c:v>
                </c:pt>
                <c:pt idx="18">
                  <c:v>0.28000000000000008</c:v>
                </c:pt>
                <c:pt idx="19">
                  <c:v>0.2900000000000002</c:v>
                </c:pt>
                <c:pt idx="20">
                  <c:v>0.30000000000000021</c:v>
                </c:pt>
              </c:numCache>
            </c:numRef>
          </c:cat>
          <c:val>
            <c:numRef>
              <c:f>'embedded bond option'!$B$54:$B$74</c:f>
              <c:numCache>
                <c:formatCode>0.000000000000_ </c:formatCode>
                <c:ptCount val="21"/>
                <c:pt idx="0">
                  <c:v>2.3422636849789987E-3</c:v>
                </c:pt>
                <c:pt idx="1">
                  <c:v>2.5789654540249998E-3</c:v>
                </c:pt>
                <c:pt idx="2">
                  <c:v>2.8158897956199998E-3</c:v>
                </c:pt>
                <c:pt idx="3">
                  <c:v>3.052980629918E-3</c:v>
                </c:pt>
                <c:pt idx="4">
                  <c:v>3.290182177922004E-3</c:v>
                </c:pt>
                <c:pt idx="5">
                  <c:v>3.527438981811004E-3</c:v>
                </c:pt>
                <c:pt idx="6">
                  <c:v>3.7646959253310021E-3</c:v>
                </c:pt>
                <c:pt idx="7">
                  <c:v>4.0018982542400034E-3</c:v>
                </c:pt>
                <c:pt idx="8">
                  <c:v>4.2389915967520038E-3</c:v>
                </c:pt>
                <c:pt idx="9">
                  <c:v>4.4759219840000081E-3</c:v>
                </c:pt>
                <c:pt idx="10">
                  <c:v>4.7126358704599964E-3</c:v>
                </c:pt>
                <c:pt idx="11">
                  <c:v>4.9490801543330071E-3</c:v>
                </c:pt>
                <c:pt idx="12">
                  <c:v>5.1852021978530081E-3</c:v>
                </c:pt>
                <c:pt idx="13">
                  <c:v>5.4209498475000003E-3</c:v>
                </c:pt>
                <c:pt idx="14">
                  <c:v>5.6562714541000042E-3</c:v>
                </c:pt>
                <c:pt idx="15">
                  <c:v>5.8911158927730002E-3</c:v>
                </c:pt>
                <c:pt idx="16">
                  <c:v>6.1254325827299998E-3</c:v>
                </c:pt>
                <c:pt idx="17">
                  <c:v>6.359171506867E-3</c:v>
                </c:pt>
                <c:pt idx="18">
                  <c:v>6.5922832311589999E-3</c:v>
                </c:pt>
                <c:pt idx="19">
                  <c:v>6.8247189238119996E-3</c:v>
                </c:pt>
                <c:pt idx="20">
                  <c:v>7.0564303741629999E-3</c:v>
                </c:pt>
              </c:numCache>
            </c:numRef>
          </c:val>
        </c:ser>
        <c:marker val="1"/>
        <c:axId val="214373120"/>
        <c:axId val="214375040"/>
      </c:lineChart>
      <c:catAx>
        <c:axId val="214373120"/>
        <c:scaling>
          <c:orientation val="minMax"/>
        </c:scaling>
        <c:axPos val="b"/>
        <c:numFmt formatCode="0.00_ " sourceLinked="1"/>
        <c:tickLblPos val="nextTo"/>
        <c:txPr>
          <a:bodyPr/>
          <a:lstStyle/>
          <a:p>
            <a:pPr>
              <a:defRPr sz="1800"/>
            </a:pPr>
            <a:endParaRPr lang="zh-TW"/>
          </a:p>
        </c:txPr>
        <c:crossAx val="214375040"/>
        <c:crosses val="autoZero"/>
        <c:auto val="1"/>
        <c:lblAlgn val="ctr"/>
        <c:lblOffset val="100"/>
      </c:catAx>
      <c:valAx>
        <c:axId val="214375040"/>
        <c:scaling>
          <c:orientation val="minMax"/>
        </c:scaling>
        <c:axPos val="l"/>
        <c:majorGridlines/>
        <c:numFmt formatCode="0.000000000000_ " sourceLinked="1"/>
        <c:tickLblPos val="nextTo"/>
        <c:txPr>
          <a:bodyPr/>
          <a:lstStyle/>
          <a:p>
            <a:pPr>
              <a:defRPr sz="1800">
                <a:latin typeface="Times New Roman" pitchFamily="18" charset="0"/>
                <a:cs typeface="Times New Roman" pitchFamily="18" charset="0"/>
              </a:defRPr>
            </a:pPr>
            <a:endParaRPr lang="zh-TW"/>
          </a:p>
        </c:txPr>
        <c:crossAx val="214373120"/>
        <c:crosses val="autoZero"/>
        <c:crossBetween val="between"/>
      </c:valAx>
      <c:spPr>
        <a:ln>
          <a:solidFill>
            <a:srgbClr val="00B050"/>
          </a:solidFill>
        </a:ln>
      </c:spPr>
    </c:plotArea>
    <c:legend>
      <c:legendPos val="r"/>
      <c:layout>
        <c:manualLayout>
          <c:xMode val="edge"/>
          <c:yMode val="edge"/>
          <c:x val="0.87499036903988192"/>
          <c:y val="0.52159485089489521"/>
          <c:w val="0.11461999412771726"/>
          <c:h val="0.14426173905963954"/>
        </c:manualLayout>
      </c:layout>
    </c:legend>
    <c:plotVisOnly val="1"/>
  </c:chart>
  <c:externalData r:id="rId1"/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title>
      <c:tx>
        <c:rich>
          <a:bodyPr/>
          <a:lstStyle/>
          <a:p>
            <a:pPr>
              <a:defRPr/>
            </a:pPr>
            <a:r>
              <a:rPr lang="en-US" altLang="zh-TW"/>
              <a:t>RMSE</a:t>
            </a:r>
            <a:r>
              <a:rPr lang="en-US" altLang="zh-TW" baseline="0"/>
              <a:t> vs. Volatility</a:t>
            </a:r>
            <a:endParaRPr lang="zh-TW" altLang="en-US"/>
          </a:p>
        </c:rich>
      </c:tx>
      <c:layout/>
    </c:title>
    <c:plotArea>
      <c:layout>
        <c:manualLayout>
          <c:layoutTarget val="inner"/>
          <c:xMode val="edge"/>
          <c:yMode val="edge"/>
          <c:x val="0.22216630738075907"/>
          <c:y val="0.10092148735243352"/>
          <c:w val="0.70328968242858636"/>
          <c:h val="0.75306347202618706"/>
        </c:manualLayout>
      </c:layout>
      <c:lineChart>
        <c:grouping val="standard"/>
        <c:ser>
          <c:idx val="0"/>
          <c:order val="0"/>
          <c:tx>
            <c:v>RMSE with 10% volatility</c:v>
          </c:tx>
          <c:cat>
            <c:numRef>
              <c:f>'stage vs. RMSE'!$A$3:$A$28</c:f>
              <c:numCache>
                <c:formatCode>General</c:formatCode>
                <c:ptCount val="2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</c:numCache>
            </c:numRef>
          </c:cat>
          <c:val>
            <c:numRef>
              <c:f>'stage vs. RMSE'!$B$3:$B$28</c:f>
              <c:numCache>
                <c:formatCode>0.000000000000_);[Red]\(0.000000000000\)</c:formatCode>
                <c:ptCount val="26"/>
                <c:pt idx="0">
                  <c:v>6.3671226540112713E-6</c:v>
                </c:pt>
                <c:pt idx="1">
                  <c:v>4.5602110683367505E-6</c:v>
                </c:pt>
                <c:pt idx="2">
                  <c:v>5.8209748656704304E-6</c:v>
                </c:pt>
                <c:pt idx="3">
                  <c:v>4.2251333388011407E-6</c:v>
                </c:pt>
                <c:pt idx="4">
                  <c:v>5.395156980193502E-6</c:v>
                </c:pt>
                <c:pt idx="5">
                  <c:v>4.0027925012899223E-6</c:v>
                </c:pt>
                <c:pt idx="6">
                  <c:v>5.0586253185540018E-6</c:v>
                </c:pt>
                <c:pt idx="7">
                  <c:v>3.8593805615430921E-6</c:v>
                </c:pt>
                <c:pt idx="8">
                  <c:v>4.7901505769866398E-6</c:v>
                </c:pt>
                <c:pt idx="9">
                  <c:v>3.6449543812056018E-6</c:v>
                </c:pt>
                <c:pt idx="10">
                  <c:v>4.5752453915305432E-6</c:v>
                </c:pt>
                <c:pt idx="11">
                  <c:v>3.4321203303688011E-6</c:v>
                </c:pt>
                <c:pt idx="12">
                  <c:v>4.4038860988861232E-6</c:v>
                </c:pt>
                <c:pt idx="13">
                  <c:v>3.2705679933495513E-6</c:v>
                </c:pt>
                <c:pt idx="14">
                  <c:v>4.2689906269497211E-6</c:v>
                </c:pt>
                <c:pt idx="15">
                  <c:v>3.1476493253524718E-6</c:v>
                </c:pt>
                <c:pt idx="16">
                  <c:v>4.1654005455309217E-6</c:v>
                </c:pt>
                <c:pt idx="17">
                  <c:v>3.054482016111551E-6</c:v>
                </c:pt>
                <c:pt idx="18">
                  <c:v>4.0892027570864206E-6</c:v>
                </c:pt>
                <c:pt idx="19">
                  <c:v>2.9848978818369319E-6</c:v>
                </c:pt>
                <c:pt idx="20">
                  <c:v>3.9569096218616716E-6</c:v>
                </c:pt>
                <c:pt idx="21">
                  <c:v>2.8377297870089414E-6</c:v>
                </c:pt>
                <c:pt idx="22">
                  <c:v>3.6535193161798319E-6</c:v>
                </c:pt>
                <c:pt idx="23">
                  <c:v>2.6907536438347906E-6</c:v>
                </c:pt>
                <c:pt idx="24">
                  <c:v>3.3935895738654413E-6</c:v>
                </c:pt>
                <c:pt idx="25">
                  <c:v>2.5690186101798402E-6</c:v>
                </c:pt>
              </c:numCache>
            </c:numRef>
          </c:val>
        </c:ser>
        <c:ser>
          <c:idx val="1"/>
          <c:order val="1"/>
          <c:tx>
            <c:v>RMSE with 20% volatility</c:v>
          </c:tx>
          <c:cat>
            <c:numRef>
              <c:f>'stage vs. RMSE'!$A$3:$A$28</c:f>
              <c:numCache>
                <c:formatCode>General</c:formatCode>
                <c:ptCount val="2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</c:numCache>
            </c:numRef>
          </c:cat>
          <c:val>
            <c:numRef>
              <c:f>'stage vs. RMSE'!$B$31:$B$56</c:f>
              <c:numCache>
                <c:formatCode>0.000000000000_);[Red]\(0.000000000000\)</c:formatCode>
                <c:ptCount val="26"/>
                <c:pt idx="0">
                  <c:v>1.2004535510570602E-5</c:v>
                </c:pt>
                <c:pt idx="1">
                  <c:v>1.11316479348802E-5</c:v>
                </c:pt>
                <c:pt idx="2">
                  <c:v>1.0156422044186402E-5</c:v>
                </c:pt>
                <c:pt idx="3">
                  <c:v>9.8687362144710066E-6</c:v>
                </c:pt>
                <c:pt idx="4">
                  <c:v>9.001544244269908E-6</c:v>
                </c:pt>
                <c:pt idx="5">
                  <c:v>9.1289273406275003E-6</c:v>
                </c:pt>
                <c:pt idx="6">
                  <c:v>8.409655311810704E-6</c:v>
                </c:pt>
                <c:pt idx="7">
                  <c:v>8.7949602580129021E-6</c:v>
                </c:pt>
                <c:pt idx="8">
                  <c:v>7.7013364201077035E-6</c:v>
                </c:pt>
                <c:pt idx="9">
                  <c:v>8.3399110789345019E-6</c:v>
                </c:pt>
                <c:pt idx="10">
                  <c:v>7.4862452871844034E-6</c:v>
                </c:pt>
                <c:pt idx="11">
                  <c:v>8.0395913201208021E-6</c:v>
                </c:pt>
                <c:pt idx="12">
                  <c:v>7.0140971148063032E-6</c:v>
                </c:pt>
                <c:pt idx="13">
                  <c:v>7.6237419509459023E-6</c:v>
                </c:pt>
                <c:pt idx="14">
                  <c:v>6.2679617453499021E-6</c:v>
                </c:pt>
                <c:pt idx="15">
                  <c:v>7.4991520353710037E-6</c:v>
                </c:pt>
                <c:pt idx="16">
                  <c:v>5.8258877057017026E-6</c:v>
                </c:pt>
                <c:pt idx="17">
                  <c:v>7.5810194415164026E-6</c:v>
                </c:pt>
                <c:pt idx="18">
                  <c:v>5.6074795802361013E-6</c:v>
                </c:pt>
                <c:pt idx="19">
                  <c:v>7.8144329344764022E-6</c:v>
                </c:pt>
                <c:pt idx="20">
                  <c:v>5.4045366066962015E-6</c:v>
                </c:pt>
                <c:pt idx="21">
                  <c:v>7.2303898448939029E-6</c:v>
                </c:pt>
                <c:pt idx="22">
                  <c:v>4.9549304137633019E-6</c:v>
                </c:pt>
                <c:pt idx="23">
                  <c:v>6.573848296533604E-6</c:v>
                </c:pt>
                <c:pt idx="24">
                  <c:v>4.6830225818045021E-6</c:v>
                </c:pt>
                <c:pt idx="25">
                  <c:v>6.091101958803302E-6</c:v>
                </c:pt>
              </c:numCache>
            </c:numRef>
          </c:val>
        </c:ser>
        <c:marker val="1"/>
        <c:axId val="214395520"/>
        <c:axId val="214413696"/>
      </c:lineChart>
      <c:catAx>
        <c:axId val="214395520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/>
          <a:lstStyle/>
          <a:p>
            <a:pPr>
              <a:defRPr sz="1600"/>
            </a:pPr>
            <a:endParaRPr lang="zh-TW"/>
          </a:p>
        </c:txPr>
        <c:crossAx val="214413696"/>
        <c:crosses val="autoZero"/>
        <c:auto val="1"/>
        <c:lblAlgn val="ctr"/>
        <c:lblOffset val="100"/>
      </c:catAx>
      <c:valAx>
        <c:axId val="214413696"/>
        <c:scaling>
          <c:orientation val="minMax"/>
        </c:scaling>
        <c:axPos val="l"/>
        <c:majorGridlines/>
        <c:numFmt formatCode="0.000000000000_);[Red]\(0.000000000000\)" sourceLinked="1"/>
        <c:maj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1600"/>
            </a:pPr>
            <a:endParaRPr lang="zh-TW"/>
          </a:p>
        </c:txPr>
        <c:crossAx val="214395520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23280035368664673"/>
          <c:y val="0.94215538829773349"/>
          <c:w val="0.6736575771998099"/>
          <c:h val="4.7857166000155396E-2"/>
        </c:manualLayout>
      </c:layout>
      <c:txPr>
        <a:bodyPr/>
        <a:lstStyle/>
        <a:p>
          <a:pPr>
            <a:defRPr sz="1600"/>
          </a:pPr>
          <a:endParaRPr lang="zh-TW"/>
        </a:p>
      </c:txPr>
    </c:legend>
    <c:plotVisOnly val="1"/>
  </c:chart>
  <c:externalData r:id="rId1"/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4AE7D2-B310-4B3C-9E71-5D24C548DC26}" type="doc">
      <dgm:prSet loTypeId="urn:microsoft.com/office/officeart/2005/8/layout/orgChart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EAAEBB4D-B8A3-4512-9F89-C899CD71F4AC}">
      <dgm:prSet phldrT="[文字]" custT="1"/>
      <dgm:spPr/>
      <dgm:t>
        <a:bodyPr/>
        <a:lstStyle/>
        <a:p>
          <a:r>
            <a:rPr lang="en-US" altLang="zh-TW" sz="1700" dirty="0" smtClean="0"/>
            <a:t>HSS recombining nodes methodology</a:t>
          </a:r>
          <a:endParaRPr lang="zh-TW" altLang="en-US" sz="1700" dirty="0"/>
        </a:p>
      </dgm:t>
    </dgm:pt>
    <dgm:pt modelId="{44281508-D28C-4366-9408-6D06B242BAE5}" type="parTrans" cxnId="{16170E89-326A-4F9A-8481-135D70E1C0D2}">
      <dgm:prSet/>
      <dgm:spPr/>
      <dgm:t>
        <a:bodyPr/>
        <a:lstStyle/>
        <a:p>
          <a:endParaRPr lang="zh-TW" altLang="en-US"/>
        </a:p>
      </dgm:t>
    </dgm:pt>
    <dgm:pt modelId="{F58222FF-B38A-4500-83D7-651FFB27115F}" type="sibTrans" cxnId="{16170E89-326A-4F9A-8481-135D70E1C0D2}">
      <dgm:prSet/>
      <dgm:spPr/>
      <dgm:t>
        <a:bodyPr/>
        <a:lstStyle/>
        <a:p>
          <a:endParaRPr lang="zh-TW" altLang="en-US"/>
        </a:p>
      </dgm:t>
    </dgm:pt>
    <dgm:pt modelId="{DFEE5C2D-28C4-45A3-AB2D-976924F23342}">
      <dgm:prSet phldrT="[文字]" custT="1"/>
      <dgm:spPr/>
      <dgm:t>
        <a:bodyPr/>
        <a:lstStyle/>
        <a:p>
          <a:r>
            <a:rPr lang="en-US" altLang="zh-TW" sz="1600" dirty="0" smtClean="0"/>
            <a:t>conditional prob.</a:t>
          </a:r>
        </a:p>
        <a:p>
          <a:endParaRPr lang="zh-TW" altLang="en-US" sz="1600" dirty="0"/>
        </a:p>
      </dgm:t>
    </dgm:pt>
    <dgm:pt modelId="{82C9ABC1-191D-4CE6-893B-A8371B8EA388}" type="parTrans" cxnId="{518BD2E1-9B60-4834-9541-7430652FAD53}">
      <dgm:prSet/>
      <dgm:spPr/>
      <dgm:t>
        <a:bodyPr/>
        <a:lstStyle/>
        <a:p>
          <a:endParaRPr lang="zh-TW" altLang="en-US"/>
        </a:p>
      </dgm:t>
    </dgm:pt>
    <dgm:pt modelId="{83872BD2-EA94-4D29-BCE0-6311D156571B}" type="sibTrans" cxnId="{518BD2E1-9B60-4834-9541-7430652FAD53}">
      <dgm:prSet/>
      <dgm:spPr/>
      <dgm:t>
        <a:bodyPr/>
        <a:lstStyle/>
        <a:p>
          <a:endParaRPr lang="zh-TW" altLang="en-US"/>
        </a:p>
      </dgm:t>
    </dgm:pt>
    <dgm:pt modelId="{988A5207-A82C-4B4E-9A94-49841CB9310B}">
      <dgm:prSet phldrT="[文字]" custT="1"/>
      <dgm:spPr/>
      <dgm:t>
        <a:bodyPr/>
        <a:lstStyle/>
        <a:p>
          <a:r>
            <a:rPr lang="en-US" altLang="zh-TW" sz="1600" dirty="0" smtClean="0"/>
            <a:t>down movement</a:t>
          </a:r>
        </a:p>
        <a:p>
          <a:endParaRPr lang="zh-TW" altLang="en-US" sz="1600" dirty="0"/>
        </a:p>
      </dgm:t>
    </dgm:pt>
    <dgm:pt modelId="{7F89499C-6C78-4DE5-A0A0-BCA6A2FAF167}" type="parTrans" cxnId="{66597F4E-4370-4A6E-AC69-FF8785B8B6A5}">
      <dgm:prSet/>
      <dgm:spPr/>
      <dgm:t>
        <a:bodyPr/>
        <a:lstStyle/>
        <a:p>
          <a:endParaRPr lang="zh-TW" altLang="en-US"/>
        </a:p>
      </dgm:t>
    </dgm:pt>
    <dgm:pt modelId="{D5624290-5519-4CED-A1D3-CA6861200AD0}" type="sibTrans" cxnId="{66597F4E-4370-4A6E-AC69-FF8785B8B6A5}">
      <dgm:prSet/>
      <dgm:spPr/>
      <dgm:t>
        <a:bodyPr/>
        <a:lstStyle/>
        <a:p>
          <a:endParaRPr lang="zh-TW" altLang="en-US"/>
        </a:p>
      </dgm:t>
    </dgm:pt>
    <dgm:pt modelId="{4F2F23AA-DFF2-4B77-BACA-2EF572B616EB}">
      <dgm:prSet phldrT="[文字]" custT="1"/>
      <dgm:spPr/>
      <dgm:t>
        <a:bodyPr/>
        <a:lstStyle/>
        <a:p>
          <a:r>
            <a:rPr lang="en-US" altLang="zh-TW" sz="1600" dirty="0" smtClean="0"/>
            <a:t>up movement</a:t>
          </a:r>
        </a:p>
        <a:p>
          <a:endParaRPr lang="zh-TW" altLang="en-US" sz="1600" dirty="0"/>
        </a:p>
      </dgm:t>
    </dgm:pt>
    <dgm:pt modelId="{54D56A9E-7132-48AA-BCE8-DAC698252038}" type="parTrans" cxnId="{75D7757F-7A7C-4753-B239-413FC7535C4B}">
      <dgm:prSet/>
      <dgm:spPr/>
      <dgm:t>
        <a:bodyPr/>
        <a:lstStyle/>
        <a:p>
          <a:endParaRPr lang="zh-TW" altLang="en-US"/>
        </a:p>
      </dgm:t>
    </dgm:pt>
    <dgm:pt modelId="{CC9156F0-D6B2-4D04-A4C6-D97695685CE7}" type="sibTrans" cxnId="{75D7757F-7A7C-4753-B239-413FC7535C4B}">
      <dgm:prSet/>
      <dgm:spPr/>
      <dgm:t>
        <a:bodyPr/>
        <a:lstStyle/>
        <a:p>
          <a:endParaRPr lang="zh-TW" altLang="en-US"/>
        </a:p>
      </dgm:t>
    </dgm:pt>
    <dgm:pt modelId="{CF8DAC37-8150-4AE1-9A66-DCFB5AE08C71}" type="asst">
      <dgm:prSet phldrT="[文字]" custT="1"/>
      <dgm:spPr/>
      <dgm:t>
        <a:bodyPr/>
        <a:lstStyle/>
        <a:p>
          <a:r>
            <a:rPr lang="en-US" altLang="zh-TW" sz="1600" dirty="0" smtClean="0"/>
            <a:t>forward rate binomial tree</a:t>
          </a:r>
          <a:endParaRPr lang="zh-TW" altLang="en-US" sz="1600" dirty="0"/>
        </a:p>
      </dgm:t>
    </dgm:pt>
    <dgm:pt modelId="{6E97D4A0-80FB-4421-9EE6-FA5DE4E0653A}" type="parTrans" cxnId="{C79131FF-634A-4809-B2A8-A180A6F095CA}">
      <dgm:prSet/>
      <dgm:spPr/>
      <dgm:t>
        <a:bodyPr/>
        <a:lstStyle/>
        <a:p>
          <a:endParaRPr lang="zh-TW" altLang="en-US"/>
        </a:p>
      </dgm:t>
    </dgm:pt>
    <dgm:pt modelId="{EAA3B06D-5720-4AFA-8DC2-91FF47E2C8AC}" type="sibTrans" cxnId="{C79131FF-634A-4809-B2A8-A180A6F095CA}">
      <dgm:prSet/>
      <dgm:spPr/>
      <dgm:t>
        <a:bodyPr/>
        <a:lstStyle/>
        <a:p>
          <a:endParaRPr lang="zh-TW" altLang="en-US"/>
        </a:p>
      </dgm:t>
    </dgm:pt>
    <dgm:pt modelId="{BB4B9CB1-21A2-4FB5-B1AB-63CFF2482D77}" type="asst">
      <dgm:prSet phldrT="[文字]"/>
      <dgm:spPr/>
      <dgm:t>
        <a:bodyPr/>
        <a:lstStyle/>
        <a:p>
          <a:r>
            <a:rPr lang="en-US" altLang="zh-TW" dirty="0" smtClean="0"/>
            <a:t>drift of the discrete time forward rate</a:t>
          </a:r>
          <a:endParaRPr lang="zh-TW" altLang="en-US" dirty="0"/>
        </a:p>
      </dgm:t>
    </dgm:pt>
    <dgm:pt modelId="{A0C3112F-1F1E-49DC-ACAF-E5BFAF4FC7C7}" type="parTrans" cxnId="{0DFC7E2B-5FF8-43BF-BA49-A0F64668186A}">
      <dgm:prSet/>
      <dgm:spPr/>
      <dgm:t>
        <a:bodyPr/>
        <a:lstStyle/>
        <a:p>
          <a:endParaRPr lang="zh-TW" altLang="en-US"/>
        </a:p>
      </dgm:t>
    </dgm:pt>
    <dgm:pt modelId="{7173FBAA-F5DD-433D-A1F3-A1AFEC3793D3}" type="sibTrans" cxnId="{0DFC7E2B-5FF8-43BF-BA49-A0F64668186A}">
      <dgm:prSet/>
      <dgm:spPr/>
      <dgm:t>
        <a:bodyPr/>
        <a:lstStyle/>
        <a:p>
          <a:endParaRPr lang="zh-TW" altLang="en-US"/>
        </a:p>
      </dgm:t>
    </dgm:pt>
    <dgm:pt modelId="{F6CBFC12-88E5-428A-8120-3AAEF0482125}" type="asst">
      <dgm:prSet phldrT="[文字]"/>
      <dgm:spPr/>
      <dgm:t>
        <a:bodyPr/>
        <a:lstStyle/>
        <a:p>
          <a:r>
            <a:rPr lang="en-US" altLang="zh-TW" dirty="0" err="1" smtClean="0"/>
            <a:t>Poon</a:t>
          </a:r>
          <a:r>
            <a:rPr lang="en-US" altLang="zh-TW" dirty="0" smtClean="0"/>
            <a:t> and Stapleton text (2005)</a:t>
          </a:r>
          <a:endParaRPr lang="zh-TW" altLang="en-US" dirty="0"/>
        </a:p>
      </dgm:t>
    </dgm:pt>
    <dgm:pt modelId="{DF4F7FA4-1F2D-4AB9-987C-0E23D4C49A21}" type="parTrans" cxnId="{8098D860-895D-4AEA-BB07-9D48B3284923}">
      <dgm:prSet/>
      <dgm:spPr/>
      <dgm:t>
        <a:bodyPr/>
        <a:lstStyle/>
        <a:p>
          <a:endParaRPr lang="zh-TW" altLang="en-US"/>
        </a:p>
      </dgm:t>
    </dgm:pt>
    <dgm:pt modelId="{F328E81F-4BE3-4FD2-8333-0E13925B1AE7}" type="sibTrans" cxnId="{8098D860-895D-4AEA-BB07-9D48B3284923}">
      <dgm:prSet/>
      <dgm:spPr/>
      <dgm:t>
        <a:bodyPr/>
        <a:lstStyle/>
        <a:p>
          <a:endParaRPr lang="zh-TW" altLang="en-US"/>
        </a:p>
      </dgm:t>
    </dgm:pt>
    <dgm:pt modelId="{625A0CF1-4037-4739-9FD1-C4C0D1DCE5B9}" type="pres">
      <dgm:prSet presAssocID="{534AE7D2-B310-4B3C-9E71-5D24C548DC26}" presName="hierChild1" presStyleCnt="0">
        <dgm:presLayoutVars>
          <dgm:orgChart val="1"/>
          <dgm:chPref val="1"/>
          <dgm:dir val="rev"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77B2CBAC-16CE-42C7-9F09-56A12D3786F2}" type="pres">
      <dgm:prSet presAssocID="{EAAEBB4D-B8A3-4512-9F89-C899CD71F4AC}" presName="hierRoot1" presStyleCnt="0">
        <dgm:presLayoutVars>
          <dgm:hierBranch val="init"/>
        </dgm:presLayoutVars>
      </dgm:prSet>
      <dgm:spPr/>
    </dgm:pt>
    <dgm:pt modelId="{52AEAC61-C9ED-49E5-9071-5ED8EF7AABA0}" type="pres">
      <dgm:prSet presAssocID="{EAAEBB4D-B8A3-4512-9F89-C899CD71F4AC}" presName="rootComposite1" presStyleCnt="0"/>
      <dgm:spPr/>
    </dgm:pt>
    <dgm:pt modelId="{78CA342B-CCBA-4D52-BF40-4B4745E0CB60}" type="pres">
      <dgm:prSet presAssocID="{EAAEBB4D-B8A3-4512-9F89-C899CD71F4AC}" presName="rootText1" presStyleLbl="node0" presStyleIdx="0" presStyleCnt="4" custScaleX="138021" custScaleY="213534" custLinFactX="-37359" custLinFactY="-100000" custLinFactNeighborX="-100000" custLinFactNeighborY="-177619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2ABBF66C-6B5C-4478-9326-8E9AE14D9072}" type="pres">
      <dgm:prSet presAssocID="{EAAEBB4D-B8A3-4512-9F89-C899CD71F4AC}" presName="rootConnector1" presStyleLbl="node1" presStyleIdx="0" presStyleCnt="0"/>
      <dgm:spPr/>
      <dgm:t>
        <a:bodyPr/>
        <a:lstStyle/>
        <a:p>
          <a:endParaRPr lang="zh-TW" altLang="en-US"/>
        </a:p>
      </dgm:t>
    </dgm:pt>
    <dgm:pt modelId="{F1740C23-0360-4AA8-8906-877DB582E6F0}" type="pres">
      <dgm:prSet presAssocID="{EAAEBB4D-B8A3-4512-9F89-C899CD71F4AC}" presName="hierChild2" presStyleCnt="0"/>
      <dgm:spPr/>
    </dgm:pt>
    <dgm:pt modelId="{46B5C3E9-3141-4CB7-A2A4-39F39F944AC4}" type="pres">
      <dgm:prSet presAssocID="{82C9ABC1-191D-4CE6-893B-A8371B8EA388}" presName="Name37" presStyleLbl="parChTrans1D2" presStyleIdx="0" presStyleCnt="3"/>
      <dgm:spPr/>
      <dgm:t>
        <a:bodyPr/>
        <a:lstStyle/>
        <a:p>
          <a:endParaRPr lang="zh-TW" altLang="en-US"/>
        </a:p>
      </dgm:t>
    </dgm:pt>
    <dgm:pt modelId="{E2074977-9474-41C5-B9F8-A7EE541D36F2}" type="pres">
      <dgm:prSet presAssocID="{DFEE5C2D-28C4-45A3-AB2D-976924F23342}" presName="hierRoot2" presStyleCnt="0">
        <dgm:presLayoutVars>
          <dgm:hierBranch val="init"/>
        </dgm:presLayoutVars>
      </dgm:prSet>
      <dgm:spPr/>
    </dgm:pt>
    <dgm:pt modelId="{D1814228-9689-4059-B909-BAE1EBE87C6A}" type="pres">
      <dgm:prSet presAssocID="{DFEE5C2D-28C4-45A3-AB2D-976924F23342}" presName="rootComposite" presStyleCnt="0"/>
      <dgm:spPr/>
    </dgm:pt>
    <dgm:pt modelId="{5F0C0824-DA39-45F9-A965-8FCFF49BF059}" type="pres">
      <dgm:prSet presAssocID="{DFEE5C2D-28C4-45A3-AB2D-976924F23342}" presName="rootText" presStyleLbl="node2" presStyleIdx="0" presStyleCnt="3" custScaleX="185607" custScaleY="151299" custLinFactNeighborX="-65017" custLinFactNeighborY="-809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66DC0DD4-D587-4CC1-BE27-8FF66A1431ED}" type="pres">
      <dgm:prSet presAssocID="{DFEE5C2D-28C4-45A3-AB2D-976924F23342}" presName="rootConnector" presStyleLbl="node2" presStyleIdx="0" presStyleCnt="3"/>
      <dgm:spPr/>
      <dgm:t>
        <a:bodyPr/>
        <a:lstStyle/>
        <a:p>
          <a:endParaRPr lang="zh-TW" altLang="en-US"/>
        </a:p>
      </dgm:t>
    </dgm:pt>
    <dgm:pt modelId="{45A5F1D5-1263-45DF-8CD5-082AF59551F1}" type="pres">
      <dgm:prSet presAssocID="{DFEE5C2D-28C4-45A3-AB2D-976924F23342}" presName="hierChild4" presStyleCnt="0"/>
      <dgm:spPr/>
    </dgm:pt>
    <dgm:pt modelId="{72E942E4-699E-475A-9F4A-A0FC69B51179}" type="pres">
      <dgm:prSet presAssocID="{DFEE5C2D-28C4-45A3-AB2D-976924F23342}" presName="hierChild5" presStyleCnt="0"/>
      <dgm:spPr/>
    </dgm:pt>
    <dgm:pt modelId="{DA16CB65-6C2F-40BA-A8F8-DEA1F65C3FA7}" type="pres">
      <dgm:prSet presAssocID="{7F89499C-6C78-4DE5-A0A0-BCA6A2FAF167}" presName="Name37" presStyleLbl="parChTrans1D2" presStyleIdx="1" presStyleCnt="3"/>
      <dgm:spPr/>
      <dgm:t>
        <a:bodyPr/>
        <a:lstStyle/>
        <a:p>
          <a:endParaRPr lang="zh-TW" altLang="en-US"/>
        </a:p>
      </dgm:t>
    </dgm:pt>
    <dgm:pt modelId="{28B76385-B348-423C-BF30-395ECA1BCC73}" type="pres">
      <dgm:prSet presAssocID="{988A5207-A82C-4B4E-9A94-49841CB9310B}" presName="hierRoot2" presStyleCnt="0">
        <dgm:presLayoutVars>
          <dgm:hierBranch val="init"/>
        </dgm:presLayoutVars>
      </dgm:prSet>
      <dgm:spPr/>
    </dgm:pt>
    <dgm:pt modelId="{0CE71D9C-30F0-4D0B-82AC-5001596AACE8}" type="pres">
      <dgm:prSet presAssocID="{988A5207-A82C-4B4E-9A94-49841CB9310B}" presName="rootComposite" presStyleCnt="0"/>
      <dgm:spPr/>
    </dgm:pt>
    <dgm:pt modelId="{D6BAD3A2-6456-4CBF-97CB-271B6AB84EB3}" type="pres">
      <dgm:prSet presAssocID="{988A5207-A82C-4B4E-9A94-49841CB9310B}" presName="rootText" presStyleLbl="node2" presStyleIdx="1" presStyleCnt="3" custScaleX="116905" custScaleY="177704" custLinFactX="-39892" custLinFactNeighborX="-100000" custLinFactNeighborY="52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23D2665A-D962-40A9-867F-1D4DED0B8F12}" type="pres">
      <dgm:prSet presAssocID="{988A5207-A82C-4B4E-9A94-49841CB9310B}" presName="rootConnector" presStyleLbl="node2" presStyleIdx="1" presStyleCnt="3"/>
      <dgm:spPr/>
      <dgm:t>
        <a:bodyPr/>
        <a:lstStyle/>
        <a:p>
          <a:endParaRPr lang="zh-TW" altLang="en-US"/>
        </a:p>
      </dgm:t>
    </dgm:pt>
    <dgm:pt modelId="{59F1CC38-E742-4E23-B7FA-DF7C302AA06F}" type="pres">
      <dgm:prSet presAssocID="{988A5207-A82C-4B4E-9A94-49841CB9310B}" presName="hierChild4" presStyleCnt="0"/>
      <dgm:spPr/>
    </dgm:pt>
    <dgm:pt modelId="{61C52BC1-F892-44B4-823D-6690A795C072}" type="pres">
      <dgm:prSet presAssocID="{988A5207-A82C-4B4E-9A94-49841CB9310B}" presName="hierChild5" presStyleCnt="0"/>
      <dgm:spPr/>
    </dgm:pt>
    <dgm:pt modelId="{8BBEB81B-AAA3-4274-AD89-89EF7E33EA5D}" type="pres">
      <dgm:prSet presAssocID="{54D56A9E-7132-48AA-BCE8-DAC698252038}" presName="Name37" presStyleLbl="parChTrans1D2" presStyleIdx="2" presStyleCnt="3"/>
      <dgm:spPr/>
      <dgm:t>
        <a:bodyPr/>
        <a:lstStyle/>
        <a:p>
          <a:endParaRPr lang="zh-TW" altLang="en-US"/>
        </a:p>
      </dgm:t>
    </dgm:pt>
    <dgm:pt modelId="{66F6282F-4CBA-44F6-95C1-53B47383B379}" type="pres">
      <dgm:prSet presAssocID="{4F2F23AA-DFF2-4B77-BACA-2EF572B616EB}" presName="hierRoot2" presStyleCnt="0">
        <dgm:presLayoutVars>
          <dgm:hierBranch val="init"/>
        </dgm:presLayoutVars>
      </dgm:prSet>
      <dgm:spPr/>
    </dgm:pt>
    <dgm:pt modelId="{79D8CA6D-F458-4F57-B572-71DECF91E712}" type="pres">
      <dgm:prSet presAssocID="{4F2F23AA-DFF2-4B77-BACA-2EF572B616EB}" presName="rootComposite" presStyleCnt="0"/>
      <dgm:spPr/>
    </dgm:pt>
    <dgm:pt modelId="{4ADDA1A1-CE47-4F70-AC7D-21DB3C3CCF7C}" type="pres">
      <dgm:prSet presAssocID="{4F2F23AA-DFF2-4B77-BACA-2EF572B616EB}" presName="rootText" presStyleLbl="node2" presStyleIdx="2" presStyleCnt="3" custScaleX="109426" custScaleY="156865" custLinFactX="-100000" custLinFactNeighborX="-105389" custLinFactNeighborY="-2446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50FA9D81-4CFA-4586-B4AA-C9A547663A74}" type="pres">
      <dgm:prSet presAssocID="{4F2F23AA-DFF2-4B77-BACA-2EF572B616EB}" presName="rootConnector" presStyleLbl="node2" presStyleIdx="2" presStyleCnt="3"/>
      <dgm:spPr/>
      <dgm:t>
        <a:bodyPr/>
        <a:lstStyle/>
        <a:p>
          <a:endParaRPr lang="zh-TW" altLang="en-US"/>
        </a:p>
      </dgm:t>
    </dgm:pt>
    <dgm:pt modelId="{1F1DF31C-83AB-4DA6-B8EF-60786273B681}" type="pres">
      <dgm:prSet presAssocID="{4F2F23AA-DFF2-4B77-BACA-2EF572B616EB}" presName="hierChild4" presStyleCnt="0"/>
      <dgm:spPr/>
    </dgm:pt>
    <dgm:pt modelId="{428C4EBF-2476-4970-8A54-E1ECFB84527B}" type="pres">
      <dgm:prSet presAssocID="{4F2F23AA-DFF2-4B77-BACA-2EF572B616EB}" presName="hierChild5" presStyleCnt="0"/>
      <dgm:spPr/>
    </dgm:pt>
    <dgm:pt modelId="{36469570-1B84-4EF8-82A0-F83EDA96E3F2}" type="pres">
      <dgm:prSet presAssocID="{EAAEBB4D-B8A3-4512-9F89-C899CD71F4AC}" presName="hierChild3" presStyleCnt="0"/>
      <dgm:spPr/>
    </dgm:pt>
    <dgm:pt modelId="{869A975A-AE74-4F7D-A30D-FCCBC5C427A9}" type="pres">
      <dgm:prSet presAssocID="{CF8DAC37-8150-4AE1-9A66-DCFB5AE08C71}" presName="hierRoot1" presStyleCnt="0">
        <dgm:presLayoutVars>
          <dgm:hierBranch val="init"/>
        </dgm:presLayoutVars>
      </dgm:prSet>
      <dgm:spPr/>
    </dgm:pt>
    <dgm:pt modelId="{71335B81-A9C1-4EAC-B34E-ACFAB3DFFB5A}" type="pres">
      <dgm:prSet presAssocID="{CF8DAC37-8150-4AE1-9A66-DCFB5AE08C71}" presName="rootComposite1" presStyleCnt="0"/>
      <dgm:spPr/>
    </dgm:pt>
    <dgm:pt modelId="{F7CB9BBA-4350-4C85-A74D-3B9D19612185}" type="pres">
      <dgm:prSet presAssocID="{CF8DAC37-8150-4AE1-9A66-DCFB5AE08C71}" presName="rootText1" presStyleLbl="node0" presStyleIdx="1" presStyleCnt="4" custScaleX="145945" custScaleY="132374" custLinFactNeighborX="20396" custLinFactNeighborY="9358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95D20092-7B3B-4B48-A8AE-D951CE4BF775}" type="pres">
      <dgm:prSet presAssocID="{CF8DAC37-8150-4AE1-9A66-DCFB5AE08C71}" presName="rootConnector1" presStyleLbl="asst0" presStyleIdx="0" presStyleCnt="0"/>
      <dgm:spPr/>
      <dgm:t>
        <a:bodyPr/>
        <a:lstStyle/>
        <a:p>
          <a:endParaRPr lang="zh-TW" altLang="en-US"/>
        </a:p>
      </dgm:t>
    </dgm:pt>
    <dgm:pt modelId="{96240C12-CCE6-42FC-9893-46A52C6E66F7}" type="pres">
      <dgm:prSet presAssocID="{CF8DAC37-8150-4AE1-9A66-DCFB5AE08C71}" presName="hierChild2" presStyleCnt="0"/>
      <dgm:spPr/>
    </dgm:pt>
    <dgm:pt modelId="{310CB056-350F-483E-9CCE-6957FCEF3E9D}" type="pres">
      <dgm:prSet presAssocID="{CF8DAC37-8150-4AE1-9A66-DCFB5AE08C71}" presName="hierChild3" presStyleCnt="0"/>
      <dgm:spPr/>
    </dgm:pt>
    <dgm:pt modelId="{BCC560C7-DD40-4EEE-8DA7-A30B61EEEA22}" type="pres">
      <dgm:prSet presAssocID="{BB4B9CB1-21A2-4FB5-B1AB-63CFF2482D77}" presName="hierRoot1" presStyleCnt="0">
        <dgm:presLayoutVars>
          <dgm:hierBranch val="init"/>
        </dgm:presLayoutVars>
      </dgm:prSet>
      <dgm:spPr/>
    </dgm:pt>
    <dgm:pt modelId="{B31532AC-0623-4E76-8624-30D8CCD4D1C5}" type="pres">
      <dgm:prSet presAssocID="{BB4B9CB1-21A2-4FB5-B1AB-63CFF2482D77}" presName="rootComposite1" presStyleCnt="0"/>
      <dgm:spPr/>
    </dgm:pt>
    <dgm:pt modelId="{C72B98A1-7EC8-4842-9553-3A79CE08FDD1}" type="pres">
      <dgm:prSet presAssocID="{BB4B9CB1-21A2-4FB5-B1AB-63CFF2482D77}" presName="rootText1" presStyleLbl="node0" presStyleIdx="2" presStyleCnt="4" custScaleX="148236" custScaleY="159131" custLinFactX="100000" custLinFactY="248043" custLinFactNeighborX="117934" custLinFactNeighborY="30000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5B7B5A07-EF78-49E6-A0DB-4C68A6C7E7FF}" type="pres">
      <dgm:prSet presAssocID="{BB4B9CB1-21A2-4FB5-B1AB-63CFF2482D77}" presName="rootConnector1" presStyleLbl="asst0" presStyleIdx="0" presStyleCnt="0"/>
      <dgm:spPr/>
      <dgm:t>
        <a:bodyPr/>
        <a:lstStyle/>
        <a:p>
          <a:endParaRPr lang="zh-TW" altLang="en-US"/>
        </a:p>
      </dgm:t>
    </dgm:pt>
    <dgm:pt modelId="{B1290096-A95B-4303-9B6D-5D8BCF8CD7C8}" type="pres">
      <dgm:prSet presAssocID="{BB4B9CB1-21A2-4FB5-B1AB-63CFF2482D77}" presName="hierChild2" presStyleCnt="0"/>
      <dgm:spPr/>
    </dgm:pt>
    <dgm:pt modelId="{F894983A-279F-4031-8206-A7AE8046A5E2}" type="pres">
      <dgm:prSet presAssocID="{BB4B9CB1-21A2-4FB5-B1AB-63CFF2482D77}" presName="hierChild3" presStyleCnt="0"/>
      <dgm:spPr/>
    </dgm:pt>
    <dgm:pt modelId="{51253B86-058B-4F84-8EC9-A67D44FC8EFA}" type="pres">
      <dgm:prSet presAssocID="{F6CBFC12-88E5-428A-8120-3AAEF0482125}" presName="hierRoot1" presStyleCnt="0">
        <dgm:presLayoutVars>
          <dgm:hierBranch val="init"/>
        </dgm:presLayoutVars>
      </dgm:prSet>
      <dgm:spPr/>
    </dgm:pt>
    <dgm:pt modelId="{7AF14E8D-E1B8-4043-A272-65CAB10FF3F4}" type="pres">
      <dgm:prSet presAssocID="{F6CBFC12-88E5-428A-8120-3AAEF0482125}" presName="rootComposite1" presStyleCnt="0"/>
      <dgm:spPr/>
    </dgm:pt>
    <dgm:pt modelId="{D3B48468-2F7A-4DC1-89B6-20B38577A125}" type="pres">
      <dgm:prSet presAssocID="{F6CBFC12-88E5-428A-8120-3AAEF0482125}" presName="rootText1" presStyleLbl="node0" presStyleIdx="3" presStyleCnt="4" custScaleX="115034" custScaleY="147951" custLinFactY="248043" custLinFactNeighborX="90336" custLinFactNeighborY="30000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632F0AD7-A854-4C3C-849B-828E437CE539}" type="pres">
      <dgm:prSet presAssocID="{F6CBFC12-88E5-428A-8120-3AAEF0482125}" presName="rootConnector1" presStyleLbl="asst0" presStyleIdx="0" presStyleCnt="0"/>
      <dgm:spPr/>
      <dgm:t>
        <a:bodyPr/>
        <a:lstStyle/>
        <a:p>
          <a:endParaRPr lang="zh-TW" altLang="en-US"/>
        </a:p>
      </dgm:t>
    </dgm:pt>
    <dgm:pt modelId="{FDC8FB9A-30B6-48BB-BCE2-A55B820177A9}" type="pres">
      <dgm:prSet presAssocID="{F6CBFC12-88E5-428A-8120-3AAEF0482125}" presName="hierChild2" presStyleCnt="0"/>
      <dgm:spPr/>
    </dgm:pt>
    <dgm:pt modelId="{C884CD63-1CC7-4154-A944-A271B7C8FF08}" type="pres">
      <dgm:prSet presAssocID="{F6CBFC12-88E5-428A-8120-3AAEF0482125}" presName="hierChild3" presStyleCnt="0"/>
      <dgm:spPr/>
    </dgm:pt>
  </dgm:ptLst>
  <dgm:cxnLst>
    <dgm:cxn modelId="{8098D860-895D-4AEA-BB07-9D48B3284923}" srcId="{534AE7D2-B310-4B3C-9E71-5D24C548DC26}" destId="{F6CBFC12-88E5-428A-8120-3AAEF0482125}" srcOrd="3" destOrd="0" parTransId="{DF4F7FA4-1F2D-4AB9-987C-0E23D4C49A21}" sibTransId="{F328E81F-4BE3-4FD2-8333-0E13925B1AE7}"/>
    <dgm:cxn modelId="{0DFC7E2B-5FF8-43BF-BA49-A0F64668186A}" srcId="{534AE7D2-B310-4B3C-9E71-5D24C548DC26}" destId="{BB4B9CB1-21A2-4FB5-B1AB-63CFF2482D77}" srcOrd="2" destOrd="0" parTransId="{A0C3112F-1F1E-49DC-ACAF-E5BFAF4FC7C7}" sibTransId="{7173FBAA-F5DD-433D-A1F3-A1AFEC3793D3}"/>
    <dgm:cxn modelId="{7FB248E8-142A-4A5B-8035-F824EFDB6FDA}" type="presOf" srcId="{7F89499C-6C78-4DE5-A0A0-BCA6A2FAF167}" destId="{DA16CB65-6C2F-40BA-A8F8-DEA1F65C3FA7}" srcOrd="0" destOrd="0" presId="urn:microsoft.com/office/officeart/2005/8/layout/orgChart1"/>
    <dgm:cxn modelId="{66597F4E-4370-4A6E-AC69-FF8785B8B6A5}" srcId="{EAAEBB4D-B8A3-4512-9F89-C899CD71F4AC}" destId="{988A5207-A82C-4B4E-9A94-49841CB9310B}" srcOrd="1" destOrd="0" parTransId="{7F89499C-6C78-4DE5-A0A0-BCA6A2FAF167}" sibTransId="{D5624290-5519-4CED-A1D3-CA6861200AD0}"/>
    <dgm:cxn modelId="{1C4DCAD3-1A7C-496F-9337-05A65647031A}" type="presOf" srcId="{BB4B9CB1-21A2-4FB5-B1AB-63CFF2482D77}" destId="{5B7B5A07-EF78-49E6-A0DB-4C68A6C7E7FF}" srcOrd="1" destOrd="0" presId="urn:microsoft.com/office/officeart/2005/8/layout/orgChart1"/>
    <dgm:cxn modelId="{46B4F3CC-2184-485C-98EE-33E70CF5D49D}" type="presOf" srcId="{CF8DAC37-8150-4AE1-9A66-DCFB5AE08C71}" destId="{95D20092-7B3B-4B48-A8AE-D951CE4BF775}" srcOrd="1" destOrd="0" presId="urn:microsoft.com/office/officeart/2005/8/layout/orgChart1"/>
    <dgm:cxn modelId="{E4B2A527-4D47-40C5-BF39-07DCF5776AA3}" type="presOf" srcId="{DFEE5C2D-28C4-45A3-AB2D-976924F23342}" destId="{5F0C0824-DA39-45F9-A965-8FCFF49BF059}" srcOrd="0" destOrd="0" presId="urn:microsoft.com/office/officeart/2005/8/layout/orgChart1"/>
    <dgm:cxn modelId="{518BD2E1-9B60-4834-9541-7430652FAD53}" srcId="{EAAEBB4D-B8A3-4512-9F89-C899CD71F4AC}" destId="{DFEE5C2D-28C4-45A3-AB2D-976924F23342}" srcOrd="0" destOrd="0" parTransId="{82C9ABC1-191D-4CE6-893B-A8371B8EA388}" sibTransId="{83872BD2-EA94-4D29-BCE0-6311D156571B}"/>
    <dgm:cxn modelId="{DF6D8A74-F486-4B31-B3E9-5617B9A138BD}" type="presOf" srcId="{F6CBFC12-88E5-428A-8120-3AAEF0482125}" destId="{632F0AD7-A854-4C3C-849B-828E437CE539}" srcOrd="1" destOrd="0" presId="urn:microsoft.com/office/officeart/2005/8/layout/orgChart1"/>
    <dgm:cxn modelId="{4F19B5C3-3BBD-4E8E-A189-4932E62F84AE}" type="presOf" srcId="{54D56A9E-7132-48AA-BCE8-DAC698252038}" destId="{8BBEB81B-AAA3-4274-AD89-89EF7E33EA5D}" srcOrd="0" destOrd="0" presId="urn:microsoft.com/office/officeart/2005/8/layout/orgChart1"/>
    <dgm:cxn modelId="{16170E89-326A-4F9A-8481-135D70E1C0D2}" srcId="{534AE7D2-B310-4B3C-9E71-5D24C548DC26}" destId="{EAAEBB4D-B8A3-4512-9F89-C899CD71F4AC}" srcOrd="0" destOrd="0" parTransId="{44281508-D28C-4366-9408-6D06B242BAE5}" sibTransId="{F58222FF-B38A-4500-83D7-651FFB27115F}"/>
    <dgm:cxn modelId="{C79131FF-634A-4809-B2A8-A180A6F095CA}" srcId="{534AE7D2-B310-4B3C-9E71-5D24C548DC26}" destId="{CF8DAC37-8150-4AE1-9A66-DCFB5AE08C71}" srcOrd="1" destOrd="0" parTransId="{6E97D4A0-80FB-4421-9EE6-FA5DE4E0653A}" sibTransId="{EAA3B06D-5720-4AFA-8DC2-91FF47E2C8AC}"/>
    <dgm:cxn modelId="{2866E9B7-7A45-49EC-8BA8-AF9790934E06}" type="presOf" srcId="{F6CBFC12-88E5-428A-8120-3AAEF0482125}" destId="{D3B48468-2F7A-4DC1-89B6-20B38577A125}" srcOrd="0" destOrd="0" presId="urn:microsoft.com/office/officeart/2005/8/layout/orgChart1"/>
    <dgm:cxn modelId="{FECE7902-9C1D-43B8-9935-0BBA81836D57}" type="presOf" srcId="{BB4B9CB1-21A2-4FB5-B1AB-63CFF2482D77}" destId="{C72B98A1-7EC8-4842-9553-3A79CE08FDD1}" srcOrd="0" destOrd="0" presId="urn:microsoft.com/office/officeart/2005/8/layout/orgChart1"/>
    <dgm:cxn modelId="{69D94D9B-CDC7-4E13-85A2-3DE352BCE500}" type="presOf" srcId="{534AE7D2-B310-4B3C-9E71-5D24C548DC26}" destId="{625A0CF1-4037-4739-9FD1-C4C0D1DCE5B9}" srcOrd="0" destOrd="0" presId="urn:microsoft.com/office/officeart/2005/8/layout/orgChart1"/>
    <dgm:cxn modelId="{75D7757F-7A7C-4753-B239-413FC7535C4B}" srcId="{EAAEBB4D-B8A3-4512-9F89-C899CD71F4AC}" destId="{4F2F23AA-DFF2-4B77-BACA-2EF572B616EB}" srcOrd="2" destOrd="0" parTransId="{54D56A9E-7132-48AA-BCE8-DAC698252038}" sibTransId="{CC9156F0-D6B2-4D04-A4C6-D97695685CE7}"/>
    <dgm:cxn modelId="{4CE01DBD-A0CF-43B8-B37F-57A1356F4C9B}" type="presOf" srcId="{EAAEBB4D-B8A3-4512-9F89-C899CD71F4AC}" destId="{78CA342B-CCBA-4D52-BF40-4B4745E0CB60}" srcOrd="0" destOrd="0" presId="urn:microsoft.com/office/officeart/2005/8/layout/orgChart1"/>
    <dgm:cxn modelId="{C170FDF3-F054-4F91-B37B-5EC2EC1AB5E7}" type="presOf" srcId="{DFEE5C2D-28C4-45A3-AB2D-976924F23342}" destId="{66DC0DD4-D587-4CC1-BE27-8FF66A1431ED}" srcOrd="1" destOrd="0" presId="urn:microsoft.com/office/officeart/2005/8/layout/orgChart1"/>
    <dgm:cxn modelId="{F0CE697F-28B1-4E73-8E88-CEC00BA3CDED}" type="presOf" srcId="{CF8DAC37-8150-4AE1-9A66-DCFB5AE08C71}" destId="{F7CB9BBA-4350-4C85-A74D-3B9D19612185}" srcOrd="0" destOrd="0" presId="urn:microsoft.com/office/officeart/2005/8/layout/orgChart1"/>
    <dgm:cxn modelId="{19F60718-40CF-42B8-851D-1D1C5701F395}" type="presOf" srcId="{82C9ABC1-191D-4CE6-893B-A8371B8EA388}" destId="{46B5C3E9-3141-4CB7-A2A4-39F39F944AC4}" srcOrd="0" destOrd="0" presId="urn:microsoft.com/office/officeart/2005/8/layout/orgChart1"/>
    <dgm:cxn modelId="{3A504680-6E82-4F17-BE0B-41D77B0C8902}" type="presOf" srcId="{988A5207-A82C-4B4E-9A94-49841CB9310B}" destId="{23D2665A-D962-40A9-867F-1D4DED0B8F12}" srcOrd="1" destOrd="0" presId="urn:microsoft.com/office/officeart/2005/8/layout/orgChart1"/>
    <dgm:cxn modelId="{C8A1E11E-59CF-4A44-9D03-D4E6548EB788}" type="presOf" srcId="{4F2F23AA-DFF2-4B77-BACA-2EF572B616EB}" destId="{50FA9D81-4CFA-4586-B4AA-C9A547663A74}" srcOrd="1" destOrd="0" presId="urn:microsoft.com/office/officeart/2005/8/layout/orgChart1"/>
    <dgm:cxn modelId="{C8B213B6-0A2D-48A8-B81B-30EADBC41409}" type="presOf" srcId="{4F2F23AA-DFF2-4B77-BACA-2EF572B616EB}" destId="{4ADDA1A1-CE47-4F70-AC7D-21DB3C3CCF7C}" srcOrd="0" destOrd="0" presId="urn:microsoft.com/office/officeart/2005/8/layout/orgChart1"/>
    <dgm:cxn modelId="{356BA5CD-EEB7-43F8-B977-DF6C794346A1}" type="presOf" srcId="{988A5207-A82C-4B4E-9A94-49841CB9310B}" destId="{D6BAD3A2-6456-4CBF-97CB-271B6AB84EB3}" srcOrd="0" destOrd="0" presId="urn:microsoft.com/office/officeart/2005/8/layout/orgChart1"/>
    <dgm:cxn modelId="{DD353B88-9496-4066-AB0C-ECC74E46F808}" type="presOf" srcId="{EAAEBB4D-B8A3-4512-9F89-C899CD71F4AC}" destId="{2ABBF66C-6B5C-4478-9326-8E9AE14D9072}" srcOrd="1" destOrd="0" presId="urn:microsoft.com/office/officeart/2005/8/layout/orgChart1"/>
    <dgm:cxn modelId="{D73E74C3-C6C8-405A-B1E0-ACF94C6D8A2F}" type="presParOf" srcId="{625A0CF1-4037-4739-9FD1-C4C0D1DCE5B9}" destId="{77B2CBAC-16CE-42C7-9F09-56A12D3786F2}" srcOrd="0" destOrd="0" presId="urn:microsoft.com/office/officeart/2005/8/layout/orgChart1"/>
    <dgm:cxn modelId="{1B577943-4962-409A-BD7E-5CCFD9CAB60F}" type="presParOf" srcId="{77B2CBAC-16CE-42C7-9F09-56A12D3786F2}" destId="{52AEAC61-C9ED-49E5-9071-5ED8EF7AABA0}" srcOrd="0" destOrd="0" presId="urn:microsoft.com/office/officeart/2005/8/layout/orgChart1"/>
    <dgm:cxn modelId="{05919916-3655-4297-B8AD-E5EC1E852B20}" type="presParOf" srcId="{52AEAC61-C9ED-49E5-9071-5ED8EF7AABA0}" destId="{78CA342B-CCBA-4D52-BF40-4B4745E0CB60}" srcOrd="0" destOrd="0" presId="urn:microsoft.com/office/officeart/2005/8/layout/orgChart1"/>
    <dgm:cxn modelId="{CB823E9E-FE2C-4D99-AC3C-122862A0E8DD}" type="presParOf" srcId="{52AEAC61-C9ED-49E5-9071-5ED8EF7AABA0}" destId="{2ABBF66C-6B5C-4478-9326-8E9AE14D9072}" srcOrd="1" destOrd="0" presId="urn:microsoft.com/office/officeart/2005/8/layout/orgChart1"/>
    <dgm:cxn modelId="{30DEEC4F-45B4-4BBC-8BC6-101814D4E8A3}" type="presParOf" srcId="{77B2CBAC-16CE-42C7-9F09-56A12D3786F2}" destId="{F1740C23-0360-4AA8-8906-877DB582E6F0}" srcOrd="1" destOrd="0" presId="urn:microsoft.com/office/officeart/2005/8/layout/orgChart1"/>
    <dgm:cxn modelId="{15EE30B5-EABB-4178-9CCC-5BEC876627E3}" type="presParOf" srcId="{F1740C23-0360-4AA8-8906-877DB582E6F0}" destId="{46B5C3E9-3141-4CB7-A2A4-39F39F944AC4}" srcOrd="0" destOrd="0" presId="urn:microsoft.com/office/officeart/2005/8/layout/orgChart1"/>
    <dgm:cxn modelId="{01FD2AF7-D1B3-42F9-92E0-D7F348D06757}" type="presParOf" srcId="{F1740C23-0360-4AA8-8906-877DB582E6F0}" destId="{E2074977-9474-41C5-B9F8-A7EE541D36F2}" srcOrd="1" destOrd="0" presId="urn:microsoft.com/office/officeart/2005/8/layout/orgChart1"/>
    <dgm:cxn modelId="{3287A7F5-794B-42CB-896A-A7999BEDF345}" type="presParOf" srcId="{E2074977-9474-41C5-B9F8-A7EE541D36F2}" destId="{D1814228-9689-4059-B909-BAE1EBE87C6A}" srcOrd="0" destOrd="0" presId="urn:microsoft.com/office/officeart/2005/8/layout/orgChart1"/>
    <dgm:cxn modelId="{AB724639-E25F-46F3-9D55-EC1EF0653FE1}" type="presParOf" srcId="{D1814228-9689-4059-B909-BAE1EBE87C6A}" destId="{5F0C0824-DA39-45F9-A965-8FCFF49BF059}" srcOrd="0" destOrd="0" presId="urn:microsoft.com/office/officeart/2005/8/layout/orgChart1"/>
    <dgm:cxn modelId="{BCEAD8BA-AAD0-4772-B7E7-3EC3ABE899A1}" type="presParOf" srcId="{D1814228-9689-4059-B909-BAE1EBE87C6A}" destId="{66DC0DD4-D587-4CC1-BE27-8FF66A1431ED}" srcOrd="1" destOrd="0" presId="urn:microsoft.com/office/officeart/2005/8/layout/orgChart1"/>
    <dgm:cxn modelId="{7DC6311B-5E6A-48DF-8FD2-C436484F7146}" type="presParOf" srcId="{E2074977-9474-41C5-B9F8-A7EE541D36F2}" destId="{45A5F1D5-1263-45DF-8CD5-082AF59551F1}" srcOrd="1" destOrd="0" presId="urn:microsoft.com/office/officeart/2005/8/layout/orgChart1"/>
    <dgm:cxn modelId="{347CBD92-FEA5-4B4F-9FB6-EDFA6DDE0C31}" type="presParOf" srcId="{E2074977-9474-41C5-B9F8-A7EE541D36F2}" destId="{72E942E4-699E-475A-9F4A-A0FC69B51179}" srcOrd="2" destOrd="0" presId="urn:microsoft.com/office/officeart/2005/8/layout/orgChart1"/>
    <dgm:cxn modelId="{8CA14807-74F2-4975-AD0D-FDB9CAE414C2}" type="presParOf" srcId="{F1740C23-0360-4AA8-8906-877DB582E6F0}" destId="{DA16CB65-6C2F-40BA-A8F8-DEA1F65C3FA7}" srcOrd="2" destOrd="0" presId="urn:microsoft.com/office/officeart/2005/8/layout/orgChart1"/>
    <dgm:cxn modelId="{BE35B3EC-B017-4914-904F-57ED5B9D40FF}" type="presParOf" srcId="{F1740C23-0360-4AA8-8906-877DB582E6F0}" destId="{28B76385-B348-423C-BF30-395ECA1BCC73}" srcOrd="3" destOrd="0" presId="urn:microsoft.com/office/officeart/2005/8/layout/orgChart1"/>
    <dgm:cxn modelId="{7CE02631-6BB6-421D-BFDA-5306F806BC39}" type="presParOf" srcId="{28B76385-B348-423C-BF30-395ECA1BCC73}" destId="{0CE71D9C-30F0-4D0B-82AC-5001596AACE8}" srcOrd="0" destOrd="0" presId="urn:microsoft.com/office/officeart/2005/8/layout/orgChart1"/>
    <dgm:cxn modelId="{47FABD50-AE86-40FF-B077-C1F9AF031EFF}" type="presParOf" srcId="{0CE71D9C-30F0-4D0B-82AC-5001596AACE8}" destId="{D6BAD3A2-6456-4CBF-97CB-271B6AB84EB3}" srcOrd="0" destOrd="0" presId="urn:microsoft.com/office/officeart/2005/8/layout/orgChart1"/>
    <dgm:cxn modelId="{1D064BC0-9E75-451A-98AD-10E8C54256F2}" type="presParOf" srcId="{0CE71D9C-30F0-4D0B-82AC-5001596AACE8}" destId="{23D2665A-D962-40A9-867F-1D4DED0B8F12}" srcOrd="1" destOrd="0" presId="urn:microsoft.com/office/officeart/2005/8/layout/orgChart1"/>
    <dgm:cxn modelId="{943A7E03-EEC2-4B87-8169-19578987582A}" type="presParOf" srcId="{28B76385-B348-423C-BF30-395ECA1BCC73}" destId="{59F1CC38-E742-4E23-B7FA-DF7C302AA06F}" srcOrd="1" destOrd="0" presId="urn:microsoft.com/office/officeart/2005/8/layout/orgChart1"/>
    <dgm:cxn modelId="{C81F837D-7F6C-4262-A7B4-5BB6CD673531}" type="presParOf" srcId="{28B76385-B348-423C-BF30-395ECA1BCC73}" destId="{61C52BC1-F892-44B4-823D-6690A795C072}" srcOrd="2" destOrd="0" presId="urn:microsoft.com/office/officeart/2005/8/layout/orgChart1"/>
    <dgm:cxn modelId="{F0B07BAE-361F-4CAF-B5CB-ADF513C2D37F}" type="presParOf" srcId="{F1740C23-0360-4AA8-8906-877DB582E6F0}" destId="{8BBEB81B-AAA3-4274-AD89-89EF7E33EA5D}" srcOrd="4" destOrd="0" presId="urn:microsoft.com/office/officeart/2005/8/layout/orgChart1"/>
    <dgm:cxn modelId="{6C3CF7D2-672D-40D4-981C-E6930F264660}" type="presParOf" srcId="{F1740C23-0360-4AA8-8906-877DB582E6F0}" destId="{66F6282F-4CBA-44F6-95C1-53B47383B379}" srcOrd="5" destOrd="0" presId="urn:microsoft.com/office/officeart/2005/8/layout/orgChart1"/>
    <dgm:cxn modelId="{FE815EB7-978D-488D-9E98-B7481D793B74}" type="presParOf" srcId="{66F6282F-4CBA-44F6-95C1-53B47383B379}" destId="{79D8CA6D-F458-4F57-B572-71DECF91E712}" srcOrd="0" destOrd="0" presId="urn:microsoft.com/office/officeart/2005/8/layout/orgChart1"/>
    <dgm:cxn modelId="{63E285C0-EB3A-4666-A22C-BD79C36E46BE}" type="presParOf" srcId="{79D8CA6D-F458-4F57-B572-71DECF91E712}" destId="{4ADDA1A1-CE47-4F70-AC7D-21DB3C3CCF7C}" srcOrd="0" destOrd="0" presId="urn:microsoft.com/office/officeart/2005/8/layout/orgChart1"/>
    <dgm:cxn modelId="{E8E6FA73-E193-49C0-86CB-17094D462CBB}" type="presParOf" srcId="{79D8CA6D-F458-4F57-B572-71DECF91E712}" destId="{50FA9D81-4CFA-4586-B4AA-C9A547663A74}" srcOrd="1" destOrd="0" presId="urn:microsoft.com/office/officeart/2005/8/layout/orgChart1"/>
    <dgm:cxn modelId="{6DBE6594-E469-4B34-9DFC-FB57443345F9}" type="presParOf" srcId="{66F6282F-4CBA-44F6-95C1-53B47383B379}" destId="{1F1DF31C-83AB-4DA6-B8EF-60786273B681}" srcOrd="1" destOrd="0" presId="urn:microsoft.com/office/officeart/2005/8/layout/orgChart1"/>
    <dgm:cxn modelId="{A4B81344-B919-4FE4-99DD-DC2CA91DFF77}" type="presParOf" srcId="{66F6282F-4CBA-44F6-95C1-53B47383B379}" destId="{428C4EBF-2476-4970-8A54-E1ECFB84527B}" srcOrd="2" destOrd="0" presId="urn:microsoft.com/office/officeart/2005/8/layout/orgChart1"/>
    <dgm:cxn modelId="{80B79026-C80D-4996-B472-E220FF9AF8BD}" type="presParOf" srcId="{77B2CBAC-16CE-42C7-9F09-56A12D3786F2}" destId="{36469570-1B84-4EF8-82A0-F83EDA96E3F2}" srcOrd="2" destOrd="0" presId="urn:microsoft.com/office/officeart/2005/8/layout/orgChart1"/>
    <dgm:cxn modelId="{84735A44-4531-4E92-B8CE-13D2B86B20FA}" type="presParOf" srcId="{625A0CF1-4037-4739-9FD1-C4C0D1DCE5B9}" destId="{869A975A-AE74-4F7D-A30D-FCCBC5C427A9}" srcOrd="1" destOrd="0" presId="urn:microsoft.com/office/officeart/2005/8/layout/orgChart1"/>
    <dgm:cxn modelId="{5ECC4E7F-D6EA-48A7-AC5F-74910DBA0F42}" type="presParOf" srcId="{869A975A-AE74-4F7D-A30D-FCCBC5C427A9}" destId="{71335B81-A9C1-4EAC-B34E-ACFAB3DFFB5A}" srcOrd="0" destOrd="0" presId="urn:microsoft.com/office/officeart/2005/8/layout/orgChart1"/>
    <dgm:cxn modelId="{512EF3BD-3E55-4194-BE84-260FF305D482}" type="presParOf" srcId="{71335B81-A9C1-4EAC-B34E-ACFAB3DFFB5A}" destId="{F7CB9BBA-4350-4C85-A74D-3B9D19612185}" srcOrd="0" destOrd="0" presId="urn:microsoft.com/office/officeart/2005/8/layout/orgChart1"/>
    <dgm:cxn modelId="{ED7FF0B7-024D-449F-BD72-FF5F69E82646}" type="presParOf" srcId="{71335B81-A9C1-4EAC-B34E-ACFAB3DFFB5A}" destId="{95D20092-7B3B-4B48-A8AE-D951CE4BF775}" srcOrd="1" destOrd="0" presId="urn:microsoft.com/office/officeart/2005/8/layout/orgChart1"/>
    <dgm:cxn modelId="{A626A438-ED5C-43BE-AB33-82376A0838EF}" type="presParOf" srcId="{869A975A-AE74-4F7D-A30D-FCCBC5C427A9}" destId="{96240C12-CCE6-42FC-9893-46A52C6E66F7}" srcOrd="1" destOrd="0" presId="urn:microsoft.com/office/officeart/2005/8/layout/orgChart1"/>
    <dgm:cxn modelId="{F5E9449E-B38A-47D6-983C-E5C4D1AA1DC5}" type="presParOf" srcId="{869A975A-AE74-4F7D-A30D-FCCBC5C427A9}" destId="{310CB056-350F-483E-9CCE-6957FCEF3E9D}" srcOrd="2" destOrd="0" presId="urn:microsoft.com/office/officeart/2005/8/layout/orgChart1"/>
    <dgm:cxn modelId="{75EF556D-84D6-4E94-9D6A-6E391147B281}" type="presParOf" srcId="{625A0CF1-4037-4739-9FD1-C4C0D1DCE5B9}" destId="{BCC560C7-DD40-4EEE-8DA7-A30B61EEEA22}" srcOrd="2" destOrd="0" presId="urn:microsoft.com/office/officeart/2005/8/layout/orgChart1"/>
    <dgm:cxn modelId="{5AC2C7C2-563B-4EA0-BC7A-C652D118E9FF}" type="presParOf" srcId="{BCC560C7-DD40-4EEE-8DA7-A30B61EEEA22}" destId="{B31532AC-0623-4E76-8624-30D8CCD4D1C5}" srcOrd="0" destOrd="0" presId="urn:microsoft.com/office/officeart/2005/8/layout/orgChart1"/>
    <dgm:cxn modelId="{C8ED90D4-D59D-4C34-80BD-5C0418BD181F}" type="presParOf" srcId="{B31532AC-0623-4E76-8624-30D8CCD4D1C5}" destId="{C72B98A1-7EC8-4842-9553-3A79CE08FDD1}" srcOrd="0" destOrd="0" presId="urn:microsoft.com/office/officeart/2005/8/layout/orgChart1"/>
    <dgm:cxn modelId="{0056727F-7C56-4F93-97B3-A13A851C0690}" type="presParOf" srcId="{B31532AC-0623-4E76-8624-30D8CCD4D1C5}" destId="{5B7B5A07-EF78-49E6-A0DB-4C68A6C7E7FF}" srcOrd="1" destOrd="0" presId="urn:microsoft.com/office/officeart/2005/8/layout/orgChart1"/>
    <dgm:cxn modelId="{F4714122-2733-4360-8AAE-95CD12E821A8}" type="presParOf" srcId="{BCC560C7-DD40-4EEE-8DA7-A30B61EEEA22}" destId="{B1290096-A95B-4303-9B6D-5D8BCF8CD7C8}" srcOrd="1" destOrd="0" presId="urn:microsoft.com/office/officeart/2005/8/layout/orgChart1"/>
    <dgm:cxn modelId="{50F52464-1E59-4D5A-AB49-2194A34A93FE}" type="presParOf" srcId="{BCC560C7-DD40-4EEE-8DA7-A30B61EEEA22}" destId="{F894983A-279F-4031-8206-A7AE8046A5E2}" srcOrd="2" destOrd="0" presId="urn:microsoft.com/office/officeart/2005/8/layout/orgChart1"/>
    <dgm:cxn modelId="{A87F245C-F94A-4B53-91BA-281413150F28}" type="presParOf" srcId="{625A0CF1-4037-4739-9FD1-C4C0D1DCE5B9}" destId="{51253B86-058B-4F84-8EC9-A67D44FC8EFA}" srcOrd="3" destOrd="0" presId="urn:microsoft.com/office/officeart/2005/8/layout/orgChart1"/>
    <dgm:cxn modelId="{EB9AAFCC-D53B-4E22-B4FE-799BFEA77CCE}" type="presParOf" srcId="{51253B86-058B-4F84-8EC9-A67D44FC8EFA}" destId="{7AF14E8D-E1B8-4043-A272-65CAB10FF3F4}" srcOrd="0" destOrd="0" presId="urn:microsoft.com/office/officeart/2005/8/layout/orgChart1"/>
    <dgm:cxn modelId="{E93BEE88-6C2F-4AFD-BFEC-5AE4BEFC2ACA}" type="presParOf" srcId="{7AF14E8D-E1B8-4043-A272-65CAB10FF3F4}" destId="{D3B48468-2F7A-4DC1-89B6-20B38577A125}" srcOrd="0" destOrd="0" presId="urn:microsoft.com/office/officeart/2005/8/layout/orgChart1"/>
    <dgm:cxn modelId="{BF99DF02-470E-4B0A-B71C-93672C7474D2}" type="presParOf" srcId="{7AF14E8D-E1B8-4043-A272-65CAB10FF3F4}" destId="{632F0AD7-A854-4C3C-849B-828E437CE539}" srcOrd="1" destOrd="0" presId="urn:microsoft.com/office/officeart/2005/8/layout/orgChart1"/>
    <dgm:cxn modelId="{52EC5580-5130-4422-9FF4-24D09C3D3609}" type="presParOf" srcId="{51253B86-058B-4F84-8EC9-A67D44FC8EFA}" destId="{FDC8FB9A-30B6-48BB-BCE2-A55B820177A9}" srcOrd="1" destOrd="0" presId="urn:microsoft.com/office/officeart/2005/8/layout/orgChart1"/>
    <dgm:cxn modelId="{4EE0FB1D-576B-43E5-BC33-C3E63F815F84}" type="presParOf" srcId="{51253B86-058B-4F84-8EC9-A67D44FC8EFA}" destId="{C884CD63-1CC7-4154-A944-A271B7C8FF08}" srcOrd="2" destOrd="0" presId="urn:microsoft.com/office/officeart/2005/8/layout/orgChart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image" Target="../media/image39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12" Type="http://schemas.openxmlformats.org/officeDocument/2006/relationships/image" Target="../media/image38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11" Type="http://schemas.openxmlformats.org/officeDocument/2006/relationships/image" Target="../media/image37.wmf"/><Relationship Id="rId5" Type="http://schemas.openxmlformats.org/officeDocument/2006/relationships/image" Target="../media/image3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image" Target="../media/image72.wmf"/><Relationship Id="rId3" Type="http://schemas.openxmlformats.org/officeDocument/2006/relationships/image" Target="../media/image62.wmf"/><Relationship Id="rId7" Type="http://schemas.openxmlformats.org/officeDocument/2006/relationships/image" Target="../media/image66.wmf"/><Relationship Id="rId12" Type="http://schemas.openxmlformats.org/officeDocument/2006/relationships/image" Target="../media/image71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11" Type="http://schemas.openxmlformats.org/officeDocument/2006/relationships/image" Target="../media/image70.wmf"/><Relationship Id="rId5" Type="http://schemas.openxmlformats.org/officeDocument/2006/relationships/image" Target="../media/image64.wmf"/><Relationship Id="rId15" Type="http://schemas.openxmlformats.org/officeDocument/2006/relationships/image" Target="../media/image74.wmf"/><Relationship Id="rId10" Type="http://schemas.openxmlformats.org/officeDocument/2006/relationships/image" Target="../media/image69.wmf"/><Relationship Id="rId4" Type="http://schemas.openxmlformats.org/officeDocument/2006/relationships/image" Target="../media/image63.wmf"/><Relationship Id="rId9" Type="http://schemas.openxmlformats.org/officeDocument/2006/relationships/image" Target="../media/image68.wmf"/><Relationship Id="rId14" Type="http://schemas.openxmlformats.org/officeDocument/2006/relationships/image" Target="../media/image7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4" Type="http://schemas.openxmlformats.org/officeDocument/2006/relationships/image" Target="../media/image8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4" Type="http://schemas.openxmlformats.org/officeDocument/2006/relationships/image" Target="../media/image100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4" Type="http://schemas.openxmlformats.org/officeDocument/2006/relationships/image" Target="../media/image113.w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0.55833</cdr:x>
      <cdr:y>0.96552</cdr:y>
    </cdr:from>
    <cdr:to>
      <cdr:x>0.69774</cdr:x>
      <cdr:y>1</cdr:y>
    </cdr:to>
    <cdr:sp macro="" textlink="">
      <cdr:nvSpPr>
        <cdr:cNvPr id="2" name="文字方塊 1"/>
        <cdr:cNvSpPr txBox="1"/>
      </cdr:nvSpPr>
      <cdr:spPr>
        <a:xfrm xmlns:a="http://schemas.openxmlformats.org/drawingml/2006/main">
          <a:off x="4786346" y="6000792"/>
          <a:ext cx="1195100" cy="2143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altLang="zh-TW" sz="1600" dirty="0" smtClean="0">
              <a:latin typeface="Times New Roman" pitchFamily="18" charset="0"/>
              <a:cs typeface="Times New Roman" pitchFamily="18" charset="0"/>
            </a:rPr>
            <a:t>strike price</a:t>
          </a:r>
          <a:endParaRPr lang="en-US" altLang="zh-TW" sz="1600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0.90083</cdr:x>
      <cdr:y>0.91708</cdr:y>
    </cdr:from>
    <cdr:to>
      <cdr:x>1</cdr:x>
      <cdr:y>1</cdr:y>
    </cdr:to>
    <cdr:sp macro="" textlink="">
      <cdr:nvSpPr>
        <cdr:cNvPr id="2" name="文字方塊 1"/>
        <cdr:cNvSpPr txBox="1"/>
      </cdr:nvSpPr>
      <cdr:spPr>
        <a:xfrm xmlns:a="http://schemas.openxmlformats.org/drawingml/2006/main">
          <a:off x="7786742" y="5699749"/>
          <a:ext cx="857256" cy="51535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altLang="zh-TW" sz="1400" dirty="0">
              <a:latin typeface="Times New Roman" pitchFamily="18" charset="0"/>
              <a:cs typeface="Times New Roman" pitchFamily="18" charset="0"/>
            </a:rPr>
            <a:t>volatility</a:t>
          </a:r>
          <a:endParaRPr lang="zh-TW" altLang="en-US" sz="1400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0.925</cdr:x>
      <cdr:y>0.86517</cdr:y>
    </cdr:from>
    <cdr:to>
      <cdr:x>1</cdr:x>
      <cdr:y>0.93258</cdr:y>
    </cdr:to>
    <cdr:sp macro="" textlink="">
      <cdr:nvSpPr>
        <cdr:cNvPr id="2" name="文字方塊 1"/>
        <cdr:cNvSpPr txBox="1"/>
      </cdr:nvSpPr>
      <cdr:spPr>
        <a:xfrm xmlns:a="http://schemas.openxmlformats.org/drawingml/2006/main">
          <a:off x="7929618" y="5500726"/>
          <a:ext cx="642942" cy="4286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altLang="zh-TW" sz="1600" dirty="0">
              <a:latin typeface="Times New Roman" pitchFamily="18" charset="0"/>
              <a:cs typeface="Times New Roman" pitchFamily="18" charset="0"/>
            </a:rPr>
            <a:t>stage</a:t>
          </a:r>
          <a:endParaRPr lang="zh-TW" altLang="en-US" sz="1600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E0827EB-EC5E-4D9A-A65D-22E8D92BE71F}" type="datetimeFigureOut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3858653-2FDA-43C7-BBB4-A7929FF2EEB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6554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6999DF-B425-45F1-81C3-EFCFDC7C94BA}" type="slidenum">
              <a:rPr lang="zh-TW" altLang="en-US" smtClean="0"/>
              <a:pPr/>
              <a:t>1</a:t>
            </a:fld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線接點 3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29" name="標題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5" name="日期版面配置區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0BAF63-E101-4753-BDF4-98CFAE9FDB11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6" name="頁尾版面配置區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14"/>
          <p:cNvSpPr>
            <a:spLocks noGrp="1"/>
          </p:cNvSpPr>
          <p:nvPr>
            <p:ph type="sldNum" sz="quarter" idx="12"/>
          </p:nvPr>
        </p:nvSpPr>
        <p:spPr>
          <a:xfrm>
            <a:off x="8229600" y="6473825"/>
            <a:ext cx="758825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6F660-F7BC-4DB7-990B-301E38B2263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27" name="內容版面配置區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EBAE5-257C-4BF9-B768-F616AFFF55E2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5" name="頁尾版面配置區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5"/>
          <p:cNvSpPr>
            <a:spLocks noGrp="1"/>
          </p:cNvSpPr>
          <p:nvPr>
            <p:ph type="sldNum" sz="quarter" idx="12"/>
          </p:nvPr>
        </p:nvSpPr>
        <p:spPr>
          <a:xfrm>
            <a:off x="8229600" y="6473825"/>
            <a:ext cx="758825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BB2C4-95FC-4B4A-B67D-2F899AC561B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線接點 3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5" name="日期版面配置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967DE-DA86-4CB8-BF42-AADCE375DC4E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7" name="頁尾版面配置區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7A638-C2CA-44F2-B40F-720E036B222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14" name="內容版面配置區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ACA9E-D36F-4FA9-8A9F-2E371F381F3B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6" name="頁尾版面配置區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6D1241-E7B5-4578-8B73-5B1AA170715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29" name="標題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25" name="文字版面配置區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28" name="內容版面配置區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8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6BF6A-0DB3-41BD-B42C-78B0AB2773FA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9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E2E200-C6A6-4144-A997-EC93C502651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標題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09F21-44A8-4385-87E6-45D70DD53371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4" name="頁尾版面配置區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779323-F4A0-4AA6-8678-796B0793F18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93B2B-DDC2-4F86-9113-12386C6C9C42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3" name="頁尾版面配置區 2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4B5DD-57F7-4678-9499-93AC5AEC1E4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12" name="標題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26" name="文字版面配置區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4" name="內容版面配置區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6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245279-3CA3-473E-8CC3-225D927CB1FB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7" name="頁尾版面配置區 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92BD8-5E95-4DAF-9F54-7C655A87A4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圖片版面配置區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 dirty="0"/>
          </a:p>
        </p:txBody>
      </p:sp>
      <p:sp>
        <p:nvSpPr>
          <p:cNvPr id="17" name="標題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26" name="文字版面配置區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E2910-50E1-4B54-865E-83D41BAE7341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BEC34B-EFC7-4F68-A4FF-15FC360FD77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7F0AF9-64CE-45C7-A1CA-F1C17F976FFD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5" name="頁尾版面配置區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26C99-64E4-4AC9-9E39-9BCBE07B140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7E4D25-C9CC-47C5-BEE3-A55FCC566E54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25912-9C02-4FA6-B952-E22D4FBC5E6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37893" name="文字版面配置區 7"/>
          <p:cNvSpPr>
            <a:spLocks noGrp="1"/>
          </p:cNvSpPr>
          <p:nvPr>
            <p:ph type="body" idx="1"/>
          </p:nvPr>
        </p:nvSpPr>
        <p:spPr bwMode="auto">
          <a:xfrm>
            <a:off x="304800" y="1554163"/>
            <a:ext cx="8686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smtClean="0"/>
          </a:p>
        </p:txBody>
      </p:sp>
      <p:sp>
        <p:nvSpPr>
          <p:cNvPr id="11" name="日期版面配置區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8D0F410-09F4-4DD7-BBCE-473AEDEAB982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BF32853-80BD-4D79-81E9-41D71848ED9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10" name="標題版面配置區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12" name="直線接點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54" r:id="rId4"/>
    <p:sldLayoutId id="2147484160" r:id="rId5"/>
    <p:sldLayoutId id="2147484155" r:id="rId6"/>
    <p:sldLayoutId id="2147484161" r:id="rId7"/>
    <p:sldLayoutId id="2147484162" r:id="rId8"/>
    <p:sldLayoutId id="2147484163" r:id="rId9"/>
    <p:sldLayoutId id="2147484156" r:id="rId10"/>
    <p:sldLayoutId id="214748416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all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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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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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 2" pitchFamily="18" charset="2"/>
        <a:buChar char=""/>
        <a:defRPr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diagramData" Target="../diagrams/data1.xml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oleObject" Target="../embeddings/oleObject34.bin"/><Relationship Id="rId3" Type="http://schemas.openxmlformats.org/officeDocument/2006/relationships/image" Target="../media/image40.png"/><Relationship Id="rId7" Type="http://schemas.openxmlformats.org/officeDocument/2006/relationships/oleObject" Target="../embeddings/oleObject28.bin"/><Relationship Id="rId12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7.bin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6.bin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5.bin"/><Relationship Id="rId9" Type="http://schemas.openxmlformats.org/officeDocument/2006/relationships/oleObject" Target="../embeddings/oleObject30.bin"/><Relationship Id="rId14" Type="http://schemas.openxmlformats.org/officeDocument/2006/relationships/oleObject" Target="../embeddings/oleObject3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1.bin"/><Relationship Id="rId5" Type="http://schemas.openxmlformats.org/officeDocument/2006/relationships/oleObject" Target="../embeddings/oleObject40.bin"/><Relationship Id="rId4" Type="http://schemas.openxmlformats.org/officeDocument/2006/relationships/oleObject" Target="../embeddings/oleObject39.bin"/><Relationship Id="rId9" Type="http://schemas.openxmlformats.org/officeDocument/2006/relationships/oleObject" Target="../embeddings/oleObject4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8.bin"/><Relationship Id="rId5" Type="http://schemas.openxmlformats.org/officeDocument/2006/relationships/oleObject" Target="../embeddings/oleObject47.bin"/><Relationship Id="rId10" Type="http://schemas.openxmlformats.org/officeDocument/2006/relationships/oleObject" Target="../embeddings/oleObject52.bin"/><Relationship Id="rId4" Type="http://schemas.openxmlformats.org/officeDocument/2006/relationships/oleObject" Target="../embeddings/oleObject46.bin"/><Relationship Id="rId9" Type="http://schemas.openxmlformats.org/officeDocument/2006/relationships/oleObject" Target="../embeddings/oleObject51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55.bin"/><Relationship Id="rId4" Type="http://schemas.openxmlformats.org/officeDocument/2006/relationships/oleObject" Target="../embeddings/oleObject5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oleObject" Target="../embeddings/oleObject66.bin"/><Relationship Id="rId18" Type="http://schemas.openxmlformats.org/officeDocument/2006/relationships/oleObject" Target="../embeddings/oleObject71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75.png"/><Relationship Id="rId17" Type="http://schemas.openxmlformats.org/officeDocument/2006/relationships/oleObject" Target="../embeddings/oleObject70.bin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69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0.bin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8.bin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58.bin"/><Relationship Id="rId9" Type="http://schemas.openxmlformats.org/officeDocument/2006/relationships/oleObject" Target="../embeddings/oleObject63.bin"/><Relationship Id="rId14" Type="http://schemas.openxmlformats.org/officeDocument/2006/relationships/oleObject" Target="../embeddings/oleObject6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5.bin"/><Relationship Id="rId5" Type="http://schemas.openxmlformats.org/officeDocument/2006/relationships/oleObject" Target="../embeddings/oleObject74.bin"/><Relationship Id="rId4" Type="http://schemas.openxmlformats.org/officeDocument/2006/relationships/oleObject" Target="../embeddings/oleObject73.bin"/><Relationship Id="rId9" Type="http://schemas.openxmlformats.org/officeDocument/2006/relationships/oleObject" Target="../embeddings/oleObject78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2.bin"/><Relationship Id="rId5" Type="http://schemas.openxmlformats.org/officeDocument/2006/relationships/oleObject" Target="../embeddings/oleObject81.bin"/><Relationship Id="rId4" Type="http://schemas.openxmlformats.org/officeDocument/2006/relationships/oleObject" Target="../embeddings/oleObject80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85.bin"/><Relationship Id="rId4" Type="http://schemas.openxmlformats.org/officeDocument/2006/relationships/oleObject" Target="../embeddings/oleObject8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90.bin"/><Relationship Id="rId5" Type="http://schemas.openxmlformats.org/officeDocument/2006/relationships/oleObject" Target="../embeddings/oleObject89.bin"/><Relationship Id="rId4" Type="http://schemas.openxmlformats.org/officeDocument/2006/relationships/oleObject" Target="../embeddings/oleObject88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96.bin"/><Relationship Id="rId5" Type="http://schemas.openxmlformats.org/officeDocument/2006/relationships/oleObject" Target="../embeddings/oleObject95.bin"/><Relationship Id="rId4" Type="http://schemas.openxmlformats.org/officeDocument/2006/relationships/oleObject" Target="../embeddings/oleObject94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oleObject" Target="../embeddings/oleObject9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02.bin"/><Relationship Id="rId5" Type="http://schemas.openxmlformats.org/officeDocument/2006/relationships/oleObject" Target="../embeddings/oleObject101.bin"/><Relationship Id="rId4" Type="http://schemas.openxmlformats.org/officeDocument/2006/relationships/oleObject" Target="../embeddings/oleObject100.bin"/><Relationship Id="rId9" Type="http://schemas.openxmlformats.org/officeDocument/2006/relationships/oleObject" Target="../embeddings/oleObject10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09.bin"/><Relationship Id="rId5" Type="http://schemas.openxmlformats.org/officeDocument/2006/relationships/oleObject" Target="../embeddings/oleObject108.bin"/><Relationship Id="rId4" Type="http://schemas.openxmlformats.org/officeDocument/2006/relationships/oleObject" Target="../embeddings/oleObject107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57188" y="571500"/>
            <a:ext cx="8458200" cy="29289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TW" sz="3800" dirty="0" smtClean="0">
                <a:latin typeface="Times New Roman" pitchFamily="18" charset="0"/>
                <a:cs typeface="Times New Roman" pitchFamily="18" charset="0"/>
              </a:rPr>
              <a:t>Using The LIBOR Market Model to Price The Interest Rate Derivatives: A Recombining Binomial Tree Methodology</a:t>
            </a:r>
            <a:endParaRPr lang="zh-TW" altLang="en-US" sz="3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08" name="文字方塊 3"/>
          <p:cNvSpPr txBox="1">
            <a:spLocks noChangeArrowheads="1"/>
          </p:cNvSpPr>
          <p:nvPr/>
        </p:nvSpPr>
        <p:spPr bwMode="auto">
          <a:xfrm>
            <a:off x="7215206" y="5929330"/>
            <a:ext cx="16875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TW" sz="2400" dirty="0" smtClean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2008/06/26</a:t>
            </a:r>
            <a:endParaRPr kumimoji="0" lang="zh-TW" altLang="en-US" sz="2400" dirty="0">
              <a:latin typeface="Times New Roman" pitchFamily="18" charset="0"/>
              <a:ea typeface="微軟正黑體" pitchFamily="34" charset="-120"/>
              <a:cs typeface="Times New Roman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714612" y="4429132"/>
            <a:ext cx="6148388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zh-TW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              研 究 生</a:t>
            </a:r>
            <a:r>
              <a:rPr kumimoji="0" lang="en-US" altLang="zh-TW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: </a:t>
            </a:r>
            <a:r>
              <a:rPr kumimoji="0" lang="zh-TW" altLang="en-US" sz="2600" dirty="0" smtClean="0">
                <a:solidFill>
                  <a:schemeClr val="tx2">
                    <a:shade val="75000"/>
                  </a:schemeClr>
                </a:solidFill>
                <a:latin typeface="標楷體" pitchFamily="65" charset="-120"/>
                <a:ea typeface="標楷體" pitchFamily="65" charset="-120"/>
              </a:rPr>
              <a:t>何俊儒</a:t>
            </a:r>
            <a:endParaRPr kumimoji="0" lang="zh-TW" alt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shade val="75000"/>
                </a:schemeClr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None/>
              <a:tabLst/>
              <a:defRPr/>
            </a:pPr>
            <a:endParaRPr kumimoji="0" lang="zh-TW" alt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shade val="75000"/>
                </a:schemeClr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zh-TW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指導教授</a:t>
            </a:r>
            <a:r>
              <a:rPr kumimoji="0" lang="en-US" altLang="zh-TW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: </a:t>
            </a:r>
            <a:r>
              <a:rPr kumimoji="0" lang="zh-TW" altLang="en-US" sz="2600" dirty="0" smtClean="0">
                <a:solidFill>
                  <a:schemeClr val="tx2">
                    <a:shade val="75000"/>
                  </a:schemeClr>
                </a:solidFill>
                <a:latin typeface="標楷體" pitchFamily="65" charset="-120"/>
                <a:ea typeface="標楷體" pitchFamily="65" charset="-120"/>
              </a:rPr>
              <a:t>鍾惠民</a:t>
            </a:r>
            <a:r>
              <a:rPr kumimoji="0" lang="zh-TW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  博士</a:t>
            </a:r>
          </a:p>
          <a:p>
            <a:pPr marL="0" marR="0" lvl="0" indent="0" algn="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zh-TW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                 戴天時  博士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None/>
              <a:tabLst/>
              <a:defRPr/>
            </a:pPr>
            <a:endParaRPr kumimoji="0" lang="zh-TW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hade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Agenda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Review of interest rate models</a:t>
            </a:r>
            <a:endParaRPr lang="zh-TW" altLang="en-US" sz="35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smtClean="0">
                <a:latin typeface="Times New Roman" pitchFamily="18" charset="0"/>
                <a:cs typeface="Times New Roman" pitchFamily="18" charset="0"/>
              </a:rPr>
              <a:t>Introducing </a:t>
            </a: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the HSS recombining node methodology and applying to the LIBOR market model</a:t>
            </a:r>
            <a:endParaRPr lang="zh-TW" altLang="en-US" sz="35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The pricing of the interest rate derivatives in LMM</a:t>
            </a:r>
            <a:endParaRPr lang="zh-TW" altLang="en-US" sz="35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Conclusions</a:t>
            </a: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9E5F26-FD4C-4AD7-8FC0-46C4CA0D0922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can’t observe the instantaneous short rate and instantaneous forward rate in the traditional interest rate models</a:t>
            </a:r>
          </a:p>
          <a:p>
            <a:pPr algn="just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adapt LIBOR market model which is based on the forward  LIBOR rate that we can observe from the daily market</a:t>
            </a:r>
          </a:p>
          <a:p>
            <a:pPr algn="just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When implementing LMM in lattice method, we face the explosive tree due to the non-Markov property 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590E-4C11-4B5A-A4FD-903B207A94F8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17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nonrecombining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nodes make our pricing procedure inefficient and don’t satisfy the market requirement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apply the HSS methodology into LMM that make the nodes combine and make the pricing the derivatives feasible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method we proposed make our valuation more efficient and more accurate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BFDB7F-76B7-4B29-BF6A-42E9E4F870E5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Review of Interest Rate Models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0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charset="0"/>
              <a:buChar char="•"/>
            </a:pPr>
            <a:r>
              <a:rPr lang="en-US" altLang="zh-TW" sz="3600" smtClean="0">
                <a:latin typeface="Times New Roman" pitchFamily="18" charset="0"/>
                <a:cs typeface="Times New Roman" pitchFamily="18" charset="0"/>
              </a:rPr>
              <a:t>Equilibrium models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altLang="zh-TW" sz="3600" smtClean="0">
                <a:latin typeface="Times New Roman" pitchFamily="18" charset="0"/>
                <a:cs typeface="Times New Roman" pitchFamily="18" charset="0"/>
              </a:rPr>
              <a:t>No-arbitrage models</a:t>
            </a:r>
          </a:p>
          <a:p>
            <a:pPr marL="742950" lvl="2" indent="-342900"/>
            <a:r>
              <a:rPr lang="en-US" altLang="zh-TW" sz="3200" smtClean="0">
                <a:latin typeface="Times New Roman" pitchFamily="18" charset="0"/>
                <a:cs typeface="Times New Roman" pitchFamily="18" charset="0"/>
              </a:rPr>
              <a:t>Instantaneous short rate models</a:t>
            </a:r>
          </a:p>
          <a:p>
            <a:pPr marL="742950" lvl="2" indent="-342900"/>
            <a:r>
              <a:rPr lang="en-US" altLang="zh-TW" sz="3200" smtClean="0">
                <a:latin typeface="Times New Roman" pitchFamily="18" charset="0"/>
                <a:cs typeface="Times New Roman" pitchFamily="18" charset="0"/>
              </a:rPr>
              <a:t>Instantaneous forward rate model</a:t>
            </a:r>
          </a:p>
          <a:p>
            <a:pPr marL="742950" lvl="2" indent="-342900"/>
            <a:r>
              <a:rPr lang="en-US" altLang="zh-TW" sz="3200" smtClean="0">
                <a:latin typeface="Times New Roman" pitchFamily="18" charset="0"/>
                <a:cs typeface="Times New Roman" pitchFamily="18" charset="0"/>
              </a:rPr>
              <a:t>Forward rate model</a:t>
            </a:r>
            <a:endParaRPr lang="zh-TW" altLang="en-US" sz="320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199DC6-6716-4A45-88CD-04871E801602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Autofit/>
          </a:bodyPr>
          <a:lstStyle/>
          <a:p>
            <a:pPr marL="342900" indent="-342900" algn="ctr"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Forward rate model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LIBOR Market Model (LMM)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2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LMM was discovered by Brace, Gatarek, and Musiela (1997) and was initially referred to as the BGM model by practitioners</a:t>
            </a:r>
          </a:p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There are two commonly used versions of the LMM:</a:t>
            </a:r>
          </a:p>
          <a:p>
            <a:pPr lvl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one is the lognormal forward LIBOR model (LFM) for pricing caps</a:t>
            </a:r>
          </a:p>
          <a:p>
            <a:pPr lvl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other is the lognormal swap model (LSM) for pricing swaptions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CE7C71-7EF6-49E7-AF59-6C523C60B620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Forward rate model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LIBOR Market Model (LMM)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52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LFM specifies the forward rate         following zero-drift stochastic process under its own forward measure: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         is a Brownian motion under the forward measure       defined with respect to the numeraire asset</a:t>
            </a:r>
          </a:p>
          <a:p>
            <a:pPr lvl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        measures the volatility of the forward rate process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6572250" y="1643063"/>
          <a:ext cx="1652588" cy="522287"/>
        </p:xfrm>
        <a:graphic>
          <a:graphicData uri="http://schemas.openxmlformats.org/presentationml/2006/ole">
            <p:oleObj spid="_x0000_s6146" name="Equation" r:id="rId3" imgW="723600" imgH="228600" progId="Equation.DSMT4">
              <p:embed/>
            </p:oleObj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2786063" y="3143250"/>
          <a:ext cx="4065587" cy="1071563"/>
        </p:xfrm>
        <a:graphic>
          <a:graphicData uri="http://schemas.openxmlformats.org/presentationml/2006/ole">
            <p:oleObj spid="_x0000_s6147" name="Equation" r:id="rId4" imgW="1638000" imgH="431640" progId="Equation.DSMT4">
              <p:embed/>
            </p:oleObj>
          </a:graphicData>
        </a:graphic>
      </p:graphicFrame>
      <p:graphicFrame>
        <p:nvGraphicFramePr>
          <p:cNvPr id="6148" name="Object 6"/>
          <p:cNvGraphicFramePr>
            <a:graphicFrameLocks noChangeAspect="1"/>
          </p:cNvGraphicFramePr>
          <p:nvPr/>
        </p:nvGraphicFramePr>
        <p:xfrm>
          <a:off x="1214438" y="4357688"/>
          <a:ext cx="1000125" cy="514350"/>
        </p:xfrm>
        <a:graphic>
          <a:graphicData uri="http://schemas.openxmlformats.org/presentationml/2006/ole">
            <p:oleObj spid="_x0000_s6148" name="Equation" r:id="rId5" imgW="444240" imgH="228600" progId="Equation.DSMT4">
              <p:embed/>
            </p:oleObj>
          </a:graphicData>
        </a:graphic>
      </p:graphicFrame>
      <p:graphicFrame>
        <p:nvGraphicFramePr>
          <p:cNvPr id="6149" name="Object 7"/>
          <p:cNvGraphicFramePr>
            <a:graphicFrameLocks noChangeAspect="1"/>
          </p:cNvGraphicFramePr>
          <p:nvPr/>
        </p:nvGraphicFramePr>
        <p:xfrm>
          <a:off x="2428875" y="4714875"/>
          <a:ext cx="422275" cy="452438"/>
        </p:xfrm>
        <a:graphic>
          <a:graphicData uri="http://schemas.openxmlformats.org/presentationml/2006/ole">
            <p:oleObj spid="_x0000_s6149" name="Equation" r:id="rId6" imgW="177480" imgH="190440" progId="Equation.DSMT4">
              <p:embed/>
            </p:oleObj>
          </a:graphicData>
        </a:graphic>
      </p:graphicFrame>
      <p:graphicFrame>
        <p:nvGraphicFramePr>
          <p:cNvPr id="6150" name="Object 8"/>
          <p:cNvGraphicFramePr>
            <a:graphicFrameLocks noChangeAspect="1"/>
          </p:cNvGraphicFramePr>
          <p:nvPr/>
        </p:nvGraphicFramePr>
        <p:xfrm>
          <a:off x="1214438" y="5643563"/>
          <a:ext cx="857250" cy="571500"/>
        </p:xfrm>
        <a:graphic>
          <a:graphicData uri="http://schemas.openxmlformats.org/presentationml/2006/ole">
            <p:oleObj spid="_x0000_s6150" name="Equation" r:id="rId7" imgW="342720" imgH="228600" progId="Equation.DSMT4">
              <p:embed/>
            </p:oleObj>
          </a:graphicData>
        </a:graphic>
      </p:graphicFrame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48B90-36CA-4250-9044-D2288E997124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標題 1"/>
          <p:cNvSpPr>
            <a:spLocks noGrp="1"/>
          </p:cNvSpPr>
          <p:nvPr>
            <p:ph type="title"/>
          </p:nvPr>
        </p:nvSpPr>
        <p:spPr>
          <a:xfrm>
            <a:off x="285720" y="285728"/>
            <a:ext cx="8686800" cy="104297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Market Conventions of the LMM </a:t>
            </a:r>
            <a:endParaRPr lang="zh-TW" altLang="en-US" dirty="0" smtClean="0"/>
          </a:p>
        </p:txBody>
      </p:sp>
      <p:sp>
        <p:nvSpPr>
          <p:cNvPr id="820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relationship between the discrete LIBOR rate</a:t>
            </a:r>
          </a:p>
          <a:p>
            <a:pPr>
              <a:buFont typeface="Wingdings 2" pitchFamily="18" charset="2"/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               for the term                   and the zero coupon bond price                 , given as follows:</a:t>
            </a:r>
          </a:p>
          <a:p>
            <a:pPr>
              <a:buFont typeface="Wingdings 2" pitchFamily="18" charset="2"/>
              <a:buNone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 where                                is the time line and     is called the tenor for the period      to 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0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4" name="Object 1"/>
          <p:cNvGraphicFramePr>
            <a:graphicFrameLocks noChangeAspect="1"/>
          </p:cNvGraphicFramePr>
          <p:nvPr/>
        </p:nvGraphicFramePr>
        <p:xfrm>
          <a:off x="2357438" y="3286125"/>
          <a:ext cx="3857625" cy="1009650"/>
        </p:xfrm>
        <a:graphic>
          <a:graphicData uri="http://schemas.openxmlformats.org/presentationml/2006/ole">
            <p:oleObj spid="_x0000_s8194" name="Equation" r:id="rId3" imgW="1638000" imgH="431640" progId="Equation.DSMT4">
              <p:embed/>
            </p:oleObj>
          </a:graphicData>
        </a:graphic>
      </p:graphicFrame>
      <p:sp>
        <p:nvSpPr>
          <p:cNvPr id="8205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5" name="Object 11"/>
          <p:cNvGraphicFramePr>
            <a:graphicFrameLocks noChangeAspect="1"/>
          </p:cNvGraphicFramePr>
          <p:nvPr/>
        </p:nvGraphicFramePr>
        <p:xfrm>
          <a:off x="714375" y="2170113"/>
          <a:ext cx="1428750" cy="536575"/>
        </p:xfrm>
        <a:graphic>
          <a:graphicData uri="http://schemas.openxmlformats.org/presentationml/2006/ole">
            <p:oleObj spid="_x0000_s8195" name="Equation" r:id="rId4" imgW="609600" imgH="228600" progId="Equation.DSMT4">
              <p:embed/>
            </p:oleObj>
          </a:graphicData>
        </a:graphic>
      </p:graphicFrame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6" name="Object 13"/>
          <p:cNvGraphicFramePr>
            <a:graphicFrameLocks noChangeAspect="1"/>
          </p:cNvGraphicFramePr>
          <p:nvPr/>
        </p:nvGraphicFramePr>
        <p:xfrm>
          <a:off x="4286250" y="2214563"/>
          <a:ext cx="1601788" cy="500062"/>
        </p:xfrm>
        <a:graphic>
          <a:graphicData uri="http://schemas.openxmlformats.org/presentationml/2006/ole">
            <p:oleObj spid="_x0000_s8196" name="Equation" r:id="rId5" imgW="736600" imgH="228600" progId="Equation.DSMT4">
              <p:embed/>
            </p:oleObj>
          </a:graphicData>
        </a:graphic>
      </p:graphicFrame>
      <p:sp>
        <p:nvSpPr>
          <p:cNvPr id="8207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7" name="Object 15"/>
          <p:cNvGraphicFramePr>
            <a:graphicFrameLocks noChangeAspect="1"/>
          </p:cNvGraphicFramePr>
          <p:nvPr/>
        </p:nvGraphicFramePr>
        <p:xfrm>
          <a:off x="3902075" y="2673350"/>
          <a:ext cx="1524000" cy="571500"/>
        </p:xfrm>
        <a:graphic>
          <a:graphicData uri="http://schemas.openxmlformats.org/presentationml/2006/ole">
            <p:oleObj spid="_x0000_s8197" name="Equation" r:id="rId6" imgW="609600" imgH="228600" progId="Equation.DSMT4">
              <p:embed/>
            </p:oleObj>
          </a:graphicData>
        </a:graphic>
      </p:graphicFrame>
      <p:sp>
        <p:nvSpPr>
          <p:cNvPr id="8208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8" name="Object 17"/>
          <p:cNvGraphicFramePr>
            <a:graphicFrameLocks noChangeAspect="1"/>
          </p:cNvGraphicFramePr>
          <p:nvPr/>
        </p:nvGraphicFramePr>
        <p:xfrm>
          <a:off x="2000250" y="4500563"/>
          <a:ext cx="2852738" cy="447675"/>
        </p:xfrm>
        <a:graphic>
          <a:graphicData uri="http://schemas.openxmlformats.org/presentationml/2006/ole">
            <p:oleObj spid="_x0000_s8198" name="Equation" r:id="rId7" imgW="1460160" imgH="228600" progId="Equation.DSMT4">
              <p:embed/>
            </p:oleObj>
          </a:graphicData>
        </a:graphic>
      </p:graphicFrame>
      <p:sp>
        <p:nvSpPr>
          <p:cNvPr id="8209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9" name="Object 19"/>
          <p:cNvGraphicFramePr>
            <a:graphicFrameLocks noChangeAspect="1"/>
          </p:cNvGraphicFramePr>
          <p:nvPr/>
        </p:nvGraphicFramePr>
        <p:xfrm>
          <a:off x="8215313" y="4441825"/>
          <a:ext cx="357187" cy="534988"/>
        </p:xfrm>
        <a:graphic>
          <a:graphicData uri="http://schemas.openxmlformats.org/presentationml/2006/ole">
            <p:oleObj spid="_x0000_s8199" name="Equation" r:id="rId8" imgW="152334" imgH="228501" progId="Equation.DSMT4">
              <p:embed/>
            </p:oleObj>
          </a:graphicData>
        </a:graphic>
      </p:graphicFrame>
      <p:sp>
        <p:nvSpPr>
          <p:cNvPr id="8210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200" name="Object 21"/>
          <p:cNvGraphicFramePr>
            <a:graphicFrameLocks noChangeAspect="1"/>
          </p:cNvGraphicFramePr>
          <p:nvPr/>
        </p:nvGraphicFramePr>
        <p:xfrm>
          <a:off x="6072188" y="4929188"/>
          <a:ext cx="357187" cy="571500"/>
        </p:xfrm>
        <a:graphic>
          <a:graphicData uri="http://schemas.openxmlformats.org/presentationml/2006/ole">
            <p:oleObj spid="_x0000_s8200" name="Equation" r:id="rId9" imgW="139700" imgH="228600" progId="Equation.DSMT4">
              <p:embed/>
            </p:oleObj>
          </a:graphicData>
        </a:graphic>
      </p:graphicFrame>
      <p:sp>
        <p:nvSpPr>
          <p:cNvPr id="8211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201" name="Object 23"/>
          <p:cNvGraphicFramePr>
            <a:graphicFrameLocks noChangeAspect="1"/>
          </p:cNvGraphicFramePr>
          <p:nvPr/>
        </p:nvGraphicFramePr>
        <p:xfrm>
          <a:off x="7000875" y="4929188"/>
          <a:ext cx="573088" cy="571500"/>
        </p:xfrm>
        <a:graphic>
          <a:graphicData uri="http://schemas.openxmlformats.org/presentationml/2006/ole">
            <p:oleObj spid="_x0000_s8201" name="Equation" r:id="rId10" imgW="228600" imgH="228600" progId="Equation.DSMT4">
              <p:embed/>
            </p:oleObj>
          </a:graphicData>
        </a:graphic>
      </p:graphicFrame>
      <p:sp>
        <p:nvSpPr>
          <p:cNvPr id="20" name="投影片編號版面配置區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1974B5-C298-4929-9F93-A3932A64B724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methodology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  <p:graphicFrame>
        <p:nvGraphicFramePr>
          <p:cNvPr id="7" name="資料庫圖表 6"/>
          <p:cNvGraphicFramePr/>
          <p:nvPr/>
        </p:nvGraphicFramePr>
        <p:xfrm>
          <a:off x="928662" y="1142984"/>
          <a:ext cx="7286676" cy="5429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2328187" y="4319872"/>
          <a:ext cx="381530" cy="536330"/>
        </p:xfrm>
        <a:graphic>
          <a:graphicData uri="http://schemas.openxmlformats.org/presentationml/2006/ole">
            <p:oleObj spid="_x0000_s124930" name="Equation" r:id="rId7" imgW="152280" imgH="228600" progId="Equation.DSMT4">
              <p:embed/>
            </p:oleObj>
          </a:graphicData>
        </a:graphic>
      </p:graphicFrame>
      <p:graphicFrame>
        <p:nvGraphicFramePr>
          <p:cNvPr id="124931" name="Object 3"/>
          <p:cNvGraphicFramePr>
            <a:graphicFrameLocks noChangeAspect="1"/>
          </p:cNvGraphicFramePr>
          <p:nvPr/>
        </p:nvGraphicFramePr>
        <p:xfrm>
          <a:off x="4174806" y="4470235"/>
          <a:ext cx="333377" cy="500066"/>
        </p:xfrm>
        <a:graphic>
          <a:graphicData uri="http://schemas.openxmlformats.org/presentationml/2006/ole">
            <p:oleObj spid="_x0000_s124931" name="Equation" r:id="rId8" imgW="152280" imgH="228600" progId="Equation.DSMT4">
              <p:embed/>
            </p:oleObj>
          </a:graphicData>
        </a:graphic>
      </p:graphicFrame>
      <p:graphicFrame>
        <p:nvGraphicFramePr>
          <p:cNvPr id="124932" name="Object 4"/>
          <p:cNvGraphicFramePr>
            <a:graphicFrameLocks noChangeAspect="1"/>
          </p:cNvGraphicFramePr>
          <p:nvPr/>
        </p:nvGraphicFramePr>
        <p:xfrm>
          <a:off x="5929322" y="4357694"/>
          <a:ext cx="1675707" cy="383595"/>
        </p:xfrm>
        <a:graphic>
          <a:graphicData uri="http://schemas.openxmlformats.org/presentationml/2006/ole">
            <p:oleObj spid="_x0000_s124932" name="Equation" r:id="rId9" imgW="1054080" imgH="241200" progId="Equation.DSMT4">
              <p:embed/>
            </p:oleObj>
          </a:graphicData>
        </a:graphic>
      </p:graphicFrame>
      <p:cxnSp>
        <p:nvCxnSpPr>
          <p:cNvPr id="26" name="直線單箭頭接點 25"/>
          <p:cNvCxnSpPr/>
          <p:nvPr/>
        </p:nvCxnSpPr>
        <p:spPr>
          <a:xfrm>
            <a:off x="2857488" y="5715016"/>
            <a:ext cx="142876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rot="5400000" flipH="1" flipV="1">
            <a:off x="6179355" y="5250669"/>
            <a:ext cx="107157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5643570" y="5786454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rot="5400000" flipH="1" flipV="1">
            <a:off x="4214016" y="5143512"/>
            <a:ext cx="572298" cy="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rot="5400000" flipH="1" flipV="1">
            <a:off x="2643174" y="5000636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2857488" y="5214950"/>
            <a:ext cx="164307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Introducing the HSS Recombining Node Methodology </a:t>
            </a:r>
            <a:endParaRPr lang="zh-TW" altLang="en-US" sz="3200" dirty="0" smtClean="0"/>
          </a:p>
        </p:txBody>
      </p:sp>
      <p:sp>
        <p:nvSpPr>
          <p:cNvPr id="542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Ho, Stapleton and Subrahmanyam (1995) [HSS] suggest a general methodology for creating a recombining multi-variate binomial tree to approximate a multi-variate lognormal process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Our assumption about  LMM satisfies the conditions in the HSS methodology and apply it into LMM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A2943C-72F5-4B1B-A2F8-18E5CEE5480D}" type="slidenum">
              <a:rPr lang="zh-TW" altLang="en-US" smtClean="0"/>
              <a:pPr>
                <a:defRPr/>
              </a:pPr>
              <a:t>10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HSS methodology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9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HSS assume the price of underlying asset  follows a lognormal diffusion process:</a:t>
            </a:r>
          </a:p>
          <a:p>
            <a:endParaRPr lang="en-US" altLang="zh-TW" sz="3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	where       and       are the instantaneous drift and volatility of          , and             is a standard Brownian motion</a:t>
            </a:r>
          </a:p>
          <a:p>
            <a:pPr lvl="1"/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They denote the unconditional mean of the logarithmic asset return at time </a:t>
            </a:r>
            <a:r>
              <a:rPr lang="en-US" altLang="zh-TW" sz="2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 as </a:t>
            </a:r>
          </a:p>
          <a:p>
            <a:pPr lvl="1"/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The conditional volatility over the period </a:t>
            </a:r>
            <a:r>
              <a:rPr lang="en-US" altLang="zh-TW" sz="26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 -1 to </a:t>
            </a:r>
            <a:r>
              <a:rPr lang="en-US" altLang="zh-TW" sz="26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  is denoted as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The unconditional volatility is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Arial" charset="0"/>
              <a:buNone/>
            </a:pPr>
            <a:endParaRPr lang="en-US" altLang="zh-TW" dirty="0" smtClean="0"/>
          </a:p>
          <a:p>
            <a:endParaRPr lang="zh-TW" altLang="en-US" dirty="0" smtClean="0"/>
          </a:p>
        </p:txBody>
      </p:sp>
      <p:graphicFrame>
        <p:nvGraphicFramePr>
          <p:cNvPr id="20482" name="Object 4"/>
          <p:cNvGraphicFramePr>
            <a:graphicFrameLocks noChangeAspect="1"/>
          </p:cNvGraphicFramePr>
          <p:nvPr/>
        </p:nvGraphicFramePr>
        <p:xfrm>
          <a:off x="1643063" y="2643188"/>
          <a:ext cx="5840412" cy="527050"/>
        </p:xfrm>
        <a:graphic>
          <a:graphicData uri="http://schemas.openxmlformats.org/presentationml/2006/ole">
            <p:oleObj spid="_x0000_s125954" name="Equation" r:id="rId3" imgW="2247840" imgH="203040" progId="Equation.DSMT4">
              <p:embed/>
            </p:oleObj>
          </a:graphicData>
        </a:graphic>
      </p:graphicFrame>
      <p:graphicFrame>
        <p:nvGraphicFramePr>
          <p:cNvPr id="20483" name="Object 5"/>
          <p:cNvGraphicFramePr>
            <a:graphicFrameLocks noChangeAspect="1"/>
          </p:cNvGraphicFramePr>
          <p:nvPr/>
        </p:nvGraphicFramePr>
        <p:xfrm>
          <a:off x="1785938" y="3286125"/>
          <a:ext cx="357187" cy="387350"/>
        </p:xfrm>
        <a:graphic>
          <a:graphicData uri="http://schemas.openxmlformats.org/presentationml/2006/ole">
            <p:oleObj spid="_x0000_s125955" name="Equation" r:id="rId4" imgW="152280" imgH="164880" progId="Equation.DSMT4">
              <p:embed/>
            </p:oleObj>
          </a:graphicData>
        </a:graphic>
      </p:graphicFrame>
      <p:graphicFrame>
        <p:nvGraphicFramePr>
          <p:cNvPr id="20484" name="Object 6"/>
          <p:cNvGraphicFramePr>
            <a:graphicFrameLocks noChangeAspect="1"/>
          </p:cNvGraphicFramePr>
          <p:nvPr/>
        </p:nvGraphicFramePr>
        <p:xfrm>
          <a:off x="3000375" y="3286125"/>
          <a:ext cx="412750" cy="379413"/>
        </p:xfrm>
        <a:graphic>
          <a:graphicData uri="http://schemas.openxmlformats.org/presentationml/2006/ole">
            <p:oleObj spid="_x0000_s125956" name="Equation" r:id="rId5" imgW="152280" imgH="139680" progId="Equation.DSMT4">
              <p:embed/>
            </p:oleObj>
          </a:graphicData>
        </a:graphic>
      </p:graphicFrame>
      <p:graphicFrame>
        <p:nvGraphicFramePr>
          <p:cNvPr id="20485" name="Object 7"/>
          <p:cNvGraphicFramePr>
            <a:graphicFrameLocks noChangeAspect="1"/>
          </p:cNvGraphicFramePr>
          <p:nvPr/>
        </p:nvGraphicFramePr>
        <p:xfrm>
          <a:off x="2643188" y="3643313"/>
          <a:ext cx="823912" cy="428625"/>
        </p:xfrm>
        <a:graphic>
          <a:graphicData uri="http://schemas.openxmlformats.org/presentationml/2006/ole">
            <p:oleObj spid="_x0000_s125957" name="Equation" r:id="rId6" imgW="317160" imgH="164880" progId="Equation.DSMT4">
              <p:embed/>
            </p:oleObj>
          </a:graphicData>
        </a:graphic>
      </p:graphicFrame>
      <p:graphicFrame>
        <p:nvGraphicFramePr>
          <p:cNvPr id="20486" name="Object 8"/>
          <p:cNvGraphicFramePr>
            <a:graphicFrameLocks noChangeAspect="1"/>
          </p:cNvGraphicFramePr>
          <p:nvPr/>
        </p:nvGraphicFramePr>
        <p:xfrm>
          <a:off x="4286250" y="3643313"/>
          <a:ext cx="1062038" cy="500062"/>
        </p:xfrm>
        <a:graphic>
          <a:graphicData uri="http://schemas.openxmlformats.org/presentationml/2006/ole">
            <p:oleObj spid="_x0000_s125958" name="Equation" r:id="rId7" imgW="431640" imgH="203040" progId="Equation.DSMT4">
              <p:embed/>
            </p:oleObj>
          </a:graphicData>
        </a:graphic>
      </p:graphicFrame>
      <p:graphicFrame>
        <p:nvGraphicFramePr>
          <p:cNvPr id="20487" name="Object 9"/>
          <p:cNvGraphicFramePr>
            <a:graphicFrameLocks noChangeAspect="1"/>
          </p:cNvGraphicFramePr>
          <p:nvPr/>
        </p:nvGraphicFramePr>
        <p:xfrm>
          <a:off x="2571750" y="5786438"/>
          <a:ext cx="828675" cy="630237"/>
        </p:xfrm>
        <a:graphic>
          <a:graphicData uri="http://schemas.openxmlformats.org/presentationml/2006/ole">
            <p:oleObj spid="_x0000_s125959" name="Equation" r:id="rId8" imgW="317160" imgH="241200" progId="Equation.DSMT4">
              <p:embed/>
            </p:oleObj>
          </a:graphicData>
        </a:graphic>
      </p:graphicFrame>
      <p:graphicFrame>
        <p:nvGraphicFramePr>
          <p:cNvPr id="20488" name="Object 10"/>
          <p:cNvGraphicFramePr>
            <a:graphicFrameLocks noChangeAspect="1"/>
          </p:cNvGraphicFramePr>
          <p:nvPr/>
        </p:nvGraphicFramePr>
        <p:xfrm>
          <a:off x="4203700" y="4932363"/>
          <a:ext cx="361950" cy="500062"/>
        </p:xfrm>
        <a:graphic>
          <a:graphicData uri="http://schemas.openxmlformats.org/presentationml/2006/ole">
            <p:oleObj spid="_x0000_s125960" name="Equation" r:id="rId9" imgW="164880" imgH="228600" progId="Equation.DSMT4">
              <p:embed/>
            </p:oleObj>
          </a:graphicData>
        </a:graphic>
      </p:graphicFrame>
      <p:graphicFrame>
        <p:nvGraphicFramePr>
          <p:cNvPr id="20489" name="Object 11"/>
          <p:cNvGraphicFramePr>
            <a:graphicFrameLocks noChangeAspect="1"/>
          </p:cNvGraphicFramePr>
          <p:nvPr/>
        </p:nvGraphicFramePr>
        <p:xfrm>
          <a:off x="4829175" y="6276975"/>
          <a:ext cx="665163" cy="665163"/>
        </p:xfrm>
        <a:graphic>
          <a:graphicData uri="http://schemas.openxmlformats.org/presentationml/2006/ole">
            <p:oleObj spid="_x0000_s125961" name="Equation" r:id="rId10" imgW="241200" imgH="241200" progId="Equation.DSMT4">
              <p:embed/>
            </p:oleObj>
          </a:graphicData>
        </a:graphic>
      </p:graphicFrame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9EDF7-2885-4B64-AA1B-3A04F582AAE1}" type="slidenum">
              <a:rPr lang="zh-TW" altLang="en-US" smtClean="0"/>
              <a:pPr>
                <a:defRPr/>
              </a:pPr>
              <a:t>11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82" name="Picture 10" descr="C:\Documents and Settings\George\桌面\樹狀圖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642918"/>
            <a:ext cx="7286676" cy="5112072"/>
          </a:xfrm>
          <a:prstGeom prst="rect">
            <a:avLst/>
          </a:prstGeom>
          <a:noFill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143900" y="6613525"/>
            <a:ext cx="762000" cy="244475"/>
          </a:xfrm>
        </p:spPr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12</a:t>
            </a:fld>
            <a:endParaRPr lang="zh-TW" altLang="en-US"/>
          </a:p>
        </p:txBody>
      </p:sp>
      <p:graphicFrame>
        <p:nvGraphicFramePr>
          <p:cNvPr id="105475" name="Object 3"/>
          <p:cNvGraphicFramePr>
            <a:graphicFrameLocks noChangeAspect="1"/>
          </p:cNvGraphicFramePr>
          <p:nvPr/>
        </p:nvGraphicFramePr>
        <p:xfrm>
          <a:off x="3286116" y="2928934"/>
          <a:ext cx="620716" cy="620716"/>
        </p:xfrm>
        <a:graphic>
          <a:graphicData uri="http://schemas.openxmlformats.org/presentationml/2006/ole">
            <p:oleObj spid="_x0000_s126978" name="Equation" r:id="rId4" imgW="241200" imgH="241200" progId="Equation.DSMT4">
              <p:embed/>
            </p:oleObj>
          </a:graphicData>
        </a:graphic>
      </p:graphicFrame>
      <p:graphicFrame>
        <p:nvGraphicFramePr>
          <p:cNvPr id="105476" name="Object 4"/>
          <p:cNvGraphicFramePr>
            <a:graphicFrameLocks noChangeAspect="1"/>
          </p:cNvGraphicFramePr>
          <p:nvPr/>
        </p:nvGraphicFramePr>
        <p:xfrm>
          <a:off x="5286381" y="2954960"/>
          <a:ext cx="651072" cy="618518"/>
        </p:xfrm>
        <a:graphic>
          <a:graphicData uri="http://schemas.openxmlformats.org/presentationml/2006/ole">
            <p:oleObj spid="_x0000_s126979" name="Equation" r:id="rId5" imgW="253800" imgH="241200" progId="Equation.DSMT4">
              <p:embed/>
            </p:oleObj>
          </a:graphicData>
        </a:graphic>
      </p:graphicFrame>
      <p:cxnSp>
        <p:nvCxnSpPr>
          <p:cNvPr id="9" name="直線單箭頭接點 8"/>
          <p:cNvCxnSpPr/>
          <p:nvPr/>
        </p:nvCxnSpPr>
        <p:spPr>
          <a:xfrm>
            <a:off x="2357422" y="5786454"/>
            <a:ext cx="4214842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2357422" y="6143644"/>
            <a:ext cx="4286280" cy="158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rot="5400000">
            <a:off x="2215737" y="5785263"/>
            <a:ext cx="284958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rot="5400000">
            <a:off x="4216001" y="6142453"/>
            <a:ext cx="284958" cy="158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rot="5400000">
            <a:off x="2213752" y="6143644"/>
            <a:ext cx="286546" cy="79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rot="5400000">
            <a:off x="6502017" y="6142453"/>
            <a:ext cx="284958" cy="158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5478" name="Object 6"/>
          <p:cNvGraphicFramePr>
            <a:graphicFrameLocks noChangeAspect="1"/>
          </p:cNvGraphicFramePr>
          <p:nvPr/>
        </p:nvGraphicFramePr>
        <p:xfrm>
          <a:off x="3929058" y="5214950"/>
          <a:ext cx="1000132" cy="513581"/>
        </p:xfrm>
        <a:graphic>
          <a:graphicData uri="http://schemas.openxmlformats.org/presentationml/2006/ole">
            <p:oleObj spid="_x0000_s126980" name="Equation" r:id="rId6" imgW="469800" imgH="241200" progId="Equation.DSMT4">
              <p:embed/>
            </p:oleObj>
          </a:graphicData>
        </a:graphic>
      </p:graphicFrame>
      <p:graphicFrame>
        <p:nvGraphicFramePr>
          <p:cNvPr id="105479" name="Object 7"/>
          <p:cNvGraphicFramePr>
            <a:graphicFrameLocks noChangeAspect="1"/>
          </p:cNvGraphicFramePr>
          <p:nvPr/>
        </p:nvGraphicFramePr>
        <p:xfrm>
          <a:off x="3571868" y="5786454"/>
          <a:ext cx="290514" cy="435771"/>
        </p:xfrm>
        <a:graphic>
          <a:graphicData uri="http://schemas.openxmlformats.org/presentationml/2006/ole">
            <p:oleObj spid="_x0000_s126981" name="Equation" r:id="rId7" imgW="152280" imgH="228600" progId="Equation.DSMT4">
              <p:embed/>
            </p:oleObj>
          </a:graphicData>
        </a:graphic>
      </p:graphicFrame>
      <p:graphicFrame>
        <p:nvGraphicFramePr>
          <p:cNvPr id="105480" name="Object 8"/>
          <p:cNvGraphicFramePr>
            <a:graphicFrameLocks noChangeAspect="1"/>
          </p:cNvGraphicFramePr>
          <p:nvPr/>
        </p:nvGraphicFramePr>
        <p:xfrm>
          <a:off x="5643570" y="5715016"/>
          <a:ext cx="341492" cy="472835"/>
        </p:xfrm>
        <a:graphic>
          <a:graphicData uri="http://schemas.openxmlformats.org/presentationml/2006/ole">
            <p:oleObj spid="_x0000_s126982" name="Equation" r:id="rId8" imgW="164880" imgH="228600" progId="Equation.DSMT4">
              <p:embed/>
            </p:oleObj>
          </a:graphicData>
        </a:graphic>
      </p:graphicFrame>
      <p:sp>
        <p:nvSpPr>
          <p:cNvPr id="29" name="AutoShape 13"/>
          <p:cNvSpPr>
            <a:spLocks/>
          </p:cNvSpPr>
          <p:nvPr/>
        </p:nvSpPr>
        <p:spPr bwMode="auto">
          <a:xfrm rot="5400000">
            <a:off x="4357686" y="4143380"/>
            <a:ext cx="285752" cy="4286280"/>
          </a:xfrm>
          <a:prstGeom prst="rightBrace">
            <a:avLst>
              <a:gd name="adj1" fmla="val 83535"/>
              <a:gd name="adj2" fmla="val 51389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05481" name="Object 9"/>
          <p:cNvGraphicFramePr>
            <a:graphicFrameLocks noChangeAspect="1"/>
          </p:cNvGraphicFramePr>
          <p:nvPr/>
        </p:nvGraphicFramePr>
        <p:xfrm>
          <a:off x="4186675" y="6346129"/>
          <a:ext cx="536578" cy="568141"/>
        </p:xfrm>
        <a:graphic>
          <a:graphicData uri="http://schemas.openxmlformats.org/presentationml/2006/ole">
            <p:oleObj spid="_x0000_s126983" name="Equation" r:id="rId9" imgW="215640" imgH="228600" progId="Equation.DSMT4">
              <p:embed/>
            </p:oleObj>
          </a:graphicData>
        </a:graphic>
      </p:graphicFrame>
      <p:graphicFrame>
        <p:nvGraphicFramePr>
          <p:cNvPr id="105483" name="Object 11"/>
          <p:cNvGraphicFramePr>
            <a:graphicFrameLocks noChangeAspect="1"/>
          </p:cNvGraphicFramePr>
          <p:nvPr/>
        </p:nvGraphicFramePr>
        <p:xfrm>
          <a:off x="2143108" y="3214686"/>
          <a:ext cx="285752" cy="302561"/>
        </p:xfrm>
        <a:graphic>
          <a:graphicData uri="http://schemas.openxmlformats.org/presentationml/2006/ole">
            <p:oleObj spid="_x0000_s126984" name="Equation" r:id="rId10" imgW="215640" imgH="228600" progId="Equation.DSMT4">
              <p:embed/>
            </p:oleObj>
          </a:graphicData>
        </a:graphic>
      </p:graphicFrame>
      <p:graphicFrame>
        <p:nvGraphicFramePr>
          <p:cNvPr id="105484" name="Object 12"/>
          <p:cNvGraphicFramePr>
            <a:graphicFrameLocks noChangeAspect="1"/>
          </p:cNvGraphicFramePr>
          <p:nvPr/>
        </p:nvGraphicFramePr>
        <p:xfrm>
          <a:off x="3929058" y="2000240"/>
          <a:ext cx="721764" cy="357190"/>
        </p:xfrm>
        <a:graphic>
          <a:graphicData uri="http://schemas.openxmlformats.org/presentationml/2006/ole">
            <p:oleObj spid="_x0000_s126985" name="Equation" r:id="rId11" imgW="380880" imgH="241200" progId="Equation.DSMT4">
              <p:embed/>
            </p:oleObj>
          </a:graphicData>
        </a:graphic>
      </p:graphicFrame>
      <p:graphicFrame>
        <p:nvGraphicFramePr>
          <p:cNvPr id="105485" name="Object 13"/>
          <p:cNvGraphicFramePr>
            <a:graphicFrameLocks noChangeAspect="1"/>
          </p:cNvGraphicFramePr>
          <p:nvPr/>
        </p:nvGraphicFramePr>
        <p:xfrm>
          <a:off x="4143372" y="2971137"/>
          <a:ext cx="1037247" cy="386425"/>
        </p:xfrm>
        <a:graphic>
          <a:graphicData uri="http://schemas.openxmlformats.org/presentationml/2006/ole">
            <p:oleObj spid="_x0000_s126986" name="Equation" r:id="rId12" imgW="647640" imgH="241200" progId="Equation.DSMT4">
              <p:embed/>
            </p:oleObj>
          </a:graphicData>
        </a:graphic>
      </p:graphicFrame>
      <p:graphicFrame>
        <p:nvGraphicFramePr>
          <p:cNvPr id="105486" name="Object 14"/>
          <p:cNvGraphicFramePr>
            <a:graphicFrameLocks noChangeAspect="1"/>
          </p:cNvGraphicFramePr>
          <p:nvPr/>
        </p:nvGraphicFramePr>
        <p:xfrm>
          <a:off x="3929057" y="4429132"/>
          <a:ext cx="582783" cy="357190"/>
        </p:xfrm>
        <a:graphic>
          <a:graphicData uri="http://schemas.openxmlformats.org/presentationml/2006/ole">
            <p:oleObj spid="_x0000_s126987" name="Equation" r:id="rId13" imgW="393480" imgH="241200" progId="Equation.DSMT4">
              <p:embed/>
            </p:oleObj>
          </a:graphicData>
        </a:graphic>
      </p:graphicFrame>
      <p:graphicFrame>
        <p:nvGraphicFramePr>
          <p:cNvPr id="105487" name="Object 15"/>
          <p:cNvGraphicFramePr>
            <a:graphicFrameLocks noChangeAspect="1"/>
          </p:cNvGraphicFramePr>
          <p:nvPr/>
        </p:nvGraphicFramePr>
        <p:xfrm>
          <a:off x="6357950" y="1000108"/>
          <a:ext cx="998958" cy="462932"/>
        </p:xfrm>
        <a:graphic>
          <a:graphicData uri="http://schemas.openxmlformats.org/presentationml/2006/ole">
            <p:oleObj spid="_x0000_s126988" name="Equation" r:id="rId14" imgW="520560" imgH="241200" progId="Equation.DSMT4">
              <p:embed/>
            </p:oleObj>
          </a:graphicData>
        </a:graphic>
      </p:graphicFrame>
      <p:graphicFrame>
        <p:nvGraphicFramePr>
          <p:cNvPr id="105488" name="Object 16"/>
          <p:cNvGraphicFramePr>
            <a:graphicFrameLocks noChangeAspect="1"/>
          </p:cNvGraphicFramePr>
          <p:nvPr/>
        </p:nvGraphicFramePr>
        <p:xfrm>
          <a:off x="6357950" y="2643182"/>
          <a:ext cx="1593451" cy="465778"/>
        </p:xfrm>
        <a:graphic>
          <a:graphicData uri="http://schemas.openxmlformats.org/presentationml/2006/ole">
            <p:oleObj spid="_x0000_s126989" name="Equation" r:id="rId15" imgW="825480" imgH="241200" progId="Equation.DSMT4">
              <p:embed/>
            </p:oleObj>
          </a:graphicData>
        </a:graphic>
      </p:graphicFrame>
      <p:graphicFrame>
        <p:nvGraphicFramePr>
          <p:cNvPr id="105489" name="Object 17"/>
          <p:cNvGraphicFramePr>
            <a:graphicFrameLocks noChangeAspect="1"/>
          </p:cNvGraphicFramePr>
          <p:nvPr/>
        </p:nvGraphicFramePr>
        <p:xfrm>
          <a:off x="6429388" y="5286388"/>
          <a:ext cx="1105410" cy="500066"/>
        </p:xfrm>
        <a:graphic>
          <a:graphicData uri="http://schemas.openxmlformats.org/presentationml/2006/ole">
            <p:oleObj spid="_x0000_s126990" name="Equation" r:id="rId16" imgW="533160" imgH="2412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HSS methodology</a:t>
            </a:r>
            <a:endParaRPr lang="zh-TW" altLang="en-US" dirty="0" smtClean="0"/>
          </a:p>
        </p:txBody>
      </p:sp>
      <p:sp>
        <p:nvSpPr>
          <p:cNvPr id="22538" name="內容版面配置區 2"/>
          <p:cNvSpPr>
            <a:spLocks noGrp="1"/>
          </p:cNvSpPr>
          <p:nvPr>
            <p:ph idx="1"/>
          </p:nvPr>
        </p:nvSpPr>
        <p:spPr>
          <a:xfrm>
            <a:off x="428625" y="1643063"/>
            <a:ext cx="8229600" cy="4525962"/>
          </a:xfrm>
        </p:spPr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HSS method involves the construction of m separate binomial distribution, where the time periods are denoted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And have the set of a discrete stochastic for     , where       is only defined at time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general form of      at node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</a:t>
            </a:r>
          </a:p>
          <a:p>
            <a:pPr>
              <a:buFont typeface="Arial" charset="0"/>
              <a:buNone/>
            </a:pPr>
            <a:r>
              <a:rPr lang="en-US" altLang="zh-TW" smtClean="0"/>
              <a:t> </a:t>
            </a:r>
          </a:p>
          <a:p>
            <a:endParaRPr lang="zh-TW" altLang="en-US" smtClean="0"/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4148138" y="2640013"/>
          <a:ext cx="2252662" cy="614362"/>
        </p:xfrm>
        <a:graphic>
          <a:graphicData uri="http://schemas.openxmlformats.org/presentationml/2006/ole">
            <p:oleObj spid="_x0000_s128002" name="Equation" r:id="rId3" imgW="838080" imgH="228600" progId="Equation.DSMT4">
              <p:embed/>
            </p:oleObj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7962900" y="3278188"/>
          <a:ext cx="484188" cy="581025"/>
        </p:xfrm>
        <a:graphic>
          <a:graphicData uri="http://schemas.openxmlformats.org/presentationml/2006/ole">
            <p:oleObj spid="_x0000_s128003" name="Equation" r:id="rId4" imgW="190440" imgH="228600" progId="Equation.DSMT4">
              <p:embed/>
            </p:oleObj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1985963" y="3770313"/>
          <a:ext cx="431800" cy="519112"/>
        </p:xfrm>
        <a:graphic>
          <a:graphicData uri="http://schemas.openxmlformats.org/presentationml/2006/ole">
            <p:oleObj spid="_x0000_s128004" name="Equation" r:id="rId5" imgW="190440" imgH="228600" progId="Equation.DSMT4">
              <p:embed/>
            </p:oleObj>
          </a:graphicData>
        </a:graphic>
      </p:graphicFrame>
      <p:graphicFrame>
        <p:nvGraphicFramePr>
          <p:cNvPr id="22533" name="Object 6"/>
          <p:cNvGraphicFramePr>
            <a:graphicFrameLocks noChangeAspect="1"/>
          </p:cNvGraphicFramePr>
          <p:nvPr/>
        </p:nvGraphicFramePr>
        <p:xfrm>
          <a:off x="6215063" y="3786188"/>
          <a:ext cx="500062" cy="500062"/>
        </p:xfrm>
        <a:graphic>
          <a:graphicData uri="http://schemas.openxmlformats.org/presentationml/2006/ole">
            <p:oleObj spid="_x0000_s128005" name="Equation" r:id="rId6" imgW="114120" imgH="228600" progId="Equation.DSMT4">
              <p:embed/>
            </p:oleObj>
          </a:graphicData>
        </a:graphic>
      </p:graphicFrame>
      <p:graphicFrame>
        <p:nvGraphicFramePr>
          <p:cNvPr id="22534" name="Object 7"/>
          <p:cNvGraphicFramePr>
            <a:graphicFrameLocks noChangeAspect="1"/>
          </p:cNvGraphicFramePr>
          <p:nvPr/>
        </p:nvGraphicFramePr>
        <p:xfrm>
          <a:off x="4103688" y="4314825"/>
          <a:ext cx="452437" cy="542925"/>
        </p:xfrm>
        <a:graphic>
          <a:graphicData uri="http://schemas.openxmlformats.org/presentationml/2006/ole">
            <p:oleObj spid="_x0000_s128006" name="Equation" r:id="rId7" imgW="190440" imgH="228600" progId="Equation.DSMT4">
              <p:embed/>
            </p:oleObj>
          </a:graphicData>
        </a:graphic>
      </p:graphicFrame>
      <p:graphicFrame>
        <p:nvGraphicFramePr>
          <p:cNvPr id="22535" name="Object 8"/>
          <p:cNvGraphicFramePr>
            <a:graphicFrameLocks noChangeAspect="1"/>
          </p:cNvGraphicFramePr>
          <p:nvPr/>
        </p:nvGraphicFramePr>
        <p:xfrm>
          <a:off x="3214688" y="4786313"/>
          <a:ext cx="2603500" cy="642937"/>
        </p:xfrm>
        <a:graphic>
          <a:graphicData uri="http://schemas.openxmlformats.org/presentationml/2006/ole">
            <p:oleObj spid="_x0000_s128007" name="Equation" r:id="rId8" imgW="1028520" imgH="253800" progId="Equation.DSMT4">
              <p:embed/>
            </p:oleObj>
          </a:graphicData>
        </a:graphic>
      </p:graphicFrame>
      <p:graphicFrame>
        <p:nvGraphicFramePr>
          <p:cNvPr id="22536" name="Object 9"/>
          <p:cNvGraphicFramePr>
            <a:graphicFrameLocks noChangeAspect="1"/>
          </p:cNvGraphicFramePr>
          <p:nvPr/>
        </p:nvGraphicFramePr>
        <p:xfrm>
          <a:off x="2057400" y="5484813"/>
          <a:ext cx="1541463" cy="571500"/>
        </p:xfrm>
        <a:graphic>
          <a:graphicData uri="http://schemas.openxmlformats.org/presentationml/2006/ole">
            <p:oleObj spid="_x0000_s128008" name="Equation" r:id="rId9" imgW="787320" imgH="291960" progId="Equation.DSMT4">
              <p:embed/>
            </p:oleObj>
          </a:graphicData>
        </a:graphic>
      </p:graphicFrame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3BF41-C82E-47DE-9E05-2FAF8FAB002C}" type="slidenum">
              <a:rPr lang="zh-TW" altLang="en-US" smtClean="0"/>
              <a:pPr>
                <a:defRPr/>
              </a:pPr>
              <a:t>13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7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HSS methodology</a:t>
            </a:r>
            <a:endParaRPr lang="zh-TW" altLang="en-US" dirty="0" smtClean="0"/>
          </a:p>
        </p:txBody>
      </p:sp>
      <p:sp>
        <p:nvSpPr>
          <p:cNvPr id="2356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They denote                       and the probabilities to reach     given a node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at      as 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b="1" smtClean="0">
                <a:latin typeface="Times New Roman" pitchFamily="18" charset="0"/>
                <a:cs typeface="Times New Roman" pitchFamily="18" charset="0"/>
              </a:rPr>
              <a:t>Lemma 1 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Suppose that the up and down movements        and      are chosen so that</a:t>
            </a:r>
          </a:p>
          <a:p>
            <a:endParaRPr lang="en-US" altLang="zh-TW" smtClean="0"/>
          </a:p>
          <a:p>
            <a:endParaRPr lang="en-US" altLang="zh-TW" smtClean="0"/>
          </a:p>
          <a:p>
            <a:endParaRPr lang="en-US" altLang="zh-TW" smtClean="0"/>
          </a:p>
          <a:p>
            <a:pPr>
              <a:buFont typeface="Arial" charset="0"/>
              <a:buNone/>
            </a:pPr>
            <a:endParaRPr lang="zh-TW" altLang="en-US" smtClean="0"/>
          </a:p>
        </p:txBody>
      </p:sp>
      <p:graphicFrame>
        <p:nvGraphicFramePr>
          <p:cNvPr id="23554" name="Object 4"/>
          <p:cNvGraphicFramePr>
            <a:graphicFrameLocks noChangeAspect="1"/>
          </p:cNvGraphicFramePr>
          <p:nvPr/>
        </p:nvGraphicFramePr>
        <p:xfrm>
          <a:off x="2786063" y="1643063"/>
          <a:ext cx="2292350" cy="542925"/>
        </p:xfrm>
        <a:graphic>
          <a:graphicData uri="http://schemas.openxmlformats.org/presentationml/2006/ole">
            <p:oleObj spid="_x0000_s129026" name="Equation" r:id="rId3" imgW="965160" imgH="228600" progId="Equation.DSMT4">
              <p:embed/>
            </p:oleObj>
          </a:graphicData>
        </a:graphic>
      </p:graphicFrame>
      <p:graphicFrame>
        <p:nvGraphicFramePr>
          <p:cNvPr id="23555" name="Object 5"/>
          <p:cNvGraphicFramePr>
            <a:graphicFrameLocks noChangeAspect="1"/>
          </p:cNvGraphicFramePr>
          <p:nvPr/>
        </p:nvGraphicFramePr>
        <p:xfrm>
          <a:off x="1657350" y="2092325"/>
          <a:ext cx="381000" cy="571500"/>
        </p:xfrm>
        <a:graphic>
          <a:graphicData uri="http://schemas.openxmlformats.org/presentationml/2006/ole">
            <p:oleObj spid="_x0000_s129027" name="Equation" r:id="rId4" imgW="152280" imgH="228600" progId="Equation.DSMT4">
              <p:embed/>
            </p:oleObj>
          </a:graphicData>
        </a:graphic>
      </p:graphicFrame>
      <p:graphicFrame>
        <p:nvGraphicFramePr>
          <p:cNvPr id="23556" name="Object 6"/>
          <p:cNvGraphicFramePr>
            <a:graphicFrameLocks noChangeAspect="1"/>
          </p:cNvGraphicFramePr>
          <p:nvPr/>
        </p:nvGraphicFramePr>
        <p:xfrm>
          <a:off x="5343525" y="2114550"/>
          <a:ext cx="508000" cy="571500"/>
        </p:xfrm>
        <a:graphic>
          <a:graphicData uri="http://schemas.openxmlformats.org/presentationml/2006/ole">
            <p:oleObj spid="_x0000_s129028" name="Equation" r:id="rId5" imgW="203040" imgH="228600" progId="Equation.DSMT4">
              <p:embed/>
            </p:oleObj>
          </a:graphicData>
        </a:graphic>
      </p:graphicFrame>
      <p:graphicFrame>
        <p:nvGraphicFramePr>
          <p:cNvPr id="23557" name="Object 7"/>
          <p:cNvGraphicFramePr>
            <a:graphicFrameLocks noChangeAspect="1"/>
          </p:cNvGraphicFramePr>
          <p:nvPr/>
        </p:nvGraphicFramePr>
        <p:xfrm>
          <a:off x="2428875" y="2643188"/>
          <a:ext cx="4300538" cy="654050"/>
        </p:xfrm>
        <a:graphic>
          <a:graphicData uri="http://schemas.openxmlformats.org/presentationml/2006/ole">
            <p:oleObj spid="_x0000_s129029" name="Equation" r:id="rId6" imgW="1587240" imgH="241200" progId="Equation.DSMT4">
              <p:embed/>
            </p:oleObj>
          </a:graphicData>
        </a:graphic>
      </p:graphicFrame>
      <p:graphicFrame>
        <p:nvGraphicFramePr>
          <p:cNvPr id="23558" name="Object 8"/>
          <p:cNvGraphicFramePr>
            <a:graphicFrameLocks noChangeAspect="1"/>
          </p:cNvGraphicFramePr>
          <p:nvPr/>
        </p:nvGraphicFramePr>
        <p:xfrm>
          <a:off x="2828925" y="3716338"/>
          <a:ext cx="404813" cy="608012"/>
        </p:xfrm>
        <a:graphic>
          <a:graphicData uri="http://schemas.openxmlformats.org/presentationml/2006/ole">
            <p:oleObj spid="_x0000_s129030" name="Equation" r:id="rId7" imgW="152280" imgH="228600" progId="Equation.DSMT4">
              <p:embed/>
            </p:oleObj>
          </a:graphicData>
        </a:graphic>
      </p:graphicFrame>
      <p:graphicFrame>
        <p:nvGraphicFramePr>
          <p:cNvPr id="23559" name="Object 9"/>
          <p:cNvGraphicFramePr>
            <a:graphicFrameLocks noChangeAspect="1"/>
          </p:cNvGraphicFramePr>
          <p:nvPr/>
        </p:nvGraphicFramePr>
        <p:xfrm>
          <a:off x="4143375" y="3714750"/>
          <a:ext cx="419100" cy="628650"/>
        </p:xfrm>
        <a:graphic>
          <a:graphicData uri="http://schemas.openxmlformats.org/presentationml/2006/ole">
            <p:oleObj spid="_x0000_s129031" name="Equation" r:id="rId8" imgW="152280" imgH="228600" progId="Equation.DSMT4">
              <p:embed/>
            </p:oleObj>
          </a:graphicData>
        </a:graphic>
      </p:graphicFrame>
      <p:graphicFrame>
        <p:nvGraphicFramePr>
          <p:cNvPr id="23560" name="Object 10"/>
          <p:cNvGraphicFramePr>
            <a:graphicFrameLocks noChangeAspect="1"/>
          </p:cNvGraphicFramePr>
          <p:nvPr/>
        </p:nvGraphicFramePr>
        <p:xfrm>
          <a:off x="714375" y="4214813"/>
          <a:ext cx="7445375" cy="2428875"/>
        </p:xfrm>
        <a:graphic>
          <a:graphicData uri="http://schemas.openxmlformats.org/presentationml/2006/ole">
            <p:oleObj spid="_x0000_s129032" name="Equation" r:id="rId9" imgW="3035160" imgH="990360" progId="Equation.DSMT4">
              <p:embed/>
            </p:oleObj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4216400" y="2100263"/>
          <a:ext cx="747713" cy="592137"/>
        </p:xfrm>
        <a:graphic>
          <a:graphicData uri="http://schemas.openxmlformats.org/presentationml/2006/ole">
            <p:oleObj spid="_x0000_s129033" name="Equation" r:id="rId10" imgW="304560" imgH="241200" progId="Equation.DSMT4">
              <p:embed/>
            </p:oleObj>
          </a:graphicData>
        </a:graphic>
      </p:graphicFrame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0934D6-8406-4BFB-84DF-53A636949400}" type="slidenum">
              <a:rPr lang="zh-TW" altLang="en-US" smtClean="0"/>
              <a:pPr>
                <a:defRPr/>
              </a:pPr>
              <a:t>14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HSS methodology</a:t>
            </a:r>
            <a:endParaRPr lang="zh-TW" altLang="en-US" dirty="0" smtClean="0"/>
          </a:p>
        </p:txBody>
      </p:sp>
      <p:pic>
        <p:nvPicPr>
          <p:cNvPr id="5529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14313" y="1285875"/>
            <a:ext cx="8999537" cy="3286125"/>
          </a:xfrm>
          <a:noFill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AC4EAD-EB4E-4400-BA6A-9CDE522F45EF}" type="slidenum">
              <a:rPr lang="zh-TW" altLang="en-US" smtClean="0"/>
              <a:pPr>
                <a:defRPr/>
              </a:pPr>
              <a:t>15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TW" sz="3300" dirty="0" smtClean="0">
                <a:latin typeface="Times New Roman" pitchFamily="18" charset="0"/>
                <a:cs typeface="Times New Roman" pitchFamily="18" charset="0"/>
              </a:rPr>
              <a:t>Applying HSS methodology into </a:t>
            </a:r>
            <a:r>
              <a:rPr lang="en-US" altLang="zh-TW" sz="3300" dirty="0" err="1" smtClean="0">
                <a:latin typeface="Times New Roman" pitchFamily="18" charset="0"/>
                <a:cs typeface="Times New Roman" pitchFamily="18" charset="0"/>
              </a:rPr>
              <a:t>lMM</a:t>
            </a:r>
            <a:endParaRPr lang="zh-TW" altLang="en-US" sz="33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34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 apply this methodology into the LMM and make some change to satisfy our conventions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have the following propositions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D7A3D4-0E3D-4BE9-8733-03474210D255}" type="slidenum">
              <a:rPr lang="zh-TW" altLang="en-US" smtClean="0"/>
              <a:pPr>
                <a:defRPr/>
              </a:pPr>
              <a:t>16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Proposition 1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2" name="內容版面配置區 2"/>
          <p:cNvSpPr>
            <a:spLocks noGrp="1"/>
          </p:cNvSpPr>
          <p:nvPr>
            <p:ph idx="1"/>
          </p:nvPr>
        </p:nvSpPr>
        <p:spPr>
          <a:xfrm>
            <a:off x="428625" y="1571625"/>
            <a:ext cx="8229600" cy="4525963"/>
          </a:xfrm>
        </p:spPr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For the forward LIBOR rate which follows the lognormal distribution, we can choose the proper up and down movements to determine the i-th period of the    -maturity forward LIBOR rate and have the form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4286250" y="3071813"/>
          <a:ext cx="428625" cy="593725"/>
        </p:xfrm>
        <a:graphic>
          <a:graphicData uri="http://schemas.openxmlformats.org/presentationml/2006/ole">
            <p:oleObj spid="_x0000_s130050" name="Equation" r:id="rId3" imgW="164880" imgH="228600" progId="Equation.DSMT4">
              <p:embed/>
            </p:oleObj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1000125" y="4143375"/>
          <a:ext cx="7369175" cy="571500"/>
        </p:xfrm>
        <a:graphic>
          <a:graphicData uri="http://schemas.openxmlformats.org/presentationml/2006/ole">
            <p:oleObj spid="_x0000_s130051" name="Equation" r:id="rId4" imgW="3111480" imgH="241200" progId="Equation.DSMT4">
              <p:embed/>
            </p:oleObj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1941513" y="4783138"/>
          <a:ext cx="6762750" cy="2043112"/>
        </p:xfrm>
        <a:graphic>
          <a:graphicData uri="http://schemas.openxmlformats.org/presentationml/2006/ole">
            <p:oleObj spid="_x0000_s130052" name="Equation" r:id="rId5" imgW="3949560" imgH="1193760" progId="Equation.DSMT4">
              <p:embed/>
            </p:oleObj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717606-BD83-4B67-8855-56E16B4FD581}" type="slidenum">
              <a:rPr lang="zh-TW" altLang="en-US" smtClean="0"/>
              <a:pPr>
                <a:defRPr/>
              </a:pPr>
              <a:t>17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4124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binomial trees in discrete time forward rate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18</a:t>
            </a:fld>
            <a:endParaRPr lang="zh-TW" altLang="en-US"/>
          </a:p>
        </p:txBody>
      </p:sp>
      <p:grpSp>
        <p:nvGrpSpPr>
          <p:cNvPr id="3" name="群組 9"/>
          <p:cNvGrpSpPr/>
          <p:nvPr/>
        </p:nvGrpSpPr>
        <p:grpSpPr>
          <a:xfrm>
            <a:off x="1071538" y="1714488"/>
            <a:ext cx="1714512" cy="1500198"/>
            <a:chOff x="1500166" y="3714752"/>
            <a:chExt cx="1714512" cy="1500198"/>
          </a:xfrm>
        </p:grpSpPr>
        <p:grpSp>
          <p:nvGrpSpPr>
            <p:cNvPr id="5" name="群組 13"/>
            <p:cNvGrpSpPr/>
            <p:nvPr/>
          </p:nvGrpSpPr>
          <p:grpSpPr>
            <a:xfrm>
              <a:off x="1500166" y="4071940"/>
              <a:ext cx="928694" cy="785817"/>
              <a:chOff x="1643042" y="3404382"/>
              <a:chExt cx="785818" cy="1453378"/>
            </a:xfrm>
          </p:grpSpPr>
          <p:cxnSp>
            <p:nvCxnSpPr>
              <p:cNvPr id="18" name="直線單箭頭接點 17"/>
              <p:cNvCxnSpPr/>
              <p:nvPr/>
            </p:nvCxnSpPr>
            <p:spPr>
              <a:xfrm flipV="1">
                <a:off x="1643042" y="3404382"/>
                <a:ext cx="762533" cy="73899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/>
              <p:cNvCxnSpPr/>
              <p:nvPr/>
            </p:nvCxnSpPr>
            <p:spPr>
              <a:xfrm>
                <a:off x="1643042" y="4143380"/>
                <a:ext cx="785818" cy="7143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群組 23"/>
            <p:cNvGrpSpPr/>
            <p:nvPr/>
          </p:nvGrpSpPr>
          <p:grpSpPr>
            <a:xfrm>
              <a:off x="2285984" y="4429130"/>
              <a:ext cx="928694" cy="785817"/>
              <a:chOff x="1643042" y="3404382"/>
              <a:chExt cx="785818" cy="1453378"/>
            </a:xfrm>
          </p:grpSpPr>
          <p:cxnSp>
            <p:nvCxnSpPr>
              <p:cNvPr id="16" name="直線單箭頭接點 15"/>
              <p:cNvCxnSpPr/>
              <p:nvPr/>
            </p:nvCxnSpPr>
            <p:spPr>
              <a:xfrm flipV="1">
                <a:off x="1643042" y="3404382"/>
                <a:ext cx="762533" cy="73899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線單箭頭接點 16"/>
              <p:cNvCxnSpPr/>
              <p:nvPr/>
            </p:nvCxnSpPr>
            <p:spPr>
              <a:xfrm>
                <a:off x="1643042" y="4143380"/>
                <a:ext cx="785818" cy="7143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群組 26"/>
            <p:cNvGrpSpPr/>
            <p:nvPr/>
          </p:nvGrpSpPr>
          <p:grpSpPr>
            <a:xfrm>
              <a:off x="2285984" y="3714750"/>
              <a:ext cx="928694" cy="785817"/>
              <a:chOff x="1643042" y="3404382"/>
              <a:chExt cx="785818" cy="1453378"/>
            </a:xfrm>
          </p:grpSpPr>
          <p:cxnSp>
            <p:nvCxnSpPr>
              <p:cNvPr id="14" name="直線單箭頭接點 13"/>
              <p:cNvCxnSpPr/>
              <p:nvPr/>
            </p:nvCxnSpPr>
            <p:spPr>
              <a:xfrm flipV="1">
                <a:off x="1643042" y="3404382"/>
                <a:ext cx="762533" cy="73899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線單箭頭接點 14"/>
              <p:cNvCxnSpPr/>
              <p:nvPr/>
            </p:nvCxnSpPr>
            <p:spPr>
              <a:xfrm>
                <a:off x="1643042" y="4143380"/>
                <a:ext cx="785818" cy="7143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文字方塊 19"/>
          <p:cNvSpPr txBox="1"/>
          <p:nvPr/>
        </p:nvSpPr>
        <p:spPr>
          <a:xfrm>
            <a:off x="214282" y="2285992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f(0;1,2)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786050" y="142873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(1;1,2)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214546" y="4000504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(0;2,3)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000496" y="2928934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(1;2,3)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072198" y="2071678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(2;2,3)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" name="群組 24"/>
          <p:cNvGrpSpPr/>
          <p:nvPr/>
        </p:nvGrpSpPr>
        <p:grpSpPr>
          <a:xfrm>
            <a:off x="3158634" y="2872008"/>
            <a:ext cx="2304708" cy="2500306"/>
            <a:chOff x="966273" y="1985744"/>
            <a:chExt cx="2304708" cy="4260110"/>
          </a:xfrm>
        </p:grpSpPr>
        <p:grpSp>
          <p:nvGrpSpPr>
            <p:cNvPr id="9" name="群組 6"/>
            <p:cNvGrpSpPr/>
            <p:nvPr/>
          </p:nvGrpSpPr>
          <p:grpSpPr>
            <a:xfrm>
              <a:off x="966273" y="3414504"/>
              <a:ext cx="785818" cy="1428760"/>
              <a:chOff x="1643042" y="4857760"/>
              <a:chExt cx="785818" cy="714380"/>
            </a:xfrm>
          </p:grpSpPr>
          <p:cxnSp>
            <p:nvCxnSpPr>
              <p:cNvPr id="42" name="直線單箭頭接點 4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直線單箭頭接點 5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群組 10"/>
            <p:cNvGrpSpPr/>
            <p:nvPr/>
          </p:nvGrpSpPr>
          <p:grpSpPr>
            <a:xfrm>
              <a:off x="1709888" y="4114816"/>
              <a:ext cx="785818" cy="1428760"/>
              <a:chOff x="1643042" y="4857760"/>
              <a:chExt cx="785818" cy="714380"/>
            </a:xfrm>
          </p:grpSpPr>
          <p:cxnSp>
            <p:nvCxnSpPr>
              <p:cNvPr id="40" name="直線單箭頭接點 39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直線單箭頭接點 40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群組 13"/>
            <p:cNvGrpSpPr/>
            <p:nvPr/>
          </p:nvGrpSpPr>
          <p:grpSpPr>
            <a:xfrm>
              <a:off x="1708788" y="2728260"/>
              <a:ext cx="785818" cy="1428760"/>
              <a:chOff x="1643042" y="4857760"/>
              <a:chExt cx="785818" cy="714380"/>
            </a:xfrm>
          </p:grpSpPr>
          <p:cxnSp>
            <p:nvCxnSpPr>
              <p:cNvPr id="38" name="直線單箭頭接點 37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線單箭頭接點 38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群組 16"/>
            <p:cNvGrpSpPr/>
            <p:nvPr/>
          </p:nvGrpSpPr>
          <p:grpSpPr>
            <a:xfrm>
              <a:off x="2466471" y="3414504"/>
              <a:ext cx="785818" cy="1428760"/>
              <a:chOff x="1643042" y="4857760"/>
              <a:chExt cx="785818" cy="714380"/>
            </a:xfrm>
          </p:grpSpPr>
          <p:cxnSp>
            <p:nvCxnSpPr>
              <p:cNvPr id="36" name="直線單箭頭接點 35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直線單箭頭接點 36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群組 19"/>
            <p:cNvGrpSpPr/>
            <p:nvPr/>
          </p:nvGrpSpPr>
          <p:grpSpPr>
            <a:xfrm>
              <a:off x="2466471" y="1985744"/>
              <a:ext cx="785818" cy="1428760"/>
              <a:chOff x="1643042" y="4857760"/>
              <a:chExt cx="785818" cy="714380"/>
            </a:xfrm>
          </p:grpSpPr>
          <p:cxnSp>
            <p:nvCxnSpPr>
              <p:cNvPr id="34" name="直線單箭頭接點 33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直線單箭頭接點 34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群組 22"/>
            <p:cNvGrpSpPr/>
            <p:nvPr/>
          </p:nvGrpSpPr>
          <p:grpSpPr>
            <a:xfrm>
              <a:off x="2485163" y="4817094"/>
              <a:ext cx="785818" cy="1428760"/>
              <a:chOff x="1643042" y="4857760"/>
              <a:chExt cx="785818" cy="714380"/>
            </a:xfrm>
          </p:grpSpPr>
          <p:cxnSp>
            <p:nvCxnSpPr>
              <p:cNvPr id="32" name="直線單箭頭接點 31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直線單箭頭接點 32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06498" name="Object 2"/>
          <p:cNvGraphicFramePr>
            <a:graphicFrameLocks noChangeAspect="1"/>
          </p:cNvGraphicFramePr>
          <p:nvPr/>
        </p:nvGraphicFramePr>
        <p:xfrm>
          <a:off x="7500958" y="4714884"/>
          <a:ext cx="892014" cy="323852"/>
        </p:xfrm>
        <a:graphic>
          <a:graphicData uri="http://schemas.openxmlformats.org/presentationml/2006/ole">
            <p:oleObj spid="_x0000_s131074" name="Equation" r:id="rId3" imgW="139680" imgH="75960" progId="Equation.DSMT4">
              <p:embed/>
            </p:oleObj>
          </a:graphicData>
        </a:graphic>
      </p:graphicFrame>
      <p:grpSp>
        <p:nvGrpSpPr>
          <p:cNvPr id="26" name="群組 13"/>
          <p:cNvGrpSpPr/>
          <p:nvPr/>
        </p:nvGrpSpPr>
        <p:grpSpPr>
          <a:xfrm>
            <a:off x="5471459" y="3286122"/>
            <a:ext cx="928694" cy="785817"/>
            <a:chOff x="1643042" y="3404382"/>
            <a:chExt cx="785818" cy="1453378"/>
          </a:xfrm>
        </p:grpSpPr>
        <p:cxnSp>
          <p:nvCxnSpPr>
            <p:cNvPr id="56" name="直線單箭頭接點 55"/>
            <p:cNvCxnSpPr/>
            <p:nvPr/>
          </p:nvCxnSpPr>
          <p:spPr>
            <a:xfrm flipV="1">
              <a:off x="1643042" y="3404382"/>
              <a:ext cx="762533" cy="73899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/>
            <p:nvPr/>
          </p:nvCxnSpPr>
          <p:spPr>
            <a:xfrm>
              <a:off x="1643042" y="4143380"/>
              <a:ext cx="785818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群組 23"/>
          <p:cNvGrpSpPr/>
          <p:nvPr/>
        </p:nvGrpSpPr>
        <p:grpSpPr>
          <a:xfrm>
            <a:off x="5486626" y="4143380"/>
            <a:ext cx="928694" cy="785817"/>
            <a:chOff x="1643042" y="3404382"/>
            <a:chExt cx="785818" cy="1453378"/>
          </a:xfrm>
        </p:grpSpPr>
        <p:cxnSp>
          <p:nvCxnSpPr>
            <p:cNvPr id="54" name="直線單箭頭接點 53"/>
            <p:cNvCxnSpPr/>
            <p:nvPr/>
          </p:nvCxnSpPr>
          <p:spPr>
            <a:xfrm flipV="1">
              <a:off x="1643042" y="3404382"/>
              <a:ext cx="762533" cy="73899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>
              <a:off x="1643042" y="4143380"/>
              <a:ext cx="785818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群組 26"/>
          <p:cNvGrpSpPr/>
          <p:nvPr/>
        </p:nvGrpSpPr>
        <p:grpSpPr>
          <a:xfrm>
            <a:off x="5429256" y="2458103"/>
            <a:ext cx="928694" cy="785817"/>
            <a:chOff x="1643042" y="3404382"/>
            <a:chExt cx="785818" cy="1453378"/>
          </a:xfrm>
        </p:grpSpPr>
        <p:cxnSp>
          <p:nvCxnSpPr>
            <p:cNvPr id="52" name="直線單箭頭接點 51"/>
            <p:cNvCxnSpPr/>
            <p:nvPr/>
          </p:nvCxnSpPr>
          <p:spPr>
            <a:xfrm flipV="1">
              <a:off x="1643042" y="3404382"/>
              <a:ext cx="762533" cy="73899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線單箭頭接點 52"/>
            <p:cNvCxnSpPr/>
            <p:nvPr/>
          </p:nvCxnSpPr>
          <p:spPr>
            <a:xfrm>
              <a:off x="1643042" y="4143380"/>
              <a:ext cx="785818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群組 23"/>
          <p:cNvGrpSpPr/>
          <p:nvPr/>
        </p:nvGrpSpPr>
        <p:grpSpPr>
          <a:xfrm>
            <a:off x="5478558" y="4977618"/>
            <a:ext cx="928694" cy="785817"/>
            <a:chOff x="1643042" y="3404382"/>
            <a:chExt cx="785818" cy="1453378"/>
          </a:xfrm>
        </p:grpSpPr>
        <p:cxnSp>
          <p:nvCxnSpPr>
            <p:cNvPr id="74" name="直線單箭頭接點 73"/>
            <p:cNvCxnSpPr/>
            <p:nvPr/>
          </p:nvCxnSpPr>
          <p:spPr>
            <a:xfrm flipV="1">
              <a:off x="1643042" y="3404382"/>
              <a:ext cx="762533" cy="73899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>
              <a:off x="1643042" y="4143380"/>
              <a:ext cx="785818" cy="7143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structure of the binomial tree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17" name="內容版面配置區 5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With          nodes at  numbered                There are               nodes at      numbered               Here we write the forward rate  </a:t>
            </a:r>
          </a:p>
          <a:p>
            <a:pPr>
              <a:buFont typeface="Wingdings 2" pitchFamily="18" charset="2"/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in abbreviated form  </a:t>
            </a:r>
          </a:p>
          <a:p>
            <a:pPr>
              <a:buFont typeface="Wingdings 2" pitchFamily="18" charset="2"/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and take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= 2,</a:t>
            </a:r>
          </a:p>
          <a:p>
            <a:pPr>
              <a:buFont typeface="Wingdings 2" pitchFamily="18" charset="2"/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18" name="內容版面配置區 5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385BAB-0F6E-4201-A509-84F96AA6347D}" type="slidenum">
              <a:rPr lang="zh-TW" altLang="en-US" smtClean="0"/>
              <a:pPr>
                <a:defRPr/>
              </a:pPr>
              <a:t>19</a:t>
            </a:fld>
            <a:endParaRPr lang="zh-TW" altLang="en-US"/>
          </a:p>
        </p:txBody>
      </p:sp>
      <p:grpSp>
        <p:nvGrpSpPr>
          <p:cNvPr id="3" name="群組 30"/>
          <p:cNvGrpSpPr>
            <a:grpSpLocks/>
          </p:cNvGrpSpPr>
          <p:nvPr/>
        </p:nvGrpSpPr>
        <p:grpSpPr bwMode="auto">
          <a:xfrm>
            <a:off x="4143375" y="1571625"/>
            <a:ext cx="5000625" cy="4986338"/>
            <a:chOff x="285720" y="428604"/>
            <a:chExt cx="4781576" cy="5986498"/>
          </a:xfrm>
        </p:grpSpPr>
        <p:grpSp>
          <p:nvGrpSpPr>
            <p:cNvPr id="5" name="群組 48"/>
            <p:cNvGrpSpPr>
              <a:grpSpLocks/>
            </p:cNvGrpSpPr>
            <p:nvPr/>
          </p:nvGrpSpPr>
          <p:grpSpPr bwMode="auto">
            <a:xfrm>
              <a:off x="857224" y="500042"/>
              <a:ext cx="3128978" cy="5915060"/>
              <a:chOff x="857224" y="500042"/>
              <a:chExt cx="3128978" cy="5915060"/>
            </a:xfrm>
          </p:grpSpPr>
          <p:sp>
            <p:nvSpPr>
              <p:cNvPr id="40" name="橢圓 39"/>
              <p:cNvSpPr/>
              <p:nvPr/>
            </p:nvSpPr>
            <p:spPr>
              <a:xfrm>
                <a:off x="3786137" y="6214980"/>
                <a:ext cx="200371" cy="20012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sp>
            <p:nvSpPr>
              <p:cNvPr id="41" name="橢圓 40"/>
              <p:cNvSpPr/>
              <p:nvPr/>
            </p:nvSpPr>
            <p:spPr>
              <a:xfrm>
                <a:off x="3071178" y="5500260"/>
                <a:ext cx="200371" cy="20012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sp>
            <p:nvSpPr>
              <p:cNvPr id="42" name="橢圓 41"/>
              <p:cNvSpPr/>
              <p:nvPr/>
            </p:nvSpPr>
            <p:spPr>
              <a:xfrm>
                <a:off x="3071178" y="2643284"/>
                <a:ext cx="200371" cy="20012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grpSp>
            <p:nvGrpSpPr>
              <p:cNvPr id="6" name="群組 31"/>
              <p:cNvGrpSpPr>
                <a:grpSpLocks/>
              </p:cNvGrpSpPr>
              <p:nvPr/>
            </p:nvGrpSpPr>
            <p:grpSpPr bwMode="auto">
              <a:xfrm>
                <a:off x="3071802" y="500042"/>
                <a:ext cx="914400" cy="1557342"/>
                <a:chOff x="3071802" y="500042"/>
                <a:chExt cx="914400" cy="1557342"/>
              </a:xfrm>
            </p:grpSpPr>
            <p:sp>
              <p:nvSpPr>
                <p:cNvPr id="54" name="橢圓 4"/>
                <p:cNvSpPr/>
                <p:nvPr/>
              </p:nvSpPr>
              <p:spPr>
                <a:xfrm>
                  <a:off x="3786137" y="1852327"/>
                  <a:ext cx="200371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5" name="橢圓 5"/>
                <p:cNvSpPr/>
                <p:nvPr/>
              </p:nvSpPr>
              <p:spPr>
                <a:xfrm>
                  <a:off x="3786137" y="499124"/>
                  <a:ext cx="200371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6" name="橢圓 55"/>
                <p:cNvSpPr/>
                <p:nvPr/>
              </p:nvSpPr>
              <p:spPr>
                <a:xfrm>
                  <a:off x="3071179" y="1210031"/>
                  <a:ext cx="200371" cy="20012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</p:grpSp>
          <p:grpSp>
            <p:nvGrpSpPr>
              <p:cNvPr id="7" name="群組 16"/>
              <p:cNvGrpSpPr>
                <a:grpSpLocks/>
              </p:cNvGrpSpPr>
              <p:nvPr/>
            </p:nvGrpSpPr>
            <p:grpSpPr bwMode="auto">
              <a:xfrm>
                <a:off x="857224" y="1857364"/>
                <a:ext cx="1628780" cy="3128978"/>
                <a:chOff x="857224" y="1857364"/>
                <a:chExt cx="1628780" cy="3128978"/>
              </a:xfrm>
            </p:grpSpPr>
            <p:sp>
              <p:nvSpPr>
                <p:cNvPr id="48" name="橢圓 47"/>
                <p:cNvSpPr/>
                <p:nvPr/>
              </p:nvSpPr>
              <p:spPr>
                <a:xfrm>
                  <a:off x="2284875" y="4785539"/>
                  <a:ext cx="200371" cy="20012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49" name="橢圓 48"/>
                <p:cNvSpPr/>
                <p:nvPr/>
              </p:nvSpPr>
              <p:spPr>
                <a:xfrm>
                  <a:off x="2284875" y="3352287"/>
                  <a:ext cx="200371" cy="20393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0" name="橢圓 49"/>
                <p:cNvSpPr/>
                <p:nvPr/>
              </p:nvSpPr>
              <p:spPr>
                <a:xfrm>
                  <a:off x="2284875" y="1852328"/>
                  <a:ext cx="200371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1" name="橢圓 13"/>
                <p:cNvSpPr/>
                <p:nvPr/>
              </p:nvSpPr>
              <p:spPr>
                <a:xfrm>
                  <a:off x="1571433" y="4070819"/>
                  <a:ext cx="198852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2" name="橢圓 14"/>
                <p:cNvSpPr/>
                <p:nvPr/>
              </p:nvSpPr>
              <p:spPr>
                <a:xfrm>
                  <a:off x="1571433" y="2637567"/>
                  <a:ext cx="198852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3" name="橢圓 52"/>
                <p:cNvSpPr/>
                <p:nvPr/>
              </p:nvSpPr>
              <p:spPr>
                <a:xfrm>
                  <a:off x="856473" y="3352287"/>
                  <a:ext cx="200371" cy="20393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</p:grpSp>
          <p:sp>
            <p:nvSpPr>
              <p:cNvPr id="45" name="橢圓 44"/>
              <p:cNvSpPr/>
              <p:nvPr/>
            </p:nvSpPr>
            <p:spPr>
              <a:xfrm>
                <a:off x="3786137" y="4785539"/>
                <a:ext cx="200371" cy="20012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sp>
            <p:nvSpPr>
              <p:cNvPr id="46" name="橢圓 45"/>
              <p:cNvSpPr/>
              <p:nvPr/>
            </p:nvSpPr>
            <p:spPr>
              <a:xfrm>
                <a:off x="3786137" y="3358005"/>
                <a:ext cx="200371" cy="19821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sp>
            <p:nvSpPr>
              <p:cNvPr id="47" name="橢圓 46"/>
              <p:cNvSpPr/>
              <p:nvPr/>
            </p:nvSpPr>
            <p:spPr>
              <a:xfrm>
                <a:off x="3071178" y="4070819"/>
                <a:ext cx="200371" cy="20012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</p:grpSp>
        <p:graphicFrame>
          <p:nvGraphicFramePr>
            <p:cNvPr id="25609" name="Object 2"/>
            <p:cNvGraphicFramePr>
              <a:graphicFrameLocks noChangeAspect="1"/>
            </p:cNvGraphicFramePr>
            <p:nvPr/>
          </p:nvGraphicFramePr>
          <p:xfrm>
            <a:off x="285720" y="3357562"/>
            <a:ext cx="469900" cy="203200"/>
          </p:xfrm>
          <a:graphic>
            <a:graphicData uri="http://schemas.openxmlformats.org/presentationml/2006/ole">
              <p:oleObj spid="_x0000_s132105" name="Equation" r:id="rId3" imgW="469800" imgH="203040" progId="Equation.DSMT4">
                <p:embed/>
              </p:oleObj>
            </a:graphicData>
          </a:graphic>
        </p:graphicFrame>
        <p:graphicFrame>
          <p:nvGraphicFramePr>
            <p:cNvPr id="25610" name="Object 3"/>
            <p:cNvGraphicFramePr>
              <a:graphicFrameLocks noChangeAspect="1"/>
            </p:cNvGraphicFramePr>
            <p:nvPr/>
          </p:nvGraphicFramePr>
          <p:xfrm>
            <a:off x="2500298" y="1785926"/>
            <a:ext cx="622300" cy="241300"/>
          </p:xfrm>
          <a:graphic>
            <a:graphicData uri="http://schemas.openxmlformats.org/presentationml/2006/ole">
              <p:oleObj spid="_x0000_s132106" name="Equation" r:id="rId4" imgW="622080" imgH="241200" progId="Equation.DSMT4">
                <p:embed/>
              </p:oleObj>
            </a:graphicData>
          </a:graphic>
        </p:graphicFrame>
        <p:graphicFrame>
          <p:nvGraphicFramePr>
            <p:cNvPr id="25611" name="Object 4"/>
            <p:cNvGraphicFramePr>
              <a:graphicFrameLocks noChangeAspect="1"/>
            </p:cNvGraphicFramePr>
            <p:nvPr/>
          </p:nvGraphicFramePr>
          <p:xfrm>
            <a:off x="2500298" y="3286124"/>
            <a:ext cx="901700" cy="241300"/>
          </p:xfrm>
          <a:graphic>
            <a:graphicData uri="http://schemas.openxmlformats.org/presentationml/2006/ole">
              <p:oleObj spid="_x0000_s132107" name="Equation" r:id="rId5" imgW="901440" imgH="241200" progId="Equation.DSMT4">
                <p:embed/>
              </p:oleObj>
            </a:graphicData>
          </a:graphic>
        </p:graphicFrame>
        <p:graphicFrame>
          <p:nvGraphicFramePr>
            <p:cNvPr id="25612" name="Object 5"/>
            <p:cNvGraphicFramePr>
              <a:graphicFrameLocks noChangeAspect="1"/>
            </p:cNvGraphicFramePr>
            <p:nvPr/>
          </p:nvGraphicFramePr>
          <p:xfrm>
            <a:off x="2500298" y="4714884"/>
            <a:ext cx="635000" cy="241300"/>
          </p:xfrm>
          <a:graphic>
            <a:graphicData uri="http://schemas.openxmlformats.org/presentationml/2006/ole">
              <p:oleObj spid="_x0000_s132108" name="Equation" r:id="rId6" imgW="634680" imgH="241200" progId="Equation.DSMT4">
                <p:embed/>
              </p:oleObj>
            </a:graphicData>
          </a:graphic>
        </p:graphicFrame>
        <p:graphicFrame>
          <p:nvGraphicFramePr>
            <p:cNvPr id="25613" name="Object 6"/>
            <p:cNvGraphicFramePr>
              <a:graphicFrameLocks noChangeAspect="1"/>
            </p:cNvGraphicFramePr>
            <p:nvPr/>
          </p:nvGraphicFramePr>
          <p:xfrm>
            <a:off x="4000496" y="428604"/>
            <a:ext cx="774700" cy="241300"/>
          </p:xfrm>
          <a:graphic>
            <a:graphicData uri="http://schemas.openxmlformats.org/presentationml/2006/ole">
              <p:oleObj spid="_x0000_s132109" name="Equation" r:id="rId7" imgW="774360" imgH="241200" progId="Equation.DSMT4">
                <p:embed/>
              </p:oleObj>
            </a:graphicData>
          </a:graphic>
        </p:graphicFrame>
        <p:graphicFrame>
          <p:nvGraphicFramePr>
            <p:cNvPr id="25614" name="Object 7"/>
            <p:cNvGraphicFramePr>
              <a:graphicFrameLocks noChangeAspect="1"/>
            </p:cNvGraphicFramePr>
            <p:nvPr/>
          </p:nvGraphicFramePr>
          <p:xfrm>
            <a:off x="4000496" y="3286124"/>
            <a:ext cx="1066800" cy="241300"/>
          </p:xfrm>
          <a:graphic>
            <a:graphicData uri="http://schemas.openxmlformats.org/presentationml/2006/ole">
              <p:oleObj spid="_x0000_s132110" name="Equation" r:id="rId8" imgW="1066680" imgH="241200" progId="Equation.DSMT4">
                <p:embed/>
              </p:oleObj>
            </a:graphicData>
          </a:graphic>
        </p:graphicFrame>
        <p:graphicFrame>
          <p:nvGraphicFramePr>
            <p:cNvPr id="25615" name="Object 8"/>
            <p:cNvGraphicFramePr>
              <a:graphicFrameLocks noChangeAspect="1"/>
            </p:cNvGraphicFramePr>
            <p:nvPr/>
          </p:nvGraphicFramePr>
          <p:xfrm>
            <a:off x="4000496" y="6143644"/>
            <a:ext cx="787400" cy="241300"/>
          </p:xfrm>
          <a:graphic>
            <a:graphicData uri="http://schemas.openxmlformats.org/presentationml/2006/ole">
              <p:oleObj spid="_x0000_s132111" name="Equation" r:id="rId9" imgW="787320" imgH="241200" progId="Equation.DSMT4">
                <p:embed/>
              </p:oleObj>
            </a:graphicData>
          </a:graphic>
        </p:graphicFrame>
      </p:grpSp>
      <p:graphicFrame>
        <p:nvGraphicFramePr>
          <p:cNvPr id="25602" name="Object 9"/>
          <p:cNvGraphicFramePr>
            <a:graphicFrameLocks noChangeAspect="1"/>
          </p:cNvGraphicFramePr>
          <p:nvPr/>
        </p:nvGraphicFramePr>
        <p:xfrm>
          <a:off x="1527175" y="1685925"/>
          <a:ext cx="671513" cy="447675"/>
        </p:xfrm>
        <a:graphic>
          <a:graphicData uri="http://schemas.openxmlformats.org/presentationml/2006/ole">
            <p:oleObj spid="_x0000_s132098" name="Equation" r:id="rId10" imgW="342720" imgH="228600" progId="Equation.DSMT4">
              <p:embed/>
            </p:oleObj>
          </a:graphicData>
        </a:graphic>
      </p:graphicFrame>
      <p:graphicFrame>
        <p:nvGraphicFramePr>
          <p:cNvPr id="25603" name="Object 10"/>
          <p:cNvGraphicFramePr>
            <a:graphicFrameLocks noChangeAspect="1"/>
          </p:cNvGraphicFramePr>
          <p:nvPr/>
        </p:nvGraphicFramePr>
        <p:xfrm>
          <a:off x="3709988" y="1643063"/>
          <a:ext cx="319087" cy="520700"/>
        </p:xfrm>
        <a:graphic>
          <a:graphicData uri="http://schemas.openxmlformats.org/presentationml/2006/ole">
            <p:oleObj spid="_x0000_s132099" name="Equation" r:id="rId11" imgW="139680" imgH="228600" progId="Equation.DSMT4">
              <p:embed/>
            </p:oleObj>
          </a:graphicData>
        </a:graphic>
      </p:graphicFrame>
      <p:sp>
        <p:nvSpPr>
          <p:cNvPr id="2562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pic>
        <p:nvPicPr>
          <p:cNvPr id="25622" name="Picture 11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57438" y="2143125"/>
            <a:ext cx="1804987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5604" name="Object 13"/>
          <p:cNvGraphicFramePr>
            <a:graphicFrameLocks noChangeAspect="1"/>
          </p:cNvGraphicFramePr>
          <p:nvPr/>
        </p:nvGraphicFramePr>
        <p:xfrm>
          <a:off x="2185988" y="2528888"/>
          <a:ext cx="1201737" cy="442912"/>
        </p:xfrm>
        <a:graphic>
          <a:graphicData uri="http://schemas.openxmlformats.org/presentationml/2006/ole">
            <p:oleObj spid="_x0000_s132100" name="Equation" r:id="rId13" imgW="622080" imgH="228600" progId="Equation.DSMT4">
              <p:embed/>
            </p:oleObj>
          </a:graphicData>
        </a:graphic>
      </p:graphicFrame>
      <p:graphicFrame>
        <p:nvGraphicFramePr>
          <p:cNvPr id="25605" name="Object 14"/>
          <p:cNvGraphicFramePr>
            <a:graphicFrameLocks noChangeAspect="1"/>
          </p:cNvGraphicFramePr>
          <p:nvPr/>
        </p:nvGraphicFramePr>
        <p:xfrm>
          <a:off x="1114425" y="2957513"/>
          <a:ext cx="357188" cy="493712"/>
        </p:xfrm>
        <a:graphic>
          <a:graphicData uri="http://schemas.openxmlformats.org/presentationml/2006/ole">
            <p:oleObj spid="_x0000_s132101" name="Equation" r:id="rId14" imgW="164880" imgH="228600" progId="Equation.DSMT4">
              <p:embed/>
            </p:oleObj>
          </a:graphicData>
        </a:graphic>
      </p:graphicFrame>
      <p:graphicFrame>
        <p:nvGraphicFramePr>
          <p:cNvPr id="25606" name="Object 15"/>
          <p:cNvGraphicFramePr>
            <a:graphicFrameLocks noChangeAspect="1"/>
          </p:cNvGraphicFramePr>
          <p:nvPr/>
        </p:nvGraphicFramePr>
        <p:xfrm>
          <a:off x="3014432" y="2999272"/>
          <a:ext cx="1889125" cy="400050"/>
        </p:xfrm>
        <a:graphic>
          <a:graphicData uri="http://schemas.openxmlformats.org/presentationml/2006/ole">
            <p:oleObj spid="_x0000_s132102" name="Equation" r:id="rId15" imgW="1079280" imgH="228600" progId="Equation.DSMT4">
              <p:embed/>
            </p:oleObj>
          </a:graphicData>
        </a:graphic>
      </p:graphicFrame>
      <p:graphicFrame>
        <p:nvGraphicFramePr>
          <p:cNvPr id="25607" name="Object 16"/>
          <p:cNvGraphicFramePr>
            <a:graphicFrameLocks noChangeAspect="1"/>
          </p:cNvGraphicFramePr>
          <p:nvPr/>
        </p:nvGraphicFramePr>
        <p:xfrm>
          <a:off x="2643188" y="3856038"/>
          <a:ext cx="1112837" cy="387350"/>
        </p:xfrm>
        <a:graphic>
          <a:graphicData uri="http://schemas.openxmlformats.org/presentationml/2006/ole">
            <p:oleObj spid="_x0000_s132103" name="Equation" r:id="rId16" imgW="583920" imgH="203040" progId="Equation.DSMT4">
              <p:embed/>
            </p:oleObj>
          </a:graphicData>
        </a:graphic>
      </p:graphicFrame>
      <p:graphicFrame>
        <p:nvGraphicFramePr>
          <p:cNvPr id="25608" name="Object 17"/>
          <p:cNvGraphicFramePr>
            <a:graphicFrameLocks noChangeAspect="1"/>
          </p:cNvGraphicFramePr>
          <p:nvPr/>
        </p:nvGraphicFramePr>
        <p:xfrm>
          <a:off x="3530600" y="4344988"/>
          <a:ext cx="990600" cy="428625"/>
        </p:xfrm>
        <a:graphic>
          <a:graphicData uri="http://schemas.openxmlformats.org/presentationml/2006/ole">
            <p:oleObj spid="_x0000_s132104" name="Equation" r:id="rId17" imgW="469800" imgH="203040" progId="Equation.DSMT4">
              <p:embed/>
            </p:oleObj>
          </a:graphicData>
        </a:graphic>
      </p:graphicFrame>
      <p:graphicFrame>
        <p:nvGraphicFramePr>
          <p:cNvPr id="25616" name="Object 16"/>
          <p:cNvGraphicFramePr>
            <a:graphicFrameLocks noChangeAspect="1"/>
          </p:cNvGraphicFramePr>
          <p:nvPr/>
        </p:nvGraphicFramePr>
        <p:xfrm>
          <a:off x="615873" y="5343758"/>
          <a:ext cx="3472680" cy="500066"/>
        </p:xfrm>
        <a:graphic>
          <a:graphicData uri="http://schemas.openxmlformats.org/presentationml/2006/ole">
            <p:oleObj spid="_x0000_s132112" name="Equation" r:id="rId18" imgW="158724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Proposition 2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4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Suppose that the forward LIBOR rate                are joint lognormally distributed. If the                  </a:t>
            </a: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                              ,         are approximated with binomial distributions with                      stages and      and      given by proposition 1, and if the conditional probability of an up movement at node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at time       is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6856413" y="1655763"/>
          <a:ext cx="1738312" cy="522287"/>
        </p:xfrm>
        <a:graphic>
          <a:graphicData uri="http://schemas.openxmlformats.org/presentationml/2006/ole">
            <p:oleObj spid="_x0000_s133122" name="Equation" r:id="rId3" imgW="761760" imgH="228600" progId="Equation.DSMT4">
              <p:embed/>
            </p:oleObj>
          </a:graphicData>
        </a:graphic>
      </p:graphicFrame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730250" y="2700338"/>
          <a:ext cx="4071938" cy="542925"/>
        </p:xfrm>
        <a:graphic>
          <a:graphicData uri="http://schemas.openxmlformats.org/presentationml/2006/ole">
            <p:oleObj spid="_x0000_s133123" name="Equation" r:id="rId4" imgW="1714320" imgH="228600" progId="Equation.DSMT4">
              <p:embed/>
            </p:oleObj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5238750" y="3148013"/>
          <a:ext cx="2095500" cy="571500"/>
        </p:xfrm>
        <a:graphic>
          <a:graphicData uri="http://schemas.openxmlformats.org/presentationml/2006/ole">
            <p:oleObj spid="_x0000_s133124" name="Equation" r:id="rId5" imgW="838080" imgH="228600" progId="Equation.DSMT4">
              <p:embed/>
            </p:oleObj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1428750" y="3600450"/>
          <a:ext cx="428625" cy="642938"/>
        </p:xfrm>
        <a:graphic>
          <a:graphicData uri="http://schemas.openxmlformats.org/presentationml/2006/ole">
            <p:oleObj spid="_x0000_s133125" name="Equation" r:id="rId6" imgW="152280" imgH="228600" progId="Equation.DSMT4">
              <p:embed/>
            </p:oleObj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2571750" y="3641725"/>
          <a:ext cx="403225" cy="603250"/>
        </p:xfrm>
        <a:graphic>
          <a:graphicData uri="http://schemas.openxmlformats.org/presentationml/2006/ole">
            <p:oleObj spid="_x0000_s133126" name="Equation" r:id="rId7" imgW="152280" imgH="228600" progId="Equation.DSMT4">
              <p:embed/>
            </p:oleObj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/>
        </p:nvGraphicFramePr>
        <p:xfrm>
          <a:off x="3127375" y="4656138"/>
          <a:ext cx="357188" cy="584200"/>
        </p:xfrm>
        <a:graphic>
          <a:graphicData uri="http://schemas.openxmlformats.org/presentationml/2006/ole">
            <p:oleObj spid="_x0000_s133127" name="Equation" r:id="rId8" imgW="139680" imgH="228600" progId="Equation.DSMT4">
              <p:embed/>
            </p:oleObj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/>
        </p:nvGraphicFramePr>
        <p:xfrm>
          <a:off x="285750" y="5286375"/>
          <a:ext cx="8791575" cy="857250"/>
        </p:xfrm>
        <a:graphic>
          <a:graphicData uri="http://schemas.openxmlformats.org/presentationml/2006/ole">
            <p:oleObj spid="_x0000_s133128" name="Equation" r:id="rId9" imgW="4356000" imgH="431640" progId="Equation.DSMT4">
              <p:embed/>
            </p:oleObj>
          </a:graphicData>
        </a:graphic>
      </p:graphicFrame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20283-B5F1-43A6-B178-28995036EE75}" type="slidenum">
              <a:rPr lang="zh-TW" altLang="en-US" smtClean="0"/>
              <a:pPr>
                <a:defRPr/>
              </a:pPr>
              <a:t>20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Proposition 2</a:t>
            </a:r>
            <a:endParaRPr lang="zh-TW" altLang="en-US" dirty="0" smtClean="0"/>
          </a:p>
        </p:txBody>
      </p:sp>
      <p:sp>
        <p:nvSpPr>
          <p:cNvPr id="2765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</a:t>
            </a:r>
          </a:p>
          <a:p>
            <a:pPr>
              <a:buFont typeface="Arial" charset="0"/>
              <a:buNone/>
            </a:pPr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To determining the conditional probability, it has some skills to use for the term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first derive  term          . Since forward rate is lognormally distributed, we have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1928813" y="1785938"/>
          <a:ext cx="4946650" cy="2192337"/>
        </p:xfrm>
        <a:graphic>
          <a:graphicData uri="http://schemas.openxmlformats.org/presentationml/2006/ole">
            <p:oleObj spid="_x0000_s134146" name="Equation" r:id="rId3" imgW="2234880" imgH="990360" progId="Equation.DSMT4">
              <p:embed/>
            </p:oleObj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5686425" y="4457700"/>
          <a:ext cx="1143000" cy="527050"/>
        </p:xfrm>
        <a:graphic>
          <a:graphicData uri="http://schemas.openxmlformats.org/presentationml/2006/ole">
            <p:oleObj spid="_x0000_s134147" name="Equation" r:id="rId4" imgW="495000" imgH="228600" progId="Equation.DSMT4">
              <p:embed/>
            </p:oleObj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4243388" y="5029200"/>
          <a:ext cx="952500" cy="571500"/>
        </p:xfrm>
        <a:graphic>
          <a:graphicData uri="http://schemas.openxmlformats.org/presentationml/2006/ole">
            <p:oleObj spid="_x0000_s134148" name="Equation" r:id="rId5" imgW="380880" imgH="228600" progId="Equation.DSMT4">
              <p:embed/>
            </p:oleObj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2011363" y="5886450"/>
          <a:ext cx="4995862" cy="1006475"/>
        </p:xfrm>
        <a:graphic>
          <a:graphicData uri="http://schemas.openxmlformats.org/presentationml/2006/ole">
            <p:oleObj spid="_x0000_s134149" name="Equation" r:id="rId6" imgW="2145960" imgH="431640" progId="Equation.DSMT4">
              <p:embed/>
            </p:oleObj>
          </a:graphicData>
        </a:graphic>
      </p:graphicFrame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E4D04A-766E-4C92-B193-72DBD7064BA2}" type="slidenum">
              <a:rPr lang="zh-TW" altLang="en-US" smtClean="0"/>
              <a:pPr>
                <a:defRPr/>
              </a:pPr>
              <a:t>21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derivation of expectation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78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most important result in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Poon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and Stapleton text is the drift of the discrete time forward rate and we rewrite as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Then multiple the                  term on both side to get the general form of 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8674" name="Object 3"/>
          <p:cNvGraphicFramePr>
            <a:graphicFrameLocks noChangeAspect="1"/>
          </p:cNvGraphicFramePr>
          <p:nvPr/>
        </p:nvGraphicFramePr>
        <p:xfrm>
          <a:off x="3784600" y="4784725"/>
          <a:ext cx="1544638" cy="820738"/>
        </p:xfrm>
        <a:graphic>
          <a:graphicData uri="http://schemas.openxmlformats.org/presentationml/2006/ole">
            <p:oleObj spid="_x0000_s144386" name="Equation" r:id="rId3" imgW="812520" imgH="431640" progId="Equation.DSMT4">
              <p:embed/>
            </p:oleObj>
          </a:graphicData>
        </a:graphic>
      </p:graphicFrame>
      <p:graphicFrame>
        <p:nvGraphicFramePr>
          <p:cNvPr id="28675" name="Object 5"/>
          <p:cNvGraphicFramePr>
            <a:graphicFrameLocks noChangeAspect="1"/>
          </p:cNvGraphicFramePr>
          <p:nvPr/>
        </p:nvGraphicFramePr>
        <p:xfrm>
          <a:off x="4633913" y="5500688"/>
          <a:ext cx="3767137" cy="450850"/>
        </p:xfrm>
        <a:graphic>
          <a:graphicData uri="http://schemas.openxmlformats.org/presentationml/2006/ole">
            <p:oleObj spid="_x0000_s144387" name="Equation" r:id="rId4" imgW="1904760" imgH="228600" progId="Equation.DSMT4">
              <p:embed/>
            </p:oleObj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624059" y="3143248"/>
          <a:ext cx="8407400" cy="1793875"/>
        </p:xfrm>
        <a:graphic>
          <a:graphicData uri="http://schemas.openxmlformats.org/presentationml/2006/ole">
            <p:oleObj spid="_x0000_s144388" name="Equation" r:id="rId5" imgW="4165560" imgH="888840" progId="Equation.DSMT4">
              <p:embed/>
            </p:oleObj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A6DBA6-4F2F-4933-96C6-86C4BC459B6F}" type="slidenum">
              <a:rPr lang="zh-TW" altLang="en-US" smtClean="0"/>
              <a:pPr>
                <a:defRPr/>
              </a:pPr>
              <a:t>22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derivation of expectation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00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general form of expectation is given as  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9698" name="Object 3"/>
          <p:cNvGraphicFramePr>
            <a:graphicFrameLocks noChangeAspect="1"/>
          </p:cNvGraphicFramePr>
          <p:nvPr/>
        </p:nvGraphicFramePr>
        <p:xfrm>
          <a:off x="714375" y="2214563"/>
          <a:ext cx="8382000" cy="1330325"/>
        </p:xfrm>
        <a:graphic>
          <a:graphicData uri="http://schemas.openxmlformats.org/presentationml/2006/ole">
            <p:oleObj spid="_x0000_s145410" name="Equation" r:id="rId3" imgW="5600520" imgH="888840" progId="Equation.DSMT4">
              <p:embed/>
            </p:oleObj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F93127-9DE5-4F3A-AFA3-DE097A097E64}" type="slidenum">
              <a:rPr lang="zh-TW" altLang="en-US" smtClean="0"/>
              <a:pPr>
                <a:defRPr/>
              </a:pPr>
              <a:t>23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Special case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571612"/>
            <a:ext cx="8686800" cy="4525962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stages approach infinite                , the sum of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stages also approach infinite, that is 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can reduce the up and down movements to the briefer form which is easier to calculate and show as follows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conditional probability                 as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24</a:t>
            </a:fld>
            <a:endParaRPr lang="zh-TW" altLang="en-US"/>
          </a:p>
        </p:txBody>
      </p:sp>
      <p:graphicFrame>
        <p:nvGraphicFramePr>
          <p:cNvPr id="100353" name="Object 1"/>
          <p:cNvGraphicFramePr>
            <a:graphicFrameLocks noChangeAspect="1"/>
          </p:cNvGraphicFramePr>
          <p:nvPr/>
        </p:nvGraphicFramePr>
        <p:xfrm>
          <a:off x="6072198" y="1643050"/>
          <a:ext cx="1571636" cy="535025"/>
        </p:xfrm>
        <a:graphic>
          <a:graphicData uri="http://schemas.openxmlformats.org/presentationml/2006/ole">
            <p:oleObj spid="_x0000_s100353" name="Equation" r:id="rId3" imgW="596880" imgH="203040" progId="Equation.DSMT4">
              <p:embed/>
            </p:oleObj>
          </a:graphicData>
        </a:graphic>
      </p:graphicFrame>
      <p:graphicFrame>
        <p:nvGraphicFramePr>
          <p:cNvPr id="100354" name="Object 2"/>
          <p:cNvGraphicFramePr>
            <a:graphicFrameLocks noChangeAspect="1"/>
          </p:cNvGraphicFramePr>
          <p:nvPr/>
        </p:nvGraphicFramePr>
        <p:xfrm>
          <a:off x="714348" y="2643182"/>
          <a:ext cx="2444004" cy="646116"/>
        </p:xfrm>
        <a:graphic>
          <a:graphicData uri="http://schemas.openxmlformats.org/presentationml/2006/ole">
            <p:oleObj spid="_x0000_s100354" name="Equation" r:id="rId4" imgW="1104840" imgH="291960" progId="Equation.DSMT4">
              <p:embed/>
            </p:oleObj>
          </a:graphicData>
        </a:graphic>
      </p:graphicFrame>
      <p:graphicFrame>
        <p:nvGraphicFramePr>
          <p:cNvPr id="100357" name="Object 5"/>
          <p:cNvGraphicFramePr>
            <a:graphicFrameLocks noChangeAspect="1"/>
          </p:cNvGraphicFramePr>
          <p:nvPr/>
        </p:nvGraphicFramePr>
        <p:xfrm>
          <a:off x="613674" y="4630478"/>
          <a:ext cx="4351883" cy="1441728"/>
        </p:xfrm>
        <a:graphic>
          <a:graphicData uri="http://schemas.openxmlformats.org/presentationml/2006/ole">
            <p:oleObj spid="_x0000_s100357" name="Equation" r:id="rId5" imgW="2070000" imgH="685800" progId="Equation.DSMT4">
              <p:embed/>
            </p:oleObj>
          </a:graphicData>
        </a:graphic>
      </p:graphicFrame>
      <p:graphicFrame>
        <p:nvGraphicFramePr>
          <p:cNvPr id="100358" name="Object 6"/>
          <p:cNvGraphicFramePr>
            <a:graphicFrameLocks noChangeAspect="1"/>
          </p:cNvGraphicFramePr>
          <p:nvPr/>
        </p:nvGraphicFramePr>
        <p:xfrm>
          <a:off x="5130535" y="6058136"/>
          <a:ext cx="1676501" cy="511475"/>
        </p:xfrm>
        <a:graphic>
          <a:graphicData uri="http://schemas.openxmlformats.org/presentationml/2006/ole">
            <p:oleObj spid="_x0000_s100358" name="Equation" r:id="rId6" imgW="749160" imgH="228600" progId="Equation.DSMT4">
              <p:embed/>
            </p:oleObj>
          </a:graphicData>
        </a:graphic>
      </p:graphicFrame>
      <p:graphicFrame>
        <p:nvGraphicFramePr>
          <p:cNvPr id="100359" name="Object 7"/>
          <p:cNvGraphicFramePr>
            <a:graphicFrameLocks noChangeAspect="1"/>
          </p:cNvGraphicFramePr>
          <p:nvPr/>
        </p:nvGraphicFramePr>
        <p:xfrm>
          <a:off x="7272575" y="6015935"/>
          <a:ext cx="1238258" cy="571504"/>
        </p:xfrm>
        <a:graphic>
          <a:graphicData uri="http://schemas.openxmlformats.org/presentationml/2006/ole">
            <p:oleObj spid="_x0000_s100359" name="Equation" r:id="rId7" imgW="49500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382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valuation of embedded option on zero coupon bond in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Lmm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embedded option on ZCB is a bond that can be callable before maturity date with a callable price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K</a:t>
            </a: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a three years maturity zero coupon bond with a callable price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equal to 0.952381 dollar at year two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25</a:t>
            </a:fld>
            <a:endParaRPr lang="zh-TW" altLang="en-US"/>
          </a:p>
        </p:txBody>
      </p:sp>
      <p:grpSp>
        <p:nvGrpSpPr>
          <p:cNvPr id="5" name="群組 4"/>
          <p:cNvGrpSpPr/>
          <p:nvPr/>
        </p:nvGrpSpPr>
        <p:grpSpPr>
          <a:xfrm>
            <a:off x="928662" y="3429000"/>
            <a:ext cx="7143800" cy="1320817"/>
            <a:chOff x="1087438" y="1214422"/>
            <a:chExt cx="7199338" cy="1320817"/>
          </a:xfrm>
        </p:grpSpPr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1895475" y="1870076"/>
              <a:ext cx="53260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7" name="群組 25"/>
            <p:cNvGrpSpPr/>
            <p:nvPr/>
          </p:nvGrpSpPr>
          <p:grpSpPr>
            <a:xfrm>
              <a:off x="1087438" y="1214422"/>
              <a:ext cx="7199338" cy="1320817"/>
              <a:chOff x="1087438" y="1214422"/>
              <a:chExt cx="7199338" cy="1320817"/>
            </a:xfrm>
          </p:grpSpPr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1895475" y="1673226"/>
                <a:ext cx="0" cy="3937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Line 8"/>
              <p:cNvSpPr>
                <a:spLocks noChangeShapeType="1"/>
              </p:cNvSpPr>
              <p:nvPr/>
            </p:nvSpPr>
            <p:spPr bwMode="auto">
              <a:xfrm>
                <a:off x="5248275" y="1673226"/>
                <a:ext cx="1587" cy="3937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Line 9"/>
              <p:cNvSpPr>
                <a:spLocks noChangeShapeType="1"/>
              </p:cNvSpPr>
              <p:nvPr/>
            </p:nvSpPr>
            <p:spPr bwMode="auto">
              <a:xfrm>
                <a:off x="7221538" y="1673226"/>
                <a:ext cx="0" cy="3937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grpSp>
            <p:nvGrpSpPr>
              <p:cNvPr id="11" name="群組 24"/>
              <p:cNvGrpSpPr/>
              <p:nvPr/>
            </p:nvGrpSpPr>
            <p:grpSpPr>
              <a:xfrm>
                <a:off x="1087438" y="1214422"/>
                <a:ext cx="7199338" cy="1320817"/>
                <a:chOff x="1087438" y="1214422"/>
                <a:chExt cx="7199338" cy="1320817"/>
              </a:xfrm>
            </p:grpSpPr>
            <p:sp>
              <p:nvSpPr>
                <p:cNvPr id="12" name="Line 7"/>
                <p:cNvSpPr>
                  <a:spLocks noChangeShapeType="1"/>
                </p:cNvSpPr>
                <p:nvPr/>
              </p:nvSpPr>
              <p:spPr bwMode="auto">
                <a:xfrm>
                  <a:off x="3473450" y="1722438"/>
                  <a:ext cx="1587" cy="29527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3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4572000" y="1214422"/>
                  <a:ext cx="1714512" cy="511191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altLang="zh-TW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option maturity</a:t>
                  </a:r>
                </a:p>
                <a:p>
                  <a:endParaRPr lang="zh-TW" altLang="en-US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087438" y="1943101"/>
                  <a:ext cx="6589712" cy="59213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altLang="zh-TW" sz="2000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Time </a:t>
                  </a:r>
                  <a:r>
                    <a:rPr lang="zh-TW" altLang="en-US" sz="1200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 </a:t>
                  </a:r>
                  <a:r>
                    <a:rPr lang="en-US" altLang="zh-TW" sz="2000" dirty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0           </a:t>
                  </a:r>
                  <a:r>
                    <a:rPr lang="en-US" altLang="zh-TW" sz="2000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            1y                        2y                            3y</a:t>
                  </a:r>
                  <a:endParaRPr lang="en-US" altLang="zh-TW" sz="20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AutoShape 13"/>
                <p:cNvSpPr>
                  <a:spLocks/>
                </p:cNvSpPr>
                <p:nvPr/>
              </p:nvSpPr>
              <p:spPr bwMode="auto">
                <a:xfrm rot="5400000">
                  <a:off x="6137275" y="1082676"/>
                  <a:ext cx="196850" cy="1973262"/>
                </a:xfrm>
                <a:prstGeom prst="rightBrace">
                  <a:avLst>
                    <a:gd name="adj1" fmla="val 83535"/>
                    <a:gd name="adj2" fmla="val 51389"/>
                  </a:avLst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5791201" y="2168526"/>
                  <a:ext cx="995378" cy="26034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altLang="zh-TW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one year</a:t>
                  </a:r>
                  <a:endParaRPr lang="zh-TW" altLang="en-US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文字方塊 16"/>
                <p:cNvSpPr txBox="1"/>
                <p:nvPr/>
              </p:nvSpPr>
              <p:spPr>
                <a:xfrm>
                  <a:off x="6643702" y="1214422"/>
                  <a:ext cx="16430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 smtClean="0">
                      <a:latin typeface="Times New Roman" pitchFamily="18" charset="0"/>
                      <a:cs typeface="Times New Roman" pitchFamily="18" charset="0"/>
                    </a:rPr>
                    <a:t>bond maturity</a:t>
                  </a:r>
                  <a:endParaRPr lang="zh-TW" altLang="en-US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文字方塊 17"/>
                <p:cNvSpPr txBox="1"/>
                <p:nvPr/>
              </p:nvSpPr>
              <p:spPr>
                <a:xfrm>
                  <a:off x="1714480" y="1357298"/>
                  <a:ext cx="7143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i="1" dirty="0" smtClean="0">
                      <a:latin typeface="Times New Roman" pitchFamily="18" charset="0"/>
                      <a:cs typeface="Times New Roman" pitchFamily="18" charset="0"/>
                    </a:rPr>
                    <a:t>C</a:t>
                  </a:r>
                  <a:r>
                    <a:rPr lang="en-US" altLang="zh-TW" sz="1000" i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382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valuation of embedded option on zero coupon bond in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Lmm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Pricing the option value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this callable bond at time 0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Here, we take the flat forward rate 5% and constant volatility 10%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26</a:t>
            </a:fld>
            <a:endParaRPr lang="zh-TW" altLang="en-US"/>
          </a:p>
        </p:txBody>
      </p:sp>
      <p:graphicFrame>
        <p:nvGraphicFramePr>
          <p:cNvPr id="77826" name="Object 2"/>
          <p:cNvGraphicFramePr>
            <a:graphicFrameLocks noChangeAspect="1"/>
          </p:cNvGraphicFramePr>
          <p:nvPr/>
        </p:nvGraphicFramePr>
        <p:xfrm>
          <a:off x="714348" y="3929066"/>
          <a:ext cx="6051219" cy="1714512"/>
        </p:xfrm>
        <a:graphic>
          <a:graphicData uri="http://schemas.openxmlformats.org/presentationml/2006/ole">
            <p:oleObj spid="_x0000_s77826" name="Equation" r:id="rId3" imgW="2286000" imgH="647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Sensitive analysis – strike price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change strike price from 0.952381 to 0.96 which vary 0.001 to see the relationship between strike price and embedded option value 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find that when the strike price increases, the embedded option value decreases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27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28</a:t>
            </a:fld>
            <a:endParaRPr lang="zh-TW" altLang="en-US"/>
          </a:p>
        </p:txBody>
      </p:sp>
      <p:graphicFrame>
        <p:nvGraphicFramePr>
          <p:cNvPr id="5" name="圖表 4"/>
          <p:cNvGraphicFramePr/>
          <p:nvPr/>
        </p:nvGraphicFramePr>
        <p:xfrm>
          <a:off x="285720" y="357166"/>
          <a:ext cx="8572560" cy="6215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Sensitive analysis – volatility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increase 1% of the volatility from 10% until reach 30% to see the impact of volatility on the embedded option value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find that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the volatility increases, the embedded option value increases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consistent with the inference for the Greek letter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vega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when the underlying asset’s volatility increases the option value increases, too.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F4B5DD-57F7-4678-9499-93AC5AEC1E4F}" type="slidenum">
              <a:rPr lang="zh-TW" altLang="en-US" smtClean="0"/>
              <a:pPr>
                <a:defRPr/>
              </a:pPr>
              <a:t>29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30</a:t>
            </a:fld>
            <a:endParaRPr lang="zh-TW" altLang="en-US"/>
          </a:p>
        </p:txBody>
      </p:sp>
      <p:graphicFrame>
        <p:nvGraphicFramePr>
          <p:cNvPr id="5" name="圖表 4"/>
          <p:cNvGraphicFramePr/>
          <p:nvPr/>
        </p:nvGraphicFramePr>
        <p:xfrm>
          <a:off x="214282" y="285728"/>
          <a:ext cx="8643998" cy="6215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valuation of caplets in LMM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79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payoff function of a caplet at time       is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It is a caplet on the spot rate observed at time     with payoff occurring at time</a:t>
            </a:r>
          </a:p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cap is a portfolio consisted of n such call options which the underlying is known as caplet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F692BE-C156-4BF2-B5F9-0FD7B680AA11}" type="slidenum">
              <a:rPr lang="zh-TW" altLang="en-US" smtClean="0"/>
              <a:pPr>
                <a:defRPr/>
              </a:pPr>
              <a:t>31</a:t>
            </a:fld>
            <a:endParaRPr lang="zh-TW" altLang="en-US"/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7072313" y="1643063"/>
          <a:ext cx="500062" cy="500062"/>
        </p:xfrm>
        <a:graphic>
          <a:graphicData uri="http://schemas.openxmlformats.org/presentationml/2006/ole">
            <p:oleObj spid="_x0000_s33794" name="Equation" r:id="rId3" imgW="228600" imgH="228600" progId="Equation.DSMT4">
              <p:embed/>
            </p:oleObj>
          </a:graphicData>
        </a:graphic>
      </p:graphicFrame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1643063" y="2214563"/>
          <a:ext cx="5884862" cy="682625"/>
        </p:xfrm>
        <a:graphic>
          <a:graphicData uri="http://schemas.openxmlformats.org/presentationml/2006/ole">
            <p:oleObj spid="_x0000_s33795" name="Equation" r:id="rId4" imgW="1968480" imgH="228600" progId="Equation.DSMT4">
              <p:embed/>
            </p:oleObj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8156575" y="2781300"/>
          <a:ext cx="355600" cy="581025"/>
        </p:xfrm>
        <a:graphic>
          <a:graphicData uri="http://schemas.openxmlformats.org/presentationml/2006/ole">
            <p:oleObj spid="_x0000_s33796" name="Equation" r:id="rId5" imgW="139680" imgH="228600" progId="Equation.DSMT4">
              <p:embed/>
            </p:oleObj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5588000" y="3287713"/>
          <a:ext cx="571500" cy="571500"/>
        </p:xfrm>
        <a:graphic>
          <a:graphicData uri="http://schemas.openxmlformats.org/presentationml/2006/ole">
            <p:oleObj spid="_x0000_s33797" name="Equation" r:id="rId6" imgW="22860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theoretical value of caplet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82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use the Black’s formula for the caplet to get the theoretical value of caplet and rewrite as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	where</a:t>
            </a:r>
          </a:p>
          <a:p>
            <a:pPr>
              <a:buFont typeface="Wingdings 2" pitchFamily="18" charset="2"/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1EADA3-6E0A-4CA2-9BCE-4F1E74B0D255}" type="slidenum">
              <a:rPr lang="zh-TW" altLang="en-US" smtClean="0"/>
              <a:pPr>
                <a:defRPr/>
              </a:pPr>
              <a:t>32</a:t>
            </a:fld>
            <a:endParaRPr lang="zh-TW" altLang="en-US"/>
          </a:p>
        </p:txBody>
      </p:sp>
      <p:graphicFrame>
        <p:nvGraphicFramePr>
          <p:cNvPr id="34818" name="Object 2"/>
          <p:cNvGraphicFramePr>
            <a:graphicFrameLocks noChangeAspect="1"/>
          </p:cNvGraphicFramePr>
          <p:nvPr/>
        </p:nvGraphicFramePr>
        <p:xfrm>
          <a:off x="941388" y="2771775"/>
          <a:ext cx="7270750" cy="477838"/>
        </p:xfrm>
        <a:graphic>
          <a:graphicData uri="http://schemas.openxmlformats.org/presentationml/2006/ole">
            <p:oleObj spid="_x0000_s34818" name="Equation" r:id="rId3" imgW="3479760" imgH="228600" progId="Equation.DSMT4">
              <p:embed/>
            </p:oleObj>
          </a:graphicData>
        </a:graphic>
      </p:graphicFrame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1643063" y="3929063"/>
          <a:ext cx="5862637" cy="2357437"/>
        </p:xfrm>
        <a:graphic>
          <a:graphicData uri="http://schemas.openxmlformats.org/presentationml/2006/ole">
            <p:oleObj spid="_x0000_s34819" name="Equation" r:id="rId4" imgW="2400120" imgH="9651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Numerical method of caplet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850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use the payoff function to compute the price in lattice method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To get the payoff function at time      , we have to know the evolution of the forward rate                at time  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construct the binomial tree of                   and known the                             ,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= 0, 1, …,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Calculating the expectation of the payoff at time  and then multiple the ZCB of                to get the caplet value at time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F06370-0A9B-4509-9D74-1988A7CE3CD6}" type="slidenum">
              <a:rPr lang="zh-TW" altLang="en-US" smtClean="0"/>
              <a:pPr>
                <a:defRPr/>
              </a:pPr>
              <a:t>33</a:t>
            </a:fld>
            <a:endParaRPr lang="zh-TW" altLang="en-US"/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6257925" y="2714625"/>
          <a:ext cx="542925" cy="542925"/>
        </p:xfrm>
        <a:graphic>
          <a:graphicData uri="http://schemas.openxmlformats.org/presentationml/2006/ole">
            <p:oleObj spid="_x0000_s35842" name="Equation" r:id="rId3" imgW="228600" imgH="228600" progId="Equation.DSMT4">
              <p:embed/>
            </p:oleObj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7058025" y="3178175"/>
          <a:ext cx="1800225" cy="549275"/>
        </p:xfrm>
        <a:graphic>
          <a:graphicData uri="http://schemas.openxmlformats.org/presentationml/2006/ole">
            <p:oleObj spid="_x0000_s35843" name="Equation" r:id="rId4" imgW="749160" imgH="228600" progId="Equation.DSMT4">
              <p:embed/>
            </p:oleObj>
          </a:graphicData>
        </a:graphic>
      </p:graphicFrame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1857375" y="3643313"/>
          <a:ext cx="357188" cy="584200"/>
        </p:xfrm>
        <a:graphic>
          <a:graphicData uri="http://schemas.openxmlformats.org/presentationml/2006/ole">
            <p:oleObj spid="_x0000_s35844" name="Equation" r:id="rId5" imgW="139680" imgH="228600" progId="Equation.DSMT4">
              <p:embed/>
            </p:oleObj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6242050" y="4243388"/>
          <a:ext cx="1779588" cy="542925"/>
        </p:xfrm>
        <a:graphic>
          <a:graphicData uri="http://schemas.openxmlformats.org/presentationml/2006/ole">
            <p:oleObj spid="_x0000_s35845" name="Equation" r:id="rId6" imgW="749160" imgH="228600" progId="Equation.DSMT4">
              <p:embed/>
            </p:oleObj>
          </a:graphicData>
        </a:graphic>
      </p:graphicFrame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2428875" y="4716463"/>
          <a:ext cx="2978150" cy="571500"/>
        </p:xfrm>
        <a:graphic>
          <a:graphicData uri="http://schemas.openxmlformats.org/presentationml/2006/ole">
            <p:oleObj spid="_x0000_s35846" name="Equation" r:id="rId7" imgW="1257120" imgH="241200" progId="Equation.DSMT4">
              <p:embed/>
            </p:oleObj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8643938" y="5314950"/>
          <a:ext cx="542925" cy="541338"/>
        </p:xfrm>
        <a:graphic>
          <a:graphicData uri="http://schemas.openxmlformats.org/presentationml/2006/ole">
            <p:oleObj spid="_x0000_s35847" name="Equation" r:id="rId8" imgW="228600" imgH="228600" progId="Equation.DSMT4">
              <p:embed/>
            </p:oleObj>
          </a:graphicData>
        </a:graphic>
      </p:graphicFrame>
      <p:graphicFrame>
        <p:nvGraphicFramePr>
          <p:cNvPr id="35848" name="Object 8"/>
          <p:cNvGraphicFramePr>
            <a:graphicFrameLocks noChangeAspect="1"/>
          </p:cNvGraphicFramePr>
          <p:nvPr/>
        </p:nvGraphicFramePr>
        <p:xfrm>
          <a:off x="5614988" y="5786438"/>
          <a:ext cx="1468437" cy="600075"/>
        </p:xfrm>
        <a:graphic>
          <a:graphicData uri="http://schemas.openxmlformats.org/presentationml/2006/ole">
            <p:oleObj spid="_x0000_s35848" name="Equation" r:id="rId9" imgW="55872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868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Assume               ,                           , forward curve is flat equal to 5% and</a:t>
            </a:r>
          </a:p>
          <a:p>
            <a:pPr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have the one period caplet at time 0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caplet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(0)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43B4A2-1F15-4310-AFC6-3A581FB0954A}" type="slidenum">
              <a:rPr lang="zh-TW" altLang="en-US" smtClean="0"/>
              <a:pPr>
                <a:defRPr/>
              </a:pPr>
              <a:t>34</a:t>
            </a:fld>
            <a:endParaRPr lang="zh-TW" altLang="en-US"/>
          </a:p>
        </p:txBody>
      </p:sp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627096" y="3845751"/>
          <a:ext cx="8337235" cy="2214578"/>
        </p:xfrm>
        <a:graphic>
          <a:graphicData uri="http://schemas.openxmlformats.org/presentationml/2006/ole">
            <p:oleObj spid="_x0000_s36870" name="Equation" r:id="rId3" imgW="3251160" imgH="863280" progId="Equation.DSMT4">
              <p:embed/>
            </p:oleObj>
          </a:graphicData>
        </a:graphic>
      </p:graphicFrame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2071670" y="1643050"/>
          <a:ext cx="1497588" cy="446090"/>
        </p:xfrm>
        <a:graphic>
          <a:graphicData uri="http://schemas.openxmlformats.org/presentationml/2006/ole">
            <p:oleObj spid="_x0000_s36871" name="Equation" r:id="rId4" imgW="596880" imgH="177480" progId="Equation.DSMT4">
              <p:embed/>
            </p:oleObj>
          </a:graphicData>
        </a:graphic>
      </p:graphicFrame>
      <p:graphicFrame>
        <p:nvGraphicFramePr>
          <p:cNvPr id="36873" name="Object 9"/>
          <p:cNvGraphicFramePr>
            <a:graphicFrameLocks noChangeAspect="1"/>
          </p:cNvGraphicFramePr>
          <p:nvPr/>
        </p:nvGraphicFramePr>
        <p:xfrm>
          <a:off x="3657373" y="1657118"/>
          <a:ext cx="2754767" cy="495239"/>
        </p:xfrm>
        <a:graphic>
          <a:graphicData uri="http://schemas.openxmlformats.org/presentationml/2006/ole">
            <p:oleObj spid="_x0000_s36873" name="Equation" r:id="rId5" imgW="1130040" imgH="203040" progId="Equation.DSMT4">
              <p:embed/>
            </p:oleObj>
          </a:graphicData>
        </a:graphic>
      </p:graphicFrame>
      <p:graphicFrame>
        <p:nvGraphicFramePr>
          <p:cNvPr id="36875" name="Object 11"/>
          <p:cNvGraphicFramePr>
            <a:graphicFrameLocks noChangeAspect="1"/>
          </p:cNvGraphicFramePr>
          <p:nvPr/>
        </p:nvGraphicFramePr>
        <p:xfrm>
          <a:off x="5416288" y="2114980"/>
          <a:ext cx="2889270" cy="571504"/>
        </p:xfrm>
        <a:graphic>
          <a:graphicData uri="http://schemas.openxmlformats.org/presentationml/2006/ole">
            <p:oleObj spid="_x0000_s36875" name="Equation" r:id="rId6" imgW="115560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4124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Table 1 volatility is 10% and stage for every period is 25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35</a:t>
            </a:fld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85720" y="1571614"/>
          <a:ext cx="8572560" cy="4857785"/>
        </p:xfrm>
        <a:graphic>
          <a:graphicData uri="http://schemas.openxmlformats.org/drawingml/2006/table">
            <a:tbl>
              <a:tblPr/>
              <a:tblGrid>
                <a:gridCol w="1714512"/>
                <a:gridCol w="1714512"/>
                <a:gridCol w="1714512"/>
                <a:gridCol w="1714512"/>
                <a:gridCol w="1714512"/>
              </a:tblGrid>
              <a:tr h="5697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Maturity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Black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Lattice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Difference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Relative Difference (%)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0.0018085085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0.0018242781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0.0000157696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0.8719669656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0.0024348117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0.0024407546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0.0000059429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0.2440786919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0.0028388399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0.0028374958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-0.0000013441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0.0473484800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0.0031206153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0.0031282191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0.0000076038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0.2436631792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0.0033214311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0.0033204098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-0.0000010214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0.0307505629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0.0034637453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0.0034664184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0.0000026731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0.0771737036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0.0035616356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0.0035658574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0.0000042219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0.1185369137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0.0036247299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0.0036200240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-0.0000047059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0.1298286011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0.0036600091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0.0036633313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0.0000033221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0.0907678678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12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0.0036727489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0.0036743568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0.0000016079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0.0437804213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2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RMSE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0.0000063671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424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1. Caplet assume δ = 1 and stage 25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41262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2. Assume volatility is 10%, the forward curve is flat 5%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Numerical results	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39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Besides the relative difference, we use the RMSE to see the difference between the lattice value and Black’s model for the whole maturity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Table 2 is the results for different maturity caplets with stage 50 for each period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find that when we increase the stage between periods, the difference between lattice method and Black’s model is close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8D05A5-F75C-4CEF-B41C-785721A33750}" type="slidenum">
              <a:rPr lang="zh-TW" altLang="en-US" smtClean="0"/>
              <a:pPr>
                <a:defRPr/>
              </a:pPr>
              <a:t>36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4124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Table 3 volatility is 10% and stage for every period is 50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79323-F4A0-4AA6-8678-796B0793F18B}" type="slidenum">
              <a:rPr lang="zh-TW" altLang="en-US" smtClean="0"/>
              <a:pPr>
                <a:defRPr/>
              </a:pPr>
              <a:t>37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5721" y="1643054"/>
          <a:ext cx="8572558" cy="4786340"/>
        </p:xfrm>
        <a:graphic>
          <a:graphicData uri="http://schemas.openxmlformats.org/drawingml/2006/table">
            <a:tbl>
              <a:tblPr/>
              <a:tblGrid>
                <a:gridCol w="1155581"/>
                <a:gridCol w="1723084"/>
                <a:gridCol w="1723084"/>
                <a:gridCol w="1723084"/>
                <a:gridCol w="2247725"/>
              </a:tblGrid>
              <a:tr h="352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Maturity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Black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Lattice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Difference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Relative Difference (%)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0.0018085085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0.0018099405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0.0000014320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0.0791823392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2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0.0024348117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0.0024397802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0.0000049685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0.2040608652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3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0.0028388399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0.0028434461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0.0000046061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0.1622542164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4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0.0031206153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0.0031230795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0.0000024643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0.0789673074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5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0.0033214311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0.0033207434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-0.0000006878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0.0207066243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6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0.0034637453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0.0034620815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-0.0000016638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0.0480341136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7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0.0035616356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0.0035626664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0.0000010308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0.0289416315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8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0.0036247299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0.0036267433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0.0000020134 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0.0555455781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9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0.0036600091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0.0036617883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0.0000017792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0.0486107386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2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10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0.0036727489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0.0036734197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0.0000006708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0.0182649876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RMSE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0.0000025690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498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1. Caplet assume δ = 1 and stage 50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52840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2. Assume volatility is 10%, the forward curve is flat 5%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Convergence behavior vs.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volatlity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change the volatility from 10% to 20% to see the convergence behavior of RMSE  at different volatility level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find that when the volatility at low level, the convergent rate is fast to zero. However, the volatility at high level the convergence behavior is slow</a:t>
            </a:r>
          </a:p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F4B5DD-57F7-4678-9499-93AC5AEC1E4F}" type="slidenum">
              <a:rPr lang="zh-TW" altLang="en-US" smtClean="0"/>
              <a:pPr>
                <a:defRPr/>
              </a:pPr>
              <a:t>38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39</a:t>
            </a:fld>
            <a:endParaRPr lang="zh-TW" altLang="en-US"/>
          </a:p>
        </p:txBody>
      </p:sp>
      <p:graphicFrame>
        <p:nvGraphicFramePr>
          <p:cNvPr id="5" name="圖表 4"/>
          <p:cNvGraphicFramePr/>
          <p:nvPr/>
        </p:nvGraphicFramePr>
        <p:xfrm>
          <a:off x="285720" y="214290"/>
          <a:ext cx="8572560" cy="6357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Conclusions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467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Constructing the recombining binomial tree, the payoff of the interest rate derivatives on each node can be obtained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Comparing to the theoretical value, we find the theoretical value and lattice method is close when we increase the stages. 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sensitive analysis results of embedded option are consistent with inference of Greek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letters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6EF2B9-2D4B-4607-9DCD-A2627C0C29D8}" type="slidenum">
              <a:rPr lang="zh-TW" altLang="en-US" smtClean="0"/>
              <a:pPr>
                <a:defRPr/>
              </a:pPr>
              <a:t>40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Future works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49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Deriving the joint probability between the states of  different binomial forward rate trees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Adjusting the stages between period by period  to fit the strike price to reduce the nonlinearity error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Trying to change the constant volatility to stochastic volatility to fit the volatility term structure.</a:t>
            </a:r>
          </a:p>
          <a:p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826ED5-E1EC-4F5A-85EF-CDE63E333031}" type="slidenum">
              <a:rPr lang="zh-TW" altLang="en-US" smtClean="0"/>
              <a:pPr>
                <a:defRPr/>
              </a:pPr>
              <a:t>41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>
          <a:xfrm>
            <a:off x="285720" y="1676400"/>
            <a:ext cx="8553480" cy="1219200"/>
          </a:xfrm>
        </p:spPr>
        <p:txBody>
          <a:bodyPr/>
          <a:lstStyle/>
          <a:p>
            <a:pPr algn="ctr"/>
            <a:r>
              <a:rPr lang="en-US" altLang="zh-TW" sz="4000" b="1" dirty="0" smtClean="0">
                <a:latin typeface="Times New Roman" pitchFamily="18" charset="0"/>
                <a:cs typeface="Times New Roman" pitchFamily="18" charset="0"/>
              </a:rPr>
              <a:t>The End </a:t>
            </a:r>
            <a:endParaRPr lang="zh-TW" alt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285720" y="3643314"/>
            <a:ext cx="8572560" cy="1184825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Thank you for your listening</a:t>
            </a:r>
            <a:endParaRPr lang="zh-TW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42</a:t>
            </a:fld>
            <a:endParaRPr lang="zh-TW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旅程">
  <a:themeElements>
    <a:clrScheme name="旅程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旅程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旅程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1343</TotalTime>
  <Words>1629</Words>
  <Application>Microsoft Office PowerPoint</Application>
  <PresentationFormat>如螢幕大小 (4:3)</PresentationFormat>
  <Paragraphs>351</Paragraphs>
  <Slides>42</Slides>
  <Notes>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4" baseType="lpstr">
      <vt:lpstr>旅程</vt:lpstr>
      <vt:lpstr>Equation</vt:lpstr>
      <vt:lpstr>投影片 1</vt:lpstr>
      <vt:lpstr>Agenda</vt:lpstr>
      <vt:lpstr> Introduction</vt:lpstr>
      <vt:lpstr>Introduction</vt:lpstr>
      <vt:lpstr>Review of Interest Rate Models</vt:lpstr>
      <vt:lpstr>Forward rate model LIBOR Market Model (LMM)</vt:lpstr>
      <vt:lpstr>Forward rate model LIBOR Market Model (LMM)</vt:lpstr>
      <vt:lpstr>Market Conventions of the LMM </vt:lpstr>
      <vt:lpstr>methodology</vt:lpstr>
      <vt:lpstr>Introducing the HSS Recombining Node Methodology </vt:lpstr>
      <vt:lpstr> HSS methodology</vt:lpstr>
      <vt:lpstr>投影片 12</vt:lpstr>
      <vt:lpstr>HSS methodology</vt:lpstr>
      <vt:lpstr>HSS methodology</vt:lpstr>
      <vt:lpstr>HSS methodology</vt:lpstr>
      <vt:lpstr>Applying HSS methodology into lMM</vt:lpstr>
      <vt:lpstr>Proposition 1</vt:lpstr>
      <vt:lpstr>the binomial trees in discrete time forward rate </vt:lpstr>
      <vt:lpstr>The structure of the binomial tree</vt:lpstr>
      <vt:lpstr>Proposition 2</vt:lpstr>
      <vt:lpstr>Proposition 2</vt:lpstr>
      <vt:lpstr>The derivation of expectation</vt:lpstr>
      <vt:lpstr>The derivation of expectation</vt:lpstr>
      <vt:lpstr>Special case</vt:lpstr>
      <vt:lpstr>The valuation of embedded option on zero coupon bond in Lmm</vt:lpstr>
      <vt:lpstr>The valuation of embedded option on zero coupon bond in Lmm</vt:lpstr>
      <vt:lpstr>Sensitive analysis – strike price</vt:lpstr>
      <vt:lpstr>投影片 28</vt:lpstr>
      <vt:lpstr>Sensitive analysis – volatility</vt:lpstr>
      <vt:lpstr>投影片 30</vt:lpstr>
      <vt:lpstr>The valuation of caplets in LMM</vt:lpstr>
      <vt:lpstr>The theoretical value of caplet</vt:lpstr>
      <vt:lpstr>Numerical method of caplet</vt:lpstr>
      <vt:lpstr>example</vt:lpstr>
      <vt:lpstr>Table 1 volatility is 10% and stage for every period is 25</vt:lpstr>
      <vt:lpstr>Numerical results </vt:lpstr>
      <vt:lpstr>Table 3 volatility is 10% and stage for every period is 50</vt:lpstr>
      <vt:lpstr>Convergence behavior vs. volatlity</vt:lpstr>
      <vt:lpstr>投影片 39</vt:lpstr>
      <vt:lpstr>Conclusions</vt:lpstr>
      <vt:lpstr>Future works</vt:lpstr>
      <vt:lpstr>Thank you for your listening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何俊儒</dc:title>
  <dc:creator>George</dc:creator>
  <cp:lastModifiedBy>George</cp:lastModifiedBy>
  <cp:revision>111</cp:revision>
  <dcterms:created xsi:type="dcterms:W3CDTF">2008-06-15T08:38:52Z</dcterms:created>
  <dcterms:modified xsi:type="dcterms:W3CDTF">2008-07-31T10:08:28Z</dcterms:modified>
</cp:coreProperties>
</file>