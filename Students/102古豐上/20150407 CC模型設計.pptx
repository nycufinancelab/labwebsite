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306" r:id="rId2"/>
    <p:sldId id="307" r:id="rId3"/>
    <p:sldId id="308" r:id="rId4"/>
    <p:sldId id="309" r:id="rId5"/>
    <p:sldId id="293" r:id="rId6"/>
    <p:sldId id="294" r:id="rId7"/>
    <p:sldId id="292" r:id="rId8"/>
    <p:sldId id="291" r:id="rId9"/>
    <p:sldId id="300" r:id="rId10"/>
    <p:sldId id="279" r:id="rId11"/>
    <p:sldId id="280" r:id="rId12"/>
    <p:sldId id="281" r:id="rId13"/>
    <p:sldId id="282" r:id="rId14"/>
    <p:sldId id="283" r:id="rId15"/>
    <p:sldId id="324" r:id="rId16"/>
    <p:sldId id="284" r:id="rId17"/>
    <p:sldId id="285" r:id="rId18"/>
    <p:sldId id="286" r:id="rId19"/>
    <p:sldId id="287" r:id="rId20"/>
    <p:sldId id="288" r:id="rId21"/>
    <p:sldId id="301" r:id="rId22"/>
    <p:sldId id="304" r:id="rId23"/>
    <p:sldId id="305" r:id="rId24"/>
    <p:sldId id="313" r:id="rId25"/>
    <p:sldId id="323" r:id="rId26"/>
    <p:sldId id="310" r:id="rId27"/>
    <p:sldId id="311" r:id="rId28"/>
    <p:sldId id="312" r:id="rId29"/>
    <p:sldId id="314" r:id="rId30"/>
    <p:sldId id="315" r:id="rId31"/>
    <p:sldId id="316" r:id="rId32"/>
    <p:sldId id="317" r:id="rId33"/>
    <p:sldId id="318" r:id="rId34"/>
    <p:sldId id="319" r:id="rId35"/>
    <p:sldId id="320" r:id="rId36"/>
    <p:sldId id="322" r:id="rId37"/>
    <p:sldId id="321" r:id="rId3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EAEA"/>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429" autoAdjust="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36DB15-BFFD-4BEC-AE70-B097F7BDEE59}" type="datetimeFigureOut">
              <a:rPr lang="zh-TW" altLang="en-US" smtClean="0"/>
              <a:t>2015/4/14</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83542B-CEF0-4097-8943-8F0D2367FB95}" type="slidenum">
              <a:rPr lang="zh-TW" altLang="en-US" smtClean="0"/>
              <a:t>‹#›</a:t>
            </a:fld>
            <a:endParaRPr lang="zh-TW" altLang="en-US"/>
          </a:p>
        </p:txBody>
      </p:sp>
    </p:spTree>
    <p:extLst>
      <p:ext uri="{BB962C8B-B14F-4D97-AF65-F5344CB8AC3E}">
        <p14:creationId xmlns:p14="http://schemas.microsoft.com/office/powerpoint/2010/main" val="3304194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E783542B-CEF0-4097-8943-8F0D2367FB95}" type="slidenum">
              <a:rPr lang="zh-TW" altLang="en-US" smtClean="0"/>
              <a:t>11</a:t>
            </a:fld>
            <a:endParaRPr lang="zh-TW" altLang="en-US"/>
          </a:p>
        </p:txBody>
      </p:sp>
    </p:spTree>
    <p:extLst>
      <p:ext uri="{BB962C8B-B14F-4D97-AF65-F5344CB8AC3E}">
        <p14:creationId xmlns:p14="http://schemas.microsoft.com/office/powerpoint/2010/main" val="1637044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0C1C4F1D-9F9E-46B1-9FCA-C362A42C52BF}" type="datetimeFigureOut">
              <a:rPr lang="zh-TW" altLang="en-US" smtClean="0"/>
              <a:t>2015/4/14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ECED8A7-0741-4329-AFC6-F59009A621C7}" type="slidenum">
              <a:rPr lang="zh-TW" altLang="en-US" smtClean="0"/>
              <a:t>‹#›</a:t>
            </a:fld>
            <a:endParaRPr lang="zh-TW" altLang="en-US"/>
          </a:p>
        </p:txBody>
      </p:sp>
    </p:spTree>
    <p:extLst>
      <p:ext uri="{BB962C8B-B14F-4D97-AF65-F5344CB8AC3E}">
        <p14:creationId xmlns:p14="http://schemas.microsoft.com/office/powerpoint/2010/main" val="3950166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C1C4F1D-9F9E-46B1-9FCA-C362A42C52BF}" type="datetimeFigureOut">
              <a:rPr lang="zh-TW" altLang="en-US" smtClean="0"/>
              <a:t>2015/4/14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ECED8A7-0741-4329-AFC6-F59009A621C7}" type="slidenum">
              <a:rPr lang="zh-TW" altLang="en-US" smtClean="0"/>
              <a:t>‹#›</a:t>
            </a:fld>
            <a:endParaRPr lang="zh-TW" altLang="en-US"/>
          </a:p>
        </p:txBody>
      </p:sp>
    </p:spTree>
    <p:extLst>
      <p:ext uri="{BB962C8B-B14F-4D97-AF65-F5344CB8AC3E}">
        <p14:creationId xmlns:p14="http://schemas.microsoft.com/office/powerpoint/2010/main" val="1944598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0C1C4F1D-9F9E-46B1-9FCA-C362A42C52BF}" type="datetimeFigureOut">
              <a:rPr lang="zh-TW" altLang="en-US" smtClean="0"/>
              <a:t>2015/4/14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ECED8A7-0741-4329-AFC6-F59009A621C7}" type="slidenum">
              <a:rPr lang="zh-TW" altLang="en-US" smtClean="0"/>
              <a:t>‹#›</a:t>
            </a:fld>
            <a:endParaRPr lang="zh-TW" altLang="en-US"/>
          </a:p>
        </p:txBody>
      </p:sp>
    </p:spTree>
    <p:extLst>
      <p:ext uri="{BB962C8B-B14F-4D97-AF65-F5344CB8AC3E}">
        <p14:creationId xmlns:p14="http://schemas.microsoft.com/office/powerpoint/2010/main" val="2990695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0C1C4F1D-9F9E-46B1-9FCA-C362A42C52BF}" type="datetimeFigureOut">
              <a:rPr lang="zh-TW" altLang="en-US" smtClean="0"/>
              <a:t>2015/4/14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ECED8A7-0741-4329-AFC6-F59009A621C7}" type="slidenum">
              <a:rPr lang="zh-TW" altLang="en-US" smtClean="0"/>
              <a:t>‹#›</a:t>
            </a:fld>
            <a:endParaRPr lang="zh-TW" altLang="en-US"/>
          </a:p>
        </p:txBody>
      </p:sp>
    </p:spTree>
    <p:extLst>
      <p:ext uri="{BB962C8B-B14F-4D97-AF65-F5344CB8AC3E}">
        <p14:creationId xmlns:p14="http://schemas.microsoft.com/office/powerpoint/2010/main" val="17297671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0C1C4F1D-9F9E-46B1-9FCA-C362A42C52BF}" type="datetimeFigureOut">
              <a:rPr lang="zh-TW" altLang="en-US" smtClean="0"/>
              <a:t>2015/4/14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5ECED8A7-0741-4329-AFC6-F59009A621C7}" type="slidenum">
              <a:rPr lang="zh-TW" altLang="en-US" smtClean="0"/>
              <a:t>‹#›</a:t>
            </a:fld>
            <a:endParaRPr lang="zh-TW" altLang="en-US"/>
          </a:p>
        </p:txBody>
      </p:sp>
    </p:spTree>
    <p:extLst>
      <p:ext uri="{BB962C8B-B14F-4D97-AF65-F5344CB8AC3E}">
        <p14:creationId xmlns:p14="http://schemas.microsoft.com/office/powerpoint/2010/main" val="2258957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0C1C4F1D-9F9E-46B1-9FCA-C362A42C52BF}" type="datetimeFigureOut">
              <a:rPr lang="zh-TW" altLang="en-US" smtClean="0"/>
              <a:t>2015/4/14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5ECED8A7-0741-4329-AFC6-F59009A621C7}" type="slidenum">
              <a:rPr lang="zh-TW" altLang="en-US" smtClean="0"/>
              <a:t>‹#›</a:t>
            </a:fld>
            <a:endParaRPr lang="zh-TW" altLang="en-US"/>
          </a:p>
        </p:txBody>
      </p:sp>
    </p:spTree>
    <p:extLst>
      <p:ext uri="{BB962C8B-B14F-4D97-AF65-F5344CB8AC3E}">
        <p14:creationId xmlns:p14="http://schemas.microsoft.com/office/powerpoint/2010/main" val="18700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0C1C4F1D-9F9E-46B1-9FCA-C362A42C52BF}" type="datetimeFigureOut">
              <a:rPr lang="zh-TW" altLang="en-US" smtClean="0"/>
              <a:t>2015/4/14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5ECED8A7-0741-4329-AFC6-F59009A621C7}" type="slidenum">
              <a:rPr lang="zh-TW" altLang="en-US" smtClean="0"/>
              <a:t>‹#›</a:t>
            </a:fld>
            <a:endParaRPr lang="zh-TW" altLang="en-US"/>
          </a:p>
        </p:txBody>
      </p:sp>
    </p:spTree>
    <p:extLst>
      <p:ext uri="{BB962C8B-B14F-4D97-AF65-F5344CB8AC3E}">
        <p14:creationId xmlns:p14="http://schemas.microsoft.com/office/powerpoint/2010/main" val="2627033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0C1C4F1D-9F9E-46B1-9FCA-C362A42C52BF}" type="datetimeFigureOut">
              <a:rPr lang="zh-TW" altLang="en-US" smtClean="0"/>
              <a:t>2015/4/14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ECED8A7-0741-4329-AFC6-F59009A621C7}" type="slidenum">
              <a:rPr lang="zh-TW" altLang="en-US" smtClean="0"/>
              <a:t>‹#›</a:t>
            </a:fld>
            <a:endParaRPr lang="zh-TW" altLang="en-US"/>
          </a:p>
        </p:txBody>
      </p:sp>
    </p:spTree>
    <p:extLst>
      <p:ext uri="{BB962C8B-B14F-4D97-AF65-F5344CB8AC3E}">
        <p14:creationId xmlns:p14="http://schemas.microsoft.com/office/powerpoint/2010/main" val="2919521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0C1C4F1D-9F9E-46B1-9FCA-C362A42C52BF}" type="datetimeFigureOut">
              <a:rPr lang="zh-TW" altLang="en-US" smtClean="0"/>
              <a:t>2015/4/14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ECED8A7-0741-4329-AFC6-F59009A621C7}" type="slidenum">
              <a:rPr lang="zh-TW" altLang="en-US" smtClean="0"/>
              <a:t>‹#›</a:t>
            </a:fld>
            <a:endParaRPr lang="zh-TW" altLang="en-US"/>
          </a:p>
        </p:txBody>
      </p:sp>
    </p:spTree>
    <p:extLst>
      <p:ext uri="{BB962C8B-B14F-4D97-AF65-F5344CB8AC3E}">
        <p14:creationId xmlns:p14="http://schemas.microsoft.com/office/powerpoint/2010/main" val="4182582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C1C4F1D-9F9E-46B1-9FCA-C362A42C52BF}" type="datetimeFigureOut">
              <a:rPr lang="zh-TW" altLang="en-US" smtClean="0"/>
              <a:t>2015/4/14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ECED8A7-0741-4329-AFC6-F59009A621C7}" type="slidenum">
              <a:rPr lang="zh-TW" altLang="en-US" smtClean="0"/>
              <a:t>‹#›</a:t>
            </a:fld>
            <a:endParaRPr lang="zh-TW" altLang="en-US"/>
          </a:p>
        </p:txBody>
      </p:sp>
    </p:spTree>
    <p:extLst>
      <p:ext uri="{BB962C8B-B14F-4D97-AF65-F5344CB8AC3E}">
        <p14:creationId xmlns:p14="http://schemas.microsoft.com/office/powerpoint/2010/main" val="1522688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C1C4F1D-9F9E-46B1-9FCA-C362A42C52BF}" type="datetimeFigureOut">
              <a:rPr lang="zh-TW" altLang="en-US" smtClean="0"/>
              <a:t>2015/4/14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ECED8A7-0741-4329-AFC6-F59009A621C7}" type="slidenum">
              <a:rPr lang="zh-TW" altLang="en-US" smtClean="0"/>
              <a:t>‹#›</a:t>
            </a:fld>
            <a:endParaRPr lang="zh-TW" altLang="en-US"/>
          </a:p>
        </p:txBody>
      </p:sp>
    </p:spTree>
    <p:extLst>
      <p:ext uri="{BB962C8B-B14F-4D97-AF65-F5344CB8AC3E}">
        <p14:creationId xmlns:p14="http://schemas.microsoft.com/office/powerpoint/2010/main" val="6679372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1C4F1D-9F9E-46B1-9FCA-C362A42C52BF}" type="datetimeFigureOut">
              <a:rPr lang="zh-TW" altLang="en-US" smtClean="0"/>
              <a:t>2015/4/14</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CED8A7-0741-4329-AFC6-F59009A621C7}" type="slidenum">
              <a:rPr lang="zh-TW" altLang="en-US" smtClean="0"/>
              <a:t>‹#›</a:t>
            </a:fld>
            <a:endParaRPr lang="zh-TW" altLang="en-US"/>
          </a:p>
        </p:txBody>
      </p:sp>
    </p:spTree>
    <p:extLst>
      <p:ext uri="{BB962C8B-B14F-4D97-AF65-F5344CB8AC3E}">
        <p14:creationId xmlns:p14="http://schemas.microsoft.com/office/powerpoint/2010/main" val="31037605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slide" Target="slide2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220.png"/><Relationship Id="rId3" Type="http://schemas.openxmlformats.org/officeDocument/2006/relationships/oleObject" Target="../embeddings/oleObject1.bin"/><Relationship Id="rId7" Type="http://schemas.openxmlformats.org/officeDocument/2006/relationships/image" Target="../media/image30.png"/><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4.png"/><Relationship Id="rId4" Type="http://schemas.openxmlformats.org/officeDocument/2006/relationships/image" Target="../media/image2.wmf"/><Relationship Id="rId9"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media/image16.png"/><Relationship Id="rId3" Type="http://schemas.openxmlformats.org/officeDocument/2006/relationships/image" Target="../media/image25.png"/><Relationship Id="rId7" Type="http://schemas.openxmlformats.org/officeDocument/2006/relationships/oleObject" Target="../embeddings/oleObject20.bin"/><Relationship Id="rId12" Type="http://schemas.openxmlformats.org/officeDocument/2006/relationships/image" Target="../media/image10.png"/><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2.wmf"/><Relationship Id="rId11" Type="http://schemas.openxmlformats.org/officeDocument/2006/relationships/image" Target="../media/image9.png"/><Relationship Id="rId5" Type="http://schemas.openxmlformats.org/officeDocument/2006/relationships/oleObject" Target="../embeddings/oleObject2.bin"/><Relationship Id="rId10" Type="http://schemas.openxmlformats.org/officeDocument/2006/relationships/image" Target="../media/image80.png"/><Relationship Id="rId4" Type="http://schemas.openxmlformats.org/officeDocument/2006/relationships/image" Target="../media/image15.png"/><Relationship Id="rId9" Type="http://schemas.openxmlformats.org/officeDocument/2006/relationships/image" Target="../media/image70.png"/></Relationships>
</file>

<file path=ppt/slides/_rels/slide11.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100.png"/><Relationship Id="rId3" Type="http://schemas.openxmlformats.org/officeDocument/2006/relationships/notesSlide" Target="../notesSlides/notesSlide1.xml"/><Relationship Id="rId7" Type="http://schemas.openxmlformats.org/officeDocument/2006/relationships/image" Target="NULL"/><Relationship Id="rId12" Type="http://schemas.openxmlformats.org/officeDocument/2006/relationships/image" Target="../media/image90.png"/><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oleObject" Target="../embeddings/oleObject30.bin"/><Relationship Id="rId11" Type="http://schemas.openxmlformats.org/officeDocument/2006/relationships/image" Target="../media/image80.png"/><Relationship Id="rId5" Type="http://schemas.openxmlformats.org/officeDocument/2006/relationships/image" Target="../media/image2.wmf"/><Relationship Id="rId15" Type="http://schemas.openxmlformats.org/officeDocument/2006/relationships/image" Target="../media/image17.png"/><Relationship Id="rId10" Type="http://schemas.openxmlformats.org/officeDocument/2006/relationships/image" Target="../media/image70.png"/><Relationship Id="rId4" Type="http://schemas.openxmlformats.org/officeDocument/2006/relationships/oleObject" Target="../embeddings/oleObject3.bin"/><Relationship Id="rId9" Type="http://schemas.openxmlformats.org/officeDocument/2006/relationships/image" Target="../media/image120.png"/><Relationship Id="rId14" Type="http://schemas.openxmlformats.org/officeDocument/2006/relationships/image" Target="../media/image130.png"/></Relationships>
</file>

<file path=ppt/slides/_rels/slide12.xml.rels><?xml version="1.0" encoding="UTF-8" standalone="yes"?>
<Relationships xmlns="http://schemas.openxmlformats.org/package/2006/relationships"><Relationship Id="rId8" Type="http://schemas.openxmlformats.org/officeDocument/2006/relationships/image" Target="../media/image160.png"/><Relationship Id="rId13" Type="http://schemas.openxmlformats.org/officeDocument/2006/relationships/image" Target="../media/image19.png"/><Relationship Id="rId3" Type="http://schemas.openxmlformats.org/officeDocument/2006/relationships/oleObject" Target="../embeddings/oleObject4.bin"/><Relationship Id="rId7" Type="http://schemas.openxmlformats.org/officeDocument/2006/relationships/image" Target="../media/image150.png"/><Relationship Id="rId12" Type="http://schemas.openxmlformats.org/officeDocument/2006/relationships/image" Target="../media/image100.png"/><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image" Target="NULL"/><Relationship Id="rId11" Type="http://schemas.openxmlformats.org/officeDocument/2006/relationships/image" Target="../media/image90.png"/><Relationship Id="rId5" Type="http://schemas.openxmlformats.org/officeDocument/2006/relationships/oleObject" Target="../embeddings/oleObject40.bin"/><Relationship Id="rId10" Type="http://schemas.openxmlformats.org/officeDocument/2006/relationships/image" Target="../media/image80.png"/><Relationship Id="rId4" Type="http://schemas.openxmlformats.org/officeDocument/2006/relationships/image" Target="../media/image2.wmf"/><Relationship Id="rId9" Type="http://schemas.openxmlformats.org/officeDocument/2006/relationships/image" Target="../media/image18.png"/><Relationship Id="rId14" Type="http://schemas.openxmlformats.org/officeDocument/2006/relationships/image" Target="../media/image20.png"/></Relationships>
</file>

<file path=ppt/slides/_rels/slide13.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8.png"/><Relationship Id="rId3" Type="http://schemas.openxmlformats.org/officeDocument/2006/relationships/oleObject" Target="../embeddings/oleObject5.bin"/><Relationship Id="rId7" Type="http://schemas.openxmlformats.org/officeDocument/2006/relationships/image" Target="../media/image21.png"/><Relationship Id="rId12" Type="http://schemas.openxmlformats.org/officeDocument/2006/relationships/image" Target="../media/image27.png"/><Relationship Id="rId2" Type="http://schemas.openxmlformats.org/officeDocument/2006/relationships/slideLayout" Target="../slideLayouts/slideLayout1.xml"/><Relationship Id="rId1" Type="http://schemas.openxmlformats.org/officeDocument/2006/relationships/vmlDrawing" Target="../drawings/vmlDrawing5.vml"/><Relationship Id="rId6" Type="http://schemas.openxmlformats.org/officeDocument/2006/relationships/image" Target="NULL"/><Relationship Id="rId11" Type="http://schemas.openxmlformats.org/officeDocument/2006/relationships/image" Target="../media/image26.png"/><Relationship Id="rId5" Type="http://schemas.openxmlformats.org/officeDocument/2006/relationships/oleObject" Target="../embeddings/oleObject50.bin"/><Relationship Id="rId10" Type="http://schemas.openxmlformats.org/officeDocument/2006/relationships/image" Target="../media/image24.png"/><Relationship Id="rId4" Type="http://schemas.openxmlformats.org/officeDocument/2006/relationships/image" Target="../media/image2.wmf"/><Relationship Id="rId9" Type="http://schemas.openxmlformats.org/officeDocument/2006/relationships/image" Target="../media/image23.png"/><Relationship Id="rId1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220.png"/><Relationship Id="rId3" Type="http://schemas.openxmlformats.org/officeDocument/2006/relationships/oleObject" Target="../embeddings/oleObject6.bin"/><Relationship Id="rId7" Type="http://schemas.openxmlformats.org/officeDocument/2006/relationships/image" Target="../media/image30.png"/><Relationship Id="rId2" Type="http://schemas.openxmlformats.org/officeDocument/2006/relationships/slideLayout" Target="../slideLayouts/slideLayout1.xml"/><Relationship Id="rId1" Type="http://schemas.openxmlformats.org/officeDocument/2006/relationships/vmlDrawing" Target="../drawings/vmlDrawing6.v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4.png"/><Relationship Id="rId4" Type="http://schemas.openxmlformats.org/officeDocument/2006/relationships/image" Target="../media/image2.wmf"/><Relationship Id="rId9"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162.png"/></Relationships>
</file>

<file path=ppt/slides/_rels/slide22.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7.png"/><Relationship Id="rId7" Type="http://schemas.openxmlformats.org/officeDocument/2006/relationships/image" Target="../media/image291.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4.png"/></Relationships>
</file>

<file path=ppt/slides/_rels/slide23.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37.png"/><Relationship Id="rId7" Type="http://schemas.openxmlformats.org/officeDocument/2006/relationships/image" Target="../media/image46.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8.png"/></Relationships>
</file>

<file path=ppt/slides/_rels/slide24.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37.png"/><Relationship Id="rId7" Type="http://schemas.openxmlformats.org/officeDocument/2006/relationships/image" Target="../media/image46.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38.png"/><Relationship Id="rId9" Type="http://schemas.openxmlformats.org/officeDocument/2006/relationships/image" Target="../media/image5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image" Target="../media/image30.png"/><Relationship Id="rId7" Type="http://schemas.openxmlformats.org/officeDocument/2006/relationships/image" Target="../media/image55.png"/><Relationship Id="rId2" Type="http://schemas.openxmlformats.org/officeDocument/2006/relationships/image" Target="../media/image290.png"/><Relationship Id="rId1" Type="http://schemas.openxmlformats.org/officeDocument/2006/relationships/slideLayout" Target="../slideLayouts/slideLayout2.xml"/><Relationship Id="rId6" Type="http://schemas.openxmlformats.org/officeDocument/2006/relationships/image" Target="../media/image430.png"/><Relationship Id="rId5" Type="http://schemas.openxmlformats.org/officeDocument/2006/relationships/image" Target="../media/image70.png"/><Relationship Id="rId4" Type="http://schemas.openxmlformats.org/officeDocument/2006/relationships/image" Target="../media/image60.png"/></Relationships>
</file>

<file path=ppt/slides/_rels/slide2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0.png"/></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00.png"/><Relationship Id="rId2" Type="http://schemas.openxmlformats.org/officeDocument/2006/relationships/image" Target="../media/image800.png"/><Relationship Id="rId1" Type="http://schemas.openxmlformats.org/officeDocument/2006/relationships/slideLayout" Target="../slideLayouts/slideLayout10.xml"/><Relationship Id="rId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502509" y="1007033"/>
            <a:ext cx="10692714" cy="2387600"/>
          </a:xfrm>
        </p:spPr>
        <p:txBody>
          <a:bodyPr>
            <a:noAutofit/>
          </a:bodyPr>
          <a:lstStyle/>
          <a:p>
            <a:pPr algn="r"/>
            <a:r>
              <a:rPr lang="en-US" altLang="zh-TW" dirty="0">
                <a:latin typeface="微軟正黑體" panose="020B0604030504040204" pitchFamily="34" charset="-120"/>
                <a:ea typeface="微軟正黑體" panose="020B0604030504040204" pitchFamily="34" charset="-120"/>
              </a:rPr>
              <a:t>Contingent </a:t>
            </a:r>
            <a:r>
              <a:rPr lang="en-US" altLang="zh-TW" dirty="0" smtClean="0">
                <a:latin typeface="微軟正黑體" panose="020B0604030504040204" pitchFamily="34" charset="-120"/>
                <a:ea typeface="微軟正黑體" panose="020B0604030504040204" pitchFamily="34" charset="-120"/>
              </a:rPr>
              <a:t>convertible bond</a:t>
            </a:r>
            <a:br>
              <a:rPr lang="en-US" altLang="zh-TW" dirty="0" smtClean="0">
                <a:latin typeface="微軟正黑體" panose="020B0604030504040204" pitchFamily="34" charset="-120"/>
                <a:ea typeface="微軟正黑體" panose="020B0604030504040204" pitchFamily="34" charset="-120"/>
              </a:rPr>
            </a:br>
            <a:r>
              <a:rPr lang="zh-TW" altLang="en-US" dirty="0" smtClean="0">
                <a:latin typeface="微軟正黑體" panose="020B0604030504040204" pitchFamily="34" charset="-120"/>
                <a:ea typeface="微軟正黑體" panose="020B0604030504040204" pitchFamily="34" charset="-120"/>
              </a:rPr>
              <a:t>模型設計</a:t>
            </a:r>
            <a:r>
              <a:rPr lang="en-US" altLang="zh-TW" dirty="0" smtClean="0">
                <a:latin typeface="微軟正黑體" panose="020B0604030504040204" pitchFamily="34" charset="-120"/>
                <a:ea typeface="微軟正黑體" panose="020B0604030504040204" pitchFamily="34" charset="-120"/>
              </a:rPr>
              <a:t> </a:t>
            </a:r>
            <a:endParaRPr lang="zh-TW" altLang="en-US" dirty="0"/>
          </a:p>
        </p:txBody>
      </p:sp>
      <p:sp>
        <p:nvSpPr>
          <p:cNvPr id="3" name="副標題 2"/>
          <p:cNvSpPr>
            <a:spLocks noGrp="1"/>
          </p:cNvSpPr>
          <p:nvPr>
            <p:ph type="subTitle" idx="1"/>
          </p:nvPr>
        </p:nvSpPr>
        <p:spPr>
          <a:xfrm>
            <a:off x="1919417" y="3857411"/>
            <a:ext cx="9144000" cy="1655762"/>
          </a:xfrm>
        </p:spPr>
        <p:txBody>
          <a:bodyPr/>
          <a:lstStyle/>
          <a:p>
            <a:r>
              <a:rPr lang="zh-TW" altLang="en-US" dirty="0" smtClean="0">
                <a:latin typeface="微軟正黑體" panose="020B0604030504040204" pitchFamily="34" charset="-120"/>
                <a:ea typeface="微軟正黑體" panose="020B0604030504040204" pitchFamily="34" charset="-120"/>
              </a:rPr>
              <a:t>                    </a:t>
            </a:r>
            <a:endParaRPr lang="en-US" altLang="zh-TW" dirty="0" smtClean="0">
              <a:latin typeface="微軟正黑體" panose="020B0604030504040204" pitchFamily="34" charset="-120"/>
              <a:ea typeface="微軟正黑體" panose="020B0604030504040204" pitchFamily="34" charset="-120"/>
            </a:endParaRPr>
          </a:p>
          <a:p>
            <a:endParaRPr lang="en-US" altLang="zh-TW" dirty="0">
              <a:latin typeface="微軟正黑體" panose="020B0604030504040204" pitchFamily="34" charset="-120"/>
              <a:ea typeface="微軟正黑體" panose="020B0604030504040204" pitchFamily="34" charset="-120"/>
            </a:endParaRPr>
          </a:p>
          <a:p>
            <a:r>
              <a:rPr lang="en-US" altLang="zh-TW" dirty="0" smtClean="0">
                <a:latin typeface="微軟正黑體" panose="020B0604030504040204" pitchFamily="34" charset="-120"/>
                <a:ea typeface="微軟正黑體" panose="020B0604030504040204" pitchFamily="34" charset="-120"/>
              </a:rPr>
              <a:t>                  </a:t>
            </a:r>
            <a:r>
              <a:rPr lang="zh-TW" altLang="en-US" dirty="0" smtClean="0">
                <a:latin typeface="微軟正黑體" panose="020B0604030504040204" pitchFamily="34" charset="-120"/>
                <a:ea typeface="微軟正黑體" panose="020B0604030504040204" pitchFamily="34" charset="-120"/>
              </a:rPr>
              <a:t>                                                                             古</a:t>
            </a:r>
            <a:r>
              <a:rPr lang="zh-TW" altLang="en-US" dirty="0">
                <a:latin typeface="微軟正黑體" panose="020B0604030504040204" pitchFamily="34" charset="-120"/>
                <a:ea typeface="微軟正黑體" panose="020B0604030504040204" pitchFamily="34" charset="-120"/>
              </a:rPr>
              <a:t>豐</a:t>
            </a:r>
            <a:r>
              <a:rPr lang="zh-TW" altLang="en-US" dirty="0" smtClean="0">
                <a:latin typeface="微軟正黑體" panose="020B0604030504040204" pitchFamily="34" charset="-120"/>
                <a:ea typeface="微軟正黑體" panose="020B0604030504040204" pitchFamily="34" charset="-120"/>
              </a:rPr>
              <a:t>上</a:t>
            </a:r>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40568324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368968"/>
            <a:ext cx="2919663" cy="1193800"/>
          </a:xfrm>
        </p:spPr>
        <p:txBody>
          <a:bodyPr/>
          <a:lstStyle/>
          <a:p>
            <a:r>
              <a:rPr lang="zh-TW" altLang="en-US" dirty="0" smtClean="0">
                <a:latin typeface="微軟正黑體" panose="020B0604030504040204" pitchFamily="34" charset="-120"/>
                <a:ea typeface="微軟正黑體" panose="020B0604030504040204" pitchFamily="34" charset="-120"/>
              </a:rPr>
              <a:t>背景</a:t>
            </a:r>
            <a:endParaRPr lang="zh-TW" altLang="en-US" dirty="0">
              <a:latin typeface="微軟正黑體" panose="020B0604030504040204" pitchFamily="34" charset="-120"/>
              <a:ea typeface="微軟正黑體" panose="020B0604030504040204" pitchFamily="34" charset="-120"/>
            </a:endParaRPr>
          </a:p>
        </p:txBody>
      </p:sp>
      <p:sp>
        <p:nvSpPr>
          <p:cNvPr id="4" name="矩形 3"/>
          <p:cNvSpPr/>
          <p:nvPr/>
        </p:nvSpPr>
        <p:spPr>
          <a:xfrm>
            <a:off x="737936" y="1934943"/>
            <a:ext cx="11117180" cy="2554545"/>
          </a:xfrm>
          <a:prstGeom prst="rect">
            <a:avLst/>
          </a:prstGeom>
        </p:spPr>
        <p:txBody>
          <a:bodyPr wrap="square">
            <a:spAutoFit/>
          </a:bodyPr>
          <a:lstStyle/>
          <a:p>
            <a:r>
              <a:rPr lang="zh-TW" altLang="en-US" sz="4000" dirty="0" smtClean="0">
                <a:latin typeface="微軟正黑體" panose="020B0604030504040204" pitchFamily="34" charset="-120"/>
                <a:ea typeface="微軟正黑體" panose="020B0604030504040204" pitchFamily="34" charset="-120"/>
              </a:rPr>
              <a:t>2007年的次級房貸危機(subprime mortgage crisis)，使得原先由美國房市引發的風險開始由放貸銀行傳染到各種金融機構，其中對保險公司與投資銀行的影響更為深遠。</a:t>
            </a:r>
            <a:endParaRPr lang="zh-TW" altLang="en-US" sz="40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3310235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368968"/>
            <a:ext cx="4106779" cy="1193800"/>
          </a:xfrm>
        </p:spPr>
        <p:txBody>
          <a:bodyPr>
            <a:normAutofit/>
          </a:bodyPr>
          <a:lstStyle/>
          <a:p>
            <a:r>
              <a:rPr lang="zh-TW" altLang="en-US" dirty="0" smtClean="0">
                <a:latin typeface="微軟正黑體" panose="020B0604030504040204" pitchFamily="34" charset="-120"/>
                <a:ea typeface="微軟正黑體" panose="020B0604030504040204" pitchFamily="34" charset="-120"/>
              </a:rPr>
              <a:t>面臨問</a:t>
            </a:r>
            <a:r>
              <a:rPr lang="zh-TW" altLang="en-US" dirty="0">
                <a:latin typeface="微軟正黑體" panose="020B0604030504040204" pitchFamily="34" charset="-120"/>
                <a:ea typeface="微軟正黑體" panose="020B0604030504040204" pitchFamily="34" charset="-120"/>
              </a:rPr>
              <a:t>題</a:t>
            </a:r>
          </a:p>
        </p:txBody>
      </p:sp>
      <p:sp>
        <p:nvSpPr>
          <p:cNvPr id="4" name="矩形 3"/>
          <p:cNvSpPr/>
          <p:nvPr/>
        </p:nvSpPr>
        <p:spPr>
          <a:xfrm>
            <a:off x="523751" y="1676486"/>
            <a:ext cx="11404637" cy="5016758"/>
          </a:xfrm>
          <a:prstGeom prst="rect">
            <a:avLst/>
          </a:prstGeom>
        </p:spPr>
        <p:txBody>
          <a:bodyPr wrap="square">
            <a:spAutoFit/>
          </a:bodyPr>
          <a:lstStyle/>
          <a:p>
            <a:pPr marL="742950" indent="-742950">
              <a:buFont typeface="+mj-lt"/>
              <a:buAutoNum type="arabicPeriod"/>
            </a:pPr>
            <a:r>
              <a:rPr lang="zh-TW" altLang="en-US" sz="4000" dirty="0" smtClean="0">
                <a:latin typeface="微軟正黑體" panose="020B0604030504040204" pitchFamily="34" charset="-120"/>
                <a:ea typeface="微軟正黑體" panose="020B0604030504040204" pitchFamily="34" charset="-120"/>
              </a:rPr>
              <a:t>危機發生前屬於資本充足的公司</a:t>
            </a:r>
            <a:endParaRPr lang="en-US" altLang="zh-TW" sz="4000" dirty="0" smtClean="0">
              <a:latin typeface="微軟正黑體" panose="020B0604030504040204" pitchFamily="34" charset="-120"/>
              <a:ea typeface="微軟正黑體" panose="020B0604030504040204" pitchFamily="34" charset="-120"/>
            </a:endParaRPr>
          </a:p>
          <a:p>
            <a:pPr lvl="1"/>
            <a:r>
              <a:rPr lang="zh-TW" altLang="en-US" sz="4000" dirty="0">
                <a:latin typeface="微軟正黑體" panose="020B0604030504040204" pitchFamily="34" charset="-120"/>
                <a:ea typeface="微軟正黑體" panose="020B0604030504040204" pitchFamily="34" charset="-120"/>
              </a:rPr>
              <a:t>→原有的銀行監理</a:t>
            </a:r>
            <a:r>
              <a:rPr lang="zh-TW" altLang="en-US" sz="4000" dirty="0" smtClean="0">
                <a:latin typeface="微軟正黑體" panose="020B0604030504040204" pitchFamily="34" charset="-120"/>
                <a:ea typeface="微軟正黑體" panose="020B0604030504040204" pitchFamily="34" charset="-120"/>
              </a:rPr>
              <a:t>制度有缺陷</a:t>
            </a:r>
            <a:endParaRPr lang="en-US" altLang="zh-TW" sz="4000" dirty="0" smtClean="0">
              <a:latin typeface="微軟正黑體" panose="020B0604030504040204" pitchFamily="34" charset="-120"/>
              <a:ea typeface="微軟正黑體" panose="020B0604030504040204" pitchFamily="34" charset="-120"/>
            </a:endParaRPr>
          </a:p>
          <a:p>
            <a:pPr lvl="1"/>
            <a:endParaRPr lang="en-US" altLang="zh-TW" sz="4000" dirty="0" smtClean="0">
              <a:latin typeface="微軟正黑體" panose="020B0604030504040204" pitchFamily="34" charset="-120"/>
              <a:ea typeface="微軟正黑體" panose="020B0604030504040204" pitchFamily="34" charset="-120"/>
            </a:endParaRPr>
          </a:p>
          <a:p>
            <a:pPr marL="742950" indent="-742950">
              <a:buFont typeface="+mj-lt"/>
              <a:buAutoNum type="arabicPeriod"/>
            </a:pPr>
            <a:r>
              <a:rPr lang="zh-TW" altLang="en-US" sz="4000" dirty="0" smtClean="0">
                <a:latin typeface="微軟正黑體" panose="020B0604030504040204" pitchFamily="34" charset="-120"/>
                <a:ea typeface="微軟正黑體" panose="020B0604030504040204" pitchFamily="34" charset="-120"/>
              </a:rPr>
              <a:t>大到不能倒</a:t>
            </a:r>
            <a:r>
              <a:rPr lang="en-US" altLang="zh-TW" sz="4000" dirty="0" smtClean="0">
                <a:latin typeface="微軟正黑體" panose="020B0604030504040204" pitchFamily="34" charset="-120"/>
                <a:ea typeface="微軟正黑體" panose="020B0604030504040204" pitchFamily="34" charset="-120"/>
              </a:rPr>
              <a:t>(Too Big to Fail) </a:t>
            </a:r>
            <a:r>
              <a:rPr lang="zh-TW" altLang="en-US" sz="4000" dirty="0" smtClean="0">
                <a:latin typeface="微軟正黑體" panose="020B0604030504040204" pitchFamily="34" charset="-120"/>
                <a:ea typeface="微軟正黑體" panose="020B0604030504040204" pitchFamily="34" charset="-120"/>
              </a:rPr>
              <a:t>→ 道德風險</a:t>
            </a:r>
            <a:endParaRPr lang="en-US" altLang="zh-TW" sz="4000" dirty="0" smtClean="0">
              <a:latin typeface="微軟正黑體" panose="020B0604030504040204" pitchFamily="34" charset="-120"/>
              <a:ea typeface="微軟正黑體" panose="020B0604030504040204" pitchFamily="34" charset="-120"/>
            </a:endParaRPr>
          </a:p>
          <a:p>
            <a:pPr marL="1200150" lvl="1" indent="-742950">
              <a:buFont typeface="Arial" panose="020B0604020202020204" pitchFamily="34" charset="0"/>
              <a:buChar char="•"/>
            </a:pPr>
            <a:r>
              <a:rPr lang="zh-TW" altLang="en-US" sz="4000" dirty="0" smtClean="0">
                <a:latin typeface="微軟正黑體" panose="020B0604030504040204" pitchFamily="34" charset="-120"/>
                <a:ea typeface="微軟正黑體" panose="020B0604030504040204" pitchFamily="34" charset="-120"/>
              </a:rPr>
              <a:t>助長經營者投機</a:t>
            </a:r>
            <a:r>
              <a:rPr lang="zh-TW" altLang="en-US" sz="4000" dirty="0">
                <a:latin typeface="微軟正黑體" panose="020B0604030504040204" pitchFamily="34" charset="-120"/>
                <a:ea typeface="微軟正黑體" panose="020B0604030504040204" pitchFamily="34" charset="-120"/>
              </a:rPr>
              <a:t>的</a:t>
            </a:r>
            <a:r>
              <a:rPr lang="zh-TW" altLang="en-US" sz="4000" dirty="0" smtClean="0">
                <a:latin typeface="微軟正黑體" panose="020B0604030504040204" pitchFamily="34" charset="-120"/>
                <a:ea typeface="微軟正黑體" panose="020B0604030504040204" pitchFamily="34" charset="-120"/>
              </a:rPr>
              <a:t>誘因</a:t>
            </a:r>
            <a:r>
              <a:rPr lang="en-US" altLang="zh-TW" sz="4000" dirty="0" smtClean="0">
                <a:latin typeface="微軟正黑體" panose="020B0604030504040204" pitchFamily="34" charset="-120"/>
                <a:ea typeface="微軟正黑體" panose="020B0604030504040204" pitchFamily="34" charset="-120"/>
              </a:rPr>
              <a:t>(Bail out)</a:t>
            </a:r>
          </a:p>
          <a:p>
            <a:pPr marL="1200150" lvl="1" indent="-742950">
              <a:buFont typeface="Arial" panose="020B0604020202020204" pitchFamily="34" charset="0"/>
              <a:buChar char="•"/>
            </a:pPr>
            <a:r>
              <a:rPr lang="zh-TW" altLang="en-US" sz="4000" dirty="0" smtClean="0">
                <a:latin typeface="微軟正黑體" panose="020B0604030504040204" pitchFamily="34" charset="-120"/>
                <a:ea typeface="微軟正黑體" panose="020B0604030504040204" pitchFamily="34" charset="-120"/>
              </a:rPr>
              <a:t>市場紀律功能喪失</a:t>
            </a:r>
            <a:endParaRPr lang="en-US" altLang="zh-TW" sz="4000" dirty="0" smtClean="0">
              <a:latin typeface="微軟正黑體" panose="020B0604030504040204" pitchFamily="34" charset="-120"/>
              <a:ea typeface="微軟正黑體" panose="020B0604030504040204" pitchFamily="34" charset="-120"/>
            </a:endParaRPr>
          </a:p>
          <a:p>
            <a:pPr lvl="1"/>
            <a:endParaRPr lang="en-US" altLang="zh-TW" sz="4000" dirty="0">
              <a:latin typeface="微軟正黑體" panose="020B0604030504040204" pitchFamily="34" charset="-120"/>
              <a:ea typeface="微軟正黑體" panose="020B0604030504040204" pitchFamily="34" charset="-120"/>
            </a:endParaRPr>
          </a:p>
          <a:p>
            <a:r>
              <a:rPr lang="zh-TW" altLang="en-US" sz="4000" dirty="0" smtClean="0">
                <a:latin typeface="微軟正黑體" panose="020B0604030504040204" pitchFamily="34" charset="-120"/>
                <a:ea typeface="微軟正黑體" panose="020B0604030504040204" pitchFamily="34" charset="-120"/>
              </a:rPr>
              <a:t>→ 或有轉換債</a:t>
            </a:r>
            <a:r>
              <a:rPr lang="en-US" altLang="zh-TW" sz="4000" dirty="0">
                <a:latin typeface="微軟正黑體" panose="020B0604030504040204" pitchFamily="34" charset="-120"/>
                <a:ea typeface="微軟正黑體" panose="020B0604030504040204" pitchFamily="34" charset="-120"/>
              </a:rPr>
              <a:t>(</a:t>
            </a:r>
            <a:r>
              <a:rPr lang="en-US" altLang="zh-TW" sz="4000" dirty="0" smtClean="0">
                <a:latin typeface="微軟正黑體" panose="020B0604030504040204" pitchFamily="34" charset="-120"/>
                <a:ea typeface="微軟正黑體" panose="020B0604030504040204" pitchFamily="34" charset="-120"/>
              </a:rPr>
              <a:t>Contingent convertible bond ,CC)</a:t>
            </a:r>
          </a:p>
        </p:txBody>
      </p:sp>
    </p:spTree>
    <p:extLst>
      <p:ext uri="{BB962C8B-B14F-4D97-AF65-F5344CB8AC3E}">
        <p14:creationId xmlns:p14="http://schemas.microsoft.com/office/powerpoint/2010/main" val="21567127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05356" y="929141"/>
            <a:ext cx="11862486" cy="1193800"/>
          </a:xfrm>
        </p:spPr>
        <p:txBody>
          <a:bodyPr>
            <a:normAutofit fontScale="90000"/>
          </a:bodyPr>
          <a:lstStyle/>
          <a:p>
            <a:pPr algn="l"/>
            <a:r>
              <a:rPr lang="zh-TW" altLang="en-US" dirty="0" smtClean="0">
                <a:latin typeface="微軟正黑體" panose="020B0604030504040204" pitchFamily="34" charset="-120"/>
                <a:ea typeface="微軟正黑體" panose="020B0604030504040204" pitchFamily="34" charset="-120"/>
              </a:rPr>
              <a:t>或有轉換債</a:t>
            </a:r>
            <a:r>
              <a:rPr lang="en-US" altLang="zh-TW" dirty="0" smtClean="0">
                <a:latin typeface="微軟正黑體" panose="020B0604030504040204" pitchFamily="34" charset="-120"/>
                <a:ea typeface="微軟正黑體" panose="020B0604030504040204" pitchFamily="34" charset="-120"/>
              </a:rPr>
              <a:t/>
            </a:r>
            <a:br>
              <a:rPr lang="en-US" altLang="zh-TW" dirty="0" smtClean="0">
                <a:latin typeface="微軟正黑體" panose="020B0604030504040204" pitchFamily="34" charset="-120"/>
                <a:ea typeface="微軟正黑體" panose="020B0604030504040204" pitchFamily="34" charset="-120"/>
              </a:rPr>
            </a:br>
            <a:r>
              <a:rPr lang="en-US" altLang="zh-TW" dirty="0" smtClean="0">
                <a:latin typeface="微軟正黑體" panose="020B0604030504040204" pitchFamily="34" charset="-120"/>
                <a:ea typeface="微軟正黑體" panose="020B0604030504040204" pitchFamily="34" charset="-120"/>
              </a:rPr>
              <a:t>    (Contingent convertible bond ,CC)</a:t>
            </a:r>
          </a:p>
        </p:txBody>
      </p:sp>
      <p:sp>
        <p:nvSpPr>
          <p:cNvPr id="3" name="矩形 2"/>
          <p:cNvSpPr/>
          <p:nvPr/>
        </p:nvSpPr>
        <p:spPr>
          <a:xfrm>
            <a:off x="675503" y="2543599"/>
            <a:ext cx="11088130" cy="3970318"/>
          </a:xfrm>
          <a:prstGeom prst="rect">
            <a:avLst/>
          </a:prstGeom>
        </p:spPr>
        <p:txBody>
          <a:bodyPr wrap="square">
            <a:spAutoFit/>
          </a:bodyPr>
          <a:lstStyle/>
          <a:p>
            <a:r>
              <a:rPr lang="zh-TW" altLang="en-US" sz="3600" dirty="0" smtClean="0">
                <a:latin typeface="微軟正黑體" panose="020B0604030504040204" pitchFamily="34" charset="-120"/>
                <a:ea typeface="微軟正黑體" panose="020B0604030504040204" pitchFamily="34" charset="-120"/>
              </a:rPr>
              <a:t>在發行公司（或金融機構）財務狀況良好時，是ㄧ種債券商品，將定期支付</a:t>
            </a:r>
            <a:r>
              <a:rPr lang="en-US" altLang="zh-TW" sz="3600" dirty="0" smtClean="0">
                <a:latin typeface="微軟正黑體" panose="020B0604030504040204" pitchFamily="34" charset="-120"/>
                <a:ea typeface="微軟正黑體" panose="020B0604030504040204" pitchFamily="34" charset="-120"/>
              </a:rPr>
              <a:t>CC</a:t>
            </a:r>
            <a:r>
              <a:rPr lang="zh-TW" altLang="en-US" sz="3600" dirty="0" smtClean="0">
                <a:latin typeface="微軟正黑體" panose="020B0604030504040204" pitchFamily="34" charset="-120"/>
                <a:ea typeface="微軟正黑體" panose="020B0604030504040204" pitchFamily="34" charset="-120"/>
              </a:rPr>
              <a:t>投資者利息，並於到期時償還本金，同時發行公司則享有利息稅盾；然而當公司財務惡化時CC將「自動」且「強制地」轉換成普通股。</a:t>
            </a:r>
            <a:endParaRPr lang="en-US" altLang="zh-TW" sz="3600" dirty="0" smtClean="0">
              <a:latin typeface="微軟正黑體" panose="020B0604030504040204" pitchFamily="34" charset="-120"/>
              <a:ea typeface="微軟正黑體" panose="020B0604030504040204" pitchFamily="34" charset="-120"/>
            </a:endParaRPr>
          </a:p>
          <a:p>
            <a:endParaRPr lang="en-US" altLang="zh-TW" sz="3600" dirty="0">
              <a:latin typeface="微軟正黑體" panose="020B0604030504040204" pitchFamily="34" charset="-120"/>
              <a:ea typeface="微軟正黑體" panose="020B0604030504040204" pitchFamily="34" charset="-120"/>
            </a:endParaRPr>
          </a:p>
          <a:p>
            <a:endParaRPr lang="en-US" altLang="zh-TW" sz="3600" dirty="0" smtClean="0">
              <a:latin typeface="微軟正黑體" panose="020B0604030504040204" pitchFamily="34" charset="-120"/>
              <a:ea typeface="微軟正黑體" panose="020B0604030504040204" pitchFamily="34" charset="-120"/>
            </a:endParaRPr>
          </a:p>
          <a:p>
            <a:r>
              <a:rPr lang="zh-TW" altLang="en-US" sz="3600" dirty="0" smtClean="0">
                <a:latin typeface="微軟正黑體" panose="020B0604030504040204" pitchFamily="34" charset="-120"/>
                <a:ea typeface="微軟正黑體" panose="020B0604030504040204" pitchFamily="34" charset="-120"/>
              </a:rPr>
              <a:t>→ 如何設計良好的</a:t>
            </a:r>
            <a:r>
              <a:rPr lang="en-US" altLang="zh-TW" sz="3600" dirty="0" smtClean="0">
                <a:latin typeface="微軟正黑體" panose="020B0604030504040204" pitchFamily="34" charset="-120"/>
                <a:ea typeface="微軟正黑體" panose="020B0604030504040204" pitchFamily="34" charset="-120"/>
              </a:rPr>
              <a:t>CC </a:t>
            </a:r>
            <a:r>
              <a:rPr lang="zh-TW" altLang="en-US" sz="3600" dirty="0" smtClean="0">
                <a:latin typeface="微軟正黑體" panose="020B0604030504040204" pitchFamily="34" charset="-120"/>
                <a:ea typeface="微軟正黑體" panose="020B0604030504040204" pitchFamily="34" charset="-120"/>
              </a:rPr>
              <a:t>？</a:t>
            </a:r>
            <a:endParaRPr lang="zh-TW" altLang="en-US" sz="36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5117058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37752" y="401919"/>
            <a:ext cx="4868562" cy="1193800"/>
          </a:xfrm>
        </p:spPr>
        <p:txBody>
          <a:bodyPr>
            <a:normAutofit/>
          </a:bodyPr>
          <a:lstStyle/>
          <a:p>
            <a:pPr algn="l"/>
            <a:r>
              <a:rPr lang="zh-TW" altLang="en-US" dirty="0" smtClean="0">
                <a:latin typeface="微軟正黑體" panose="020B0604030504040204" pitchFamily="34" charset="-120"/>
                <a:ea typeface="微軟正黑體" panose="020B0604030504040204" pitchFamily="34" charset="-120"/>
              </a:rPr>
              <a:t>文獻回顧</a:t>
            </a:r>
            <a:r>
              <a:rPr lang="en-US" altLang="zh-TW" dirty="0" smtClean="0">
                <a:latin typeface="微軟正黑體" panose="020B0604030504040204" pitchFamily="34" charset="-120"/>
                <a:ea typeface="微軟正黑體" panose="020B0604030504040204" pitchFamily="34" charset="-120"/>
              </a:rPr>
              <a:t>(1/2)</a:t>
            </a:r>
            <a:endParaRPr lang="zh-TW" altLang="en-US" dirty="0">
              <a:latin typeface="微軟正黑體" panose="020B0604030504040204" pitchFamily="34" charset="-120"/>
              <a:ea typeface="微軟正黑體" panose="020B0604030504040204" pitchFamily="34" charset="-120"/>
            </a:endParaRPr>
          </a:p>
        </p:txBody>
      </p:sp>
      <p:sp>
        <p:nvSpPr>
          <p:cNvPr id="4" name="矩形 3"/>
          <p:cNvSpPr/>
          <p:nvPr/>
        </p:nvSpPr>
        <p:spPr>
          <a:xfrm>
            <a:off x="523751" y="1841242"/>
            <a:ext cx="11281071" cy="5078313"/>
          </a:xfrm>
          <a:prstGeom prst="rect">
            <a:avLst/>
          </a:prstGeom>
        </p:spPr>
        <p:txBody>
          <a:bodyPr wrap="square">
            <a:spAutoFit/>
          </a:bodyPr>
          <a:lstStyle/>
          <a:p>
            <a:r>
              <a:rPr lang="en-US" altLang="zh-TW" sz="4000" dirty="0" smtClean="0">
                <a:latin typeface="微軟正黑體" panose="020B0604030504040204" pitchFamily="34" charset="-120"/>
                <a:ea typeface="微軟正黑體" panose="020B0604030504040204" pitchFamily="34" charset="-120"/>
              </a:rPr>
              <a:t>Robert L. McDonald</a:t>
            </a:r>
            <a:r>
              <a:rPr lang="zh-TW" altLang="en-US" sz="4000" dirty="0" smtClean="0">
                <a:latin typeface="微軟正黑體" panose="020B0604030504040204" pitchFamily="34" charset="-120"/>
                <a:ea typeface="微軟正黑體" panose="020B0604030504040204" pitchFamily="34" charset="-120"/>
              </a:rPr>
              <a:t> </a:t>
            </a:r>
            <a:r>
              <a:rPr lang="en-US" altLang="zh-TW" sz="4000" dirty="0" smtClean="0">
                <a:latin typeface="微軟正黑體" panose="020B0604030504040204" pitchFamily="34" charset="-120"/>
                <a:ea typeface="微軟正黑體" panose="020B0604030504040204" pitchFamily="34" charset="-120"/>
              </a:rPr>
              <a:t>(2013)</a:t>
            </a:r>
          </a:p>
          <a:p>
            <a:endParaRPr lang="en-US" altLang="zh-TW" sz="4000" dirty="0" smtClean="0">
              <a:latin typeface="微軟正黑體" panose="020B0604030504040204" pitchFamily="34" charset="-120"/>
              <a:ea typeface="微軟正黑體" panose="020B0604030504040204" pitchFamily="34" charset="-120"/>
            </a:endParaRPr>
          </a:p>
          <a:p>
            <a:pPr marL="1200150" lvl="1" indent="-742950">
              <a:buFont typeface="+mj-lt"/>
              <a:buAutoNum type="arabicPeriod"/>
            </a:pPr>
            <a:r>
              <a:rPr lang="en-US" altLang="zh-TW" sz="3200" dirty="0" smtClean="0">
                <a:latin typeface="微軟正黑體" panose="020B0604030504040204" pitchFamily="34" charset="-120"/>
                <a:ea typeface="微軟正黑體" panose="020B0604030504040204" pitchFamily="34" charset="-120"/>
              </a:rPr>
              <a:t>CC</a:t>
            </a:r>
            <a:r>
              <a:rPr lang="zh-TW" altLang="en-US" sz="3200" dirty="0" smtClean="0">
                <a:latin typeface="微軟正黑體" panose="020B0604030504040204" pitchFamily="34" charset="-120"/>
                <a:ea typeface="微軟正黑體" panose="020B0604030504040204" pitchFamily="34" charset="-120"/>
              </a:rPr>
              <a:t>的轉換應滿足</a:t>
            </a:r>
            <a:r>
              <a:rPr lang="zh-TW" altLang="en-US" sz="3200" u="sng" dirty="0" smtClean="0">
                <a:latin typeface="微軟正黑體" panose="020B0604030504040204" pitchFamily="34" charset="-120"/>
                <a:ea typeface="微軟正黑體" panose="020B0604030504040204" pitchFamily="34" charset="-120"/>
              </a:rPr>
              <a:t>雙重門檻</a:t>
            </a:r>
            <a:r>
              <a:rPr lang="zh-TW" altLang="en-US" sz="3200" dirty="0">
                <a:latin typeface="微軟正黑體" panose="020B0604030504040204" pitchFamily="34" charset="-120"/>
                <a:ea typeface="微軟正黑體" panose="020B0604030504040204" pitchFamily="34" charset="-120"/>
              </a:rPr>
              <a:t> </a:t>
            </a:r>
            <a:r>
              <a:rPr lang="zh-TW" altLang="en-US" sz="3200" dirty="0" smtClean="0">
                <a:latin typeface="微軟正黑體" panose="020B0604030504040204" pitchFamily="34" charset="-120"/>
                <a:ea typeface="微軟正黑體" panose="020B0604030504040204" pitchFamily="34" charset="-120"/>
              </a:rPr>
              <a:t>       </a:t>
            </a:r>
            <a:r>
              <a:rPr lang="en-US" altLang="zh-TW" sz="3200" dirty="0" smtClean="0">
                <a:latin typeface="微軟正黑體" panose="020B0604030504040204" pitchFamily="34" charset="-120"/>
                <a:ea typeface="微軟正黑體" panose="020B0604030504040204" pitchFamily="34" charset="-120"/>
              </a:rPr>
              <a:t>Ex. </a:t>
            </a:r>
            <a:r>
              <a:rPr lang="zh-TW" altLang="en-US" sz="3200" dirty="0" smtClean="0">
                <a:latin typeface="微軟正黑體" panose="020B0604030504040204" pitchFamily="34" charset="-120"/>
                <a:ea typeface="微軟正黑體" panose="020B0604030504040204" pitchFamily="34" charset="-120"/>
              </a:rPr>
              <a:t>股價 </a:t>
            </a:r>
            <a:r>
              <a:rPr lang="en-US" altLang="zh-TW" sz="3200" dirty="0" smtClean="0">
                <a:latin typeface="微軟正黑體" panose="020B0604030504040204" pitchFamily="34" charset="-120"/>
                <a:ea typeface="微軟正黑體" panose="020B0604030504040204" pitchFamily="34" charset="-120"/>
              </a:rPr>
              <a:t>&amp;</a:t>
            </a:r>
            <a:r>
              <a:rPr lang="zh-TW" altLang="en-US" sz="3200" dirty="0" smtClean="0">
                <a:latin typeface="微軟正黑體" panose="020B0604030504040204" pitchFamily="34" charset="-120"/>
                <a:ea typeface="微軟正黑體" panose="020B0604030504040204" pitchFamily="34" charset="-120"/>
              </a:rPr>
              <a:t> 某相關指數</a:t>
            </a:r>
            <a:endParaRPr lang="en-US" altLang="zh-TW" sz="3200" dirty="0" smtClean="0">
              <a:latin typeface="微軟正黑體" panose="020B0604030504040204" pitchFamily="34" charset="-120"/>
              <a:ea typeface="微軟正黑體" panose="020B0604030504040204" pitchFamily="34" charset="-120"/>
            </a:endParaRPr>
          </a:p>
          <a:p>
            <a:pPr marL="1200150" lvl="1" indent="-742950">
              <a:buFont typeface="+mj-lt"/>
              <a:buAutoNum type="arabicPeriod"/>
            </a:pPr>
            <a:endParaRPr lang="en-US" altLang="zh-TW" sz="3200" u="sng" dirty="0">
              <a:latin typeface="微軟正黑體" panose="020B0604030504040204" pitchFamily="34" charset="-120"/>
              <a:ea typeface="微軟正黑體" panose="020B0604030504040204" pitchFamily="34" charset="-120"/>
            </a:endParaRPr>
          </a:p>
          <a:p>
            <a:pPr marL="1200150" lvl="1" indent="-742950">
              <a:buFont typeface="+mj-lt"/>
              <a:buAutoNum type="arabicPeriod"/>
            </a:pPr>
            <a:r>
              <a:rPr lang="zh-TW" altLang="en-US" sz="3200" dirty="0" smtClean="0">
                <a:latin typeface="微軟正黑體" panose="020B0604030504040204" pitchFamily="34" charset="-120"/>
                <a:ea typeface="微軟正黑體" panose="020B0604030504040204" pitchFamily="34" charset="-120"/>
              </a:rPr>
              <a:t>採用</a:t>
            </a:r>
            <a:r>
              <a:rPr lang="en-US" altLang="zh-TW" sz="3200" dirty="0" smtClean="0">
                <a:latin typeface="微軟正黑體" panose="020B0604030504040204" pitchFamily="34" charset="-120"/>
                <a:ea typeface="微軟正黑體" panose="020B0604030504040204" pitchFamily="34" charset="-120"/>
              </a:rPr>
              <a:t>Fixed </a:t>
            </a:r>
            <a:r>
              <a:rPr lang="en-US" altLang="zh-TW" sz="3200" dirty="0" err="1" smtClean="0">
                <a:latin typeface="微軟正黑體" panose="020B0604030504040204" pitchFamily="34" charset="-120"/>
                <a:ea typeface="微軟正黑體" panose="020B0604030504040204" pitchFamily="34" charset="-120"/>
              </a:rPr>
              <a:t>share“</a:t>
            </a:r>
            <a:r>
              <a:rPr lang="en-US" altLang="zh-TW" sz="3200" u="sng" dirty="0" err="1" smtClean="0">
                <a:latin typeface="微軟正黑體" panose="020B0604030504040204" pitchFamily="34" charset="-120"/>
                <a:ea typeface="微軟正黑體" panose="020B0604030504040204" pitchFamily="34" charset="-120"/>
              </a:rPr>
              <a:t>premium</a:t>
            </a:r>
            <a:r>
              <a:rPr lang="en-US" altLang="zh-TW" sz="3200" dirty="0" err="1" smtClean="0">
                <a:latin typeface="微軟正黑體" panose="020B0604030504040204" pitchFamily="34" charset="-120"/>
                <a:ea typeface="微軟正黑體" panose="020B0604030504040204" pitchFamily="34" charset="-120"/>
              </a:rPr>
              <a:t>”conversion</a:t>
            </a:r>
            <a:r>
              <a:rPr lang="en-US" altLang="zh-TW" sz="3200" dirty="0" smtClean="0">
                <a:latin typeface="微軟正黑體" panose="020B0604030504040204" pitchFamily="34" charset="-120"/>
                <a:ea typeface="微軟正黑體" panose="020B0604030504040204" pitchFamily="34" charset="-120"/>
              </a:rPr>
              <a:t> (FSW)</a:t>
            </a:r>
            <a:r>
              <a:rPr lang="zh-TW" altLang="en-US" sz="3200" dirty="0" smtClean="0">
                <a:latin typeface="微軟正黑體" panose="020B0604030504040204" pitchFamily="34" charset="-120"/>
                <a:ea typeface="微軟正黑體" panose="020B0604030504040204" pitchFamily="34" charset="-120"/>
              </a:rPr>
              <a:t>可以</a:t>
            </a:r>
            <a:r>
              <a:rPr lang="zh-TW" altLang="en-US" sz="3200" u="sng" dirty="0" smtClean="0">
                <a:latin typeface="微軟正黑體" panose="020B0604030504040204" pitchFamily="34" charset="-120"/>
                <a:ea typeface="微軟正黑體" panose="020B0604030504040204" pitchFamily="34" charset="-120"/>
              </a:rPr>
              <a:t>防止</a:t>
            </a:r>
            <a:r>
              <a:rPr lang="en-US" altLang="zh-TW" sz="3200" u="sng" dirty="0" smtClean="0">
                <a:latin typeface="微軟正黑體" panose="020B0604030504040204" pitchFamily="34" charset="-120"/>
                <a:ea typeface="微軟正黑體" panose="020B0604030504040204" pitchFamily="34" charset="-120"/>
              </a:rPr>
              <a:t>CC</a:t>
            </a:r>
            <a:r>
              <a:rPr lang="zh-TW" altLang="en-US" sz="3200" u="sng" dirty="0" smtClean="0">
                <a:latin typeface="微軟正黑體" panose="020B0604030504040204" pitchFamily="34" charset="-120"/>
                <a:ea typeface="微軟正黑體" panose="020B0604030504040204" pitchFamily="34" charset="-120"/>
              </a:rPr>
              <a:t>持有人對股價操縱</a:t>
            </a:r>
            <a:r>
              <a:rPr lang="zh-TW" altLang="en-US" sz="3200" dirty="0" smtClean="0">
                <a:latin typeface="微軟正黑體" panose="020B0604030504040204" pitchFamily="34" charset="-120"/>
                <a:ea typeface="微軟正黑體" panose="020B0604030504040204" pitchFamily="34" charset="-120"/>
              </a:rPr>
              <a:t>，轉換方式較佳。</a:t>
            </a:r>
            <a:endParaRPr lang="en-US" altLang="zh-TW" sz="3200" dirty="0" smtClean="0">
              <a:latin typeface="微軟正黑體" panose="020B0604030504040204" pitchFamily="34" charset="-120"/>
              <a:ea typeface="微軟正黑體" panose="020B0604030504040204" pitchFamily="34" charset="-120"/>
            </a:endParaRPr>
          </a:p>
          <a:p>
            <a:pPr lvl="3"/>
            <a:r>
              <a:rPr lang="zh-TW" altLang="en-US" sz="3200" dirty="0" smtClean="0">
                <a:solidFill>
                  <a:srgbClr val="FF0000"/>
                </a:solidFill>
                <a:latin typeface="微軟正黑體" panose="020B0604030504040204" pitchFamily="34" charset="-120"/>
                <a:ea typeface="微軟正黑體" panose="020B0604030504040204" pitchFamily="34" charset="-120"/>
              </a:rPr>
              <a:t>但我們發現此時</a:t>
            </a:r>
            <a:r>
              <a:rPr lang="en-US" altLang="zh-TW" sz="3200" dirty="0" smtClean="0">
                <a:solidFill>
                  <a:srgbClr val="FF0000"/>
                </a:solidFill>
                <a:latin typeface="微軟正黑體" panose="020B0604030504040204" pitchFamily="34" charset="-120"/>
                <a:ea typeface="微軟正黑體" panose="020B0604030504040204" pitchFamily="34" charset="-120"/>
              </a:rPr>
              <a:t>Equity Holders</a:t>
            </a:r>
            <a:r>
              <a:rPr lang="zh-TW" altLang="en-US" sz="3200" dirty="0" smtClean="0">
                <a:solidFill>
                  <a:srgbClr val="FF0000"/>
                </a:solidFill>
                <a:latin typeface="微軟正黑體" panose="020B0604030504040204" pitchFamily="34" charset="-120"/>
                <a:ea typeface="微軟正黑體" panose="020B0604030504040204" pitchFamily="34" charset="-120"/>
              </a:rPr>
              <a:t>傾向操作股價</a:t>
            </a:r>
            <a:endParaRPr lang="en-US" altLang="zh-TW" sz="3200" dirty="0" smtClean="0">
              <a:solidFill>
                <a:srgbClr val="FF0000"/>
              </a:solidFill>
              <a:latin typeface="微軟正黑體" panose="020B0604030504040204" pitchFamily="34" charset="-120"/>
              <a:ea typeface="微軟正黑體" panose="020B0604030504040204" pitchFamily="34" charset="-120"/>
            </a:endParaRPr>
          </a:p>
          <a:p>
            <a:pPr lvl="3"/>
            <a:r>
              <a:rPr lang="zh-TW" altLang="en-US" sz="3200" dirty="0" smtClean="0">
                <a:solidFill>
                  <a:srgbClr val="FF0000"/>
                </a:solidFill>
                <a:latin typeface="微軟正黑體" panose="020B0604030504040204" pitchFamily="34" charset="-120"/>
                <a:ea typeface="微軟正黑體" panose="020B0604030504040204" pitchFamily="34" charset="-120"/>
              </a:rPr>
              <a:t>→</a:t>
            </a:r>
            <a:r>
              <a:rPr lang="en-US" altLang="zh-TW" sz="3200" dirty="0" smtClean="0">
                <a:solidFill>
                  <a:srgbClr val="FF0000"/>
                </a:solidFill>
                <a:latin typeface="微軟正黑體" panose="020B0604030504040204" pitchFamily="34" charset="-120"/>
                <a:ea typeface="微軟正黑體" panose="020B0604030504040204" pitchFamily="34" charset="-120"/>
              </a:rPr>
              <a:t>Multiple Equilibria</a:t>
            </a:r>
          </a:p>
          <a:p>
            <a:pPr lvl="2"/>
            <a:endParaRPr lang="en-US" altLang="zh-TW" sz="3200" dirty="0">
              <a:latin typeface="微軟正黑體" panose="020B0604030504040204" pitchFamily="34" charset="-120"/>
              <a:ea typeface="微軟正黑體" panose="020B0604030504040204" pitchFamily="34" charset="-120"/>
            </a:endParaRPr>
          </a:p>
          <a:p>
            <a:pPr lvl="1"/>
            <a:endParaRPr lang="en-US" altLang="zh-TW" sz="2000" dirty="0" smtClean="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5953196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矩形 3"/>
              <p:cNvSpPr/>
              <p:nvPr/>
            </p:nvSpPr>
            <p:spPr>
              <a:xfrm>
                <a:off x="337752" y="1595719"/>
                <a:ext cx="11404637" cy="4872744"/>
              </a:xfrm>
              <a:prstGeom prst="rect">
                <a:avLst/>
              </a:prstGeom>
            </p:spPr>
            <p:txBody>
              <a:bodyPr wrap="square">
                <a:spAutoFit/>
              </a:bodyPr>
              <a:lstStyle/>
              <a:p>
                <a:r>
                  <a:rPr lang="en-US" altLang="zh-TW" sz="4000" dirty="0" smtClean="0">
                    <a:latin typeface="微軟正黑體" panose="020B0604030504040204" pitchFamily="34" charset="-120"/>
                    <a:ea typeface="微軟正黑體" panose="020B0604030504040204" pitchFamily="34" charset="-120"/>
                  </a:rPr>
                  <a:t>Sundaresan</a:t>
                </a:r>
                <a:r>
                  <a:rPr lang="zh-TW" altLang="en-US" sz="4000" dirty="0">
                    <a:latin typeface="微軟正黑體" panose="020B0604030504040204" pitchFamily="34" charset="-120"/>
                    <a:ea typeface="微軟正黑體" panose="020B0604030504040204" pitchFamily="34" charset="-120"/>
                  </a:rPr>
                  <a:t> </a:t>
                </a:r>
                <a:r>
                  <a:rPr lang="en-US" altLang="zh-TW" sz="4000" dirty="0" smtClean="0">
                    <a:latin typeface="微軟正黑體" panose="020B0604030504040204" pitchFamily="34" charset="-120"/>
                    <a:ea typeface="微軟正黑體" panose="020B0604030504040204" pitchFamily="34" charset="-120"/>
                  </a:rPr>
                  <a:t>&amp;</a:t>
                </a:r>
                <a:r>
                  <a:rPr lang="zh-TW" altLang="en-US" sz="4000" dirty="0" smtClean="0">
                    <a:latin typeface="微軟正黑體" panose="020B0604030504040204" pitchFamily="34" charset="-120"/>
                    <a:ea typeface="微軟正黑體" panose="020B0604030504040204" pitchFamily="34" charset="-120"/>
                  </a:rPr>
                  <a:t> </a:t>
                </a:r>
                <a:r>
                  <a:rPr lang="en-US" altLang="zh-TW" sz="4000" dirty="0" smtClean="0">
                    <a:latin typeface="微軟正黑體" panose="020B0604030504040204" pitchFamily="34" charset="-120"/>
                    <a:ea typeface="微軟正黑體" panose="020B0604030504040204" pitchFamily="34" charset="-120"/>
                  </a:rPr>
                  <a:t>Wang (2014)</a:t>
                </a:r>
              </a:p>
              <a:p>
                <a:pPr lvl="1"/>
                <a:r>
                  <a:rPr lang="zh-TW" altLang="en-US" sz="3600" dirty="0" smtClean="0">
                    <a:latin typeface="微軟正黑體" panose="020B0604030504040204" pitchFamily="34" charset="-120"/>
                    <a:ea typeface="微軟正黑體" panose="020B0604030504040204" pitchFamily="34" charset="-120"/>
                  </a:rPr>
                  <a:t>設計一種轉換門檻，使得股價能夠有唯一的均衡點。在給定門檻下，能使股價與</a:t>
                </a:r>
                <a:r>
                  <a:rPr lang="en-US" altLang="zh-TW" sz="3600" dirty="0" smtClean="0">
                    <a:latin typeface="微軟正黑體" panose="020B0604030504040204" pitchFamily="34" charset="-120"/>
                    <a:ea typeface="微軟正黑體" panose="020B0604030504040204" pitchFamily="34" charset="-120"/>
                  </a:rPr>
                  <a:t>CC</a:t>
                </a:r>
                <a:r>
                  <a:rPr lang="zh-TW" altLang="en-US" sz="3600" dirty="0" smtClean="0">
                    <a:latin typeface="微軟正黑體" panose="020B0604030504040204" pitchFamily="34" charset="-120"/>
                    <a:ea typeface="微軟正黑體" panose="020B0604030504040204" pitchFamily="34" charset="-120"/>
                  </a:rPr>
                  <a:t>價格符合模型推導的方程式</a:t>
                </a:r>
                <a:r>
                  <a:rPr lang="en-US" altLang="zh-TW" sz="3600" dirty="0" smtClean="0">
                    <a:latin typeface="微軟正黑體" panose="020B0604030504040204" pitchFamily="34" charset="-120"/>
                    <a:ea typeface="微軟正黑體" panose="020B0604030504040204" pitchFamily="34" charset="-120"/>
                  </a:rPr>
                  <a:t>(</a:t>
                </a:r>
                <a14:m>
                  <m:oMath xmlns:m="http://schemas.openxmlformats.org/officeDocument/2006/math">
                    <m:r>
                      <a:rPr lang="en-US" altLang="zh-TW" sz="3600" b="0" i="1" smtClean="0">
                        <a:latin typeface="Cambria Math" panose="02040503050406030204" pitchFamily="18" charset="0"/>
                        <a:ea typeface="Cambria Math"/>
                      </a:rPr>
                      <m:t>𝑚</m:t>
                    </m:r>
                    <m:r>
                      <a:rPr lang="en-US" altLang="zh-TW" sz="3600" i="1">
                        <a:latin typeface="Cambria Math"/>
                        <a:ea typeface="Cambria Math"/>
                      </a:rPr>
                      <m:t>=</m:t>
                    </m:r>
                    <m:f>
                      <m:fPr>
                        <m:ctrlPr>
                          <a:rPr lang="en-US" altLang="zh-TW" sz="3600" i="1">
                            <a:latin typeface="Cambria Math" panose="02040503050406030204" pitchFamily="18" charset="0"/>
                            <a:ea typeface="Cambria Math"/>
                          </a:rPr>
                        </m:ctrlPr>
                      </m:fPr>
                      <m:num>
                        <m:r>
                          <a:rPr lang="en-US" altLang="zh-TW" sz="3600" i="1">
                            <a:latin typeface="Cambria Math"/>
                            <a:ea typeface="Cambria Math"/>
                          </a:rPr>
                          <m:t>𝑛</m:t>
                        </m:r>
                        <m:acc>
                          <m:accPr>
                            <m:chr m:val="̅"/>
                            <m:ctrlPr>
                              <a:rPr lang="en-US" altLang="zh-TW" sz="3600" i="1">
                                <a:latin typeface="Cambria Math" panose="02040503050406030204" pitchFamily="18" charset="0"/>
                                <a:ea typeface="Cambria Math"/>
                              </a:rPr>
                            </m:ctrlPr>
                          </m:accPr>
                          <m:e>
                            <m:r>
                              <a:rPr lang="en-US" altLang="zh-TW" sz="3600" i="1">
                                <a:latin typeface="Cambria Math"/>
                                <a:ea typeface="Cambria Math"/>
                              </a:rPr>
                              <m:t>𝐶</m:t>
                            </m:r>
                          </m:e>
                        </m:acc>
                      </m:num>
                      <m:den>
                        <m:r>
                          <a:rPr lang="en-US" altLang="zh-TW" sz="3600" i="1">
                            <a:latin typeface="Cambria Math"/>
                            <a:ea typeface="Cambria Math"/>
                          </a:rPr>
                          <m:t>𝐾</m:t>
                        </m:r>
                      </m:den>
                    </m:f>
                  </m:oMath>
                </a14:m>
                <a:r>
                  <a:rPr lang="en-US" altLang="zh-TW" sz="3600" dirty="0" smtClean="0">
                    <a:latin typeface="微軟正黑體" panose="020B0604030504040204" pitchFamily="34" charset="-120"/>
                    <a:ea typeface="微軟正黑體" panose="020B0604030504040204" pitchFamily="34" charset="-120"/>
                  </a:rPr>
                  <a:t>)</a:t>
                </a:r>
                <a:r>
                  <a:rPr lang="zh-TW" altLang="en-US" sz="3600" dirty="0" smtClean="0">
                    <a:latin typeface="微軟正黑體" panose="020B0604030504040204" pitchFamily="34" charset="-120"/>
                    <a:ea typeface="微軟正黑體" panose="020B0604030504040204" pitchFamily="34" charset="-120"/>
                  </a:rPr>
                  <a:t>。唯一解好處在於，可</a:t>
                </a:r>
                <a:r>
                  <a:rPr lang="zh-TW" altLang="en-US" sz="3600" u="sng" dirty="0" smtClean="0">
                    <a:latin typeface="微軟正黑體" panose="020B0604030504040204" pitchFamily="34" charset="-120"/>
                    <a:ea typeface="微軟正黑體" panose="020B0604030504040204" pitchFamily="34" charset="-120"/>
                  </a:rPr>
                  <a:t>避免</a:t>
                </a:r>
                <a:r>
                  <a:rPr lang="zh-TW" altLang="en-US" sz="3600" dirty="0" smtClean="0">
                    <a:latin typeface="微軟正黑體" panose="020B0604030504040204" pitchFamily="34" charset="-120"/>
                    <a:ea typeface="微軟正黑體" panose="020B0604030504040204" pitchFamily="34" charset="-120"/>
                  </a:rPr>
                  <a:t>大型金融機構交易員藉由</a:t>
                </a:r>
                <a:r>
                  <a:rPr lang="zh-TW" altLang="en-US" sz="3600" u="sng" dirty="0" smtClean="0">
                    <a:latin typeface="微軟正黑體" panose="020B0604030504040204" pitchFamily="34" charset="-120"/>
                    <a:ea typeface="微軟正黑體" panose="020B0604030504040204" pitchFamily="34" charset="-120"/>
                  </a:rPr>
                  <a:t>操縱股價</a:t>
                </a:r>
                <a:r>
                  <a:rPr lang="zh-TW" altLang="en-US" sz="3600" dirty="0" smtClean="0">
                    <a:latin typeface="微軟正黑體" panose="020B0604030504040204" pitchFamily="34" charset="-120"/>
                    <a:ea typeface="微軟正黑體" panose="020B0604030504040204" pitchFamily="34" charset="-120"/>
                  </a:rPr>
                  <a:t>，導致</a:t>
                </a:r>
                <a:r>
                  <a:rPr lang="en-US" altLang="zh-TW" sz="3600" dirty="0" smtClean="0">
                    <a:latin typeface="微軟正黑體" panose="020B0604030504040204" pitchFamily="34" charset="-120"/>
                    <a:ea typeface="微軟正黑體" panose="020B0604030504040204" pitchFamily="34" charset="-120"/>
                  </a:rPr>
                  <a:t>CC</a:t>
                </a:r>
                <a:r>
                  <a:rPr lang="zh-TW" altLang="en-US" sz="3600" dirty="0" smtClean="0">
                    <a:latin typeface="微軟正黑體" panose="020B0604030504040204" pitchFamily="34" charset="-120"/>
                    <a:ea typeface="微軟正黑體" panose="020B0604030504040204" pitchFamily="34" charset="-120"/>
                  </a:rPr>
                  <a:t>轉換而獲利。</a:t>
                </a:r>
                <a:endParaRPr lang="en-US" altLang="zh-TW" sz="3600" dirty="0" smtClean="0">
                  <a:latin typeface="微軟正黑體" panose="020B0604030504040204" pitchFamily="34" charset="-120"/>
                  <a:ea typeface="微軟正黑體" panose="020B0604030504040204" pitchFamily="34" charset="-120"/>
                </a:endParaRPr>
              </a:p>
              <a:p>
                <a:pPr lvl="1"/>
                <a:endParaRPr lang="en-US" altLang="zh-TW" sz="3600" dirty="0" smtClean="0">
                  <a:latin typeface="微軟正黑體" panose="020B0604030504040204" pitchFamily="34" charset="-120"/>
                  <a:ea typeface="微軟正黑體" panose="020B0604030504040204" pitchFamily="34" charset="-120"/>
                </a:endParaRPr>
              </a:p>
              <a:p>
                <a:pPr lvl="1"/>
                <a:r>
                  <a:rPr lang="en-US" altLang="zh-TW" sz="3600" dirty="0" smtClean="0">
                    <a:latin typeface="微軟正黑體" panose="020B0604030504040204" pitchFamily="34" charset="-120"/>
                    <a:ea typeface="微軟正黑體" panose="020B0604030504040204" pitchFamily="34" charset="-120"/>
                  </a:rPr>
                  <a:t>m = </a:t>
                </a:r>
                <a:r>
                  <a:rPr lang="zh-TW" altLang="en-US" sz="3600" dirty="0" smtClean="0">
                    <a:latin typeface="微軟正黑體" panose="020B0604030504040204" pitchFamily="34" charset="-120"/>
                    <a:ea typeface="微軟正黑體" panose="020B0604030504040204" pitchFamily="34" charset="-120"/>
                  </a:rPr>
                  <a:t>轉換比例 </a:t>
                </a:r>
                <a:r>
                  <a:rPr lang="en-US" altLang="zh-TW" sz="3600" dirty="0" smtClean="0">
                    <a:latin typeface="微軟正黑體" panose="020B0604030504040204" pitchFamily="34" charset="-120"/>
                    <a:ea typeface="微軟正黑體" panose="020B0604030504040204" pitchFamily="34" charset="-120"/>
                  </a:rPr>
                  <a:t>,n = </a:t>
                </a:r>
                <a:r>
                  <a:rPr lang="zh-TW" altLang="en-US" sz="3600" dirty="0" smtClean="0">
                    <a:latin typeface="微軟正黑體" panose="020B0604030504040204" pitchFamily="34" charset="-120"/>
                    <a:ea typeface="微軟正黑體" panose="020B0604030504040204" pitchFamily="34" charset="-120"/>
                  </a:rPr>
                  <a:t>原始股數 </a:t>
                </a:r>
                <a:r>
                  <a:rPr lang="en-US" altLang="zh-TW" sz="3600" dirty="0" smtClean="0">
                    <a:latin typeface="微軟正黑體" panose="020B0604030504040204" pitchFamily="34" charset="-120"/>
                    <a:ea typeface="微軟正黑體" panose="020B0604030504040204" pitchFamily="34" charset="-120"/>
                  </a:rPr>
                  <a:t>,</a:t>
                </a:r>
                <a:r>
                  <a:rPr lang="en-US" altLang="zh-TW" sz="3600" dirty="0">
                    <a:ea typeface="Cambria Math"/>
                  </a:rPr>
                  <a:t> </a:t>
                </a:r>
                <a14:m>
                  <m:oMath xmlns:m="http://schemas.openxmlformats.org/officeDocument/2006/math">
                    <m:acc>
                      <m:accPr>
                        <m:chr m:val="̅"/>
                        <m:ctrlPr>
                          <a:rPr lang="en-US" altLang="zh-TW" sz="3600" i="1">
                            <a:latin typeface="Cambria Math" panose="02040503050406030204" pitchFamily="18" charset="0"/>
                            <a:ea typeface="Cambria Math"/>
                          </a:rPr>
                        </m:ctrlPr>
                      </m:accPr>
                      <m:e>
                        <m:r>
                          <a:rPr lang="en-US" altLang="zh-TW" sz="3600" i="1">
                            <a:latin typeface="Cambria Math"/>
                            <a:ea typeface="Cambria Math"/>
                          </a:rPr>
                          <m:t>𝐶</m:t>
                        </m:r>
                      </m:e>
                    </m:acc>
                  </m:oMath>
                </a14:m>
                <a:r>
                  <a:rPr lang="en-US" altLang="zh-TW" sz="3600" dirty="0" smtClean="0">
                    <a:latin typeface="微軟正黑體" panose="020B0604030504040204" pitchFamily="34" charset="-120"/>
                    <a:ea typeface="微軟正黑體" panose="020B0604030504040204" pitchFamily="34" charset="-120"/>
                  </a:rPr>
                  <a:t> = CC</a:t>
                </a:r>
                <a:r>
                  <a:rPr lang="zh-TW" altLang="en-US" sz="3600" dirty="0" smtClean="0">
                    <a:latin typeface="微軟正黑體" panose="020B0604030504040204" pitchFamily="34" charset="-120"/>
                    <a:ea typeface="微軟正黑體" panose="020B0604030504040204" pitchFamily="34" charset="-120"/>
                  </a:rPr>
                  <a:t>面額</a:t>
                </a:r>
                <a:endParaRPr lang="en-US" altLang="zh-TW" sz="3600" dirty="0">
                  <a:latin typeface="微軟正黑體" panose="020B0604030504040204" pitchFamily="34" charset="-120"/>
                  <a:ea typeface="微軟正黑體" panose="020B0604030504040204" pitchFamily="34" charset="-120"/>
                </a:endParaRPr>
              </a:p>
              <a:p>
                <a:pPr lvl="1"/>
                <a:r>
                  <a:rPr lang="en-US" altLang="zh-TW" sz="3600" dirty="0" smtClean="0">
                    <a:latin typeface="微軟正黑體" panose="020B0604030504040204" pitchFamily="34" charset="-120"/>
                    <a:ea typeface="微軟正黑體" panose="020B0604030504040204" pitchFamily="34" charset="-120"/>
                  </a:rPr>
                  <a:t>K =</a:t>
                </a:r>
                <a:r>
                  <a:rPr lang="zh-TW" altLang="en-US" sz="3600" dirty="0" smtClean="0">
                    <a:latin typeface="微軟正黑體" panose="020B0604030504040204" pitchFamily="34" charset="-120"/>
                    <a:ea typeface="微軟正黑體" panose="020B0604030504040204" pitchFamily="34" charset="-120"/>
                  </a:rPr>
                  <a:t> </a:t>
                </a:r>
                <a:r>
                  <a:rPr lang="en-US" altLang="zh-TW" sz="3600" dirty="0" smtClean="0">
                    <a:latin typeface="微軟正黑體" panose="020B0604030504040204" pitchFamily="34" charset="-120"/>
                    <a:ea typeface="微軟正黑體" panose="020B0604030504040204" pitchFamily="34" charset="-120"/>
                  </a:rPr>
                  <a:t>Conversion Trigger </a:t>
                </a:r>
                <a:r>
                  <a:rPr lang="en-US" altLang="zh-TW" sz="3600" dirty="0" smtClean="0">
                    <a:latin typeface="微軟正黑體" panose="020B0604030504040204" pitchFamily="34" charset="-120"/>
                    <a:ea typeface="微軟正黑體" panose="020B0604030504040204" pitchFamily="34" charset="-120"/>
                  </a:rPr>
                  <a:t>Level of </a:t>
                </a:r>
                <a:r>
                  <a:rPr lang="en-US" altLang="zh-TW" sz="3600" dirty="0" smtClean="0">
                    <a:latin typeface="微軟正黑體" panose="020B0604030504040204" pitchFamily="34" charset="-120"/>
                    <a:ea typeface="微軟正黑體" panose="020B0604030504040204" pitchFamily="34" charset="-120"/>
                  </a:rPr>
                  <a:t>CC (Total Equity)</a:t>
                </a:r>
              </a:p>
            </p:txBody>
          </p:sp>
        </mc:Choice>
        <mc:Fallback>
          <p:sp>
            <p:nvSpPr>
              <p:cNvPr id="4" name="矩形 3"/>
              <p:cNvSpPr>
                <a:spLocks noRot="1" noChangeAspect="1" noMove="1" noResize="1" noEditPoints="1" noAdjustHandles="1" noChangeArrowheads="1" noChangeShapeType="1" noTextEdit="1"/>
              </p:cNvSpPr>
              <p:nvPr/>
            </p:nvSpPr>
            <p:spPr>
              <a:xfrm>
                <a:off x="337752" y="1595719"/>
                <a:ext cx="11404637" cy="4872744"/>
              </a:xfrm>
              <a:prstGeom prst="rect">
                <a:avLst/>
              </a:prstGeom>
              <a:blipFill rotWithShape="0">
                <a:blip r:embed="rId2"/>
                <a:stretch>
                  <a:fillRect l="-1871" t="-2253" r="-695" b="-3880"/>
                </a:stretch>
              </a:blipFill>
            </p:spPr>
            <p:txBody>
              <a:bodyPr/>
              <a:lstStyle/>
              <a:p>
                <a:r>
                  <a:rPr lang="zh-TW" altLang="en-US">
                    <a:noFill/>
                  </a:rPr>
                  <a:t> </a:t>
                </a:r>
              </a:p>
            </p:txBody>
          </p:sp>
        </mc:Fallback>
      </mc:AlternateContent>
      <p:sp>
        <p:nvSpPr>
          <p:cNvPr id="5" name="標題 1"/>
          <p:cNvSpPr txBox="1">
            <a:spLocks/>
          </p:cNvSpPr>
          <p:nvPr/>
        </p:nvSpPr>
        <p:spPr>
          <a:xfrm>
            <a:off x="337752" y="401919"/>
            <a:ext cx="4868562" cy="11938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TW" altLang="en-US" dirty="0" smtClean="0">
                <a:latin typeface="微軟正黑體" panose="020B0604030504040204" pitchFamily="34" charset="-120"/>
                <a:ea typeface="微軟正黑體" panose="020B0604030504040204" pitchFamily="34" charset="-120"/>
              </a:rPr>
              <a:t>文獻回顧</a:t>
            </a:r>
            <a:r>
              <a:rPr lang="en-US" altLang="zh-TW" dirty="0" smtClean="0">
                <a:latin typeface="微軟正黑體" panose="020B0604030504040204" pitchFamily="34" charset="-120"/>
                <a:ea typeface="微軟正黑體" panose="020B0604030504040204" pitchFamily="34" charset="-120"/>
              </a:rPr>
              <a:t>(2/2)</a:t>
            </a:r>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0025963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txBox="1">
            <a:spLocks/>
          </p:cNvSpPr>
          <p:nvPr/>
        </p:nvSpPr>
        <p:spPr>
          <a:xfrm>
            <a:off x="347730" y="347728"/>
            <a:ext cx="11844270" cy="79252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TW" dirty="0" smtClean="0">
                <a:latin typeface="微軟正黑體" panose="020B0604030504040204" pitchFamily="34" charset="-120"/>
                <a:ea typeface="微軟正黑體" panose="020B0604030504040204" pitchFamily="34" charset="-120"/>
                <a:cs typeface="Arial" panose="020B0604020202020204" pitchFamily="34" charset="0"/>
              </a:rPr>
              <a:t>CC with dual triggers(CC)(1/2)</a:t>
            </a:r>
            <a:endParaRPr lang="zh-TW" altLang="en-US" dirty="0">
              <a:latin typeface="微軟正黑體" panose="020B0604030504040204" pitchFamily="34" charset="-120"/>
              <a:ea typeface="微軟正黑體" panose="020B0604030504040204" pitchFamily="34" charset="-120"/>
            </a:endParaRPr>
          </a:p>
        </p:txBody>
      </p:sp>
      <mc:AlternateContent xmlns:mc="http://schemas.openxmlformats.org/markup-compatibility/2006" xmlns:a14="http://schemas.microsoft.com/office/drawing/2010/main">
        <mc:Choice Requires="a14">
          <p:sp>
            <p:nvSpPr>
              <p:cNvPr id="5" name="文字方塊 4"/>
              <p:cNvSpPr txBox="1"/>
              <p:nvPr/>
            </p:nvSpPr>
            <p:spPr>
              <a:xfrm>
                <a:off x="592643" y="1289046"/>
                <a:ext cx="7422773" cy="1451679"/>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m:rPr>
                          <m:nor/>
                        </m:rPr>
                        <a:rPr lang="en-US" altLang="zh-TW" sz="3200" dirty="0" smtClean="0"/>
                        <m:t>Terminal</m:t>
                      </m:r>
                      <m:r>
                        <m:rPr>
                          <m:nor/>
                        </m:rPr>
                        <a:rPr lang="en-US" altLang="zh-TW" sz="3200" dirty="0" smtClean="0"/>
                        <m:t> </m:t>
                      </m:r>
                      <m:r>
                        <m:rPr>
                          <m:nor/>
                        </m:rPr>
                        <a:rPr lang="en-US" altLang="zh-TW" sz="3200" dirty="0" smtClean="0"/>
                        <m:t>Value</m:t>
                      </m:r>
                      <m:r>
                        <m:rPr>
                          <m:nor/>
                        </m:rPr>
                        <a:rPr lang="en-US" altLang="zh-TW" sz="3200" b="0" i="0" dirty="0" smtClean="0"/>
                        <m:t> </m:t>
                      </m:r>
                    </m:oMath>
                  </m:oMathPara>
                </a14:m>
                <a:endParaRPr lang="en-US" altLang="zh-TW" sz="3200" b="0" i="0" dirty="0" smtClean="0"/>
              </a:p>
              <a:p>
                <a14:m>
                  <m:oMath xmlns:m="http://schemas.openxmlformats.org/officeDocument/2006/math">
                    <m:r>
                      <m:rPr>
                        <m:nor/>
                      </m:rPr>
                      <a:rPr lang="en-US" altLang="zh-TW" sz="2400" b="0" i="0" dirty="0" smtClean="0"/>
                      <m:t>= </m:t>
                    </m:r>
                    <m:d>
                      <m:dPr>
                        <m:begChr m:val="{"/>
                        <m:endChr m:val=""/>
                        <m:ctrlPr>
                          <a:rPr lang="en-US" altLang="zh-TW" sz="2400" b="0" i="1" dirty="0" smtClean="0">
                            <a:latin typeface="Cambria Math" panose="02040503050406030204" pitchFamily="18" charset="0"/>
                          </a:rPr>
                        </m:ctrlPr>
                      </m:dPr>
                      <m:e>
                        <m:eqArr>
                          <m:eqArrPr>
                            <m:ctrlPr>
                              <a:rPr lang="en-US" altLang="zh-TW" sz="2400" b="0" i="1" dirty="0" smtClean="0">
                                <a:latin typeface="Cambria Math" panose="02040503050406030204" pitchFamily="18" charset="0"/>
                              </a:rPr>
                            </m:ctrlPr>
                          </m:eqArrPr>
                          <m:e>
                            <m:sSub>
                              <m:sSubPr>
                                <m:ctrlPr>
                                  <a:rPr lang="en-US" altLang="zh-TW" sz="2400" b="0" i="1" dirty="0" smtClean="0">
                                    <a:latin typeface="Cambria Math" panose="02040503050406030204" pitchFamily="18" charset="0"/>
                                  </a:rPr>
                                </m:ctrlPr>
                              </m:sSubPr>
                              <m:e>
                                <m:r>
                                  <a:rPr lang="en-US" altLang="zh-TW" sz="2400" b="0" i="1" dirty="0" smtClean="0">
                                    <a:latin typeface="Cambria Math" panose="02040503050406030204" pitchFamily="18" charset="0"/>
                                  </a:rPr>
                                  <m:t>𝐷</m:t>
                                </m:r>
                              </m:e>
                              <m:sub>
                                <m:r>
                                  <a:rPr lang="en-US" altLang="zh-TW" sz="2400" b="0" i="1" dirty="0" smtClean="0">
                                    <a:latin typeface="Cambria Math" panose="02040503050406030204" pitchFamily="18" charset="0"/>
                                  </a:rPr>
                                  <m:t>2</m:t>
                                </m:r>
                              </m:sub>
                            </m:sSub>
                            <m:r>
                              <a:rPr lang="en-US" altLang="zh-TW" sz="2400" b="0" i="1" dirty="0" smtClean="0">
                                <a:latin typeface="Cambria Math" panose="02040503050406030204" pitchFamily="18" charset="0"/>
                              </a:rPr>
                              <m:t>                     ,</m:t>
                            </m:r>
                            <m:r>
                              <a:rPr lang="en-US" altLang="zh-TW" sz="2400" b="0" i="1" dirty="0" smtClean="0">
                                <a:latin typeface="Cambria Math" panose="02040503050406030204" pitchFamily="18" charset="0"/>
                              </a:rPr>
                              <m:t>𝑖𝑓</m:t>
                            </m:r>
                            <m:r>
                              <a:rPr lang="en-US" altLang="zh-TW" sz="2400" b="0" i="1" dirty="0" smtClean="0">
                                <a:latin typeface="Cambria Math" panose="02040503050406030204" pitchFamily="18" charset="0"/>
                              </a:rPr>
                              <m:t> </m:t>
                            </m:r>
                            <m:sSubSup>
                              <m:sSubSupPr>
                                <m:ctrlPr>
                                  <a:rPr lang="en-US" altLang="zh-TW" sz="2400" b="0" i="1" dirty="0" smtClean="0">
                                    <a:latin typeface="Cambria Math" panose="02040503050406030204" pitchFamily="18" charset="0"/>
                                    <a:ea typeface="Cambria Math" panose="02040503050406030204" pitchFamily="18" charset="0"/>
                                  </a:rPr>
                                </m:ctrlPr>
                              </m:sSubSupPr>
                              <m:e>
                                <m:r>
                                  <a:rPr lang="en-US" altLang="zh-TW" sz="2400" b="0" i="1" dirty="0" smtClean="0">
                                    <a:latin typeface="Cambria Math" panose="02040503050406030204" pitchFamily="18" charset="0"/>
                                    <a:ea typeface="Cambria Math" panose="02040503050406030204" pitchFamily="18" charset="0"/>
                                  </a:rPr>
                                  <m:t>𝑆</m:t>
                                </m:r>
                              </m:e>
                              <m:sub>
                                <m:r>
                                  <a:rPr lang="en-US" altLang="zh-TW" sz="2400" b="0" i="1" dirty="0" smtClean="0">
                                    <a:latin typeface="Cambria Math" panose="02040503050406030204" pitchFamily="18" charset="0"/>
                                    <a:ea typeface="Cambria Math" panose="02040503050406030204" pitchFamily="18" charset="0"/>
                                  </a:rPr>
                                  <m:t>𝑇</m:t>
                                </m:r>
                              </m:sub>
                              <m:sup>
                                <m:r>
                                  <a:rPr lang="en-US" altLang="zh-TW" sz="2400" b="0" i="1" dirty="0" smtClean="0">
                                    <a:latin typeface="Cambria Math" panose="02040503050406030204" pitchFamily="18" charset="0"/>
                                    <a:ea typeface="Cambria Math" panose="02040503050406030204" pitchFamily="18" charset="0"/>
                                  </a:rPr>
                                  <m:t>𝑈</m:t>
                                </m:r>
                              </m:sup>
                            </m:sSubSup>
                            <m:r>
                              <a:rPr lang="en-US" altLang="zh-TW" sz="2400" i="1" dirty="0">
                                <a:latin typeface="Cambria Math" panose="02040503050406030204" pitchFamily="18" charset="0"/>
                                <a:ea typeface="Cambria Math" panose="02040503050406030204" pitchFamily="18" charset="0"/>
                              </a:rPr>
                              <m:t>&gt;</m:t>
                            </m:r>
                            <m:r>
                              <a:rPr lang="en-US" altLang="zh-TW" sz="2400" i="1" dirty="0">
                                <a:latin typeface="Cambria Math" panose="02040503050406030204" pitchFamily="18" charset="0"/>
                                <a:ea typeface="Cambria Math" panose="02040503050406030204" pitchFamily="18" charset="0"/>
                              </a:rPr>
                              <m:t>𝑆</m:t>
                            </m:r>
                            <m:r>
                              <a:rPr lang="en-US" altLang="zh-TW" sz="2400" b="0" i="1" dirty="0" smtClean="0">
                                <a:latin typeface="Cambria Math" panose="02040503050406030204" pitchFamily="18" charset="0"/>
                                <a:ea typeface="Cambria Math" panose="02040503050406030204" pitchFamily="18" charset="0"/>
                              </a:rPr>
                              <m:t>"</m:t>
                            </m:r>
                          </m:e>
                          <m:e>
                            <m:sSubSup>
                              <m:sSubSupPr>
                                <m:ctrlPr>
                                  <a:rPr lang="en-US" altLang="zh-TW" sz="2400" b="0" i="1" dirty="0" smtClean="0">
                                    <a:latin typeface="Cambria Math" panose="02040503050406030204" pitchFamily="18" charset="0"/>
                                    <a:ea typeface="Cambria Math" panose="02040503050406030204" pitchFamily="18" charset="0"/>
                                  </a:rPr>
                                </m:ctrlPr>
                              </m:sSubSupPr>
                              <m:e>
                                <m:r>
                                  <a:rPr lang="en-US" altLang="zh-TW" sz="2400" i="1" dirty="0">
                                    <a:latin typeface="Cambria Math" panose="02040503050406030204" pitchFamily="18" charset="0"/>
                                    <a:ea typeface="Cambria Math" panose="02040503050406030204" pitchFamily="18" charset="0"/>
                                  </a:rPr>
                                  <m:t>𝑆</m:t>
                                </m:r>
                              </m:e>
                              <m:sub>
                                <m:r>
                                  <a:rPr lang="en-US" altLang="zh-TW" sz="2400" b="0" i="1" dirty="0" smtClean="0">
                                    <a:latin typeface="Cambria Math" panose="02040503050406030204" pitchFamily="18" charset="0"/>
                                    <a:ea typeface="Cambria Math" panose="02040503050406030204" pitchFamily="18" charset="0"/>
                                  </a:rPr>
                                  <m:t>𝑇</m:t>
                                </m:r>
                              </m:sub>
                              <m:sup>
                                <m:r>
                                  <a:rPr lang="en-US" altLang="zh-TW" sz="2400" b="0" i="1" dirty="0" smtClean="0">
                                    <a:latin typeface="Cambria Math" panose="02040503050406030204" pitchFamily="18" charset="0"/>
                                    <a:ea typeface="Cambria Math" panose="02040503050406030204" pitchFamily="18" charset="0"/>
                                  </a:rPr>
                                  <m:t>𝐶</m:t>
                                </m:r>
                              </m:sup>
                            </m:sSubSup>
                            <m:sSub>
                              <m:sSubPr>
                                <m:ctrlPr>
                                  <a:rPr lang="en-US" altLang="zh-TW" sz="2400" i="1" dirty="0">
                                    <a:latin typeface="Cambria Math" panose="02040503050406030204" pitchFamily="18" charset="0"/>
                                    <a:ea typeface="微軟正黑體" panose="020B0604030504040204" pitchFamily="34" charset="-120"/>
                                  </a:rPr>
                                </m:ctrlPr>
                              </m:sSubPr>
                              <m:e>
                                <m:r>
                                  <a:rPr lang="en-US" altLang="zh-TW" sz="2400" i="1" dirty="0">
                                    <a:latin typeface="Cambria Math" panose="02040503050406030204" pitchFamily="18" charset="0"/>
                                    <a:ea typeface="微軟正黑體" panose="020B0604030504040204" pitchFamily="34" charset="-120"/>
                                  </a:rPr>
                                  <m:t>𝑂</m:t>
                                </m:r>
                              </m:e>
                              <m:sub>
                                <m:r>
                                  <a:rPr lang="en-US" altLang="zh-TW" sz="2400" i="1" dirty="0">
                                    <a:latin typeface="Cambria Math" panose="02040503050406030204" pitchFamily="18" charset="0"/>
                                    <a:ea typeface="微軟正黑體" panose="020B0604030504040204" pitchFamily="34" charset="-120"/>
                                  </a:rPr>
                                  <m:t>𝐶𝐶</m:t>
                                </m:r>
                              </m:sub>
                            </m:sSub>
                            <m:r>
                              <a:rPr lang="en-US" altLang="zh-TW" sz="2400" b="0" i="1" dirty="0">
                                <a:latin typeface="Cambria Math" panose="02040503050406030204" pitchFamily="18" charset="0"/>
                                <a:ea typeface="微軟正黑體" panose="020B0604030504040204" pitchFamily="34" charset="-120"/>
                              </a:rPr>
                              <m:t>           </m:t>
                            </m:r>
                            <m:r>
                              <a:rPr lang="en-US" altLang="zh-TW" sz="2400" b="0" i="1" dirty="0" smtClean="0">
                                <a:latin typeface="Cambria Math" panose="02040503050406030204" pitchFamily="18" charset="0"/>
                              </a:rPr>
                              <m:t>   ,</m:t>
                            </m:r>
                            <m:r>
                              <a:rPr lang="en-US" altLang="zh-TW" sz="2400" b="0" i="1" dirty="0" smtClean="0">
                                <a:latin typeface="Cambria Math" panose="02040503050406030204" pitchFamily="18" charset="0"/>
                              </a:rPr>
                              <m:t>𝑖𝑓</m:t>
                            </m:r>
                            <m:r>
                              <a:rPr lang="en-US" altLang="zh-TW" sz="2400" b="0" i="1" dirty="0" smtClean="0">
                                <a:latin typeface="Cambria Math" panose="02040503050406030204" pitchFamily="18" charset="0"/>
                              </a:rPr>
                              <m:t> </m:t>
                            </m:r>
                            <m:sSubSup>
                              <m:sSubSupPr>
                                <m:ctrlPr>
                                  <a:rPr lang="en-US" altLang="zh-TW" sz="2400" b="0" i="1" dirty="0" smtClean="0">
                                    <a:latin typeface="Cambria Math" panose="02040503050406030204" pitchFamily="18" charset="0"/>
                                    <a:ea typeface="Cambria Math" panose="02040503050406030204" pitchFamily="18" charset="0"/>
                                  </a:rPr>
                                </m:ctrlPr>
                              </m:sSubSupPr>
                              <m:e>
                                <m:r>
                                  <a:rPr lang="en-US" altLang="zh-TW" sz="2400" b="0" i="1" dirty="0" smtClean="0">
                                    <a:latin typeface="Cambria Math" panose="02040503050406030204" pitchFamily="18" charset="0"/>
                                    <a:ea typeface="Cambria Math" panose="02040503050406030204" pitchFamily="18" charset="0"/>
                                  </a:rPr>
                                  <m:t>𝑆</m:t>
                                </m:r>
                              </m:e>
                              <m:sub>
                                <m:r>
                                  <a:rPr lang="en-US" altLang="zh-TW" sz="2400" b="0" i="1" dirty="0" smtClean="0">
                                    <a:latin typeface="Cambria Math" panose="02040503050406030204" pitchFamily="18" charset="0"/>
                                    <a:ea typeface="Cambria Math" panose="02040503050406030204" pitchFamily="18" charset="0"/>
                                  </a:rPr>
                                  <m:t>𝑇</m:t>
                                </m:r>
                              </m:sub>
                              <m:sup>
                                <m:r>
                                  <a:rPr lang="en-US" altLang="zh-TW" sz="2400" b="0" i="1" dirty="0" smtClean="0">
                                    <a:latin typeface="Cambria Math" panose="02040503050406030204" pitchFamily="18" charset="0"/>
                                    <a:ea typeface="Cambria Math" panose="02040503050406030204" pitchFamily="18" charset="0"/>
                                  </a:rPr>
                                  <m:t>𝑈</m:t>
                                </m:r>
                              </m:sup>
                            </m:sSubSup>
                            <m:r>
                              <a:rPr lang="en-US" altLang="zh-TW" sz="2400" i="1" dirty="0">
                                <a:latin typeface="Cambria Math" panose="02040503050406030204" pitchFamily="18" charset="0"/>
                                <a:ea typeface="Cambria Math" panose="02040503050406030204" pitchFamily="18" charset="0"/>
                              </a:rPr>
                              <m:t>≤</m:t>
                            </m:r>
                            <m:r>
                              <a:rPr lang="en-US" altLang="zh-TW" sz="2400" i="1" dirty="0">
                                <a:latin typeface="Cambria Math" panose="02040503050406030204" pitchFamily="18" charset="0"/>
                                <a:ea typeface="Cambria Math" panose="02040503050406030204" pitchFamily="18" charset="0"/>
                              </a:rPr>
                              <m:t>𝑆</m:t>
                            </m:r>
                            <m:r>
                              <a:rPr lang="en-US" altLang="zh-TW" sz="2400" b="0" i="1" dirty="0" smtClean="0">
                                <a:latin typeface="Cambria Math" panose="02040503050406030204" pitchFamily="18" charset="0"/>
                                <a:ea typeface="Cambria Math" panose="02040503050406030204" pitchFamily="18" charset="0"/>
                              </a:rPr>
                              <m:t>"</m:t>
                            </m:r>
                          </m:e>
                        </m:eqArr>
                      </m:e>
                    </m:d>
                  </m:oMath>
                </a14:m>
                <a:r>
                  <a:rPr lang="en-US" altLang="zh-TW" sz="2400" dirty="0" smtClean="0"/>
                  <a:t> </a:t>
                </a:r>
                <a:endParaRPr lang="zh-TW" altLang="en-US" sz="2400"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592643" y="1289046"/>
                <a:ext cx="7422773" cy="1451679"/>
              </a:xfrm>
              <a:prstGeom prst="rect">
                <a:avLst/>
              </a:prstGeom>
              <a:blipFill rotWithShape="0">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p:cNvSpPr txBox="1"/>
              <p:nvPr/>
            </p:nvSpPr>
            <p:spPr>
              <a:xfrm>
                <a:off x="1425147" y="2817341"/>
                <a:ext cx="7943200" cy="862608"/>
              </a:xfrm>
              <a:prstGeom prst="rect">
                <a:avLst/>
              </a:prstGeom>
              <a:noFill/>
            </p:spPr>
            <p:txBody>
              <a:bodyPr wrap="none" rtlCol="0">
                <a:spAutoFit/>
              </a:bodyPr>
              <a:lstStyle/>
              <a:p>
                <a:r>
                  <a:rPr lang="zh-TW" altLang="en-US" sz="2000" dirty="0" smtClean="0">
                    <a:latin typeface="微軟正黑體" panose="020B0604030504040204" pitchFamily="34" charset="-120"/>
                    <a:ea typeface="微軟正黑體" panose="020B0604030504040204" pitchFamily="34" charset="-120"/>
                  </a:rPr>
                  <a:t>為預防 多解</a:t>
                </a:r>
                <a:r>
                  <a:rPr lang="en-US" altLang="zh-TW" sz="2000" dirty="0" smtClean="0">
                    <a:latin typeface="微軟正黑體" panose="020B0604030504040204" pitchFamily="34" charset="-120"/>
                    <a:ea typeface="微軟正黑體" panose="020B0604030504040204" pitchFamily="34" charset="-120"/>
                  </a:rPr>
                  <a:t>(Multiple Equilibriums) </a:t>
                </a:r>
                <a:r>
                  <a:rPr lang="zh-TW" altLang="en-US" sz="2000" dirty="0" smtClean="0">
                    <a:latin typeface="微軟正黑體" panose="020B0604030504040204" pitchFamily="34" charset="-120"/>
                    <a:ea typeface="微軟正黑體" panose="020B0604030504040204" pitchFamily="34" charset="-120"/>
                  </a:rPr>
                  <a:t>與 無解</a:t>
                </a:r>
                <a:r>
                  <a:rPr lang="en-US" altLang="zh-TW" sz="2000" dirty="0" smtClean="0">
                    <a:latin typeface="微軟正黑體" panose="020B0604030504040204" pitchFamily="34" charset="-120"/>
                    <a:ea typeface="微軟正黑體" panose="020B0604030504040204" pitchFamily="34" charset="-120"/>
                  </a:rPr>
                  <a:t>(No Equilibrium) </a:t>
                </a:r>
                <a:r>
                  <a:rPr lang="zh-TW" altLang="en-US" sz="2000" dirty="0" smtClean="0">
                    <a:latin typeface="微軟正黑體" panose="020B0604030504040204" pitchFamily="34" charset="-120"/>
                    <a:ea typeface="微軟正黑體" panose="020B0604030504040204" pitchFamily="34" charset="-120"/>
                  </a:rPr>
                  <a:t>的問題</a:t>
                </a:r>
                <a:endParaRPr lang="en-US" altLang="zh-TW" sz="2000" dirty="0" smtClean="0">
                  <a:latin typeface="微軟正黑體" panose="020B0604030504040204" pitchFamily="34" charset="-120"/>
                  <a:ea typeface="微軟正黑體" panose="020B0604030504040204" pitchFamily="34" charset="-120"/>
                </a:endParaRPr>
              </a:p>
              <a:p>
                <a:r>
                  <a:rPr lang="zh-TW" altLang="en-US" sz="2000" dirty="0" smtClean="0">
                    <a:latin typeface="微軟正黑體" panose="020B0604030504040204" pitchFamily="34" charset="-120"/>
                    <a:ea typeface="微軟正黑體" panose="020B0604030504040204" pitchFamily="34" charset="-120"/>
                  </a:rPr>
                  <a:t>令</a:t>
                </a:r>
                <a14:m>
                  <m:oMath xmlns:m="http://schemas.openxmlformats.org/officeDocument/2006/math">
                    <m:sSub>
                      <m:sSubPr>
                        <m:ctrlPr>
                          <a:rPr lang="en-US" altLang="zh-TW" sz="2000" i="1" dirty="0">
                            <a:latin typeface="Cambria Math" panose="02040503050406030204" pitchFamily="18" charset="0"/>
                            <a:ea typeface="微軟正黑體" panose="020B0604030504040204" pitchFamily="34" charset="-120"/>
                          </a:rPr>
                        </m:ctrlPr>
                      </m:sSubPr>
                      <m:e>
                        <m:r>
                          <a:rPr lang="en-US" altLang="zh-TW" sz="2000" i="1" dirty="0">
                            <a:latin typeface="Cambria Math" panose="02040503050406030204" pitchFamily="18" charset="0"/>
                            <a:ea typeface="微軟正黑體" panose="020B0604030504040204" pitchFamily="34" charset="-120"/>
                          </a:rPr>
                          <m:t>𝑂</m:t>
                        </m:r>
                      </m:e>
                      <m:sub>
                        <m:r>
                          <a:rPr lang="en-US" altLang="zh-TW" sz="2000" i="1" dirty="0">
                            <a:latin typeface="Cambria Math" panose="02040503050406030204" pitchFamily="18" charset="0"/>
                            <a:ea typeface="微軟正黑體" panose="020B0604030504040204" pitchFamily="34" charset="-120"/>
                          </a:rPr>
                          <m:t>𝐶𝐶</m:t>
                        </m:r>
                      </m:sub>
                    </m:sSub>
                    <m:r>
                      <a:rPr lang="en-US" altLang="zh-TW" sz="2000" i="1" dirty="0">
                        <a:latin typeface="Cambria Math" panose="02040503050406030204" pitchFamily="18" charset="0"/>
                        <a:ea typeface="微軟正黑體" panose="020B0604030504040204" pitchFamily="34" charset="-120"/>
                      </a:rPr>
                      <m:t>=</m:t>
                    </m:r>
                    <m:f>
                      <m:fPr>
                        <m:ctrlPr>
                          <a:rPr lang="en-US" altLang="zh-TW" sz="2000" i="1" dirty="0" smtClean="0">
                            <a:latin typeface="Cambria Math" panose="02040503050406030204" pitchFamily="18" charset="0"/>
                            <a:ea typeface="微軟正黑體" panose="020B0604030504040204" pitchFamily="34" charset="-120"/>
                          </a:rPr>
                        </m:ctrlPr>
                      </m:fPr>
                      <m:num>
                        <m:sSub>
                          <m:sSubPr>
                            <m:ctrlPr>
                              <a:rPr lang="en-US" altLang="zh-TW" sz="2000" i="1" dirty="0" smtClean="0">
                                <a:latin typeface="Cambria Math" panose="02040503050406030204" pitchFamily="18" charset="0"/>
                                <a:ea typeface="微軟正黑體" panose="020B0604030504040204" pitchFamily="34" charset="-120"/>
                              </a:rPr>
                            </m:ctrlPr>
                          </m:sSubPr>
                          <m:e>
                            <m:r>
                              <a:rPr lang="en-US" altLang="zh-TW" sz="2000" b="0" i="1" dirty="0" smtClean="0">
                                <a:latin typeface="Cambria Math" panose="02040503050406030204" pitchFamily="18" charset="0"/>
                                <a:ea typeface="微軟正黑體" panose="020B0604030504040204" pitchFamily="34" charset="-120"/>
                              </a:rPr>
                              <m:t>𝐷</m:t>
                            </m:r>
                          </m:e>
                          <m:sub>
                            <m:r>
                              <a:rPr lang="en-US" altLang="zh-TW" sz="2000" b="0" i="1" dirty="0" smtClean="0">
                                <a:latin typeface="Cambria Math" panose="02040503050406030204" pitchFamily="18" charset="0"/>
                                <a:ea typeface="微軟正黑體" panose="020B0604030504040204" pitchFamily="34" charset="-120"/>
                              </a:rPr>
                              <m:t>2</m:t>
                            </m:r>
                          </m:sub>
                        </m:sSub>
                      </m:num>
                      <m:den>
                        <m:r>
                          <a:rPr lang="en-US" altLang="zh-TW" sz="2000" b="0" i="1" dirty="0" smtClean="0">
                            <a:latin typeface="Cambria Math" panose="02040503050406030204" pitchFamily="18" charset="0"/>
                            <a:ea typeface="微軟正黑體" panose="020B0604030504040204" pitchFamily="34" charset="-120"/>
                          </a:rPr>
                          <m:t>𝑆</m:t>
                        </m:r>
                        <m:r>
                          <a:rPr lang="en-US" altLang="zh-TW" sz="2000" b="0" i="1" dirty="0" smtClean="0">
                            <a:latin typeface="Cambria Math" panose="02040503050406030204" pitchFamily="18" charset="0"/>
                            <a:ea typeface="微軟正黑體" panose="020B0604030504040204" pitchFamily="34" charset="-120"/>
                          </a:rPr>
                          <m:t>“</m:t>
                        </m:r>
                      </m:den>
                    </m:f>
                  </m:oMath>
                </a14:m>
                <a:r>
                  <a:rPr lang="en-US" altLang="zh-TW" sz="2000" dirty="0" smtClean="0">
                    <a:latin typeface="微軟正黑體" panose="020B0604030504040204" pitchFamily="34" charset="-120"/>
                    <a:ea typeface="微軟正黑體" panose="020B0604030504040204" pitchFamily="34" charset="-120"/>
                  </a:rPr>
                  <a:t>  , </a:t>
                </a:r>
                <a:r>
                  <a:rPr lang="zh-TW" altLang="en-US" sz="2000" dirty="0" smtClean="0">
                    <a:latin typeface="微軟正黑體" panose="020B0604030504040204" pitchFamily="34" charset="-120"/>
                    <a:ea typeface="微軟正黑體" panose="020B0604030504040204" pitchFamily="34" charset="-120"/>
                  </a:rPr>
                  <a:t>其中 </a:t>
                </a:r>
                <a14:m>
                  <m:oMath xmlns:m="http://schemas.openxmlformats.org/officeDocument/2006/math">
                    <m:r>
                      <a:rPr lang="en-US" altLang="zh-TW" sz="2000" i="1" dirty="0">
                        <a:latin typeface="Cambria Math" panose="02040503050406030204" pitchFamily="18" charset="0"/>
                        <a:ea typeface="微軟正黑體" panose="020B0604030504040204" pitchFamily="34" charset="-120"/>
                      </a:rPr>
                      <m:t>𝑆</m:t>
                    </m:r>
                    <m:r>
                      <a:rPr lang="en-US" altLang="zh-TW" sz="2000" i="1" dirty="0">
                        <a:latin typeface="Cambria Math" panose="02040503050406030204" pitchFamily="18" charset="0"/>
                        <a:ea typeface="微軟正黑體" panose="020B0604030504040204" pitchFamily="34" charset="-120"/>
                      </a:rPr>
                      <m:t>“=</m:t>
                    </m:r>
                    <m:f>
                      <m:fPr>
                        <m:ctrlPr>
                          <a:rPr lang="en-US" altLang="zh-TW" sz="2000" b="0" i="1" dirty="0" smtClean="0">
                            <a:latin typeface="Cambria Math" panose="02040503050406030204" pitchFamily="18" charset="0"/>
                            <a:ea typeface="微軟正黑體" panose="020B0604030504040204" pitchFamily="34" charset="-120"/>
                          </a:rPr>
                        </m:ctrlPr>
                      </m:fPr>
                      <m:num>
                        <m:r>
                          <a:rPr lang="en-US" altLang="zh-TW" sz="2000" b="0" i="1" dirty="0" smtClean="0">
                            <a:latin typeface="Cambria Math" panose="02040503050406030204" pitchFamily="18" charset="0"/>
                            <a:ea typeface="微軟正黑體" panose="020B0604030504040204" pitchFamily="34" charset="-120"/>
                          </a:rPr>
                          <m:t>𝐾</m:t>
                        </m:r>
                      </m:num>
                      <m:den>
                        <m:r>
                          <a:rPr lang="en-US" altLang="zh-TW" sz="2000" b="0" i="1" dirty="0" smtClean="0">
                            <a:latin typeface="Cambria Math" panose="02040503050406030204" pitchFamily="18" charset="0"/>
                            <a:ea typeface="微軟正黑體" panose="020B0604030504040204" pitchFamily="34" charset="-120"/>
                          </a:rPr>
                          <m:t>𝑛</m:t>
                        </m:r>
                      </m:den>
                    </m:f>
                  </m:oMath>
                </a14:m>
                <a:r>
                  <a:rPr lang="en-US" altLang="zh-TW" sz="2000" dirty="0" smtClean="0">
                    <a:latin typeface="微軟正黑體" panose="020B0604030504040204" pitchFamily="34" charset="-120"/>
                    <a:ea typeface="微軟正黑體" panose="020B0604030504040204" pitchFamily="34" charset="-120"/>
                  </a:rPr>
                  <a:t> [ Sundaresan</a:t>
                </a:r>
                <a:r>
                  <a:rPr lang="zh-TW" altLang="en-US" sz="2000" dirty="0" smtClean="0">
                    <a:latin typeface="微軟正黑體" panose="020B0604030504040204" pitchFamily="34" charset="-120"/>
                    <a:ea typeface="微軟正黑體" panose="020B0604030504040204" pitchFamily="34" charset="-120"/>
                  </a:rPr>
                  <a:t> </a:t>
                </a:r>
                <a:r>
                  <a:rPr lang="en-US" altLang="zh-TW" sz="2000" dirty="0">
                    <a:latin typeface="微軟正黑體" panose="020B0604030504040204" pitchFamily="34" charset="-120"/>
                    <a:ea typeface="微軟正黑體" panose="020B0604030504040204" pitchFamily="34" charset="-120"/>
                  </a:rPr>
                  <a:t>&amp;</a:t>
                </a:r>
                <a:r>
                  <a:rPr lang="zh-TW" altLang="en-US" sz="2000" dirty="0">
                    <a:latin typeface="微軟正黑體" panose="020B0604030504040204" pitchFamily="34" charset="-120"/>
                    <a:ea typeface="微軟正黑體" panose="020B0604030504040204" pitchFamily="34" charset="-120"/>
                  </a:rPr>
                  <a:t> </a:t>
                </a:r>
                <a:r>
                  <a:rPr lang="en-US" altLang="zh-TW" sz="2000" dirty="0">
                    <a:latin typeface="微軟正黑體" panose="020B0604030504040204" pitchFamily="34" charset="-120"/>
                    <a:ea typeface="微軟正黑體" panose="020B0604030504040204" pitchFamily="34" charset="-120"/>
                  </a:rPr>
                  <a:t>Wang (2014</a:t>
                </a:r>
                <a:r>
                  <a:rPr lang="en-US" altLang="zh-TW" sz="2000" dirty="0" smtClean="0">
                    <a:latin typeface="微軟正黑體" panose="020B0604030504040204" pitchFamily="34" charset="-120"/>
                    <a:ea typeface="微軟正黑體" panose="020B0604030504040204" pitchFamily="34" charset="-120"/>
                  </a:rPr>
                  <a:t>) ]</a:t>
                </a:r>
                <a:endParaRPr lang="en-US" altLang="zh-TW" sz="2000" dirty="0">
                  <a:latin typeface="微軟正黑體" panose="020B0604030504040204" pitchFamily="34" charset="-120"/>
                  <a:ea typeface="微軟正黑體" panose="020B0604030504040204" pitchFamily="34" charset="-120"/>
                </a:endParaRPr>
              </a:p>
            </p:txBody>
          </p:sp>
        </mc:Choice>
        <mc:Fallback xmlns="">
          <p:sp>
            <p:nvSpPr>
              <p:cNvPr id="6" name="文字方塊 5"/>
              <p:cNvSpPr txBox="1">
                <a:spLocks noRot="1" noChangeAspect="1" noMove="1" noResize="1" noEditPoints="1" noAdjustHandles="1" noChangeArrowheads="1" noChangeShapeType="1" noTextEdit="1"/>
              </p:cNvSpPr>
              <p:nvPr/>
            </p:nvSpPr>
            <p:spPr>
              <a:xfrm>
                <a:off x="1425147" y="2817341"/>
                <a:ext cx="7943200" cy="862608"/>
              </a:xfrm>
              <a:prstGeom prst="rect">
                <a:avLst/>
              </a:prstGeom>
              <a:blipFill rotWithShape="0">
                <a:blip r:embed="rId3"/>
                <a:stretch>
                  <a:fillRect l="-844" t="-3521" b="-70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p:cNvSpPr txBox="1"/>
              <p:nvPr/>
            </p:nvSpPr>
            <p:spPr>
              <a:xfrm>
                <a:off x="1425147" y="5552304"/>
                <a:ext cx="7689221" cy="848309"/>
              </a:xfrm>
              <a:prstGeom prst="rect">
                <a:avLst/>
              </a:prstGeom>
              <a:noFill/>
            </p:spPr>
            <p:txBody>
              <a:bodyPr wrap="none" rtlCol="0">
                <a:spAutoFit/>
              </a:bodyPr>
              <a:lstStyle/>
              <a:p>
                <a:r>
                  <a:rPr lang="zh-TW" altLang="en-US" sz="2000" dirty="0" smtClean="0">
                    <a:latin typeface="微軟正黑體" panose="020B0604030504040204" pitchFamily="34" charset="-120"/>
                    <a:ea typeface="微軟正黑體" panose="020B0604030504040204" pitchFamily="34" charset="-120"/>
                  </a:rPr>
                  <a:t>令</a:t>
                </a:r>
                <a14:m>
                  <m:oMath xmlns:m="http://schemas.openxmlformats.org/officeDocument/2006/math">
                    <m:r>
                      <a:rPr lang="en-US" altLang="zh-TW" sz="2000" i="1" dirty="0">
                        <a:latin typeface="Cambria Math" panose="02040503050406030204" pitchFamily="18" charset="0"/>
                        <a:ea typeface="微軟正黑體" panose="020B0604030504040204" pitchFamily="34" charset="-120"/>
                      </a:rPr>
                      <m:t>𝑆</m:t>
                    </m:r>
                    <m:r>
                      <a:rPr lang="en-US" altLang="zh-TW" sz="2000" i="1" dirty="0" smtClean="0">
                        <a:latin typeface="Cambria Math" panose="02040503050406030204" pitchFamily="18" charset="0"/>
                        <a:ea typeface="微軟正黑體" panose="020B0604030504040204" pitchFamily="34" charset="-120"/>
                      </a:rPr>
                      <m:t>“=</m:t>
                    </m:r>
                    <m:r>
                      <a:rPr lang="en-US" altLang="zh-TW" sz="2000" b="0" i="1" dirty="0" smtClean="0">
                        <a:latin typeface="Cambria Math" panose="02040503050406030204" pitchFamily="18" charset="0"/>
                        <a:ea typeface="微軟正黑體" panose="020B0604030504040204" pitchFamily="34" charset="-120"/>
                      </a:rPr>
                      <m:t>𝑆</m:t>
                    </m:r>
                    <m:d>
                      <m:dPr>
                        <m:ctrlPr>
                          <a:rPr lang="en-US" altLang="zh-TW" sz="2000" b="0" i="1" dirty="0" smtClean="0">
                            <a:latin typeface="Cambria Math" panose="02040503050406030204" pitchFamily="18" charset="0"/>
                            <a:ea typeface="微軟正黑體" panose="020B0604030504040204" pitchFamily="34" charset="-120"/>
                          </a:rPr>
                        </m:ctrlPr>
                      </m:dPr>
                      <m:e>
                        <m:r>
                          <a:rPr lang="en-US" altLang="zh-TW" sz="2000" b="0" i="1" dirty="0" smtClean="0">
                            <a:latin typeface="Cambria Math" panose="02040503050406030204" pitchFamily="18" charset="0"/>
                            <a:ea typeface="微軟正黑體" panose="020B0604030504040204" pitchFamily="34" charset="-120"/>
                          </a:rPr>
                          <m:t>0</m:t>
                        </m:r>
                      </m:e>
                    </m:d>
                  </m:oMath>
                </a14:m>
                <a:r>
                  <a:rPr lang="en-US" altLang="zh-TW" sz="2000" dirty="0" smtClean="0">
                    <a:latin typeface="微軟正黑體" panose="020B0604030504040204" pitchFamily="34" charset="-120"/>
                    <a:ea typeface="微軟正黑體" panose="020B0604030504040204" pitchFamily="34" charset="-120"/>
                  </a:rPr>
                  <a:t>, </a:t>
                </a:r>
                <a:r>
                  <a:rPr lang="zh-TW" altLang="en-US" sz="2000" dirty="0" smtClean="0">
                    <a:latin typeface="微軟正黑體" panose="020B0604030504040204" pitchFamily="34" charset="-120"/>
                    <a:ea typeface="微軟正黑體" panose="020B0604030504040204" pitchFamily="34" charset="-120"/>
                  </a:rPr>
                  <a:t>其中 </a:t>
                </a:r>
                <a14:m>
                  <m:oMath xmlns:m="http://schemas.openxmlformats.org/officeDocument/2006/math">
                    <m:r>
                      <a:rPr lang="en-US" altLang="zh-TW" sz="2000" i="1" dirty="0">
                        <a:latin typeface="Cambria Math" panose="02040503050406030204" pitchFamily="18" charset="0"/>
                        <a:ea typeface="微軟正黑體" panose="020B0604030504040204" pitchFamily="34" charset="-120"/>
                      </a:rPr>
                      <m:t>𝑆</m:t>
                    </m:r>
                    <m:d>
                      <m:dPr>
                        <m:ctrlPr>
                          <a:rPr lang="en-US" altLang="zh-TW" sz="2000" i="1" dirty="0">
                            <a:latin typeface="Cambria Math" panose="02040503050406030204" pitchFamily="18" charset="0"/>
                            <a:ea typeface="微軟正黑體" panose="020B0604030504040204" pitchFamily="34" charset="-120"/>
                          </a:rPr>
                        </m:ctrlPr>
                      </m:dPr>
                      <m:e>
                        <m:r>
                          <a:rPr lang="en-US" altLang="zh-TW" sz="2000" i="1" dirty="0">
                            <a:latin typeface="Cambria Math" panose="02040503050406030204" pitchFamily="18" charset="0"/>
                            <a:ea typeface="微軟正黑體" panose="020B0604030504040204" pitchFamily="34" charset="-120"/>
                          </a:rPr>
                          <m:t>0</m:t>
                        </m:r>
                      </m:e>
                    </m:d>
                    <m:r>
                      <a:rPr lang="en-US" altLang="zh-TW" sz="2000" i="1" dirty="0">
                        <a:latin typeface="Cambria Math" panose="02040503050406030204" pitchFamily="18" charset="0"/>
                        <a:ea typeface="微軟正黑體" panose="020B0604030504040204" pitchFamily="34" charset="-120"/>
                      </a:rPr>
                      <m:t>=</m:t>
                    </m:r>
                    <m:f>
                      <m:fPr>
                        <m:ctrlPr>
                          <a:rPr lang="en-US" altLang="zh-TW" sz="2000" i="1" dirty="0">
                            <a:latin typeface="Cambria Math" panose="02040503050406030204" pitchFamily="18" charset="0"/>
                            <a:ea typeface="微軟正黑體" panose="020B0604030504040204" pitchFamily="34" charset="-120"/>
                          </a:rPr>
                        </m:ctrlPr>
                      </m:fPr>
                      <m:num>
                        <m:r>
                          <a:rPr lang="en-US" altLang="zh-TW" sz="2000" i="1" dirty="0">
                            <a:latin typeface="Cambria Math" panose="02040503050406030204" pitchFamily="18" charset="0"/>
                            <a:ea typeface="微軟正黑體" panose="020B0604030504040204" pitchFamily="34" charset="-120"/>
                          </a:rPr>
                          <m:t>𝐸𝑞𝑢𝑖𝑡𝑦</m:t>
                        </m:r>
                      </m:num>
                      <m:den>
                        <m:r>
                          <a:rPr lang="en-US" altLang="zh-TW" sz="2000" i="1" dirty="0">
                            <a:latin typeface="Cambria Math" panose="02040503050406030204" pitchFamily="18" charset="0"/>
                            <a:ea typeface="微軟正黑體" panose="020B0604030504040204" pitchFamily="34" charset="-120"/>
                          </a:rPr>
                          <m:t>𝑂</m:t>
                        </m:r>
                      </m:den>
                    </m:f>
                  </m:oMath>
                </a14:m>
                <a:r>
                  <a:rPr lang="zh-TW" altLang="en-US" sz="2000" dirty="0" smtClean="0">
                    <a:latin typeface="微軟正黑體" panose="020B0604030504040204" pitchFamily="34" charset="-120"/>
                    <a:ea typeface="微軟正黑體" panose="020B0604030504040204" pitchFamily="34" charset="-120"/>
                  </a:rPr>
                  <a:t> </a:t>
                </a:r>
                <a:r>
                  <a:rPr lang="en-US" altLang="zh-TW" sz="2000" dirty="0" smtClean="0">
                    <a:latin typeface="微軟正黑體" panose="020B0604030504040204" pitchFamily="34" charset="-120"/>
                    <a:ea typeface="微軟正黑體" panose="020B0604030504040204" pitchFamily="34" charset="-120"/>
                  </a:rPr>
                  <a:t>,</a:t>
                </a:r>
              </a:p>
              <a:p>
                <a:r>
                  <a:rPr lang="zh-TW" altLang="en-US" sz="2000" dirty="0" smtClean="0">
                    <a:latin typeface="微軟正黑體" panose="020B0604030504040204" pitchFamily="34" charset="-120"/>
                    <a:ea typeface="微軟正黑體" panose="020B0604030504040204" pitchFamily="34" charset="-120"/>
                  </a:rPr>
                  <a:t>且加入 </a:t>
                </a:r>
                <a:r>
                  <a:rPr lang="en-US" altLang="zh-TW" sz="2000" dirty="0" smtClean="0">
                    <a:latin typeface="微軟正黑體" panose="020B0604030504040204" pitchFamily="34" charset="-120"/>
                    <a:ea typeface="微軟正黑體" panose="020B0604030504040204" pitchFamily="34" charset="-120"/>
                  </a:rPr>
                  <a:t>Dual </a:t>
                </a:r>
                <a:r>
                  <a:rPr lang="en-US" altLang="zh-TW" sz="2000" dirty="0">
                    <a:latin typeface="微軟正黑體" panose="020B0604030504040204" pitchFamily="34" charset="-120"/>
                    <a:ea typeface="微軟正黑體" panose="020B0604030504040204" pitchFamily="34" charset="-120"/>
                  </a:rPr>
                  <a:t>triggers</a:t>
                </a:r>
                <a:r>
                  <a:rPr lang="zh-TW" altLang="en-US" sz="2000" dirty="0">
                    <a:latin typeface="微軟正黑體" panose="020B0604030504040204" pitchFamily="34" charset="-120"/>
                    <a:ea typeface="微軟正黑體" panose="020B0604030504040204" pitchFamily="34" charset="-120"/>
                  </a:rPr>
                  <a:t>的</a:t>
                </a:r>
                <a:r>
                  <a:rPr lang="zh-TW" altLang="en-US" sz="2000" dirty="0" smtClean="0">
                    <a:latin typeface="微軟正黑體" panose="020B0604030504040204" pitchFamily="34" charset="-120"/>
                    <a:ea typeface="微軟正黑體" panose="020B0604030504040204" pitchFamily="34" charset="-120"/>
                  </a:rPr>
                  <a:t>條件 </a:t>
                </a:r>
                <a:r>
                  <a:rPr lang="en-US" altLang="zh-TW" sz="2000" dirty="0" smtClean="0">
                    <a:latin typeface="微軟正黑體" panose="020B0604030504040204" pitchFamily="34" charset="-120"/>
                    <a:ea typeface="微軟正黑體" panose="020B0604030504040204" pitchFamily="34" charset="-120"/>
                  </a:rPr>
                  <a:t>(</a:t>
                </a:r>
                <a14:m>
                  <m:oMath xmlns:m="http://schemas.openxmlformats.org/officeDocument/2006/math">
                    <m:r>
                      <a:rPr lang="en-US" altLang="zh-TW" sz="2000" i="1" dirty="0">
                        <a:latin typeface="Cambria Math" panose="02040503050406030204" pitchFamily="18" charset="0"/>
                      </a:rPr>
                      <m:t>𝐼</m:t>
                    </m:r>
                    <m:d>
                      <m:dPr>
                        <m:ctrlPr>
                          <a:rPr lang="en-US" altLang="zh-TW" sz="2000" i="1" dirty="0">
                            <a:latin typeface="Cambria Math" panose="02040503050406030204" pitchFamily="18" charset="0"/>
                          </a:rPr>
                        </m:ctrlPr>
                      </m:dPr>
                      <m:e>
                        <m:r>
                          <a:rPr lang="en-US" altLang="zh-TW" sz="2000" i="1" dirty="0">
                            <a:latin typeface="Cambria Math" panose="02040503050406030204" pitchFamily="18" charset="0"/>
                          </a:rPr>
                          <m:t>𝑇</m:t>
                        </m:r>
                      </m:e>
                    </m:d>
                  </m:oMath>
                </a14:m>
                <a:r>
                  <a:rPr lang="en-US" altLang="zh-TW" sz="2000" dirty="0" smtClean="0">
                    <a:latin typeface="微軟正黑體" panose="020B0604030504040204" pitchFamily="34" charset="-120"/>
                    <a:ea typeface="微軟正黑體" panose="020B0604030504040204" pitchFamily="34" charset="-120"/>
                  </a:rPr>
                  <a:t>)</a:t>
                </a:r>
                <a:r>
                  <a:rPr lang="zh-TW" altLang="en-US" sz="2000" dirty="0" smtClean="0">
                    <a:latin typeface="微軟正黑體" panose="020B0604030504040204" pitchFamily="34" charset="-120"/>
                    <a:ea typeface="微軟正黑體" panose="020B0604030504040204" pitchFamily="34" charset="-120"/>
                  </a:rPr>
                  <a:t> </a:t>
                </a:r>
                <a:r>
                  <a:rPr lang="en-US" altLang="zh-TW" sz="2000" dirty="0" smtClean="0">
                    <a:latin typeface="微軟正黑體" panose="020B0604030504040204" pitchFamily="34" charset="-120"/>
                    <a:ea typeface="微軟正黑體" panose="020B0604030504040204" pitchFamily="34" charset="-120"/>
                  </a:rPr>
                  <a:t>[</a:t>
                </a:r>
                <a:r>
                  <a:rPr lang="zh-TW" altLang="en-US" sz="2000" dirty="0" smtClean="0">
                    <a:latin typeface="微軟正黑體" panose="020B0604030504040204" pitchFamily="34" charset="-120"/>
                    <a:ea typeface="微軟正黑體" panose="020B0604030504040204" pitchFamily="34" charset="-120"/>
                  </a:rPr>
                  <a:t> </a:t>
                </a:r>
                <a:r>
                  <a:rPr lang="en-US" altLang="zh-TW" sz="2000" dirty="0" smtClean="0">
                    <a:latin typeface="微軟正黑體" panose="020B0604030504040204" pitchFamily="34" charset="-120"/>
                    <a:ea typeface="微軟正黑體" panose="020B0604030504040204" pitchFamily="34" charset="-120"/>
                  </a:rPr>
                  <a:t>Robert </a:t>
                </a:r>
                <a:r>
                  <a:rPr lang="en-US" altLang="zh-TW" sz="2000" dirty="0">
                    <a:latin typeface="微軟正黑體" panose="020B0604030504040204" pitchFamily="34" charset="-120"/>
                    <a:ea typeface="微軟正黑體" panose="020B0604030504040204" pitchFamily="34" charset="-120"/>
                  </a:rPr>
                  <a:t>L. McDonald</a:t>
                </a:r>
                <a:r>
                  <a:rPr lang="zh-TW" altLang="en-US" sz="2000" dirty="0">
                    <a:latin typeface="微軟正黑體" panose="020B0604030504040204" pitchFamily="34" charset="-120"/>
                    <a:ea typeface="微軟正黑體" panose="020B0604030504040204" pitchFamily="34" charset="-120"/>
                  </a:rPr>
                  <a:t> </a:t>
                </a:r>
                <a:r>
                  <a:rPr lang="en-US" altLang="zh-TW" sz="2000" dirty="0">
                    <a:latin typeface="微軟正黑體" panose="020B0604030504040204" pitchFamily="34" charset="-120"/>
                    <a:ea typeface="微軟正黑體" panose="020B0604030504040204" pitchFamily="34" charset="-120"/>
                  </a:rPr>
                  <a:t>(2013</a:t>
                </a:r>
                <a:r>
                  <a:rPr lang="en-US" altLang="zh-TW" sz="2000" dirty="0" smtClean="0">
                    <a:latin typeface="微軟正黑體" panose="020B0604030504040204" pitchFamily="34" charset="-120"/>
                    <a:ea typeface="微軟正黑體" panose="020B0604030504040204" pitchFamily="34" charset="-120"/>
                  </a:rPr>
                  <a:t>)</a:t>
                </a:r>
                <a:r>
                  <a:rPr lang="zh-TW" altLang="en-US" sz="2000" dirty="0" smtClean="0">
                    <a:latin typeface="微軟正黑體" panose="020B0604030504040204" pitchFamily="34" charset="-120"/>
                    <a:ea typeface="微軟正黑體" panose="020B0604030504040204" pitchFamily="34" charset="-120"/>
                  </a:rPr>
                  <a:t> </a:t>
                </a:r>
                <a:r>
                  <a:rPr lang="en-US" altLang="zh-TW" sz="2000" dirty="0" smtClean="0">
                    <a:latin typeface="微軟正黑體" panose="020B0604030504040204" pitchFamily="34" charset="-120"/>
                    <a:ea typeface="微軟正黑體" panose="020B0604030504040204" pitchFamily="34" charset="-120"/>
                  </a:rPr>
                  <a:t>] </a:t>
                </a:r>
                <a:endParaRPr lang="en-US" altLang="zh-TW" sz="2000" dirty="0">
                  <a:latin typeface="微軟正黑體" panose="020B0604030504040204" pitchFamily="34" charset="-120"/>
                  <a:ea typeface="微軟正黑體" panose="020B0604030504040204" pitchFamily="34" charset="-120"/>
                </a:endParaRPr>
              </a:p>
            </p:txBody>
          </p:sp>
        </mc:Choice>
        <mc:Fallback xmlns="">
          <p:sp>
            <p:nvSpPr>
              <p:cNvPr id="8" name="文字方塊 7"/>
              <p:cNvSpPr txBox="1">
                <a:spLocks noRot="1" noChangeAspect="1" noMove="1" noResize="1" noEditPoints="1" noAdjustHandles="1" noChangeArrowheads="1" noChangeShapeType="1" noTextEdit="1"/>
              </p:cNvSpPr>
              <p:nvPr/>
            </p:nvSpPr>
            <p:spPr>
              <a:xfrm>
                <a:off x="1425147" y="5552304"/>
                <a:ext cx="7689221" cy="848309"/>
              </a:xfrm>
              <a:prstGeom prst="rect">
                <a:avLst/>
              </a:prstGeom>
              <a:blipFill rotWithShape="0">
                <a:blip r:embed="rId4"/>
                <a:stretch>
                  <a:fillRect l="-872" b="-12230"/>
                </a:stretch>
              </a:blipFill>
            </p:spPr>
            <p:txBody>
              <a:bodyPr/>
              <a:lstStyle/>
              <a:p>
                <a:r>
                  <a:rPr lang="zh-TW" altLang="en-US">
                    <a:noFill/>
                  </a:rPr>
                  <a:t> </a:t>
                </a:r>
              </a:p>
            </p:txBody>
          </p:sp>
        </mc:Fallback>
      </mc:AlternateContent>
      <p:sp>
        <p:nvSpPr>
          <p:cNvPr id="2" name="橢圓 1">
            <a:hlinkClick r:id="rId5" action="ppaction://hlinksldjump"/>
          </p:cNvPr>
          <p:cNvSpPr/>
          <p:nvPr/>
        </p:nvSpPr>
        <p:spPr>
          <a:xfrm>
            <a:off x="9506465" y="2947964"/>
            <a:ext cx="601362" cy="601362"/>
          </a:xfrm>
          <a:prstGeom prst="ellipse">
            <a:avLst/>
          </a:prstGeom>
          <a:solidFill>
            <a:srgbClr val="EAEAEA">
              <a:alpha val="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9" name="文字方塊 8"/>
              <p:cNvSpPr txBox="1"/>
              <p:nvPr/>
            </p:nvSpPr>
            <p:spPr>
              <a:xfrm>
                <a:off x="592643" y="3932928"/>
                <a:ext cx="7422773" cy="1671548"/>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m:rPr>
                          <m:nor/>
                        </m:rPr>
                        <a:rPr lang="en-US" altLang="zh-TW" sz="3200" dirty="0" smtClean="0"/>
                        <m:t>Terminal</m:t>
                      </m:r>
                      <m:r>
                        <m:rPr>
                          <m:nor/>
                        </m:rPr>
                        <a:rPr lang="en-US" altLang="zh-TW" sz="3200" dirty="0" smtClean="0"/>
                        <m:t> </m:t>
                      </m:r>
                      <m:r>
                        <m:rPr>
                          <m:nor/>
                        </m:rPr>
                        <a:rPr lang="en-US" altLang="zh-TW" sz="3200" dirty="0" smtClean="0"/>
                        <m:t>Value</m:t>
                      </m:r>
                      <m:r>
                        <m:rPr>
                          <m:nor/>
                        </m:rPr>
                        <a:rPr lang="en-US" altLang="zh-TW" sz="3200" b="0" i="0" dirty="0" smtClean="0"/>
                        <m:t> </m:t>
                      </m:r>
                    </m:oMath>
                  </m:oMathPara>
                </a14:m>
                <a:endParaRPr lang="en-US" altLang="zh-TW" sz="3200" b="0" i="0" dirty="0" smtClean="0"/>
              </a:p>
              <a:p>
                <a14:m>
                  <m:oMath xmlns:m="http://schemas.openxmlformats.org/officeDocument/2006/math">
                    <m:r>
                      <m:rPr>
                        <m:nor/>
                      </m:rPr>
                      <a:rPr lang="en-US" altLang="zh-TW" sz="2400" b="0" i="0" dirty="0" smtClean="0"/>
                      <m:t>= </m:t>
                    </m:r>
                    <m:d>
                      <m:dPr>
                        <m:begChr m:val="{"/>
                        <m:endChr m:val=""/>
                        <m:ctrlPr>
                          <a:rPr lang="en-US" altLang="zh-TW" sz="2400" b="0" i="1" dirty="0" smtClean="0">
                            <a:latin typeface="Cambria Math" panose="02040503050406030204" pitchFamily="18" charset="0"/>
                          </a:rPr>
                        </m:ctrlPr>
                      </m:dPr>
                      <m:e>
                        <m:eqArr>
                          <m:eqArrPr>
                            <m:ctrlPr>
                              <a:rPr lang="en-US" altLang="zh-TW" sz="2400" b="0" i="1" dirty="0" smtClean="0">
                                <a:latin typeface="Cambria Math" panose="02040503050406030204" pitchFamily="18" charset="0"/>
                              </a:rPr>
                            </m:ctrlPr>
                          </m:eqArrPr>
                          <m:e>
                            <m:sSub>
                              <m:sSubPr>
                                <m:ctrlPr>
                                  <a:rPr lang="en-US" altLang="zh-TW" sz="2400" b="0" i="1" dirty="0" smtClean="0">
                                    <a:latin typeface="Cambria Math" panose="02040503050406030204" pitchFamily="18" charset="0"/>
                                  </a:rPr>
                                </m:ctrlPr>
                              </m:sSubPr>
                              <m:e>
                                <m:r>
                                  <a:rPr lang="en-US" altLang="zh-TW" sz="2400" b="0" i="1" dirty="0" smtClean="0">
                                    <a:latin typeface="Cambria Math" panose="02040503050406030204" pitchFamily="18" charset="0"/>
                                  </a:rPr>
                                  <m:t>𝐷</m:t>
                                </m:r>
                              </m:e>
                              <m:sub>
                                <m:r>
                                  <a:rPr lang="en-US" altLang="zh-TW" sz="2400" b="0" i="1" dirty="0" smtClean="0">
                                    <a:latin typeface="Cambria Math" panose="02040503050406030204" pitchFamily="18" charset="0"/>
                                  </a:rPr>
                                  <m:t>2</m:t>
                                </m:r>
                              </m:sub>
                            </m:sSub>
                            <m:r>
                              <a:rPr lang="en-US" altLang="zh-TW" sz="2400" b="0" i="1" dirty="0" smtClean="0">
                                <a:latin typeface="Cambria Math" panose="02040503050406030204" pitchFamily="18" charset="0"/>
                              </a:rPr>
                              <m:t>                                 ,</m:t>
                            </m:r>
                            <m:r>
                              <a:rPr lang="en-US" altLang="zh-TW" sz="2400" b="0" i="1" dirty="0" smtClean="0">
                                <a:latin typeface="Cambria Math" panose="02040503050406030204" pitchFamily="18" charset="0"/>
                              </a:rPr>
                              <m:t>𝑖𝑓</m:t>
                            </m:r>
                            <m:r>
                              <a:rPr lang="en-US" altLang="zh-TW" sz="2400" b="0" i="1" dirty="0" smtClean="0">
                                <a:latin typeface="Cambria Math" panose="02040503050406030204" pitchFamily="18" charset="0"/>
                              </a:rPr>
                              <m:t> </m:t>
                            </m:r>
                            <m:sSubSup>
                              <m:sSubSupPr>
                                <m:ctrlPr>
                                  <a:rPr lang="en-US" altLang="zh-TW" sz="2400" b="0" i="1" dirty="0" smtClean="0">
                                    <a:latin typeface="Cambria Math" panose="02040503050406030204" pitchFamily="18" charset="0"/>
                                    <a:ea typeface="Cambria Math" panose="02040503050406030204" pitchFamily="18" charset="0"/>
                                  </a:rPr>
                                </m:ctrlPr>
                              </m:sSubSupPr>
                              <m:e>
                                <m:r>
                                  <a:rPr lang="en-US" altLang="zh-TW" sz="2400" b="0" i="1" dirty="0" smtClean="0">
                                    <a:latin typeface="Cambria Math" panose="02040503050406030204" pitchFamily="18" charset="0"/>
                                    <a:ea typeface="Cambria Math" panose="02040503050406030204" pitchFamily="18" charset="0"/>
                                  </a:rPr>
                                  <m:t>𝑆</m:t>
                                </m:r>
                              </m:e>
                              <m:sub>
                                <m:r>
                                  <a:rPr lang="en-US" altLang="zh-TW" sz="2400" b="0" i="1" dirty="0" smtClean="0">
                                    <a:latin typeface="Cambria Math" panose="02040503050406030204" pitchFamily="18" charset="0"/>
                                    <a:ea typeface="Cambria Math" panose="02040503050406030204" pitchFamily="18" charset="0"/>
                                  </a:rPr>
                                  <m:t>𝑇</m:t>
                                </m:r>
                              </m:sub>
                              <m:sup>
                                <m:r>
                                  <a:rPr lang="en-US" altLang="zh-TW" sz="2400" b="0" i="1" dirty="0" smtClean="0">
                                    <a:latin typeface="Cambria Math" panose="02040503050406030204" pitchFamily="18" charset="0"/>
                                    <a:ea typeface="Cambria Math" panose="02040503050406030204" pitchFamily="18" charset="0"/>
                                  </a:rPr>
                                  <m:t>𝑈</m:t>
                                </m:r>
                              </m:sup>
                            </m:sSubSup>
                            <m:r>
                              <a:rPr lang="en-US" altLang="zh-TW" sz="2400" i="1" dirty="0">
                                <a:latin typeface="Cambria Math" panose="02040503050406030204" pitchFamily="18" charset="0"/>
                                <a:ea typeface="Cambria Math" panose="02040503050406030204" pitchFamily="18" charset="0"/>
                              </a:rPr>
                              <m:t>&gt;</m:t>
                            </m:r>
                            <m:r>
                              <a:rPr lang="en-US" altLang="zh-TW" sz="2400" i="1" dirty="0">
                                <a:latin typeface="Cambria Math" panose="02040503050406030204" pitchFamily="18" charset="0"/>
                                <a:ea typeface="Cambria Math" panose="02040503050406030204" pitchFamily="18" charset="0"/>
                              </a:rPr>
                              <m:t>𝑆</m:t>
                            </m:r>
                            <m:r>
                              <a:rPr lang="en-US" altLang="zh-TW" sz="2400" b="0" i="1" dirty="0" smtClean="0">
                                <a:latin typeface="Cambria Math" panose="02040503050406030204" pitchFamily="18" charset="0"/>
                                <a:ea typeface="Cambria Math" panose="02040503050406030204" pitchFamily="18" charset="0"/>
                              </a:rPr>
                              <m:t>"</m:t>
                            </m:r>
                          </m:e>
                          <m:e>
                            <m:sSubSup>
                              <m:sSubSupPr>
                                <m:ctrlPr>
                                  <a:rPr lang="en-US" altLang="zh-TW" sz="2400" b="0" i="1" dirty="0" smtClean="0">
                                    <a:latin typeface="Cambria Math" panose="02040503050406030204" pitchFamily="18" charset="0"/>
                                    <a:ea typeface="Cambria Math" panose="02040503050406030204" pitchFamily="18" charset="0"/>
                                  </a:rPr>
                                </m:ctrlPr>
                              </m:sSubSupPr>
                              <m:e>
                                <m:r>
                                  <a:rPr lang="en-US" altLang="zh-TW" sz="2400" i="1" dirty="0">
                                    <a:latin typeface="Cambria Math" panose="02040503050406030204" pitchFamily="18" charset="0"/>
                                    <a:ea typeface="Cambria Math" panose="02040503050406030204" pitchFamily="18" charset="0"/>
                                  </a:rPr>
                                  <m:t>𝑆</m:t>
                                </m:r>
                              </m:e>
                              <m:sub>
                                <m:r>
                                  <a:rPr lang="en-US" altLang="zh-TW" sz="2400" b="0" i="1" dirty="0" smtClean="0">
                                    <a:latin typeface="Cambria Math" panose="02040503050406030204" pitchFamily="18" charset="0"/>
                                    <a:ea typeface="Cambria Math" panose="02040503050406030204" pitchFamily="18" charset="0"/>
                                  </a:rPr>
                                  <m:t>𝑇</m:t>
                                </m:r>
                              </m:sub>
                              <m:sup>
                                <m:r>
                                  <a:rPr lang="en-US" altLang="zh-TW" sz="2400" b="0" i="1" dirty="0" smtClean="0">
                                    <a:latin typeface="Cambria Math" panose="02040503050406030204" pitchFamily="18" charset="0"/>
                                    <a:ea typeface="Cambria Math" panose="02040503050406030204" pitchFamily="18" charset="0"/>
                                  </a:rPr>
                                  <m:t>𝐶</m:t>
                                </m:r>
                              </m:sup>
                            </m:sSubSup>
                            <m:sSub>
                              <m:sSubPr>
                                <m:ctrlPr>
                                  <a:rPr lang="en-US" altLang="zh-TW" sz="2400" i="1" dirty="0">
                                    <a:latin typeface="Cambria Math" panose="02040503050406030204" pitchFamily="18" charset="0"/>
                                    <a:ea typeface="微軟正黑體" panose="020B0604030504040204" pitchFamily="34" charset="-120"/>
                                  </a:rPr>
                                </m:ctrlPr>
                              </m:sSubPr>
                              <m:e>
                                <m:r>
                                  <a:rPr lang="en-US" altLang="zh-TW" sz="2400" i="1" dirty="0">
                                    <a:latin typeface="Cambria Math" panose="02040503050406030204" pitchFamily="18" charset="0"/>
                                    <a:ea typeface="微軟正黑體" panose="020B0604030504040204" pitchFamily="34" charset="-120"/>
                                  </a:rPr>
                                  <m:t>𝑂</m:t>
                                </m:r>
                              </m:e>
                              <m:sub>
                                <m:r>
                                  <a:rPr lang="en-US" altLang="zh-TW" sz="2400" i="1" dirty="0">
                                    <a:latin typeface="Cambria Math" panose="02040503050406030204" pitchFamily="18" charset="0"/>
                                    <a:ea typeface="微軟正黑體" panose="020B0604030504040204" pitchFamily="34" charset="-120"/>
                                  </a:rPr>
                                  <m:t>𝐶𝐶</m:t>
                                </m:r>
                              </m:sub>
                            </m:sSub>
                            <m:r>
                              <a:rPr lang="en-US" altLang="zh-TW" sz="2400" b="0" i="1" dirty="0" smtClean="0">
                                <a:latin typeface="Cambria Math" panose="02040503050406030204" pitchFamily="18" charset="0"/>
                                <a:ea typeface="微軟正黑體" panose="020B0604030504040204" pitchFamily="34" charset="-120"/>
                              </a:rPr>
                              <m:t>=</m:t>
                            </m:r>
                            <m:sSubSup>
                              <m:sSubSupPr>
                                <m:ctrlPr>
                                  <a:rPr lang="en-US" altLang="zh-TW" sz="2400" i="1" dirty="0">
                                    <a:latin typeface="Cambria Math" panose="02040503050406030204" pitchFamily="18" charset="0"/>
                                    <a:ea typeface="Cambria Math" panose="02040503050406030204" pitchFamily="18" charset="0"/>
                                  </a:rPr>
                                </m:ctrlPr>
                              </m:sSubSupPr>
                              <m:e>
                                <m:r>
                                  <a:rPr lang="en-US" altLang="zh-TW" sz="2400" i="1" dirty="0">
                                    <a:latin typeface="Cambria Math" panose="02040503050406030204" pitchFamily="18" charset="0"/>
                                    <a:ea typeface="Cambria Math" panose="02040503050406030204" pitchFamily="18" charset="0"/>
                                  </a:rPr>
                                  <m:t>𝑆</m:t>
                                </m:r>
                              </m:e>
                              <m:sub>
                                <m:r>
                                  <a:rPr lang="en-US" altLang="zh-TW" sz="2400" i="1" dirty="0">
                                    <a:latin typeface="Cambria Math" panose="02040503050406030204" pitchFamily="18" charset="0"/>
                                    <a:ea typeface="Cambria Math" panose="02040503050406030204" pitchFamily="18" charset="0"/>
                                  </a:rPr>
                                  <m:t>𝑇</m:t>
                                </m:r>
                              </m:sub>
                              <m:sup>
                                <m:r>
                                  <a:rPr lang="en-US" altLang="zh-TW" sz="2400" i="1" dirty="0">
                                    <a:latin typeface="Cambria Math" panose="02040503050406030204" pitchFamily="18" charset="0"/>
                                    <a:ea typeface="Cambria Math" panose="02040503050406030204" pitchFamily="18" charset="0"/>
                                  </a:rPr>
                                  <m:t>𝐶</m:t>
                                </m:r>
                              </m:sup>
                            </m:sSubSup>
                            <m:f>
                              <m:fPr>
                                <m:ctrlPr>
                                  <a:rPr lang="en-US" altLang="zh-TW" sz="2400" i="1" dirty="0">
                                    <a:latin typeface="Cambria Math" panose="02040503050406030204" pitchFamily="18" charset="0"/>
                                    <a:ea typeface="微軟正黑體" panose="020B0604030504040204" pitchFamily="34" charset="-120"/>
                                  </a:rPr>
                                </m:ctrlPr>
                              </m:fPr>
                              <m:num>
                                <m:sSub>
                                  <m:sSubPr>
                                    <m:ctrlPr>
                                      <a:rPr lang="en-US" altLang="zh-TW" sz="2400" i="1" dirty="0">
                                        <a:latin typeface="Cambria Math" panose="02040503050406030204" pitchFamily="18" charset="0"/>
                                        <a:ea typeface="微軟正黑體" panose="020B0604030504040204" pitchFamily="34" charset="-120"/>
                                      </a:rPr>
                                    </m:ctrlPr>
                                  </m:sSubPr>
                                  <m:e>
                                    <m:r>
                                      <a:rPr lang="en-US" altLang="zh-TW" sz="2400" i="1" dirty="0">
                                        <a:latin typeface="Cambria Math" panose="02040503050406030204" pitchFamily="18" charset="0"/>
                                        <a:ea typeface="微軟正黑體" panose="020B0604030504040204" pitchFamily="34" charset="-120"/>
                                      </a:rPr>
                                      <m:t>𝐷</m:t>
                                    </m:r>
                                  </m:e>
                                  <m:sub>
                                    <m:r>
                                      <a:rPr lang="en-US" altLang="zh-TW" sz="2400" i="1" dirty="0">
                                        <a:latin typeface="Cambria Math" panose="02040503050406030204" pitchFamily="18" charset="0"/>
                                        <a:ea typeface="微軟正黑體" panose="020B0604030504040204" pitchFamily="34" charset="-120"/>
                                      </a:rPr>
                                      <m:t>2</m:t>
                                    </m:r>
                                  </m:sub>
                                </m:sSub>
                              </m:num>
                              <m:den>
                                <m:r>
                                  <a:rPr lang="en-US" altLang="zh-TW" sz="2400" i="1" dirty="0">
                                    <a:latin typeface="Cambria Math" panose="02040503050406030204" pitchFamily="18" charset="0"/>
                                    <a:ea typeface="微軟正黑體" panose="020B0604030504040204" pitchFamily="34" charset="-120"/>
                                  </a:rPr>
                                  <m:t>𝑆</m:t>
                                </m:r>
                                <m:r>
                                  <a:rPr lang="en-US" altLang="zh-TW" sz="2400" i="1" dirty="0">
                                    <a:latin typeface="Cambria Math" panose="02040503050406030204" pitchFamily="18" charset="0"/>
                                    <a:ea typeface="微軟正黑體" panose="020B0604030504040204" pitchFamily="34" charset="-120"/>
                                  </a:rPr>
                                  <m:t>"</m:t>
                                </m:r>
                              </m:den>
                            </m:f>
                            <m:r>
                              <a:rPr lang="en-US" altLang="zh-TW" sz="2400" b="0" i="1" dirty="0" smtClean="0">
                                <a:latin typeface="Cambria Math" panose="02040503050406030204" pitchFamily="18" charset="0"/>
                                <a:ea typeface="微軟正黑體" panose="020B0604030504040204" pitchFamily="34" charset="-120"/>
                              </a:rPr>
                              <m:t>         </m:t>
                            </m:r>
                            <m:r>
                              <a:rPr lang="en-US" altLang="zh-TW" sz="2400" b="0" i="1" dirty="0" smtClean="0">
                                <a:latin typeface="Cambria Math" panose="02040503050406030204" pitchFamily="18" charset="0"/>
                              </a:rPr>
                              <m:t>,</m:t>
                            </m:r>
                            <m:r>
                              <a:rPr lang="en-US" altLang="zh-TW" sz="2400" b="0" i="1" dirty="0" smtClean="0">
                                <a:latin typeface="Cambria Math" panose="02040503050406030204" pitchFamily="18" charset="0"/>
                              </a:rPr>
                              <m:t>𝑖𝑓</m:t>
                            </m:r>
                            <m:r>
                              <a:rPr lang="en-US" altLang="zh-TW" sz="2400" b="0" i="1" dirty="0" smtClean="0">
                                <a:latin typeface="Cambria Math" panose="02040503050406030204" pitchFamily="18" charset="0"/>
                              </a:rPr>
                              <m:t> </m:t>
                            </m:r>
                            <m:sSubSup>
                              <m:sSubSupPr>
                                <m:ctrlPr>
                                  <a:rPr lang="en-US" altLang="zh-TW" sz="2400" b="0" i="1" dirty="0" smtClean="0">
                                    <a:latin typeface="Cambria Math" panose="02040503050406030204" pitchFamily="18" charset="0"/>
                                    <a:ea typeface="Cambria Math" panose="02040503050406030204" pitchFamily="18" charset="0"/>
                                  </a:rPr>
                                </m:ctrlPr>
                              </m:sSubSupPr>
                              <m:e>
                                <m:r>
                                  <a:rPr lang="en-US" altLang="zh-TW" sz="2400" b="0" i="1" dirty="0" smtClean="0">
                                    <a:latin typeface="Cambria Math" panose="02040503050406030204" pitchFamily="18" charset="0"/>
                                    <a:ea typeface="Cambria Math" panose="02040503050406030204" pitchFamily="18" charset="0"/>
                                  </a:rPr>
                                  <m:t>𝑆</m:t>
                                </m:r>
                              </m:e>
                              <m:sub>
                                <m:r>
                                  <a:rPr lang="en-US" altLang="zh-TW" sz="2400" b="0" i="1" dirty="0" smtClean="0">
                                    <a:latin typeface="Cambria Math" panose="02040503050406030204" pitchFamily="18" charset="0"/>
                                    <a:ea typeface="Cambria Math" panose="02040503050406030204" pitchFamily="18" charset="0"/>
                                  </a:rPr>
                                  <m:t>𝑇</m:t>
                                </m:r>
                              </m:sub>
                              <m:sup>
                                <m:r>
                                  <a:rPr lang="en-US" altLang="zh-TW" sz="2400" b="0" i="1" dirty="0" smtClean="0">
                                    <a:latin typeface="Cambria Math" panose="02040503050406030204" pitchFamily="18" charset="0"/>
                                    <a:ea typeface="Cambria Math" panose="02040503050406030204" pitchFamily="18" charset="0"/>
                                  </a:rPr>
                                  <m:t>𝑈</m:t>
                                </m:r>
                              </m:sup>
                            </m:sSubSup>
                            <m:r>
                              <a:rPr lang="en-US" altLang="zh-TW" sz="2400" i="1" dirty="0">
                                <a:latin typeface="Cambria Math" panose="02040503050406030204" pitchFamily="18" charset="0"/>
                                <a:ea typeface="Cambria Math" panose="02040503050406030204" pitchFamily="18" charset="0"/>
                              </a:rPr>
                              <m:t>≤</m:t>
                            </m:r>
                            <m:r>
                              <a:rPr lang="en-US" altLang="zh-TW" sz="2400" i="1" dirty="0">
                                <a:latin typeface="Cambria Math" panose="02040503050406030204" pitchFamily="18" charset="0"/>
                                <a:ea typeface="Cambria Math" panose="02040503050406030204" pitchFamily="18" charset="0"/>
                              </a:rPr>
                              <m:t>𝑆</m:t>
                            </m:r>
                            <m:r>
                              <a:rPr lang="en-US" altLang="zh-TW" sz="2400" b="0" i="1" dirty="0" smtClean="0">
                                <a:latin typeface="Cambria Math" panose="02040503050406030204" pitchFamily="18" charset="0"/>
                                <a:ea typeface="Cambria Math" panose="02040503050406030204" pitchFamily="18" charset="0"/>
                              </a:rPr>
                              <m:t>"</m:t>
                            </m:r>
                          </m:e>
                        </m:eqArr>
                      </m:e>
                    </m:d>
                  </m:oMath>
                </a14:m>
                <a:r>
                  <a:rPr lang="en-US" altLang="zh-TW" sz="2400" dirty="0" smtClean="0"/>
                  <a:t> </a:t>
                </a:r>
                <a:endParaRPr lang="zh-TW" altLang="en-US" sz="2400" dirty="0"/>
              </a:p>
            </p:txBody>
          </p:sp>
        </mc:Choice>
        <mc:Fallback xmlns="">
          <p:sp>
            <p:nvSpPr>
              <p:cNvPr id="9" name="文字方塊 8"/>
              <p:cNvSpPr txBox="1">
                <a:spLocks noRot="1" noChangeAspect="1" noMove="1" noResize="1" noEditPoints="1" noAdjustHandles="1" noChangeArrowheads="1" noChangeShapeType="1" noTextEdit="1"/>
              </p:cNvSpPr>
              <p:nvPr/>
            </p:nvSpPr>
            <p:spPr>
              <a:xfrm>
                <a:off x="592643" y="3932928"/>
                <a:ext cx="7422773" cy="1671548"/>
              </a:xfrm>
              <a:prstGeom prst="rect">
                <a:avLst/>
              </a:prstGeom>
              <a:blipFill rotWithShape="0">
                <a:blip r:embed="rId6"/>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0000205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txBox="1">
            <a:spLocks/>
          </p:cNvSpPr>
          <p:nvPr/>
        </p:nvSpPr>
        <p:spPr>
          <a:xfrm>
            <a:off x="347730" y="347728"/>
            <a:ext cx="11844270" cy="79252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TW" dirty="0" smtClean="0">
                <a:latin typeface="微軟正黑體" panose="020B0604030504040204" pitchFamily="34" charset="-120"/>
                <a:ea typeface="微軟正黑體" panose="020B0604030504040204" pitchFamily="34" charset="-120"/>
                <a:cs typeface="Arial" panose="020B0604020202020204" pitchFamily="34" charset="0"/>
              </a:rPr>
              <a:t>CC with dual triggers(CC)(2/2)</a:t>
            </a:r>
            <a:endParaRPr lang="zh-TW" altLang="en-US" dirty="0">
              <a:latin typeface="微軟正黑體" panose="020B0604030504040204" pitchFamily="34" charset="-120"/>
              <a:ea typeface="微軟正黑體" panose="020B0604030504040204" pitchFamily="34" charset="-120"/>
            </a:endParaRPr>
          </a:p>
        </p:txBody>
      </p:sp>
      <mc:AlternateContent xmlns:mc="http://schemas.openxmlformats.org/markup-compatibility/2006" xmlns:a14="http://schemas.microsoft.com/office/drawing/2010/main">
        <mc:Choice Requires="a14">
          <p:sp>
            <p:nvSpPr>
              <p:cNvPr id="3" name="文字方塊 2"/>
              <p:cNvSpPr txBox="1"/>
              <p:nvPr/>
            </p:nvSpPr>
            <p:spPr>
              <a:xfrm>
                <a:off x="625594" y="3424402"/>
                <a:ext cx="10829055" cy="425552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zh-TW" altLang="en-US" sz="2800" i="1" smtClean="0">
                          <a:latin typeface="Cambria Math" panose="02040503050406030204" pitchFamily="18" charset="0"/>
                        </a:rPr>
                        <m:t>其中</m:t>
                      </m:r>
                      <m:r>
                        <a:rPr lang="zh-TW" altLang="en-US" sz="2800" i="1">
                          <a:latin typeface="Cambria Math" panose="02040503050406030204" pitchFamily="18" charset="0"/>
                        </a:rPr>
                        <m:t>　</m:t>
                      </m:r>
                      <m:sSubSup>
                        <m:sSubSupPr>
                          <m:ctrlPr>
                            <a:rPr lang="en-US" altLang="zh-TW" sz="2800" i="1" dirty="0">
                              <a:latin typeface="Cambria Math" panose="02040503050406030204" pitchFamily="18" charset="0"/>
                              <a:ea typeface="Cambria Math" panose="02040503050406030204" pitchFamily="18" charset="0"/>
                            </a:rPr>
                          </m:ctrlPr>
                        </m:sSubSupPr>
                        <m:e>
                          <m:r>
                            <a:rPr lang="en-US" altLang="zh-TW" sz="2800" i="1" dirty="0">
                              <a:latin typeface="Cambria Math" panose="02040503050406030204" pitchFamily="18" charset="0"/>
                              <a:ea typeface="Cambria Math" panose="02040503050406030204" pitchFamily="18" charset="0"/>
                            </a:rPr>
                            <m:t>𝑆</m:t>
                          </m:r>
                        </m:e>
                        <m:sub>
                          <m:r>
                            <a:rPr lang="en-US" altLang="zh-TW" sz="2800" i="1" dirty="0">
                              <a:latin typeface="Cambria Math" panose="02040503050406030204" pitchFamily="18" charset="0"/>
                              <a:ea typeface="Cambria Math" panose="02040503050406030204" pitchFamily="18" charset="0"/>
                            </a:rPr>
                            <m:t>𝑇</m:t>
                          </m:r>
                        </m:sub>
                        <m:sup>
                          <m:r>
                            <a:rPr lang="en-US" altLang="zh-TW" sz="2800" i="1" dirty="0">
                              <a:latin typeface="Cambria Math" panose="02040503050406030204" pitchFamily="18" charset="0"/>
                              <a:ea typeface="Cambria Math" panose="02040503050406030204" pitchFamily="18" charset="0"/>
                            </a:rPr>
                            <m:t>𝐶</m:t>
                          </m:r>
                        </m:sup>
                      </m:sSubSup>
                      <m:r>
                        <a:rPr lang="en-US" altLang="zh-TW" sz="2800" b="0" i="1" dirty="0" smtClean="0">
                          <a:latin typeface="Cambria Math" panose="02040503050406030204" pitchFamily="18" charset="0"/>
                          <a:ea typeface="微軟正黑體" panose="020B0604030504040204" pitchFamily="34" charset="-120"/>
                        </a:rPr>
                        <m:t>=</m:t>
                      </m:r>
                      <m:f>
                        <m:fPr>
                          <m:ctrlPr>
                            <a:rPr lang="en-US" altLang="zh-TW" sz="2800" b="0" i="1" dirty="0" smtClean="0">
                              <a:latin typeface="Cambria Math" panose="02040503050406030204" pitchFamily="18" charset="0"/>
                              <a:ea typeface="微軟正黑體" panose="020B0604030504040204" pitchFamily="34" charset="-120"/>
                            </a:rPr>
                          </m:ctrlPr>
                        </m:fPr>
                        <m:num>
                          <m:r>
                            <a:rPr lang="en-US" altLang="zh-TW" sz="2800" i="1" dirty="0">
                              <a:latin typeface="Cambria Math" panose="02040503050406030204" pitchFamily="18" charset="0"/>
                              <a:ea typeface="Cambria Math" panose="02040503050406030204" pitchFamily="18" charset="0"/>
                            </a:rPr>
                            <m:t>𝑉</m:t>
                          </m:r>
                          <m:d>
                            <m:dPr>
                              <m:ctrlPr>
                                <a:rPr lang="en-US" altLang="zh-TW" sz="2800" b="0" i="1" dirty="0" smtClean="0">
                                  <a:latin typeface="Cambria Math" panose="02040503050406030204" pitchFamily="18" charset="0"/>
                                  <a:ea typeface="Cambria Math" panose="02040503050406030204" pitchFamily="18" charset="0"/>
                                </a:rPr>
                              </m:ctrlPr>
                            </m:dPr>
                            <m:e>
                              <m:r>
                                <a:rPr lang="en-US" altLang="zh-TW" sz="2800" b="0" i="1" dirty="0" smtClean="0">
                                  <a:latin typeface="Cambria Math" panose="02040503050406030204" pitchFamily="18" charset="0"/>
                                  <a:ea typeface="Cambria Math" panose="02040503050406030204" pitchFamily="18" charset="0"/>
                                </a:rPr>
                                <m:t>𝑇</m:t>
                              </m:r>
                            </m:e>
                          </m:d>
                          <m:r>
                            <a:rPr lang="en-US" altLang="zh-TW" sz="2800" i="1" dirty="0">
                              <a:latin typeface="Cambria Math" panose="02040503050406030204" pitchFamily="18" charset="0"/>
                              <a:ea typeface="Cambria Math" panose="02040503050406030204" pitchFamily="18" charset="0"/>
                            </a:rPr>
                            <m:t>−</m:t>
                          </m:r>
                          <m:d>
                            <m:dPr>
                              <m:begChr m:val="["/>
                              <m:endChr m:val="]"/>
                              <m:ctrlPr>
                                <a:rPr lang="en-US" altLang="zh-TW" sz="2800" b="0" i="1" dirty="0">
                                  <a:latin typeface="Cambria Math" panose="02040503050406030204" pitchFamily="18" charset="0"/>
                                  <a:ea typeface="Cambria Math" panose="02040503050406030204" pitchFamily="18" charset="0"/>
                                </a:rPr>
                              </m:ctrlPr>
                            </m:dPr>
                            <m:e>
                              <m:sSub>
                                <m:sSubPr>
                                  <m:ctrlPr>
                                    <a:rPr lang="en-US" altLang="zh-TW" sz="2800" i="1">
                                      <a:solidFill>
                                        <a:schemeClr val="tx1"/>
                                      </a:solidFill>
                                      <a:latin typeface="Cambria Math" panose="02040503050406030204" pitchFamily="18" charset="0"/>
                                    </a:rPr>
                                  </m:ctrlPr>
                                </m:sSubPr>
                                <m:e>
                                  <m:r>
                                    <a:rPr lang="en-US" altLang="zh-TW" sz="2800" i="1">
                                      <a:solidFill>
                                        <a:schemeClr val="tx1"/>
                                      </a:solidFill>
                                      <a:latin typeface="Cambria Math"/>
                                    </a:rPr>
                                    <m:t>𝐷</m:t>
                                  </m:r>
                                </m:e>
                                <m:sub>
                                  <m:r>
                                    <a:rPr lang="en-US" altLang="zh-TW" sz="2800" i="1">
                                      <a:solidFill>
                                        <a:schemeClr val="tx1"/>
                                      </a:solidFill>
                                      <a:latin typeface="Cambria Math"/>
                                    </a:rPr>
                                    <m:t>1</m:t>
                                  </m:r>
                                </m:sub>
                              </m:sSub>
                              <m:r>
                                <a:rPr lang="en-US" altLang="zh-TW" sz="2800" i="1">
                                  <a:solidFill>
                                    <a:schemeClr val="tx1"/>
                                  </a:solidFill>
                                  <a:latin typeface="Cambria Math"/>
                                </a:rPr>
                                <m:t>+</m:t>
                              </m:r>
                              <m:d>
                                <m:dPr>
                                  <m:ctrlPr>
                                    <a:rPr lang="en-US" altLang="zh-TW" sz="2800" i="1">
                                      <a:solidFill>
                                        <a:schemeClr val="tx1"/>
                                      </a:solidFill>
                                      <a:latin typeface="Cambria Math" panose="02040503050406030204" pitchFamily="18" charset="0"/>
                                    </a:rPr>
                                  </m:ctrlPr>
                                </m:dPr>
                                <m:e>
                                  <m:r>
                                    <a:rPr lang="en-US" altLang="zh-TW" sz="2800" i="1">
                                      <a:solidFill>
                                        <a:schemeClr val="tx1"/>
                                      </a:solidFill>
                                      <a:latin typeface="Cambria Math"/>
                                    </a:rPr>
                                    <m:t>1−</m:t>
                                  </m:r>
                                  <m:r>
                                    <a:rPr lang="en-US" altLang="zh-TW" sz="2800" i="1">
                                      <a:solidFill>
                                        <a:schemeClr val="tx1"/>
                                      </a:solidFill>
                                      <a:latin typeface="Cambria Math"/>
                                    </a:rPr>
                                    <m:t>𝑡𝑎𝑥</m:t>
                                  </m:r>
                                </m:e>
                              </m:d>
                              <m:d>
                                <m:dPr>
                                  <m:ctrlPr>
                                    <a:rPr lang="en-US" altLang="zh-TW" sz="2800" i="1">
                                      <a:solidFill>
                                        <a:schemeClr val="tx1"/>
                                      </a:solidFill>
                                      <a:latin typeface="Cambria Math" panose="02040503050406030204" pitchFamily="18" charset="0"/>
                                    </a:rPr>
                                  </m:ctrlPr>
                                </m:dPr>
                                <m:e>
                                  <m:sSub>
                                    <m:sSubPr>
                                      <m:ctrlPr>
                                        <a:rPr lang="en-US" altLang="zh-TW" sz="2800" i="1">
                                          <a:solidFill>
                                            <a:schemeClr val="tx1"/>
                                          </a:solidFill>
                                          <a:latin typeface="Cambria Math" panose="02040503050406030204" pitchFamily="18" charset="0"/>
                                        </a:rPr>
                                      </m:ctrlPr>
                                    </m:sSubPr>
                                    <m:e>
                                      <m:r>
                                        <a:rPr lang="en-US" altLang="zh-TW" sz="2800" i="1">
                                          <a:solidFill>
                                            <a:schemeClr val="tx1"/>
                                          </a:solidFill>
                                          <a:latin typeface="Cambria Math"/>
                                        </a:rPr>
                                        <m:t>𝐶</m:t>
                                      </m:r>
                                    </m:e>
                                    <m:sub>
                                      <m:r>
                                        <a:rPr lang="en-US" altLang="zh-TW" sz="2800" i="1">
                                          <a:solidFill>
                                            <a:schemeClr val="tx1"/>
                                          </a:solidFill>
                                          <a:latin typeface="Cambria Math"/>
                                        </a:rPr>
                                        <m:t>1</m:t>
                                      </m:r>
                                    </m:sub>
                                  </m:sSub>
                                  <m:sSub>
                                    <m:sSubPr>
                                      <m:ctrlPr>
                                        <a:rPr lang="en-US" altLang="zh-TW" sz="2800" i="1">
                                          <a:solidFill>
                                            <a:schemeClr val="tx1"/>
                                          </a:solidFill>
                                          <a:latin typeface="Cambria Math" panose="02040503050406030204" pitchFamily="18" charset="0"/>
                                        </a:rPr>
                                      </m:ctrlPr>
                                    </m:sSubPr>
                                    <m:e>
                                      <m:r>
                                        <a:rPr lang="en-US" altLang="zh-TW" sz="2800" i="1">
                                          <a:solidFill>
                                            <a:schemeClr val="tx1"/>
                                          </a:solidFill>
                                          <a:latin typeface="Cambria Math"/>
                                        </a:rPr>
                                        <m:t>𝐷</m:t>
                                      </m:r>
                                    </m:e>
                                    <m:sub>
                                      <m:r>
                                        <a:rPr lang="en-US" altLang="zh-TW" sz="2800" i="1">
                                          <a:solidFill>
                                            <a:schemeClr val="tx1"/>
                                          </a:solidFill>
                                          <a:latin typeface="Cambria Math"/>
                                        </a:rPr>
                                        <m:t>1</m:t>
                                      </m:r>
                                    </m:sub>
                                  </m:sSub>
                                  <m:r>
                                    <a:rPr lang="en-US" altLang="zh-TW" sz="2800" i="1">
                                      <a:solidFill>
                                        <a:schemeClr val="tx1"/>
                                      </a:solidFill>
                                      <a:latin typeface="Cambria Math"/>
                                    </a:rPr>
                                    <m:t>𝑇</m:t>
                                  </m:r>
                                  <m:r>
                                    <a:rPr lang="en-US" altLang="zh-TW" sz="2800" i="1">
                                      <a:solidFill>
                                        <a:schemeClr val="tx1"/>
                                      </a:solidFill>
                                      <a:latin typeface="Cambria Math"/>
                                    </a:rPr>
                                    <m:t>+</m:t>
                                  </m:r>
                                  <m:sSub>
                                    <m:sSubPr>
                                      <m:ctrlPr>
                                        <a:rPr lang="en-US" altLang="zh-TW" sz="2800" i="1">
                                          <a:solidFill>
                                            <a:schemeClr val="tx1"/>
                                          </a:solidFill>
                                          <a:latin typeface="Cambria Math" panose="02040503050406030204" pitchFamily="18" charset="0"/>
                                        </a:rPr>
                                      </m:ctrlPr>
                                    </m:sSubPr>
                                    <m:e>
                                      <m:r>
                                        <a:rPr lang="en-US" altLang="zh-TW" sz="2800" i="1">
                                          <a:solidFill>
                                            <a:schemeClr val="tx1"/>
                                          </a:solidFill>
                                          <a:latin typeface="Cambria Math"/>
                                        </a:rPr>
                                        <m:t>𝐶</m:t>
                                      </m:r>
                                    </m:e>
                                    <m:sub>
                                      <m:r>
                                        <a:rPr lang="en-US" altLang="zh-TW" sz="2800" i="1">
                                          <a:solidFill>
                                            <a:schemeClr val="tx1"/>
                                          </a:solidFill>
                                          <a:latin typeface="Cambria Math"/>
                                        </a:rPr>
                                        <m:t>2</m:t>
                                      </m:r>
                                    </m:sub>
                                  </m:sSub>
                                  <m:sSub>
                                    <m:sSubPr>
                                      <m:ctrlPr>
                                        <a:rPr lang="en-US" altLang="zh-TW" sz="2800" i="1">
                                          <a:solidFill>
                                            <a:schemeClr val="tx1"/>
                                          </a:solidFill>
                                          <a:latin typeface="Cambria Math" panose="02040503050406030204" pitchFamily="18" charset="0"/>
                                        </a:rPr>
                                      </m:ctrlPr>
                                    </m:sSubPr>
                                    <m:e>
                                      <m:r>
                                        <a:rPr lang="en-US" altLang="zh-TW" sz="2800" i="1">
                                          <a:solidFill>
                                            <a:schemeClr val="tx1"/>
                                          </a:solidFill>
                                          <a:latin typeface="Cambria Math"/>
                                        </a:rPr>
                                        <m:t>𝐷</m:t>
                                      </m:r>
                                    </m:e>
                                    <m:sub>
                                      <m:r>
                                        <a:rPr lang="en-US" altLang="zh-TW" sz="2800" i="1">
                                          <a:solidFill>
                                            <a:schemeClr val="tx1"/>
                                          </a:solidFill>
                                          <a:latin typeface="Cambria Math"/>
                                        </a:rPr>
                                        <m:t>2</m:t>
                                      </m:r>
                                    </m:sub>
                                  </m:sSub>
                                  <m:r>
                                    <a:rPr lang="en-US" altLang="zh-TW" sz="2800" i="1">
                                      <a:solidFill>
                                        <a:schemeClr val="tx1"/>
                                      </a:solidFill>
                                      <a:latin typeface="Cambria Math"/>
                                    </a:rPr>
                                    <m:t>𝑇</m:t>
                                  </m:r>
                                </m:e>
                              </m:d>
                            </m:e>
                          </m:d>
                        </m:num>
                        <m:den>
                          <m:r>
                            <a:rPr lang="en-US" altLang="zh-TW" sz="2800" b="0" i="1" dirty="0" smtClean="0">
                              <a:solidFill>
                                <a:schemeClr val="tx1"/>
                              </a:solidFill>
                              <a:latin typeface="Cambria Math" panose="02040503050406030204" pitchFamily="18" charset="0"/>
                              <a:ea typeface="微軟正黑體" panose="020B0604030504040204" pitchFamily="34" charset="-120"/>
                            </a:rPr>
                            <m:t>𝑂</m:t>
                          </m:r>
                          <m:r>
                            <a:rPr lang="en-US" altLang="zh-TW" sz="2800" b="0" i="1" dirty="0" smtClean="0">
                              <a:solidFill>
                                <a:schemeClr val="tx1"/>
                              </a:solidFill>
                              <a:latin typeface="Cambria Math" panose="02040503050406030204" pitchFamily="18" charset="0"/>
                              <a:ea typeface="微軟正黑體" panose="020B0604030504040204" pitchFamily="34" charset="-120"/>
                            </a:rPr>
                            <m:t>+</m:t>
                          </m:r>
                          <m:sSub>
                            <m:sSubPr>
                              <m:ctrlPr>
                                <a:rPr lang="en-US" altLang="zh-TW" sz="2800" b="0" i="1" dirty="0" smtClean="0">
                                  <a:solidFill>
                                    <a:schemeClr val="tx1"/>
                                  </a:solidFill>
                                  <a:latin typeface="Cambria Math" panose="02040503050406030204" pitchFamily="18" charset="0"/>
                                  <a:ea typeface="微軟正黑體" panose="020B0604030504040204" pitchFamily="34" charset="-120"/>
                                </a:rPr>
                              </m:ctrlPr>
                            </m:sSubPr>
                            <m:e>
                              <m:r>
                                <a:rPr lang="en-US" altLang="zh-TW" sz="2800" b="0" i="1" dirty="0" smtClean="0">
                                  <a:solidFill>
                                    <a:schemeClr val="tx1"/>
                                  </a:solidFill>
                                  <a:latin typeface="Cambria Math" panose="02040503050406030204" pitchFamily="18" charset="0"/>
                                  <a:ea typeface="微軟正黑體" panose="020B0604030504040204" pitchFamily="34" charset="-120"/>
                                </a:rPr>
                                <m:t>𝑂</m:t>
                              </m:r>
                            </m:e>
                            <m:sub>
                              <m:r>
                                <a:rPr lang="en-US" altLang="zh-TW" sz="2800" b="0" i="1" dirty="0" smtClean="0">
                                  <a:solidFill>
                                    <a:schemeClr val="tx1"/>
                                  </a:solidFill>
                                  <a:latin typeface="Cambria Math" panose="02040503050406030204" pitchFamily="18" charset="0"/>
                                  <a:ea typeface="微軟正黑體" panose="020B0604030504040204" pitchFamily="34" charset="-120"/>
                                </a:rPr>
                                <m:t>𝐶𝐶</m:t>
                              </m:r>
                            </m:sub>
                          </m:sSub>
                        </m:den>
                      </m:f>
                    </m:oMath>
                  </m:oMathPara>
                </a14:m>
                <a:endParaRPr lang="en-US" altLang="zh-TW" sz="2800" b="0" i="1" dirty="0" smtClean="0">
                  <a:solidFill>
                    <a:schemeClr val="tx1"/>
                  </a:solidFill>
                  <a:latin typeface="Cambria Math" panose="02040503050406030204" pitchFamily="18" charset="0"/>
                  <a:ea typeface="微軟正黑體" panose="020B0604030504040204" pitchFamily="34" charset="-120"/>
                </a:endParaRPr>
              </a:p>
              <a:p>
                <a:r>
                  <a:rPr lang="zh-TW" altLang="en-US" sz="2800" b="0" dirty="0" smtClean="0">
                    <a:solidFill>
                      <a:schemeClr val="tx1"/>
                    </a:solidFill>
                    <a:ea typeface="微軟正黑體" panose="020B0604030504040204" pitchFamily="34" charset="-120"/>
                  </a:rPr>
                  <a:t>　　</a:t>
                </a:r>
                <a14:m>
                  <m:oMath xmlns:m="http://schemas.openxmlformats.org/officeDocument/2006/math">
                    <m:r>
                      <a:rPr lang="zh-TW" altLang="en-US" sz="2800" i="1" dirty="0">
                        <a:latin typeface="Cambria Math" panose="02040503050406030204" pitchFamily="18" charset="0"/>
                        <a:ea typeface="微軟正黑體" panose="020B0604030504040204" pitchFamily="34" charset="-120"/>
                      </a:rPr>
                      <m:t>　</m:t>
                    </m:r>
                    <m:r>
                      <a:rPr lang="en-US" altLang="zh-TW" sz="2800" b="0" i="1" dirty="0" smtClean="0">
                        <a:solidFill>
                          <a:schemeClr val="tx1"/>
                        </a:solidFill>
                        <a:latin typeface="Cambria Math" panose="02040503050406030204" pitchFamily="18" charset="0"/>
                        <a:ea typeface="微軟正黑體" panose="020B0604030504040204" pitchFamily="34" charset="-120"/>
                      </a:rPr>
                      <m:t>𝑆</m:t>
                    </m:r>
                    <m:d>
                      <m:dPr>
                        <m:ctrlPr>
                          <a:rPr lang="en-US" altLang="zh-TW" sz="2800" b="0" i="1" dirty="0" smtClean="0">
                            <a:solidFill>
                              <a:schemeClr val="tx1"/>
                            </a:solidFill>
                            <a:latin typeface="Cambria Math" panose="02040503050406030204" pitchFamily="18" charset="0"/>
                            <a:ea typeface="微軟正黑體" panose="020B0604030504040204" pitchFamily="34" charset="-120"/>
                          </a:rPr>
                        </m:ctrlPr>
                      </m:dPr>
                      <m:e>
                        <m:r>
                          <a:rPr lang="en-US" altLang="zh-TW" sz="2800" b="0" i="1" dirty="0" smtClean="0">
                            <a:solidFill>
                              <a:schemeClr val="tx1"/>
                            </a:solidFill>
                            <a:latin typeface="Cambria Math" panose="02040503050406030204" pitchFamily="18" charset="0"/>
                            <a:ea typeface="微軟正黑體" panose="020B0604030504040204" pitchFamily="34" charset="-120"/>
                          </a:rPr>
                          <m:t>0</m:t>
                        </m:r>
                      </m:e>
                    </m:d>
                    <m:r>
                      <a:rPr lang="en-US" altLang="zh-TW" sz="2800" b="0" i="1" dirty="0" smtClean="0">
                        <a:solidFill>
                          <a:schemeClr val="tx1"/>
                        </a:solidFill>
                        <a:latin typeface="Cambria Math" panose="02040503050406030204" pitchFamily="18" charset="0"/>
                        <a:ea typeface="微軟正黑體" panose="020B0604030504040204" pitchFamily="34" charset="-120"/>
                      </a:rPr>
                      <m:t>=</m:t>
                    </m:r>
                    <m:f>
                      <m:fPr>
                        <m:ctrlPr>
                          <a:rPr lang="en-US" altLang="zh-TW" sz="2800" b="0" i="1" dirty="0" smtClean="0">
                            <a:solidFill>
                              <a:schemeClr val="tx1"/>
                            </a:solidFill>
                            <a:latin typeface="Cambria Math" panose="02040503050406030204" pitchFamily="18" charset="0"/>
                            <a:ea typeface="微軟正黑體" panose="020B0604030504040204" pitchFamily="34" charset="-120"/>
                          </a:rPr>
                        </m:ctrlPr>
                      </m:fPr>
                      <m:num>
                        <m:r>
                          <a:rPr lang="en-US" altLang="zh-TW" sz="2800" b="0" i="1" dirty="0" smtClean="0">
                            <a:solidFill>
                              <a:schemeClr val="tx1"/>
                            </a:solidFill>
                            <a:latin typeface="Cambria Math" panose="02040503050406030204" pitchFamily="18" charset="0"/>
                            <a:ea typeface="微軟正黑體" panose="020B0604030504040204" pitchFamily="34" charset="-120"/>
                          </a:rPr>
                          <m:t>𝐸𝑞𝑢𝑖𝑡𝑦</m:t>
                        </m:r>
                      </m:num>
                      <m:den>
                        <m:r>
                          <a:rPr lang="en-US" altLang="zh-TW" sz="2800" b="0" i="1" dirty="0" smtClean="0">
                            <a:solidFill>
                              <a:schemeClr val="tx1"/>
                            </a:solidFill>
                            <a:latin typeface="Cambria Math" panose="02040503050406030204" pitchFamily="18" charset="0"/>
                            <a:ea typeface="微軟正黑體" panose="020B0604030504040204" pitchFamily="34" charset="-120"/>
                          </a:rPr>
                          <m:t>𝑂</m:t>
                        </m:r>
                      </m:den>
                    </m:f>
                  </m:oMath>
                </a14:m>
                <a:endParaRPr lang="en-US" altLang="zh-TW" sz="2800" b="0" dirty="0" smtClean="0">
                  <a:latin typeface="微軟正黑體" panose="020B0604030504040204" pitchFamily="34" charset="-12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zh-TW" altLang="en-US" sz="2800" i="1" dirty="0">
                          <a:latin typeface="Cambria Math" panose="02040503050406030204" pitchFamily="18" charset="0"/>
                          <a:ea typeface="微軟正黑體" panose="020B0604030504040204" pitchFamily="34" charset="-120"/>
                        </a:rPr>
                        <m:t>　　</m:t>
                      </m:r>
                      <m:r>
                        <a:rPr lang="zh-TW" altLang="en-US" sz="2800" i="1" dirty="0" smtClean="0">
                          <a:latin typeface="Cambria Math" panose="02040503050406030204" pitchFamily="18" charset="0"/>
                          <a:ea typeface="微軟正黑體" panose="020B0604030504040204" pitchFamily="34" charset="-120"/>
                        </a:rPr>
                        <m:t>　</m:t>
                      </m:r>
                      <m:sSub>
                        <m:sSubPr>
                          <m:ctrlPr>
                            <a:rPr lang="en-US" altLang="zh-TW" sz="2800" i="1" dirty="0">
                              <a:latin typeface="Cambria Math" panose="02040503050406030204" pitchFamily="18" charset="0"/>
                              <a:ea typeface="微軟正黑體" panose="020B0604030504040204" pitchFamily="34" charset="-120"/>
                            </a:rPr>
                          </m:ctrlPr>
                        </m:sSubPr>
                        <m:e>
                          <m:r>
                            <a:rPr lang="en-US" altLang="zh-TW" sz="2800" i="1" dirty="0">
                              <a:latin typeface="Cambria Math" panose="02040503050406030204" pitchFamily="18" charset="0"/>
                              <a:ea typeface="微軟正黑體" panose="020B0604030504040204" pitchFamily="34" charset="-120"/>
                            </a:rPr>
                            <m:t>𝑂</m:t>
                          </m:r>
                        </m:e>
                        <m:sub>
                          <m:r>
                            <a:rPr lang="en-US" altLang="zh-TW" sz="2800" i="1" dirty="0">
                              <a:latin typeface="Cambria Math" panose="02040503050406030204" pitchFamily="18" charset="0"/>
                              <a:ea typeface="微軟正黑體" panose="020B0604030504040204" pitchFamily="34" charset="-120"/>
                            </a:rPr>
                            <m:t>𝐶𝐶</m:t>
                          </m:r>
                        </m:sub>
                      </m:sSub>
                      <m:r>
                        <a:rPr lang="en-US" altLang="zh-TW" sz="2800" i="1" dirty="0">
                          <a:latin typeface="Cambria Math" panose="02040503050406030204" pitchFamily="18" charset="0"/>
                          <a:ea typeface="微軟正黑體" panose="020B0604030504040204" pitchFamily="34" charset="-120"/>
                        </a:rPr>
                        <m:t>=</m:t>
                      </m:r>
                      <m:f>
                        <m:fPr>
                          <m:ctrlPr>
                            <a:rPr lang="en-US" altLang="zh-TW" sz="2800" i="1" dirty="0">
                              <a:latin typeface="Cambria Math" panose="02040503050406030204" pitchFamily="18" charset="0"/>
                              <a:ea typeface="微軟正黑體" panose="020B0604030504040204" pitchFamily="34" charset="-120"/>
                            </a:rPr>
                          </m:ctrlPr>
                        </m:fPr>
                        <m:num>
                          <m:sSub>
                            <m:sSubPr>
                              <m:ctrlPr>
                                <a:rPr lang="en-US" altLang="zh-TW" sz="2800" i="1" dirty="0">
                                  <a:latin typeface="Cambria Math" panose="02040503050406030204" pitchFamily="18" charset="0"/>
                                </a:rPr>
                              </m:ctrlPr>
                            </m:sSubPr>
                            <m:e>
                              <m:r>
                                <a:rPr lang="en-US" altLang="zh-TW" sz="2800" i="1" dirty="0">
                                  <a:latin typeface="Cambria Math" panose="02040503050406030204" pitchFamily="18" charset="0"/>
                                </a:rPr>
                                <m:t>𝐷</m:t>
                              </m:r>
                            </m:e>
                            <m:sub>
                              <m:r>
                                <a:rPr lang="en-US" altLang="zh-TW" sz="2800" i="1" dirty="0">
                                  <a:latin typeface="Cambria Math" panose="02040503050406030204" pitchFamily="18" charset="0"/>
                                </a:rPr>
                                <m:t>2</m:t>
                              </m:r>
                            </m:sub>
                          </m:sSub>
                        </m:num>
                        <m:den>
                          <m:r>
                            <a:rPr lang="en-US" altLang="zh-TW" sz="2800" i="1" dirty="0">
                              <a:latin typeface="Cambria Math" panose="02040503050406030204" pitchFamily="18" charset="0"/>
                              <a:ea typeface="微軟正黑體" panose="020B0604030504040204" pitchFamily="34" charset="-120"/>
                            </a:rPr>
                            <m:t>𝑆</m:t>
                          </m:r>
                          <m:d>
                            <m:dPr>
                              <m:ctrlPr>
                                <a:rPr lang="en-US" altLang="zh-TW" sz="2800" i="1" dirty="0">
                                  <a:latin typeface="Cambria Math" panose="02040503050406030204" pitchFamily="18" charset="0"/>
                                  <a:ea typeface="微軟正黑體" panose="020B0604030504040204" pitchFamily="34" charset="-120"/>
                                </a:rPr>
                              </m:ctrlPr>
                            </m:dPr>
                            <m:e>
                              <m:r>
                                <a:rPr lang="en-US" altLang="zh-TW" sz="2800" i="1" dirty="0">
                                  <a:latin typeface="Cambria Math" panose="02040503050406030204" pitchFamily="18" charset="0"/>
                                  <a:ea typeface="微軟正黑體" panose="020B0604030504040204" pitchFamily="34" charset="-120"/>
                                </a:rPr>
                                <m:t>0</m:t>
                              </m:r>
                            </m:e>
                          </m:d>
                        </m:den>
                      </m:f>
                    </m:oMath>
                  </m:oMathPara>
                </a14:m>
                <a:endParaRPr lang="en-US" altLang="zh-TW" sz="2800" i="1" dirty="0" smtClean="0">
                  <a:latin typeface="Cambria Math" panose="02040503050406030204" pitchFamily="18" charset="0"/>
                  <a:ea typeface="微軟正黑體" panose="020B0604030504040204" pitchFamily="34" charset="-120"/>
                </a:endParaRPr>
              </a:p>
              <a:p>
                <a:pPr/>
                <a14:m>
                  <m:oMathPara xmlns:m="http://schemas.openxmlformats.org/officeDocument/2006/math">
                    <m:oMathParaPr>
                      <m:jc m:val="left"/>
                    </m:oMathParaPr>
                    <m:oMath xmlns:m="http://schemas.openxmlformats.org/officeDocument/2006/math">
                      <m:r>
                        <a:rPr lang="zh-TW" altLang="en-US" sz="2800" b="0" i="1" dirty="0">
                          <a:latin typeface="Cambria Math" panose="02040503050406030204" pitchFamily="18" charset="0"/>
                          <a:ea typeface="微軟正黑體" panose="020B0604030504040204" pitchFamily="34" charset="-120"/>
                        </a:rPr>
                        <m:t>　</m:t>
                      </m:r>
                      <m:r>
                        <a:rPr lang="zh-TW" altLang="en-US" sz="2800" i="1" dirty="0" smtClean="0">
                          <a:latin typeface="Cambria Math" panose="02040503050406030204" pitchFamily="18" charset="0"/>
                          <a:ea typeface="微軟正黑體" panose="020B0604030504040204" pitchFamily="34" charset="-120"/>
                        </a:rPr>
                        <m:t>　</m:t>
                      </m:r>
                      <m:r>
                        <a:rPr lang="zh-TW" altLang="en-US" sz="2800" i="1" dirty="0">
                          <a:latin typeface="Cambria Math" panose="02040503050406030204" pitchFamily="18" charset="0"/>
                          <a:ea typeface="微軟正黑體" panose="020B0604030504040204" pitchFamily="34" charset="-120"/>
                        </a:rPr>
                        <m:t>　</m:t>
                      </m:r>
                      <m:r>
                        <a:rPr lang="en-US" altLang="zh-TW" sz="2800" b="0" i="1" dirty="0" smtClean="0">
                          <a:latin typeface="Cambria Math" panose="02040503050406030204" pitchFamily="18" charset="0"/>
                          <a:ea typeface="微軟正黑體" panose="020B0604030504040204" pitchFamily="34" charset="-120"/>
                        </a:rPr>
                        <m:t>𝑉</m:t>
                      </m:r>
                      <m:r>
                        <a:rPr lang="en-US" altLang="zh-TW" sz="2800" b="0" i="1" dirty="0" smtClean="0">
                          <a:latin typeface="Cambria Math" panose="02040503050406030204" pitchFamily="18" charset="0"/>
                          <a:ea typeface="微軟正黑體" panose="020B0604030504040204" pitchFamily="34" charset="-120"/>
                        </a:rPr>
                        <m:t>"=</m:t>
                      </m:r>
                      <m:sSub>
                        <m:sSubPr>
                          <m:ctrlPr>
                            <a:rPr lang="en-US" altLang="zh-TW" sz="2800" i="1">
                              <a:latin typeface="Cambria Math" panose="02040503050406030204" pitchFamily="18" charset="0"/>
                            </a:rPr>
                          </m:ctrlPr>
                        </m:sSubPr>
                        <m:e>
                          <m:r>
                            <a:rPr lang="en-US" altLang="zh-TW" sz="2800" i="1">
                              <a:latin typeface="Cambria Math"/>
                            </a:rPr>
                            <m:t>𝐷</m:t>
                          </m:r>
                        </m:e>
                        <m:sub>
                          <m:r>
                            <a:rPr lang="en-US" altLang="zh-TW" sz="2800" i="1">
                              <a:latin typeface="Cambria Math"/>
                            </a:rPr>
                            <m:t>1</m:t>
                          </m:r>
                        </m:sub>
                      </m:sSub>
                      <m:r>
                        <a:rPr lang="en-US" altLang="zh-TW" sz="2800" i="1">
                          <a:latin typeface="Cambria Math"/>
                        </a:rPr>
                        <m:t>+</m:t>
                      </m:r>
                      <m:r>
                        <a:rPr lang="en-US" altLang="zh-TW" sz="2800" i="1">
                          <a:latin typeface="Cambria Math" panose="02040503050406030204" pitchFamily="18" charset="0"/>
                        </a:rPr>
                        <m:t>(1+</m:t>
                      </m:r>
                      <m:f>
                        <m:fPr>
                          <m:ctrlPr>
                            <a:rPr lang="en-US" altLang="zh-TW" sz="2800" i="1">
                              <a:latin typeface="Cambria Math" panose="02040503050406030204" pitchFamily="18" charset="0"/>
                            </a:rPr>
                          </m:ctrlPr>
                        </m:fPr>
                        <m:num>
                          <m:r>
                            <a:rPr lang="en-US" altLang="zh-TW" sz="2800" i="1" dirty="0">
                              <a:latin typeface="Cambria Math" panose="02040503050406030204" pitchFamily="18" charset="0"/>
                              <a:ea typeface="微軟正黑體" panose="020B0604030504040204" pitchFamily="34" charset="-120"/>
                            </a:rPr>
                            <m:t>𝑂</m:t>
                          </m:r>
                        </m:num>
                        <m:den>
                          <m:sSub>
                            <m:sSubPr>
                              <m:ctrlPr>
                                <a:rPr lang="en-US" altLang="zh-TW" sz="2800" i="1" dirty="0">
                                  <a:latin typeface="Cambria Math" panose="02040503050406030204" pitchFamily="18" charset="0"/>
                                  <a:ea typeface="微軟正黑體" panose="020B0604030504040204" pitchFamily="34" charset="-120"/>
                                </a:rPr>
                              </m:ctrlPr>
                            </m:sSubPr>
                            <m:e>
                              <m:r>
                                <a:rPr lang="en-US" altLang="zh-TW" sz="2800" i="1" dirty="0">
                                  <a:latin typeface="Cambria Math" panose="02040503050406030204" pitchFamily="18" charset="0"/>
                                  <a:ea typeface="微軟正黑體" panose="020B0604030504040204" pitchFamily="34" charset="-120"/>
                                </a:rPr>
                                <m:t>𝑂</m:t>
                              </m:r>
                            </m:e>
                            <m:sub>
                              <m:r>
                                <a:rPr lang="en-US" altLang="zh-TW" sz="2800" i="1" dirty="0">
                                  <a:latin typeface="Cambria Math" panose="02040503050406030204" pitchFamily="18" charset="0"/>
                                  <a:ea typeface="微軟正黑體" panose="020B0604030504040204" pitchFamily="34" charset="-120"/>
                                </a:rPr>
                                <m:t>𝐶𝐶</m:t>
                              </m:r>
                            </m:sub>
                          </m:sSub>
                        </m:den>
                      </m:f>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a:rPr>
                            <m:t>𝐷</m:t>
                          </m:r>
                        </m:e>
                        <m:sub>
                          <m:r>
                            <a:rPr lang="en-US" altLang="zh-TW" sz="2800" i="1">
                              <a:latin typeface="Cambria Math"/>
                            </a:rPr>
                            <m:t>2</m:t>
                          </m:r>
                        </m:sub>
                      </m:sSub>
                      <m:r>
                        <a:rPr lang="en-US" altLang="zh-TW" sz="2800" i="1">
                          <a:latin typeface="Cambria Math"/>
                        </a:rPr>
                        <m:t>+(1−</m:t>
                      </m:r>
                      <m:r>
                        <a:rPr lang="en-US" altLang="zh-TW" sz="2800" i="1">
                          <a:latin typeface="Cambria Math"/>
                        </a:rPr>
                        <m:t>𝑡𝑎𝑥</m:t>
                      </m:r>
                      <m:r>
                        <a:rPr lang="en-US" altLang="zh-TW" sz="2800" i="1">
                          <a:latin typeface="Cambria Math"/>
                        </a:rPr>
                        <m:t>)(</m:t>
                      </m:r>
                      <m:sSub>
                        <m:sSubPr>
                          <m:ctrlPr>
                            <a:rPr lang="en-US" altLang="zh-TW" sz="2800" i="1">
                              <a:latin typeface="Cambria Math" panose="02040503050406030204" pitchFamily="18" charset="0"/>
                            </a:rPr>
                          </m:ctrlPr>
                        </m:sSubPr>
                        <m:e>
                          <m:r>
                            <a:rPr lang="en-US" altLang="zh-TW" sz="2800" i="1">
                              <a:latin typeface="Cambria Math"/>
                            </a:rPr>
                            <m:t>𝐶</m:t>
                          </m:r>
                        </m:e>
                        <m:sub>
                          <m:r>
                            <a:rPr lang="en-US" altLang="zh-TW" sz="2800" i="1">
                              <a:latin typeface="Cambria Math"/>
                            </a:rPr>
                            <m:t>1</m:t>
                          </m:r>
                        </m:sub>
                      </m:sSub>
                      <m:sSub>
                        <m:sSubPr>
                          <m:ctrlPr>
                            <a:rPr lang="en-US" altLang="zh-TW" sz="2800" i="1">
                              <a:latin typeface="Cambria Math" panose="02040503050406030204" pitchFamily="18" charset="0"/>
                            </a:rPr>
                          </m:ctrlPr>
                        </m:sSubPr>
                        <m:e>
                          <m:r>
                            <a:rPr lang="en-US" altLang="zh-TW" sz="2800" i="1">
                              <a:latin typeface="Cambria Math"/>
                            </a:rPr>
                            <m:t>𝐷</m:t>
                          </m:r>
                        </m:e>
                        <m:sub>
                          <m:r>
                            <a:rPr lang="en-US" altLang="zh-TW" sz="2800" i="1">
                              <a:latin typeface="Cambria Math"/>
                            </a:rPr>
                            <m:t>1</m:t>
                          </m:r>
                        </m:sub>
                      </m:sSub>
                      <m:r>
                        <a:rPr lang="en-US" altLang="zh-TW" sz="2800" i="1">
                          <a:latin typeface="Cambria Math"/>
                        </a:rPr>
                        <m:t>𝑇</m:t>
                      </m:r>
                      <m:r>
                        <a:rPr lang="en-US" altLang="zh-TW" sz="2800" i="1">
                          <a:latin typeface="Cambria Math"/>
                        </a:rPr>
                        <m:t>+</m:t>
                      </m:r>
                      <m:sSub>
                        <m:sSubPr>
                          <m:ctrlPr>
                            <a:rPr lang="en-US" altLang="zh-TW" sz="2800" i="1">
                              <a:latin typeface="Cambria Math" panose="02040503050406030204" pitchFamily="18" charset="0"/>
                            </a:rPr>
                          </m:ctrlPr>
                        </m:sSubPr>
                        <m:e>
                          <m:r>
                            <a:rPr lang="en-US" altLang="zh-TW" sz="2800" i="1">
                              <a:latin typeface="Cambria Math"/>
                            </a:rPr>
                            <m:t>𝐶</m:t>
                          </m:r>
                        </m:e>
                        <m:sub>
                          <m:r>
                            <a:rPr lang="en-US" altLang="zh-TW" sz="2800" i="1">
                              <a:latin typeface="Cambria Math"/>
                            </a:rPr>
                            <m:t>2</m:t>
                          </m:r>
                        </m:sub>
                      </m:sSub>
                      <m:sSub>
                        <m:sSubPr>
                          <m:ctrlPr>
                            <a:rPr lang="en-US" altLang="zh-TW" sz="2800" i="1">
                              <a:latin typeface="Cambria Math" panose="02040503050406030204" pitchFamily="18" charset="0"/>
                            </a:rPr>
                          </m:ctrlPr>
                        </m:sSubPr>
                        <m:e>
                          <m:r>
                            <a:rPr lang="en-US" altLang="zh-TW" sz="2800" i="1">
                              <a:latin typeface="Cambria Math"/>
                            </a:rPr>
                            <m:t>𝐷</m:t>
                          </m:r>
                        </m:e>
                        <m:sub>
                          <m:r>
                            <a:rPr lang="en-US" altLang="zh-TW" sz="2800" i="1">
                              <a:latin typeface="Cambria Math"/>
                            </a:rPr>
                            <m:t>2</m:t>
                          </m:r>
                        </m:sub>
                      </m:sSub>
                      <m:r>
                        <a:rPr lang="en-US" altLang="zh-TW" sz="2800" i="1">
                          <a:latin typeface="Cambria Math"/>
                        </a:rPr>
                        <m:t>𝑇</m:t>
                      </m:r>
                      <m:r>
                        <a:rPr lang="en-US" altLang="zh-TW" sz="2800" i="1">
                          <a:latin typeface="Cambria Math"/>
                        </a:rPr>
                        <m:t>)</m:t>
                      </m:r>
                    </m:oMath>
                  </m:oMathPara>
                </a14:m>
                <a:endParaRPr lang="en-US" altLang="zh-TW" sz="2800" b="0" dirty="0" smtClean="0">
                  <a:latin typeface="微軟正黑體" panose="020B0604030504040204" pitchFamily="34" charset="-120"/>
                  <a:ea typeface="Cambria Math" panose="02040503050406030204" pitchFamily="18" charset="0"/>
                </a:endParaRPr>
              </a:p>
              <a:p>
                <a:pPr lvl="2"/>
                <a:endParaRPr lang="en-US" altLang="zh-TW" sz="2800" b="0" dirty="0" smtClean="0">
                  <a:latin typeface="微軟正黑體" panose="020B0604030504040204" pitchFamily="34" charset="-120"/>
                  <a:ea typeface="Cambria Math" panose="02040503050406030204" pitchFamily="18" charset="0"/>
                </a:endParaRPr>
              </a:p>
              <a:p>
                <a:endParaRPr lang="en-US" altLang="zh-TW" sz="2800" b="0" dirty="0" smtClean="0">
                  <a:latin typeface="微軟正黑體" panose="020B0604030504040204" pitchFamily="34" charset="-120"/>
                  <a:ea typeface="Cambria Math" panose="02040503050406030204" pitchFamily="18" charset="0"/>
                </a:endParaRPr>
              </a:p>
            </p:txBody>
          </p:sp>
        </mc:Choice>
        <mc:Fallback xmlns="">
          <p:sp>
            <p:nvSpPr>
              <p:cNvPr id="3" name="文字方塊 2"/>
              <p:cNvSpPr txBox="1">
                <a:spLocks noRot="1" noChangeAspect="1" noMove="1" noResize="1" noEditPoints="1" noAdjustHandles="1" noChangeArrowheads="1" noChangeShapeType="1" noTextEdit="1"/>
              </p:cNvSpPr>
              <p:nvPr/>
            </p:nvSpPr>
            <p:spPr>
              <a:xfrm>
                <a:off x="625594" y="3424402"/>
                <a:ext cx="10829055" cy="4255524"/>
              </a:xfrm>
              <a:prstGeom prst="rect">
                <a:avLst/>
              </a:prstGeom>
              <a:blipFill rotWithShape="0">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p:cNvSpPr txBox="1"/>
              <p:nvPr/>
            </p:nvSpPr>
            <p:spPr>
              <a:xfrm>
                <a:off x="625594" y="1651511"/>
                <a:ext cx="9729367" cy="1671548"/>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m:rPr>
                          <m:nor/>
                        </m:rPr>
                        <a:rPr lang="en-US" altLang="zh-TW" sz="3200" dirty="0" smtClean="0"/>
                        <m:t>Terminal</m:t>
                      </m:r>
                      <m:r>
                        <m:rPr>
                          <m:nor/>
                        </m:rPr>
                        <a:rPr lang="en-US" altLang="zh-TW" sz="3200" dirty="0" smtClean="0"/>
                        <m:t> </m:t>
                      </m:r>
                      <m:r>
                        <m:rPr>
                          <m:nor/>
                        </m:rPr>
                        <a:rPr lang="en-US" altLang="zh-TW" sz="3200" dirty="0" smtClean="0"/>
                        <m:t>Value</m:t>
                      </m:r>
                      <m:r>
                        <m:rPr>
                          <m:nor/>
                        </m:rPr>
                        <a:rPr lang="en-US" altLang="zh-TW" sz="3200" b="0" i="0" dirty="0" smtClean="0"/>
                        <m:t> </m:t>
                      </m:r>
                    </m:oMath>
                  </m:oMathPara>
                </a14:m>
                <a:endParaRPr lang="en-US" altLang="zh-TW" sz="3200" b="0" i="0" dirty="0" smtClean="0"/>
              </a:p>
              <a:p>
                <a14:m>
                  <m:oMath xmlns:m="http://schemas.openxmlformats.org/officeDocument/2006/math">
                    <m:r>
                      <m:rPr>
                        <m:nor/>
                      </m:rPr>
                      <a:rPr lang="en-US" altLang="zh-TW" sz="2400" b="0" i="0" dirty="0" smtClean="0"/>
                      <m:t>= </m:t>
                    </m:r>
                    <m:d>
                      <m:dPr>
                        <m:begChr m:val="{"/>
                        <m:endChr m:val=""/>
                        <m:ctrlPr>
                          <a:rPr lang="en-US" altLang="zh-TW" sz="2400" b="0" i="1" dirty="0" smtClean="0">
                            <a:latin typeface="Cambria Math" panose="02040503050406030204" pitchFamily="18" charset="0"/>
                          </a:rPr>
                        </m:ctrlPr>
                      </m:dPr>
                      <m:e>
                        <m:eqArr>
                          <m:eqArrPr>
                            <m:ctrlPr>
                              <a:rPr lang="en-US" altLang="zh-TW" sz="2400" b="0" i="1" dirty="0" smtClean="0">
                                <a:latin typeface="Cambria Math" panose="02040503050406030204" pitchFamily="18" charset="0"/>
                              </a:rPr>
                            </m:ctrlPr>
                          </m:eqArrPr>
                          <m:e>
                            <m:sSub>
                              <m:sSubPr>
                                <m:ctrlPr>
                                  <a:rPr lang="en-US" altLang="zh-TW" sz="2400" b="0" i="1" dirty="0" smtClean="0">
                                    <a:latin typeface="Cambria Math" panose="02040503050406030204" pitchFamily="18" charset="0"/>
                                  </a:rPr>
                                </m:ctrlPr>
                              </m:sSubPr>
                              <m:e>
                                <m:r>
                                  <a:rPr lang="en-US" altLang="zh-TW" sz="2400" b="0" i="1" dirty="0" smtClean="0">
                                    <a:latin typeface="Cambria Math" panose="02040503050406030204" pitchFamily="18" charset="0"/>
                                  </a:rPr>
                                  <m:t>𝐷</m:t>
                                </m:r>
                              </m:e>
                              <m:sub>
                                <m:r>
                                  <a:rPr lang="en-US" altLang="zh-TW" sz="2400" b="0" i="1" dirty="0" smtClean="0">
                                    <a:latin typeface="Cambria Math" panose="02040503050406030204" pitchFamily="18" charset="0"/>
                                  </a:rPr>
                                  <m:t>2</m:t>
                                </m:r>
                              </m:sub>
                            </m:sSub>
                            <m:r>
                              <a:rPr lang="en-US" altLang="zh-TW" sz="2400" b="0" i="1" dirty="0" smtClean="0">
                                <a:latin typeface="Cambria Math" panose="02040503050406030204" pitchFamily="18" charset="0"/>
                              </a:rPr>
                              <m:t>                                       ,</m:t>
                            </m:r>
                            <m:r>
                              <a:rPr lang="en-US" altLang="zh-TW" sz="2400" b="0" i="1" dirty="0" smtClean="0">
                                <a:latin typeface="Cambria Math" panose="02040503050406030204" pitchFamily="18" charset="0"/>
                              </a:rPr>
                              <m:t>𝑖𝑓</m:t>
                            </m:r>
                            <m:r>
                              <a:rPr lang="en-US" altLang="zh-TW" sz="2400" b="0" i="1" dirty="0" smtClean="0">
                                <a:latin typeface="Cambria Math" panose="02040503050406030204" pitchFamily="18" charset="0"/>
                              </a:rPr>
                              <m:t> </m:t>
                            </m:r>
                            <m:r>
                              <a:rPr lang="en-US" altLang="zh-TW" sz="2400" b="0" i="1" dirty="0" smtClean="0">
                                <a:latin typeface="Cambria Math" panose="02040503050406030204" pitchFamily="18" charset="0"/>
                              </a:rPr>
                              <m:t>𝐼</m:t>
                            </m:r>
                            <m:d>
                              <m:dPr>
                                <m:ctrlPr>
                                  <a:rPr lang="en-US" altLang="zh-TW" sz="2400" b="0" i="1" dirty="0" smtClean="0">
                                    <a:latin typeface="Cambria Math" panose="02040503050406030204" pitchFamily="18" charset="0"/>
                                  </a:rPr>
                                </m:ctrlPr>
                              </m:dPr>
                              <m:e>
                                <m:r>
                                  <a:rPr lang="en-US" altLang="zh-TW" sz="2400" b="0" i="1" dirty="0" smtClean="0">
                                    <a:latin typeface="Cambria Math" panose="02040503050406030204" pitchFamily="18" charset="0"/>
                                  </a:rPr>
                                  <m:t>𝑇</m:t>
                                </m:r>
                              </m:e>
                            </m:d>
                            <m:r>
                              <a:rPr lang="en-US" altLang="zh-TW" sz="2400" b="0" i="1" dirty="0" smtClean="0">
                                <a:latin typeface="Cambria Math" panose="02040503050406030204" pitchFamily="18" charset="0"/>
                                <a:ea typeface="Cambria Math" panose="02040503050406030204" pitchFamily="18" charset="0"/>
                              </a:rPr>
                              <m:t>&gt;</m:t>
                            </m:r>
                            <m:r>
                              <a:rPr lang="en-US" altLang="zh-TW" sz="2400" b="0" i="1" dirty="0" smtClean="0">
                                <a:latin typeface="Cambria Math" panose="02040503050406030204" pitchFamily="18" charset="0"/>
                                <a:ea typeface="Cambria Math" panose="02040503050406030204" pitchFamily="18" charset="0"/>
                              </a:rPr>
                              <m:t>𝐼</m:t>
                            </m:r>
                            <m:d>
                              <m:dPr>
                                <m:ctrlPr>
                                  <a:rPr lang="en-US" altLang="zh-TW" sz="2400" b="0" i="1" dirty="0" smtClean="0">
                                    <a:latin typeface="Cambria Math" panose="02040503050406030204" pitchFamily="18" charset="0"/>
                                    <a:ea typeface="Cambria Math" panose="02040503050406030204" pitchFamily="18" charset="0"/>
                                  </a:rPr>
                                </m:ctrlPr>
                              </m:dPr>
                              <m:e>
                                <m:r>
                                  <a:rPr lang="en-US" altLang="zh-TW" sz="2400" b="0" i="1" dirty="0" smtClean="0">
                                    <a:latin typeface="Cambria Math" panose="02040503050406030204" pitchFamily="18" charset="0"/>
                                    <a:ea typeface="Cambria Math" panose="02040503050406030204" pitchFamily="18" charset="0"/>
                                  </a:rPr>
                                  <m:t>0</m:t>
                                </m:r>
                              </m:e>
                            </m:d>
                            <m:r>
                              <a:rPr lang="en-US" altLang="zh-TW" sz="2400" b="0" i="1" dirty="0" smtClean="0">
                                <a:latin typeface="Cambria Math" panose="02040503050406030204" pitchFamily="18" charset="0"/>
                                <a:ea typeface="Cambria Math" panose="02040503050406030204" pitchFamily="18" charset="0"/>
                              </a:rPr>
                              <m:t> </m:t>
                            </m:r>
                            <m:r>
                              <a:rPr lang="en-US" altLang="zh-TW" sz="2400" b="0" i="1" dirty="0" smtClean="0">
                                <a:latin typeface="Cambria Math" panose="02040503050406030204" pitchFamily="18" charset="0"/>
                                <a:ea typeface="Cambria Math" panose="02040503050406030204" pitchFamily="18" charset="0"/>
                              </a:rPr>
                              <m:t>𝑜𝑟</m:t>
                            </m:r>
                            <m:r>
                              <a:rPr lang="en-US" altLang="zh-TW" sz="2400" b="0" i="1" dirty="0" smtClean="0">
                                <a:latin typeface="Cambria Math" panose="02040503050406030204" pitchFamily="18" charset="0"/>
                                <a:ea typeface="Cambria Math" panose="02040503050406030204" pitchFamily="18" charset="0"/>
                              </a:rPr>
                              <m:t> </m:t>
                            </m:r>
                            <m:sSubSup>
                              <m:sSubSupPr>
                                <m:ctrlPr>
                                  <a:rPr lang="en-US" altLang="zh-TW" sz="2400" i="1" dirty="0">
                                    <a:latin typeface="Cambria Math" panose="02040503050406030204" pitchFamily="18" charset="0"/>
                                    <a:ea typeface="Cambria Math" panose="02040503050406030204" pitchFamily="18" charset="0"/>
                                  </a:rPr>
                                </m:ctrlPr>
                              </m:sSubSupPr>
                              <m:e>
                                <m:r>
                                  <a:rPr lang="en-US" altLang="zh-TW" sz="2400" i="1" dirty="0">
                                    <a:latin typeface="Cambria Math" panose="02040503050406030204" pitchFamily="18" charset="0"/>
                                    <a:ea typeface="Cambria Math" panose="02040503050406030204" pitchFamily="18" charset="0"/>
                                  </a:rPr>
                                  <m:t>𝑆</m:t>
                                </m:r>
                              </m:e>
                              <m:sub>
                                <m:r>
                                  <a:rPr lang="en-US" altLang="zh-TW" sz="2400" i="1" dirty="0">
                                    <a:latin typeface="Cambria Math" panose="02040503050406030204" pitchFamily="18" charset="0"/>
                                    <a:ea typeface="Cambria Math" panose="02040503050406030204" pitchFamily="18" charset="0"/>
                                  </a:rPr>
                                  <m:t>𝑇</m:t>
                                </m:r>
                              </m:sub>
                              <m:sup>
                                <m:r>
                                  <a:rPr lang="en-US" altLang="zh-TW" sz="2400" i="1" dirty="0">
                                    <a:latin typeface="Cambria Math" panose="02040503050406030204" pitchFamily="18" charset="0"/>
                                    <a:ea typeface="Cambria Math" panose="02040503050406030204" pitchFamily="18" charset="0"/>
                                  </a:rPr>
                                  <m:t>𝑈</m:t>
                                </m:r>
                              </m:sup>
                            </m:sSubSup>
                            <m:r>
                              <a:rPr lang="en-US" altLang="zh-TW" sz="2400" i="1" dirty="0">
                                <a:latin typeface="Cambria Math" panose="02040503050406030204" pitchFamily="18" charset="0"/>
                                <a:ea typeface="Cambria Math" panose="02040503050406030204" pitchFamily="18" charset="0"/>
                              </a:rPr>
                              <m:t>&gt;</m:t>
                            </m:r>
                            <m:r>
                              <a:rPr lang="en-US" altLang="zh-TW" sz="2400" i="1" dirty="0">
                                <a:latin typeface="Cambria Math" panose="02040503050406030204" pitchFamily="18" charset="0"/>
                                <a:ea typeface="Cambria Math" panose="02040503050406030204" pitchFamily="18" charset="0"/>
                              </a:rPr>
                              <m:t>𝑆</m:t>
                            </m:r>
                            <m:r>
                              <a:rPr lang="en-US" altLang="zh-TW" sz="2400" i="1" dirty="0">
                                <a:latin typeface="Cambria Math" panose="02040503050406030204" pitchFamily="18" charset="0"/>
                                <a:ea typeface="Cambria Math" panose="02040503050406030204" pitchFamily="18" charset="0"/>
                              </a:rPr>
                              <m:t>(0)</m:t>
                            </m:r>
                          </m:e>
                          <m:e>
                            <m:sSubSup>
                              <m:sSubSupPr>
                                <m:ctrlPr>
                                  <a:rPr lang="en-US" altLang="zh-TW" sz="2400" i="1" dirty="0">
                                    <a:latin typeface="Cambria Math" panose="02040503050406030204" pitchFamily="18" charset="0"/>
                                    <a:ea typeface="Cambria Math" panose="02040503050406030204" pitchFamily="18" charset="0"/>
                                  </a:rPr>
                                </m:ctrlPr>
                              </m:sSubSupPr>
                              <m:e>
                                <m:r>
                                  <a:rPr lang="en-US" altLang="zh-TW" sz="2400" i="1" dirty="0">
                                    <a:latin typeface="Cambria Math" panose="02040503050406030204" pitchFamily="18" charset="0"/>
                                    <a:ea typeface="Cambria Math" panose="02040503050406030204" pitchFamily="18" charset="0"/>
                                  </a:rPr>
                                  <m:t>𝑆</m:t>
                                </m:r>
                              </m:e>
                              <m:sub>
                                <m:r>
                                  <a:rPr lang="en-US" altLang="zh-TW" sz="2400" i="1" dirty="0">
                                    <a:latin typeface="Cambria Math" panose="02040503050406030204" pitchFamily="18" charset="0"/>
                                    <a:ea typeface="Cambria Math" panose="02040503050406030204" pitchFamily="18" charset="0"/>
                                  </a:rPr>
                                  <m:t>𝑇</m:t>
                                </m:r>
                              </m:sub>
                              <m:sup>
                                <m:r>
                                  <a:rPr lang="en-US" altLang="zh-TW" sz="2400" i="1" dirty="0">
                                    <a:latin typeface="Cambria Math" panose="02040503050406030204" pitchFamily="18" charset="0"/>
                                    <a:ea typeface="Cambria Math" panose="02040503050406030204" pitchFamily="18" charset="0"/>
                                  </a:rPr>
                                  <m:t>𝐶</m:t>
                                </m:r>
                              </m:sup>
                            </m:sSubSup>
                            <m:sSub>
                              <m:sSubPr>
                                <m:ctrlPr>
                                  <a:rPr lang="en-US" altLang="zh-TW" sz="2400" i="1" dirty="0">
                                    <a:latin typeface="Cambria Math" panose="02040503050406030204" pitchFamily="18" charset="0"/>
                                    <a:ea typeface="微軟正黑體" panose="020B0604030504040204" pitchFamily="34" charset="-120"/>
                                  </a:rPr>
                                </m:ctrlPr>
                              </m:sSubPr>
                              <m:e>
                                <m:r>
                                  <a:rPr lang="en-US" altLang="zh-TW" sz="2400" i="1" dirty="0">
                                    <a:latin typeface="Cambria Math" panose="02040503050406030204" pitchFamily="18" charset="0"/>
                                    <a:ea typeface="微軟正黑體" panose="020B0604030504040204" pitchFamily="34" charset="-120"/>
                                  </a:rPr>
                                  <m:t>𝑂</m:t>
                                </m:r>
                              </m:e>
                              <m:sub>
                                <m:r>
                                  <a:rPr lang="en-US" altLang="zh-TW" sz="2400" i="1" dirty="0">
                                    <a:latin typeface="Cambria Math" panose="02040503050406030204" pitchFamily="18" charset="0"/>
                                    <a:ea typeface="微軟正黑體" panose="020B0604030504040204" pitchFamily="34" charset="-120"/>
                                  </a:rPr>
                                  <m:t>𝐶𝐶</m:t>
                                </m:r>
                              </m:sub>
                            </m:sSub>
                            <m:r>
                              <a:rPr lang="en-US" altLang="zh-TW" sz="2400" i="1" dirty="0">
                                <a:latin typeface="Cambria Math" panose="02040503050406030204" pitchFamily="18" charset="0"/>
                                <a:ea typeface="微軟正黑體" panose="020B0604030504040204" pitchFamily="34" charset="-120"/>
                              </a:rPr>
                              <m:t>=</m:t>
                            </m:r>
                            <m:sSubSup>
                              <m:sSubSupPr>
                                <m:ctrlPr>
                                  <a:rPr lang="en-US" altLang="zh-TW" sz="2400" i="1" dirty="0">
                                    <a:latin typeface="Cambria Math" panose="02040503050406030204" pitchFamily="18" charset="0"/>
                                    <a:ea typeface="Cambria Math" panose="02040503050406030204" pitchFamily="18" charset="0"/>
                                  </a:rPr>
                                </m:ctrlPr>
                              </m:sSubSupPr>
                              <m:e>
                                <m:r>
                                  <a:rPr lang="en-US" altLang="zh-TW" sz="2400" i="1" dirty="0">
                                    <a:latin typeface="Cambria Math" panose="02040503050406030204" pitchFamily="18" charset="0"/>
                                    <a:ea typeface="Cambria Math" panose="02040503050406030204" pitchFamily="18" charset="0"/>
                                  </a:rPr>
                                  <m:t>𝑆</m:t>
                                </m:r>
                              </m:e>
                              <m:sub>
                                <m:r>
                                  <a:rPr lang="en-US" altLang="zh-TW" sz="2400" i="1" dirty="0">
                                    <a:latin typeface="Cambria Math" panose="02040503050406030204" pitchFamily="18" charset="0"/>
                                    <a:ea typeface="Cambria Math" panose="02040503050406030204" pitchFamily="18" charset="0"/>
                                  </a:rPr>
                                  <m:t>𝑇</m:t>
                                </m:r>
                              </m:sub>
                              <m:sup>
                                <m:r>
                                  <a:rPr lang="en-US" altLang="zh-TW" sz="2400" i="1" dirty="0">
                                    <a:latin typeface="Cambria Math" panose="02040503050406030204" pitchFamily="18" charset="0"/>
                                    <a:ea typeface="Cambria Math" panose="02040503050406030204" pitchFamily="18" charset="0"/>
                                  </a:rPr>
                                  <m:t>𝐶</m:t>
                                </m:r>
                              </m:sup>
                            </m:sSubSup>
                            <m:f>
                              <m:fPr>
                                <m:ctrlPr>
                                  <a:rPr lang="en-US" altLang="zh-TW" sz="2400" i="1" dirty="0">
                                    <a:latin typeface="Cambria Math" panose="02040503050406030204" pitchFamily="18" charset="0"/>
                                    <a:ea typeface="微軟正黑體" panose="020B0604030504040204" pitchFamily="34" charset="-120"/>
                                  </a:rPr>
                                </m:ctrlPr>
                              </m:fPr>
                              <m:num>
                                <m:sSub>
                                  <m:sSubPr>
                                    <m:ctrlPr>
                                      <a:rPr lang="en-US" altLang="zh-TW" sz="2400" i="1" dirty="0">
                                        <a:latin typeface="Cambria Math" panose="02040503050406030204" pitchFamily="18" charset="0"/>
                                      </a:rPr>
                                    </m:ctrlPr>
                                  </m:sSubPr>
                                  <m:e>
                                    <m:r>
                                      <a:rPr lang="en-US" altLang="zh-TW" sz="2400" i="1" dirty="0">
                                        <a:latin typeface="Cambria Math" panose="02040503050406030204" pitchFamily="18" charset="0"/>
                                      </a:rPr>
                                      <m:t>𝐷</m:t>
                                    </m:r>
                                  </m:e>
                                  <m:sub>
                                    <m:r>
                                      <a:rPr lang="en-US" altLang="zh-TW" sz="2400" i="1" dirty="0">
                                        <a:latin typeface="Cambria Math" panose="02040503050406030204" pitchFamily="18" charset="0"/>
                                      </a:rPr>
                                      <m:t>2</m:t>
                                    </m:r>
                                  </m:sub>
                                </m:sSub>
                              </m:num>
                              <m:den>
                                <m:r>
                                  <a:rPr lang="en-US" altLang="zh-TW" sz="2400" i="1" dirty="0">
                                    <a:latin typeface="Cambria Math" panose="02040503050406030204" pitchFamily="18" charset="0"/>
                                    <a:ea typeface="微軟正黑體" panose="020B0604030504040204" pitchFamily="34" charset="-120"/>
                                  </a:rPr>
                                  <m:t>𝑆</m:t>
                                </m:r>
                                <m:d>
                                  <m:dPr>
                                    <m:ctrlPr>
                                      <a:rPr lang="en-US" altLang="zh-TW" sz="2400" i="1" dirty="0">
                                        <a:latin typeface="Cambria Math" panose="02040503050406030204" pitchFamily="18" charset="0"/>
                                        <a:ea typeface="微軟正黑體" panose="020B0604030504040204" pitchFamily="34" charset="-120"/>
                                      </a:rPr>
                                    </m:ctrlPr>
                                  </m:dPr>
                                  <m:e>
                                    <m:r>
                                      <a:rPr lang="en-US" altLang="zh-TW" sz="2400" i="1" dirty="0">
                                        <a:latin typeface="Cambria Math" panose="02040503050406030204" pitchFamily="18" charset="0"/>
                                        <a:ea typeface="微軟正黑體" panose="020B0604030504040204" pitchFamily="34" charset="-120"/>
                                      </a:rPr>
                                      <m:t>0</m:t>
                                    </m:r>
                                  </m:e>
                                </m:d>
                              </m:den>
                            </m:f>
                            <m:r>
                              <a:rPr lang="en-US" altLang="zh-TW" sz="2400" b="0" i="1" dirty="0">
                                <a:latin typeface="Cambria Math" panose="02040503050406030204" pitchFamily="18" charset="0"/>
                                <a:ea typeface="微軟正黑體" panose="020B0604030504040204" pitchFamily="34" charset="-120"/>
                              </a:rPr>
                              <m:t>             </m:t>
                            </m:r>
                            <m:r>
                              <a:rPr lang="en-US" altLang="zh-TW" sz="2400" b="0" i="1" dirty="0" smtClean="0">
                                <a:latin typeface="Cambria Math" panose="02040503050406030204" pitchFamily="18" charset="0"/>
                              </a:rPr>
                              <m:t>   ,</m:t>
                            </m:r>
                            <m:r>
                              <a:rPr lang="en-US" altLang="zh-TW" sz="2400" b="0" i="1" dirty="0" smtClean="0">
                                <a:latin typeface="Cambria Math" panose="02040503050406030204" pitchFamily="18" charset="0"/>
                              </a:rPr>
                              <m:t>𝑖𝑓</m:t>
                            </m:r>
                            <m:r>
                              <a:rPr lang="en-US" altLang="zh-TW" sz="2400" b="0" i="1" dirty="0" smtClean="0">
                                <a:latin typeface="Cambria Math" panose="02040503050406030204" pitchFamily="18" charset="0"/>
                              </a:rPr>
                              <m:t> </m:t>
                            </m:r>
                            <m:r>
                              <a:rPr lang="en-US" altLang="zh-TW" sz="2400" b="0" i="1" dirty="0" smtClean="0">
                                <a:latin typeface="Cambria Math" panose="02040503050406030204" pitchFamily="18" charset="0"/>
                              </a:rPr>
                              <m:t>𝐼</m:t>
                            </m:r>
                            <m:d>
                              <m:dPr>
                                <m:ctrlPr>
                                  <a:rPr lang="en-US" altLang="zh-TW" sz="2400" b="0" i="1" dirty="0" smtClean="0">
                                    <a:latin typeface="Cambria Math" panose="02040503050406030204" pitchFamily="18" charset="0"/>
                                  </a:rPr>
                                </m:ctrlPr>
                              </m:dPr>
                              <m:e>
                                <m:r>
                                  <a:rPr lang="en-US" altLang="zh-TW" sz="2400" b="0" i="1" dirty="0" smtClean="0">
                                    <a:latin typeface="Cambria Math" panose="02040503050406030204" pitchFamily="18" charset="0"/>
                                  </a:rPr>
                                  <m:t>𝑇</m:t>
                                </m:r>
                              </m:e>
                            </m:d>
                            <m:r>
                              <a:rPr lang="en-US" altLang="zh-TW" sz="2400" b="0" i="1" dirty="0" smtClean="0">
                                <a:latin typeface="Cambria Math" panose="02040503050406030204" pitchFamily="18" charset="0"/>
                                <a:ea typeface="Cambria Math" panose="02040503050406030204" pitchFamily="18" charset="0"/>
                              </a:rPr>
                              <m:t>≤</m:t>
                            </m:r>
                            <m:r>
                              <a:rPr lang="en-US" altLang="zh-TW" sz="2400" b="0" i="1" dirty="0" smtClean="0">
                                <a:latin typeface="Cambria Math" panose="02040503050406030204" pitchFamily="18" charset="0"/>
                              </a:rPr>
                              <m:t>𝐼</m:t>
                            </m:r>
                            <m:d>
                              <m:dPr>
                                <m:ctrlPr>
                                  <a:rPr lang="en-US" altLang="zh-TW" sz="2400" b="0" i="1" dirty="0" smtClean="0">
                                    <a:latin typeface="Cambria Math" panose="02040503050406030204" pitchFamily="18" charset="0"/>
                                    <a:ea typeface="Cambria Math" panose="02040503050406030204" pitchFamily="18" charset="0"/>
                                  </a:rPr>
                                </m:ctrlPr>
                              </m:dPr>
                              <m:e>
                                <m:r>
                                  <a:rPr lang="en-US" altLang="zh-TW" sz="2400" b="0" i="1" dirty="0" smtClean="0">
                                    <a:latin typeface="Cambria Math" panose="02040503050406030204" pitchFamily="18" charset="0"/>
                                    <a:ea typeface="Cambria Math" panose="02040503050406030204" pitchFamily="18" charset="0"/>
                                  </a:rPr>
                                  <m:t>0</m:t>
                                </m:r>
                              </m:e>
                            </m:d>
                            <m:r>
                              <a:rPr lang="en-US" altLang="zh-TW" sz="2400" i="1" dirty="0">
                                <a:latin typeface="Cambria Math" panose="02040503050406030204" pitchFamily="18" charset="0"/>
                                <a:ea typeface="Cambria Math" panose="02040503050406030204" pitchFamily="18" charset="0"/>
                              </a:rPr>
                              <m:t> </m:t>
                            </m:r>
                            <m:r>
                              <a:rPr lang="en-US" altLang="zh-TW" sz="2400" i="1" dirty="0">
                                <a:latin typeface="Cambria Math" panose="02040503050406030204" pitchFamily="18" charset="0"/>
                                <a:ea typeface="Cambria Math" panose="02040503050406030204" pitchFamily="18" charset="0"/>
                              </a:rPr>
                              <m:t>𝑎𝑛𝑑</m:t>
                            </m:r>
                            <m:r>
                              <a:rPr lang="en-US" altLang="zh-TW" sz="2400" b="0" i="1" dirty="0" smtClean="0">
                                <a:latin typeface="Cambria Math" panose="02040503050406030204" pitchFamily="18" charset="0"/>
                                <a:ea typeface="Cambria Math" panose="02040503050406030204" pitchFamily="18" charset="0"/>
                              </a:rPr>
                              <m:t> </m:t>
                            </m:r>
                            <m:sSubSup>
                              <m:sSubSupPr>
                                <m:ctrlPr>
                                  <a:rPr lang="en-US" altLang="zh-TW" sz="2400" i="1" dirty="0">
                                    <a:latin typeface="Cambria Math" panose="02040503050406030204" pitchFamily="18" charset="0"/>
                                    <a:ea typeface="Cambria Math" panose="02040503050406030204" pitchFamily="18" charset="0"/>
                                  </a:rPr>
                                </m:ctrlPr>
                              </m:sSubSupPr>
                              <m:e>
                                <m:r>
                                  <a:rPr lang="en-US" altLang="zh-TW" sz="2400" i="1" dirty="0">
                                    <a:latin typeface="Cambria Math" panose="02040503050406030204" pitchFamily="18" charset="0"/>
                                    <a:ea typeface="Cambria Math" panose="02040503050406030204" pitchFamily="18" charset="0"/>
                                  </a:rPr>
                                  <m:t>𝑆</m:t>
                                </m:r>
                              </m:e>
                              <m:sub>
                                <m:r>
                                  <a:rPr lang="en-US" altLang="zh-TW" sz="2400" i="1" dirty="0">
                                    <a:latin typeface="Cambria Math" panose="02040503050406030204" pitchFamily="18" charset="0"/>
                                    <a:ea typeface="Cambria Math" panose="02040503050406030204" pitchFamily="18" charset="0"/>
                                  </a:rPr>
                                  <m:t>𝑇</m:t>
                                </m:r>
                              </m:sub>
                              <m:sup>
                                <m:r>
                                  <a:rPr lang="en-US" altLang="zh-TW" sz="2400" i="1" dirty="0">
                                    <a:latin typeface="Cambria Math" panose="02040503050406030204" pitchFamily="18" charset="0"/>
                                    <a:ea typeface="Cambria Math" panose="02040503050406030204" pitchFamily="18" charset="0"/>
                                  </a:rPr>
                                  <m:t>𝑈</m:t>
                                </m:r>
                              </m:sup>
                            </m:sSubSup>
                            <m:r>
                              <a:rPr lang="en-US" altLang="zh-TW" sz="2400" i="1" dirty="0">
                                <a:latin typeface="Cambria Math" panose="02040503050406030204" pitchFamily="18" charset="0"/>
                                <a:ea typeface="Cambria Math" panose="02040503050406030204" pitchFamily="18" charset="0"/>
                              </a:rPr>
                              <m:t>≤</m:t>
                            </m:r>
                            <m:r>
                              <a:rPr lang="en-US" altLang="zh-TW" sz="2400" i="1" dirty="0">
                                <a:latin typeface="Cambria Math" panose="02040503050406030204" pitchFamily="18" charset="0"/>
                                <a:ea typeface="Cambria Math" panose="02040503050406030204" pitchFamily="18" charset="0"/>
                              </a:rPr>
                              <m:t>𝑆</m:t>
                            </m:r>
                            <m:r>
                              <a:rPr lang="en-US" altLang="zh-TW" sz="2400" i="1" dirty="0">
                                <a:latin typeface="Cambria Math" panose="02040503050406030204" pitchFamily="18" charset="0"/>
                                <a:ea typeface="Cambria Math" panose="02040503050406030204" pitchFamily="18" charset="0"/>
                              </a:rPr>
                              <m:t>(0)</m:t>
                            </m:r>
                          </m:e>
                        </m:eqArr>
                      </m:e>
                    </m:d>
                  </m:oMath>
                </a14:m>
                <a:r>
                  <a:rPr lang="en-US" altLang="zh-TW" sz="2400" dirty="0" smtClean="0"/>
                  <a:t> </a:t>
                </a:r>
                <a:endParaRPr lang="zh-TW" altLang="en-US" sz="24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625594" y="1651511"/>
                <a:ext cx="9729367" cy="1671548"/>
              </a:xfrm>
              <a:prstGeom prst="rect">
                <a:avLst/>
              </a:prstGeom>
              <a:blipFill rotWithShape="0">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3887582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1815191" y="1717719"/>
            <a:ext cx="4763602" cy="1944187"/>
          </a:xfrm>
          <a:prstGeom prst="rect">
            <a:avLst/>
          </a:pr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p:cNvSpPr/>
          <p:nvPr/>
        </p:nvSpPr>
        <p:spPr>
          <a:xfrm>
            <a:off x="6602042" y="1717719"/>
            <a:ext cx="4064307" cy="1944187"/>
          </a:xfrm>
          <a:prstGeom prst="rect">
            <a:avLst/>
          </a:prstGeom>
          <a:solidFill>
            <a:srgbClr val="51DF7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p:cNvSpPr/>
          <p:nvPr/>
        </p:nvSpPr>
        <p:spPr>
          <a:xfrm>
            <a:off x="1845116" y="3661906"/>
            <a:ext cx="7094327" cy="2419629"/>
          </a:xfrm>
          <a:prstGeom prst="rect">
            <a:avLst/>
          </a:prstGeom>
          <a:solidFill>
            <a:srgbClr val="5B9BD5">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標題 1"/>
          <p:cNvSpPr txBox="1">
            <a:spLocks/>
          </p:cNvSpPr>
          <p:nvPr/>
        </p:nvSpPr>
        <p:spPr>
          <a:xfrm>
            <a:off x="347730" y="283333"/>
            <a:ext cx="11844270" cy="79252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TW" sz="4800" dirty="0" smtClean="0">
                <a:latin typeface="微軟正黑體" panose="020B0604030504040204" pitchFamily="34" charset="-120"/>
                <a:ea typeface="微軟正黑體" panose="020B0604030504040204" pitchFamily="34" charset="-120"/>
                <a:cs typeface="Arial" pitchFamily="34" charset="0"/>
              </a:rPr>
              <a:t>SB + CC </a:t>
            </a:r>
            <a:r>
              <a:rPr lang="zh-TW" altLang="en-US" sz="4800" dirty="0" smtClean="0">
                <a:latin typeface="微軟正黑體" panose="020B0604030504040204" pitchFamily="34" charset="-120"/>
                <a:ea typeface="微軟正黑體" panose="020B0604030504040204" pitchFamily="34" charset="-120"/>
                <a:cs typeface="Arial" pitchFamily="34" charset="0"/>
              </a:rPr>
              <a:t>分析</a:t>
            </a:r>
            <a:r>
              <a:rPr lang="zh-TW" altLang="en-US" sz="4800" dirty="0">
                <a:latin typeface="微軟正黑體" panose="020B0604030504040204" pitchFamily="34" charset="-120"/>
                <a:ea typeface="微軟正黑體" panose="020B0604030504040204" pitchFamily="34" charset="-120"/>
                <a:cs typeface="Arial" pitchFamily="34" charset="0"/>
              </a:rPr>
              <a:t>圖</a:t>
            </a:r>
            <a:endParaRPr lang="zh-TW" altLang="en-US" sz="4800" dirty="0">
              <a:latin typeface="微軟正黑體" panose="020B0604030504040204" pitchFamily="34" charset="-120"/>
              <a:ea typeface="微軟正黑體" panose="020B0604030504040204" pitchFamily="34" charset="-120"/>
            </a:endParaRPr>
          </a:p>
        </p:txBody>
      </p:sp>
      <p:grpSp>
        <p:nvGrpSpPr>
          <p:cNvPr id="27" name="Group 7"/>
          <p:cNvGrpSpPr>
            <a:grpSpLocks/>
          </p:cNvGrpSpPr>
          <p:nvPr/>
        </p:nvGrpSpPr>
        <p:grpSpPr bwMode="auto">
          <a:xfrm>
            <a:off x="1748214" y="1637697"/>
            <a:ext cx="9832218" cy="4207394"/>
            <a:chOff x="1424" y="7721"/>
            <a:chExt cx="9162" cy="4652"/>
          </a:xfrm>
        </p:grpSpPr>
        <p:sp>
          <p:nvSpPr>
            <p:cNvPr id="30" name="Text Box 19"/>
            <p:cNvSpPr txBox="1">
              <a:spLocks noChangeArrowheads="1"/>
            </p:cNvSpPr>
            <p:nvPr/>
          </p:nvSpPr>
          <p:spPr bwMode="auto">
            <a:xfrm>
              <a:off x="9647" y="11594"/>
              <a:ext cx="939" cy="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TW" sz="1200" b="0" i="0" u="none" strike="noStrike" cap="none" normalizeH="0" baseline="0" smtClean="0">
                  <a:ln>
                    <a:noFill/>
                  </a:ln>
                  <a:solidFill>
                    <a:schemeClr val="tx1"/>
                  </a:solidFill>
                  <a:effectLst/>
                  <a:latin typeface="Calibri" panose="020F0502020204030204" pitchFamily="34" charset="0"/>
                  <a:ea typeface="新細明體" panose="02020500000000000000" pitchFamily="18" charset="-120"/>
                  <a:cs typeface="Times New Roman" panose="02020603050405020304" pitchFamily="18" charset="0"/>
                </a:rPr>
                <a:t>        </a:t>
              </a:r>
              <a:endParaRPr kumimoji="0" lang="en-US" altLang="zh-TW" sz="1800" b="0" i="0" u="none" strike="noStrike" cap="none" normalizeH="0" baseline="0" smtClean="0">
                <a:ln>
                  <a:noFill/>
                </a:ln>
                <a:solidFill>
                  <a:schemeClr val="tx1"/>
                </a:solidFill>
                <a:effectLst/>
                <a:latin typeface="Arial" panose="020B0604020202020204" pitchFamily="34" charset="0"/>
              </a:endParaRPr>
            </a:p>
          </p:txBody>
        </p:sp>
        <p:sp>
          <p:nvSpPr>
            <p:cNvPr id="31" name="Text Box 18"/>
            <p:cNvSpPr txBox="1">
              <a:spLocks noChangeArrowheads="1"/>
            </p:cNvSpPr>
            <p:nvPr/>
          </p:nvSpPr>
          <p:spPr bwMode="auto">
            <a:xfrm>
              <a:off x="1810" y="7721"/>
              <a:ext cx="939" cy="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TW" sz="1200" b="0" i="0" u="none" strike="noStrike" cap="none" normalizeH="0" baseline="0" smtClean="0">
                  <a:ln>
                    <a:noFill/>
                  </a:ln>
                  <a:solidFill>
                    <a:schemeClr val="tx1"/>
                  </a:solidFill>
                  <a:effectLst/>
                  <a:latin typeface="Calibri" panose="020F0502020204030204" pitchFamily="34" charset="0"/>
                  <a:ea typeface="新細明體" panose="02020500000000000000" pitchFamily="18" charset="-120"/>
                  <a:cs typeface="Times New Roman" panose="02020603050405020304" pitchFamily="18" charset="0"/>
                </a:rPr>
                <a:t>      </a:t>
              </a:r>
              <a:endParaRPr kumimoji="0" lang="en-US" altLang="zh-TW" sz="1800" b="0" i="0" u="none" strike="noStrike" cap="none" normalizeH="0" baseline="0" smtClean="0">
                <a:ln>
                  <a:noFill/>
                </a:ln>
                <a:solidFill>
                  <a:schemeClr val="tx1"/>
                </a:solidFill>
                <a:effectLst/>
                <a:latin typeface="Arial" panose="020B0604020202020204" pitchFamily="34" charset="0"/>
              </a:endParaRPr>
            </a:p>
          </p:txBody>
        </p:sp>
        <p:sp>
          <p:nvSpPr>
            <p:cNvPr id="32" name="Text Box 17"/>
            <p:cNvSpPr txBox="1">
              <a:spLocks noChangeArrowheads="1"/>
            </p:cNvSpPr>
            <p:nvPr/>
          </p:nvSpPr>
          <p:spPr bwMode="auto">
            <a:xfrm>
              <a:off x="1424" y="10257"/>
              <a:ext cx="1819" cy="2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破 產 </a:t>
              </a:r>
              <a:endParaRPr kumimoji="0" lang="zh-TW" sz="20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800" dirty="0" smtClean="0">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2800" dirty="0" smtClean="0">
                  <a:latin typeface="微軟正黑體" panose="020B0604030504040204" pitchFamily="34" charset="-120"/>
                  <a:ea typeface="微軟正黑體" panose="020B0604030504040204" pitchFamily="34" charset="-120"/>
                  <a:cs typeface="Times New Roman" panose="02020603050405020304" pitchFamily="18" charset="0"/>
                </a:rPr>
                <a:t>已轉換</a:t>
              </a:r>
              <a:endParaRPr kumimoji="0" lang="zh-TW" sz="20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SB</a:t>
              </a:r>
              <a:r>
                <a:rPr kumimoji="0" lang="zh-TW" altLang="en-US"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拿部分</a:t>
              </a:r>
              <a:endParaRPr kumimoji="0" lang="zh-TW" altLang="en-US" sz="20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36" name="Text Box 11"/>
            <p:cNvSpPr txBox="1">
              <a:spLocks noChangeArrowheads="1"/>
            </p:cNvSpPr>
            <p:nvPr/>
          </p:nvSpPr>
          <p:spPr bwMode="auto">
            <a:xfrm>
              <a:off x="3000" y="10004"/>
              <a:ext cx="1819" cy="2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破 產 </a:t>
              </a:r>
              <a:endPar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rPr>
                <a:t>CC</a:t>
              </a:r>
              <a:r>
                <a:rPr kumimoji="0" lang="zh-TW" altLang="en-US"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rPr>
                <a:t>已轉換</a:t>
              </a:r>
              <a:endPar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SB</a:t>
              </a:r>
              <a:r>
                <a:rPr kumimoji="0" lang="zh-TW" altLang="en-US"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拿全部</a:t>
              </a:r>
              <a:endParaRPr kumimoji="0" lang="en-US" alt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800" dirty="0" smtClean="0">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2800" dirty="0" smtClean="0">
                  <a:latin typeface="微軟正黑體" panose="020B0604030504040204" pitchFamily="34" charset="-120"/>
                  <a:ea typeface="微軟正黑體" panose="020B0604030504040204" pitchFamily="34" charset="-120"/>
                  <a:cs typeface="Times New Roman" panose="02020603050405020304" pitchFamily="18" charset="0"/>
                </a:rPr>
                <a:t>拿部分</a:t>
              </a:r>
              <a:endParaRPr kumimoji="0" lang="zh-TW" altLang="en-US"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grpSp>
      <p:graphicFrame>
        <p:nvGraphicFramePr>
          <p:cNvPr id="46" name="物件 45"/>
          <p:cNvGraphicFramePr>
            <a:graphicFrameLocks noChangeAspect="1"/>
          </p:cNvGraphicFramePr>
          <p:nvPr>
            <p:extLst/>
          </p:nvPr>
        </p:nvGraphicFramePr>
        <p:xfrm>
          <a:off x="9967548" y="6218980"/>
          <a:ext cx="603618" cy="348757"/>
        </p:xfrm>
        <a:graphic>
          <a:graphicData uri="http://schemas.openxmlformats.org/presentationml/2006/ole">
            <mc:AlternateContent xmlns:mc="http://schemas.openxmlformats.org/markup-compatibility/2006">
              <mc:Choice xmlns:v="urn:schemas-microsoft-com:vml" Requires="v">
                <p:oleObj spid="_x0000_s12343" r:id="rId3" imgW="355292" imgH="203024" progId="Equation.DSMT4">
                  <p:embed/>
                </p:oleObj>
              </mc:Choice>
              <mc:Fallback>
                <p:oleObj r:id="rId3" imgW="355292" imgH="203024"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67548" y="6218980"/>
                        <a:ext cx="603618" cy="348757"/>
                      </a:xfrm>
                      <a:prstGeom prst="rect">
                        <a:avLst/>
                      </a:prstGeom>
                      <a:noFill/>
                    </p:spPr>
                  </p:pic>
                </p:oleObj>
              </mc:Fallback>
            </mc:AlternateContent>
          </a:graphicData>
        </a:graphic>
      </p:graphicFrame>
      <p:sp>
        <p:nvSpPr>
          <p:cNvPr id="49" name="Rectangle 29"/>
          <p:cNvSpPr>
            <a:spLocks noChangeArrowheads="1"/>
          </p:cNvSpPr>
          <p:nvPr/>
        </p:nvSpPr>
        <p:spPr bwMode="auto">
          <a:xfrm>
            <a:off x="1210615" y="153305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mc:AlternateContent xmlns:mc="http://schemas.openxmlformats.org/markup-compatibility/2006" xmlns:a14="http://schemas.microsoft.com/office/drawing/2010/main">
        <mc:Choice Requires="a14">
          <p:sp>
            <p:nvSpPr>
              <p:cNvPr id="50" name="文字方塊 49"/>
              <p:cNvSpPr txBox="1"/>
              <p:nvPr/>
            </p:nvSpPr>
            <p:spPr>
              <a:xfrm>
                <a:off x="1007839" y="1038547"/>
                <a:ext cx="272331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TW" b="0" i="1" smtClean="0">
                              <a:solidFill>
                                <a:srgbClr val="00B0F0"/>
                              </a:solidFill>
                              <a:latin typeface="Cambria Math" panose="02040503050406030204" pitchFamily="18" charset="0"/>
                            </a:rPr>
                          </m:ctrlPr>
                        </m:dPr>
                        <m:e>
                          <m:r>
                            <a:rPr lang="en-US" altLang="zh-TW" b="0" i="1" smtClean="0">
                              <a:solidFill>
                                <a:srgbClr val="00B0F0"/>
                              </a:solidFill>
                              <a:latin typeface="Cambria Math" panose="02040503050406030204" pitchFamily="18" charset="0"/>
                            </a:rPr>
                            <m:t>1−</m:t>
                          </m:r>
                          <m:r>
                            <a:rPr lang="zh-TW" altLang="en-US" b="0" i="1" smtClean="0">
                              <a:solidFill>
                                <a:srgbClr val="00B0F0"/>
                              </a:solidFill>
                              <a:latin typeface="Cambria Math" panose="02040503050406030204" pitchFamily="18" charset="0"/>
                            </a:rPr>
                            <m:t>𝛼</m:t>
                          </m:r>
                        </m:e>
                      </m:d>
                      <m:r>
                        <a:rPr lang="en-US" altLang="zh-TW" b="0" i="1" smtClean="0">
                          <a:solidFill>
                            <a:srgbClr val="00B0F0"/>
                          </a:solidFill>
                          <a:latin typeface="Cambria Math" panose="02040503050406030204" pitchFamily="18" charset="0"/>
                        </a:rPr>
                        <m:t>𝑉</m:t>
                      </m:r>
                      <m:d>
                        <m:dPr>
                          <m:ctrlPr>
                            <a:rPr lang="en-US" altLang="zh-TW" b="0" i="1" smtClean="0">
                              <a:solidFill>
                                <a:srgbClr val="00B0F0"/>
                              </a:solidFill>
                              <a:latin typeface="Cambria Math" panose="02040503050406030204" pitchFamily="18" charset="0"/>
                            </a:rPr>
                          </m:ctrlPr>
                        </m:dPr>
                        <m:e>
                          <m:r>
                            <a:rPr lang="en-US" altLang="zh-TW" b="0" i="1" smtClean="0">
                              <a:solidFill>
                                <a:srgbClr val="00B0F0"/>
                              </a:solidFill>
                              <a:latin typeface="Cambria Math" panose="02040503050406030204" pitchFamily="18" charset="0"/>
                            </a:rPr>
                            <m:t>𝑇</m:t>
                          </m:r>
                        </m:e>
                      </m:d>
                      <m:r>
                        <a:rPr lang="en-US" altLang="zh-TW" b="0" i="1" smtClean="0">
                          <a:solidFill>
                            <a:srgbClr val="00B0F0"/>
                          </a:solidFill>
                          <a:latin typeface="Cambria Math" panose="02040503050406030204" pitchFamily="18" charset="0"/>
                        </a:rPr>
                        <m:t>=</m:t>
                      </m:r>
                      <m:sSub>
                        <m:sSubPr>
                          <m:ctrlPr>
                            <a:rPr lang="en-US" altLang="zh-TW" i="1" smtClean="0">
                              <a:solidFill>
                                <a:srgbClr val="00B0F0"/>
                              </a:solidFill>
                              <a:latin typeface="Cambria Math" panose="02040503050406030204" pitchFamily="18" charset="0"/>
                            </a:rPr>
                          </m:ctrlPr>
                        </m:sSubPr>
                        <m:e>
                          <m:r>
                            <a:rPr lang="en-US" altLang="zh-TW" i="1">
                              <a:solidFill>
                                <a:srgbClr val="00B0F0"/>
                              </a:solidFill>
                              <a:latin typeface="Cambria Math"/>
                            </a:rPr>
                            <m:t>𝐷</m:t>
                          </m:r>
                        </m:e>
                        <m:sub>
                          <m:r>
                            <a:rPr lang="en-US" altLang="zh-TW" i="1">
                              <a:solidFill>
                                <a:srgbClr val="00B0F0"/>
                              </a:solidFill>
                              <a:latin typeface="Cambria Math"/>
                            </a:rPr>
                            <m:t>1</m:t>
                          </m:r>
                        </m:sub>
                      </m:sSub>
                      <m:r>
                        <a:rPr lang="en-US" altLang="zh-TW" i="1">
                          <a:solidFill>
                            <a:srgbClr val="00B0F0"/>
                          </a:solidFill>
                          <a:latin typeface="Cambria Math"/>
                        </a:rPr>
                        <m:t>+</m:t>
                      </m:r>
                      <m:sSub>
                        <m:sSubPr>
                          <m:ctrlPr>
                            <a:rPr lang="en-US" altLang="zh-TW" i="1">
                              <a:solidFill>
                                <a:srgbClr val="00B0F0"/>
                              </a:solidFill>
                              <a:latin typeface="Cambria Math" panose="02040503050406030204" pitchFamily="18" charset="0"/>
                            </a:rPr>
                          </m:ctrlPr>
                        </m:sSubPr>
                        <m:e>
                          <m:r>
                            <a:rPr lang="en-US" altLang="zh-TW" i="1">
                              <a:solidFill>
                                <a:srgbClr val="00B0F0"/>
                              </a:solidFill>
                              <a:latin typeface="Cambria Math"/>
                            </a:rPr>
                            <m:t>𝐶</m:t>
                          </m:r>
                        </m:e>
                        <m:sub>
                          <m:r>
                            <a:rPr lang="en-US" altLang="zh-TW" i="1">
                              <a:solidFill>
                                <a:srgbClr val="00B0F0"/>
                              </a:solidFill>
                              <a:latin typeface="Cambria Math"/>
                            </a:rPr>
                            <m:t>1</m:t>
                          </m:r>
                        </m:sub>
                      </m:sSub>
                      <m:sSub>
                        <m:sSubPr>
                          <m:ctrlPr>
                            <a:rPr lang="en-US" altLang="zh-TW" i="1">
                              <a:solidFill>
                                <a:srgbClr val="00B0F0"/>
                              </a:solidFill>
                              <a:latin typeface="Cambria Math" panose="02040503050406030204" pitchFamily="18" charset="0"/>
                            </a:rPr>
                          </m:ctrlPr>
                        </m:sSubPr>
                        <m:e>
                          <m:r>
                            <a:rPr lang="en-US" altLang="zh-TW" i="1">
                              <a:solidFill>
                                <a:srgbClr val="00B0F0"/>
                              </a:solidFill>
                              <a:latin typeface="Cambria Math"/>
                            </a:rPr>
                            <m:t>𝐷</m:t>
                          </m:r>
                        </m:e>
                        <m:sub>
                          <m:r>
                            <a:rPr lang="en-US" altLang="zh-TW" i="1">
                              <a:solidFill>
                                <a:srgbClr val="00B0F0"/>
                              </a:solidFill>
                              <a:latin typeface="Cambria Math"/>
                            </a:rPr>
                            <m:t>1</m:t>
                          </m:r>
                        </m:sub>
                      </m:sSub>
                      <m:r>
                        <a:rPr lang="en-US" altLang="zh-TW" i="1">
                          <a:solidFill>
                            <a:srgbClr val="00B0F0"/>
                          </a:solidFill>
                          <a:latin typeface="Cambria Math"/>
                        </a:rPr>
                        <m:t>𝑇</m:t>
                      </m:r>
                    </m:oMath>
                  </m:oMathPara>
                </a14:m>
                <a:endParaRPr lang="zh-TW" altLang="en-US" dirty="0">
                  <a:solidFill>
                    <a:srgbClr val="00B0F0"/>
                  </a:solidFill>
                </a:endParaRPr>
              </a:p>
            </p:txBody>
          </p:sp>
        </mc:Choice>
        <mc:Fallback xmlns="">
          <p:sp>
            <p:nvSpPr>
              <p:cNvPr id="50" name="文字方塊 49"/>
              <p:cNvSpPr txBox="1">
                <a:spLocks noRot="1" noChangeAspect="1" noMove="1" noResize="1" noEditPoints="1" noAdjustHandles="1" noChangeArrowheads="1" noChangeShapeType="1" noTextEdit="1"/>
              </p:cNvSpPr>
              <p:nvPr/>
            </p:nvSpPr>
            <p:spPr>
              <a:xfrm>
                <a:off x="1007839" y="1038547"/>
                <a:ext cx="2723310" cy="276999"/>
              </a:xfrm>
              <a:prstGeom prst="rect">
                <a:avLst/>
              </a:prstGeom>
              <a:blipFill rotWithShape="0">
                <a:blip r:embed="rId5"/>
                <a:stretch>
                  <a:fillRect r="-1566" b="-1521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文字方塊 51"/>
              <p:cNvSpPr txBox="1"/>
              <p:nvPr/>
            </p:nvSpPr>
            <p:spPr>
              <a:xfrm>
                <a:off x="6043395" y="1267815"/>
                <a:ext cx="518160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𝑉</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𝑇</m:t>
                          </m:r>
                        </m:e>
                      </m:d>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a:rPr>
                            <m:t>𝐷</m:t>
                          </m:r>
                        </m:e>
                        <m:sub>
                          <m:r>
                            <a:rPr lang="en-US" altLang="zh-TW" i="1">
                              <a:latin typeface="Cambria Math"/>
                            </a:rPr>
                            <m:t>1</m:t>
                          </m:r>
                        </m:sub>
                      </m:sSub>
                      <m:r>
                        <a:rPr lang="en-US" altLang="zh-TW" i="1">
                          <a:latin typeface="Cambria Math"/>
                        </a:rPr>
                        <m:t>+</m:t>
                      </m:r>
                      <m:sSub>
                        <m:sSubPr>
                          <m:ctrlPr>
                            <a:rPr lang="en-US" altLang="zh-TW" i="1">
                              <a:latin typeface="Cambria Math" panose="02040503050406030204" pitchFamily="18" charset="0"/>
                            </a:rPr>
                          </m:ctrlPr>
                        </m:sSubPr>
                        <m:e>
                          <m:r>
                            <a:rPr lang="en-US" altLang="zh-TW" i="1">
                              <a:latin typeface="Cambria Math"/>
                            </a:rPr>
                            <m:t>𝐷</m:t>
                          </m:r>
                        </m:e>
                        <m:sub>
                          <m:r>
                            <a:rPr lang="en-US" altLang="zh-TW" i="1">
                              <a:latin typeface="Cambria Math"/>
                            </a:rPr>
                            <m:t>2</m:t>
                          </m:r>
                        </m:sub>
                      </m:sSub>
                      <m:r>
                        <a:rPr lang="en-US" altLang="zh-TW" i="1">
                          <a:latin typeface="Cambria Math" panose="02040503050406030204" pitchFamily="18" charset="0"/>
                        </a:rPr>
                        <m:t>+(1−</m:t>
                      </m:r>
                      <m:r>
                        <a:rPr lang="en-US" altLang="zh-TW" i="1">
                          <a:latin typeface="Cambria Math" panose="02040503050406030204" pitchFamily="18" charset="0"/>
                        </a:rPr>
                        <m:t>𝑡𝑎𝑥</m:t>
                      </m:r>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a:rPr>
                            <m:t>𝐶</m:t>
                          </m:r>
                        </m:e>
                        <m:sub>
                          <m:r>
                            <a:rPr lang="en-US" altLang="zh-TW" i="1">
                              <a:latin typeface="Cambria Math"/>
                            </a:rPr>
                            <m:t>1</m:t>
                          </m:r>
                        </m:sub>
                      </m:sSub>
                      <m:sSub>
                        <m:sSubPr>
                          <m:ctrlPr>
                            <a:rPr lang="en-US" altLang="zh-TW" i="1">
                              <a:latin typeface="Cambria Math" panose="02040503050406030204" pitchFamily="18" charset="0"/>
                            </a:rPr>
                          </m:ctrlPr>
                        </m:sSubPr>
                        <m:e>
                          <m:r>
                            <a:rPr lang="en-US" altLang="zh-TW" i="1">
                              <a:latin typeface="Cambria Math"/>
                            </a:rPr>
                            <m:t>𝐷</m:t>
                          </m:r>
                        </m:e>
                        <m:sub>
                          <m:r>
                            <a:rPr lang="en-US" altLang="zh-TW" i="1">
                              <a:latin typeface="Cambria Math"/>
                            </a:rPr>
                            <m:t>1</m:t>
                          </m:r>
                        </m:sub>
                      </m:sSub>
                      <m:r>
                        <a:rPr lang="en-US" altLang="zh-TW" i="1">
                          <a:latin typeface="Cambria Math"/>
                        </a:rPr>
                        <m:t>𝑇</m:t>
                      </m:r>
                      <m:r>
                        <a:rPr lang="en-US" altLang="zh-TW" i="1">
                          <a:latin typeface="Cambria Math"/>
                        </a:rPr>
                        <m:t>+</m:t>
                      </m:r>
                      <m:sSub>
                        <m:sSubPr>
                          <m:ctrlPr>
                            <a:rPr lang="en-US" altLang="zh-TW" i="1">
                              <a:latin typeface="Cambria Math" panose="02040503050406030204" pitchFamily="18" charset="0"/>
                            </a:rPr>
                          </m:ctrlPr>
                        </m:sSubPr>
                        <m:e>
                          <m:r>
                            <a:rPr lang="en-US" altLang="zh-TW" i="1">
                              <a:latin typeface="Cambria Math"/>
                            </a:rPr>
                            <m:t>𝐶</m:t>
                          </m:r>
                        </m:e>
                        <m:sub>
                          <m:r>
                            <a:rPr lang="en-US" altLang="zh-TW" i="1">
                              <a:latin typeface="Cambria Math"/>
                            </a:rPr>
                            <m:t>2</m:t>
                          </m:r>
                        </m:sub>
                      </m:sSub>
                      <m:sSub>
                        <m:sSubPr>
                          <m:ctrlPr>
                            <a:rPr lang="en-US" altLang="zh-TW" i="1">
                              <a:latin typeface="Cambria Math" panose="02040503050406030204" pitchFamily="18" charset="0"/>
                            </a:rPr>
                          </m:ctrlPr>
                        </m:sSubPr>
                        <m:e>
                          <m:r>
                            <a:rPr lang="en-US" altLang="zh-TW" i="1">
                              <a:latin typeface="Cambria Math"/>
                            </a:rPr>
                            <m:t>𝐷</m:t>
                          </m:r>
                        </m:e>
                        <m:sub>
                          <m:r>
                            <a:rPr lang="en-US" altLang="zh-TW" i="1">
                              <a:latin typeface="Cambria Math"/>
                            </a:rPr>
                            <m:t>2</m:t>
                          </m:r>
                        </m:sub>
                      </m:sSub>
                      <m:r>
                        <a:rPr lang="en-US" altLang="zh-TW" i="1">
                          <a:latin typeface="Cambria Math"/>
                        </a:rPr>
                        <m:t>𝑇</m:t>
                      </m:r>
                      <m:r>
                        <a:rPr lang="en-US" altLang="zh-TW" i="1">
                          <a:latin typeface="Cambria Math" panose="02040503050406030204" pitchFamily="18" charset="0"/>
                        </a:rPr>
                        <m:t>)</m:t>
                      </m:r>
                    </m:oMath>
                  </m:oMathPara>
                </a14:m>
                <a:endParaRPr lang="zh-TW" altLang="en-US" dirty="0"/>
              </a:p>
            </p:txBody>
          </p:sp>
        </mc:Choice>
        <mc:Fallback xmlns="">
          <p:sp>
            <p:nvSpPr>
              <p:cNvPr id="52" name="文字方塊 51"/>
              <p:cNvSpPr txBox="1">
                <a:spLocks noRot="1" noChangeAspect="1" noMove="1" noResize="1" noEditPoints="1" noAdjustHandles="1" noChangeArrowheads="1" noChangeShapeType="1" noTextEdit="1"/>
              </p:cNvSpPr>
              <p:nvPr/>
            </p:nvSpPr>
            <p:spPr>
              <a:xfrm>
                <a:off x="6043395" y="1267815"/>
                <a:ext cx="5181600" cy="276999"/>
              </a:xfrm>
              <a:prstGeom prst="rect">
                <a:avLst/>
              </a:prstGeom>
              <a:blipFill rotWithShape="0">
                <a:blip r:embed="rId6"/>
                <a:stretch>
                  <a:fillRect t="-2222" b="-355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文字方塊 52"/>
              <p:cNvSpPr txBox="1"/>
              <p:nvPr/>
            </p:nvSpPr>
            <p:spPr>
              <a:xfrm>
                <a:off x="432009" y="3486440"/>
                <a:ext cx="12003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accent6"/>
                          </a:solidFill>
                          <a:latin typeface="Cambria Math" panose="02040503050406030204" pitchFamily="18" charset="0"/>
                        </a:rPr>
                        <m:t>𝐼</m:t>
                      </m:r>
                      <m:d>
                        <m:dPr>
                          <m:ctrlPr>
                            <a:rPr lang="en-US" altLang="zh-TW" b="0" i="1" smtClean="0">
                              <a:solidFill>
                                <a:schemeClr val="accent6"/>
                              </a:solidFill>
                              <a:latin typeface="Cambria Math" panose="02040503050406030204" pitchFamily="18" charset="0"/>
                            </a:rPr>
                          </m:ctrlPr>
                        </m:dPr>
                        <m:e>
                          <m:r>
                            <a:rPr lang="en-US" altLang="zh-TW" b="0" i="1" smtClean="0">
                              <a:solidFill>
                                <a:schemeClr val="accent6"/>
                              </a:solidFill>
                              <a:latin typeface="Cambria Math" panose="02040503050406030204" pitchFamily="18" charset="0"/>
                            </a:rPr>
                            <m:t>𝑇</m:t>
                          </m:r>
                        </m:e>
                      </m:d>
                      <m:r>
                        <a:rPr lang="en-US" altLang="zh-TW" b="0" i="1" smtClean="0">
                          <a:solidFill>
                            <a:schemeClr val="accent6"/>
                          </a:solidFill>
                          <a:latin typeface="Cambria Math" panose="02040503050406030204" pitchFamily="18" charset="0"/>
                        </a:rPr>
                        <m:t>=</m:t>
                      </m:r>
                      <m:r>
                        <a:rPr lang="en-US" altLang="zh-TW" b="0" i="1" smtClean="0">
                          <a:solidFill>
                            <a:schemeClr val="accent6"/>
                          </a:solidFill>
                          <a:latin typeface="Cambria Math" panose="02040503050406030204" pitchFamily="18" charset="0"/>
                        </a:rPr>
                        <m:t>𝐼</m:t>
                      </m:r>
                      <m:r>
                        <a:rPr lang="en-US" altLang="zh-TW" b="0" i="1" smtClean="0">
                          <a:solidFill>
                            <a:schemeClr val="accent6"/>
                          </a:solidFill>
                          <a:latin typeface="Cambria Math" panose="02040503050406030204" pitchFamily="18" charset="0"/>
                        </a:rPr>
                        <m:t>(0)</m:t>
                      </m:r>
                    </m:oMath>
                  </m:oMathPara>
                </a14:m>
                <a:endParaRPr lang="zh-TW" altLang="en-US" dirty="0">
                  <a:solidFill>
                    <a:schemeClr val="accent6"/>
                  </a:solidFill>
                </a:endParaRPr>
              </a:p>
            </p:txBody>
          </p:sp>
        </mc:Choice>
        <mc:Fallback xmlns="">
          <p:sp>
            <p:nvSpPr>
              <p:cNvPr id="53" name="文字方塊 52"/>
              <p:cNvSpPr txBox="1">
                <a:spLocks noRot="1" noChangeAspect="1" noMove="1" noResize="1" noEditPoints="1" noAdjustHandles="1" noChangeArrowheads="1" noChangeShapeType="1" noTextEdit="1"/>
              </p:cNvSpPr>
              <p:nvPr/>
            </p:nvSpPr>
            <p:spPr>
              <a:xfrm>
                <a:off x="432009" y="3486440"/>
                <a:ext cx="1200329" cy="276999"/>
              </a:xfrm>
              <a:prstGeom prst="rect">
                <a:avLst/>
              </a:prstGeom>
              <a:blipFill rotWithShape="0">
                <a:blip r:embed="rId7"/>
                <a:stretch>
                  <a:fillRect l="-4569" t="-2222" r="-7107" b="-355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896015" y="1348387"/>
                <a:ext cx="795205"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rPr>
                        <m:t>𝐼</m:t>
                      </m:r>
                      <m:r>
                        <a:rPr lang="en-US" altLang="zh-TW" i="1">
                          <a:latin typeface="Cambria Math" panose="02040503050406030204" pitchFamily="18" charset="0"/>
                        </a:rPr>
                        <m:t>(</m:t>
                      </m:r>
                      <m:r>
                        <a:rPr lang="en-US" altLang="zh-TW" i="1">
                          <a:latin typeface="Cambria Math" panose="02040503050406030204" pitchFamily="18" charset="0"/>
                        </a:rPr>
                        <m:t>𝑇</m:t>
                      </m:r>
                      <m:r>
                        <a:rPr lang="en-US" altLang="zh-TW" i="1">
                          <a:latin typeface="Cambria Math" panose="02040503050406030204" pitchFamily="18" charset="0"/>
                        </a:rPr>
                        <m:t>)</m:t>
                      </m:r>
                    </m:oMath>
                  </m:oMathPara>
                </a14:m>
                <a:endParaRPr lang="zh-TW" altLang="en-US" dirty="0"/>
              </a:p>
            </p:txBody>
          </p:sp>
        </mc:Choice>
        <mc:Fallback xmlns="">
          <p:sp>
            <p:nvSpPr>
              <p:cNvPr id="2" name="矩形 1"/>
              <p:cNvSpPr>
                <a:spLocks noRot="1" noChangeAspect="1" noMove="1" noResize="1" noEditPoints="1" noAdjustHandles="1" noChangeArrowheads="1" noChangeShapeType="1" noTextEdit="1"/>
              </p:cNvSpPr>
              <p:nvPr/>
            </p:nvSpPr>
            <p:spPr>
              <a:xfrm>
                <a:off x="896015" y="1348387"/>
                <a:ext cx="795205" cy="369332"/>
              </a:xfrm>
              <a:prstGeom prst="rect">
                <a:avLst/>
              </a:prstGeom>
              <a:blipFill rotWithShape="0">
                <a:blip r:embed="rId8"/>
                <a:stretch>
                  <a:fillRect b="-13115"/>
                </a:stretch>
              </a:blipFill>
            </p:spPr>
            <p:txBody>
              <a:bodyPr/>
              <a:lstStyle/>
              <a:p>
                <a:r>
                  <a:rPr lang="zh-TW" altLang="en-US">
                    <a:noFill/>
                  </a:rPr>
                  <a:t> </a:t>
                </a:r>
              </a:p>
            </p:txBody>
          </p:sp>
        </mc:Fallback>
      </mc:AlternateContent>
      <p:sp>
        <p:nvSpPr>
          <p:cNvPr id="34" name="Text Box 9"/>
          <p:cNvSpPr txBox="1">
            <a:spLocks noChangeArrowheads="1"/>
          </p:cNvSpPr>
          <p:nvPr/>
        </p:nvSpPr>
        <p:spPr bwMode="auto">
          <a:xfrm>
            <a:off x="1686272" y="1748138"/>
            <a:ext cx="1952063"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2400" dirty="0" smtClean="0">
                <a:latin typeface="微軟正黑體" panose="020B0604030504040204" pitchFamily="34" charset="-120"/>
                <a:ea typeface="微軟正黑體" panose="020B0604030504040204" pitchFamily="34" charset="-120"/>
                <a:cs typeface="Times New Roman" panose="02020603050405020304" pitchFamily="18" charset="0"/>
              </a:rPr>
              <a:t>破</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產</a:t>
            </a:r>
            <a:endPar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400" dirty="0" smtClean="0">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2400" dirty="0" smtClean="0">
                <a:latin typeface="微軟正黑體" panose="020B0604030504040204" pitchFamily="34" charset="-120"/>
                <a:ea typeface="微軟正黑體" panose="020B0604030504040204" pitchFamily="34" charset="-120"/>
                <a:cs typeface="Times New Roman" panose="02020603050405020304" pitchFamily="18" charset="0"/>
              </a:rPr>
              <a:t>未轉換</a:t>
            </a:r>
            <a:endPar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400" dirty="0" smtClean="0">
                <a:latin typeface="微軟正黑體" panose="020B0604030504040204" pitchFamily="34" charset="-120"/>
                <a:ea typeface="微軟正黑體" panose="020B0604030504040204" pitchFamily="34" charset="-120"/>
                <a:cs typeface="Times New Roman" panose="02020603050405020304" pitchFamily="18" charset="0"/>
              </a:rPr>
              <a:t>SB</a:t>
            </a:r>
            <a:r>
              <a:rPr lang="zh-TW" altLang="en-US" sz="2400" dirty="0" smtClean="0">
                <a:latin typeface="微軟正黑體" panose="020B0604030504040204" pitchFamily="34" charset="-120"/>
                <a:ea typeface="微軟正黑體" panose="020B0604030504040204" pitchFamily="34" charset="-120"/>
                <a:cs typeface="Times New Roman" panose="02020603050405020304" pitchFamily="18" charset="0"/>
              </a:rPr>
              <a:t>拿部分</a:t>
            </a:r>
            <a:endParaRPr lang="en-US" altLang="zh-TW" sz="2400" dirty="0" smtClean="0">
              <a:latin typeface="微軟正黑體" panose="020B0604030504040204" pitchFamily="34" charset="-120"/>
              <a:ea typeface="微軟正黑體" panose="020B0604030504040204" pitchFamily="34"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7" name="文字方塊 46"/>
              <p:cNvSpPr txBox="1"/>
              <p:nvPr/>
            </p:nvSpPr>
            <p:spPr>
              <a:xfrm>
                <a:off x="3426253" y="6134199"/>
                <a:ext cx="6062237" cy="567528"/>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b="0" i="1" smtClean="0">
                          <a:solidFill>
                            <a:srgbClr val="FF0000"/>
                          </a:solidFill>
                          <a:latin typeface="Cambria Math" panose="02040503050406030204" pitchFamily="18" charset="0"/>
                        </a:rPr>
                        <m:t>𝑉</m:t>
                      </m:r>
                      <m:r>
                        <a:rPr lang="en-US" altLang="zh-TW" b="0" i="1" smtClean="0">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rPr>
                        <m:t>𝑇</m:t>
                      </m:r>
                      <m:r>
                        <a:rPr lang="en-US" altLang="zh-TW" b="0" i="1" smtClean="0">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rPr>
                        <m:t>𝑉</m:t>
                      </m:r>
                      <m:r>
                        <a:rPr lang="en-US" altLang="zh-TW" i="1">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rPr>
                        <m:t>=</m:t>
                      </m:r>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𝐷</m:t>
                          </m:r>
                        </m:e>
                        <m:sub>
                          <m:r>
                            <a:rPr lang="en-US" altLang="zh-TW" i="1">
                              <a:solidFill>
                                <a:srgbClr val="FF0000"/>
                              </a:solidFill>
                              <a:latin typeface="Cambria Math"/>
                            </a:rPr>
                            <m:t>1</m:t>
                          </m:r>
                        </m:sub>
                      </m:sSub>
                      <m:r>
                        <a:rPr lang="en-US" altLang="zh-TW" i="1">
                          <a:solidFill>
                            <a:srgbClr val="FF0000"/>
                          </a:solidFill>
                          <a:latin typeface="Cambria Math"/>
                        </a:rPr>
                        <m:t>+</m:t>
                      </m:r>
                      <m:r>
                        <a:rPr lang="en-US" altLang="zh-TW" i="1">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rPr>
                        <m:t>1+</m:t>
                      </m:r>
                      <m:f>
                        <m:fPr>
                          <m:ctrlPr>
                            <a:rPr lang="en-US" altLang="zh-TW" i="1">
                              <a:solidFill>
                                <a:srgbClr val="FF0000"/>
                              </a:solidFill>
                              <a:latin typeface="Cambria Math" panose="02040503050406030204" pitchFamily="18" charset="0"/>
                            </a:rPr>
                          </m:ctrlPr>
                        </m:fPr>
                        <m:num>
                          <m:r>
                            <a:rPr lang="en-US" altLang="zh-TW" i="1" dirty="0">
                              <a:solidFill>
                                <a:srgbClr val="FF0000"/>
                              </a:solidFill>
                              <a:latin typeface="Cambria Math" panose="02040503050406030204" pitchFamily="18" charset="0"/>
                              <a:ea typeface="微軟正黑體" panose="020B0604030504040204" pitchFamily="34" charset="-120"/>
                            </a:rPr>
                            <m:t>𝑂</m:t>
                          </m:r>
                        </m:num>
                        <m:den>
                          <m:sSub>
                            <m:sSubPr>
                              <m:ctrlPr>
                                <a:rPr lang="en-US" altLang="zh-TW" i="1" dirty="0">
                                  <a:solidFill>
                                    <a:srgbClr val="FF0000"/>
                                  </a:solidFill>
                                  <a:latin typeface="Cambria Math" panose="02040503050406030204" pitchFamily="18" charset="0"/>
                                  <a:ea typeface="微軟正黑體" panose="020B0604030504040204" pitchFamily="34" charset="-120"/>
                                </a:rPr>
                              </m:ctrlPr>
                            </m:sSubPr>
                            <m:e>
                              <m:r>
                                <a:rPr lang="en-US" altLang="zh-TW" i="1" dirty="0">
                                  <a:solidFill>
                                    <a:srgbClr val="FF0000"/>
                                  </a:solidFill>
                                  <a:latin typeface="Cambria Math" panose="02040503050406030204" pitchFamily="18" charset="0"/>
                                  <a:ea typeface="微軟正黑體" panose="020B0604030504040204" pitchFamily="34" charset="-120"/>
                                </a:rPr>
                                <m:t>𝑂</m:t>
                              </m:r>
                            </m:e>
                            <m:sub>
                              <m:r>
                                <a:rPr lang="en-US" altLang="zh-TW" i="1" dirty="0">
                                  <a:solidFill>
                                    <a:srgbClr val="FF0000"/>
                                  </a:solidFill>
                                  <a:latin typeface="Cambria Math" panose="02040503050406030204" pitchFamily="18" charset="0"/>
                                  <a:ea typeface="微軟正黑體" panose="020B0604030504040204" pitchFamily="34" charset="-120"/>
                                </a:rPr>
                                <m:t>𝐶𝐶</m:t>
                              </m:r>
                            </m:sub>
                          </m:sSub>
                        </m:den>
                      </m:f>
                      <m:r>
                        <a:rPr lang="en-US" altLang="zh-TW" i="1">
                          <a:solidFill>
                            <a:srgbClr val="FF0000"/>
                          </a:solidFill>
                          <a:latin typeface="Cambria Math" panose="02040503050406030204" pitchFamily="18" charset="0"/>
                        </a:rPr>
                        <m:t>)</m:t>
                      </m:r>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𝐷</m:t>
                          </m:r>
                        </m:e>
                        <m:sub>
                          <m:r>
                            <a:rPr lang="en-US" altLang="zh-TW" i="1">
                              <a:solidFill>
                                <a:srgbClr val="FF0000"/>
                              </a:solidFill>
                              <a:latin typeface="Cambria Math"/>
                            </a:rPr>
                            <m:t>2</m:t>
                          </m:r>
                        </m:sub>
                      </m:sSub>
                      <m:r>
                        <a:rPr lang="en-US" altLang="zh-TW" i="1">
                          <a:solidFill>
                            <a:srgbClr val="FF0000"/>
                          </a:solidFill>
                          <a:latin typeface="Cambria Math"/>
                        </a:rPr>
                        <m:t>+(1−</m:t>
                      </m:r>
                      <m:r>
                        <a:rPr lang="en-US" altLang="zh-TW" i="1">
                          <a:solidFill>
                            <a:srgbClr val="FF0000"/>
                          </a:solidFill>
                          <a:latin typeface="Cambria Math"/>
                        </a:rPr>
                        <m:t>𝑡𝑎𝑥</m:t>
                      </m:r>
                      <m:r>
                        <a:rPr lang="en-US" altLang="zh-TW" i="1">
                          <a:solidFill>
                            <a:srgbClr val="FF0000"/>
                          </a:solidFill>
                          <a:latin typeface="Cambria Math"/>
                        </a:rPr>
                        <m:t>)(</m:t>
                      </m:r>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𝐶</m:t>
                          </m:r>
                        </m:e>
                        <m:sub>
                          <m:r>
                            <a:rPr lang="en-US" altLang="zh-TW" i="1">
                              <a:solidFill>
                                <a:srgbClr val="FF0000"/>
                              </a:solidFill>
                              <a:latin typeface="Cambria Math"/>
                            </a:rPr>
                            <m:t>1</m:t>
                          </m:r>
                        </m:sub>
                      </m:sSub>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𝐷</m:t>
                          </m:r>
                        </m:e>
                        <m:sub>
                          <m:r>
                            <a:rPr lang="en-US" altLang="zh-TW" i="1">
                              <a:solidFill>
                                <a:srgbClr val="FF0000"/>
                              </a:solidFill>
                              <a:latin typeface="Cambria Math"/>
                            </a:rPr>
                            <m:t>1</m:t>
                          </m:r>
                        </m:sub>
                      </m:sSub>
                      <m:r>
                        <a:rPr lang="en-US" altLang="zh-TW" i="1">
                          <a:solidFill>
                            <a:srgbClr val="FF0000"/>
                          </a:solidFill>
                          <a:latin typeface="Cambria Math"/>
                        </a:rPr>
                        <m:t>𝑇</m:t>
                      </m:r>
                      <m:r>
                        <a:rPr lang="en-US" altLang="zh-TW" i="1">
                          <a:solidFill>
                            <a:srgbClr val="FF0000"/>
                          </a:solidFill>
                          <a:latin typeface="Cambria Math"/>
                        </a:rPr>
                        <m:t>+</m:t>
                      </m:r>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𝐶</m:t>
                          </m:r>
                        </m:e>
                        <m:sub>
                          <m:r>
                            <a:rPr lang="en-US" altLang="zh-TW" i="1">
                              <a:solidFill>
                                <a:srgbClr val="FF0000"/>
                              </a:solidFill>
                              <a:latin typeface="Cambria Math"/>
                            </a:rPr>
                            <m:t>2</m:t>
                          </m:r>
                        </m:sub>
                      </m:sSub>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𝐷</m:t>
                          </m:r>
                        </m:e>
                        <m:sub>
                          <m:r>
                            <a:rPr lang="en-US" altLang="zh-TW" i="1">
                              <a:solidFill>
                                <a:srgbClr val="FF0000"/>
                              </a:solidFill>
                              <a:latin typeface="Cambria Math"/>
                            </a:rPr>
                            <m:t>2</m:t>
                          </m:r>
                        </m:sub>
                      </m:sSub>
                      <m:r>
                        <a:rPr lang="en-US" altLang="zh-TW" i="1">
                          <a:solidFill>
                            <a:srgbClr val="FF0000"/>
                          </a:solidFill>
                          <a:latin typeface="Cambria Math"/>
                        </a:rPr>
                        <m:t>𝑇</m:t>
                      </m:r>
                      <m:r>
                        <a:rPr lang="en-US" altLang="zh-TW" i="1">
                          <a:solidFill>
                            <a:srgbClr val="FF0000"/>
                          </a:solidFill>
                          <a:latin typeface="Cambria Math"/>
                        </a:rPr>
                        <m:t>)</m:t>
                      </m:r>
                    </m:oMath>
                  </m:oMathPara>
                </a14:m>
                <a:endParaRPr lang="zh-TW" altLang="en-US" dirty="0">
                  <a:solidFill>
                    <a:srgbClr val="FF0000"/>
                  </a:solidFill>
                  <a:latin typeface="微軟正黑體" panose="020B0604030504040204" pitchFamily="34" charset="-120"/>
                  <a:ea typeface="微軟正黑體" panose="020B0604030504040204" pitchFamily="34" charset="-120"/>
                </a:endParaRPr>
              </a:p>
            </p:txBody>
          </p:sp>
        </mc:Choice>
        <mc:Fallback xmlns="">
          <p:sp>
            <p:nvSpPr>
              <p:cNvPr id="47" name="文字方塊 46"/>
              <p:cNvSpPr txBox="1">
                <a:spLocks noRot="1" noChangeAspect="1" noMove="1" noResize="1" noEditPoints="1" noAdjustHandles="1" noChangeArrowheads="1" noChangeShapeType="1" noTextEdit="1"/>
              </p:cNvSpPr>
              <p:nvPr/>
            </p:nvSpPr>
            <p:spPr>
              <a:xfrm>
                <a:off x="3426253" y="6134199"/>
                <a:ext cx="6062237" cy="567528"/>
              </a:xfrm>
              <a:prstGeom prst="rect">
                <a:avLst/>
              </a:prstGeom>
              <a:blipFill rotWithShape="0">
                <a:blip r:embed="rId9"/>
                <a:stretch>
                  <a:fillRect/>
                </a:stretch>
              </a:blipFill>
            </p:spPr>
            <p:txBody>
              <a:bodyPr/>
              <a:lstStyle/>
              <a:p>
                <a:r>
                  <a:rPr lang="zh-TW" altLang="en-US">
                    <a:noFill/>
                  </a:rPr>
                  <a:t> </a:t>
                </a:r>
              </a:p>
            </p:txBody>
          </p:sp>
        </mc:Fallback>
      </mc:AlternateContent>
      <p:cxnSp>
        <p:nvCxnSpPr>
          <p:cNvPr id="6" name="直線接點 5"/>
          <p:cNvCxnSpPr/>
          <p:nvPr/>
        </p:nvCxnSpPr>
        <p:spPr>
          <a:xfrm flipV="1">
            <a:off x="8939443" y="3661906"/>
            <a:ext cx="0" cy="241963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5" name="Text Box 9"/>
          <p:cNvSpPr txBox="1">
            <a:spLocks noChangeArrowheads="1"/>
          </p:cNvSpPr>
          <p:nvPr/>
        </p:nvSpPr>
        <p:spPr bwMode="auto">
          <a:xfrm>
            <a:off x="4319966" y="1722515"/>
            <a:ext cx="1952063" cy="2212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2400" dirty="0" smtClean="0">
                <a:latin typeface="微軟正黑體" panose="020B0604030504040204" pitchFamily="34" charset="-120"/>
                <a:ea typeface="微軟正黑體" panose="020B0604030504040204" pitchFamily="34" charset="-120"/>
                <a:cs typeface="Times New Roman" panose="02020603050405020304" pitchFamily="18" charset="0"/>
              </a:rPr>
              <a:t>破</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產</a:t>
            </a:r>
            <a:endPar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rPr>
              <a:t>CC</a:t>
            </a:r>
            <a:r>
              <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rPr>
              <a:t>未轉換</a:t>
            </a:r>
            <a:endPar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rPr>
              <a:t>SB</a:t>
            </a:r>
            <a:r>
              <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rPr>
              <a:t>拿全部</a:t>
            </a:r>
            <a:endPar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400" dirty="0" smtClean="0">
                <a:latin typeface="微軟正黑體" panose="020B0604030504040204" pitchFamily="34" charset="-120"/>
                <a:ea typeface="微軟正黑體" panose="020B0604030504040204" pitchFamily="34" charset="-120"/>
              </a:rPr>
              <a:t>CC</a:t>
            </a:r>
            <a:r>
              <a:rPr lang="zh-TW" altLang="en-US" sz="2400" dirty="0" smtClean="0">
                <a:latin typeface="微軟正黑體" panose="020B0604030504040204" pitchFamily="34" charset="-120"/>
                <a:ea typeface="微軟正黑體" panose="020B0604030504040204" pitchFamily="34" charset="-120"/>
              </a:rPr>
              <a:t>拿部分</a:t>
            </a:r>
            <a:endPar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35" name="Text Box 9"/>
          <p:cNvSpPr txBox="1">
            <a:spLocks noChangeArrowheads="1"/>
          </p:cNvSpPr>
          <p:nvPr/>
        </p:nvSpPr>
        <p:spPr bwMode="auto">
          <a:xfrm>
            <a:off x="6180904" y="4220432"/>
            <a:ext cx="1952063"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2800" dirty="0" smtClean="0">
                <a:latin typeface="微軟正黑體" panose="020B0604030504040204" pitchFamily="34" charset="-120"/>
                <a:ea typeface="微軟正黑體" panose="020B0604030504040204" pitchFamily="34" charset="-120"/>
                <a:cs typeface="Times New Roman" panose="02020603050405020304" pitchFamily="18" charset="0"/>
              </a:rPr>
              <a:t>存活</a:t>
            </a:r>
            <a:endParaRPr lang="en-US" altLang="zh-TW" sz="2800" dirty="0" smtClean="0">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800" dirty="0" smtClean="0">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2800" dirty="0" smtClean="0">
                <a:latin typeface="微軟正黑體" panose="020B0604030504040204" pitchFamily="34" charset="-120"/>
                <a:ea typeface="微軟正黑體" panose="020B0604030504040204" pitchFamily="34" charset="-120"/>
                <a:cs typeface="Times New Roman" panose="02020603050405020304" pitchFamily="18" charset="0"/>
              </a:rPr>
              <a:t>已轉換</a:t>
            </a:r>
            <a:endPar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37" name="Text Box 9"/>
          <p:cNvSpPr txBox="1">
            <a:spLocks noChangeArrowheads="1"/>
          </p:cNvSpPr>
          <p:nvPr/>
        </p:nvSpPr>
        <p:spPr bwMode="auto">
          <a:xfrm>
            <a:off x="8826865" y="2021207"/>
            <a:ext cx="1952063"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2800" dirty="0" smtClean="0">
                <a:latin typeface="微軟正黑體" panose="020B0604030504040204" pitchFamily="34" charset="-120"/>
                <a:ea typeface="微軟正黑體" panose="020B0604030504040204" pitchFamily="34" charset="-120"/>
                <a:cs typeface="Times New Roman" panose="02020603050405020304" pitchFamily="18" charset="0"/>
              </a:rPr>
              <a:t>存活</a:t>
            </a:r>
            <a:endParaRPr lang="en-US" altLang="zh-TW" sz="2800" dirty="0" smtClean="0">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CC</a:t>
            </a:r>
            <a:r>
              <a:rPr kumimoji="0" lang="zh-TW" altLang="en-US"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未轉換</a:t>
            </a:r>
            <a:endParaRPr kumimoji="0" lang="zh-TW" altLang="en-US"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cxnSp>
        <p:nvCxnSpPr>
          <p:cNvPr id="10" name="直線單箭頭接點 9"/>
          <p:cNvCxnSpPr/>
          <p:nvPr/>
        </p:nvCxnSpPr>
        <p:spPr>
          <a:xfrm flipH="1" flipV="1">
            <a:off x="1809498" y="1791077"/>
            <a:ext cx="25626" cy="43232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a:off x="1838080" y="6081535"/>
            <a:ext cx="8517611"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6578793" y="1717719"/>
            <a:ext cx="0" cy="19381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線接點 50"/>
          <p:cNvCxnSpPr/>
          <p:nvPr/>
        </p:nvCxnSpPr>
        <p:spPr>
          <a:xfrm flipH="1">
            <a:off x="3504811" y="3639847"/>
            <a:ext cx="9775" cy="2451632"/>
          </a:xfrm>
          <a:prstGeom prst="line">
            <a:avLst/>
          </a:prstGeom>
          <a:ln w="1905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58" name="矩形 57"/>
          <p:cNvSpPr/>
          <p:nvPr/>
        </p:nvSpPr>
        <p:spPr>
          <a:xfrm>
            <a:off x="8922626" y="3661906"/>
            <a:ext cx="1743723" cy="2419629"/>
          </a:xfrm>
          <a:prstGeom prst="rect">
            <a:avLst/>
          </a:prstGeom>
          <a:solidFill>
            <a:srgbClr val="51DF7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9" name="文字方塊 38"/>
              <p:cNvSpPr txBox="1"/>
              <p:nvPr/>
            </p:nvSpPr>
            <p:spPr>
              <a:xfrm>
                <a:off x="5456874" y="3865197"/>
                <a:ext cx="4031616" cy="276999"/>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b="0" i="1" smtClean="0">
                          <a:solidFill>
                            <a:srgbClr val="7030A0"/>
                          </a:solidFill>
                          <a:latin typeface="Cambria Math" panose="02040503050406030204" pitchFamily="18" charset="0"/>
                        </a:rPr>
                        <m:t>𝑉</m:t>
                      </m:r>
                      <m:r>
                        <a:rPr lang="en-US" altLang="zh-TW" b="0" i="1" smtClean="0">
                          <a:solidFill>
                            <a:srgbClr val="7030A0"/>
                          </a:solidFill>
                          <a:latin typeface="Cambria Math" panose="02040503050406030204" pitchFamily="18" charset="0"/>
                        </a:rPr>
                        <m:t>(</m:t>
                      </m:r>
                      <m:r>
                        <a:rPr lang="en-US" altLang="zh-TW" b="0" i="1" smtClean="0">
                          <a:solidFill>
                            <a:srgbClr val="7030A0"/>
                          </a:solidFill>
                          <a:latin typeface="Cambria Math" panose="02040503050406030204" pitchFamily="18" charset="0"/>
                        </a:rPr>
                        <m:t>𝑇</m:t>
                      </m:r>
                      <m:r>
                        <a:rPr lang="en-US" altLang="zh-TW" b="0" i="1" smtClean="0">
                          <a:solidFill>
                            <a:srgbClr val="7030A0"/>
                          </a:solidFill>
                          <a:latin typeface="Cambria Math" panose="02040503050406030204" pitchFamily="18" charset="0"/>
                        </a:rPr>
                        <m:t>)=</m:t>
                      </m:r>
                      <m:sSub>
                        <m:sSubPr>
                          <m:ctrlPr>
                            <a:rPr lang="en-US" altLang="zh-TW" i="1">
                              <a:solidFill>
                                <a:srgbClr val="7030A0"/>
                              </a:solidFill>
                              <a:latin typeface="Cambria Math" panose="02040503050406030204" pitchFamily="18" charset="0"/>
                            </a:rPr>
                          </m:ctrlPr>
                        </m:sSubPr>
                        <m:e>
                          <m:r>
                            <a:rPr lang="en-US" altLang="zh-TW" i="1">
                              <a:solidFill>
                                <a:srgbClr val="7030A0"/>
                              </a:solidFill>
                              <a:latin typeface="Cambria Math"/>
                            </a:rPr>
                            <m:t>𝐷</m:t>
                          </m:r>
                        </m:e>
                        <m:sub>
                          <m:r>
                            <a:rPr lang="en-US" altLang="zh-TW" i="1">
                              <a:solidFill>
                                <a:srgbClr val="7030A0"/>
                              </a:solidFill>
                              <a:latin typeface="Cambria Math"/>
                            </a:rPr>
                            <m:t>1</m:t>
                          </m:r>
                        </m:sub>
                      </m:sSub>
                      <m:r>
                        <a:rPr lang="en-US" altLang="zh-TW" i="1">
                          <a:solidFill>
                            <a:srgbClr val="7030A0"/>
                          </a:solidFill>
                          <a:latin typeface="Cambria Math"/>
                        </a:rPr>
                        <m:t>+(1−</m:t>
                      </m:r>
                      <m:r>
                        <a:rPr lang="en-US" altLang="zh-TW" i="1">
                          <a:solidFill>
                            <a:srgbClr val="7030A0"/>
                          </a:solidFill>
                          <a:latin typeface="Cambria Math"/>
                        </a:rPr>
                        <m:t>𝑡𝑎𝑥</m:t>
                      </m:r>
                      <m:r>
                        <a:rPr lang="en-US" altLang="zh-TW" i="1">
                          <a:solidFill>
                            <a:srgbClr val="7030A0"/>
                          </a:solidFill>
                          <a:latin typeface="Cambria Math"/>
                        </a:rPr>
                        <m:t>)(</m:t>
                      </m:r>
                      <m:sSub>
                        <m:sSubPr>
                          <m:ctrlPr>
                            <a:rPr lang="en-US" altLang="zh-TW" i="1">
                              <a:solidFill>
                                <a:srgbClr val="7030A0"/>
                              </a:solidFill>
                              <a:latin typeface="Cambria Math" panose="02040503050406030204" pitchFamily="18" charset="0"/>
                            </a:rPr>
                          </m:ctrlPr>
                        </m:sSubPr>
                        <m:e>
                          <m:r>
                            <a:rPr lang="en-US" altLang="zh-TW" i="1">
                              <a:solidFill>
                                <a:srgbClr val="7030A0"/>
                              </a:solidFill>
                              <a:latin typeface="Cambria Math"/>
                            </a:rPr>
                            <m:t>𝐶</m:t>
                          </m:r>
                        </m:e>
                        <m:sub>
                          <m:r>
                            <a:rPr lang="en-US" altLang="zh-TW" i="1">
                              <a:solidFill>
                                <a:srgbClr val="7030A0"/>
                              </a:solidFill>
                              <a:latin typeface="Cambria Math"/>
                            </a:rPr>
                            <m:t>1</m:t>
                          </m:r>
                        </m:sub>
                      </m:sSub>
                      <m:sSub>
                        <m:sSubPr>
                          <m:ctrlPr>
                            <a:rPr lang="en-US" altLang="zh-TW" i="1">
                              <a:solidFill>
                                <a:srgbClr val="7030A0"/>
                              </a:solidFill>
                              <a:latin typeface="Cambria Math" panose="02040503050406030204" pitchFamily="18" charset="0"/>
                            </a:rPr>
                          </m:ctrlPr>
                        </m:sSubPr>
                        <m:e>
                          <m:r>
                            <a:rPr lang="en-US" altLang="zh-TW" i="1">
                              <a:solidFill>
                                <a:srgbClr val="7030A0"/>
                              </a:solidFill>
                              <a:latin typeface="Cambria Math"/>
                            </a:rPr>
                            <m:t>𝐷</m:t>
                          </m:r>
                        </m:e>
                        <m:sub>
                          <m:r>
                            <a:rPr lang="en-US" altLang="zh-TW" i="1">
                              <a:solidFill>
                                <a:srgbClr val="7030A0"/>
                              </a:solidFill>
                              <a:latin typeface="Cambria Math"/>
                            </a:rPr>
                            <m:t>1</m:t>
                          </m:r>
                        </m:sub>
                      </m:sSub>
                      <m:r>
                        <a:rPr lang="en-US" altLang="zh-TW" i="1">
                          <a:solidFill>
                            <a:srgbClr val="7030A0"/>
                          </a:solidFill>
                          <a:latin typeface="Cambria Math"/>
                        </a:rPr>
                        <m:t>𝑇</m:t>
                      </m:r>
                      <m:r>
                        <a:rPr lang="en-US" altLang="zh-TW" i="1">
                          <a:solidFill>
                            <a:srgbClr val="7030A0"/>
                          </a:solidFill>
                          <a:latin typeface="Cambria Math"/>
                        </a:rPr>
                        <m:t>+</m:t>
                      </m:r>
                      <m:sSub>
                        <m:sSubPr>
                          <m:ctrlPr>
                            <a:rPr lang="en-US" altLang="zh-TW" i="1">
                              <a:solidFill>
                                <a:srgbClr val="7030A0"/>
                              </a:solidFill>
                              <a:latin typeface="Cambria Math" panose="02040503050406030204" pitchFamily="18" charset="0"/>
                            </a:rPr>
                          </m:ctrlPr>
                        </m:sSubPr>
                        <m:e>
                          <m:r>
                            <a:rPr lang="en-US" altLang="zh-TW" i="1">
                              <a:solidFill>
                                <a:srgbClr val="7030A0"/>
                              </a:solidFill>
                              <a:latin typeface="Cambria Math"/>
                            </a:rPr>
                            <m:t>𝐶</m:t>
                          </m:r>
                        </m:e>
                        <m:sub>
                          <m:r>
                            <a:rPr lang="en-US" altLang="zh-TW" i="1">
                              <a:solidFill>
                                <a:srgbClr val="7030A0"/>
                              </a:solidFill>
                              <a:latin typeface="Cambria Math"/>
                            </a:rPr>
                            <m:t>2</m:t>
                          </m:r>
                        </m:sub>
                      </m:sSub>
                      <m:sSub>
                        <m:sSubPr>
                          <m:ctrlPr>
                            <a:rPr lang="en-US" altLang="zh-TW" i="1">
                              <a:solidFill>
                                <a:srgbClr val="7030A0"/>
                              </a:solidFill>
                              <a:latin typeface="Cambria Math" panose="02040503050406030204" pitchFamily="18" charset="0"/>
                            </a:rPr>
                          </m:ctrlPr>
                        </m:sSubPr>
                        <m:e>
                          <m:r>
                            <a:rPr lang="en-US" altLang="zh-TW" i="1">
                              <a:solidFill>
                                <a:srgbClr val="7030A0"/>
                              </a:solidFill>
                              <a:latin typeface="Cambria Math"/>
                            </a:rPr>
                            <m:t>𝐷</m:t>
                          </m:r>
                        </m:e>
                        <m:sub>
                          <m:r>
                            <a:rPr lang="en-US" altLang="zh-TW" i="1">
                              <a:solidFill>
                                <a:srgbClr val="7030A0"/>
                              </a:solidFill>
                              <a:latin typeface="Cambria Math"/>
                            </a:rPr>
                            <m:t>2</m:t>
                          </m:r>
                        </m:sub>
                      </m:sSub>
                      <m:r>
                        <a:rPr lang="en-US" altLang="zh-TW" i="1">
                          <a:solidFill>
                            <a:srgbClr val="7030A0"/>
                          </a:solidFill>
                          <a:latin typeface="Cambria Math"/>
                        </a:rPr>
                        <m:t>𝑇</m:t>
                      </m:r>
                      <m:r>
                        <a:rPr lang="en-US" altLang="zh-TW" i="1">
                          <a:solidFill>
                            <a:srgbClr val="7030A0"/>
                          </a:solidFill>
                          <a:latin typeface="Cambria Math"/>
                        </a:rPr>
                        <m:t>)</m:t>
                      </m:r>
                    </m:oMath>
                  </m:oMathPara>
                </a14:m>
                <a:endParaRPr lang="zh-TW" altLang="en-US" dirty="0">
                  <a:solidFill>
                    <a:srgbClr val="7030A0"/>
                  </a:solidFill>
                  <a:latin typeface="微軟正黑體" panose="020B0604030504040204" pitchFamily="34" charset="-120"/>
                  <a:ea typeface="微軟正黑體" panose="020B0604030504040204" pitchFamily="34" charset="-120"/>
                </a:endParaRPr>
              </a:p>
            </p:txBody>
          </p:sp>
        </mc:Choice>
        <mc:Fallback xmlns="">
          <p:sp>
            <p:nvSpPr>
              <p:cNvPr id="39" name="文字方塊 38"/>
              <p:cNvSpPr txBox="1">
                <a:spLocks noRot="1" noChangeAspect="1" noMove="1" noResize="1" noEditPoints="1" noAdjustHandles="1" noChangeArrowheads="1" noChangeShapeType="1" noTextEdit="1"/>
              </p:cNvSpPr>
              <p:nvPr/>
            </p:nvSpPr>
            <p:spPr>
              <a:xfrm>
                <a:off x="5456874" y="3865197"/>
                <a:ext cx="4031616" cy="276999"/>
              </a:xfrm>
              <a:prstGeom prst="rect">
                <a:avLst/>
              </a:prstGeom>
              <a:blipFill rotWithShape="0">
                <a:blip r:embed="rId10"/>
                <a:stretch>
                  <a:fillRect l="-1964" r="-302" b="-37778"/>
                </a:stretch>
              </a:blipFill>
            </p:spPr>
            <p:txBody>
              <a:bodyPr/>
              <a:lstStyle/>
              <a:p>
                <a:r>
                  <a:rPr lang="zh-TW" altLang="en-US">
                    <a:noFill/>
                  </a:rPr>
                  <a:t> </a:t>
                </a:r>
              </a:p>
            </p:txBody>
          </p:sp>
        </mc:Fallback>
      </mc:AlternateContent>
      <p:cxnSp>
        <p:nvCxnSpPr>
          <p:cNvPr id="42" name="直線接點 41"/>
          <p:cNvCxnSpPr/>
          <p:nvPr/>
        </p:nvCxnSpPr>
        <p:spPr>
          <a:xfrm flipV="1">
            <a:off x="5294645" y="3655872"/>
            <a:ext cx="0" cy="2419629"/>
          </a:xfrm>
          <a:prstGeom prst="line">
            <a:avLst/>
          </a:prstGeom>
          <a:ln w="28575">
            <a:solidFill>
              <a:srgbClr val="7030A0"/>
            </a:solidFill>
            <a:prstDash val="solid"/>
          </a:ln>
        </p:spPr>
        <p:style>
          <a:lnRef idx="1">
            <a:schemeClr val="accent1"/>
          </a:lnRef>
          <a:fillRef idx="0">
            <a:schemeClr val="accent1"/>
          </a:fillRef>
          <a:effectRef idx="0">
            <a:schemeClr val="accent1"/>
          </a:effectRef>
          <a:fontRef idx="minor">
            <a:schemeClr val="tx1"/>
          </a:fontRef>
        </p:style>
      </p:cxnSp>
      <p:cxnSp>
        <p:nvCxnSpPr>
          <p:cNvPr id="43" name="直線接點 42"/>
          <p:cNvCxnSpPr/>
          <p:nvPr/>
        </p:nvCxnSpPr>
        <p:spPr>
          <a:xfrm>
            <a:off x="3510468" y="1330806"/>
            <a:ext cx="2382" cy="2331099"/>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02172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29"/>
          <p:cNvSpPr>
            <a:spLocks noChangeArrowheads="1"/>
          </p:cNvSpPr>
          <p:nvPr/>
        </p:nvSpPr>
        <p:spPr bwMode="auto">
          <a:xfrm>
            <a:off x="1210615" y="153305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mc:AlternateContent xmlns:mc="http://schemas.openxmlformats.org/markup-compatibility/2006" xmlns:a14="http://schemas.microsoft.com/office/drawing/2010/main">
        <mc:Choice Requires="a14">
          <p:sp>
            <p:nvSpPr>
              <p:cNvPr id="45" name="標題 1"/>
              <p:cNvSpPr txBox="1">
                <a:spLocks/>
              </p:cNvSpPr>
              <p:nvPr/>
            </p:nvSpPr>
            <p:spPr>
              <a:xfrm>
                <a:off x="347730" y="283333"/>
                <a:ext cx="11844270" cy="79252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TW" altLang="en-US" sz="4800" dirty="0">
                    <a:latin typeface="微軟正黑體" panose="020B0604030504040204" pitchFamily="34" charset="-120"/>
                    <a:ea typeface="微軟正黑體" panose="020B0604030504040204" pitchFamily="34" charset="-120"/>
                    <a:cs typeface="Arial" pitchFamily="34" charset="0"/>
                  </a:rPr>
                  <a:t>公式推導－</a:t>
                </a:r>
                <a14:m>
                  <m:oMath xmlns:m="http://schemas.openxmlformats.org/officeDocument/2006/math">
                    <m:r>
                      <a:rPr lang="en-US" altLang="zh-TW" sz="4800" i="1" dirty="0">
                        <a:latin typeface="Cambria Math"/>
                        <a:ea typeface="標楷體" pitchFamily="65" charset="-120"/>
                        <a:cs typeface="Arial" pitchFamily="34" charset="0"/>
                      </a:rPr>
                      <m:t>𝐸𝑞𝑢𝑖𝑡𝑦</m:t>
                    </m:r>
                  </m:oMath>
                </a14:m>
                <a:r>
                  <a:rPr lang="zh-TW" altLang="en-US" sz="4800" i="1" dirty="0">
                    <a:latin typeface="微軟正黑體" panose="020B0604030504040204" pitchFamily="34" charset="-120"/>
                    <a:ea typeface="微軟正黑體" panose="020B0604030504040204" pitchFamily="34" charset="-120"/>
                    <a:cs typeface="Arial" pitchFamily="34" charset="0"/>
                  </a:rPr>
                  <a:t>   </a:t>
                </a:r>
                <a:r>
                  <a:rPr lang="en-US" altLang="zh-TW" sz="4800" dirty="0">
                    <a:latin typeface="微軟正黑體" panose="020B0604030504040204" pitchFamily="34" charset="-120"/>
                    <a:ea typeface="微軟正黑體" panose="020B0604030504040204" pitchFamily="34" charset="-120"/>
                    <a:cs typeface="Arial" pitchFamily="34" charset="0"/>
                  </a:rPr>
                  <a:t>(</a:t>
                </a:r>
                <a14:m>
                  <m:oMath xmlns:m="http://schemas.openxmlformats.org/officeDocument/2006/math">
                    <m:sSub>
                      <m:sSubPr>
                        <m:ctrlPr>
                          <a:rPr lang="en-US" altLang="zh-TW" sz="4800" i="1">
                            <a:latin typeface="Cambria Math" panose="02040503050406030204" pitchFamily="18" charset="0"/>
                          </a:rPr>
                        </m:ctrlPr>
                      </m:sSubPr>
                      <m:e>
                        <m:r>
                          <a:rPr lang="en-US" altLang="zh-TW" sz="4800" i="1">
                            <a:latin typeface="Cambria Math" panose="02040503050406030204" pitchFamily="18" charset="0"/>
                          </a:rPr>
                          <m:t>𝑉</m:t>
                        </m:r>
                      </m:e>
                      <m:sub>
                        <m:r>
                          <a:rPr lang="en-US" altLang="zh-TW" sz="4800" i="1">
                            <a:latin typeface="Cambria Math" panose="02040503050406030204" pitchFamily="18" charset="0"/>
                          </a:rPr>
                          <m:t>𝐿</m:t>
                        </m:r>
                      </m:sub>
                    </m:sSub>
                    <m:r>
                      <a:rPr lang="en-US" altLang="zh-TW" sz="4800" i="1">
                        <a:latin typeface="Cambria Math" panose="02040503050406030204" pitchFamily="18" charset="0"/>
                      </a:rPr>
                      <m:t>=</m:t>
                    </m:r>
                    <m:r>
                      <a:rPr lang="en-US" altLang="zh-TW" sz="4800" i="1">
                        <a:latin typeface="Cambria Math" panose="02040503050406030204" pitchFamily="18" charset="0"/>
                      </a:rPr>
                      <m:t>𝐷𝑒𝑏𝑡</m:t>
                    </m:r>
                    <m:r>
                      <a:rPr lang="en-US" altLang="zh-TW" sz="4800" i="1">
                        <a:latin typeface="Cambria Math" panose="02040503050406030204" pitchFamily="18" charset="0"/>
                      </a:rPr>
                      <m:t>+</m:t>
                    </m:r>
                    <m:r>
                      <a:rPr lang="en-US" altLang="zh-TW" sz="4800" i="1">
                        <a:latin typeface="Cambria Math" panose="02040503050406030204" pitchFamily="18" charset="0"/>
                      </a:rPr>
                      <m:t>𝐸𝑞𝑢𝑖𝑡𝑦</m:t>
                    </m:r>
                  </m:oMath>
                </a14:m>
                <a:r>
                  <a:rPr lang="en-US" altLang="zh-TW" sz="4800" dirty="0">
                    <a:latin typeface="微軟正黑體" panose="020B0604030504040204" pitchFamily="34" charset="-120"/>
                    <a:ea typeface="微軟正黑體" panose="020B0604030504040204" pitchFamily="34" charset="-120"/>
                    <a:cs typeface="Arial" pitchFamily="34" charset="0"/>
                  </a:rPr>
                  <a:t>)</a:t>
                </a:r>
              </a:p>
            </p:txBody>
          </p:sp>
        </mc:Choice>
        <mc:Fallback xmlns="">
          <p:sp>
            <p:nvSpPr>
              <p:cNvPr id="45" name="標題 1"/>
              <p:cNvSpPr txBox="1">
                <a:spLocks noRot="1" noChangeAspect="1" noMove="1" noResize="1" noEditPoints="1" noAdjustHandles="1" noChangeArrowheads="1" noChangeShapeType="1" noTextEdit="1"/>
              </p:cNvSpPr>
              <p:nvPr/>
            </p:nvSpPr>
            <p:spPr>
              <a:xfrm>
                <a:off x="347730" y="283333"/>
                <a:ext cx="11844270" cy="792520"/>
              </a:xfrm>
              <a:prstGeom prst="rect">
                <a:avLst/>
              </a:prstGeom>
              <a:blipFill rotWithShape="0">
                <a:blip r:embed="rId3"/>
                <a:stretch>
                  <a:fillRect l="-2316" t="-21538" b="-4076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446584" y="4105370"/>
                <a:ext cx="11745416" cy="2106089"/>
              </a:xfrm>
              <a:prstGeom prst="rect">
                <a:avLst/>
              </a:prstGeom>
            </p:spPr>
            <p:txBody>
              <a:bodyPr wrap="square">
                <a:spAutoFit/>
              </a:bodyPr>
              <a:lstStyle/>
              <a:p>
                <a:pPr>
                  <a:lnSpc>
                    <a:spcPct val="150000"/>
                  </a:lnSpc>
                </a:pPr>
                <a14:m>
                  <m:oMathPara xmlns:m="http://schemas.openxmlformats.org/officeDocument/2006/math">
                    <m:oMathParaPr>
                      <m:jc m:val="left"/>
                    </m:oMathParaPr>
                    <m:oMath xmlns:m="http://schemas.openxmlformats.org/officeDocument/2006/math">
                      <m:r>
                        <a:rPr lang="en-US" altLang="zh-TW" sz="2800" i="1" smtClean="0">
                          <a:latin typeface="Cambria Math"/>
                        </a:rPr>
                        <m:t>𝐸</m:t>
                      </m:r>
                      <m:r>
                        <m:rPr>
                          <m:sty m:val="p"/>
                        </m:rPr>
                        <a:rPr lang="en-US" altLang="zh-TW" sz="2800" i="1" smtClean="0">
                          <a:latin typeface="Cambria Math"/>
                        </a:rPr>
                        <m:t>q</m:t>
                      </m:r>
                      <m:r>
                        <a:rPr lang="en-US" altLang="zh-TW" sz="2800" i="1" smtClean="0">
                          <a:latin typeface="Cambria Math"/>
                        </a:rPr>
                        <m:t>𝑢𝑖𝑡𝑦</m:t>
                      </m:r>
                    </m:oMath>
                  </m:oMathPara>
                </a14:m>
                <a:endParaRPr lang="en-US" altLang="zh-TW" sz="2800" i="1" dirty="0">
                  <a:latin typeface="標楷體" pitchFamily="65" charset="-120"/>
                  <a:ea typeface="標楷體" pitchFamily="65" charset="-120"/>
                </a:endParaRPr>
              </a:p>
              <a:p>
                <a:pPr>
                  <a:lnSpc>
                    <a:spcPct val="150000"/>
                  </a:lnSpc>
                </a:pPr>
                <a14:m>
                  <m:oMathPara xmlns:m="http://schemas.openxmlformats.org/officeDocument/2006/math">
                    <m:oMathParaPr>
                      <m:jc m:val="left"/>
                    </m:oMathParaPr>
                    <m:oMath xmlns:m="http://schemas.openxmlformats.org/officeDocument/2006/math">
                      <m:r>
                        <a:rPr lang="en-US" altLang="zh-TW" i="1">
                          <a:latin typeface="Cambria Math"/>
                        </a:rPr>
                        <m:t>=</m:t>
                      </m:r>
                      <m:acc>
                        <m:accPr>
                          <m:chr m:val="̃"/>
                          <m:ctrlPr>
                            <a:rPr lang="en-US" altLang="zh-TW" i="1">
                              <a:solidFill>
                                <a:schemeClr val="accent1"/>
                              </a:solidFill>
                              <a:latin typeface="Cambria Math" panose="02040503050406030204" pitchFamily="18" charset="0"/>
                            </a:rPr>
                          </m:ctrlPr>
                        </m:accPr>
                        <m:e>
                          <m:r>
                            <a:rPr lang="en-US" altLang="zh-TW" i="1">
                              <a:solidFill>
                                <a:schemeClr val="accent1"/>
                              </a:solidFill>
                              <a:latin typeface="Cambria Math"/>
                            </a:rPr>
                            <m:t>𝐸</m:t>
                          </m:r>
                        </m:e>
                      </m:acc>
                      <m:r>
                        <a:rPr lang="en-US" altLang="zh-TW" i="1">
                          <a:solidFill>
                            <a:schemeClr val="accent1"/>
                          </a:solidFill>
                          <a:latin typeface="Cambria Math"/>
                        </a:rPr>
                        <m:t>{  [</m:t>
                      </m:r>
                      <m:r>
                        <a:rPr lang="en-US" altLang="zh-TW" i="1">
                          <a:solidFill>
                            <a:schemeClr val="accent1"/>
                          </a:solidFill>
                          <a:latin typeface="Cambria Math"/>
                        </a:rPr>
                        <m:t>𝑉</m:t>
                      </m:r>
                      <m:d>
                        <m:dPr>
                          <m:ctrlPr>
                            <a:rPr lang="en-US" altLang="zh-TW" i="1">
                              <a:solidFill>
                                <a:schemeClr val="accent1"/>
                              </a:solidFill>
                              <a:latin typeface="Cambria Math" panose="02040503050406030204" pitchFamily="18" charset="0"/>
                            </a:rPr>
                          </m:ctrlPr>
                        </m:dPr>
                        <m:e>
                          <m:r>
                            <a:rPr lang="en-US" altLang="zh-TW" i="1">
                              <a:solidFill>
                                <a:schemeClr val="accent1"/>
                              </a:solidFill>
                              <a:latin typeface="Cambria Math"/>
                            </a:rPr>
                            <m:t>𝑇</m:t>
                          </m:r>
                        </m:e>
                      </m:d>
                      <m:r>
                        <a:rPr lang="en-US" altLang="zh-TW" i="1">
                          <a:solidFill>
                            <a:schemeClr val="accent1"/>
                          </a:solidFill>
                          <a:latin typeface="Cambria Math"/>
                        </a:rPr>
                        <m:t>−[</m:t>
                      </m:r>
                      <m:sSub>
                        <m:sSubPr>
                          <m:ctrlPr>
                            <a:rPr lang="en-US" altLang="zh-TW" i="1">
                              <a:solidFill>
                                <a:schemeClr val="accent1"/>
                              </a:solidFill>
                              <a:latin typeface="Cambria Math" panose="02040503050406030204" pitchFamily="18" charset="0"/>
                            </a:rPr>
                          </m:ctrlPr>
                        </m:sSubPr>
                        <m:e>
                          <m:r>
                            <a:rPr lang="en-US" altLang="zh-TW" i="1">
                              <a:solidFill>
                                <a:schemeClr val="accent1"/>
                              </a:solidFill>
                              <a:latin typeface="Cambria Math"/>
                            </a:rPr>
                            <m:t>𝐷</m:t>
                          </m:r>
                        </m:e>
                        <m:sub>
                          <m:r>
                            <a:rPr lang="en-US" altLang="zh-TW" i="1">
                              <a:solidFill>
                                <a:schemeClr val="accent1"/>
                              </a:solidFill>
                              <a:latin typeface="Cambria Math"/>
                            </a:rPr>
                            <m:t>1</m:t>
                          </m:r>
                        </m:sub>
                      </m:sSub>
                      <m:r>
                        <a:rPr lang="en-US" altLang="zh-TW" i="1">
                          <a:solidFill>
                            <a:schemeClr val="accent1"/>
                          </a:solidFill>
                          <a:latin typeface="Cambria Math"/>
                        </a:rPr>
                        <m:t>+</m:t>
                      </m:r>
                      <m:sSub>
                        <m:sSubPr>
                          <m:ctrlPr>
                            <a:rPr lang="en-US" altLang="zh-TW" i="1">
                              <a:solidFill>
                                <a:schemeClr val="accent1"/>
                              </a:solidFill>
                              <a:latin typeface="Cambria Math" panose="02040503050406030204" pitchFamily="18" charset="0"/>
                            </a:rPr>
                          </m:ctrlPr>
                        </m:sSubPr>
                        <m:e>
                          <m:r>
                            <a:rPr lang="en-US" altLang="zh-TW" i="1">
                              <a:solidFill>
                                <a:schemeClr val="accent1"/>
                              </a:solidFill>
                              <a:latin typeface="Cambria Math"/>
                            </a:rPr>
                            <m:t>𝐷</m:t>
                          </m:r>
                        </m:e>
                        <m:sub>
                          <m:r>
                            <a:rPr lang="en-US" altLang="zh-TW" i="1">
                              <a:solidFill>
                                <a:schemeClr val="accent1"/>
                              </a:solidFill>
                              <a:latin typeface="Cambria Math"/>
                            </a:rPr>
                            <m:t>2</m:t>
                          </m:r>
                        </m:sub>
                      </m:sSub>
                      <m:r>
                        <a:rPr lang="en-US" altLang="zh-TW" i="1">
                          <a:solidFill>
                            <a:schemeClr val="accent1"/>
                          </a:solidFill>
                          <a:latin typeface="Cambria Math"/>
                        </a:rPr>
                        <m:t>+(1−</m:t>
                      </m:r>
                      <m:r>
                        <a:rPr lang="en-US" altLang="zh-TW" i="1">
                          <a:solidFill>
                            <a:schemeClr val="accent1"/>
                          </a:solidFill>
                          <a:latin typeface="Cambria Math"/>
                        </a:rPr>
                        <m:t>𝑡𝑎𝑥</m:t>
                      </m:r>
                      <m:r>
                        <a:rPr lang="en-US" altLang="zh-TW" i="1">
                          <a:solidFill>
                            <a:schemeClr val="accent1"/>
                          </a:solidFill>
                          <a:latin typeface="Cambria Math"/>
                        </a:rPr>
                        <m:t>)(</m:t>
                      </m:r>
                      <m:sSub>
                        <m:sSubPr>
                          <m:ctrlPr>
                            <a:rPr lang="en-US" altLang="zh-TW" i="1">
                              <a:solidFill>
                                <a:schemeClr val="accent1"/>
                              </a:solidFill>
                              <a:latin typeface="Cambria Math" panose="02040503050406030204" pitchFamily="18" charset="0"/>
                            </a:rPr>
                          </m:ctrlPr>
                        </m:sSubPr>
                        <m:e>
                          <m:r>
                            <a:rPr lang="en-US" altLang="zh-TW" i="1">
                              <a:solidFill>
                                <a:schemeClr val="accent1"/>
                              </a:solidFill>
                              <a:latin typeface="Cambria Math"/>
                            </a:rPr>
                            <m:t>𝐶</m:t>
                          </m:r>
                        </m:e>
                        <m:sub>
                          <m:r>
                            <a:rPr lang="en-US" altLang="zh-TW" i="1">
                              <a:solidFill>
                                <a:schemeClr val="accent1"/>
                              </a:solidFill>
                              <a:latin typeface="Cambria Math"/>
                            </a:rPr>
                            <m:t>1</m:t>
                          </m:r>
                        </m:sub>
                      </m:sSub>
                      <m:sSub>
                        <m:sSubPr>
                          <m:ctrlPr>
                            <a:rPr lang="en-US" altLang="zh-TW" i="1">
                              <a:solidFill>
                                <a:schemeClr val="accent1"/>
                              </a:solidFill>
                              <a:latin typeface="Cambria Math" panose="02040503050406030204" pitchFamily="18" charset="0"/>
                            </a:rPr>
                          </m:ctrlPr>
                        </m:sSubPr>
                        <m:e>
                          <m:r>
                            <a:rPr lang="en-US" altLang="zh-TW" i="1">
                              <a:solidFill>
                                <a:schemeClr val="accent1"/>
                              </a:solidFill>
                              <a:latin typeface="Cambria Math"/>
                            </a:rPr>
                            <m:t>𝐷</m:t>
                          </m:r>
                        </m:e>
                        <m:sub>
                          <m:r>
                            <a:rPr lang="en-US" altLang="zh-TW" i="1">
                              <a:solidFill>
                                <a:schemeClr val="accent1"/>
                              </a:solidFill>
                              <a:latin typeface="Cambria Math"/>
                            </a:rPr>
                            <m:t>1</m:t>
                          </m:r>
                        </m:sub>
                      </m:sSub>
                      <m:r>
                        <a:rPr lang="en-US" altLang="zh-TW" i="1">
                          <a:solidFill>
                            <a:schemeClr val="accent1"/>
                          </a:solidFill>
                          <a:latin typeface="Cambria Math"/>
                        </a:rPr>
                        <m:t>𝑇</m:t>
                      </m:r>
                      <m:r>
                        <a:rPr lang="en-US" altLang="zh-TW" i="1">
                          <a:solidFill>
                            <a:schemeClr val="accent1"/>
                          </a:solidFill>
                          <a:latin typeface="Cambria Math"/>
                        </a:rPr>
                        <m:t>+</m:t>
                      </m:r>
                      <m:sSub>
                        <m:sSubPr>
                          <m:ctrlPr>
                            <a:rPr lang="en-US" altLang="zh-TW" i="1">
                              <a:solidFill>
                                <a:schemeClr val="accent1"/>
                              </a:solidFill>
                              <a:latin typeface="Cambria Math" panose="02040503050406030204" pitchFamily="18" charset="0"/>
                            </a:rPr>
                          </m:ctrlPr>
                        </m:sSubPr>
                        <m:e>
                          <m:r>
                            <a:rPr lang="en-US" altLang="zh-TW" i="1">
                              <a:solidFill>
                                <a:schemeClr val="accent1"/>
                              </a:solidFill>
                              <a:latin typeface="Cambria Math"/>
                            </a:rPr>
                            <m:t>𝐶</m:t>
                          </m:r>
                        </m:e>
                        <m:sub>
                          <m:r>
                            <a:rPr lang="en-US" altLang="zh-TW" i="1">
                              <a:solidFill>
                                <a:schemeClr val="accent1"/>
                              </a:solidFill>
                              <a:latin typeface="Cambria Math"/>
                            </a:rPr>
                            <m:t>2</m:t>
                          </m:r>
                        </m:sub>
                      </m:sSub>
                      <m:sSub>
                        <m:sSubPr>
                          <m:ctrlPr>
                            <a:rPr lang="en-US" altLang="zh-TW" i="1">
                              <a:solidFill>
                                <a:schemeClr val="accent1"/>
                              </a:solidFill>
                              <a:latin typeface="Cambria Math" panose="02040503050406030204" pitchFamily="18" charset="0"/>
                            </a:rPr>
                          </m:ctrlPr>
                        </m:sSubPr>
                        <m:e>
                          <m:r>
                            <a:rPr lang="en-US" altLang="zh-TW" i="1">
                              <a:solidFill>
                                <a:schemeClr val="accent1"/>
                              </a:solidFill>
                              <a:latin typeface="Cambria Math"/>
                            </a:rPr>
                            <m:t>𝐷</m:t>
                          </m:r>
                        </m:e>
                        <m:sub>
                          <m:r>
                            <a:rPr lang="en-US" altLang="zh-TW" i="1">
                              <a:solidFill>
                                <a:schemeClr val="accent1"/>
                              </a:solidFill>
                              <a:latin typeface="Cambria Math"/>
                            </a:rPr>
                            <m:t>2</m:t>
                          </m:r>
                        </m:sub>
                      </m:sSub>
                      <m:r>
                        <a:rPr lang="en-US" altLang="zh-TW" i="1">
                          <a:solidFill>
                            <a:schemeClr val="accent1"/>
                          </a:solidFill>
                          <a:latin typeface="Cambria Math"/>
                        </a:rPr>
                        <m:t>𝑇</m:t>
                      </m:r>
                      <m:r>
                        <a:rPr lang="en-US" altLang="zh-TW" i="1">
                          <a:solidFill>
                            <a:schemeClr val="accent1"/>
                          </a:solidFill>
                          <a:latin typeface="Cambria Math"/>
                        </a:rPr>
                        <m:t>)]</m:t>
                      </m:r>
                      <m:sSup>
                        <m:sSupPr>
                          <m:ctrlPr>
                            <a:rPr lang="en-US" altLang="zh-TW" i="1">
                              <a:solidFill>
                                <a:schemeClr val="accent1"/>
                              </a:solidFill>
                              <a:latin typeface="Cambria Math" panose="02040503050406030204" pitchFamily="18" charset="0"/>
                            </a:rPr>
                          </m:ctrlPr>
                        </m:sSupPr>
                        <m:e>
                          <m:r>
                            <a:rPr lang="en-US" altLang="zh-TW" i="1">
                              <a:solidFill>
                                <a:schemeClr val="accent1"/>
                              </a:solidFill>
                              <a:latin typeface="Cambria Math"/>
                            </a:rPr>
                            <m:t>  </m:t>
                          </m:r>
                          <m:r>
                            <a:rPr lang="en-US" altLang="zh-TW" i="1">
                              <a:solidFill>
                                <a:schemeClr val="accent1"/>
                              </a:solidFill>
                              <a:latin typeface="Cambria Math"/>
                            </a:rPr>
                            <m:t>𝑒</m:t>
                          </m:r>
                        </m:e>
                        <m:sup>
                          <m:r>
                            <a:rPr lang="en-US" altLang="zh-TW" i="1">
                              <a:solidFill>
                                <a:schemeClr val="accent1"/>
                              </a:solidFill>
                              <a:latin typeface="Cambria Math"/>
                            </a:rPr>
                            <m:t>−</m:t>
                          </m:r>
                          <m:r>
                            <a:rPr lang="en-US" altLang="zh-TW" i="1">
                              <a:solidFill>
                                <a:schemeClr val="accent1"/>
                              </a:solidFill>
                              <a:latin typeface="Cambria Math"/>
                            </a:rPr>
                            <m:t>𝑟𝑇</m:t>
                          </m:r>
                        </m:sup>
                      </m:sSup>
                      <m:sSub>
                        <m:sSubPr>
                          <m:ctrlPr>
                            <a:rPr lang="en-US" altLang="zh-TW" i="1">
                              <a:solidFill>
                                <a:schemeClr val="accent1"/>
                              </a:solidFill>
                              <a:latin typeface="Cambria Math" panose="02040503050406030204" pitchFamily="18" charset="0"/>
                            </a:rPr>
                          </m:ctrlPr>
                        </m:sSubPr>
                        <m:e>
                          <m:r>
                            <a:rPr lang="en-US" altLang="zh-TW" i="1">
                              <a:solidFill>
                                <a:schemeClr val="accent1"/>
                              </a:solidFill>
                              <a:latin typeface="Cambria Math"/>
                            </a:rPr>
                            <m:t>𝐼</m:t>
                          </m:r>
                        </m:e>
                        <m:sub>
                          <m:d>
                            <m:dPr>
                              <m:begChr m:val="{"/>
                              <m:endChr m:val="}"/>
                              <m:ctrlPr>
                                <a:rPr lang="en-US" altLang="zh-TW" i="1">
                                  <a:solidFill>
                                    <a:schemeClr val="accent1"/>
                                  </a:solidFill>
                                  <a:latin typeface="Cambria Math" panose="02040503050406030204" pitchFamily="18" charset="0"/>
                                </a:rPr>
                              </m:ctrlPr>
                            </m:dPr>
                            <m:e>
                              <m:r>
                                <a:rPr lang="zh-TW" altLang="en-US" i="1">
                                  <a:solidFill>
                                    <a:schemeClr val="accent1"/>
                                  </a:solidFill>
                                  <a:latin typeface="Cambria Math"/>
                                </a:rPr>
                                <m:t>存活，</m:t>
                              </m:r>
                              <m:r>
                                <a:rPr lang="en-US" altLang="zh-TW" i="1">
                                  <a:solidFill>
                                    <a:schemeClr val="accent1"/>
                                  </a:solidFill>
                                  <a:latin typeface="Cambria Math" panose="02040503050406030204" pitchFamily="18" charset="0"/>
                                </a:rPr>
                                <m:t>𝐶𝐶</m:t>
                              </m:r>
                              <m:r>
                                <a:rPr lang="zh-TW" altLang="en-US" i="1">
                                  <a:solidFill>
                                    <a:schemeClr val="accent1"/>
                                  </a:solidFill>
                                  <a:latin typeface="Cambria Math"/>
                                </a:rPr>
                                <m:t>未轉換</m:t>
                              </m:r>
                            </m:e>
                          </m:d>
                          <m:r>
                            <a:rPr lang="en-US" altLang="zh-TW" i="1">
                              <a:solidFill>
                                <a:schemeClr val="accent1"/>
                              </a:solidFill>
                              <a:latin typeface="Cambria Math"/>
                            </a:rPr>
                            <m:t>  </m:t>
                          </m:r>
                        </m:sub>
                      </m:sSub>
                      <m:r>
                        <a:rPr lang="en-US" altLang="zh-TW" i="1">
                          <a:solidFill>
                            <a:schemeClr val="accent1"/>
                          </a:solidFill>
                          <a:latin typeface="Cambria Math"/>
                        </a:rPr>
                        <m:t>}</m:t>
                      </m:r>
                    </m:oMath>
                  </m:oMathPara>
                </a14:m>
                <a:endParaRPr lang="en-US" altLang="zh-TW" dirty="0">
                  <a:latin typeface="標楷體" pitchFamily="65" charset="-120"/>
                  <a:ea typeface="標楷體" pitchFamily="65" charset="-120"/>
                </a:endParaRPr>
              </a:p>
              <a:p>
                <a:pPr>
                  <a:lnSpc>
                    <a:spcPct val="150000"/>
                  </a:lnSpc>
                </a:pPr>
                <a14:m>
                  <m:oMath xmlns:m="http://schemas.openxmlformats.org/officeDocument/2006/math">
                    <m:r>
                      <a:rPr lang="en-US" altLang="zh-TW" i="1">
                        <a:latin typeface="Cambria Math"/>
                      </a:rPr>
                      <m:t>+ </m:t>
                    </m:r>
                    <m:acc>
                      <m:accPr>
                        <m:chr m:val="̃"/>
                        <m:ctrlPr>
                          <a:rPr lang="en-US" altLang="zh-TW" i="1">
                            <a:solidFill>
                              <a:srgbClr val="FF0000"/>
                            </a:solidFill>
                            <a:latin typeface="Cambria Math" panose="02040503050406030204" pitchFamily="18" charset="0"/>
                          </a:rPr>
                        </m:ctrlPr>
                      </m:accPr>
                      <m:e>
                        <m:r>
                          <a:rPr lang="en-US" altLang="zh-TW" i="1">
                            <a:solidFill>
                              <a:srgbClr val="FF0000"/>
                            </a:solidFill>
                            <a:latin typeface="Cambria Math"/>
                          </a:rPr>
                          <m:t>𝐸</m:t>
                        </m:r>
                      </m:e>
                    </m:acc>
                    <m:r>
                      <a:rPr lang="en-US" altLang="zh-TW" i="1">
                        <a:solidFill>
                          <a:srgbClr val="FF0000"/>
                        </a:solidFill>
                        <a:latin typeface="Cambria Math"/>
                      </a:rPr>
                      <m:t>{ [</m:t>
                    </m:r>
                    <m:r>
                      <a:rPr lang="en-US" altLang="zh-TW" i="1">
                        <a:solidFill>
                          <a:srgbClr val="FF0000"/>
                        </a:solidFill>
                        <a:latin typeface="Cambria Math"/>
                      </a:rPr>
                      <m:t>𝑉</m:t>
                    </m:r>
                    <m:d>
                      <m:dPr>
                        <m:ctrlPr>
                          <a:rPr lang="en-US" altLang="zh-TW" i="1">
                            <a:solidFill>
                              <a:srgbClr val="FF0000"/>
                            </a:solidFill>
                            <a:latin typeface="Cambria Math" panose="02040503050406030204" pitchFamily="18" charset="0"/>
                          </a:rPr>
                        </m:ctrlPr>
                      </m:dPr>
                      <m:e>
                        <m:r>
                          <a:rPr lang="en-US" altLang="zh-TW" i="1">
                            <a:solidFill>
                              <a:srgbClr val="FF0000"/>
                            </a:solidFill>
                            <a:latin typeface="Cambria Math"/>
                          </a:rPr>
                          <m:t>𝑇</m:t>
                        </m:r>
                      </m:e>
                    </m:d>
                    <m:r>
                      <a:rPr lang="en-US" altLang="zh-TW" i="1">
                        <a:solidFill>
                          <a:srgbClr val="FF0000"/>
                        </a:solidFill>
                        <a:latin typeface="Cambria Math"/>
                      </a:rPr>
                      <m:t>−[</m:t>
                    </m:r>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𝐷</m:t>
                        </m:r>
                      </m:e>
                      <m:sub>
                        <m:r>
                          <a:rPr lang="en-US" altLang="zh-TW" i="1">
                            <a:solidFill>
                              <a:srgbClr val="FF0000"/>
                            </a:solidFill>
                            <a:latin typeface="Cambria Math"/>
                          </a:rPr>
                          <m:t>1</m:t>
                        </m:r>
                      </m:sub>
                    </m:sSub>
                    <m:r>
                      <a:rPr lang="en-US" altLang="zh-TW" i="1" dirty="0">
                        <a:solidFill>
                          <a:srgbClr val="FF0000"/>
                        </a:solidFill>
                        <a:latin typeface="Cambria Math" panose="02040503050406030204" pitchFamily="18" charset="0"/>
                        <a:ea typeface="微軟正黑體" panose="020B0604030504040204" pitchFamily="34" charset="-120"/>
                      </a:rPr>
                      <m:t>+</m:t>
                    </m:r>
                    <m:r>
                      <a:rPr lang="en-US" altLang="zh-TW" i="1">
                        <a:solidFill>
                          <a:srgbClr val="FF0000"/>
                        </a:solidFill>
                        <a:latin typeface="Cambria Math"/>
                      </a:rPr>
                      <m:t>(1−</m:t>
                    </m:r>
                    <m:r>
                      <a:rPr lang="en-US" altLang="zh-TW" i="1">
                        <a:solidFill>
                          <a:srgbClr val="FF0000"/>
                        </a:solidFill>
                        <a:latin typeface="Cambria Math"/>
                      </a:rPr>
                      <m:t>𝑡𝑎𝑥</m:t>
                    </m:r>
                    <m:r>
                      <a:rPr lang="en-US" altLang="zh-TW" i="1">
                        <a:solidFill>
                          <a:srgbClr val="FF0000"/>
                        </a:solidFill>
                        <a:latin typeface="Cambria Math"/>
                      </a:rPr>
                      <m:t>)(</m:t>
                    </m:r>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𝐶</m:t>
                        </m:r>
                      </m:e>
                      <m:sub>
                        <m:r>
                          <a:rPr lang="en-US" altLang="zh-TW" i="1">
                            <a:solidFill>
                              <a:srgbClr val="FF0000"/>
                            </a:solidFill>
                            <a:latin typeface="Cambria Math"/>
                          </a:rPr>
                          <m:t>1</m:t>
                        </m:r>
                      </m:sub>
                    </m:sSub>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𝐷</m:t>
                        </m:r>
                      </m:e>
                      <m:sub>
                        <m:r>
                          <a:rPr lang="en-US" altLang="zh-TW" i="1">
                            <a:solidFill>
                              <a:srgbClr val="FF0000"/>
                            </a:solidFill>
                            <a:latin typeface="Cambria Math"/>
                          </a:rPr>
                          <m:t>1</m:t>
                        </m:r>
                      </m:sub>
                    </m:sSub>
                    <m:r>
                      <a:rPr lang="en-US" altLang="zh-TW" i="1">
                        <a:solidFill>
                          <a:srgbClr val="FF0000"/>
                        </a:solidFill>
                        <a:latin typeface="Cambria Math"/>
                      </a:rPr>
                      <m:t>𝑇</m:t>
                    </m:r>
                    <m:r>
                      <a:rPr lang="en-US" altLang="zh-TW" i="1">
                        <a:solidFill>
                          <a:srgbClr val="FF0000"/>
                        </a:solidFill>
                        <a:latin typeface="Cambria Math"/>
                      </a:rPr>
                      <m:t>+</m:t>
                    </m:r>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𝐶</m:t>
                        </m:r>
                      </m:e>
                      <m:sub>
                        <m:r>
                          <a:rPr lang="en-US" altLang="zh-TW" i="1">
                            <a:solidFill>
                              <a:srgbClr val="FF0000"/>
                            </a:solidFill>
                            <a:latin typeface="Cambria Math"/>
                          </a:rPr>
                          <m:t>2</m:t>
                        </m:r>
                      </m:sub>
                    </m:sSub>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𝐷</m:t>
                        </m:r>
                      </m:e>
                      <m:sub>
                        <m:r>
                          <a:rPr lang="en-US" altLang="zh-TW" i="1">
                            <a:solidFill>
                              <a:srgbClr val="FF0000"/>
                            </a:solidFill>
                            <a:latin typeface="Cambria Math"/>
                          </a:rPr>
                          <m:t>2</m:t>
                        </m:r>
                      </m:sub>
                    </m:sSub>
                    <m:r>
                      <a:rPr lang="en-US" altLang="zh-TW" i="1">
                        <a:solidFill>
                          <a:srgbClr val="FF0000"/>
                        </a:solidFill>
                        <a:latin typeface="Cambria Math"/>
                      </a:rPr>
                      <m:t>𝑇</m:t>
                    </m:r>
                    <m:r>
                      <a:rPr lang="en-US" altLang="zh-TW" i="1">
                        <a:solidFill>
                          <a:srgbClr val="FF0000"/>
                        </a:solidFill>
                        <a:latin typeface="Cambria Math"/>
                      </a:rPr>
                      <m:t>)]]</m:t>
                    </m:r>
                    <m:f>
                      <m:fPr>
                        <m:ctrlPr>
                          <a:rPr lang="en-US" altLang="zh-TW" i="1" smtClean="0">
                            <a:solidFill>
                              <a:srgbClr val="FF0000"/>
                            </a:solidFill>
                            <a:latin typeface="Cambria Math" panose="02040503050406030204" pitchFamily="18" charset="0"/>
                          </a:rPr>
                        </m:ctrlPr>
                      </m:fPr>
                      <m:num>
                        <m:r>
                          <a:rPr lang="en-US" altLang="zh-TW" b="0" i="1" smtClean="0">
                            <a:solidFill>
                              <a:srgbClr val="FF0000"/>
                            </a:solidFill>
                            <a:latin typeface="Cambria Math" panose="02040503050406030204" pitchFamily="18" charset="0"/>
                          </a:rPr>
                          <m:t>𝑂</m:t>
                        </m:r>
                      </m:num>
                      <m:den>
                        <m:r>
                          <a:rPr lang="en-US" altLang="zh-TW" b="0" i="1" smtClean="0">
                            <a:solidFill>
                              <a:srgbClr val="FF0000"/>
                            </a:solidFill>
                            <a:latin typeface="Cambria Math" panose="02040503050406030204" pitchFamily="18" charset="0"/>
                          </a:rPr>
                          <m:t>𝑂</m:t>
                        </m:r>
                        <m:r>
                          <a:rPr lang="en-US" altLang="zh-TW" b="0" i="1" smtClean="0">
                            <a:solidFill>
                              <a:srgbClr val="FF0000"/>
                            </a:solidFill>
                            <a:latin typeface="Cambria Math" panose="02040503050406030204" pitchFamily="18" charset="0"/>
                          </a:rPr>
                          <m:t>+</m:t>
                        </m:r>
                        <m:sSub>
                          <m:sSubPr>
                            <m:ctrlPr>
                              <a:rPr lang="en-US" altLang="zh-TW"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𝑂</m:t>
                            </m:r>
                          </m:e>
                          <m:sub>
                            <m:r>
                              <a:rPr lang="en-US" altLang="zh-TW" b="0" i="1" smtClean="0">
                                <a:solidFill>
                                  <a:srgbClr val="FF0000"/>
                                </a:solidFill>
                                <a:latin typeface="Cambria Math" panose="02040503050406030204" pitchFamily="18" charset="0"/>
                              </a:rPr>
                              <m:t>𝐶𝐶</m:t>
                            </m:r>
                          </m:sub>
                        </m:sSub>
                      </m:den>
                    </m:f>
                    <m:r>
                      <a:rPr lang="en-US" altLang="zh-TW" i="1">
                        <a:solidFill>
                          <a:srgbClr val="FF0000"/>
                        </a:solidFill>
                        <a:latin typeface="Cambria Math"/>
                      </a:rPr>
                      <m:t> </m:t>
                    </m:r>
                    <m:sSup>
                      <m:sSupPr>
                        <m:ctrlPr>
                          <a:rPr lang="en-US" altLang="zh-TW" i="1">
                            <a:solidFill>
                              <a:srgbClr val="FF0000"/>
                            </a:solidFill>
                            <a:latin typeface="Cambria Math" panose="02040503050406030204" pitchFamily="18" charset="0"/>
                          </a:rPr>
                        </m:ctrlPr>
                      </m:sSupPr>
                      <m:e>
                        <m:r>
                          <a:rPr lang="en-US" altLang="zh-TW" i="1">
                            <a:solidFill>
                              <a:srgbClr val="FF0000"/>
                            </a:solidFill>
                            <a:latin typeface="Cambria Math"/>
                          </a:rPr>
                          <m:t>  </m:t>
                        </m:r>
                        <m:r>
                          <a:rPr lang="en-US" altLang="zh-TW" i="1">
                            <a:solidFill>
                              <a:srgbClr val="FF0000"/>
                            </a:solidFill>
                            <a:latin typeface="Cambria Math"/>
                          </a:rPr>
                          <m:t>𝑒</m:t>
                        </m:r>
                      </m:e>
                      <m:sup>
                        <m:r>
                          <a:rPr lang="en-US" altLang="zh-TW" i="1">
                            <a:solidFill>
                              <a:srgbClr val="FF0000"/>
                            </a:solidFill>
                            <a:latin typeface="Cambria Math"/>
                          </a:rPr>
                          <m:t>−</m:t>
                        </m:r>
                        <m:r>
                          <a:rPr lang="en-US" altLang="zh-TW" i="1">
                            <a:solidFill>
                              <a:srgbClr val="FF0000"/>
                            </a:solidFill>
                            <a:latin typeface="Cambria Math"/>
                          </a:rPr>
                          <m:t>𝑟𝑇</m:t>
                        </m:r>
                      </m:sup>
                    </m:sSup>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𝐼</m:t>
                        </m:r>
                      </m:e>
                      <m:sub>
                        <m:d>
                          <m:dPr>
                            <m:begChr m:val="{"/>
                            <m:endChr m:val="}"/>
                            <m:ctrlPr>
                              <a:rPr lang="en-US" altLang="zh-TW" i="1">
                                <a:solidFill>
                                  <a:srgbClr val="FF0000"/>
                                </a:solidFill>
                                <a:latin typeface="Cambria Math" panose="02040503050406030204" pitchFamily="18" charset="0"/>
                              </a:rPr>
                            </m:ctrlPr>
                          </m:dPr>
                          <m:e>
                            <m:r>
                              <a:rPr lang="zh-TW" altLang="en-US" i="1">
                                <a:solidFill>
                                  <a:srgbClr val="FF0000"/>
                                </a:solidFill>
                                <a:latin typeface="Cambria Math"/>
                              </a:rPr>
                              <m:t>存活，</m:t>
                            </m:r>
                            <m:r>
                              <a:rPr lang="en-US" altLang="zh-TW" i="1">
                                <a:solidFill>
                                  <a:srgbClr val="FF0000"/>
                                </a:solidFill>
                                <a:latin typeface="Cambria Math" panose="02040503050406030204" pitchFamily="18" charset="0"/>
                              </a:rPr>
                              <m:t>𝐶𝐶</m:t>
                            </m:r>
                            <m:r>
                              <a:rPr lang="zh-TW" altLang="en-US" i="1">
                                <a:solidFill>
                                  <a:srgbClr val="FF0000"/>
                                </a:solidFill>
                                <a:latin typeface="Cambria Math"/>
                              </a:rPr>
                              <m:t>已轉換</m:t>
                            </m:r>
                          </m:e>
                        </m:d>
                        <m:r>
                          <a:rPr lang="en-US" altLang="zh-TW" i="1">
                            <a:solidFill>
                              <a:srgbClr val="FF0000"/>
                            </a:solidFill>
                            <a:latin typeface="Cambria Math"/>
                          </a:rPr>
                          <m:t>  </m:t>
                        </m:r>
                      </m:sub>
                    </m:sSub>
                    <m:r>
                      <a:rPr lang="en-US" altLang="zh-TW" i="1">
                        <a:solidFill>
                          <a:srgbClr val="FF0000"/>
                        </a:solidFill>
                        <a:latin typeface="Cambria Math"/>
                      </a:rPr>
                      <m:t>}</m:t>
                    </m:r>
                  </m:oMath>
                </a14:m>
                <a:r>
                  <a:rPr lang="en-US" altLang="zh-TW" dirty="0">
                    <a:latin typeface="標楷體" pitchFamily="65" charset="-120"/>
                    <a:ea typeface="標楷體" pitchFamily="65" charset="-120"/>
                  </a:rPr>
                  <a:t>	</a:t>
                </a:r>
                <a:endParaRPr lang="zh-TW" altLang="en-US" dirty="0"/>
              </a:p>
            </p:txBody>
          </p:sp>
        </mc:Choice>
        <mc:Fallback xmlns="">
          <p:sp>
            <p:nvSpPr>
              <p:cNvPr id="7" name="矩形 6"/>
              <p:cNvSpPr>
                <a:spLocks noRot="1" noChangeAspect="1" noMove="1" noResize="1" noEditPoints="1" noAdjustHandles="1" noChangeArrowheads="1" noChangeShapeType="1" noTextEdit="1"/>
              </p:cNvSpPr>
              <p:nvPr/>
            </p:nvSpPr>
            <p:spPr>
              <a:xfrm>
                <a:off x="446584" y="4105370"/>
                <a:ext cx="11745416" cy="2106089"/>
              </a:xfrm>
              <a:prstGeom prst="rect">
                <a:avLst/>
              </a:prstGeom>
              <a:blipFill rotWithShape="0">
                <a:blip r:embed="rId4"/>
                <a:stretch>
                  <a:fillRect/>
                </a:stretch>
              </a:blipFill>
            </p:spPr>
            <p:txBody>
              <a:bodyPr/>
              <a:lstStyle/>
              <a:p>
                <a:r>
                  <a:rPr lang="zh-TW" altLang="en-US">
                    <a:noFill/>
                  </a:rPr>
                  <a:t> </a:t>
                </a:r>
              </a:p>
            </p:txBody>
          </p:sp>
        </mc:Fallback>
      </mc:AlternateContent>
      <p:grpSp>
        <p:nvGrpSpPr>
          <p:cNvPr id="48" name="群組 47"/>
          <p:cNvGrpSpPr/>
          <p:nvPr/>
        </p:nvGrpSpPr>
        <p:grpSpPr>
          <a:xfrm>
            <a:off x="3101069" y="1357408"/>
            <a:ext cx="7115630" cy="2468336"/>
            <a:chOff x="432009" y="1330806"/>
            <a:chExt cx="15289787" cy="5303863"/>
          </a:xfrm>
        </p:grpSpPr>
        <p:sp>
          <p:nvSpPr>
            <p:cNvPr id="54" name="矩形 53"/>
            <p:cNvSpPr/>
            <p:nvPr/>
          </p:nvSpPr>
          <p:spPr>
            <a:xfrm>
              <a:off x="1815191" y="1717719"/>
              <a:ext cx="4763602" cy="1944187"/>
            </a:xfrm>
            <a:prstGeom prst="rect">
              <a:avLst/>
            </a:pr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矩形 56"/>
            <p:cNvSpPr/>
            <p:nvPr/>
          </p:nvSpPr>
          <p:spPr>
            <a:xfrm>
              <a:off x="6602042" y="1717719"/>
              <a:ext cx="4064307" cy="1944187"/>
            </a:xfrm>
            <a:prstGeom prst="rect">
              <a:avLst/>
            </a:prstGeom>
            <a:solidFill>
              <a:srgbClr val="51DF7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矩形 58"/>
            <p:cNvSpPr/>
            <p:nvPr/>
          </p:nvSpPr>
          <p:spPr>
            <a:xfrm>
              <a:off x="1845116" y="3661906"/>
              <a:ext cx="7094327" cy="2419629"/>
            </a:xfrm>
            <a:prstGeom prst="rect">
              <a:avLst/>
            </a:prstGeom>
            <a:solidFill>
              <a:srgbClr val="5B9BD5">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60" name="Group 7"/>
            <p:cNvGrpSpPr>
              <a:grpSpLocks/>
            </p:cNvGrpSpPr>
            <p:nvPr/>
          </p:nvGrpSpPr>
          <p:grpSpPr bwMode="auto">
            <a:xfrm>
              <a:off x="2162450" y="1637697"/>
              <a:ext cx="9417982" cy="4103385"/>
              <a:chOff x="1810" y="7721"/>
              <a:chExt cx="8776" cy="4537"/>
            </a:xfrm>
          </p:grpSpPr>
          <p:sp>
            <p:nvSpPr>
              <p:cNvPr id="83" name="Text Box 19"/>
              <p:cNvSpPr txBox="1">
                <a:spLocks noChangeArrowheads="1"/>
              </p:cNvSpPr>
              <p:nvPr/>
            </p:nvSpPr>
            <p:spPr bwMode="auto">
              <a:xfrm>
                <a:off x="9647" y="11594"/>
                <a:ext cx="939" cy="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TW" sz="1200" b="0" i="0" u="none" strike="noStrike" cap="none" normalizeH="0" baseline="0" smtClean="0">
                    <a:ln>
                      <a:noFill/>
                    </a:ln>
                    <a:solidFill>
                      <a:schemeClr val="tx1"/>
                    </a:solidFill>
                    <a:effectLst/>
                    <a:latin typeface="Calibri" panose="020F0502020204030204" pitchFamily="34" charset="0"/>
                    <a:ea typeface="新細明體" panose="02020500000000000000" pitchFamily="18" charset="-120"/>
                    <a:cs typeface="Times New Roman" panose="02020603050405020304" pitchFamily="18" charset="0"/>
                  </a:rPr>
                  <a:t>        </a:t>
                </a:r>
                <a:endParaRPr kumimoji="0" lang="en-US" altLang="zh-TW" sz="1800" b="0" i="0" u="none" strike="noStrike" cap="none" normalizeH="0" baseline="0" smtClean="0">
                  <a:ln>
                    <a:noFill/>
                  </a:ln>
                  <a:solidFill>
                    <a:schemeClr val="tx1"/>
                  </a:solidFill>
                  <a:effectLst/>
                  <a:latin typeface="Arial" panose="020B0604020202020204" pitchFamily="34" charset="0"/>
                </a:endParaRPr>
              </a:p>
            </p:txBody>
          </p:sp>
          <p:sp>
            <p:nvSpPr>
              <p:cNvPr id="84" name="Text Box 18"/>
              <p:cNvSpPr txBox="1">
                <a:spLocks noChangeArrowheads="1"/>
              </p:cNvSpPr>
              <p:nvPr/>
            </p:nvSpPr>
            <p:spPr bwMode="auto">
              <a:xfrm>
                <a:off x="1810" y="7721"/>
                <a:ext cx="939" cy="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TW" sz="1200" b="0" i="0" u="none" strike="noStrike" cap="none" normalizeH="0" baseline="0" smtClean="0">
                    <a:ln>
                      <a:noFill/>
                    </a:ln>
                    <a:solidFill>
                      <a:schemeClr val="tx1"/>
                    </a:solidFill>
                    <a:effectLst/>
                    <a:latin typeface="Calibri" panose="020F0502020204030204" pitchFamily="34" charset="0"/>
                    <a:ea typeface="新細明體" panose="02020500000000000000" pitchFamily="18" charset="-120"/>
                    <a:cs typeface="Times New Roman" panose="02020603050405020304" pitchFamily="18" charset="0"/>
                  </a:rPr>
                  <a:t>      </a:t>
                </a:r>
                <a:endParaRPr kumimoji="0" lang="en-US" altLang="zh-TW" sz="1800" b="0" i="0" u="none" strike="noStrike" cap="none" normalizeH="0" baseline="0" smtClean="0">
                  <a:ln>
                    <a:noFill/>
                  </a:ln>
                  <a:solidFill>
                    <a:schemeClr val="tx1"/>
                  </a:solidFill>
                  <a:effectLst/>
                  <a:latin typeface="Arial" panose="020B0604020202020204" pitchFamily="34" charset="0"/>
                </a:endParaRPr>
              </a:p>
            </p:txBody>
          </p:sp>
        </p:grpSp>
        <mc:AlternateContent xmlns:mc="http://schemas.openxmlformats.org/markup-compatibility/2006" xmlns:a14="http://schemas.microsoft.com/office/drawing/2010/main">
          <mc:Choice Requires="a14">
            <p:graphicFrame>
              <p:nvGraphicFramePr>
                <p:cNvPr id="61" name="物件 60"/>
                <p:cNvGraphicFramePr>
                  <a:graphicFrameLocks noChangeAspect="1"/>
                </p:cNvGraphicFramePr>
                <p:nvPr>
                  <p:extLst/>
                </p:nvPr>
              </p:nvGraphicFramePr>
              <p:xfrm>
                <a:off x="9967548" y="6218980"/>
                <a:ext cx="603618" cy="348757"/>
              </p:xfrm>
              <a:graphic>
                <a:graphicData uri="http://schemas.openxmlformats.org/presentationml/2006/ole">
                  <mc:AlternateContent>
                    <mc:Choice xmlns:v="urn:schemas-microsoft-com:vml" Requires="v">
                      <p:oleObj spid="_x0000_s8259" r:id="rId5" imgW="355292" imgH="203024" progId="Equation.DSMT4">
                        <p:embed/>
                      </p:oleObj>
                    </mc:Choice>
                    <mc:Fallback>
                      <p:oleObj r:id="rId5" imgW="355292" imgH="203024" progId="Equation.DSMT4">
                        <p:embed/>
                        <p:pic>
                          <p:nvPicPr>
                            <p:cNvPr id="0" name=""/>
                            <p:cNvPicPr>
                              <a:picLocks noChangeAspect="1" noChangeArrowheads="1"/>
                            </p:cNvPicPr>
                            <p:nvPr/>
                          </p:nvPicPr>
                          <p:blipFill>
                            <a:blip r:embed="rId6">
                              <a:extLst>
                                <a:ext uri="{28A0092B-C50C-407E-A947-70E740481C1C}">
                                  <a14:useLocalDpi val="0"/>
                                </a:ext>
                              </a:extLst>
                            </a:blip>
                            <a:srcRect/>
                            <a:stretch>
                              <a:fillRect/>
                            </a:stretch>
                          </p:blipFill>
                          <p:spPr bwMode="auto">
                            <a:xfrm>
                              <a:off x="9967548" y="6218980"/>
                              <a:ext cx="603618" cy="348757"/>
                            </a:xfrm>
                            <a:prstGeom prst="rect">
                              <a:avLst/>
                            </a:prstGeom>
                            <a:noFill/>
                          </p:spPr>
                        </p:pic>
                      </p:oleObj>
                    </mc:Fallback>
                  </mc:AlternateContent>
                </a:graphicData>
              </a:graphic>
            </p:graphicFrame>
          </mc:Choice>
          <mc:Fallback xmlns="">
            <p:graphicFrame>
              <p:nvGraphicFramePr>
                <p:cNvPr id="61" name="物件 60"/>
                <p:cNvGraphicFramePr>
                  <a:graphicFrameLocks noChangeAspect="1"/>
                </p:cNvGraphicFramePr>
                <p:nvPr>
                  <p:extLst>
                    <p:ext uri="{D42A27DB-BD31-4B8C-83A1-F6EECF244321}">
                      <p14:modId xmlns:p14="http://schemas.microsoft.com/office/powerpoint/2010/main" val="4040951457"/>
                    </p:ext>
                  </p:extLst>
                </p:nvPr>
              </p:nvGraphicFramePr>
              <p:xfrm>
                <a:off x="9967548" y="6218980"/>
                <a:ext cx="603618" cy="348757"/>
              </p:xfrm>
              <a:graphic>
                <a:graphicData uri="http://schemas.openxmlformats.org/presentationml/2006/ole">
                  <mc:AlternateContent>
                    <mc:Choice xmlns:v="urn:schemas-microsoft-com:vml" Requires="v">
                      <p:oleObj spid="_x0000_s3080" r:id="rId7" imgW="355292" imgH="203024" progId="Equation.DSMT4">
                        <p:embed/>
                      </p:oleObj>
                    </mc:Choice>
                    <mc:Fallback>
                      <p:oleObj r:id="rId7" imgW="355292" imgH="203024"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67548" y="6218980"/>
                              <a:ext cx="603618" cy="348757"/>
                            </a:xfrm>
                            <a:prstGeom prst="rect">
                              <a:avLst/>
                            </a:prstGeom>
                            <a:noFill/>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64" name="文字方塊 63"/>
                <p:cNvSpPr txBox="1"/>
                <p:nvPr/>
              </p:nvSpPr>
              <p:spPr>
                <a:xfrm>
                  <a:off x="432009" y="3486440"/>
                  <a:ext cx="1284510" cy="2976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900" b="0" i="1" smtClean="0">
                            <a:solidFill>
                              <a:schemeClr val="accent6"/>
                            </a:solidFill>
                            <a:latin typeface="Cambria Math" panose="02040503050406030204" pitchFamily="18" charset="0"/>
                          </a:rPr>
                          <m:t>𝐼</m:t>
                        </m:r>
                        <m:d>
                          <m:dPr>
                            <m:ctrlPr>
                              <a:rPr lang="en-US" altLang="zh-TW" sz="900" b="0" i="1" smtClean="0">
                                <a:solidFill>
                                  <a:schemeClr val="accent6"/>
                                </a:solidFill>
                                <a:latin typeface="Cambria Math" panose="02040503050406030204" pitchFamily="18" charset="0"/>
                              </a:rPr>
                            </m:ctrlPr>
                          </m:dPr>
                          <m:e>
                            <m:r>
                              <a:rPr lang="en-US" altLang="zh-TW" sz="900" b="0" i="1" smtClean="0">
                                <a:solidFill>
                                  <a:schemeClr val="accent6"/>
                                </a:solidFill>
                                <a:latin typeface="Cambria Math" panose="02040503050406030204" pitchFamily="18" charset="0"/>
                              </a:rPr>
                              <m:t>𝑇</m:t>
                            </m:r>
                          </m:e>
                        </m:d>
                        <m:r>
                          <a:rPr lang="en-US" altLang="zh-TW" sz="900" b="0" i="1" smtClean="0">
                            <a:solidFill>
                              <a:schemeClr val="accent6"/>
                            </a:solidFill>
                            <a:latin typeface="Cambria Math" panose="02040503050406030204" pitchFamily="18" charset="0"/>
                          </a:rPr>
                          <m:t>=</m:t>
                        </m:r>
                        <m:r>
                          <a:rPr lang="en-US" altLang="zh-TW" sz="900" b="0" i="1" smtClean="0">
                            <a:solidFill>
                              <a:schemeClr val="accent6"/>
                            </a:solidFill>
                            <a:latin typeface="Cambria Math" panose="02040503050406030204" pitchFamily="18" charset="0"/>
                          </a:rPr>
                          <m:t>𝐼</m:t>
                        </m:r>
                        <m:r>
                          <a:rPr lang="en-US" altLang="zh-TW" sz="900" b="0" i="1" smtClean="0">
                            <a:solidFill>
                              <a:schemeClr val="accent6"/>
                            </a:solidFill>
                            <a:latin typeface="Cambria Math" panose="02040503050406030204" pitchFamily="18" charset="0"/>
                          </a:rPr>
                          <m:t>(0)</m:t>
                        </m:r>
                      </m:oMath>
                    </m:oMathPara>
                  </a14:m>
                  <a:endParaRPr lang="zh-TW" altLang="en-US" sz="900" dirty="0">
                    <a:solidFill>
                      <a:schemeClr val="accent6"/>
                    </a:solidFill>
                  </a:endParaRPr>
                </a:p>
              </p:txBody>
            </p:sp>
          </mc:Choice>
          <mc:Fallback xmlns="">
            <p:sp>
              <p:nvSpPr>
                <p:cNvPr id="64" name="文字方塊 63"/>
                <p:cNvSpPr txBox="1">
                  <a:spLocks noRot="1" noChangeAspect="1" noMove="1" noResize="1" noEditPoints="1" noAdjustHandles="1" noChangeArrowheads="1" noChangeShapeType="1" noTextEdit="1"/>
                </p:cNvSpPr>
                <p:nvPr/>
              </p:nvSpPr>
              <p:spPr>
                <a:xfrm>
                  <a:off x="432009" y="3486440"/>
                  <a:ext cx="1284510" cy="297601"/>
                </a:xfrm>
                <a:prstGeom prst="rect">
                  <a:avLst/>
                </a:prstGeom>
                <a:blipFill rotWithShape="0">
                  <a:blip r:embed="rId9"/>
                  <a:stretch>
                    <a:fillRect l="-5102" r="-7143" b="-3478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5" name="矩形 64"/>
                <p:cNvSpPr/>
                <p:nvPr/>
              </p:nvSpPr>
              <p:spPr>
                <a:xfrm>
                  <a:off x="896015" y="1348388"/>
                  <a:ext cx="795205" cy="49600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900" i="1">
                            <a:latin typeface="Cambria Math" panose="02040503050406030204" pitchFamily="18" charset="0"/>
                          </a:rPr>
                          <m:t>𝐼</m:t>
                        </m:r>
                        <m:r>
                          <a:rPr lang="en-US" altLang="zh-TW" sz="900" i="1">
                            <a:latin typeface="Cambria Math" panose="02040503050406030204" pitchFamily="18" charset="0"/>
                          </a:rPr>
                          <m:t>(</m:t>
                        </m:r>
                        <m:r>
                          <a:rPr lang="en-US" altLang="zh-TW" sz="900" i="1">
                            <a:latin typeface="Cambria Math" panose="02040503050406030204" pitchFamily="18" charset="0"/>
                          </a:rPr>
                          <m:t>𝑇</m:t>
                        </m:r>
                        <m:r>
                          <a:rPr lang="en-US" altLang="zh-TW" sz="900" i="1">
                            <a:latin typeface="Cambria Math" panose="02040503050406030204" pitchFamily="18" charset="0"/>
                          </a:rPr>
                          <m:t>)</m:t>
                        </m:r>
                      </m:oMath>
                    </m:oMathPara>
                  </a14:m>
                  <a:endParaRPr lang="zh-TW" altLang="en-US" sz="900" dirty="0"/>
                </a:p>
              </p:txBody>
            </p:sp>
          </mc:Choice>
          <mc:Fallback xmlns="">
            <p:sp>
              <p:nvSpPr>
                <p:cNvPr id="65" name="矩形 64"/>
                <p:cNvSpPr>
                  <a:spLocks noRot="1" noChangeAspect="1" noMove="1" noResize="1" noEditPoints="1" noAdjustHandles="1" noChangeArrowheads="1" noChangeShapeType="1" noTextEdit="1"/>
                </p:cNvSpPr>
                <p:nvPr/>
              </p:nvSpPr>
              <p:spPr>
                <a:xfrm>
                  <a:off x="896015" y="1348388"/>
                  <a:ext cx="795205" cy="496003"/>
                </a:xfrm>
                <a:prstGeom prst="rect">
                  <a:avLst/>
                </a:prstGeom>
                <a:blipFill rotWithShape="0">
                  <a:blip r:embed="rId10"/>
                  <a:stretch>
                    <a:fillRect b="-263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7" name="文字方塊 66"/>
                <p:cNvSpPr txBox="1"/>
                <p:nvPr/>
              </p:nvSpPr>
              <p:spPr>
                <a:xfrm>
                  <a:off x="9221528" y="3678938"/>
                  <a:ext cx="6500268" cy="609672"/>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sz="900" b="0" i="1" smtClean="0">
                            <a:solidFill>
                              <a:srgbClr val="FF0000"/>
                            </a:solidFill>
                            <a:latin typeface="Cambria Math" panose="02040503050406030204" pitchFamily="18" charset="0"/>
                          </a:rPr>
                          <m:t>𝑉</m:t>
                        </m:r>
                        <m:r>
                          <a:rPr lang="en-US" altLang="zh-TW" sz="900" b="0" i="1" smtClean="0">
                            <a:solidFill>
                              <a:srgbClr val="FF0000"/>
                            </a:solidFill>
                            <a:latin typeface="Cambria Math" panose="02040503050406030204" pitchFamily="18" charset="0"/>
                          </a:rPr>
                          <m:t>(</m:t>
                        </m:r>
                        <m:r>
                          <a:rPr lang="en-US" altLang="zh-TW" sz="900" b="0" i="1" smtClean="0">
                            <a:solidFill>
                              <a:srgbClr val="FF0000"/>
                            </a:solidFill>
                            <a:latin typeface="Cambria Math" panose="02040503050406030204" pitchFamily="18" charset="0"/>
                          </a:rPr>
                          <m:t>𝑇</m:t>
                        </m:r>
                        <m:r>
                          <a:rPr lang="en-US" altLang="zh-TW" sz="900" b="0" i="1" smtClean="0">
                            <a:solidFill>
                              <a:srgbClr val="FF0000"/>
                            </a:solidFill>
                            <a:latin typeface="Cambria Math" panose="02040503050406030204" pitchFamily="18" charset="0"/>
                          </a:rPr>
                          <m:t>)=</m:t>
                        </m:r>
                        <m:r>
                          <a:rPr lang="en-US" altLang="zh-TW" sz="900" b="0" i="1" smtClean="0">
                            <a:solidFill>
                              <a:srgbClr val="FF0000"/>
                            </a:solidFill>
                            <a:latin typeface="Cambria Math" panose="02040503050406030204" pitchFamily="18" charset="0"/>
                          </a:rPr>
                          <m:t>𝑉</m:t>
                        </m:r>
                        <m:r>
                          <a:rPr lang="en-US" altLang="zh-TW" sz="900" i="1">
                            <a:solidFill>
                              <a:srgbClr val="FF0000"/>
                            </a:solidFill>
                            <a:latin typeface="Cambria Math" panose="02040503050406030204" pitchFamily="18" charset="0"/>
                          </a:rPr>
                          <m:t>"</m:t>
                        </m:r>
                        <m:r>
                          <a:rPr lang="en-US" altLang="zh-TW" sz="900" b="0" i="1" smtClean="0">
                            <a:solidFill>
                              <a:srgbClr val="FF0000"/>
                            </a:solidFill>
                            <a:latin typeface="Cambria Math" panose="02040503050406030204" pitchFamily="18" charset="0"/>
                          </a:rPr>
                          <m:t>=</m:t>
                        </m:r>
                        <m:sSub>
                          <m:sSubPr>
                            <m:ctrlPr>
                              <a:rPr lang="en-US" altLang="zh-TW" sz="900" i="1">
                                <a:solidFill>
                                  <a:srgbClr val="FF0000"/>
                                </a:solidFill>
                                <a:latin typeface="Cambria Math" panose="02040503050406030204" pitchFamily="18" charset="0"/>
                              </a:rPr>
                            </m:ctrlPr>
                          </m:sSubPr>
                          <m:e>
                            <m:r>
                              <a:rPr lang="en-US" altLang="zh-TW" sz="900" i="1">
                                <a:solidFill>
                                  <a:srgbClr val="FF0000"/>
                                </a:solidFill>
                                <a:latin typeface="Cambria Math"/>
                              </a:rPr>
                              <m:t>𝐷</m:t>
                            </m:r>
                          </m:e>
                          <m:sub>
                            <m:r>
                              <a:rPr lang="en-US" altLang="zh-TW" sz="900" i="1">
                                <a:solidFill>
                                  <a:srgbClr val="FF0000"/>
                                </a:solidFill>
                                <a:latin typeface="Cambria Math"/>
                              </a:rPr>
                              <m:t>1</m:t>
                            </m:r>
                          </m:sub>
                        </m:sSub>
                        <m:r>
                          <a:rPr lang="en-US" altLang="zh-TW" sz="900" i="1">
                            <a:solidFill>
                              <a:srgbClr val="FF0000"/>
                            </a:solidFill>
                            <a:latin typeface="Cambria Math"/>
                          </a:rPr>
                          <m:t>+</m:t>
                        </m:r>
                        <m:r>
                          <a:rPr lang="en-US" altLang="zh-TW" sz="900" i="1">
                            <a:solidFill>
                              <a:srgbClr val="FF0000"/>
                            </a:solidFill>
                            <a:latin typeface="Cambria Math" panose="02040503050406030204" pitchFamily="18" charset="0"/>
                          </a:rPr>
                          <m:t>(</m:t>
                        </m:r>
                        <m:r>
                          <a:rPr lang="en-US" altLang="zh-TW" sz="900" b="0" i="1" smtClean="0">
                            <a:solidFill>
                              <a:srgbClr val="FF0000"/>
                            </a:solidFill>
                            <a:latin typeface="Cambria Math" panose="02040503050406030204" pitchFamily="18" charset="0"/>
                          </a:rPr>
                          <m:t>1+</m:t>
                        </m:r>
                        <m:f>
                          <m:fPr>
                            <m:ctrlPr>
                              <a:rPr lang="en-US" altLang="zh-TW" sz="900" i="1">
                                <a:solidFill>
                                  <a:srgbClr val="FF0000"/>
                                </a:solidFill>
                                <a:latin typeface="Cambria Math" panose="02040503050406030204" pitchFamily="18" charset="0"/>
                              </a:rPr>
                            </m:ctrlPr>
                          </m:fPr>
                          <m:num>
                            <m:r>
                              <a:rPr lang="en-US" altLang="zh-TW" sz="900" i="1" dirty="0">
                                <a:solidFill>
                                  <a:srgbClr val="FF0000"/>
                                </a:solidFill>
                                <a:latin typeface="Cambria Math" panose="02040503050406030204" pitchFamily="18" charset="0"/>
                                <a:ea typeface="微軟正黑體" panose="020B0604030504040204" pitchFamily="34" charset="-120"/>
                              </a:rPr>
                              <m:t>𝑂</m:t>
                            </m:r>
                          </m:num>
                          <m:den>
                            <m:sSub>
                              <m:sSubPr>
                                <m:ctrlPr>
                                  <a:rPr lang="en-US" altLang="zh-TW" sz="900" i="1" dirty="0">
                                    <a:solidFill>
                                      <a:srgbClr val="FF0000"/>
                                    </a:solidFill>
                                    <a:latin typeface="Cambria Math" panose="02040503050406030204" pitchFamily="18" charset="0"/>
                                    <a:ea typeface="微軟正黑體" panose="020B0604030504040204" pitchFamily="34" charset="-120"/>
                                  </a:rPr>
                                </m:ctrlPr>
                              </m:sSubPr>
                              <m:e>
                                <m:r>
                                  <a:rPr lang="en-US" altLang="zh-TW" sz="900" i="1" dirty="0">
                                    <a:solidFill>
                                      <a:srgbClr val="FF0000"/>
                                    </a:solidFill>
                                    <a:latin typeface="Cambria Math" panose="02040503050406030204" pitchFamily="18" charset="0"/>
                                    <a:ea typeface="微軟正黑體" panose="020B0604030504040204" pitchFamily="34" charset="-120"/>
                                  </a:rPr>
                                  <m:t>𝑂</m:t>
                                </m:r>
                              </m:e>
                              <m:sub>
                                <m:r>
                                  <a:rPr lang="en-US" altLang="zh-TW" sz="900" i="1" dirty="0">
                                    <a:solidFill>
                                      <a:srgbClr val="FF0000"/>
                                    </a:solidFill>
                                    <a:latin typeface="Cambria Math" panose="02040503050406030204" pitchFamily="18" charset="0"/>
                                    <a:ea typeface="微軟正黑體" panose="020B0604030504040204" pitchFamily="34" charset="-120"/>
                                  </a:rPr>
                                  <m:t>𝐶𝐶</m:t>
                                </m:r>
                              </m:sub>
                            </m:sSub>
                          </m:den>
                        </m:f>
                        <m:r>
                          <a:rPr lang="en-US" altLang="zh-TW" sz="900" i="1">
                            <a:solidFill>
                              <a:srgbClr val="FF0000"/>
                            </a:solidFill>
                            <a:latin typeface="Cambria Math" panose="02040503050406030204" pitchFamily="18" charset="0"/>
                          </a:rPr>
                          <m:t>)</m:t>
                        </m:r>
                        <m:sSub>
                          <m:sSubPr>
                            <m:ctrlPr>
                              <a:rPr lang="en-US" altLang="zh-TW" sz="900" i="1">
                                <a:solidFill>
                                  <a:srgbClr val="FF0000"/>
                                </a:solidFill>
                                <a:latin typeface="Cambria Math" panose="02040503050406030204" pitchFamily="18" charset="0"/>
                              </a:rPr>
                            </m:ctrlPr>
                          </m:sSubPr>
                          <m:e>
                            <m:r>
                              <a:rPr lang="en-US" altLang="zh-TW" sz="900" i="1">
                                <a:solidFill>
                                  <a:srgbClr val="FF0000"/>
                                </a:solidFill>
                                <a:latin typeface="Cambria Math"/>
                              </a:rPr>
                              <m:t>𝐷</m:t>
                            </m:r>
                          </m:e>
                          <m:sub>
                            <m:r>
                              <a:rPr lang="en-US" altLang="zh-TW" sz="900" i="1">
                                <a:solidFill>
                                  <a:srgbClr val="FF0000"/>
                                </a:solidFill>
                                <a:latin typeface="Cambria Math"/>
                              </a:rPr>
                              <m:t>2</m:t>
                            </m:r>
                          </m:sub>
                        </m:sSub>
                        <m:r>
                          <a:rPr lang="en-US" altLang="zh-TW" sz="900" i="1">
                            <a:solidFill>
                              <a:srgbClr val="FF0000"/>
                            </a:solidFill>
                            <a:latin typeface="Cambria Math"/>
                          </a:rPr>
                          <m:t>+(1−</m:t>
                        </m:r>
                        <m:r>
                          <a:rPr lang="en-US" altLang="zh-TW" sz="900" i="1">
                            <a:solidFill>
                              <a:srgbClr val="FF0000"/>
                            </a:solidFill>
                            <a:latin typeface="Cambria Math"/>
                          </a:rPr>
                          <m:t>𝑡𝑎𝑥</m:t>
                        </m:r>
                        <m:r>
                          <a:rPr lang="en-US" altLang="zh-TW" sz="900" i="1">
                            <a:solidFill>
                              <a:srgbClr val="FF0000"/>
                            </a:solidFill>
                            <a:latin typeface="Cambria Math"/>
                          </a:rPr>
                          <m:t>)(</m:t>
                        </m:r>
                        <m:sSub>
                          <m:sSubPr>
                            <m:ctrlPr>
                              <a:rPr lang="en-US" altLang="zh-TW" sz="900" i="1">
                                <a:solidFill>
                                  <a:srgbClr val="FF0000"/>
                                </a:solidFill>
                                <a:latin typeface="Cambria Math" panose="02040503050406030204" pitchFamily="18" charset="0"/>
                              </a:rPr>
                            </m:ctrlPr>
                          </m:sSubPr>
                          <m:e>
                            <m:r>
                              <a:rPr lang="en-US" altLang="zh-TW" sz="900" i="1">
                                <a:solidFill>
                                  <a:srgbClr val="FF0000"/>
                                </a:solidFill>
                                <a:latin typeface="Cambria Math"/>
                              </a:rPr>
                              <m:t>𝐶</m:t>
                            </m:r>
                          </m:e>
                          <m:sub>
                            <m:r>
                              <a:rPr lang="en-US" altLang="zh-TW" sz="900" i="1">
                                <a:solidFill>
                                  <a:srgbClr val="FF0000"/>
                                </a:solidFill>
                                <a:latin typeface="Cambria Math"/>
                              </a:rPr>
                              <m:t>1</m:t>
                            </m:r>
                          </m:sub>
                        </m:sSub>
                        <m:sSub>
                          <m:sSubPr>
                            <m:ctrlPr>
                              <a:rPr lang="en-US" altLang="zh-TW" sz="900" i="1">
                                <a:solidFill>
                                  <a:srgbClr val="FF0000"/>
                                </a:solidFill>
                                <a:latin typeface="Cambria Math" panose="02040503050406030204" pitchFamily="18" charset="0"/>
                              </a:rPr>
                            </m:ctrlPr>
                          </m:sSubPr>
                          <m:e>
                            <m:r>
                              <a:rPr lang="en-US" altLang="zh-TW" sz="900" i="1">
                                <a:solidFill>
                                  <a:srgbClr val="FF0000"/>
                                </a:solidFill>
                                <a:latin typeface="Cambria Math"/>
                              </a:rPr>
                              <m:t>𝐷</m:t>
                            </m:r>
                          </m:e>
                          <m:sub>
                            <m:r>
                              <a:rPr lang="en-US" altLang="zh-TW" sz="900" i="1">
                                <a:solidFill>
                                  <a:srgbClr val="FF0000"/>
                                </a:solidFill>
                                <a:latin typeface="Cambria Math"/>
                              </a:rPr>
                              <m:t>1</m:t>
                            </m:r>
                          </m:sub>
                        </m:sSub>
                        <m:r>
                          <a:rPr lang="en-US" altLang="zh-TW" sz="900" i="1">
                            <a:solidFill>
                              <a:srgbClr val="FF0000"/>
                            </a:solidFill>
                            <a:latin typeface="Cambria Math"/>
                          </a:rPr>
                          <m:t>𝑇</m:t>
                        </m:r>
                        <m:r>
                          <a:rPr lang="en-US" altLang="zh-TW" sz="900" i="1">
                            <a:solidFill>
                              <a:srgbClr val="FF0000"/>
                            </a:solidFill>
                            <a:latin typeface="Cambria Math"/>
                          </a:rPr>
                          <m:t>+</m:t>
                        </m:r>
                        <m:sSub>
                          <m:sSubPr>
                            <m:ctrlPr>
                              <a:rPr lang="en-US" altLang="zh-TW" sz="900" i="1">
                                <a:solidFill>
                                  <a:srgbClr val="FF0000"/>
                                </a:solidFill>
                                <a:latin typeface="Cambria Math" panose="02040503050406030204" pitchFamily="18" charset="0"/>
                              </a:rPr>
                            </m:ctrlPr>
                          </m:sSubPr>
                          <m:e>
                            <m:r>
                              <a:rPr lang="en-US" altLang="zh-TW" sz="900" i="1">
                                <a:solidFill>
                                  <a:srgbClr val="FF0000"/>
                                </a:solidFill>
                                <a:latin typeface="Cambria Math"/>
                              </a:rPr>
                              <m:t>𝐶</m:t>
                            </m:r>
                          </m:e>
                          <m:sub>
                            <m:r>
                              <a:rPr lang="en-US" altLang="zh-TW" sz="900" i="1">
                                <a:solidFill>
                                  <a:srgbClr val="FF0000"/>
                                </a:solidFill>
                                <a:latin typeface="Cambria Math"/>
                              </a:rPr>
                              <m:t>2</m:t>
                            </m:r>
                          </m:sub>
                        </m:sSub>
                        <m:sSub>
                          <m:sSubPr>
                            <m:ctrlPr>
                              <a:rPr lang="en-US" altLang="zh-TW" sz="900" i="1">
                                <a:solidFill>
                                  <a:srgbClr val="FF0000"/>
                                </a:solidFill>
                                <a:latin typeface="Cambria Math" panose="02040503050406030204" pitchFamily="18" charset="0"/>
                              </a:rPr>
                            </m:ctrlPr>
                          </m:sSubPr>
                          <m:e>
                            <m:r>
                              <a:rPr lang="en-US" altLang="zh-TW" sz="900" i="1">
                                <a:solidFill>
                                  <a:srgbClr val="FF0000"/>
                                </a:solidFill>
                                <a:latin typeface="Cambria Math"/>
                              </a:rPr>
                              <m:t>𝐷</m:t>
                            </m:r>
                          </m:e>
                          <m:sub>
                            <m:r>
                              <a:rPr lang="en-US" altLang="zh-TW" sz="900" i="1">
                                <a:solidFill>
                                  <a:srgbClr val="FF0000"/>
                                </a:solidFill>
                                <a:latin typeface="Cambria Math"/>
                              </a:rPr>
                              <m:t>2</m:t>
                            </m:r>
                          </m:sub>
                        </m:sSub>
                        <m:r>
                          <a:rPr lang="en-US" altLang="zh-TW" sz="900" i="1">
                            <a:solidFill>
                              <a:srgbClr val="FF0000"/>
                            </a:solidFill>
                            <a:latin typeface="Cambria Math"/>
                          </a:rPr>
                          <m:t>𝑇</m:t>
                        </m:r>
                        <m:r>
                          <a:rPr lang="en-US" altLang="zh-TW" sz="900" i="1">
                            <a:solidFill>
                              <a:srgbClr val="FF0000"/>
                            </a:solidFill>
                            <a:latin typeface="Cambria Math"/>
                          </a:rPr>
                          <m:t>)</m:t>
                        </m:r>
                      </m:oMath>
                    </m:oMathPara>
                  </a14:m>
                  <a:endParaRPr lang="zh-TW" altLang="en-US" sz="900" dirty="0">
                    <a:solidFill>
                      <a:srgbClr val="FF0000"/>
                    </a:solidFill>
                    <a:latin typeface="微軟正黑體" panose="020B0604030504040204" pitchFamily="34" charset="-120"/>
                    <a:ea typeface="微軟正黑體" panose="020B0604030504040204" pitchFamily="34" charset="-120"/>
                  </a:endParaRPr>
                </a:p>
              </p:txBody>
            </p:sp>
          </mc:Choice>
          <mc:Fallback xmlns="">
            <p:sp>
              <p:nvSpPr>
                <p:cNvPr id="67" name="文字方塊 66"/>
                <p:cNvSpPr txBox="1">
                  <a:spLocks noRot="1" noChangeAspect="1" noMove="1" noResize="1" noEditPoints="1" noAdjustHandles="1" noChangeArrowheads="1" noChangeShapeType="1" noTextEdit="1"/>
                </p:cNvSpPr>
                <p:nvPr/>
              </p:nvSpPr>
              <p:spPr>
                <a:xfrm>
                  <a:off x="9221528" y="3678938"/>
                  <a:ext cx="6500268" cy="609672"/>
                </a:xfrm>
                <a:prstGeom prst="rect">
                  <a:avLst/>
                </a:prstGeom>
                <a:blipFill rotWithShape="0">
                  <a:blip r:embed="rId11"/>
                  <a:stretch>
                    <a:fillRect l="-1411" t="-2174" b="-13043"/>
                  </a:stretch>
                </a:blipFill>
              </p:spPr>
              <p:txBody>
                <a:bodyPr/>
                <a:lstStyle/>
                <a:p>
                  <a:r>
                    <a:rPr lang="zh-TW" altLang="en-US">
                      <a:noFill/>
                    </a:rPr>
                    <a:t> </a:t>
                  </a:r>
                </a:p>
              </p:txBody>
            </p:sp>
          </mc:Fallback>
        </mc:AlternateContent>
        <p:cxnSp>
          <p:nvCxnSpPr>
            <p:cNvPr id="68" name="直線接點 67"/>
            <p:cNvCxnSpPr/>
            <p:nvPr/>
          </p:nvCxnSpPr>
          <p:spPr>
            <a:xfrm flipV="1">
              <a:off x="8939443" y="3661906"/>
              <a:ext cx="0" cy="241963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0" name="Text Box 9"/>
            <p:cNvSpPr txBox="1">
              <a:spLocks noChangeArrowheads="1"/>
            </p:cNvSpPr>
            <p:nvPr/>
          </p:nvSpPr>
          <p:spPr bwMode="auto">
            <a:xfrm>
              <a:off x="6096886" y="4235367"/>
              <a:ext cx="1952063" cy="191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1100" b="1" dirty="0" smtClean="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存活</a:t>
              </a:r>
              <a:endParaRPr lang="en-US" altLang="zh-TW" sz="1100" b="1" dirty="0" smtClean="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1100" b="1" i="0" u="none" strike="noStrike" cap="none" normalizeH="0" baseline="0" dirty="0" smtClean="0">
                  <a:ln>
                    <a:noFill/>
                  </a:ln>
                  <a:solidFill>
                    <a:srgbClr val="FF0000"/>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1100" b="1" i="0" u="none" strike="noStrike" cap="none" normalizeH="0" baseline="0" dirty="0" smtClean="0">
                <a:ln>
                  <a:noFill/>
                </a:ln>
                <a:solidFill>
                  <a:srgbClr val="FF0000"/>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1100" b="1" dirty="0" smtClean="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1100" b="1" dirty="0" smtClean="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已轉換</a:t>
              </a:r>
              <a:endParaRPr kumimoji="0" lang="zh-TW" sz="1100" b="1" i="0" u="none" strike="noStrike" cap="none" normalizeH="0" baseline="0" dirty="0" smtClean="0">
                <a:ln>
                  <a:noFill/>
                </a:ln>
                <a:solidFill>
                  <a:srgbClr val="FF0000"/>
                </a:solidFill>
                <a:effectLst/>
                <a:latin typeface="微軟正黑體" panose="020B0604030504040204" pitchFamily="34" charset="-120"/>
                <a:ea typeface="微軟正黑體" panose="020B0604030504040204" pitchFamily="34" charset="-120"/>
              </a:endParaRPr>
            </a:p>
          </p:txBody>
        </p:sp>
        <p:sp>
          <p:nvSpPr>
            <p:cNvPr id="71" name="Text Box 9"/>
            <p:cNvSpPr txBox="1">
              <a:spLocks noChangeArrowheads="1"/>
            </p:cNvSpPr>
            <p:nvPr/>
          </p:nvSpPr>
          <p:spPr bwMode="auto">
            <a:xfrm>
              <a:off x="8826865" y="2021207"/>
              <a:ext cx="1952063"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1100" b="1" dirty="0" smtClean="0">
                  <a:solidFill>
                    <a:srgbClr val="00B0F0"/>
                  </a:solidFill>
                  <a:latin typeface="微軟正黑體" panose="020B0604030504040204" pitchFamily="34" charset="-120"/>
                  <a:ea typeface="微軟正黑體" panose="020B0604030504040204" pitchFamily="34" charset="-120"/>
                  <a:cs typeface="Times New Roman" panose="02020603050405020304" pitchFamily="18" charset="0"/>
                </a:rPr>
                <a:t>存活</a:t>
              </a:r>
              <a:endParaRPr lang="en-US" altLang="zh-TW" sz="1100" b="1" dirty="0" smtClean="0">
                <a:solidFill>
                  <a:srgbClr val="00B0F0"/>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1100" b="1" i="0" u="none" strike="noStrike" cap="none" normalizeH="0" baseline="0" dirty="0" smtClean="0">
                  <a:ln>
                    <a:noFill/>
                  </a:ln>
                  <a:solidFill>
                    <a:srgbClr val="00B0F0"/>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zh-TW" sz="1100" b="1" i="0" u="none" strike="noStrike" cap="none" normalizeH="0" baseline="0" dirty="0" smtClean="0">
                <a:ln>
                  <a:noFill/>
                </a:ln>
                <a:solidFill>
                  <a:srgbClr val="00B0F0"/>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100" b="1" i="0" u="none" strike="noStrike" cap="none" normalizeH="0" baseline="0" dirty="0" smtClean="0">
                  <a:ln>
                    <a:noFill/>
                  </a:ln>
                  <a:solidFill>
                    <a:srgbClr val="00B0F0"/>
                  </a:solidFill>
                  <a:effectLst/>
                  <a:latin typeface="微軟正黑體" panose="020B0604030504040204" pitchFamily="34" charset="-120"/>
                  <a:ea typeface="微軟正黑體" panose="020B0604030504040204" pitchFamily="34" charset="-120"/>
                  <a:cs typeface="Times New Roman" panose="02020603050405020304" pitchFamily="18" charset="0"/>
                </a:rPr>
                <a:t>CC</a:t>
              </a:r>
              <a:r>
                <a:rPr kumimoji="0" lang="zh-TW" altLang="en-US" sz="1100" b="1" i="0" u="none" strike="noStrike" cap="none" normalizeH="0" baseline="0" dirty="0" smtClean="0">
                  <a:ln>
                    <a:noFill/>
                  </a:ln>
                  <a:solidFill>
                    <a:srgbClr val="00B0F0"/>
                  </a:solidFill>
                  <a:effectLst/>
                  <a:latin typeface="微軟正黑體" panose="020B0604030504040204" pitchFamily="34" charset="-120"/>
                  <a:ea typeface="微軟正黑體" panose="020B0604030504040204" pitchFamily="34" charset="-120"/>
                  <a:cs typeface="Times New Roman" panose="02020603050405020304" pitchFamily="18" charset="0"/>
                </a:rPr>
                <a:t>未轉換</a:t>
              </a:r>
              <a:endParaRPr kumimoji="0" lang="zh-TW" altLang="en-US" sz="1100" b="1" i="0" u="none" strike="noStrike" cap="none" normalizeH="0" baseline="0" dirty="0" smtClean="0">
                <a:ln>
                  <a:noFill/>
                </a:ln>
                <a:solidFill>
                  <a:srgbClr val="00B0F0"/>
                </a:solidFill>
                <a:effectLst/>
                <a:latin typeface="微軟正黑體" panose="020B0604030504040204" pitchFamily="34" charset="-120"/>
                <a:ea typeface="微軟正黑體" panose="020B0604030504040204" pitchFamily="34" charset="-120"/>
              </a:endParaRPr>
            </a:p>
          </p:txBody>
        </p:sp>
        <p:cxnSp>
          <p:nvCxnSpPr>
            <p:cNvPr id="73" name="直線單箭頭接點 72"/>
            <p:cNvCxnSpPr/>
            <p:nvPr/>
          </p:nvCxnSpPr>
          <p:spPr>
            <a:xfrm flipH="1" flipV="1">
              <a:off x="1809498" y="1791077"/>
              <a:ext cx="25626" cy="43232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線單箭頭接點 73"/>
            <p:cNvCxnSpPr/>
            <p:nvPr/>
          </p:nvCxnSpPr>
          <p:spPr>
            <a:xfrm>
              <a:off x="1838080" y="6081535"/>
              <a:ext cx="8517611"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5" name="直線接點 74"/>
            <p:cNvCxnSpPr/>
            <p:nvPr/>
          </p:nvCxnSpPr>
          <p:spPr>
            <a:xfrm>
              <a:off x="6578793" y="1717719"/>
              <a:ext cx="0" cy="19381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線接點 75"/>
            <p:cNvCxnSpPr/>
            <p:nvPr/>
          </p:nvCxnSpPr>
          <p:spPr>
            <a:xfrm flipH="1">
              <a:off x="3504811" y="3639847"/>
              <a:ext cx="9775" cy="2451632"/>
            </a:xfrm>
            <a:prstGeom prst="line">
              <a:avLst/>
            </a:prstGeom>
            <a:ln w="1905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77" name="矩形 76"/>
            <p:cNvSpPr/>
            <p:nvPr/>
          </p:nvSpPr>
          <p:spPr>
            <a:xfrm>
              <a:off x="8922626" y="3661906"/>
              <a:ext cx="1743723" cy="2419629"/>
            </a:xfrm>
            <a:prstGeom prst="rect">
              <a:avLst/>
            </a:prstGeom>
            <a:solidFill>
              <a:srgbClr val="51DF7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78" name="文字方塊 77"/>
                <p:cNvSpPr txBox="1"/>
                <p:nvPr/>
              </p:nvSpPr>
              <p:spPr>
                <a:xfrm>
                  <a:off x="1464033" y="6287466"/>
                  <a:ext cx="5040638" cy="34720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sz="1050" b="0" i="1" smtClean="0">
                            <a:solidFill>
                              <a:srgbClr val="7030A0"/>
                            </a:solidFill>
                            <a:latin typeface="Cambria Math" panose="02040503050406030204" pitchFamily="18" charset="0"/>
                          </a:rPr>
                          <m:t>𝑉</m:t>
                        </m:r>
                        <m:r>
                          <a:rPr lang="en-US" altLang="zh-TW" sz="1050" b="0" i="1" smtClean="0">
                            <a:solidFill>
                              <a:srgbClr val="7030A0"/>
                            </a:solidFill>
                            <a:latin typeface="Cambria Math" panose="02040503050406030204" pitchFamily="18" charset="0"/>
                          </a:rPr>
                          <m:t>(</m:t>
                        </m:r>
                        <m:r>
                          <a:rPr lang="en-US" altLang="zh-TW" sz="1050" b="0" i="1" smtClean="0">
                            <a:solidFill>
                              <a:srgbClr val="7030A0"/>
                            </a:solidFill>
                            <a:latin typeface="Cambria Math" panose="02040503050406030204" pitchFamily="18" charset="0"/>
                          </a:rPr>
                          <m:t>𝑇</m:t>
                        </m:r>
                        <m:r>
                          <a:rPr lang="en-US" altLang="zh-TW" sz="1050" b="0" i="1" smtClean="0">
                            <a:solidFill>
                              <a:srgbClr val="7030A0"/>
                            </a:solidFill>
                            <a:latin typeface="Cambria Math" panose="02040503050406030204" pitchFamily="18" charset="0"/>
                          </a:rPr>
                          <m:t>)=</m:t>
                        </m:r>
                        <m:sSub>
                          <m:sSubPr>
                            <m:ctrlPr>
                              <a:rPr lang="en-US" altLang="zh-TW" sz="1050" i="1">
                                <a:solidFill>
                                  <a:srgbClr val="7030A0"/>
                                </a:solidFill>
                                <a:latin typeface="Cambria Math" panose="02040503050406030204" pitchFamily="18" charset="0"/>
                              </a:rPr>
                            </m:ctrlPr>
                          </m:sSubPr>
                          <m:e>
                            <m:r>
                              <a:rPr lang="en-US" altLang="zh-TW" sz="1050" i="1">
                                <a:solidFill>
                                  <a:srgbClr val="7030A0"/>
                                </a:solidFill>
                                <a:latin typeface="Cambria Math"/>
                              </a:rPr>
                              <m:t>𝐷</m:t>
                            </m:r>
                          </m:e>
                          <m:sub>
                            <m:r>
                              <a:rPr lang="en-US" altLang="zh-TW" sz="1050" i="1">
                                <a:solidFill>
                                  <a:srgbClr val="7030A0"/>
                                </a:solidFill>
                                <a:latin typeface="Cambria Math"/>
                              </a:rPr>
                              <m:t>1</m:t>
                            </m:r>
                          </m:sub>
                        </m:sSub>
                        <m:r>
                          <a:rPr lang="en-US" altLang="zh-TW" sz="1050" i="1">
                            <a:solidFill>
                              <a:srgbClr val="7030A0"/>
                            </a:solidFill>
                            <a:latin typeface="Cambria Math"/>
                          </a:rPr>
                          <m:t>+(1−</m:t>
                        </m:r>
                        <m:r>
                          <a:rPr lang="en-US" altLang="zh-TW" sz="1050" i="1">
                            <a:solidFill>
                              <a:srgbClr val="7030A0"/>
                            </a:solidFill>
                            <a:latin typeface="Cambria Math"/>
                          </a:rPr>
                          <m:t>𝑡𝑎𝑥</m:t>
                        </m:r>
                        <m:r>
                          <a:rPr lang="en-US" altLang="zh-TW" sz="1050" i="1">
                            <a:solidFill>
                              <a:srgbClr val="7030A0"/>
                            </a:solidFill>
                            <a:latin typeface="Cambria Math"/>
                          </a:rPr>
                          <m:t>)(</m:t>
                        </m:r>
                        <m:sSub>
                          <m:sSubPr>
                            <m:ctrlPr>
                              <a:rPr lang="en-US" altLang="zh-TW" sz="1050" i="1">
                                <a:solidFill>
                                  <a:srgbClr val="7030A0"/>
                                </a:solidFill>
                                <a:latin typeface="Cambria Math" panose="02040503050406030204" pitchFamily="18" charset="0"/>
                              </a:rPr>
                            </m:ctrlPr>
                          </m:sSubPr>
                          <m:e>
                            <m:r>
                              <a:rPr lang="en-US" altLang="zh-TW" sz="1050" i="1">
                                <a:solidFill>
                                  <a:srgbClr val="7030A0"/>
                                </a:solidFill>
                                <a:latin typeface="Cambria Math"/>
                              </a:rPr>
                              <m:t>𝐶</m:t>
                            </m:r>
                          </m:e>
                          <m:sub>
                            <m:r>
                              <a:rPr lang="en-US" altLang="zh-TW" sz="1050" i="1">
                                <a:solidFill>
                                  <a:srgbClr val="7030A0"/>
                                </a:solidFill>
                                <a:latin typeface="Cambria Math"/>
                              </a:rPr>
                              <m:t>1</m:t>
                            </m:r>
                          </m:sub>
                        </m:sSub>
                        <m:sSub>
                          <m:sSubPr>
                            <m:ctrlPr>
                              <a:rPr lang="en-US" altLang="zh-TW" sz="1050" i="1">
                                <a:solidFill>
                                  <a:srgbClr val="7030A0"/>
                                </a:solidFill>
                                <a:latin typeface="Cambria Math" panose="02040503050406030204" pitchFamily="18" charset="0"/>
                              </a:rPr>
                            </m:ctrlPr>
                          </m:sSubPr>
                          <m:e>
                            <m:r>
                              <a:rPr lang="en-US" altLang="zh-TW" sz="1050" i="1">
                                <a:solidFill>
                                  <a:srgbClr val="7030A0"/>
                                </a:solidFill>
                                <a:latin typeface="Cambria Math"/>
                              </a:rPr>
                              <m:t>𝐷</m:t>
                            </m:r>
                          </m:e>
                          <m:sub>
                            <m:r>
                              <a:rPr lang="en-US" altLang="zh-TW" sz="1050" i="1">
                                <a:solidFill>
                                  <a:srgbClr val="7030A0"/>
                                </a:solidFill>
                                <a:latin typeface="Cambria Math"/>
                              </a:rPr>
                              <m:t>1</m:t>
                            </m:r>
                          </m:sub>
                        </m:sSub>
                        <m:r>
                          <a:rPr lang="en-US" altLang="zh-TW" sz="1050" i="1">
                            <a:solidFill>
                              <a:srgbClr val="7030A0"/>
                            </a:solidFill>
                            <a:latin typeface="Cambria Math"/>
                          </a:rPr>
                          <m:t>𝑇</m:t>
                        </m:r>
                        <m:r>
                          <a:rPr lang="en-US" altLang="zh-TW" sz="1050" i="1">
                            <a:solidFill>
                              <a:srgbClr val="7030A0"/>
                            </a:solidFill>
                            <a:latin typeface="Cambria Math"/>
                          </a:rPr>
                          <m:t>+</m:t>
                        </m:r>
                        <m:sSub>
                          <m:sSubPr>
                            <m:ctrlPr>
                              <a:rPr lang="en-US" altLang="zh-TW" sz="1050" i="1">
                                <a:solidFill>
                                  <a:srgbClr val="7030A0"/>
                                </a:solidFill>
                                <a:latin typeface="Cambria Math" panose="02040503050406030204" pitchFamily="18" charset="0"/>
                              </a:rPr>
                            </m:ctrlPr>
                          </m:sSubPr>
                          <m:e>
                            <m:r>
                              <a:rPr lang="en-US" altLang="zh-TW" sz="1050" i="1">
                                <a:solidFill>
                                  <a:srgbClr val="7030A0"/>
                                </a:solidFill>
                                <a:latin typeface="Cambria Math"/>
                              </a:rPr>
                              <m:t>𝐶</m:t>
                            </m:r>
                          </m:e>
                          <m:sub>
                            <m:r>
                              <a:rPr lang="en-US" altLang="zh-TW" sz="1050" i="1">
                                <a:solidFill>
                                  <a:srgbClr val="7030A0"/>
                                </a:solidFill>
                                <a:latin typeface="Cambria Math"/>
                              </a:rPr>
                              <m:t>2</m:t>
                            </m:r>
                          </m:sub>
                        </m:sSub>
                        <m:sSub>
                          <m:sSubPr>
                            <m:ctrlPr>
                              <a:rPr lang="en-US" altLang="zh-TW" sz="1050" i="1">
                                <a:solidFill>
                                  <a:srgbClr val="7030A0"/>
                                </a:solidFill>
                                <a:latin typeface="Cambria Math" panose="02040503050406030204" pitchFamily="18" charset="0"/>
                              </a:rPr>
                            </m:ctrlPr>
                          </m:sSubPr>
                          <m:e>
                            <m:r>
                              <a:rPr lang="en-US" altLang="zh-TW" sz="1050" i="1">
                                <a:solidFill>
                                  <a:srgbClr val="7030A0"/>
                                </a:solidFill>
                                <a:latin typeface="Cambria Math"/>
                              </a:rPr>
                              <m:t>𝐷</m:t>
                            </m:r>
                          </m:e>
                          <m:sub>
                            <m:r>
                              <a:rPr lang="en-US" altLang="zh-TW" sz="1050" i="1">
                                <a:solidFill>
                                  <a:srgbClr val="7030A0"/>
                                </a:solidFill>
                                <a:latin typeface="Cambria Math"/>
                              </a:rPr>
                              <m:t>2</m:t>
                            </m:r>
                          </m:sub>
                        </m:sSub>
                        <m:r>
                          <a:rPr lang="en-US" altLang="zh-TW" sz="1050" i="1">
                            <a:solidFill>
                              <a:srgbClr val="7030A0"/>
                            </a:solidFill>
                            <a:latin typeface="Cambria Math"/>
                          </a:rPr>
                          <m:t>𝑇</m:t>
                        </m:r>
                        <m:r>
                          <a:rPr lang="en-US" altLang="zh-TW" sz="1050" i="1">
                            <a:solidFill>
                              <a:srgbClr val="7030A0"/>
                            </a:solidFill>
                            <a:latin typeface="Cambria Math"/>
                          </a:rPr>
                          <m:t>)</m:t>
                        </m:r>
                      </m:oMath>
                    </m:oMathPara>
                  </a14:m>
                  <a:endParaRPr lang="zh-TW" altLang="en-US" sz="1050" dirty="0">
                    <a:solidFill>
                      <a:srgbClr val="7030A0"/>
                    </a:solidFill>
                    <a:latin typeface="微軟正黑體" panose="020B0604030504040204" pitchFamily="34" charset="-120"/>
                    <a:ea typeface="微軟正黑體" panose="020B0604030504040204" pitchFamily="34" charset="-120"/>
                  </a:endParaRPr>
                </a:p>
              </p:txBody>
            </p:sp>
          </mc:Choice>
          <mc:Fallback xmlns="">
            <p:sp>
              <p:nvSpPr>
                <p:cNvPr id="78" name="文字方塊 77"/>
                <p:cNvSpPr txBox="1">
                  <a:spLocks noRot="1" noChangeAspect="1" noMove="1" noResize="1" noEditPoints="1" noAdjustHandles="1" noChangeArrowheads="1" noChangeShapeType="1" noTextEdit="1"/>
                </p:cNvSpPr>
                <p:nvPr/>
              </p:nvSpPr>
              <p:spPr>
                <a:xfrm>
                  <a:off x="1464033" y="6287466"/>
                  <a:ext cx="5040638" cy="347203"/>
                </a:xfrm>
                <a:prstGeom prst="rect">
                  <a:avLst/>
                </a:prstGeom>
                <a:blipFill rotWithShape="0">
                  <a:blip r:embed="rId12"/>
                  <a:stretch>
                    <a:fillRect l="-2078" t="-3704" r="-519" b="-37037"/>
                  </a:stretch>
                </a:blipFill>
              </p:spPr>
              <p:txBody>
                <a:bodyPr/>
                <a:lstStyle/>
                <a:p>
                  <a:r>
                    <a:rPr lang="zh-TW" altLang="en-US">
                      <a:noFill/>
                    </a:rPr>
                    <a:t> </a:t>
                  </a:r>
                </a:p>
              </p:txBody>
            </p:sp>
          </mc:Fallback>
        </mc:AlternateContent>
        <p:cxnSp>
          <p:nvCxnSpPr>
            <p:cNvPr id="80" name="直線接點 79"/>
            <p:cNvCxnSpPr/>
            <p:nvPr/>
          </p:nvCxnSpPr>
          <p:spPr>
            <a:xfrm flipV="1">
              <a:off x="5294645" y="3655872"/>
              <a:ext cx="0" cy="2419629"/>
            </a:xfrm>
            <a:prstGeom prst="line">
              <a:avLst/>
            </a:prstGeom>
            <a:ln w="28575">
              <a:solidFill>
                <a:srgbClr val="7030A0"/>
              </a:solidFill>
              <a:prstDash val="solid"/>
            </a:ln>
          </p:spPr>
          <p:style>
            <a:lnRef idx="1">
              <a:schemeClr val="accent1"/>
            </a:lnRef>
            <a:fillRef idx="0">
              <a:schemeClr val="accent1"/>
            </a:fillRef>
            <a:effectRef idx="0">
              <a:schemeClr val="accent1"/>
            </a:effectRef>
            <a:fontRef idx="minor">
              <a:schemeClr val="tx1"/>
            </a:fontRef>
          </p:style>
        </p:cxnSp>
        <p:cxnSp>
          <p:nvCxnSpPr>
            <p:cNvPr id="81" name="直線接點 80"/>
            <p:cNvCxnSpPr/>
            <p:nvPr/>
          </p:nvCxnSpPr>
          <p:spPr>
            <a:xfrm>
              <a:off x="3510468" y="1330806"/>
              <a:ext cx="2382" cy="2331099"/>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7" name="文字方塊 26"/>
              <p:cNvSpPr txBox="1"/>
              <p:nvPr/>
            </p:nvSpPr>
            <p:spPr>
              <a:xfrm>
                <a:off x="5737415" y="1297033"/>
                <a:ext cx="2411436" cy="1384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900" b="0" i="1" smtClean="0">
                          <a:latin typeface="Cambria Math" panose="02040503050406030204" pitchFamily="18" charset="0"/>
                        </a:rPr>
                        <m:t>𝑉</m:t>
                      </m:r>
                      <m:d>
                        <m:dPr>
                          <m:ctrlPr>
                            <a:rPr lang="en-US" altLang="zh-TW" sz="900" b="0" i="1" smtClean="0">
                              <a:latin typeface="Cambria Math" panose="02040503050406030204" pitchFamily="18" charset="0"/>
                            </a:rPr>
                          </m:ctrlPr>
                        </m:dPr>
                        <m:e>
                          <m:r>
                            <a:rPr lang="en-US" altLang="zh-TW" sz="900" b="0" i="1" smtClean="0">
                              <a:latin typeface="Cambria Math" panose="02040503050406030204" pitchFamily="18" charset="0"/>
                            </a:rPr>
                            <m:t>𝑇</m:t>
                          </m:r>
                        </m:e>
                      </m:d>
                      <m:r>
                        <a:rPr lang="en-US" altLang="zh-TW" sz="900" b="0" i="1" smtClean="0">
                          <a:latin typeface="Cambria Math" panose="02040503050406030204" pitchFamily="18" charset="0"/>
                        </a:rPr>
                        <m:t>=</m:t>
                      </m:r>
                      <m:sSub>
                        <m:sSubPr>
                          <m:ctrlPr>
                            <a:rPr lang="en-US" altLang="zh-TW" sz="900" i="1">
                              <a:latin typeface="Cambria Math" panose="02040503050406030204" pitchFamily="18" charset="0"/>
                            </a:rPr>
                          </m:ctrlPr>
                        </m:sSubPr>
                        <m:e>
                          <m:r>
                            <a:rPr lang="en-US" altLang="zh-TW" sz="900" i="1">
                              <a:latin typeface="Cambria Math"/>
                            </a:rPr>
                            <m:t>𝐷</m:t>
                          </m:r>
                        </m:e>
                        <m:sub>
                          <m:r>
                            <a:rPr lang="en-US" altLang="zh-TW" sz="900" i="1">
                              <a:latin typeface="Cambria Math"/>
                            </a:rPr>
                            <m:t>1</m:t>
                          </m:r>
                        </m:sub>
                      </m:sSub>
                      <m:r>
                        <a:rPr lang="en-US" altLang="zh-TW" sz="900" i="1">
                          <a:latin typeface="Cambria Math"/>
                        </a:rPr>
                        <m:t>+</m:t>
                      </m:r>
                      <m:sSub>
                        <m:sSubPr>
                          <m:ctrlPr>
                            <a:rPr lang="en-US" altLang="zh-TW" sz="900" i="1">
                              <a:latin typeface="Cambria Math" panose="02040503050406030204" pitchFamily="18" charset="0"/>
                            </a:rPr>
                          </m:ctrlPr>
                        </m:sSubPr>
                        <m:e>
                          <m:r>
                            <a:rPr lang="en-US" altLang="zh-TW" sz="900" i="1">
                              <a:latin typeface="Cambria Math"/>
                            </a:rPr>
                            <m:t>𝐷</m:t>
                          </m:r>
                        </m:e>
                        <m:sub>
                          <m:r>
                            <a:rPr lang="en-US" altLang="zh-TW" sz="900" i="1">
                              <a:latin typeface="Cambria Math"/>
                            </a:rPr>
                            <m:t>2</m:t>
                          </m:r>
                        </m:sub>
                      </m:sSub>
                      <m:r>
                        <a:rPr lang="en-US" altLang="zh-TW" sz="900" i="1">
                          <a:latin typeface="Cambria Math" panose="02040503050406030204" pitchFamily="18" charset="0"/>
                        </a:rPr>
                        <m:t>+(1−</m:t>
                      </m:r>
                      <m:r>
                        <a:rPr lang="en-US" altLang="zh-TW" sz="900" i="1">
                          <a:latin typeface="Cambria Math" panose="02040503050406030204" pitchFamily="18" charset="0"/>
                        </a:rPr>
                        <m:t>𝑡𝑎𝑥</m:t>
                      </m:r>
                      <m:r>
                        <a:rPr lang="en-US" altLang="zh-TW" sz="900" i="1">
                          <a:latin typeface="Cambria Math" panose="02040503050406030204" pitchFamily="18" charset="0"/>
                        </a:rPr>
                        <m:t>)(</m:t>
                      </m:r>
                      <m:sSub>
                        <m:sSubPr>
                          <m:ctrlPr>
                            <a:rPr lang="en-US" altLang="zh-TW" sz="900" i="1">
                              <a:latin typeface="Cambria Math" panose="02040503050406030204" pitchFamily="18" charset="0"/>
                            </a:rPr>
                          </m:ctrlPr>
                        </m:sSubPr>
                        <m:e>
                          <m:r>
                            <a:rPr lang="en-US" altLang="zh-TW" sz="900" i="1">
                              <a:latin typeface="Cambria Math"/>
                            </a:rPr>
                            <m:t>𝐶</m:t>
                          </m:r>
                        </m:e>
                        <m:sub>
                          <m:r>
                            <a:rPr lang="en-US" altLang="zh-TW" sz="900" i="1">
                              <a:latin typeface="Cambria Math"/>
                            </a:rPr>
                            <m:t>1</m:t>
                          </m:r>
                        </m:sub>
                      </m:sSub>
                      <m:sSub>
                        <m:sSubPr>
                          <m:ctrlPr>
                            <a:rPr lang="en-US" altLang="zh-TW" sz="900" i="1">
                              <a:latin typeface="Cambria Math" panose="02040503050406030204" pitchFamily="18" charset="0"/>
                            </a:rPr>
                          </m:ctrlPr>
                        </m:sSubPr>
                        <m:e>
                          <m:r>
                            <a:rPr lang="en-US" altLang="zh-TW" sz="900" i="1">
                              <a:latin typeface="Cambria Math"/>
                            </a:rPr>
                            <m:t>𝐷</m:t>
                          </m:r>
                        </m:e>
                        <m:sub>
                          <m:r>
                            <a:rPr lang="en-US" altLang="zh-TW" sz="900" i="1">
                              <a:latin typeface="Cambria Math"/>
                            </a:rPr>
                            <m:t>1</m:t>
                          </m:r>
                        </m:sub>
                      </m:sSub>
                      <m:r>
                        <a:rPr lang="en-US" altLang="zh-TW" sz="900" i="1">
                          <a:latin typeface="Cambria Math"/>
                        </a:rPr>
                        <m:t>𝑇</m:t>
                      </m:r>
                      <m:r>
                        <a:rPr lang="en-US" altLang="zh-TW" sz="900" i="1">
                          <a:latin typeface="Cambria Math"/>
                        </a:rPr>
                        <m:t>+</m:t>
                      </m:r>
                      <m:sSub>
                        <m:sSubPr>
                          <m:ctrlPr>
                            <a:rPr lang="en-US" altLang="zh-TW" sz="900" i="1">
                              <a:latin typeface="Cambria Math" panose="02040503050406030204" pitchFamily="18" charset="0"/>
                            </a:rPr>
                          </m:ctrlPr>
                        </m:sSubPr>
                        <m:e>
                          <m:r>
                            <a:rPr lang="en-US" altLang="zh-TW" sz="900" i="1">
                              <a:latin typeface="Cambria Math"/>
                            </a:rPr>
                            <m:t>𝐶</m:t>
                          </m:r>
                        </m:e>
                        <m:sub>
                          <m:r>
                            <a:rPr lang="en-US" altLang="zh-TW" sz="900" i="1">
                              <a:latin typeface="Cambria Math"/>
                            </a:rPr>
                            <m:t>2</m:t>
                          </m:r>
                        </m:sub>
                      </m:sSub>
                      <m:sSub>
                        <m:sSubPr>
                          <m:ctrlPr>
                            <a:rPr lang="en-US" altLang="zh-TW" sz="900" i="1">
                              <a:latin typeface="Cambria Math" panose="02040503050406030204" pitchFamily="18" charset="0"/>
                            </a:rPr>
                          </m:ctrlPr>
                        </m:sSubPr>
                        <m:e>
                          <m:r>
                            <a:rPr lang="en-US" altLang="zh-TW" sz="900" i="1">
                              <a:latin typeface="Cambria Math"/>
                            </a:rPr>
                            <m:t>𝐷</m:t>
                          </m:r>
                        </m:e>
                        <m:sub>
                          <m:r>
                            <a:rPr lang="en-US" altLang="zh-TW" sz="900" i="1">
                              <a:latin typeface="Cambria Math"/>
                            </a:rPr>
                            <m:t>2</m:t>
                          </m:r>
                        </m:sub>
                      </m:sSub>
                      <m:r>
                        <a:rPr lang="en-US" altLang="zh-TW" sz="900" i="1">
                          <a:latin typeface="Cambria Math"/>
                        </a:rPr>
                        <m:t>𝑇</m:t>
                      </m:r>
                      <m:r>
                        <a:rPr lang="en-US" altLang="zh-TW" sz="900" i="1">
                          <a:latin typeface="Cambria Math" panose="02040503050406030204" pitchFamily="18" charset="0"/>
                        </a:rPr>
                        <m:t>)</m:t>
                      </m:r>
                    </m:oMath>
                  </m:oMathPara>
                </a14:m>
                <a:endParaRPr lang="zh-TW" altLang="en-US" sz="900" dirty="0"/>
              </a:p>
            </p:txBody>
          </p:sp>
        </mc:Choice>
        <mc:Fallback xmlns="">
          <p:sp>
            <p:nvSpPr>
              <p:cNvPr id="27" name="文字方塊 26"/>
              <p:cNvSpPr txBox="1">
                <a:spLocks noRot="1" noChangeAspect="1" noMove="1" noResize="1" noEditPoints="1" noAdjustHandles="1" noChangeArrowheads="1" noChangeShapeType="1" noTextEdit="1"/>
              </p:cNvSpPr>
              <p:nvPr/>
            </p:nvSpPr>
            <p:spPr>
              <a:xfrm>
                <a:off x="5737415" y="1297033"/>
                <a:ext cx="2411436" cy="138499"/>
              </a:xfrm>
              <a:prstGeom prst="rect">
                <a:avLst/>
              </a:prstGeom>
              <a:blipFill rotWithShape="0">
                <a:blip r:embed="rId13"/>
                <a:stretch>
                  <a:fillRect b="-4090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9066026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29"/>
          <p:cNvSpPr>
            <a:spLocks noChangeArrowheads="1"/>
          </p:cNvSpPr>
          <p:nvPr/>
        </p:nvSpPr>
        <p:spPr bwMode="auto">
          <a:xfrm>
            <a:off x="1210615" y="153305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grpSp>
        <p:nvGrpSpPr>
          <p:cNvPr id="5" name="群組 4"/>
          <p:cNvGrpSpPr/>
          <p:nvPr/>
        </p:nvGrpSpPr>
        <p:grpSpPr>
          <a:xfrm>
            <a:off x="3101069" y="1110718"/>
            <a:ext cx="5521324" cy="2683876"/>
            <a:chOff x="432009" y="800729"/>
            <a:chExt cx="11864005" cy="5767008"/>
          </a:xfrm>
        </p:grpSpPr>
        <p:sp>
          <p:nvSpPr>
            <p:cNvPr id="40" name="矩形 39"/>
            <p:cNvSpPr/>
            <p:nvPr/>
          </p:nvSpPr>
          <p:spPr>
            <a:xfrm>
              <a:off x="1815191" y="1717719"/>
              <a:ext cx="4763602" cy="1944187"/>
            </a:xfrm>
            <a:prstGeom prst="rect">
              <a:avLst/>
            </a:pr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p:cNvSpPr/>
            <p:nvPr/>
          </p:nvSpPr>
          <p:spPr>
            <a:xfrm>
              <a:off x="6602042" y="1717719"/>
              <a:ext cx="4064307" cy="1944187"/>
            </a:xfrm>
            <a:prstGeom prst="rect">
              <a:avLst/>
            </a:prstGeom>
            <a:solidFill>
              <a:srgbClr val="51DF7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p:cNvSpPr/>
            <p:nvPr/>
          </p:nvSpPr>
          <p:spPr>
            <a:xfrm>
              <a:off x="1845116" y="3661906"/>
              <a:ext cx="7094327" cy="2419629"/>
            </a:xfrm>
            <a:prstGeom prst="rect">
              <a:avLst/>
            </a:prstGeom>
            <a:solidFill>
              <a:srgbClr val="5B9BD5">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7" name="Group 7"/>
            <p:cNvGrpSpPr>
              <a:grpSpLocks/>
            </p:cNvGrpSpPr>
            <p:nvPr/>
          </p:nvGrpSpPr>
          <p:grpSpPr bwMode="auto">
            <a:xfrm>
              <a:off x="1729970" y="1637697"/>
              <a:ext cx="9850462" cy="4103385"/>
              <a:chOff x="1407" y="7721"/>
              <a:chExt cx="9179" cy="4537"/>
            </a:xfrm>
          </p:grpSpPr>
          <p:sp>
            <p:nvSpPr>
              <p:cNvPr id="30" name="Text Box 19"/>
              <p:cNvSpPr txBox="1">
                <a:spLocks noChangeArrowheads="1"/>
              </p:cNvSpPr>
              <p:nvPr/>
            </p:nvSpPr>
            <p:spPr bwMode="auto">
              <a:xfrm>
                <a:off x="9647" y="11594"/>
                <a:ext cx="939" cy="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TW" sz="1200" b="0" i="0" u="none" strike="noStrike" cap="none" normalizeH="0" baseline="0" smtClean="0">
                    <a:ln>
                      <a:noFill/>
                    </a:ln>
                    <a:solidFill>
                      <a:schemeClr val="tx1"/>
                    </a:solidFill>
                    <a:effectLst/>
                    <a:latin typeface="Calibri" panose="020F0502020204030204" pitchFamily="34" charset="0"/>
                    <a:ea typeface="新細明體" panose="02020500000000000000" pitchFamily="18" charset="-120"/>
                    <a:cs typeface="Times New Roman" panose="02020603050405020304" pitchFamily="18" charset="0"/>
                  </a:rPr>
                  <a:t>        </a:t>
                </a:r>
                <a:endParaRPr kumimoji="0" lang="en-US" altLang="zh-TW" sz="1800" b="0" i="0" u="none" strike="noStrike" cap="none" normalizeH="0" baseline="0" smtClean="0">
                  <a:ln>
                    <a:noFill/>
                  </a:ln>
                  <a:solidFill>
                    <a:schemeClr val="tx1"/>
                  </a:solidFill>
                  <a:effectLst/>
                  <a:latin typeface="Arial" panose="020B0604020202020204" pitchFamily="34" charset="0"/>
                </a:endParaRPr>
              </a:p>
            </p:txBody>
          </p:sp>
          <p:sp>
            <p:nvSpPr>
              <p:cNvPr id="31" name="Text Box 18"/>
              <p:cNvSpPr txBox="1">
                <a:spLocks noChangeArrowheads="1"/>
              </p:cNvSpPr>
              <p:nvPr/>
            </p:nvSpPr>
            <p:spPr bwMode="auto">
              <a:xfrm>
                <a:off x="1810" y="7721"/>
                <a:ext cx="939" cy="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TW" sz="1200" b="0" i="0" u="none" strike="noStrike" cap="none" normalizeH="0" baseline="0" smtClean="0">
                    <a:ln>
                      <a:noFill/>
                    </a:ln>
                    <a:solidFill>
                      <a:schemeClr val="tx1"/>
                    </a:solidFill>
                    <a:effectLst/>
                    <a:latin typeface="Calibri" panose="020F0502020204030204" pitchFamily="34" charset="0"/>
                    <a:ea typeface="新細明體" panose="02020500000000000000" pitchFamily="18" charset="-120"/>
                    <a:cs typeface="Times New Roman" panose="02020603050405020304" pitchFamily="18" charset="0"/>
                  </a:rPr>
                  <a:t>      </a:t>
                </a:r>
                <a:endParaRPr kumimoji="0" lang="en-US" altLang="zh-TW" sz="1800" b="0" i="0" u="none" strike="noStrike" cap="none" normalizeH="0" baseline="0" smtClean="0">
                  <a:ln>
                    <a:noFill/>
                  </a:ln>
                  <a:solidFill>
                    <a:schemeClr val="tx1"/>
                  </a:solidFill>
                  <a:effectLst/>
                  <a:latin typeface="Arial" panose="020B0604020202020204" pitchFamily="34" charset="0"/>
                </a:endParaRPr>
              </a:p>
            </p:txBody>
          </p:sp>
          <p:sp>
            <p:nvSpPr>
              <p:cNvPr id="32" name="Text Box 17"/>
              <p:cNvSpPr txBox="1">
                <a:spLocks noChangeArrowheads="1"/>
              </p:cNvSpPr>
              <p:nvPr/>
            </p:nvSpPr>
            <p:spPr bwMode="auto">
              <a:xfrm>
                <a:off x="1407" y="10071"/>
                <a:ext cx="1819" cy="2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TW" sz="1100" b="1" i="0" u="none" strike="noStrike" cap="none" normalizeH="0" baseline="0" dirty="0" smtClean="0">
                    <a:ln>
                      <a:noFill/>
                    </a:ln>
                    <a:effectLst/>
                    <a:latin typeface="微軟正黑體" panose="020B0604030504040204" pitchFamily="34" charset="-120"/>
                    <a:ea typeface="微軟正黑體" panose="020B0604030504040204" pitchFamily="34" charset="-120"/>
                    <a:cs typeface="Times New Roman" panose="02020603050405020304" pitchFamily="18" charset="0"/>
                  </a:rPr>
                  <a:t>破 產 </a:t>
                </a:r>
                <a:endParaRPr kumimoji="0" lang="zh-TW" sz="1000" b="1" i="0" u="none" strike="noStrike" cap="none" normalizeH="0" baseline="0" dirty="0" smtClean="0">
                  <a:ln>
                    <a:noFill/>
                  </a:ln>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1100" b="1" i="0" u="none" strike="noStrike" cap="none" normalizeH="0" baseline="0" dirty="0" smtClean="0">
                    <a:ln>
                      <a:noFill/>
                    </a:ln>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1100" b="1" i="0" u="none" strike="noStrike" cap="none" normalizeH="0" baseline="0" dirty="0" smtClean="0">
                  <a:ln>
                    <a:noFill/>
                  </a:ln>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1100" b="1" dirty="0" smtClean="0">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1100" b="1" dirty="0" smtClean="0">
                    <a:latin typeface="微軟正黑體" panose="020B0604030504040204" pitchFamily="34" charset="-120"/>
                    <a:ea typeface="微軟正黑體" panose="020B0604030504040204" pitchFamily="34" charset="-120"/>
                    <a:cs typeface="Times New Roman" panose="02020603050405020304" pitchFamily="18" charset="0"/>
                  </a:rPr>
                  <a:t>已轉換</a:t>
                </a:r>
                <a:endParaRPr kumimoji="0" lang="zh-TW" sz="1000" b="1" i="0" u="none" strike="noStrike" cap="none" normalizeH="0" baseline="0" dirty="0" smtClean="0">
                  <a:ln>
                    <a:noFill/>
                  </a:ln>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100" b="1" i="0" u="none" strike="noStrike" cap="none" normalizeH="0" baseline="0" dirty="0" smtClean="0">
                    <a:ln>
                      <a:noFill/>
                    </a:ln>
                    <a:effectLst/>
                    <a:latin typeface="微軟正黑體" panose="020B0604030504040204" pitchFamily="34" charset="-120"/>
                    <a:ea typeface="微軟正黑體" panose="020B0604030504040204" pitchFamily="34" charset="-120"/>
                    <a:cs typeface="Times New Roman" panose="02020603050405020304" pitchFamily="18" charset="0"/>
                  </a:rPr>
                  <a:t>SB</a:t>
                </a:r>
                <a:r>
                  <a:rPr kumimoji="0" lang="zh-TW" altLang="en-US" sz="1100" b="1" i="0" u="none" strike="noStrike" cap="none" normalizeH="0" baseline="0" dirty="0" smtClean="0">
                    <a:ln>
                      <a:noFill/>
                    </a:ln>
                    <a:effectLst/>
                    <a:latin typeface="微軟正黑體" panose="020B0604030504040204" pitchFamily="34" charset="-120"/>
                    <a:ea typeface="微軟正黑體" panose="020B0604030504040204" pitchFamily="34" charset="-120"/>
                    <a:cs typeface="Times New Roman" panose="02020603050405020304" pitchFamily="18" charset="0"/>
                  </a:rPr>
                  <a:t>拿部分</a:t>
                </a:r>
                <a:endParaRPr kumimoji="0" lang="zh-TW" altLang="en-US" sz="1000" b="1" i="0" u="none" strike="noStrike" cap="none" normalizeH="0" baseline="0" dirty="0" smtClean="0">
                  <a:ln>
                    <a:noFill/>
                  </a:ln>
                  <a:effectLst/>
                  <a:latin typeface="微軟正黑體" panose="020B0604030504040204" pitchFamily="34" charset="-120"/>
                  <a:ea typeface="微軟正黑體" panose="020B0604030504040204" pitchFamily="34" charset="-120"/>
                </a:endParaRPr>
              </a:p>
            </p:txBody>
          </p:sp>
          <p:sp>
            <p:nvSpPr>
              <p:cNvPr id="36" name="Text Box 11"/>
              <p:cNvSpPr txBox="1">
                <a:spLocks noChangeArrowheads="1"/>
              </p:cNvSpPr>
              <p:nvPr/>
            </p:nvSpPr>
            <p:spPr bwMode="auto">
              <a:xfrm>
                <a:off x="3027" y="10079"/>
                <a:ext cx="1819" cy="2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TW" sz="1100" b="1" i="0" u="none" strike="noStrike" cap="none" normalizeH="0" baseline="0" dirty="0" smtClean="0">
                    <a:ln>
                      <a:noFill/>
                    </a:ln>
                    <a:effectLst/>
                    <a:latin typeface="微軟正黑體" panose="020B0604030504040204" pitchFamily="34" charset="-120"/>
                    <a:ea typeface="微軟正黑體" panose="020B0604030504040204" pitchFamily="34" charset="-120"/>
                    <a:cs typeface="Times New Roman" panose="02020603050405020304" pitchFamily="18" charset="0"/>
                  </a:rPr>
                  <a:t>破 產 </a:t>
                </a:r>
                <a:endParaRPr kumimoji="0" lang="zh-TW" sz="1100" b="1" i="0" u="none" strike="noStrike" cap="none" normalizeH="0" baseline="0" dirty="0" smtClean="0">
                  <a:ln>
                    <a:noFill/>
                  </a:ln>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1100" b="1" i="0" u="none" strike="noStrike" cap="none" normalizeH="0" baseline="0" dirty="0" smtClean="0">
                    <a:ln>
                      <a:noFill/>
                    </a:ln>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1100" b="1" i="0" u="none" strike="noStrike" cap="none" normalizeH="0" baseline="0" dirty="0" smtClean="0">
                  <a:ln>
                    <a:noFill/>
                  </a:ln>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100" b="1" i="0" u="none" strike="noStrike" cap="none" normalizeH="0" baseline="0" dirty="0" smtClean="0">
                    <a:ln>
                      <a:noFill/>
                    </a:ln>
                    <a:effectLst/>
                    <a:latin typeface="微軟正黑體" panose="020B0604030504040204" pitchFamily="34" charset="-120"/>
                    <a:ea typeface="微軟正黑體" panose="020B0604030504040204" pitchFamily="34" charset="-120"/>
                  </a:rPr>
                  <a:t>CC</a:t>
                </a:r>
                <a:r>
                  <a:rPr kumimoji="0" lang="zh-TW" altLang="en-US" sz="1100" b="1" i="0" u="none" strike="noStrike" cap="none" normalizeH="0" baseline="0" dirty="0" smtClean="0">
                    <a:ln>
                      <a:noFill/>
                    </a:ln>
                    <a:effectLst/>
                    <a:latin typeface="微軟正黑體" panose="020B0604030504040204" pitchFamily="34" charset="-120"/>
                    <a:ea typeface="微軟正黑體" panose="020B0604030504040204" pitchFamily="34" charset="-120"/>
                  </a:rPr>
                  <a:t>已轉換</a:t>
                </a:r>
                <a:endParaRPr kumimoji="0" lang="zh-TW" sz="1100" b="1" i="0" u="none" strike="noStrike" cap="none" normalizeH="0" baseline="0" dirty="0" smtClean="0">
                  <a:ln>
                    <a:noFill/>
                  </a:ln>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100" b="1" i="0" u="none" strike="noStrike" cap="none" normalizeH="0" baseline="0" dirty="0" smtClean="0">
                    <a:ln>
                      <a:noFill/>
                    </a:ln>
                    <a:effectLst/>
                    <a:latin typeface="微軟正黑體" panose="020B0604030504040204" pitchFamily="34" charset="-120"/>
                    <a:ea typeface="微軟正黑體" panose="020B0604030504040204" pitchFamily="34" charset="-120"/>
                    <a:cs typeface="Times New Roman" panose="02020603050405020304" pitchFamily="18" charset="0"/>
                  </a:rPr>
                  <a:t>SB</a:t>
                </a:r>
                <a:r>
                  <a:rPr kumimoji="0" lang="zh-TW" altLang="en-US" sz="1100" b="1" i="0" u="none" strike="noStrike" cap="none" normalizeH="0" baseline="0" dirty="0" smtClean="0">
                    <a:ln>
                      <a:noFill/>
                    </a:ln>
                    <a:effectLst/>
                    <a:latin typeface="微軟正黑體" panose="020B0604030504040204" pitchFamily="34" charset="-120"/>
                    <a:ea typeface="微軟正黑體" panose="020B0604030504040204" pitchFamily="34" charset="-120"/>
                    <a:cs typeface="Times New Roman" panose="02020603050405020304" pitchFamily="18" charset="0"/>
                  </a:rPr>
                  <a:t>拿全部</a:t>
                </a:r>
                <a:endParaRPr kumimoji="0" lang="en-US" altLang="zh-TW" sz="1100" b="1" i="0" u="none" strike="noStrike" cap="none" normalizeH="0" baseline="0" dirty="0" smtClean="0">
                  <a:ln>
                    <a:noFill/>
                  </a:ln>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100" b="1" i="0" u="none" strike="noStrike" cap="none" normalizeH="0" baseline="0" dirty="0" smtClean="0">
                    <a:ln>
                      <a:noFill/>
                    </a:ln>
                    <a:effectLst/>
                    <a:latin typeface="微軟正黑體" panose="020B0604030504040204" pitchFamily="34" charset="-120"/>
                    <a:ea typeface="微軟正黑體" panose="020B0604030504040204" pitchFamily="34" charset="-120"/>
                  </a:rPr>
                  <a:t>CC</a:t>
                </a:r>
                <a:r>
                  <a:rPr kumimoji="0" lang="zh-TW" altLang="en-US" sz="1100" b="1" i="0" u="none" strike="noStrike" cap="none" normalizeH="0" baseline="0" dirty="0" smtClean="0">
                    <a:ln>
                      <a:noFill/>
                    </a:ln>
                    <a:effectLst/>
                    <a:latin typeface="微軟正黑體" panose="020B0604030504040204" pitchFamily="34" charset="-120"/>
                    <a:ea typeface="微軟正黑體" panose="020B0604030504040204" pitchFamily="34" charset="-120"/>
                  </a:rPr>
                  <a:t>拿部分</a:t>
                </a:r>
              </a:p>
            </p:txBody>
          </p:sp>
        </p:grpSp>
        <mc:AlternateContent xmlns:mc="http://schemas.openxmlformats.org/markup-compatibility/2006" xmlns:a14="http://schemas.microsoft.com/office/drawing/2010/main">
          <mc:Choice Requires="a14">
            <p:graphicFrame>
              <p:nvGraphicFramePr>
                <p:cNvPr id="46" name="物件 45"/>
                <p:cNvGraphicFramePr>
                  <a:graphicFrameLocks noChangeAspect="1"/>
                </p:cNvGraphicFramePr>
                <p:nvPr>
                  <p:extLst/>
                </p:nvPr>
              </p:nvGraphicFramePr>
              <p:xfrm>
                <a:off x="9967548" y="6218980"/>
                <a:ext cx="603618" cy="348757"/>
              </p:xfrm>
              <a:graphic>
                <a:graphicData uri="http://schemas.openxmlformats.org/presentationml/2006/ole">
                  <mc:AlternateContent>
                    <mc:Choice xmlns:v="urn:schemas-microsoft-com:vml" Requires="v">
                      <p:oleObj spid="_x0000_s9283" r:id="rId4" imgW="355292" imgH="203024" progId="Equation.DSMT4">
                        <p:embed/>
                      </p:oleObj>
                    </mc:Choice>
                    <mc:Fallback>
                      <p:oleObj r:id="rId4" imgW="355292" imgH="203024" progId="Equation.DSMT4">
                        <p:embed/>
                        <p:pic>
                          <p:nvPicPr>
                            <p:cNvPr id="0" name=""/>
                            <p:cNvPicPr>
                              <a:picLocks noChangeAspect="1" noChangeArrowheads="1"/>
                            </p:cNvPicPr>
                            <p:nvPr/>
                          </p:nvPicPr>
                          <p:blipFill>
                            <a:blip r:embed="rId5">
                              <a:extLst>
                                <a:ext uri="{28A0092B-C50C-407E-A947-70E740481C1C}">
                                  <a14:useLocalDpi val="0"/>
                                </a:ext>
                              </a:extLst>
                            </a:blip>
                            <a:srcRect/>
                            <a:stretch>
                              <a:fillRect/>
                            </a:stretch>
                          </p:blipFill>
                          <p:spPr bwMode="auto">
                            <a:xfrm>
                              <a:off x="9967548" y="6218980"/>
                              <a:ext cx="603618" cy="348757"/>
                            </a:xfrm>
                            <a:prstGeom prst="rect">
                              <a:avLst/>
                            </a:prstGeom>
                            <a:noFill/>
                          </p:spPr>
                        </p:pic>
                      </p:oleObj>
                    </mc:Fallback>
                  </mc:AlternateContent>
                </a:graphicData>
              </a:graphic>
            </p:graphicFrame>
          </mc:Choice>
          <mc:Fallback xmlns="">
            <p:graphicFrame>
              <p:nvGraphicFramePr>
                <p:cNvPr id="46" name="物件 45"/>
                <p:cNvGraphicFramePr>
                  <a:graphicFrameLocks noChangeAspect="1"/>
                </p:cNvGraphicFramePr>
                <p:nvPr>
                  <p:extLst>
                    <p:ext uri="{D42A27DB-BD31-4B8C-83A1-F6EECF244321}">
                      <p14:modId xmlns:p14="http://schemas.microsoft.com/office/powerpoint/2010/main" val="624685511"/>
                    </p:ext>
                  </p:extLst>
                </p:nvPr>
              </p:nvGraphicFramePr>
              <p:xfrm>
                <a:off x="9967548" y="6218980"/>
                <a:ext cx="603618" cy="348757"/>
              </p:xfrm>
              <a:graphic>
                <a:graphicData uri="http://schemas.openxmlformats.org/presentationml/2006/ole">
                  <mc:AlternateContent>
                    <mc:Choice xmlns:v="urn:schemas-microsoft-com:vml" Requires="v">
                      <p:oleObj spid="_x0000_s4106" r:id="rId6" imgW="355292" imgH="203024" progId="Equation.DSMT4">
                        <p:embed/>
                      </p:oleObj>
                    </mc:Choice>
                    <mc:Fallback>
                      <p:oleObj r:id="rId6" imgW="355292" imgH="203024"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67548" y="6218980"/>
                              <a:ext cx="603618" cy="348757"/>
                            </a:xfrm>
                            <a:prstGeom prst="rect">
                              <a:avLst/>
                            </a:prstGeom>
                            <a:noFill/>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50" name="文字方塊 49"/>
                <p:cNvSpPr txBox="1"/>
                <p:nvPr/>
              </p:nvSpPr>
              <p:spPr>
                <a:xfrm>
                  <a:off x="1381188" y="6218980"/>
                  <a:ext cx="2919257" cy="2976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TW" sz="900" b="0" i="1" smtClean="0">
                                <a:solidFill>
                                  <a:srgbClr val="00B0F0"/>
                                </a:solidFill>
                                <a:latin typeface="Cambria Math" panose="02040503050406030204" pitchFamily="18" charset="0"/>
                              </a:rPr>
                            </m:ctrlPr>
                          </m:dPr>
                          <m:e>
                            <m:r>
                              <a:rPr lang="en-US" altLang="zh-TW" sz="900" b="0" i="1" smtClean="0">
                                <a:solidFill>
                                  <a:srgbClr val="00B0F0"/>
                                </a:solidFill>
                                <a:latin typeface="Cambria Math" panose="02040503050406030204" pitchFamily="18" charset="0"/>
                              </a:rPr>
                              <m:t>1−</m:t>
                            </m:r>
                            <m:r>
                              <a:rPr lang="zh-TW" altLang="en-US" sz="900" b="0" i="1" smtClean="0">
                                <a:solidFill>
                                  <a:srgbClr val="00B0F0"/>
                                </a:solidFill>
                                <a:latin typeface="Cambria Math" panose="02040503050406030204" pitchFamily="18" charset="0"/>
                              </a:rPr>
                              <m:t>𝛼</m:t>
                            </m:r>
                          </m:e>
                        </m:d>
                        <m:r>
                          <a:rPr lang="en-US" altLang="zh-TW" sz="900" b="0" i="1" smtClean="0">
                            <a:solidFill>
                              <a:srgbClr val="00B0F0"/>
                            </a:solidFill>
                            <a:latin typeface="Cambria Math" panose="02040503050406030204" pitchFamily="18" charset="0"/>
                          </a:rPr>
                          <m:t>𝑉</m:t>
                        </m:r>
                        <m:d>
                          <m:dPr>
                            <m:ctrlPr>
                              <a:rPr lang="en-US" altLang="zh-TW" sz="900" b="0" i="1" smtClean="0">
                                <a:solidFill>
                                  <a:srgbClr val="00B0F0"/>
                                </a:solidFill>
                                <a:latin typeface="Cambria Math" panose="02040503050406030204" pitchFamily="18" charset="0"/>
                              </a:rPr>
                            </m:ctrlPr>
                          </m:dPr>
                          <m:e>
                            <m:r>
                              <a:rPr lang="en-US" altLang="zh-TW" sz="900" b="0" i="1" smtClean="0">
                                <a:solidFill>
                                  <a:srgbClr val="00B0F0"/>
                                </a:solidFill>
                                <a:latin typeface="Cambria Math" panose="02040503050406030204" pitchFamily="18" charset="0"/>
                              </a:rPr>
                              <m:t>𝑇</m:t>
                            </m:r>
                          </m:e>
                        </m:d>
                        <m:r>
                          <a:rPr lang="en-US" altLang="zh-TW" sz="900" b="0" i="1" smtClean="0">
                            <a:solidFill>
                              <a:srgbClr val="00B0F0"/>
                            </a:solidFill>
                            <a:latin typeface="Cambria Math" panose="02040503050406030204" pitchFamily="18" charset="0"/>
                          </a:rPr>
                          <m:t>=</m:t>
                        </m:r>
                        <m:sSub>
                          <m:sSubPr>
                            <m:ctrlPr>
                              <a:rPr lang="en-US" altLang="zh-TW" sz="900" i="1" smtClean="0">
                                <a:solidFill>
                                  <a:srgbClr val="00B0F0"/>
                                </a:solidFill>
                                <a:latin typeface="Cambria Math" panose="02040503050406030204" pitchFamily="18" charset="0"/>
                              </a:rPr>
                            </m:ctrlPr>
                          </m:sSubPr>
                          <m:e>
                            <m:r>
                              <a:rPr lang="en-US" altLang="zh-TW" sz="900" i="1">
                                <a:solidFill>
                                  <a:srgbClr val="00B0F0"/>
                                </a:solidFill>
                                <a:latin typeface="Cambria Math"/>
                              </a:rPr>
                              <m:t>𝐷</m:t>
                            </m:r>
                          </m:e>
                          <m:sub>
                            <m:r>
                              <a:rPr lang="en-US" altLang="zh-TW" sz="900" i="1">
                                <a:solidFill>
                                  <a:srgbClr val="00B0F0"/>
                                </a:solidFill>
                                <a:latin typeface="Cambria Math"/>
                              </a:rPr>
                              <m:t>1</m:t>
                            </m:r>
                          </m:sub>
                        </m:sSub>
                        <m:r>
                          <a:rPr lang="en-US" altLang="zh-TW" sz="900" i="1">
                            <a:solidFill>
                              <a:srgbClr val="00B0F0"/>
                            </a:solidFill>
                            <a:latin typeface="Cambria Math"/>
                          </a:rPr>
                          <m:t>+</m:t>
                        </m:r>
                        <m:sSub>
                          <m:sSubPr>
                            <m:ctrlPr>
                              <a:rPr lang="en-US" altLang="zh-TW" sz="900" i="1">
                                <a:solidFill>
                                  <a:srgbClr val="00B0F0"/>
                                </a:solidFill>
                                <a:latin typeface="Cambria Math" panose="02040503050406030204" pitchFamily="18" charset="0"/>
                              </a:rPr>
                            </m:ctrlPr>
                          </m:sSubPr>
                          <m:e>
                            <m:r>
                              <a:rPr lang="en-US" altLang="zh-TW" sz="900" i="1">
                                <a:solidFill>
                                  <a:srgbClr val="00B0F0"/>
                                </a:solidFill>
                                <a:latin typeface="Cambria Math"/>
                              </a:rPr>
                              <m:t>𝐶</m:t>
                            </m:r>
                          </m:e>
                          <m:sub>
                            <m:r>
                              <a:rPr lang="en-US" altLang="zh-TW" sz="900" i="1">
                                <a:solidFill>
                                  <a:srgbClr val="00B0F0"/>
                                </a:solidFill>
                                <a:latin typeface="Cambria Math"/>
                              </a:rPr>
                              <m:t>1</m:t>
                            </m:r>
                          </m:sub>
                        </m:sSub>
                        <m:sSub>
                          <m:sSubPr>
                            <m:ctrlPr>
                              <a:rPr lang="en-US" altLang="zh-TW" sz="900" i="1">
                                <a:solidFill>
                                  <a:srgbClr val="00B0F0"/>
                                </a:solidFill>
                                <a:latin typeface="Cambria Math" panose="02040503050406030204" pitchFamily="18" charset="0"/>
                              </a:rPr>
                            </m:ctrlPr>
                          </m:sSubPr>
                          <m:e>
                            <m:r>
                              <a:rPr lang="en-US" altLang="zh-TW" sz="900" i="1">
                                <a:solidFill>
                                  <a:srgbClr val="00B0F0"/>
                                </a:solidFill>
                                <a:latin typeface="Cambria Math"/>
                              </a:rPr>
                              <m:t>𝐷</m:t>
                            </m:r>
                          </m:e>
                          <m:sub>
                            <m:r>
                              <a:rPr lang="en-US" altLang="zh-TW" sz="900" i="1">
                                <a:solidFill>
                                  <a:srgbClr val="00B0F0"/>
                                </a:solidFill>
                                <a:latin typeface="Cambria Math"/>
                              </a:rPr>
                              <m:t>1</m:t>
                            </m:r>
                          </m:sub>
                        </m:sSub>
                        <m:r>
                          <a:rPr lang="en-US" altLang="zh-TW" sz="900" i="1">
                            <a:solidFill>
                              <a:srgbClr val="00B0F0"/>
                            </a:solidFill>
                            <a:latin typeface="Cambria Math"/>
                          </a:rPr>
                          <m:t>𝑇</m:t>
                        </m:r>
                      </m:oMath>
                    </m:oMathPara>
                  </a14:m>
                  <a:endParaRPr lang="zh-TW" altLang="en-US" sz="900" dirty="0">
                    <a:solidFill>
                      <a:srgbClr val="00B0F0"/>
                    </a:solidFill>
                  </a:endParaRPr>
                </a:p>
              </p:txBody>
            </p:sp>
          </mc:Choice>
          <mc:Fallback xmlns="">
            <p:sp>
              <p:nvSpPr>
                <p:cNvPr id="50" name="文字方塊 49"/>
                <p:cNvSpPr txBox="1">
                  <a:spLocks noRot="1" noChangeAspect="1" noMove="1" noResize="1" noEditPoints="1" noAdjustHandles="1" noChangeArrowheads="1" noChangeShapeType="1" noTextEdit="1"/>
                </p:cNvSpPr>
                <p:nvPr/>
              </p:nvSpPr>
              <p:spPr>
                <a:xfrm>
                  <a:off x="1381188" y="6218980"/>
                  <a:ext cx="2919257" cy="297601"/>
                </a:xfrm>
                <a:prstGeom prst="rect">
                  <a:avLst/>
                </a:prstGeom>
                <a:blipFill rotWithShape="0">
                  <a:blip r:embed="rId8"/>
                  <a:stretch>
                    <a:fillRect r="-1794" b="-1739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文字方塊 51"/>
                <p:cNvSpPr txBox="1"/>
                <p:nvPr/>
              </p:nvSpPr>
              <p:spPr>
                <a:xfrm>
                  <a:off x="4621296" y="6186863"/>
                  <a:ext cx="5181599" cy="29760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900" b="0" i="1" smtClean="0">
                            <a:latin typeface="Cambria Math" panose="02040503050406030204" pitchFamily="18" charset="0"/>
                          </a:rPr>
                          <m:t>𝑉</m:t>
                        </m:r>
                        <m:d>
                          <m:dPr>
                            <m:ctrlPr>
                              <a:rPr lang="en-US" altLang="zh-TW" sz="900" b="0" i="1" smtClean="0">
                                <a:latin typeface="Cambria Math" panose="02040503050406030204" pitchFamily="18" charset="0"/>
                              </a:rPr>
                            </m:ctrlPr>
                          </m:dPr>
                          <m:e>
                            <m:r>
                              <a:rPr lang="en-US" altLang="zh-TW" sz="900" b="0" i="1" smtClean="0">
                                <a:latin typeface="Cambria Math" panose="02040503050406030204" pitchFamily="18" charset="0"/>
                              </a:rPr>
                              <m:t>𝑇</m:t>
                            </m:r>
                          </m:e>
                        </m:d>
                        <m:r>
                          <a:rPr lang="en-US" altLang="zh-TW" sz="900" b="0" i="1" smtClean="0">
                            <a:latin typeface="Cambria Math" panose="02040503050406030204" pitchFamily="18" charset="0"/>
                          </a:rPr>
                          <m:t>=</m:t>
                        </m:r>
                        <m:sSub>
                          <m:sSubPr>
                            <m:ctrlPr>
                              <a:rPr lang="en-US" altLang="zh-TW" sz="900" i="1">
                                <a:latin typeface="Cambria Math" panose="02040503050406030204" pitchFamily="18" charset="0"/>
                              </a:rPr>
                            </m:ctrlPr>
                          </m:sSubPr>
                          <m:e>
                            <m:r>
                              <a:rPr lang="en-US" altLang="zh-TW" sz="900" i="1">
                                <a:latin typeface="Cambria Math"/>
                              </a:rPr>
                              <m:t>𝐷</m:t>
                            </m:r>
                          </m:e>
                          <m:sub>
                            <m:r>
                              <a:rPr lang="en-US" altLang="zh-TW" sz="900" i="1">
                                <a:latin typeface="Cambria Math"/>
                              </a:rPr>
                              <m:t>1</m:t>
                            </m:r>
                          </m:sub>
                        </m:sSub>
                        <m:r>
                          <a:rPr lang="en-US" altLang="zh-TW" sz="900" i="1">
                            <a:latin typeface="Cambria Math"/>
                          </a:rPr>
                          <m:t>+</m:t>
                        </m:r>
                        <m:sSub>
                          <m:sSubPr>
                            <m:ctrlPr>
                              <a:rPr lang="en-US" altLang="zh-TW" sz="900" i="1">
                                <a:latin typeface="Cambria Math" panose="02040503050406030204" pitchFamily="18" charset="0"/>
                              </a:rPr>
                            </m:ctrlPr>
                          </m:sSubPr>
                          <m:e>
                            <m:r>
                              <a:rPr lang="en-US" altLang="zh-TW" sz="900" i="1">
                                <a:latin typeface="Cambria Math"/>
                              </a:rPr>
                              <m:t>𝐷</m:t>
                            </m:r>
                          </m:e>
                          <m:sub>
                            <m:r>
                              <a:rPr lang="en-US" altLang="zh-TW" sz="900" i="1">
                                <a:latin typeface="Cambria Math"/>
                              </a:rPr>
                              <m:t>2</m:t>
                            </m:r>
                          </m:sub>
                        </m:sSub>
                        <m:r>
                          <a:rPr lang="en-US" altLang="zh-TW" sz="900" i="1">
                            <a:latin typeface="Cambria Math" panose="02040503050406030204" pitchFamily="18" charset="0"/>
                          </a:rPr>
                          <m:t>+(1−</m:t>
                        </m:r>
                        <m:r>
                          <a:rPr lang="en-US" altLang="zh-TW" sz="900" i="1">
                            <a:latin typeface="Cambria Math" panose="02040503050406030204" pitchFamily="18" charset="0"/>
                          </a:rPr>
                          <m:t>𝑡𝑎𝑥</m:t>
                        </m:r>
                        <m:r>
                          <a:rPr lang="en-US" altLang="zh-TW" sz="900" i="1">
                            <a:latin typeface="Cambria Math" panose="02040503050406030204" pitchFamily="18" charset="0"/>
                          </a:rPr>
                          <m:t>)(</m:t>
                        </m:r>
                        <m:sSub>
                          <m:sSubPr>
                            <m:ctrlPr>
                              <a:rPr lang="en-US" altLang="zh-TW" sz="900" i="1">
                                <a:latin typeface="Cambria Math" panose="02040503050406030204" pitchFamily="18" charset="0"/>
                              </a:rPr>
                            </m:ctrlPr>
                          </m:sSubPr>
                          <m:e>
                            <m:r>
                              <a:rPr lang="en-US" altLang="zh-TW" sz="900" i="1">
                                <a:latin typeface="Cambria Math"/>
                              </a:rPr>
                              <m:t>𝐶</m:t>
                            </m:r>
                          </m:e>
                          <m:sub>
                            <m:r>
                              <a:rPr lang="en-US" altLang="zh-TW" sz="900" i="1">
                                <a:latin typeface="Cambria Math"/>
                              </a:rPr>
                              <m:t>1</m:t>
                            </m:r>
                          </m:sub>
                        </m:sSub>
                        <m:sSub>
                          <m:sSubPr>
                            <m:ctrlPr>
                              <a:rPr lang="en-US" altLang="zh-TW" sz="900" i="1">
                                <a:latin typeface="Cambria Math" panose="02040503050406030204" pitchFamily="18" charset="0"/>
                              </a:rPr>
                            </m:ctrlPr>
                          </m:sSubPr>
                          <m:e>
                            <m:r>
                              <a:rPr lang="en-US" altLang="zh-TW" sz="900" i="1">
                                <a:latin typeface="Cambria Math"/>
                              </a:rPr>
                              <m:t>𝐷</m:t>
                            </m:r>
                          </m:e>
                          <m:sub>
                            <m:r>
                              <a:rPr lang="en-US" altLang="zh-TW" sz="900" i="1">
                                <a:latin typeface="Cambria Math"/>
                              </a:rPr>
                              <m:t>1</m:t>
                            </m:r>
                          </m:sub>
                        </m:sSub>
                        <m:r>
                          <a:rPr lang="en-US" altLang="zh-TW" sz="900" i="1">
                            <a:latin typeface="Cambria Math"/>
                          </a:rPr>
                          <m:t>𝑇</m:t>
                        </m:r>
                        <m:r>
                          <a:rPr lang="en-US" altLang="zh-TW" sz="900" i="1">
                            <a:latin typeface="Cambria Math"/>
                          </a:rPr>
                          <m:t>+</m:t>
                        </m:r>
                        <m:sSub>
                          <m:sSubPr>
                            <m:ctrlPr>
                              <a:rPr lang="en-US" altLang="zh-TW" sz="900" i="1">
                                <a:latin typeface="Cambria Math" panose="02040503050406030204" pitchFamily="18" charset="0"/>
                              </a:rPr>
                            </m:ctrlPr>
                          </m:sSubPr>
                          <m:e>
                            <m:r>
                              <a:rPr lang="en-US" altLang="zh-TW" sz="900" i="1">
                                <a:latin typeface="Cambria Math"/>
                              </a:rPr>
                              <m:t>𝐶</m:t>
                            </m:r>
                          </m:e>
                          <m:sub>
                            <m:r>
                              <a:rPr lang="en-US" altLang="zh-TW" sz="900" i="1">
                                <a:latin typeface="Cambria Math"/>
                              </a:rPr>
                              <m:t>2</m:t>
                            </m:r>
                          </m:sub>
                        </m:sSub>
                        <m:sSub>
                          <m:sSubPr>
                            <m:ctrlPr>
                              <a:rPr lang="en-US" altLang="zh-TW" sz="900" i="1">
                                <a:latin typeface="Cambria Math" panose="02040503050406030204" pitchFamily="18" charset="0"/>
                              </a:rPr>
                            </m:ctrlPr>
                          </m:sSubPr>
                          <m:e>
                            <m:r>
                              <a:rPr lang="en-US" altLang="zh-TW" sz="900" i="1">
                                <a:latin typeface="Cambria Math"/>
                              </a:rPr>
                              <m:t>𝐷</m:t>
                            </m:r>
                          </m:e>
                          <m:sub>
                            <m:r>
                              <a:rPr lang="en-US" altLang="zh-TW" sz="900" i="1">
                                <a:latin typeface="Cambria Math"/>
                              </a:rPr>
                              <m:t>2</m:t>
                            </m:r>
                          </m:sub>
                        </m:sSub>
                        <m:r>
                          <a:rPr lang="en-US" altLang="zh-TW" sz="900" i="1">
                            <a:latin typeface="Cambria Math"/>
                          </a:rPr>
                          <m:t>𝑇</m:t>
                        </m:r>
                        <m:r>
                          <a:rPr lang="en-US" altLang="zh-TW" sz="900" i="1">
                            <a:latin typeface="Cambria Math" panose="02040503050406030204" pitchFamily="18" charset="0"/>
                          </a:rPr>
                          <m:t>)</m:t>
                        </m:r>
                      </m:oMath>
                    </m:oMathPara>
                  </a14:m>
                  <a:endParaRPr lang="zh-TW" altLang="en-US" sz="900" dirty="0"/>
                </a:p>
              </p:txBody>
            </p:sp>
          </mc:Choice>
          <mc:Fallback xmlns="">
            <p:sp>
              <p:nvSpPr>
                <p:cNvPr id="52" name="文字方塊 51"/>
                <p:cNvSpPr txBox="1">
                  <a:spLocks noRot="1" noChangeAspect="1" noMove="1" noResize="1" noEditPoints="1" noAdjustHandles="1" noChangeArrowheads="1" noChangeShapeType="1" noTextEdit="1"/>
                </p:cNvSpPr>
                <p:nvPr/>
              </p:nvSpPr>
              <p:spPr>
                <a:xfrm>
                  <a:off x="4621296" y="6186863"/>
                  <a:ext cx="5181599" cy="297601"/>
                </a:xfrm>
                <a:prstGeom prst="rect">
                  <a:avLst/>
                </a:prstGeom>
                <a:blipFill rotWithShape="0">
                  <a:blip r:embed="rId9"/>
                  <a:stretch>
                    <a:fillRect b="-3478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文字方塊 52"/>
                <p:cNvSpPr txBox="1"/>
                <p:nvPr/>
              </p:nvSpPr>
              <p:spPr>
                <a:xfrm>
                  <a:off x="432009" y="3486440"/>
                  <a:ext cx="1284510" cy="2976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900" b="0" i="1" smtClean="0">
                            <a:solidFill>
                              <a:schemeClr val="accent6"/>
                            </a:solidFill>
                            <a:latin typeface="Cambria Math" panose="02040503050406030204" pitchFamily="18" charset="0"/>
                          </a:rPr>
                          <m:t>𝐼</m:t>
                        </m:r>
                        <m:d>
                          <m:dPr>
                            <m:ctrlPr>
                              <a:rPr lang="en-US" altLang="zh-TW" sz="900" b="0" i="1" smtClean="0">
                                <a:solidFill>
                                  <a:schemeClr val="accent6"/>
                                </a:solidFill>
                                <a:latin typeface="Cambria Math" panose="02040503050406030204" pitchFamily="18" charset="0"/>
                              </a:rPr>
                            </m:ctrlPr>
                          </m:dPr>
                          <m:e>
                            <m:r>
                              <a:rPr lang="en-US" altLang="zh-TW" sz="900" b="0" i="1" smtClean="0">
                                <a:solidFill>
                                  <a:schemeClr val="accent6"/>
                                </a:solidFill>
                                <a:latin typeface="Cambria Math" panose="02040503050406030204" pitchFamily="18" charset="0"/>
                              </a:rPr>
                              <m:t>𝑇</m:t>
                            </m:r>
                          </m:e>
                        </m:d>
                        <m:r>
                          <a:rPr lang="en-US" altLang="zh-TW" sz="900" b="0" i="1" smtClean="0">
                            <a:solidFill>
                              <a:schemeClr val="accent6"/>
                            </a:solidFill>
                            <a:latin typeface="Cambria Math" panose="02040503050406030204" pitchFamily="18" charset="0"/>
                          </a:rPr>
                          <m:t>=</m:t>
                        </m:r>
                        <m:r>
                          <a:rPr lang="en-US" altLang="zh-TW" sz="900" b="0" i="1" smtClean="0">
                            <a:solidFill>
                              <a:schemeClr val="accent6"/>
                            </a:solidFill>
                            <a:latin typeface="Cambria Math" panose="02040503050406030204" pitchFamily="18" charset="0"/>
                          </a:rPr>
                          <m:t>𝐼</m:t>
                        </m:r>
                        <m:r>
                          <a:rPr lang="en-US" altLang="zh-TW" sz="900" b="0" i="1" smtClean="0">
                            <a:solidFill>
                              <a:schemeClr val="accent6"/>
                            </a:solidFill>
                            <a:latin typeface="Cambria Math" panose="02040503050406030204" pitchFamily="18" charset="0"/>
                          </a:rPr>
                          <m:t>(0)</m:t>
                        </m:r>
                      </m:oMath>
                    </m:oMathPara>
                  </a14:m>
                  <a:endParaRPr lang="zh-TW" altLang="en-US" sz="900" dirty="0">
                    <a:solidFill>
                      <a:schemeClr val="accent6"/>
                    </a:solidFill>
                  </a:endParaRPr>
                </a:p>
              </p:txBody>
            </p:sp>
          </mc:Choice>
          <mc:Fallback xmlns="">
            <p:sp>
              <p:nvSpPr>
                <p:cNvPr id="53" name="文字方塊 52"/>
                <p:cNvSpPr txBox="1">
                  <a:spLocks noRot="1" noChangeAspect="1" noMove="1" noResize="1" noEditPoints="1" noAdjustHandles="1" noChangeArrowheads="1" noChangeShapeType="1" noTextEdit="1"/>
                </p:cNvSpPr>
                <p:nvPr/>
              </p:nvSpPr>
              <p:spPr>
                <a:xfrm>
                  <a:off x="432009" y="3486440"/>
                  <a:ext cx="1284510" cy="297601"/>
                </a:xfrm>
                <a:prstGeom prst="rect">
                  <a:avLst/>
                </a:prstGeom>
                <a:blipFill rotWithShape="0">
                  <a:blip r:embed="rId10"/>
                  <a:stretch>
                    <a:fillRect l="-5102" r="-7143" b="-3478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896015" y="1348388"/>
                  <a:ext cx="795205" cy="49600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900" i="1">
                            <a:latin typeface="Cambria Math" panose="02040503050406030204" pitchFamily="18" charset="0"/>
                          </a:rPr>
                          <m:t>𝐼</m:t>
                        </m:r>
                        <m:r>
                          <a:rPr lang="en-US" altLang="zh-TW" sz="900" i="1">
                            <a:latin typeface="Cambria Math" panose="02040503050406030204" pitchFamily="18" charset="0"/>
                          </a:rPr>
                          <m:t>(</m:t>
                        </m:r>
                        <m:r>
                          <a:rPr lang="en-US" altLang="zh-TW" sz="900" i="1">
                            <a:latin typeface="Cambria Math" panose="02040503050406030204" pitchFamily="18" charset="0"/>
                          </a:rPr>
                          <m:t>𝑇</m:t>
                        </m:r>
                        <m:r>
                          <a:rPr lang="en-US" altLang="zh-TW" sz="900" i="1">
                            <a:latin typeface="Cambria Math" panose="02040503050406030204" pitchFamily="18" charset="0"/>
                          </a:rPr>
                          <m:t>)</m:t>
                        </m:r>
                      </m:oMath>
                    </m:oMathPara>
                  </a14:m>
                  <a:endParaRPr lang="zh-TW" altLang="en-US" sz="900" dirty="0"/>
                </a:p>
              </p:txBody>
            </p:sp>
          </mc:Choice>
          <mc:Fallback xmlns="">
            <p:sp>
              <p:nvSpPr>
                <p:cNvPr id="2" name="矩形 1"/>
                <p:cNvSpPr>
                  <a:spLocks noRot="1" noChangeAspect="1" noMove="1" noResize="1" noEditPoints="1" noAdjustHandles="1" noChangeArrowheads="1" noChangeShapeType="1" noTextEdit="1"/>
                </p:cNvSpPr>
                <p:nvPr/>
              </p:nvSpPr>
              <p:spPr>
                <a:xfrm>
                  <a:off x="896015" y="1348388"/>
                  <a:ext cx="795205" cy="496003"/>
                </a:xfrm>
                <a:prstGeom prst="rect">
                  <a:avLst/>
                </a:prstGeom>
                <a:blipFill rotWithShape="0">
                  <a:blip r:embed="rId11"/>
                  <a:stretch>
                    <a:fillRect b="-2632"/>
                  </a:stretch>
                </a:blipFill>
              </p:spPr>
              <p:txBody>
                <a:bodyPr/>
                <a:lstStyle/>
                <a:p>
                  <a:r>
                    <a:rPr lang="zh-TW" altLang="en-US">
                      <a:noFill/>
                    </a:rPr>
                    <a:t> </a:t>
                  </a:r>
                </a:p>
              </p:txBody>
            </p:sp>
          </mc:Fallback>
        </mc:AlternateContent>
        <p:sp>
          <p:nvSpPr>
            <p:cNvPr id="34" name="Text Box 9"/>
            <p:cNvSpPr txBox="1">
              <a:spLocks noChangeArrowheads="1"/>
            </p:cNvSpPr>
            <p:nvPr/>
          </p:nvSpPr>
          <p:spPr bwMode="auto">
            <a:xfrm>
              <a:off x="1700958" y="1693782"/>
              <a:ext cx="1952063" cy="191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1100" b="1" dirty="0" smtClean="0">
                  <a:latin typeface="微軟正黑體" panose="020B0604030504040204" pitchFamily="34" charset="-120"/>
                  <a:ea typeface="微軟正黑體" panose="020B0604030504040204" pitchFamily="34" charset="-120"/>
                  <a:cs typeface="Times New Roman" panose="02020603050405020304" pitchFamily="18" charset="0"/>
                </a:rPr>
                <a:t>破</a:t>
              </a:r>
              <a:r>
                <a:rPr lang="zh-TW" altLang="en-US" sz="1100" b="1" dirty="0">
                  <a:latin typeface="微軟正黑體" panose="020B0604030504040204" pitchFamily="34" charset="-120"/>
                  <a:ea typeface="微軟正黑體" panose="020B0604030504040204" pitchFamily="34" charset="-120"/>
                  <a:cs typeface="Times New Roman" panose="02020603050405020304" pitchFamily="18" charset="0"/>
                </a:rPr>
                <a:t>產</a:t>
              </a:r>
              <a:endParaRPr kumimoji="0" lang="zh-TW" sz="1100" b="1" i="0" u="none" strike="noStrike" cap="none" normalizeH="0" baseline="0" dirty="0" smtClean="0">
                <a:ln>
                  <a:noFill/>
                </a:ln>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1100" b="1" i="0" u="none" strike="noStrike" cap="none" normalizeH="0" baseline="0" dirty="0" smtClean="0">
                  <a:ln>
                    <a:noFill/>
                  </a:ln>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1100" b="1" i="0" u="none" strike="noStrike" cap="none" normalizeH="0" baseline="0" dirty="0" smtClean="0">
                <a:ln>
                  <a:noFill/>
                </a:ln>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1100" b="1" dirty="0" smtClean="0">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1100" b="1" dirty="0" smtClean="0">
                  <a:latin typeface="微軟正黑體" panose="020B0604030504040204" pitchFamily="34" charset="-120"/>
                  <a:ea typeface="微軟正黑體" panose="020B0604030504040204" pitchFamily="34" charset="-120"/>
                  <a:cs typeface="Times New Roman" panose="02020603050405020304" pitchFamily="18" charset="0"/>
                </a:rPr>
                <a:t>未轉換</a:t>
              </a:r>
              <a:endParaRPr kumimoji="0" lang="zh-TW" sz="1100" b="1" i="0" u="none" strike="noStrike" cap="none" normalizeH="0" baseline="0" dirty="0" smtClean="0">
                <a:ln>
                  <a:noFill/>
                </a:ln>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1100" b="1" dirty="0" smtClean="0">
                  <a:latin typeface="微軟正黑體" panose="020B0604030504040204" pitchFamily="34" charset="-120"/>
                  <a:ea typeface="微軟正黑體" panose="020B0604030504040204" pitchFamily="34" charset="-120"/>
                  <a:cs typeface="Times New Roman" panose="02020603050405020304" pitchFamily="18" charset="0"/>
                </a:rPr>
                <a:t>SB</a:t>
              </a:r>
              <a:r>
                <a:rPr lang="zh-TW" altLang="en-US" sz="1100" b="1" dirty="0" smtClean="0">
                  <a:latin typeface="微軟正黑體" panose="020B0604030504040204" pitchFamily="34" charset="-120"/>
                  <a:ea typeface="微軟正黑體" panose="020B0604030504040204" pitchFamily="34" charset="-120"/>
                  <a:cs typeface="Times New Roman" panose="02020603050405020304" pitchFamily="18" charset="0"/>
                </a:rPr>
                <a:t>拿部分</a:t>
              </a:r>
              <a:endParaRPr lang="en-US" altLang="zh-TW" sz="1100" b="1" dirty="0" smtClean="0">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100" b="1" i="0" u="none" strike="noStrike" cap="none" normalizeH="0" baseline="0" dirty="0" smtClean="0">
                  <a:ln>
                    <a:noFill/>
                  </a:ln>
                  <a:effectLst/>
                  <a:latin typeface="微軟正黑體" panose="020B0604030504040204" pitchFamily="34" charset="-120"/>
                  <a:ea typeface="微軟正黑體" panose="020B0604030504040204" pitchFamily="34" charset="-120"/>
                  <a:cs typeface="Times New Roman" panose="02020603050405020304" pitchFamily="18" charset="0"/>
                </a:rPr>
                <a:t>CC</a:t>
              </a:r>
              <a:r>
                <a:rPr kumimoji="0" lang="zh-TW" altLang="en-US" sz="1100" b="1" i="0" u="none" strike="noStrike" cap="none" normalizeH="0" baseline="0" dirty="0" smtClean="0">
                  <a:ln>
                    <a:noFill/>
                  </a:ln>
                  <a:effectLst/>
                  <a:latin typeface="微軟正黑體" panose="020B0604030504040204" pitchFamily="34" charset="-120"/>
                  <a:ea typeface="微軟正黑體" panose="020B0604030504040204" pitchFamily="34" charset="-120"/>
                  <a:cs typeface="Times New Roman" panose="02020603050405020304" pitchFamily="18" charset="0"/>
                </a:rPr>
                <a:t>分不到</a:t>
              </a:r>
              <a:endParaRPr kumimoji="0" lang="zh-TW" altLang="en-US" sz="1100" b="1" i="0" u="none" strike="noStrike" cap="none" normalizeH="0" baseline="0" dirty="0" smtClean="0">
                <a:ln>
                  <a:noFill/>
                </a:ln>
                <a:effectLst/>
                <a:latin typeface="微軟正黑體" panose="020B0604030504040204" pitchFamily="34" charset="-120"/>
                <a:ea typeface="微軟正黑體" panose="020B0604030504040204" pitchFamily="34" charset="-120"/>
              </a:endParaRPr>
            </a:p>
          </p:txBody>
        </p:sp>
        <mc:AlternateContent xmlns:mc="http://schemas.openxmlformats.org/markup-compatibility/2006" xmlns:a14="http://schemas.microsoft.com/office/drawing/2010/main">
          <mc:Choice Requires="a14">
            <p:sp>
              <p:nvSpPr>
                <p:cNvPr id="47" name="文字方塊 46"/>
                <p:cNvSpPr txBox="1"/>
                <p:nvPr/>
              </p:nvSpPr>
              <p:spPr>
                <a:xfrm>
                  <a:off x="5795746" y="1131099"/>
                  <a:ext cx="6500268" cy="609672"/>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sz="900" b="0" i="1" smtClean="0">
                            <a:solidFill>
                              <a:srgbClr val="FF0000"/>
                            </a:solidFill>
                            <a:latin typeface="Cambria Math" panose="02040503050406030204" pitchFamily="18" charset="0"/>
                          </a:rPr>
                          <m:t>𝑉</m:t>
                        </m:r>
                        <m:r>
                          <a:rPr lang="en-US" altLang="zh-TW" sz="900" b="0" i="1" smtClean="0">
                            <a:solidFill>
                              <a:srgbClr val="FF0000"/>
                            </a:solidFill>
                            <a:latin typeface="Cambria Math" panose="02040503050406030204" pitchFamily="18" charset="0"/>
                          </a:rPr>
                          <m:t>(</m:t>
                        </m:r>
                        <m:r>
                          <a:rPr lang="en-US" altLang="zh-TW" sz="900" b="0" i="1" smtClean="0">
                            <a:solidFill>
                              <a:srgbClr val="FF0000"/>
                            </a:solidFill>
                            <a:latin typeface="Cambria Math" panose="02040503050406030204" pitchFamily="18" charset="0"/>
                          </a:rPr>
                          <m:t>𝑇</m:t>
                        </m:r>
                        <m:r>
                          <a:rPr lang="en-US" altLang="zh-TW" sz="900" b="0" i="1" smtClean="0">
                            <a:solidFill>
                              <a:srgbClr val="FF0000"/>
                            </a:solidFill>
                            <a:latin typeface="Cambria Math" panose="02040503050406030204" pitchFamily="18" charset="0"/>
                          </a:rPr>
                          <m:t>)=</m:t>
                        </m:r>
                        <m:r>
                          <a:rPr lang="en-US" altLang="zh-TW" sz="900" b="0" i="1" smtClean="0">
                            <a:solidFill>
                              <a:srgbClr val="FF0000"/>
                            </a:solidFill>
                            <a:latin typeface="Cambria Math" panose="02040503050406030204" pitchFamily="18" charset="0"/>
                          </a:rPr>
                          <m:t>𝑉</m:t>
                        </m:r>
                        <m:r>
                          <a:rPr lang="en-US" altLang="zh-TW" sz="900" i="1">
                            <a:solidFill>
                              <a:srgbClr val="FF0000"/>
                            </a:solidFill>
                            <a:latin typeface="Cambria Math" panose="02040503050406030204" pitchFamily="18" charset="0"/>
                          </a:rPr>
                          <m:t>"</m:t>
                        </m:r>
                        <m:r>
                          <a:rPr lang="en-US" altLang="zh-TW" sz="900" b="0" i="1" smtClean="0">
                            <a:solidFill>
                              <a:srgbClr val="FF0000"/>
                            </a:solidFill>
                            <a:latin typeface="Cambria Math" panose="02040503050406030204" pitchFamily="18" charset="0"/>
                          </a:rPr>
                          <m:t>=</m:t>
                        </m:r>
                        <m:sSub>
                          <m:sSubPr>
                            <m:ctrlPr>
                              <a:rPr lang="en-US" altLang="zh-TW" sz="900" i="1">
                                <a:solidFill>
                                  <a:srgbClr val="FF0000"/>
                                </a:solidFill>
                                <a:latin typeface="Cambria Math" panose="02040503050406030204" pitchFamily="18" charset="0"/>
                              </a:rPr>
                            </m:ctrlPr>
                          </m:sSubPr>
                          <m:e>
                            <m:r>
                              <a:rPr lang="en-US" altLang="zh-TW" sz="900" i="1">
                                <a:solidFill>
                                  <a:srgbClr val="FF0000"/>
                                </a:solidFill>
                                <a:latin typeface="Cambria Math"/>
                              </a:rPr>
                              <m:t>𝐷</m:t>
                            </m:r>
                          </m:e>
                          <m:sub>
                            <m:r>
                              <a:rPr lang="en-US" altLang="zh-TW" sz="900" i="1">
                                <a:solidFill>
                                  <a:srgbClr val="FF0000"/>
                                </a:solidFill>
                                <a:latin typeface="Cambria Math"/>
                              </a:rPr>
                              <m:t>1</m:t>
                            </m:r>
                          </m:sub>
                        </m:sSub>
                        <m:r>
                          <a:rPr lang="en-US" altLang="zh-TW" sz="900" i="1">
                            <a:solidFill>
                              <a:srgbClr val="FF0000"/>
                            </a:solidFill>
                            <a:latin typeface="Cambria Math"/>
                          </a:rPr>
                          <m:t>+</m:t>
                        </m:r>
                        <m:r>
                          <a:rPr lang="en-US" altLang="zh-TW" sz="900" i="1">
                            <a:solidFill>
                              <a:srgbClr val="FF0000"/>
                            </a:solidFill>
                            <a:latin typeface="Cambria Math" panose="02040503050406030204" pitchFamily="18" charset="0"/>
                          </a:rPr>
                          <m:t>(</m:t>
                        </m:r>
                        <m:r>
                          <a:rPr lang="en-US" altLang="zh-TW" sz="900" b="0" i="1" smtClean="0">
                            <a:solidFill>
                              <a:srgbClr val="FF0000"/>
                            </a:solidFill>
                            <a:latin typeface="Cambria Math" panose="02040503050406030204" pitchFamily="18" charset="0"/>
                          </a:rPr>
                          <m:t>1+</m:t>
                        </m:r>
                        <m:f>
                          <m:fPr>
                            <m:ctrlPr>
                              <a:rPr lang="en-US" altLang="zh-TW" sz="900" i="1">
                                <a:solidFill>
                                  <a:srgbClr val="FF0000"/>
                                </a:solidFill>
                                <a:latin typeface="Cambria Math" panose="02040503050406030204" pitchFamily="18" charset="0"/>
                              </a:rPr>
                            </m:ctrlPr>
                          </m:fPr>
                          <m:num>
                            <m:r>
                              <a:rPr lang="en-US" altLang="zh-TW" sz="900" i="1" dirty="0">
                                <a:solidFill>
                                  <a:srgbClr val="FF0000"/>
                                </a:solidFill>
                                <a:latin typeface="Cambria Math" panose="02040503050406030204" pitchFamily="18" charset="0"/>
                                <a:ea typeface="微軟正黑體" panose="020B0604030504040204" pitchFamily="34" charset="-120"/>
                              </a:rPr>
                              <m:t>𝑂</m:t>
                            </m:r>
                          </m:num>
                          <m:den>
                            <m:sSub>
                              <m:sSubPr>
                                <m:ctrlPr>
                                  <a:rPr lang="en-US" altLang="zh-TW" sz="900" i="1" dirty="0">
                                    <a:solidFill>
                                      <a:srgbClr val="FF0000"/>
                                    </a:solidFill>
                                    <a:latin typeface="Cambria Math" panose="02040503050406030204" pitchFamily="18" charset="0"/>
                                    <a:ea typeface="微軟正黑體" panose="020B0604030504040204" pitchFamily="34" charset="-120"/>
                                  </a:rPr>
                                </m:ctrlPr>
                              </m:sSubPr>
                              <m:e>
                                <m:r>
                                  <a:rPr lang="en-US" altLang="zh-TW" sz="900" i="1" dirty="0">
                                    <a:solidFill>
                                      <a:srgbClr val="FF0000"/>
                                    </a:solidFill>
                                    <a:latin typeface="Cambria Math" panose="02040503050406030204" pitchFamily="18" charset="0"/>
                                    <a:ea typeface="微軟正黑體" panose="020B0604030504040204" pitchFamily="34" charset="-120"/>
                                  </a:rPr>
                                  <m:t>𝑂</m:t>
                                </m:r>
                              </m:e>
                              <m:sub>
                                <m:r>
                                  <a:rPr lang="en-US" altLang="zh-TW" sz="900" i="1" dirty="0">
                                    <a:solidFill>
                                      <a:srgbClr val="FF0000"/>
                                    </a:solidFill>
                                    <a:latin typeface="Cambria Math" panose="02040503050406030204" pitchFamily="18" charset="0"/>
                                    <a:ea typeface="微軟正黑體" panose="020B0604030504040204" pitchFamily="34" charset="-120"/>
                                  </a:rPr>
                                  <m:t>𝐶𝐶</m:t>
                                </m:r>
                              </m:sub>
                            </m:sSub>
                          </m:den>
                        </m:f>
                        <m:r>
                          <a:rPr lang="en-US" altLang="zh-TW" sz="900" i="1">
                            <a:solidFill>
                              <a:srgbClr val="FF0000"/>
                            </a:solidFill>
                            <a:latin typeface="Cambria Math" panose="02040503050406030204" pitchFamily="18" charset="0"/>
                          </a:rPr>
                          <m:t>)</m:t>
                        </m:r>
                        <m:sSub>
                          <m:sSubPr>
                            <m:ctrlPr>
                              <a:rPr lang="en-US" altLang="zh-TW" sz="900" i="1">
                                <a:solidFill>
                                  <a:srgbClr val="FF0000"/>
                                </a:solidFill>
                                <a:latin typeface="Cambria Math" panose="02040503050406030204" pitchFamily="18" charset="0"/>
                              </a:rPr>
                            </m:ctrlPr>
                          </m:sSubPr>
                          <m:e>
                            <m:r>
                              <a:rPr lang="en-US" altLang="zh-TW" sz="900" i="1">
                                <a:solidFill>
                                  <a:srgbClr val="FF0000"/>
                                </a:solidFill>
                                <a:latin typeface="Cambria Math"/>
                              </a:rPr>
                              <m:t>𝐷</m:t>
                            </m:r>
                          </m:e>
                          <m:sub>
                            <m:r>
                              <a:rPr lang="en-US" altLang="zh-TW" sz="900" i="1">
                                <a:solidFill>
                                  <a:srgbClr val="FF0000"/>
                                </a:solidFill>
                                <a:latin typeface="Cambria Math"/>
                              </a:rPr>
                              <m:t>2</m:t>
                            </m:r>
                          </m:sub>
                        </m:sSub>
                        <m:r>
                          <a:rPr lang="en-US" altLang="zh-TW" sz="900" i="1">
                            <a:solidFill>
                              <a:srgbClr val="FF0000"/>
                            </a:solidFill>
                            <a:latin typeface="Cambria Math"/>
                          </a:rPr>
                          <m:t>+(1−</m:t>
                        </m:r>
                        <m:r>
                          <a:rPr lang="en-US" altLang="zh-TW" sz="900" i="1">
                            <a:solidFill>
                              <a:srgbClr val="FF0000"/>
                            </a:solidFill>
                            <a:latin typeface="Cambria Math"/>
                          </a:rPr>
                          <m:t>𝑡𝑎𝑥</m:t>
                        </m:r>
                        <m:r>
                          <a:rPr lang="en-US" altLang="zh-TW" sz="900" i="1">
                            <a:solidFill>
                              <a:srgbClr val="FF0000"/>
                            </a:solidFill>
                            <a:latin typeface="Cambria Math"/>
                          </a:rPr>
                          <m:t>)(</m:t>
                        </m:r>
                        <m:sSub>
                          <m:sSubPr>
                            <m:ctrlPr>
                              <a:rPr lang="en-US" altLang="zh-TW" sz="900" i="1">
                                <a:solidFill>
                                  <a:srgbClr val="FF0000"/>
                                </a:solidFill>
                                <a:latin typeface="Cambria Math" panose="02040503050406030204" pitchFamily="18" charset="0"/>
                              </a:rPr>
                            </m:ctrlPr>
                          </m:sSubPr>
                          <m:e>
                            <m:r>
                              <a:rPr lang="en-US" altLang="zh-TW" sz="900" i="1">
                                <a:solidFill>
                                  <a:srgbClr val="FF0000"/>
                                </a:solidFill>
                                <a:latin typeface="Cambria Math"/>
                              </a:rPr>
                              <m:t>𝐶</m:t>
                            </m:r>
                          </m:e>
                          <m:sub>
                            <m:r>
                              <a:rPr lang="en-US" altLang="zh-TW" sz="900" i="1">
                                <a:solidFill>
                                  <a:srgbClr val="FF0000"/>
                                </a:solidFill>
                                <a:latin typeface="Cambria Math"/>
                              </a:rPr>
                              <m:t>1</m:t>
                            </m:r>
                          </m:sub>
                        </m:sSub>
                        <m:sSub>
                          <m:sSubPr>
                            <m:ctrlPr>
                              <a:rPr lang="en-US" altLang="zh-TW" sz="900" i="1">
                                <a:solidFill>
                                  <a:srgbClr val="FF0000"/>
                                </a:solidFill>
                                <a:latin typeface="Cambria Math" panose="02040503050406030204" pitchFamily="18" charset="0"/>
                              </a:rPr>
                            </m:ctrlPr>
                          </m:sSubPr>
                          <m:e>
                            <m:r>
                              <a:rPr lang="en-US" altLang="zh-TW" sz="900" i="1">
                                <a:solidFill>
                                  <a:srgbClr val="FF0000"/>
                                </a:solidFill>
                                <a:latin typeface="Cambria Math"/>
                              </a:rPr>
                              <m:t>𝐷</m:t>
                            </m:r>
                          </m:e>
                          <m:sub>
                            <m:r>
                              <a:rPr lang="en-US" altLang="zh-TW" sz="900" i="1">
                                <a:solidFill>
                                  <a:srgbClr val="FF0000"/>
                                </a:solidFill>
                                <a:latin typeface="Cambria Math"/>
                              </a:rPr>
                              <m:t>1</m:t>
                            </m:r>
                          </m:sub>
                        </m:sSub>
                        <m:r>
                          <a:rPr lang="en-US" altLang="zh-TW" sz="900" i="1">
                            <a:solidFill>
                              <a:srgbClr val="FF0000"/>
                            </a:solidFill>
                            <a:latin typeface="Cambria Math"/>
                          </a:rPr>
                          <m:t>𝑇</m:t>
                        </m:r>
                        <m:r>
                          <a:rPr lang="en-US" altLang="zh-TW" sz="900" i="1">
                            <a:solidFill>
                              <a:srgbClr val="FF0000"/>
                            </a:solidFill>
                            <a:latin typeface="Cambria Math"/>
                          </a:rPr>
                          <m:t>+</m:t>
                        </m:r>
                        <m:sSub>
                          <m:sSubPr>
                            <m:ctrlPr>
                              <a:rPr lang="en-US" altLang="zh-TW" sz="900" i="1">
                                <a:solidFill>
                                  <a:srgbClr val="FF0000"/>
                                </a:solidFill>
                                <a:latin typeface="Cambria Math" panose="02040503050406030204" pitchFamily="18" charset="0"/>
                              </a:rPr>
                            </m:ctrlPr>
                          </m:sSubPr>
                          <m:e>
                            <m:r>
                              <a:rPr lang="en-US" altLang="zh-TW" sz="900" i="1">
                                <a:solidFill>
                                  <a:srgbClr val="FF0000"/>
                                </a:solidFill>
                                <a:latin typeface="Cambria Math"/>
                              </a:rPr>
                              <m:t>𝐶</m:t>
                            </m:r>
                          </m:e>
                          <m:sub>
                            <m:r>
                              <a:rPr lang="en-US" altLang="zh-TW" sz="900" i="1">
                                <a:solidFill>
                                  <a:srgbClr val="FF0000"/>
                                </a:solidFill>
                                <a:latin typeface="Cambria Math"/>
                              </a:rPr>
                              <m:t>2</m:t>
                            </m:r>
                          </m:sub>
                        </m:sSub>
                        <m:sSub>
                          <m:sSubPr>
                            <m:ctrlPr>
                              <a:rPr lang="en-US" altLang="zh-TW" sz="900" i="1">
                                <a:solidFill>
                                  <a:srgbClr val="FF0000"/>
                                </a:solidFill>
                                <a:latin typeface="Cambria Math" panose="02040503050406030204" pitchFamily="18" charset="0"/>
                              </a:rPr>
                            </m:ctrlPr>
                          </m:sSubPr>
                          <m:e>
                            <m:r>
                              <a:rPr lang="en-US" altLang="zh-TW" sz="900" i="1">
                                <a:solidFill>
                                  <a:srgbClr val="FF0000"/>
                                </a:solidFill>
                                <a:latin typeface="Cambria Math"/>
                              </a:rPr>
                              <m:t>𝐷</m:t>
                            </m:r>
                          </m:e>
                          <m:sub>
                            <m:r>
                              <a:rPr lang="en-US" altLang="zh-TW" sz="900" i="1">
                                <a:solidFill>
                                  <a:srgbClr val="FF0000"/>
                                </a:solidFill>
                                <a:latin typeface="Cambria Math"/>
                              </a:rPr>
                              <m:t>2</m:t>
                            </m:r>
                          </m:sub>
                        </m:sSub>
                        <m:r>
                          <a:rPr lang="en-US" altLang="zh-TW" sz="900" i="1">
                            <a:solidFill>
                              <a:srgbClr val="FF0000"/>
                            </a:solidFill>
                            <a:latin typeface="Cambria Math"/>
                          </a:rPr>
                          <m:t>𝑇</m:t>
                        </m:r>
                        <m:r>
                          <a:rPr lang="en-US" altLang="zh-TW" sz="900" i="1">
                            <a:solidFill>
                              <a:srgbClr val="FF0000"/>
                            </a:solidFill>
                            <a:latin typeface="Cambria Math"/>
                          </a:rPr>
                          <m:t>)</m:t>
                        </m:r>
                      </m:oMath>
                    </m:oMathPara>
                  </a14:m>
                  <a:endParaRPr lang="zh-TW" altLang="en-US" sz="900" dirty="0">
                    <a:solidFill>
                      <a:srgbClr val="FF0000"/>
                    </a:solidFill>
                    <a:latin typeface="微軟正黑體" panose="020B0604030504040204" pitchFamily="34" charset="-120"/>
                    <a:ea typeface="微軟正黑體" panose="020B0604030504040204" pitchFamily="34" charset="-120"/>
                  </a:endParaRPr>
                </a:p>
              </p:txBody>
            </p:sp>
          </mc:Choice>
          <mc:Fallback xmlns="">
            <p:sp>
              <p:nvSpPr>
                <p:cNvPr id="47" name="文字方塊 46"/>
                <p:cNvSpPr txBox="1">
                  <a:spLocks noRot="1" noChangeAspect="1" noMove="1" noResize="1" noEditPoints="1" noAdjustHandles="1" noChangeArrowheads="1" noChangeShapeType="1" noTextEdit="1"/>
                </p:cNvSpPr>
                <p:nvPr/>
              </p:nvSpPr>
              <p:spPr>
                <a:xfrm>
                  <a:off x="5795746" y="1131099"/>
                  <a:ext cx="6500268" cy="609672"/>
                </a:xfrm>
                <a:prstGeom prst="rect">
                  <a:avLst/>
                </a:prstGeom>
                <a:blipFill rotWithShape="0">
                  <a:blip r:embed="rId12"/>
                  <a:stretch>
                    <a:fillRect l="-1411" b="-10638"/>
                  </a:stretch>
                </a:blipFill>
              </p:spPr>
              <p:txBody>
                <a:bodyPr/>
                <a:lstStyle/>
                <a:p>
                  <a:r>
                    <a:rPr lang="zh-TW" altLang="en-US">
                      <a:noFill/>
                    </a:rPr>
                    <a:t> </a:t>
                  </a:r>
                </a:p>
              </p:txBody>
            </p:sp>
          </mc:Fallback>
        </mc:AlternateContent>
        <p:cxnSp>
          <p:nvCxnSpPr>
            <p:cNvPr id="6" name="直線接點 5"/>
            <p:cNvCxnSpPr/>
            <p:nvPr/>
          </p:nvCxnSpPr>
          <p:spPr>
            <a:xfrm flipV="1">
              <a:off x="8939443" y="3661906"/>
              <a:ext cx="0" cy="241963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5" name="Text Box 9"/>
            <p:cNvSpPr txBox="1">
              <a:spLocks noChangeArrowheads="1"/>
            </p:cNvSpPr>
            <p:nvPr/>
          </p:nvSpPr>
          <p:spPr bwMode="auto">
            <a:xfrm>
              <a:off x="4220433" y="1722515"/>
              <a:ext cx="1952063" cy="2212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1100" b="1" dirty="0" smtClean="0">
                  <a:latin typeface="微軟正黑體" panose="020B0604030504040204" pitchFamily="34" charset="-120"/>
                  <a:ea typeface="微軟正黑體" panose="020B0604030504040204" pitchFamily="34" charset="-120"/>
                  <a:cs typeface="Times New Roman" panose="02020603050405020304" pitchFamily="18" charset="0"/>
                </a:rPr>
                <a:t>破</a:t>
              </a:r>
              <a:r>
                <a:rPr lang="zh-TW" altLang="en-US" sz="1100" b="1" dirty="0">
                  <a:latin typeface="微軟正黑體" panose="020B0604030504040204" pitchFamily="34" charset="-120"/>
                  <a:ea typeface="微軟正黑體" panose="020B0604030504040204" pitchFamily="34" charset="-120"/>
                  <a:cs typeface="Times New Roman" panose="02020603050405020304" pitchFamily="18" charset="0"/>
                </a:rPr>
                <a:t>產</a:t>
              </a:r>
              <a:endParaRPr kumimoji="0" lang="zh-TW" sz="1100" b="1" i="0" u="none" strike="noStrike" cap="none" normalizeH="0" baseline="0" dirty="0" smtClean="0">
                <a:ln>
                  <a:noFill/>
                </a:ln>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1100" b="1" i="0" u="none" strike="noStrike" cap="none" normalizeH="0" baseline="0" dirty="0" smtClean="0">
                  <a:ln>
                    <a:noFill/>
                  </a:ln>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1100" b="1" i="0" u="none" strike="noStrike" cap="none" normalizeH="0" baseline="0" dirty="0" smtClean="0">
                <a:ln>
                  <a:noFill/>
                </a:ln>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100" b="1" i="0" u="none" strike="noStrike" cap="none" normalizeH="0" baseline="0" dirty="0" smtClean="0">
                  <a:ln>
                    <a:noFill/>
                  </a:ln>
                  <a:effectLst/>
                  <a:latin typeface="微軟正黑體" panose="020B0604030504040204" pitchFamily="34" charset="-120"/>
                  <a:ea typeface="微軟正黑體" panose="020B0604030504040204" pitchFamily="34" charset="-120"/>
                </a:rPr>
                <a:t>CC</a:t>
              </a:r>
              <a:r>
                <a:rPr kumimoji="0" lang="zh-TW" altLang="en-US" sz="1100" b="1" i="0" u="none" strike="noStrike" cap="none" normalizeH="0" baseline="0" dirty="0" smtClean="0">
                  <a:ln>
                    <a:noFill/>
                  </a:ln>
                  <a:effectLst/>
                  <a:latin typeface="微軟正黑體" panose="020B0604030504040204" pitchFamily="34" charset="-120"/>
                  <a:ea typeface="微軟正黑體" panose="020B0604030504040204" pitchFamily="34" charset="-120"/>
                </a:rPr>
                <a:t>未轉換</a:t>
              </a:r>
              <a:endParaRPr kumimoji="0" lang="zh-TW" sz="1100" b="1" i="0" u="none" strike="noStrike" cap="none" normalizeH="0" baseline="0" dirty="0" smtClean="0">
                <a:ln>
                  <a:noFill/>
                </a:ln>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100" b="1" i="0" u="none" strike="noStrike" cap="none" normalizeH="0" baseline="0" dirty="0" smtClean="0">
                  <a:ln>
                    <a:noFill/>
                  </a:ln>
                  <a:effectLst/>
                  <a:latin typeface="微軟正黑體" panose="020B0604030504040204" pitchFamily="34" charset="-120"/>
                  <a:ea typeface="微軟正黑體" panose="020B0604030504040204" pitchFamily="34" charset="-120"/>
                </a:rPr>
                <a:t>SB</a:t>
              </a:r>
              <a:r>
                <a:rPr kumimoji="0" lang="zh-TW" altLang="en-US" sz="1100" b="1" i="0" u="none" strike="noStrike" cap="none" normalizeH="0" baseline="0" dirty="0" smtClean="0">
                  <a:ln>
                    <a:noFill/>
                  </a:ln>
                  <a:effectLst/>
                  <a:latin typeface="微軟正黑體" panose="020B0604030504040204" pitchFamily="34" charset="-120"/>
                  <a:ea typeface="微軟正黑體" panose="020B0604030504040204" pitchFamily="34" charset="-120"/>
                </a:rPr>
                <a:t>拿全部</a:t>
              </a:r>
              <a:endParaRPr kumimoji="0" lang="en-US" altLang="zh-TW" sz="1100" b="1" i="0" u="none" strike="noStrike" cap="none" normalizeH="0" baseline="0" dirty="0" smtClean="0">
                <a:ln>
                  <a:noFill/>
                </a:ln>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1100" b="1" dirty="0" smtClean="0">
                  <a:latin typeface="微軟正黑體" panose="020B0604030504040204" pitchFamily="34" charset="-120"/>
                  <a:ea typeface="微軟正黑體" panose="020B0604030504040204" pitchFamily="34" charset="-120"/>
                </a:rPr>
                <a:t>CC</a:t>
              </a:r>
              <a:r>
                <a:rPr lang="zh-TW" altLang="en-US" sz="1100" b="1" dirty="0" smtClean="0">
                  <a:latin typeface="微軟正黑體" panose="020B0604030504040204" pitchFamily="34" charset="-120"/>
                  <a:ea typeface="微軟正黑體" panose="020B0604030504040204" pitchFamily="34" charset="-120"/>
                </a:rPr>
                <a:t>拿部分</a:t>
              </a:r>
              <a:endParaRPr kumimoji="0" lang="zh-TW" altLang="en-US" sz="1100" b="1" i="0" u="none" strike="noStrike" cap="none" normalizeH="0" baseline="0" dirty="0" smtClean="0">
                <a:ln>
                  <a:noFill/>
                </a:ln>
                <a:effectLst/>
                <a:latin typeface="微軟正黑體" panose="020B0604030504040204" pitchFamily="34" charset="-120"/>
                <a:ea typeface="微軟正黑體" panose="020B0604030504040204" pitchFamily="34" charset="-120"/>
              </a:endParaRPr>
            </a:p>
          </p:txBody>
        </p:sp>
        <p:sp>
          <p:nvSpPr>
            <p:cNvPr id="35" name="Text Box 9"/>
            <p:cNvSpPr txBox="1">
              <a:spLocks noChangeArrowheads="1"/>
            </p:cNvSpPr>
            <p:nvPr/>
          </p:nvSpPr>
          <p:spPr bwMode="auto">
            <a:xfrm>
              <a:off x="6147670" y="4223557"/>
              <a:ext cx="1952063" cy="139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1100" b="1" dirty="0" smtClean="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存活</a:t>
              </a:r>
              <a:endParaRPr lang="en-US" altLang="zh-TW" sz="1100" b="1" dirty="0" smtClean="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1100" b="1" i="0" u="none" strike="noStrike" cap="none" normalizeH="0" baseline="0" dirty="0" smtClean="0">
                  <a:ln>
                    <a:noFill/>
                  </a:ln>
                  <a:solidFill>
                    <a:srgbClr val="FF0000"/>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1100" b="1" i="0" u="none" strike="noStrike" cap="none" normalizeH="0" baseline="0" dirty="0" smtClean="0">
                <a:ln>
                  <a:noFill/>
                </a:ln>
                <a:solidFill>
                  <a:srgbClr val="FF0000"/>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1100" b="1" dirty="0" smtClean="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1100" b="1" dirty="0" smtClean="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已轉換</a:t>
              </a:r>
              <a:endParaRPr kumimoji="0" lang="zh-TW" sz="1100" b="1" i="0" u="none" strike="noStrike" cap="none" normalizeH="0" baseline="0" dirty="0" smtClean="0">
                <a:ln>
                  <a:noFill/>
                </a:ln>
                <a:solidFill>
                  <a:srgbClr val="FF0000"/>
                </a:solidFill>
                <a:effectLst/>
                <a:latin typeface="微軟正黑體" panose="020B0604030504040204" pitchFamily="34" charset="-120"/>
                <a:ea typeface="微軟正黑體" panose="020B0604030504040204" pitchFamily="34" charset="-120"/>
              </a:endParaRPr>
            </a:p>
          </p:txBody>
        </p:sp>
        <p:sp>
          <p:nvSpPr>
            <p:cNvPr id="37" name="Text Box 9"/>
            <p:cNvSpPr txBox="1">
              <a:spLocks noChangeArrowheads="1"/>
            </p:cNvSpPr>
            <p:nvPr/>
          </p:nvSpPr>
          <p:spPr bwMode="auto">
            <a:xfrm>
              <a:off x="8826865" y="2021207"/>
              <a:ext cx="1952063"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1100" b="1" dirty="0" smtClean="0">
                  <a:solidFill>
                    <a:srgbClr val="00B0F0"/>
                  </a:solidFill>
                  <a:latin typeface="微軟正黑體" panose="020B0604030504040204" pitchFamily="34" charset="-120"/>
                  <a:ea typeface="微軟正黑體" panose="020B0604030504040204" pitchFamily="34" charset="-120"/>
                  <a:cs typeface="Times New Roman" panose="02020603050405020304" pitchFamily="18" charset="0"/>
                </a:rPr>
                <a:t>存活</a:t>
              </a:r>
              <a:endParaRPr lang="en-US" altLang="zh-TW" sz="1100" b="1" dirty="0" smtClean="0">
                <a:solidFill>
                  <a:srgbClr val="00B0F0"/>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1100" b="1" i="0" u="none" strike="noStrike" cap="none" normalizeH="0" baseline="0" dirty="0" smtClean="0">
                  <a:ln>
                    <a:noFill/>
                  </a:ln>
                  <a:solidFill>
                    <a:srgbClr val="00B0F0"/>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zh-TW" sz="1100" b="1" i="0" u="none" strike="noStrike" cap="none" normalizeH="0" baseline="0" dirty="0" smtClean="0">
                <a:ln>
                  <a:noFill/>
                </a:ln>
                <a:solidFill>
                  <a:srgbClr val="00B0F0"/>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100" b="1" i="0" u="none" strike="noStrike" cap="none" normalizeH="0" baseline="0" dirty="0" smtClean="0">
                  <a:ln>
                    <a:noFill/>
                  </a:ln>
                  <a:solidFill>
                    <a:srgbClr val="00B0F0"/>
                  </a:solidFill>
                  <a:effectLst/>
                  <a:latin typeface="微軟正黑體" panose="020B0604030504040204" pitchFamily="34" charset="-120"/>
                  <a:ea typeface="微軟正黑體" panose="020B0604030504040204" pitchFamily="34" charset="-120"/>
                  <a:cs typeface="Times New Roman" panose="02020603050405020304" pitchFamily="18" charset="0"/>
                </a:rPr>
                <a:t>CC</a:t>
              </a:r>
              <a:r>
                <a:rPr kumimoji="0" lang="zh-TW" altLang="en-US" sz="1100" b="1" i="0" u="none" strike="noStrike" cap="none" normalizeH="0" baseline="0" dirty="0" smtClean="0">
                  <a:ln>
                    <a:noFill/>
                  </a:ln>
                  <a:solidFill>
                    <a:srgbClr val="00B0F0"/>
                  </a:solidFill>
                  <a:effectLst/>
                  <a:latin typeface="微軟正黑體" panose="020B0604030504040204" pitchFamily="34" charset="-120"/>
                  <a:ea typeface="微軟正黑體" panose="020B0604030504040204" pitchFamily="34" charset="-120"/>
                  <a:cs typeface="Times New Roman" panose="02020603050405020304" pitchFamily="18" charset="0"/>
                </a:rPr>
                <a:t>未轉換</a:t>
              </a:r>
              <a:endParaRPr kumimoji="0" lang="zh-TW" altLang="en-US" sz="1100" b="1" i="0" u="none" strike="noStrike" cap="none" normalizeH="0" baseline="0" dirty="0" smtClean="0">
                <a:ln>
                  <a:noFill/>
                </a:ln>
                <a:solidFill>
                  <a:srgbClr val="00B0F0"/>
                </a:solidFill>
                <a:effectLst/>
                <a:latin typeface="微軟正黑體" panose="020B0604030504040204" pitchFamily="34" charset="-120"/>
                <a:ea typeface="微軟正黑體" panose="020B0604030504040204" pitchFamily="34" charset="-120"/>
              </a:endParaRPr>
            </a:p>
          </p:txBody>
        </p:sp>
        <p:cxnSp>
          <p:nvCxnSpPr>
            <p:cNvPr id="10" name="直線單箭頭接點 9"/>
            <p:cNvCxnSpPr/>
            <p:nvPr/>
          </p:nvCxnSpPr>
          <p:spPr>
            <a:xfrm flipH="1" flipV="1">
              <a:off x="1809498" y="1791077"/>
              <a:ext cx="25626" cy="43232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a:off x="1838080" y="6081535"/>
              <a:ext cx="8517611"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6578793" y="1717719"/>
              <a:ext cx="0" cy="19381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線接點 50"/>
            <p:cNvCxnSpPr/>
            <p:nvPr/>
          </p:nvCxnSpPr>
          <p:spPr>
            <a:xfrm flipH="1">
              <a:off x="3504811" y="3639847"/>
              <a:ext cx="9775" cy="2451632"/>
            </a:xfrm>
            <a:prstGeom prst="line">
              <a:avLst/>
            </a:prstGeom>
            <a:ln w="1905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58" name="矩形 57"/>
            <p:cNvSpPr/>
            <p:nvPr/>
          </p:nvSpPr>
          <p:spPr>
            <a:xfrm>
              <a:off x="8922626" y="3661906"/>
              <a:ext cx="1743723" cy="2419629"/>
            </a:xfrm>
            <a:prstGeom prst="rect">
              <a:avLst/>
            </a:prstGeom>
            <a:solidFill>
              <a:srgbClr val="51DF7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9" name="文字方塊 38"/>
                <p:cNvSpPr txBox="1"/>
                <p:nvPr/>
              </p:nvSpPr>
              <p:spPr>
                <a:xfrm>
                  <a:off x="4727498" y="800729"/>
                  <a:ext cx="5040639" cy="34720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sz="1050" b="0" i="1" smtClean="0">
                            <a:solidFill>
                              <a:srgbClr val="7030A0"/>
                            </a:solidFill>
                            <a:latin typeface="Cambria Math" panose="02040503050406030204" pitchFamily="18" charset="0"/>
                          </a:rPr>
                          <m:t>𝑉</m:t>
                        </m:r>
                        <m:r>
                          <a:rPr lang="en-US" altLang="zh-TW" sz="1050" b="0" i="1" smtClean="0">
                            <a:solidFill>
                              <a:srgbClr val="7030A0"/>
                            </a:solidFill>
                            <a:latin typeface="Cambria Math" panose="02040503050406030204" pitchFamily="18" charset="0"/>
                          </a:rPr>
                          <m:t>(</m:t>
                        </m:r>
                        <m:r>
                          <a:rPr lang="en-US" altLang="zh-TW" sz="1050" b="0" i="1" smtClean="0">
                            <a:solidFill>
                              <a:srgbClr val="7030A0"/>
                            </a:solidFill>
                            <a:latin typeface="Cambria Math" panose="02040503050406030204" pitchFamily="18" charset="0"/>
                          </a:rPr>
                          <m:t>𝑇</m:t>
                        </m:r>
                        <m:r>
                          <a:rPr lang="en-US" altLang="zh-TW" sz="1050" b="0" i="1" smtClean="0">
                            <a:solidFill>
                              <a:srgbClr val="7030A0"/>
                            </a:solidFill>
                            <a:latin typeface="Cambria Math" panose="02040503050406030204" pitchFamily="18" charset="0"/>
                          </a:rPr>
                          <m:t>)=</m:t>
                        </m:r>
                        <m:sSub>
                          <m:sSubPr>
                            <m:ctrlPr>
                              <a:rPr lang="en-US" altLang="zh-TW" sz="1050" i="1">
                                <a:solidFill>
                                  <a:srgbClr val="7030A0"/>
                                </a:solidFill>
                                <a:latin typeface="Cambria Math" panose="02040503050406030204" pitchFamily="18" charset="0"/>
                              </a:rPr>
                            </m:ctrlPr>
                          </m:sSubPr>
                          <m:e>
                            <m:r>
                              <a:rPr lang="en-US" altLang="zh-TW" sz="1050" i="1">
                                <a:solidFill>
                                  <a:srgbClr val="7030A0"/>
                                </a:solidFill>
                                <a:latin typeface="Cambria Math"/>
                              </a:rPr>
                              <m:t>𝐷</m:t>
                            </m:r>
                          </m:e>
                          <m:sub>
                            <m:r>
                              <a:rPr lang="en-US" altLang="zh-TW" sz="1050" i="1">
                                <a:solidFill>
                                  <a:srgbClr val="7030A0"/>
                                </a:solidFill>
                                <a:latin typeface="Cambria Math"/>
                              </a:rPr>
                              <m:t>1</m:t>
                            </m:r>
                          </m:sub>
                        </m:sSub>
                        <m:r>
                          <a:rPr lang="en-US" altLang="zh-TW" sz="1050" i="1">
                            <a:solidFill>
                              <a:srgbClr val="7030A0"/>
                            </a:solidFill>
                            <a:latin typeface="Cambria Math"/>
                          </a:rPr>
                          <m:t>+(1−</m:t>
                        </m:r>
                        <m:r>
                          <a:rPr lang="en-US" altLang="zh-TW" sz="1050" i="1">
                            <a:solidFill>
                              <a:srgbClr val="7030A0"/>
                            </a:solidFill>
                            <a:latin typeface="Cambria Math"/>
                          </a:rPr>
                          <m:t>𝑡𝑎𝑥</m:t>
                        </m:r>
                        <m:r>
                          <a:rPr lang="en-US" altLang="zh-TW" sz="1050" i="1">
                            <a:solidFill>
                              <a:srgbClr val="7030A0"/>
                            </a:solidFill>
                            <a:latin typeface="Cambria Math"/>
                          </a:rPr>
                          <m:t>)(</m:t>
                        </m:r>
                        <m:sSub>
                          <m:sSubPr>
                            <m:ctrlPr>
                              <a:rPr lang="en-US" altLang="zh-TW" sz="1050" i="1">
                                <a:solidFill>
                                  <a:srgbClr val="7030A0"/>
                                </a:solidFill>
                                <a:latin typeface="Cambria Math" panose="02040503050406030204" pitchFamily="18" charset="0"/>
                              </a:rPr>
                            </m:ctrlPr>
                          </m:sSubPr>
                          <m:e>
                            <m:r>
                              <a:rPr lang="en-US" altLang="zh-TW" sz="1050" i="1">
                                <a:solidFill>
                                  <a:srgbClr val="7030A0"/>
                                </a:solidFill>
                                <a:latin typeface="Cambria Math"/>
                              </a:rPr>
                              <m:t>𝐶</m:t>
                            </m:r>
                          </m:e>
                          <m:sub>
                            <m:r>
                              <a:rPr lang="en-US" altLang="zh-TW" sz="1050" i="1">
                                <a:solidFill>
                                  <a:srgbClr val="7030A0"/>
                                </a:solidFill>
                                <a:latin typeface="Cambria Math"/>
                              </a:rPr>
                              <m:t>1</m:t>
                            </m:r>
                          </m:sub>
                        </m:sSub>
                        <m:sSub>
                          <m:sSubPr>
                            <m:ctrlPr>
                              <a:rPr lang="en-US" altLang="zh-TW" sz="1050" i="1">
                                <a:solidFill>
                                  <a:srgbClr val="7030A0"/>
                                </a:solidFill>
                                <a:latin typeface="Cambria Math" panose="02040503050406030204" pitchFamily="18" charset="0"/>
                              </a:rPr>
                            </m:ctrlPr>
                          </m:sSubPr>
                          <m:e>
                            <m:r>
                              <a:rPr lang="en-US" altLang="zh-TW" sz="1050" i="1">
                                <a:solidFill>
                                  <a:srgbClr val="7030A0"/>
                                </a:solidFill>
                                <a:latin typeface="Cambria Math"/>
                              </a:rPr>
                              <m:t>𝐷</m:t>
                            </m:r>
                          </m:e>
                          <m:sub>
                            <m:r>
                              <a:rPr lang="en-US" altLang="zh-TW" sz="1050" i="1">
                                <a:solidFill>
                                  <a:srgbClr val="7030A0"/>
                                </a:solidFill>
                                <a:latin typeface="Cambria Math"/>
                              </a:rPr>
                              <m:t>1</m:t>
                            </m:r>
                          </m:sub>
                        </m:sSub>
                        <m:r>
                          <a:rPr lang="en-US" altLang="zh-TW" sz="1050" i="1">
                            <a:solidFill>
                              <a:srgbClr val="7030A0"/>
                            </a:solidFill>
                            <a:latin typeface="Cambria Math"/>
                          </a:rPr>
                          <m:t>𝑇</m:t>
                        </m:r>
                        <m:r>
                          <a:rPr lang="en-US" altLang="zh-TW" sz="1050" i="1">
                            <a:solidFill>
                              <a:srgbClr val="7030A0"/>
                            </a:solidFill>
                            <a:latin typeface="Cambria Math"/>
                          </a:rPr>
                          <m:t>+</m:t>
                        </m:r>
                        <m:sSub>
                          <m:sSubPr>
                            <m:ctrlPr>
                              <a:rPr lang="en-US" altLang="zh-TW" sz="1050" i="1">
                                <a:solidFill>
                                  <a:srgbClr val="7030A0"/>
                                </a:solidFill>
                                <a:latin typeface="Cambria Math" panose="02040503050406030204" pitchFamily="18" charset="0"/>
                              </a:rPr>
                            </m:ctrlPr>
                          </m:sSubPr>
                          <m:e>
                            <m:r>
                              <a:rPr lang="en-US" altLang="zh-TW" sz="1050" i="1">
                                <a:solidFill>
                                  <a:srgbClr val="7030A0"/>
                                </a:solidFill>
                                <a:latin typeface="Cambria Math"/>
                              </a:rPr>
                              <m:t>𝐶</m:t>
                            </m:r>
                          </m:e>
                          <m:sub>
                            <m:r>
                              <a:rPr lang="en-US" altLang="zh-TW" sz="1050" i="1">
                                <a:solidFill>
                                  <a:srgbClr val="7030A0"/>
                                </a:solidFill>
                                <a:latin typeface="Cambria Math"/>
                              </a:rPr>
                              <m:t>2</m:t>
                            </m:r>
                          </m:sub>
                        </m:sSub>
                        <m:sSub>
                          <m:sSubPr>
                            <m:ctrlPr>
                              <a:rPr lang="en-US" altLang="zh-TW" sz="1050" i="1">
                                <a:solidFill>
                                  <a:srgbClr val="7030A0"/>
                                </a:solidFill>
                                <a:latin typeface="Cambria Math" panose="02040503050406030204" pitchFamily="18" charset="0"/>
                              </a:rPr>
                            </m:ctrlPr>
                          </m:sSubPr>
                          <m:e>
                            <m:r>
                              <a:rPr lang="en-US" altLang="zh-TW" sz="1050" i="1">
                                <a:solidFill>
                                  <a:srgbClr val="7030A0"/>
                                </a:solidFill>
                                <a:latin typeface="Cambria Math"/>
                              </a:rPr>
                              <m:t>𝐷</m:t>
                            </m:r>
                          </m:e>
                          <m:sub>
                            <m:r>
                              <a:rPr lang="en-US" altLang="zh-TW" sz="1050" i="1">
                                <a:solidFill>
                                  <a:srgbClr val="7030A0"/>
                                </a:solidFill>
                                <a:latin typeface="Cambria Math"/>
                              </a:rPr>
                              <m:t>2</m:t>
                            </m:r>
                          </m:sub>
                        </m:sSub>
                        <m:r>
                          <a:rPr lang="en-US" altLang="zh-TW" sz="1050" i="1">
                            <a:solidFill>
                              <a:srgbClr val="7030A0"/>
                            </a:solidFill>
                            <a:latin typeface="Cambria Math"/>
                          </a:rPr>
                          <m:t>𝑇</m:t>
                        </m:r>
                        <m:r>
                          <a:rPr lang="en-US" altLang="zh-TW" sz="1050" i="1">
                            <a:solidFill>
                              <a:srgbClr val="7030A0"/>
                            </a:solidFill>
                            <a:latin typeface="Cambria Math"/>
                          </a:rPr>
                          <m:t>)</m:t>
                        </m:r>
                      </m:oMath>
                    </m:oMathPara>
                  </a14:m>
                  <a:endParaRPr lang="zh-TW" altLang="en-US" sz="1050" dirty="0">
                    <a:solidFill>
                      <a:srgbClr val="7030A0"/>
                    </a:solidFill>
                    <a:latin typeface="微軟正黑體" panose="020B0604030504040204" pitchFamily="34" charset="-120"/>
                    <a:ea typeface="微軟正黑體" panose="020B0604030504040204" pitchFamily="34" charset="-120"/>
                  </a:endParaRPr>
                </a:p>
              </p:txBody>
            </p:sp>
          </mc:Choice>
          <mc:Fallback xmlns="">
            <p:sp>
              <p:nvSpPr>
                <p:cNvPr id="39" name="文字方塊 38"/>
                <p:cNvSpPr txBox="1">
                  <a:spLocks noRot="1" noChangeAspect="1" noMove="1" noResize="1" noEditPoints="1" noAdjustHandles="1" noChangeArrowheads="1" noChangeShapeType="1" noTextEdit="1"/>
                </p:cNvSpPr>
                <p:nvPr/>
              </p:nvSpPr>
              <p:spPr>
                <a:xfrm>
                  <a:off x="4727498" y="800729"/>
                  <a:ext cx="5040639" cy="347203"/>
                </a:xfrm>
                <a:prstGeom prst="rect">
                  <a:avLst/>
                </a:prstGeom>
                <a:blipFill rotWithShape="0">
                  <a:blip r:embed="rId13"/>
                  <a:stretch>
                    <a:fillRect l="-2083" t="-3704" r="-781" b="-37037"/>
                  </a:stretch>
                </a:blipFill>
              </p:spPr>
              <p:txBody>
                <a:bodyPr/>
                <a:lstStyle/>
                <a:p>
                  <a:r>
                    <a:rPr lang="zh-TW" altLang="en-US">
                      <a:noFill/>
                    </a:rPr>
                    <a:t> </a:t>
                  </a:r>
                </a:p>
              </p:txBody>
            </p:sp>
          </mc:Fallback>
        </mc:AlternateContent>
        <p:cxnSp>
          <p:nvCxnSpPr>
            <p:cNvPr id="42" name="直線接點 41"/>
            <p:cNvCxnSpPr/>
            <p:nvPr/>
          </p:nvCxnSpPr>
          <p:spPr>
            <a:xfrm flipV="1">
              <a:off x="5294645" y="3655872"/>
              <a:ext cx="0" cy="2419629"/>
            </a:xfrm>
            <a:prstGeom prst="line">
              <a:avLst/>
            </a:prstGeom>
            <a:ln w="28575">
              <a:solidFill>
                <a:srgbClr val="7030A0"/>
              </a:solidFill>
              <a:prstDash val="solid"/>
            </a:ln>
          </p:spPr>
          <p:style>
            <a:lnRef idx="1">
              <a:schemeClr val="accent1"/>
            </a:lnRef>
            <a:fillRef idx="0">
              <a:schemeClr val="accent1"/>
            </a:fillRef>
            <a:effectRef idx="0">
              <a:schemeClr val="accent1"/>
            </a:effectRef>
            <a:fontRef idx="minor">
              <a:schemeClr val="tx1"/>
            </a:fontRef>
          </p:style>
        </p:cxnSp>
        <p:cxnSp>
          <p:nvCxnSpPr>
            <p:cNvPr id="43" name="直線接點 42"/>
            <p:cNvCxnSpPr/>
            <p:nvPr/>
          </p:nvCxnSpPr>
          <p:spPr>
            <a:xfrm>
              <a:off x="3510468" y="1330807"/>
              <a:ext cx="2383" cy="2331098"/>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5" name="標題 1"/>
              <p:cNvSpPr txBox="1">
                <a:spLocks/>
              </p:cNvSpPr>
              <p:nvPr/>
            </p:nvSpPr>
            <p:spPr>
              <a:xfrm>
                <a:off x="347730" y="283333"/>
                <a:ext cx="11844270" cy="79252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TW" altLang="en-US" sz="4800" dirty="0" smtClean="0">
                    <a:latin typeface="微軟正黑體" panose="020B0604030504040204" pitchFamily="34" charset="-120"/>
                    <a:ea typeface="微軟正黑體" panose="020B0604030504040204" pitchFamily="34" charset="-120"/>
                    <a:cs typeface="Arial" pitchFamily="34" charset="0"/>
                  </a:rPr>
                  <a:t>公式推導－</a:t>
                </a:r>
                <a14:m>
                  <m:oMath xmlns:m="http://schemas.openxmlformats.org/officeDocument/2006/math">
                    <m:r>
                      <a:rPr lang="en-US" altLang="zh-TW" sz="4800" b="0" i="1" dirty="0" smtClean="0">
                        <a:latin typeface="Cambria Math" panose="02040503050406030204" pitchFamily="18" charset="0"/>
                        <a:ea typeface="標楷體" pitchFamily="65" charset="-120"/>
                        <a:cs typeface="Arial" pitchFamily="34" charset="0"/>
                      </a:rPr>
                      <m:t>𝐷𝑒𝑏𝑡</m:t>
                    </m:r>
                  </m:oMath>
                </a14:m>
                <a:r>
                  <a:rPr lang="zh-TW" altLang="en-US" sz="4800" i="1" dirty="0">
                    <a:latin typeface="微軟正黑體" panose="020B0604030504040204" pitchFamily="34" charset="-120"/>
                    <a:ea typeface="微軟正黑體" panose="020B0604030504040204" pitchFamily="34" charset="-120"/>
                    <a:cs typeface="Arial" pitchFamily="34" charset="0"/>
                  </a:rPr>
                  <a:t>   </a:t>
                </a:r>
                <a:r>
                  <a:rPr lang="en-US" altLang="zh-TW" sz="4800" dirty="0">
                    <a:latin typeface="微軟正黑體" panose="020B0604030504040204" pitchFamily="34" charset="-120"/>
                    <a:ea typeface="微軟正黑體" panose="020B0604030504040204" pitchFamily="34" charset="-120"/>
                    <a:cs typeface="Arial" pitchFamily="34" charset="0"/>
                  </a:rPr>
                  <a:t>(</a:t>
                </a:r>
                <a14:m>
                  <m:oMath xmlns:m="http://schemas.openxmlformats.org/officeDocument/2006/math">
                    <m:sSub>
                      <m:sSubPr>
                        <m:ctrlPr>
                          <a:rPr lang="en-US" altLang="zh-TW" sz="4800" i="1">
                            <a:latin typeface="Cambria Math" panose="02040503050406030204" pitchFamily="18" charset="0"/>
                          </a:rPr>
                        </m:ctrlPr>
                      </m:sSubPr>
                      <m:e>
                        <m:r>
                          <a:rPr lang="en-US" altLang="zh-TW" sz="4800" i="1">
                            <a:latin typeface="Cambria Math" panose="02040503050406030204" pitchFamily="18" charset="0"/>
                          </a:rPr>
                          <m:t>𝑉</m:t>
                        </m:r>
                      </m:e>
                      <m:sub>
                        <m:r>
                          <a:rPr lang="en-US" altLang="zh-TW" sz="4800" i="1">
                            <a:latin typeface="Cambria Math" panose="02040503050406030204" pitchFamily="18" charset="0"/>
                          </a:rPr>
                          <m:t>𝐿</m:t>
                        </m:r>
                      </m:sub>
                    </m:sSub>
                    <m:r>
                      <a:rPr lang="en-US" altLang="zh-TW" sz="4800" i="1">
                        <a:latin typeface="Cambria Math" panose="02040503050406030204" pitchFamily="18" charset="0"/>
                      </a:rPr>
                      <m:t>=</m:t>
                    </m:r>
                    <m:r>
                      <a:rPr lang="en-US" altLang="zh-TW" sz="4800" i="1">
                        <a:latin typeface="Cambria Math" panose="02040503050406030204" pitchFamily="18" charset="0"/>
                      </a:rPr>
                      <m:t>𝐷𝑒𝑏𝑡</m:t>
                    </m:r>
                    <m:r>
                      <a:rPr lang="en-US" altLang="zh-TW" sz="4800" i="1">
                        <a:latin typeface="Cambria Math" panose="02040503050406030204" pitchFamily="18" charset="0"/>
                      </a:rPr>
                      <m:t>+</m:t>
                    </m:r>
                    <m:r>
                      <a:rPr lang="en-US" altLang="zh-TW" sz="4800" i="1">
                        <a:latin typeface="Cambria Math" panose="02040503050406030204" pitchFamily="18" charset="0"/>
                      </a:rPr>
                      <m:t>𝐸𝑞𝑢𝑖𝑡𝑦</m:t>
                    </m:r>
                  </m:oMath>
                </a14:m>
                <a:r>
                  <a:rPr lang="en-US" altLang="zh-TW" sz="4800" dirty="0">
                    <a:latin typeface="微軟正黑體" panose="020B0604030504040204" pitchFamily="34" charset="-120"/>
                    <a:ea typeface="微軟正黑體" panose="020B0604030504040204" pitchFamily="34" charset="-120"/>
                    <a:cs typeface="Arial" pitchFamily="34" charset="0"/>
                  </a:rPr>
                  <a:t>)</a:t>
                </a:r>
              </a:p>
            </p:txBody>
          </p:sp>
        </mc:Choice>
        <mc:Fallback xmlns="">
          <p:sp>
            <p:nvSpPr>
              <p:cNvPr id="45" name="標題 1"/>
              <p:cNvSpPr txBox="1">
                <a:spLocks noRot="1" noChangeAspect="1" noMove="1" noResize="1" noEditPoints="1" noAdjustHandles="1" noChangeArrowheads="1" noChangeShapeType="1" noTextEdit="1"/>
              </p:cNvSpPr>
              <p:nvPr/>
            </p:nvSpPr>
            <p:spPr>
              <a:xfrm>
                <a:off x="347730" y="283333"/>
                <a:ext cx="11844270" cy="792520"/>
              </a:xfrm>
              <a:prstGeom prst="rect">
                <a:avLst/>
              </a:prstGeom>
              <a:blipFill rotWithShape="0">
                <a:blip r:embed="rId14"/>
                <a:stretch>
                  <a:fillRect l="-2316" t="-21538" b="-4076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107092" y="3500522"/>
                <a:ext cx="12084908" cy="2442400"/>
              </a:xfrm>
              <a:prstGeom prst="rect">
                <a:avLst/>
              </a:prstGeom>
            </p:spPr>
            <p:txBody>
              <a:bodyPr wrap="square">
                <a:spAutoFit/>
              </a:bodyPr>
              <a:lstStyle/>
              <a:p>
                <a:pPr>
                  <a:lnSpc>
                    <a:spcPct val="150000"/>
                  </a:lnSpc>
                </a:pPr>
                <a14:m>
                  <m:oMathPara xmlns:m="http://schemas.openxmlformats.org/officeDocument/2006/math">
                    <m:oMathParaPr>
                      <m:jc m:val="left"/>
                    </m:oMathParaPr>
                    <m:oMath xmlns:m="http://schemas.openxmlformats.org/officeDocument/2006/math">
                      <m:r>
                        <a:rPr lang="en-US" altLang="zh-TW" sz="2800" i="1" smtClean="0">
                          <a:latin typeface="Cambria Math"/>
                        </a:rPr>
                        <m:t>𝐷𝑒𝑏𝑡</m:t>
                      </m:r>
                    </m:oMath>
                  </m:oMathPara>
                </a14:m>
                <a:endParaRPr lang="en-US" altLang="zh-TW" sz="2800" i="1" dirty="0">
                  <a:latin typeface="Cambria Math"/>
                </a:endParaRPr>
              </a:p>
              <a:p>
                <a:pPr>
                  <a:lnSpc>
                    <a:spcPct val="150000"/>
                  </a:lnSpc>
                </a:pPr>
                <a14:m>
                  <m:oMathPara xmlns:m="http://schemas.openxmlformats.org/officeDocument/2006/math">
                    <m:oMathParaPr>
                      <m:jc m:val="left"/>
                    </m:oMathParaPr>
                    <m:oMath xmlns:m="http://schemas.openxmlformats.org/officeDocument/2006/math">
                      <m:r>
                        <a:rPr lang="en-US" altLang="zh-TW" sz="1400" i="1">
                          <a:latin typeface="Cambria Math"/>
                        </a:rPr>
                        <m:t>=</m:t>
                      </m:r>
                      <m:acc>
                        <m:accPr>
                          <m:chr m:val="̃"/>
                          <m:ctrlPr>
                            <a:rPr lang="en-US" altLang="zh-TW" sz="1400" i="1" smtClean="0">
                              <a:solidFill>
                                <a:srgbClr val="00B0F0"/>
                              </a:solidFill>
                              <a:latin typeface="Cambria Math" panose="02040503050406030204" pitchFamily="18" charset="0"/>
                            </a:rPr>
                          </m:ctrlPr>
                        </m:accPr>
                        <m:e>
                          <m:r>
                            <a:rPr lang="en-US" altLang="zh-TW" sz="1400" i="1">
                              <a:solidFill>
                                <a:srgbClr val="00B0F0"/>
                              </a:solidFill>
                              <a:latin typeface="Cambria Math"/>
                            </a:rPr>
                            <m:t>𝐸</m:t>
                          </m:r>
                        </m:e>
                      </m:acc>
                      <m:r>
                        <a:rPr lang="en-US" altLang="zh-TW" sz="1400" i="1">
                          <a:solidFill>
                            <a:srgbClr val="00B0F0"/>
                          </a:solidFill>
                          <a:latin typeface="Cambria Math"/>
                        </a:rPr>
                        <m:t>{</m:t>
                      </m:r>
                      <m:r>
                        <a:rPr lang="en-US" altLang="zh-TW" sz="1400" i="1" smtClean="0">
                          <a:solidFill>
                            <a:srgbClr val="00B0F0"/>
                          </a:solidFill>
                          <a:latin typeface="Cambria Math"/>
                        </a:rPr>
                        <m:t> [</m:t>
                      </m:r>
                      <m:sSub>
                        <m:sSubPr>
                          <m:ctrlPr>
                            <a:rPr lang="en-US" altLang="zh-TW" sz="1400" i="1">
                              <a:solidFill>
                                <a:srgbClr val="00B0F0"/>
                              </a:solidFill>
                              <a:latin typeface="Cambria Math" panose="02040503050406030204" pitchFamily="18" charset="0"/>
                            </a:rPr>
                          </m:ctrlPr>
                        </m:sSubPr>
                        <m:e>
                          <m:r>
                            <a:rPr lang="en-US" altLang="zh-TW" sz="1400" i="1">
                              <a:solidFill>
                                <a:srgbClr val="00B0F0"/>
                              </a:solidFill>
                              <a:latin typeface="Cambria Math"/>
                            </a:rPr>
                            <m:t>𝐷</m:t>
                          </m:r>
                        </m:e>
                        <m:sub>
                          <m:r>
                            <a:rPr lang="en-US" altLang="zh-TW" sz="1400" i="1">
                              <a:solidFill>
                                <a:srgbClr val="00B0F0"/>
                              </a:solidFill>
                              <a:latin typeface="Cambria Math"/>
                            </a:rPr>
                            <m:t>1</m:t>
                          </m:r>
                        </m:sub>
                      </m:sSub>
                      <m:r>
                        <a:rPr lang="en-US" altLang="zh-TW" sz="1400" i="1">
                          <a:solidFill>
                            <a:srgbClr val="00B0F0"/>
                          </a:solidFill>
                          <a:latin typeface="Cambria Math"/>
                        </a:rPr>
                        <m:t>+</m:t>
                      </m:r>
                      <m:sSub>
                        <m:sSubPr>
                          <m:ctrlPr>
                            <a:rPr lang="en-US" altLang="zh-TW" sz="1400" i="1">
                              <a:solidFill>
                                <a:srgbClr val="00B0F0"/>
                              </a:solidFill>
                              <a:latin typeface="Cambria Math" panose="02040503050406030204" pitchFamily="18" charset="0"/>
                            </a:rPr>
                          </m:ctrlPr>
                        </m:sSubPr>
                        <m:e>
                          <m:r>
                            <a:rPr lang="en-US" altLang="zh-TW" sz="1400" i="1">
                              <a:solidFill>
                                <a:srgbClr val="00B0F0"/>
                              </a:solidFill>
                              <a:latin typeface="Cambria Math"/>
                            </a:rPr>
                            <m:t>𝐶</m:t>
                          </m:r>
                        </m:e>
                        <m:sub>
                          <m:r>
                            <a:rPr lang="en-US" altLang="zh-TW" sz="1400" i="1">
                              <a:solidFill>
                                <a:srgbClr val="00B0F0"/>
                              </a:solidFill>
                              <a:latin typeface="Cambria Math"/>
                            </a:rPr>
                            <m:t>1</m:t>
                          </m:r>
                        </m:sub>
                      </m:sSub>
                      <m:sSub>
                        <m:sSubPr>
                          <m:ctrlPr>
                            <a:rPr lang="en-US" altLang="zh-TW" sz="1400" i="1">
                              <a:solidFill>
                                <a:srgbClr val="00B0F0"/>
                              </a:solidFill>
                              <a:latin typeface="Cambria Math" panose="02040503050406030204" pitchFamily="18" charset="0"/>
                            </a:rPr>
                          </m:ctrlPr>
                        </m:sSubPr>
                        <m:e>
                          <m:r>
                            <a:rPr lang="en-US" altLang="zh-TW" sz="1400" i="1">
                              <a:solidFill>
                                <a:srgbClr val="00B0F0"/>
                              </a:solidFill>
                              <a:latin typeface="Cambria Math"/>
                            </a:rPr>
                            <m:t>𝐷</m:t>
                          </m:r>
                        </m:e>
                        <m:sub>
                          <m:r>
                            <a:rPr lang="en-US" altLang="zh-TW" sz="1400" i="1">
                              <a:solidFill>
                                <a:srgbClr val="00B0F0"/>
                              </a:solidFill>
                              <a:latin typeface="Cambria Math"/>
                            </a:rPr>
                            <m:t>1</m:t>
                          </m:r>
                        </m:sub>
                      </m:sSub>
                      <m:r>
                        <a:rPr lang="en-US" altLang="zh-TW" sz="1400" i="1">
                          <a:solidFill>
                            <a:srgbClr val="00B0F0"/>
                          </a:solidFill>
                          <a:latin typeface="Cambria Math"/>
                        </a:rPr>
                        <m:t>𝑇</m:t>
                      </m:r>
                      <m:r>
                        <a:rPr lang="en-US" altLang="zh-TW" sz="1400" i="1">
                          <a:solidFill>
                            <a:srgbClr val="00B0F0"/>
                          </a:solidFill>
                          <a:latin typeface="Cambria Math"/>
                        </a:rPr>
                        <m:t>]</m:t>
                      </m:r>
                      <m:sSup>
                        <m:sSupPr>
                          <m:ctrlPr>
                            <a:rPr lang="en-US" altLang="zh-TW" sz="1400" i="1">
                              <a:solidFill>
                                <a:srgbClr val="00B0F0"/>
                              </a:solidFill>
                              <a:latin typeface="Cambria Math" panose="02040503050406030204" pitchFamily="18" charset="0"/>
                            </a:rPr>
                          </m:ctrlPr>
                        </m:sSupPr>
                        <m:e>
                          <m:r>
                            <a:rPr lang="en-US" altLang="zh-TW" sz="1400" i="1">
                              <a:solidFill>
                                <a:srgbClr val="00B0F0"/>
                              </a:solidFill>
                              <a:latin typeface="Cambria Math"/>
                            </a:rPr>
                            <m:t>  </m:t>
                          </m:r>
                          <m:r>
                            <a:rPr lang="en-US" altLang="zh-TW" sz="1400" i="1">
                              <a:solidFill>
                                <a:srgbClr val="00B0F0"/>
                              </a:solidFill>
                              <a:latin typeface="Cambria Math" panose="02040503050406030204" pitchFamily="18" charset="0"/>
                            </a:rPr>
                            <m:t>𝑒</m:t>
                          </m:r>
                        </m:e>
                        <m:sup>
                          <m:r>
                            <a:rPr lang="en-US" altLang="zh-TW" sz="1400" i="1">
                              <a:solidFill>
                                <a:srgbClr val="00B0F0"/>
                              </a:solidFill>
                              <a:latin typeface="Cambria Math"/>
                            </a:rPr>
                            <m:t>−</m:t>
                          </m:r>
                          <m:r>
                            <a:rPr lang="en-US" altLang="zh-TW" sz="1400" i="1">
                              <a:solidFill>
                                <a:srgbClr val="00B0F0"/>
                              </a:solidFill>
                              <a:latin typeface="Cambria Math"/>
                            </a:rPr>
                            <m:t>𝑟𝑇</m:t>
                          </m:r>
                        </m:sup>
                      </m:sSup>
                      <m:sSub>
                        <m:sSubPr>
                          <m:ctrlPr>
                            <a:rPr lang="en-US" altLang="zh-TW" sz="1400" i="1">
                              <a:solidFill>
                                <a:srgbClr val="00B0F0"/>
                              </a:solidFill>
                              <a:latin typeface="Cambria Math" panose="02040503050406030204" pitchFamily="18" charset="0"/>
                            </a:rPr>
                          </m:ctrlPr>
                        </m:sSubPr>
                        <m:e>
                          <m:r>
                            <a:rPr lang="en-US" altLang="zh-TW" sz="1400" i="1">
                              <a:solidFill>
                                <a:srgbClr val="00B0F0"/>
                              </a:solidFill>
                              <a:latin typeface="Cambria Math"/>
                            </a:rPr>
                            <m:t>𝐼</m:t>
                          </m:r>
                        </m:e>
                        <m:sub>
                          <m:d>
                            <m:dPr>
                              <m:begChr m:val="{"/>
                              <m:endChr m:val="}"/>
                              <m:ctrlPr>
                                <a:rPr lang="en-US" altLang="zh-TW" sz="1400" i="1">
                                  <a:solidFill>
                                    <a:srgbClr val="00B0F0"/>
                                  </a:solidFill>
                                  <a:latin typeface="Cambria Math" panose="02040503050406030204" pitchFamily="18" charset="0"/>
                                </a:rPr>
                              </m:ctrlPr>
                            </m:dPr>
                            <m:e>
                              <m:r>
                                <a:rPr lang="zh-TW" altLang="en-US" sz="1400" i="1">
                                  <a:solidFill>
                                    <a:srgbClr val="00B0F0"/>
                                  </a:solidFill>
                                  <a:latin typeface="Cambria Math" panose="02040503050406030204" pitchFamily="18" charset="0"/>
                                </a:rPr>
                                <m:t>存</m:t>
                              </m:r>
                              <m:r>
                                <a:rPr lang="zh-TW" altLang="en-US" sz="1400" i="1">
                                  <a:solidFill>
                                    <a:srgbClr val="00B0F0"/>
                                  </a:solidFill>
                                  <a:latin typeface="Cambria Math"/>
                                </a:rPr>
                                <m:t>活，</m:t>
                              </m:r>
                              <m:r>
                                <a:rPr lang="en-US" altLang="zh-TW" sz="1400" i="1">
                                  <a:solidFill>
                                    <a:srgbClr val="00B0F0"/>
                                  </a:solidFill>
                                  <a:latin typeface="Cambria Math" panose="02040503050406030204" pitchFamily="18" charset="0"/>
                                </a:rPr>
                                <m:t>𝐶𝐶</m:t>
                              </m:r>
                              <m:r>
                                <a:rPr lang="zh-TW" altLang="en-US" sz="1400" i="1">
                                  <a:solidFill>
                                    <a:srgbClr val="00B0F0"/>
                                  </a:solidFill>
                                  <a:latin typeface="Cambria Math"/>
                                </a:rPr>
                                <m:t>未轉換</m:t>
                              </m:r>
                            </m:e>
                          </m:d>
                          <m:r>
                            <a:rPr lang="en-US" altLang="zh-TW" sz="1400" i="1">
                              <a:solidFill>
                                <a:srgbClr val="00B0F0"/>
                              </a:solidFill>
                              <a:latin typeface="Cambria Math"/>
                            </a:rPr>
                            <m:t>  </m:t>
                          </m:r>
                        </m:sub>
                      </m:sSub>
                      <m:r>
                        <a:rPr lang="en-US" altLang="zh-TW" sz="1400" i="1">
                          <a:solidFill>
                            <a:srgbClr val="00B0F0"/>
                          </a:solidFill>
                          <a:latin typeface="Cambria Math" panose="02040503050406030204" pitchFamily="18" charset="0"/>
                        </a:rPr>
                        <m:t>}+</m:t>
                      </m:r>
                      <m:acc>
                        <m:accPr>
                          <m:chr m:val="̃"/>
                          <m:ctrlPr>
                            <a:rPr lang="en-US" altLang="zh-TW" sz="1400" i="1">
                              <a:solidFill>
                                <a:srgbClr val="00B0F0"/>
                              </a:solidFill>
                              <a:latin typeface="Cambria Math" panose="02040503050406030204" pitchFamily="18" charset="0"/>
                            </a:rPr>
                          </m:ctrlPr>
                        </m:accPr>
                        <m:e>
                          <m:r>
                            <a:rPr lang="en-US" altLang="zh-TW" sz="1400" i="1">
                              <a:solidFill>
                                <a:srgbClr val="00B0F0"/>
                              </a:solidFill>
                              <a:latin typeface="Cambria Math"/>
                            </a:rPr>
                            <m:t>𝐸</m:t>
                          </m:r>
                        </m:e>
                      </m:acc>
                      <m:r>
                        <a:rPr lang="en-US" altLang="zh-TW" sz="1400" i="1">
                          <a:solidFill>
                            <a:srgbClr val="00B0F0"/>
                          </a:solidFill>
                          <a:latin typeface="Cambria Math"/>
                        </a:rPr>
                        <m:t>{[</m:t>
                      </m:r>
                      <m:sSub>
                        <m:sSubPr>
                          <m:ctrlPr>
                            <a:rPr lang="en-US" altLang="zh-TW" sz="1400" i="1">
                              <a:solidFill>
                                <a:srgbClr val="00B0F0"/>
                              </a:solidFill>
                              <a:latin typeface="Cambria Math" panose="02040503050406030204" pitchFamily="18" charset="0"/>
                            </a:rPr>
                          </m:ctrlPr>
                        </m:sSubPr>
                        <m:e>
                          <m:r>
                            <a:rPr lang="en-US" altLang="zh-TW" sz="1400" i="1">
                              <a:solidFill>
                                <a:srgbClr val="00B0F0"/>
                              </a:solidFill>
                              <a:latin typeface="Cambria Math"/>
                            </a:rPr>
                            <m:t>𝐷</m:t>
                          </m:r>
                        </m:e>
                        <m:sub>
                          <m:r>
                            <a:rPr lang="en-US" altLang="zh-TW" sz="1400" i="1">
                              <a:solidFill>
                                <a:srgbClr val="00B0F0"/>
                              </a:solidFill>
                              <a:latin typeface="Cambria Math"/>
                            </a:rPr>
                            <m:t>2</m:t>
                          </m:r>
                        </m:sub>
                      </m:sSub>
                      <m:r>
                        <a:rPr lang="en-US" altLang="zh-TW" sz="1400" i="1">
                          <a:solidFill>
                            <a:srgbClr val="00B0F0"/>
                          </a:solidFill>
                          <a:latin typeface="Cambria Math"/>
                        </a:rPr>
                        <m:t>+</m:t>
                      </m:r>
                      <m:sSub>
                        <m:sSubPr>
                          <m:ctrlPr>
                            <a:rPr lang="en-US" altLang="zh-TW" sz="1400" i="1">
                              <a:solidFill>
                                <a:srgbClr val="00B0F0"/>
                              </a:solidFill>
                              <a:latin typeface="Cambria Math" panose="02040503050406030204" pitchFamily="18" charset="0"/>
                            </a:rPr>
                          </m:ctrlPr>
                        </m:sSubPr>
                        <m:e>
                          <m:r>
                            <a:rPr lang="en-US" altLang="zh-TW" sz="1400" i="1">
                              <a:solidFill>
                                <a:srgbClr val="00B0F0"/>
                              </a:solidFill>
                              <a:latin typeface="Cambria Math"/>
                            </a:rPr>
                            <m:t>𝐶</m:t>
                          </m:r>
                        </m:e>
                        <m:sub>
                          <m:r>
                            <a:rPr lang="en-US" altLang="zh-TW" sz="1400" i="1">
                              <a:solidFill>
                                <a:srgbClr val="00B0F0"/>
                              </a:solidFill>
                              <a:latin typeface="Cambria Math"/>
                            </a:rPr>
                            <m:t>2</m:t>
                          </m:r>
                        </m:sub>
                      </m:sSub>
                      <m:sSub>
                        <m:sSubPr>
                          <m:ctrlPr>
                            <a:rPr lang="en-US" altLang="zh-TW" sz="1400" i="1">
                              <a:solidFill>
                                <a:srgbClr val="00B0F0"/>
                              </a:solidFill>
                              <a:latin typeface="Cambria Math" panose="02040503050406030204" pitchFamily="18" charset="0"/>
                            </a:rPr>
                          </m:ctrlPr>
                        </m:sSubPr>
                        <m:e>
                          <m:r>
                            <a:rPr lang="en-US" altLang="zh-TW" sz="1400" i="1">
                              <a:solidFill>
                                <a:srgbClr val="00B0F0"/>
                              </a:solidFill>
                              <a:latin typeface="Cambria Math"/>
                            </a:rPr>
                            <m:t>𝐷</m:t>
                          </m:r>
                        </m:e>
                        <m:sub>
                          <m:r>
                            <a:rPr lang="en-US" altLang="zh-TW" sz="1400" i="1">
                              <a:solidFill>
                                <a:srgbClr val="00B0F0"/>
                              </a:solidFill>
                              <a:latin typeface="Cambria Math"/>
                            </a:rPr>
                            <m:t>2</m:t>
                          </m:r>
                        </m:sub>
                      </m:sSub>
                      <m:r>
                        <a:rPr lang="en-US" altLang="zh-TW" sz="1400" i="1">
                          <a:solidFill>
                            <a:srgbClr val="00B0F0"/>
                          </a:solidFill>
                          <a:latin typeface="Cambria Math"/>
                        </a:rPr>
                        <m:t>𝑇</m:t>
                      </m:r>
                      <m:r>
                        <a:rPr lang="en-US" altLang="zh-TW" sz="1400" i="1">
                          <a:solidFill>
                            <a:srgbClr val="00B0F0"/>
                          </a:solidFill>
                          <a:latin typeface="Cambria Math"/>
                        </a:rPr>
                        <m:t>]</m:t>
                      </m:r>
                      <m:sSup>
                        <m:sSupPr>
                          <m:ctrlPr>
                            <a:rPr lang="en-US" altLang="zh-TW" sz="1400" i="1">
                              <a:solidFill>
                                <a:srgbClr val="00B0F0"/>
                              </a:solidFill>
                              <a:latin typeface="Cambria Math" panose="02040503050406030204" pitchFamily="18" charset="0"/>
                            </a:rPr>
                          </m:ctrlPr>
                        </m:sSupPr>
                        <m:e>
                          <m:r>
                            <a:rPr lang="en-US" altLang="zh-TW" sz="1400" i="1">
                              <a:solidFill>
                                <a:srgbClr val="00B0F0"/>
                              </a:solidFill>
                              <a:latin typeface="Cambria Math"/>
                            </a:rPr>
                            <m:t>  </m:t>
                          </m:r>
                          <m:r>
                            <a:rPr lang="en-US" altLang="zh-TW" sz="1400" i="1">
                              <a:solidFill>
                                <a:srgbClr val="00B0F0"/>
                              </a:solidFill>
                              <a:latin typeface="Cambria Math" panose="02040503050406030204" pitchFamily="18" charset="0"/>
                            </a:rPr>
                            <m:t>𝑒</m:t>
                          </m:r>
                        </m:e>
                        <m:sup>
                          <m:r>
                            <a:rPr lang="en-US" altLang="zh-TW" sz="1400" i="1">
                              <a:solidFill>
                                <a:srgbClr val="00B0F0"/>
                              </a:solidFill>
                              <a:latin typeface="Cambria Math"/>
                            </a:rPr>
                            <m:t>−</m:t>
                          </m:r>
                          <m:r>
                            <a:rPr lang="en-US" altLang="zh-TW" sz="1400" i="1">
                              <a:solidFill>
                                <a:srgbClr val="00B0F0"/>
                              </a:solidFill>
                              <a:latin typeface="Cambria Math"/>
                            </a:rPr>
                            <m:t>𝑟𝑇</m:t>
                          </m:r>
                        </m:sup>
                      </m:sSup>
                      <m:sSub>
                        <m:sSubPr>
                          <m:ctrlPr>
                            <a:rPr lang="en-US" altLang="zh-TW" sz="1400" i="1">
                              <a:solidFill>
                                <a:srgbClr val="00B0F0"/>
                              </a:solidFill>
                              <a:latin typeface="Cambria Math" panose="02040503050406030204" pitchFamily="18" charset="0"/>
                            </a:rPr>
                          </m:ctrlPr>
                        </m:sSubPr>
                        <m:e>
                          <m:r>
                            <a:rPr lang="en-US" altLang="zh-TW" sz="1400" i="1">
                              <a:solidFill>
                                <a:srgbClr val="00B0F0"/>
                              </a:solidFill>
                              <a:latin typeface="Cambria Math"/>
                            </a:rPr>
                            <m:t>𝐼</m:t>
                          </m:r>
                        </m:e>
                        <m:sub>
                          <m:d>
                            <m:dPr>
                              <m:begChr m:val="{"/>
                              <m:endChr m:val="}"/>
                              <m:ctrlPr>
                                <a:rPr lang="en-US" altLang="zh-TW" sz="1400" i="1">
                                  <a:solidFill>
                                    <a:srgbClr val="00B0F0"/>
                                  </a:solidFill>
                                  <a:latin typeface="Cambria Math" panose="02040503050406030204" pitchFamily="18" charset="0"/>
                                </a:rPr>
                              </m:ctrlPr>
                            </m:dPr>
                            <m:e>
                              <m:r>
                                <a:rPr lang="zh-TW" altLang="en-US" sz="1400" i="1">
                                  <a:solidFill>
                                    <a:srgbClr val="00B0F0"/>
                                  </a:solidFill>
                                  <a:latin typeface="Cambria Math" panose="02040503050406030204" pitchFamily="18" charset="0"/>
                                </a:rPr>
                                <m:t>存</m:t>
                              </m:r>
                              <m:r>
                                <a:rPr lang="zh-TW" altLang="en-US" sz="1400" i="1">
                                  <a:solidFill>
                                    <a:srgbClr val="00B0F0"/>
                                  </a:solidFill>
                                  <a:latin typeface="Cambria Math"/>
                                </a:rPr>
                                <m:t>活，</m:t>
                              </m:r>
                              <m:r>
                                <a:rPr lang="en-US" altLang="zh-TW" sz="1400" i="1">
                                  <a:solidFill>
                                    <a:srgbClr val="00B0F0"/>
                                  </a:solidFill>
                                  <a:latin typeface="Cambria Math" panose="02040503050406030204" pitchFamily="18" charset="0"/>
                                </a:rPr>
                                <m:t>𝐶𝐶</m:t>
                              </m:r>
                              <m:r>
                                <a:rPr lang="zh-TW" altLang="en-US" sz="1400" i="1">
                                  <a:solidFill>
                                    <a:srgbClr val="00B0F0"/>
                                  </a:solidFill>
                                  <a:latin typeface="Cambria Math"/>
                                </a:rPr>
                                <m:t>未轉換</m:t>
                              </m:r>
                            </m:e>
                          </m:d>
                          <m:r>
                            <a:rPr lang="en-US" altLang="zh-TW" sz="1400" i="1">
                              <a:solidFill>
                                <a:srgbClr val="00B0F0"/>
                              </a:solidFill>
                              <a:latin typeface="Cambria Math"/>
                            </a:rPr>
                            <m:t>  </m:t>
                          </m:r>
                        </m:sub>
                      </m:sSub>
                      <m:r>
                        <a:rPr lang="en-US" altLang="zh-TW" sz="1400" i="1">
                          <a:solidFill>
                            <a:srgbClr val="00B0F0"/>
                          </a:solidFill>
                          <a:latin typeface="Cambria Math"/>
                        </a:rPr>
                        <m:t>}</m:t>
                      </m:r>
                    </m:oMath>
                  </m:oMathPara>
                </a14:m>
                <a:endParaRPr lang="en-US" altLang="zh-TW" sz="1400" dirty="0">
                  <a:solidFill>
                    <a:srgbClr val="00B0F0"/>
                  </a:solidFill>
                  <a:latin typeface="標楷體" pitchFamily="65" charset="-120"/>
                  <a:ea typeface="標楷體" pitchFamily="65" charset="-120"/>
                </a:endParaRPr>
              </a:p>
              <a:p>
                <a:pPr>
                  <a:lnSpc>
                    <a:spcPct val="150000"/>
                  </a:lnSpc>
                </a:pPr>
                <a14:m>
                  <m:oMathPara xmlns:m="http://schemas.openxmlformats.org/officeDocument/2006/math">
                    <m:oMathParaPr>
                      <m:jc m:val="left"/>
                    </m:oMathParaPr>
                    <m:oMath xmlns:m="http://schemas.openxmlformats.org/officeDocument/2006/math">
                      <m:r>
                        <a:rPr lang="en-US" altLang="zh-TW" sz="1400" i="1" smtClean="0">
                          <a:solidFill>
                            <a:srgbClr val="FF0000"/>
                          </a:solidFill>
                          <a:latin typeface="Cambria Math"/>
                        </a:rPr>
                        <m:t>+ </m:t>
                      </m:r>
                      <m:acc>
                        <m:accPr>
                          <m:chr m:val="̃"/>
                          <m:ctrlPr>
                            <a:rPr lang="en-US" altLang="zh-TW" sz="1400" i="1">
                              <a:solidFill>
                                <a:srgbClr val="FF0000"/>
                              </a:solidFill>
                              <a:latin typeface="Cambria Math" panose="02040503050406030204" pitchFamily="18" charset="0"/>
                            </a:rPr>
                          </m:ctrlPr>
                        </m:accPr>
                        <m:e>
                          <m:r>
                            <a:rPr lang="en-US" altLang="zh-TW" sz="1400" i="1">
                              <a:solidFill>
                                <a:srgbClr val="FF0000"/>
                              </a:solidFill>
                              <a:latin typeface="Cambria Math"/>
                            </a:rPr>
                            <m:t>𝐸</m:t>
                          </m:r>
                        </m:e>
                      </m:acc>
                      <m:d>
                        <m:dPr>
                          <m:begChr m:val="{"/>
                          <m:endChr m:val="}"/>
                          <m:ctrlPr>
                            <a:rPr lang="en-US" altLang="zh-TW" sz="1400" i="1">
                              <a:solidFill>
                                <a:srgbClr val="FF0000"/>
                              </a:solidFill>
                              <a:latin typeface="Cambria Math" panose="02040503050406030204" pitchFamily="18" charset="0"/>
                            </a:rPr>
                          </m:ctrlPr>
                        </m:dPr>
                        <m:e>
                          <m:r>
                            <a:rPr lang="en-US" altLang="zh-TW" sz="1400" i="1">
                              <a:solidFill>
                                <a:srgbClr val="FF0000"/>
                              </a:solidFill>
                              <a:latin typeface="Cambria Math"/>
                            </a:rPr>
                            <m:t> </m:t>
                          </m:r>
                          <m:d>
                            <m:dPr>
                              <m:begChr m:val="["/>
                              <m:endChr m:val="]"/>
                              <m:ctrlPr>
                                <a:rPr lang="en-US" altLang="zh-TW" sz="1400" i="1">
                                  <a:solidFill>
                                    <a:srgbClr val="FF0000"/>
                                  </a:solidFill>
                                  <a:latin typeface="Cambria Math" panose="02040503050406030204" pitchFamily="18" charset="0"/>
                                </a:rPr>
                              </m:ctrlPr>
                            </m:dPr>
                            <m:e>
                              <m:sSub>
                                <m:sSubPr>
                                  <m:ctrlPr>
                                    <a:rPr lang="en-US" altLang="zh-TW" sz="1400" i="1">
                                      <a:solidFill>
                                        <a:srgbClr val="FF0000"/>
                                      </a:solidFill>
                                      <a:latin typeface="Cambria Math" panose="02040503050406030204" pitchFamily="18" charset="0"/>
                                    </a:rPr>
                                  </m:ctrlPr>
                                </m:sSubPr>
                                <m:e>
                                  <m:r>
                                    <a:rPr lang="en-US" altLang="zh-TW" sz="1400" i="1">
                                      <a:solidFill>
                                        <a:srgbClr val="FF0000"/>
                                      </a:solidFill>
                                      <a:latin typeface="Cambria Math"/>
                                    </a:rPr>
                                    <m:t>𝐷</m:t>
                                  </m:r>
                                </m:e>
                                <m:sub>
                                  <m:r>
                                    <a:rPr lang="en-US" altLang="zh-TW" sz="1400" i="1">
                                      <a:solidFill>
                                        <a:srgbClr val="FF0000"/>
                                      </a:solidFill>
                                      <a:latin typeface="Cambria Math"/>
                                    </a:rPr>
                                    <m:t>1</m:t>
                                  </m:r>
                                </m:sub>
                              </m:sSub>
                              <m:r>
                                <a:rPr lang="en-US" altLang="zh-TW" sz="1400" i="1">
                                  <a:solidFill>
                                    <a:srgbClr val="FF0000"/>
                                  </a:solidFill>
                                  <a:latin typeface="Cambria Math"/>
                                </a:rPr>
                                <m:t>+</m:t>
                              </m:r>
                              <m:sSub>
                                <m:sSubPr>
                                  <m:ctrlPr>
                                    <a:rPr lang="en-US" altLang="zh-TW" sz="1400" i="1">
                                      <a:solidFill>
                                        <a:srgbClr val="FF0000"/>
                                      </a:solidFill>
                                      <a:latin typeface="Cambria Math" panose="02040503050406030204" pitchFamily="18" charset="0"/>
                                    </a:rPr>
                                  </m:ctrlPr>
                                </m:sSubPr>
                                <m:e>
                                  <m:r>
                                    <a:rPr lang="en-US" altLang="zh-TW" sz="1400" i="1">
                                      <a:solidFill>
                                        <a:srgbClr val="FF0000"/>
                                      </a:solidFill>
                                      <a:latin typeface="Cambria Math"/>
                                    </a:rPr>
                                    <m:t>𝐶</m:t>
                                  </m:r>
                                </m:e>
                                <m:sub>
                                  <m:r>
                                    <a:rPr lang="en-US" altLang="zh-TW" sz="1400" i="1">
                                      <a:solidFill>
                                        <a:srgbClr val="FF0000"/>
                                      </a:solidFill>
                                      <a:latin typeface="Cambria Math"/>
                                    </a:rPr>
                                    <m:t>1</m:t>
                                  </m:r>
                                </m:sub>
                              </m:sSub>
                              <m:sSub>
                                <m:sSubPr>
                                  <m:ctrlPr>
                                    <a:rPr lang="en-US" altLang="zh-TW" sz="1400" i="1">
                                      <a:solidFill>
                                        <a:srgbClr val="FF0000"/>
                                      </a:solidFill>
                                      <a:latin typeface="Cambria Math" panose="02040503050406030204" pitchFamily="18" charset="0"/>
                                    </a:rPr>
                                  </m:ctrlPr>
                                </m:sSubPr>
                                <m:e>
                                  <m:r>
                                    <a:rPr lang="en-US" altLang="zh-TW" sz="1400" i="1">
                                      <a:solidFill>
                                        <a:srgbClr val="FF0000"/>
                                      </a:solidFill>
                                      <a:latin typeface="Cambria Math"/>
                                    </a:rPr>
                                    <m:t>𝐷</m:t>
                                  </m:r>
                                </m:e>
                                <m:sub>
                                  <m:r>
                                    <a:rPr lang="en-US" altLang="zh-TW" sz="1400" i="1">
                                      <a:solidFill>
                                        <a:srgbClr val="FF0000"/>
                                      </a:solidFill>
                                      <a:latin typeface="Cambria Math"/>
                                    </a:rPr>
                                    <m:t>1</m:t>
                                  </m:r>
                                </m:sub>
                              </m:sSub>
                              <m:r>
                                <a:rPr lang="en-US" altLang="zh-TW" sz="1400" i="1">
                                  <a:solidFill>
                                    <a:srgbClr val="FF0000"/>
                                  </a:solidFill>
                                  <a:latin typeface="Cambria Math"/>
                                </a:rPr>
                                <m:t>𝑇</m:t>
                              </m:r>
                              <m:r>
                                <a:rPr lang="en-US" altLang="zh-TW" sz="1400" b="0" i="1" smtClean="0">
                                  <a:solidFill>
                                    <a:srgbClr val="FF0000"/>
                                  </a:solidFill>
                                  <a:latin typeface="Cambria Math" panose="02040503050406030204" pitchFamily="18" charset="0"/>
                                </a:rPr>
                                <m:t>+</m:t>
                              </m:r>
                              <m:r>
                                <a:rPr lang="en-US" altLang="zh-TW" sz="1400" i="1" smtClean="0">
                                  <a:solidFill>
                                    <a:srgbClr val="FF0000"/>
                                  </a:solidFill>
                                  <a:latin typeface="Cambria Math"/>
                                </a:rPr>
                                <m:t>[</m:t>
                              </m:r>
                              <m:r>
                                <a:rPr lang="en-US" altLang="zh-TW" sz="1400" i="1">
                                  <a:solidFill>
                                    <a:srgbClr val="FF0000"/>
                                  </a:solidFill>
                                  <a:latin typeface="Cambria Math"/>
                                </a:rPr>
                                <m:t>[</m:t>
                              </m:r>
                              <m:r>
                                <a:rPr lang="en-US" altLang="zh-TW" sz="1400" i="1">
                                  <a:solidFill>
                                    <a:srgbClr val="FF0000"/>
                                  </a:solidFill>
                                  <a:latin typeface="Cambria Math"/>
                                </a:rPr>
                                <m:t>𝑉</m:t>
                              </m:r>
                              <m:d>
                                <m:dPr>
                                  <m:ctrlPr>
                                    <a:rPr lang="en-US" altLang="zh-TW" sz="1400" i="1">
                                      <a:solidFill>
                                        <a:srgbClr val="FF0000"/>
                                      </a:solidFill>
                                      <a:latin typeface="Cambria Math" panose="02040503050406030204" pitchFamily="18" charset="0"/>
                                    </a:rPr>
                                  </m:ctrlPr>
                                </m:dPr>
                                <m:e>
                                  <m:r>
                                    <a:rPr lang="en-US" altLang="zh-TW" sz="1400" i="1">
                                      <a:solidFill>
                                        <a:srgbClr val="FF0000"/>
                                      </a:solidFill>
                                      <a:latin typeface="Cambria Math"/>
                                    </a:rPr>
                                    <m:t>𝑇</m:t>
                                  </m:r>
                                </m:e>
                              </m:d>
                              <m:r>
                                <a:rPr lang="en-US" altLang="zh-TW" sz="1400" i="1">
                                  <a:solidFill>
                                    <a:srgbClr val="FF0000"/>
                                  </a:solidFill>
                                  <a:latin typeface="Cambria Math"/>
                                </a:rPr>
                                <m:t>−[</m:t>
                              </m:r>
                              <m:sSub>
                                <m:sSubPr>
                                  <m:ctrlPr>
                                    <a:rPr lang="en-US" altLang="zh-TW" sz="1400" i="1">
                                      <a:solidFill>
                                        <a:srgbClr val="FF0000"/>
                                      </a:solidFill>
                                      <a:latin typeface="Cambria Math" panose="02040503050406030204" pitchFamily="18" charset="0"/>
                                    </a:rPr>
                                  </m:ctrlPr>
                                </m:sSubPr>
                                <m:e>
                                  <m:r>
                                    <a:rPr lang="en-US" altLang="zh-TW" sz="1400" i="1">
                                      <a:solidFill>
                                        <a:srgbClr val="FF0000"/>
                                      </a:solidFill>
                                      <a:latin typeface="Cambria Math"/>
                                    </a:rPr>
                                    <m:t>𝐷</m:t>
                                  </m:r>
                                </m:e>
                                <m:sub>
                                  <m:r>
                                    <a:rPr lang="en-US" altLang="zh-TW" sz="1400" i="1">
                                      <a:solidFill>
                                        <a:srgbClr val="FF0000"/>
                                      </a:solidFill>
                                      <a:latin typeface="Cambria Math"/>
                                    </a:rPr>
                                    <m:t>1</m:t>
                                  </m:r>
                                </m:sub>
                              </m:sSub>
                              <m:r>
                                <a:rPr lang="en-US" altLang="zh-TW" sz="1400" i="1" dirty="0">
                                  <a:solidFill>
                                    <a:srgbClr val="FF0000"/>
                                  </a:solidFill>
                                  <a:latin typeface="Cambria Math" panose="02040503050406030204" pitchFamily="18" charset="0"/>
                                  <a:ea typeface="微軟正黑體" panose="020B0604030504040204" pitchFamily="34" charset="-120"/>
                                </a:rPr>
                                <m:t>+</m:t>
                              </m:r>
                              <m:r>
                                <a:rPr lang="en-US" altLang="zh-TW" sz="1400" i="1">
                                  <a:solidFill>
                                    <a:srgbClr val="FF0000"/>
                                  </a:solidFill>
                                  <a:latin typeface="Cambria Math"/>
                                </a:rPr>
                                <m:t>(1−</m:t>
                              </m:r>
                              <m:r>
                                <a:rPr lang="en-US" altLang="zh-TW" sz="1400" i="1">
                                  <a:solidFill>
                                    <a:srgbClr val="FF0000"/>
                                  </a:solidFill>
                                  <a:latin typeface="Cambria Math"/>
                                </a:rPr>
                                <m:t>𝑡𝑎𝑥</m:t>
                              </m:r>
                              <m:r>
                                <a:rPr lang="en-US" altLang="zh-TW" sz="1400" i="1">
                                  <a:solidFill>
                                    <a:srgbClr val="FF0000"/>
                                  </a:solidFill>
                                  <a:latin typeface="Cambria Math"/>
                                </a:rPr>
                                <m:t>)(</m:t>
                              </m:r>
                              <m:sSub>
                                <m:sSubPr>
                                  <m:ctrlPr>
                                    <a:rPr lang="en-US" altLang="zh-TW" sz="1400" i="1">
                                      <a:solidFill>
                                        <a:srgbClr val="FF0000"/>
                                      </a:solidFill>
                                      <a:latin typeface="Cambria Math" panose="02040503050406030204" pitchFamily="18" charset="0"/>
                                    </a:rPr>
                                  </m:ctrlPr>
                                </m:sSubPr>
                                <m:e>
                                  <m:r>
                                    <a:rPr lang="en-US" altLang="zh-TW" sz="1400" i="1">
                                      <a:solidFill>
                                        <a:srgbClr val="FF0000"/>
                                      </a:solidFill>
                                      <a:latin typeface="Cambria Math"/>
                                    </a:rPr>
                                    <m:t>𝐶</m:t>
                                  </m:r>
                                </m:e>
                                <m:sub>
                                  <m:r>
                                    <a:rPr lang="en-US" altLang="zh-TW" sz="1400" i="1">
                                      <a:solidFill>
                                        <a:srgbClr val="FF0000"/>
                                      </a:solidFill>
                                      <a:latin typeface="Cambria Math"/>
                                    </a:rPr>
                                    <m:t>1</m:t>
                                  </m:r>
                                </m:sub>
                              </m:sSub>
                              <m:sSub>
                                <m:sSubPr>
                                  <m:ctrlPr>
                                    <a:rPr lang="en-US" altLang="zh-TW" sz="1400" i="1">
                                      <a:solidFill>
                                        <a:srgbClr val="FF0000"/>
                                      </a:solidFill>
                                      <a:latin typeface="Cambria Math" panose="02040503050406030204" pitchFamily="18" charset="0"/>
                                    </a:rPr>
                                  </m:ctrlPr>
                                </m:sSubPr>
                                <m:e>
                                  <m:r>
                                    <a:rPr lang="en-US" altLang="zh-TW" sz="1400" i="1">
                                      <a:solidFill>
                                        <a:srgbClr val="FF0000"/>
                                      </a:solidFill>
                                      <a:latin typeface="Cambria Math"/>
                                    </a:rPr>
                                    <m:t>𝐷</m:t>
                                  </m:r>
                                </m:e>
                                <m:sub>
                                  <m:r>
                                    <a:rPr lang="en-US" altLang="zh-TW" sz="1400" i="1">
                                      <a:solidFill>
                                        <a:srgbClr val="FF0000"/>
                                      </a:solidFill>
                                      <a:latin typeface="Cambria Math"/>
                                    </a:rPr>
                                    <m:t>1</m:t>
                                  </m:r>
                                </m:sub>
                              </m:sSub>
                              <m:r>
                                <a:rPr lang="en-US" altLang="zh-TW" sz="1400" i="1">
                                  <a:solidFill>
                                    <a:srgbClr val="FF0000"/>
                                  </a:solidFill>
                                  <a:latin typeface="Cambria Math"/>
                                </a:rPr>
                                <m:t>𝑇</m:t>
                              </m:r>
                              <m:r>
                                <a:rPr lang="en-US" altLang="zh-TW" sz="1400" i="1">
                                  <a:solidFill>
                                    <a:srgbClr val="FF0000"/>
                                  </a:solidFill>
                                  <a:latin typeface="Cambria Math"/>
                                </a:rPr>
                                <m:t>+</m:t>
                              </m:r>
                              <m:sSub>
                                <m:sSubPr>
                                  <m:ctrlPr>
                                    <a:rPr lang="en-US" altLang="zh-TW" sz="1400" i="1">
                                      <a:solidFill>
                                        <a:srgbClr val="FF0000"/>
                                      </a:solidFill>
                                      <a:latin typeface="Cambria Math" panose="02040503050406030204" pitchFamily="18" charset="0"/>
                                    </a:rPr>
                                  </m:ctrlPr>
                                </m:sSubPr>
                                <m:e>
                                  <m:r>
                                    <a:rPr lang="en-US" altLang="zh-TW" sz="1400" i="1">
                                      <a:solidFill>
                                        <a:srgbClr val="FF0000"/>
                                      </a:solidFill>
                                      <a:latin typeface="Cambria Math"/>
                                    </a:rPr>
                                    <m:t>𝐶</m:t>
                                  </m:r>
                                </m:e>
                                <m:sub>
                                  <m:r>
                                    <a:rPr lang="en-US" altLang="zh-TW" sz="1400" i="1">
                                      <a:solidFill>
                                        <a:srgbClr val="FF0000"/>
                                      </a:solidFill>
                                      <a:latin typeface="Cambria Math"/>
                                    </a:rPr>
                                    <m:t>2</m:t>
                                  </m:r>
                                </m:sub>
                              </m:sSub>
                              <m:sSub>
                                <m:sSubPr>
                                  <m:ctrlPr>
                                    <a:rPr lang="en-US" altLang="zh-TW" sz="1400" i="1">
                                      <a:solidFill>
                                        <a:srgbClr val="FF0000"/>
                                      </a:solidFill>
                                      <a:latin typeface="Cambria Math" panose="02040503050406030204" pitchFamily="18" charset="0"/>
                                    </a:rPr>
                                  </m:ctrlPr>
                                </m:sSubPr>
                                <m:e>
                                  <m:r>
                                    <a:rPr lang="en-US" altLang="zh-TW" sz="1400" i="1">
                                      <a:solidFill>
                                        <a:srgbClr val="FF0000"/>
                                      </a:solidFill>
                                      <a:latin typeface="Cambria Math"/>
                                    </a:rPr>
                                    <m:t>𝐷</m:t>
                                  </m:r>
                                </m:e>
                                <m:sub>
                                  <m:r>
                                    <a:rPr lang="en-US" altLang="zh-TW" sz="1400" i="1">
                                      <a:solidFill>
                                        <a:srgbClr val="FF0000"/>
                                      </a:solidFill>
                                      <a:latin typeface="Cambria Math"/>
                                    </a:rPr>
                                    <m:t>2</m:t>
                                  </m:r>
                                </m:sub>
                              </m:sSub>
                              <m:r>
                                <a:rPr lang="en-US" altLang="zh-TW" sz="1400" i="1">
                                  <a:solidFill>
                                    <a:srgbClr val="FF0000"/>
                                  </a:solidFill>
                                  <a:latin typeface="Cambria Math"/>
                                </a:rPr>
                                <m:t>𝑇</m:t>
                              </m:r>
                              <m:r>
                                <a:rPr lang="en-US" altLang="zh-TW" sz="1400" i="1">
                                  <a:solidFill>
                                    <a:srgbClr val="FF0000"/>
                                  </a:solidFill>
                                  <a:latin typeface="Cambria Math"/>
                                </a:rPr>
                                <m:t>)]]</m:t>
                              </m:r>
                              <m:f>
                                <m:fPr>
                                  <m:ctrlPr>
                                    <a:rPr lang="en-US" altLang="zh-TW" sz="1400" i="1">
                                      <a:solidFill>
                                        <a:srgbClr val="FF0000"/>
                                      </a:solidFill>
                                      <a:latin typeface="Cambria Math" panose="02040503050406030204" pitchFamily="18" charset="0"/>
                                    </a:rPr>
                                  </m:ctrlPr>
                                </m:fPr>
                                <m:num>
                                  <m:sSub>
                                    <m:sSubPr>
                                      <m:ctrlPr>
                                        <a:rPr lang="en-US" altLang="zh-TW" sz="1400" i="1">
                                          <a:solidFill>
                                            <a:srgbClr val="FF0000"/>
                                          </a:solidFill>
                                          <a:latin typeface="Cambria Math" panose="02040503050406030204" pitchFamily="18" charset="0"/>
                                        </a:rPr>
                                      </m:ctrlPr>
                                    </m:sSubPr>
                                    <m:e>
                                      <m:r>
                                        <a:rPr lang="en-US" altLang="zh-TW" sz="1400" i="1">
                                          <a:solidFill>
                                            <a:srgbClr val="FF0000"/>
                                          </a:solidFill>
                                          <a:latin typeface="Cambria Math" panose="02040503050406030204" pitchFamily="18" charset="0"/>
                                        </a:rPr>
                                        <m:t>𝑂</m:t>
                                      </m:r>
                                    </m:e>
                                    <m:sub>
                                      <m:r>
                                        <a:rPr lang="en-US" altLang="zh-TW" sz="1400" i="1">
                                          <a:solidFill>
                                            <a:srgbClr val="FF0000"/>
                                          </a:solidFill>
                                          <a:latin typeface="Cambria Math" panose="02040503050406030204" pitchFamily="18" charset="0"/>
                                        </a:rPr>
                                        <m:t>𝐶𝐶</m:t>
                                      </m:r>
                                    </m:sub>
                                  </m:sSub>
                                </m:num>
                                <m:den>
                                  <m:r>
                                    <a:rPr lang="en-US" altLang="zh-TW" sz="1400" i="1">
                                      <a:solidFill>
                                        <a:srgbClr val="FF0000"/>
                                      </a:solidFill>
                                      <a:latin typeface="Cambria Math" panose="02040503050406030204" pitchFamily="18" charset="0"/>
                                    </a:rPr>
                                    <m:t>𝑂</m:t>
                                  </m:r>
                                  <m:r>
                                    <a:rPr lang="en-US" altLang="zh-TW" sz="1400" i="1">
                                      <a:solidFill>
                                        <a:srgbClr val="FF0000"/>
                                      </a:solidFill>
                                      <a:latin typeface="Cambria Math" panose="02040503050406030204" pitchFamily="18" charset="0"/>
                                    </a:rPr>
                                    <m:t>+</m:t>
                                  </m:r>
                                  <m:sSub>
                                    <m:sSubPr>
                                      <m:ctrlPr>
                                        <a:rPr lang="en-US" altLang="zh-TW" sz="1400" i="1">
                                          <a:solidFill>
                                            <a:srgbClr val="FF0000"/>
                                          </a:solidFill>
                                          <a:latin typeface="Cambria Math" panose="02040503050406030204" pitchFamily="18" charset="0"/>
                                        </a:rPr>
                                      </m:ctrlPr>
                                    </m:sSubPr>
                                    <m:e>
                                      <m:r>
                                        <a:rPr lang="en-US" altLang="zh-TW" sz="1400" i="1">
                                          <a:solidFill>
                                            <a:srgbClr val="FF0000"/>
                                          </a:solidFill>
                                          <a:latin typeface="Cambria Math" panose="02040503050406030204" pitchFamily="18" charset="0"/>
                                        </a:rPr>
                                        <m:t>𝑂</m:t>
                                      </m:r>
                                    </m:e>
                                    <m:sub>
                                      <m:r>
                                        <a:rPr lang="en-US" altLang="zh-TW" sz="1400" i="1">
                                          <a:solidFill>
                                            <a:srgbClr val="FF0000"/>
                                          </a:solidFill>
                                          <a:latin typeface="Cambria Math" panose="02040503050406030204" pitchFamily="18" charset="0"/>
                                        </a:rPr>
                                        <m:t>𝐶𝐶</m:t>
                                      </m:r>
                                    </m:sub>
                                  </m:sSub>
                                </m:den>
                              </m:f>
                              <m:r>
                                <a:rPr lang="en-US" altLang="zh-TW" sz="1400" i="1">
                                  <a:solidFill>
                                    <a:srgbClr val="FF0000"/>
                                  </a:solidFill>
                                  <a:latin typeface="Cambria Math"/>
                                </a:rPr>
                                <m:t>+</m:t>
                              </m:r>
                              <m:sSub>
                                <m:sSubPr>
                                  <m:ctrlPr>
                                    <a:rPr lang="en-US" altLang="zh-TW" sz="1400" i="1">
                                      <a:solidFill>
                                        <a:srgbClr val="FF0000"/>
                                      </a:solidFill>
                                      <a:latin typeface="Cambria Math" panose="02040503050406030204" pitchFamily="18" charset="0"/>
                                    </a:rPr>
                                  </m:ctrlPr>
                                </m:sSubPr>
                                <m:e>
                                  <m:r>
                                    <a:rPr lang="en-US" altLang="zh-TW" sz="1400" i="1">
                                      <a:solidFill>
                                        <a:srgbClr val="FF0000"/>
                                      </a:solidFill>
                                      <a:latin typeface="Cambria Math"/>
                                    </a:rPr>
                                    <m:t>𝐶</m:t>
                                  </m:r>
                                </m:e>
                                <m:sub>
                                  <m:r>
                                    <a:rPr lang="en-US" altLang="zh-TW" sz="1400" i="1">
                                      <a:solidFill>
                                        <a:srgbClr val="FF0000"/>
                                      </a:solidFill>
                                      <a:latin typeface="Cambria Math"/>
                                    </a:rPr>
                                    <m:t>2</m:t>
                                  </m:r>
                                </m:sub>
                              </m:sSub>
                              <m:sSub>
                                <m:sSubPr>
                                  <m:ctrlPr>
                                    <a:rPr lang="en-US" altLang="zh-TW" sz="1400" i="1">
                                      <a:solidFill>
                                        <a:srgbClr val="FF0000"/>
                                      </a:solidFill>
                                      <a:latin typeface="Cambria Math" panose="02040503050406030204" pitchFamily="18" charset="0"/>
                                    </a:rPr>
                                  </m:ctrlPr>
                                </m:sSubPr>
                                <m:e>
                                  <m:r>
                                    <a:rPr lang="en-US" altLang="zh-TW" sz="1400" i="1">
                                      <a:solidFill>
                                        <a:srgbClr val="FF0000"/>
                                      </a:solidFill>
                                      <a:latin typeface="Cambria Math"/>
                                    </a:rPr>
                                    <m:t>𝐷</m:t>
                                  </m:r>
                                </m:e>
                                <m:sub>
                                  <m:r>
                                    <a:rPr lang="en-US" altLang="zh-TW" sz="1400" i="1">
                                      <a:solidFill>
                                        <a:srgbClr val="FF0000"/>
                                      </a:solidFill>
                                      <a:latin typeface="Cambria Math"/>
                                    </a:rPr>
                                    <m:t>2</m:t>
                                  </m:r>
                                </m:sub>
                              </m:sSub>
                              <m:r>
                                <a:rPr lang="en-US" altLang="zh-TW" sz="1400" i="1">
                                  <a:solidFill>
                                    <a:srgbClr val="FF0000"/>
                                  </a:solidFill>
                                  <a:latin typeface="Cambria Math"/>
                                </a:rPr>
                                <m:t>𝑇</m:t>
                              </m:r>
                            </m:e>
                          </m:d>
                          <m:sSup>
                            <m:sSupPr>
                              <m:ctrlPr>
                                <a:rPr lang="en-US" altLang="zh-TW" sz="1400" i="1">
                                  <a:solidFill>
                                    <a:srgbClr val="FF0000"/>
                                  </a:solidFill>
                                  <a:latin typeface="Cambria Math" panose="02040503050406030204" pitchFamily="18" charset="0"/>
                                </a:rPr>
                              </m:ctrlPr>
                            </m:sSupPr>
                            <m:e>
                              <m:r>
                                <a:rPr lang="en-US" altLang="zh-TW" sz="1400" i="1">
                                  <a:solidFill>
                                    <a:srgbClr val="FF0000"/>
                                  </a:solidFill>
                                  <a:latin typeface="Cambria Math"/>
                                </a:rPr>
                                <m:t>  </m:t>
                              </m:r>
                              <m:r>
                                <a:rPr lang="en-US" altLang="zh-TW" sz="1400" i="1">
                                  <a:solidFill>
                                    <a:srgbClr val="FF0000"/>
                                  </a:solidFill>
                                  <a:latin typeface="Cambria Math"/>
                                </a:rPr>
                                <m:t>𝑒</m:t>
                              </m:r>
                            </m:e>
                            <m:sup>
                              <m:r>
                                <a:rPr lang="en-US" altLang="zh-TW" sz="1400" i="1">
                                  <a:solidFill>
                                    <a:srgbClr val="FF0000"/>
                                  </a:solidFill>
                                  <a:latin typeface="Cambria Math"/>
                                </a:rPr>
                                <m:t>−</m:t>
                              </m:r>
                              <m:r>
                                <a:rPr lang="en-US" altLang="zh-TW" sz="1400" i="1">
                                  <a:solidFill>
                                    <a:srgbClr val="FF0000"/>
                                  </a:solidFill>
                                  <a:latin typeface="Cambria Math"/>
                                </a:rPr>
                                <m:t>𝑟𝑇</m:t>
                              </m:r>
                            </m:sup>
                          </m:sSup>
                          <m:sSub>
                            <m:sSubPr>
                              <m:ctrlPr>
                                <a:rPr lang="en-US" altLang="zh-TW" sz="1400" i="1">
                                  <a:solidFill>
                                    <a:srgbClr val="FF0000"/>
                                  </a:solidFill>
                                  <a:latin typeface="Cambria Math" panose="02040503050406030204" pitchFamily="18" charset="0"/>
                                </a:rPr>
                              </m:ctrlPr>
                            </m:sSubPr>
                            <m:e>
                              <m:r>
                                <a:rPr lang="en-US" altLang="zh-TW" sz="1400" i="1">
                                  <a:solidFill>
                                    <a:srgbClr val="FF0000"/>
                                  </a:solidFill>
                                  <a:latin typeface="Cambria Math"/>
                                </a:rPr>
                                <m:t>𝐼</m:t>
                              </m:r>
                            </m:e>
                            <m:sub>
                              <m:d>
                                <m:dPr>
                                  <m:begChr m:val="{"/>
                                  <m:endChr m:val="}"/>
                                  <m:ctrlPr>
                                    <a:rPr lang="en-US" altLang="zh-TW" sz="1400" i="1">
                                      <a:solidFill>
                                        <a:srgbClr val="FF0000"/>
                                      </a:solidFill>
                                      <a:latin typeface="Cambria Math" panose="02040503050406030204" pitchFamily="18" charset="0"/>
                                    </a:rPr>
                                  </m:ctrlPr>
                                </m:dPr>
                                <m:e>
                                  <m:r>
                                    <a:rPr lang="zh-TW" altLang="en-US" sz="1400" i="1">
                                      <a:solidFill>
                                        <a:srgbClr val="FF0000"/>
                                      </a:solidFill>
                                      <a:latin typeface="Cambria Math"/>
                                    </a:rPr>
                                    <m:t>存活，</m:t>
                                  </m:r>
                                  <m:r>
                                    <a:rPr lang="en-US" altLang="zh-TW" sz="1400" i="1">
                                      <a:solidFill>
                                        <a:srgbClr val="FF0000"/>
                                      </a:solidFill>
                                      <a:latin typeface="Cambria Math" panose="02040503050406030204" pitchFamily="18" charset="0"/>
                                    </a:rPr>
                                    <m:t>𝐶𝐶</m:t>
                                  </m:r>
                                  <m:r>
                                    <a:rPr lang="zh-TW" altLang="en-US" sz="1400" i="1">
                                      <a:solidFill>
                                        <a:srgbClr val="FF0000"/>
                                      </a:solidFill>
                                      <a:latin typeface="Cambria Math"/>
                                    </a:rPr>
                                    <m:t>已轉換</m:t>
                                  </m:r>
                                </m:e>
                              </m:d>
                              <m:r>
                                <a:rPr lang="en-US" altLang="zh-TW" sz="1400" i="1">
                                  <a:solidFill>
                                    <a:srgbClr val="FF0000"/>
                                  </a:solidFill>
                                  <a:latin typeface="Cambria Math"/>
                                </a:rPr>
                                <m:t>  </m:t>
                              </m:r>
                            </m:sub>
                          </m:sSub>
                        </m:e>
                      </m:d>
                    </m:oMath>
                  </m:oMathPara>
                </a14:m>
                <a:endParaRPr lang="en-US" altLang="zh-TW" sz="1400" i="1" dirty="0" smtClean="0">
                  <a:solidFill>
                    <a:srgbClr val="FF0000"/>
                  </a:solidFill>
                  <a:latin typeface="Cambria Math"/>
                </a:endParaRPr>
              </a:p>
              <a:p>
                <a:pPr>
                  <a:lnSpc>
                    <a:spcPct val="150000"/>
                  </a:lnSpc>
                </a:pPr>
                <a14:m>
                  <m:oMathPara xmlns:m="http://schemas.openxmlformats.org/officeDocument/2006/math">
                    <m:oMathParaPr>
                      <m:jc m:val="left"/>
                    </m:oMathParaPr>
                    <m:oMath xmlns:m="http://schemas.openxmlformats.org/officeDocument/2006/math">
                      <m:r>
                        <a:rPr lang="en-US" altLang="zh-TW" sz="1400" i="1" smtClean="0">
                          <a:solidFill>
                            <a:schemeClr val="tx1"/>
                          </a:solidFill>
                          <a:latin typeface="Cambria Math" panose="02040503050406030204" pitchFamily="18" charset="0"/>
                        </a:rPr>
                        <m:t>+</m:t>
                      </m:r>
                      <m:acc>
                        <m:accPr>
                          <m:chr m:val="̃"/>
                          <m:ctrlPr>
                            <a:rPr lang="en-US" altLang="zh-TW" sz="1400" i="1" smtClean="0">
                              <a:solidFill>
                                <a:schemeClr val="tx1"/>
                              </a:solidFill>
                              <a:latin typeface="Cambria Math" panose="02040503050406030204" pitchFamily="18" charset="0"/>
                            </a:rPr>
                          </m:ctrlPr>
                        </m:accPr>
                        <m:e>
                          <m:r>
                            <a:rPr lang="en-US" altLang="zh-TW" sz="1400" i="1">
                              <a:solidFill>
                                <a:schemeClr val="tx1"/>
                              </a:solidFill>
                              <a:latin typeface="Cambria Math"/>
                            </a:rPr>
                            <m:t>𝐸</m:t>
                          </m:r>
                        </m:e>
                      </m:acc>
                      <m:r>
                        <a:rPr lang="en-US" altLang="zh-TW" sz="1400" i="1">
                          <a:solidFill>
                            <a:schemeClr val="tx1"/>
                          </a:solidFill>
                          <a:latin typeface="Cambria Math"/>
                        </a:rPr>
                        <m:t>{</m:t>
                      </m:r>
                      <m:r>
                        <m:rPr>
                          <m:sty m:val="p"/>
                        </m:rPr>
                        <a:rPr lang="en-US" altLang="zh-TW" sz="1400">
                          <a:latin typeface="Cambria Math"/>
                        </a:rPr>
                        <m:t>max</m:t>
                      </m:r>
                      <m:r>
                        <a:rPr lang="en-US" altLang="zh-TW" sz="1400" i="1">
                          <a:latin typeface="Cambria Math"/>
                        </a:rPr>
                        <m:t>⁡[</m:t>
                      </m:r>
                      <m:d>
                        <m:dPr>
                          <m:ctrlPr>
                            <a:rPr lang="en-US" altLang="zh-TW" sz="1400" i="1">
                              <a:latin typeface="Cambria Math" panose="02040503050406030204" pitchFamily="18" charset="0"/>
                            </a:rPr>
                          </m:ctrlPr>
                        </m:dPr>
                        <m:e>
                          <m:r>
                            <a:rPr lang="en-US" altLang="zh-TW" sz="1400" i="1">
                              <a:latin typeface="Cambria Math"/>
                            </a:rPr>
                            <m:t>1−</m:t>
                          </m:r>
                          <m:r>
                            <a:rPr lang="zh-TW" altLang="en-US" sz="1400" i="1">
                              <a:latin typeface="Cambria Math"/>
                            </a:rPr>
                            <m:t>𝛼</m:t>
                          </m:r>
                        </m:e>
                      </m:d>
                      <m:r>
                        <a:rPr lang="en-US" altLang="zh-TW" sz="1400" i="1">
                          <a:latin typeface="Cambria Math"/>
                        </a:rPr>
                        <m:t>𝑉</m:t>
                      </m:r>
                      <m:d>
                        <m:dPr>
                          <m:ctrlPr>
                            <a:rPr lang="en-US" altLang="zh-TW" sz="1400" i="1">
                              <a:latin typeface="Cambria Math" panose="02040503050406030204" pitchFamily="18" charset="0"/>
                            </a:rPr>
                          </m:ctrlPr>
                        </m:dPr>
                        <m:e>
                          <m:r>
                            <a:rPr lang="en-US" altLang="zh-TW" sz="1400" i="1">
                              <a:latin typeface="Cambria Math"/>
                            </a:rPr>
                            <m:t>𝑇</m:t>
                          </m:r>
                        </m:e>
                      </m:d>
                      <m:r>
                        <a:rPr lang="en-US" altLang="zh-TW" sz="1400" i="1">
                          <a:latin typeface="Cambria Math"/>
                        </a:rPr>
                        <m:t>,0]</m:t>
                      </m:r>
                      <m:sSup>
                        <m:sSupPr>
                          <m:ctrlPr>
                            <a:rPr lang="en-US" altLang="zh-TW" sz="1400" i="1">
                              <a:latin typeface="Cambria Math" panose="02040503050406030204" pitchFamily="18" charset="0"/>
                            </a:rPr>
                          </m:ctrlPr>
                        </m:sSupPr>
                        <m:e>
                          <m:r>
                            <a:rPr lang="en-US" altLang="zh-TW" sz="1400" i="1">
                              <a:latin typeface="Cambria Math"/>
                            </a:rPr>
                            <m:t>  </m:t>
                          </m:r>
                          <m:r>
                            <a:rPr lang="en-US" altLang="zh-TW" sz="1400" i="1">
                              <a:latin typeface="Cambria Math"/>
                            </a:rPr>
                            <m:t>𝑒</m:t>
                          </m:r>
                        </m:e>
                        <m:sup>
                          <m:r>
                            <a:rPr lang="en-US" altLang="zh-TW" sz="1400" i="1">
                              <a:latin typeface="Cambria Math"/>
                            </a:rPr>
                            <m:t>−</m:t>
                          </m:r>
                          <m:r>
                            <a:rPr lang="en-US" altLang="zh-TW" sz="1400" i="1">
                              <a:latin typeface="Cambria Math"/>
                            </a:rPr>
                            <m:t>𝑟𝑇</m:t>
                          </m:r>
                        </m:sup>
                      </m:sSup>
                      <m:sSub>
                        <m:sSubPr>
                          <m:ctrlPr>
                            <a:rPr lang="en-US" altLang="zh-TW" sz="1400" i="1">
                              <a:latin typeface="Cambria Math" panose="02040503050406030204" pitchFamily="18" charset="0"/>
                            </a:rPr>
                          </m:ctrlPr>
                        </m:sSubPr>
                        <m:e>
                          <m:r>
                            <a:rPr lang="en-US" altLang="zh-TW" sz="1400" i="1">
                              <a:latin typeface="Cambria Math"/>
                            </a:rPr>
                            <m:t>𝐼</m:t>
                          </m:r>
                        </m:e>
                        <m:sub>
                          <m:r>
                            <a:rPr lang="en-US" altLang="zh-TW" sz="1400" i="1">
                              <a:latin typeface="Cambria Math"/>
                            </a:rPr>
                            <m:t>{</m:t>
                          </m:r>
                          <m:r>
                            <a:rPr lang="zh-TW" altLang="en-US" sz="1400" i="1">
                              <a:latin typeface="Cambria Math"/>
                            </a:rPr>
                            <m:t>破產</m:t>
                          </m:r>
                          <m:r>
                            <a:rPr lang="en-US" altLang="zh-TW" sz="1400" i="1">
                              <a:latin typeface="Cambria Math"/>
                            </a:rPr>
                            <m:t>}</m:t>
                          </m:r>
                        </m:sub>
                      </m:sSub>
                      <m:r>
                        <a:rPr lang="en-US" altLang="zh-TW" sz="1400" i="1">
                          <a:solidFill>
                            <a:schemeClr val="tx1"/>
                          </a:solidFill>
                          <a:latin typeface="Cambria Math"/>
                        </a:rPr>
                        <m:t>}</m:t>
                      </m:r>
                    </m:oMath>
                  </m:oMathPara>
                </a14:m>
                <a:endParaRPr lang="en-US" altLang="zh-TW" sz="1400" i="1" dirty="0">
                  <a:solidFill>
                    <a:schemeClr val="tx1"/>
                  </a:solidFill>
                  <a:latin typeface="Cambria Math"/>
                </a:endParaRPr>
              </a:p>
            </p:txBody>
          </p:sp>
        </mc:Choice>
        <mc:Fallback xmlns="">
          <p:sp>
            <p:nvSpPr>
              <p:cNvPr id="7" name="矩形 6"/>
              <p:cNvSpPr>
                <a:spLocks noRot="1" noChangeAspect="1" noMove="1" noResize="1" noEditPoints="1" noAdjustHandles="1" noChangeArrowheads="1" noChangeShapeType="1" noTextEdit="1"/>
              </p:cNvSpPr>
              <p:nvPr/>
            </p:nvSpPr>
            <p:spPr>
              <a:xfrm>
                <a:off x="107092" y="3500522"/>
                <a:ext cx="12084908" cy="2442400"/>
              </a:xfrm>
              <a:prstGeom prst="rect">
                <a:avLst/>
              </a:prstGeom>
              <a:blipFill rotWithShape="0">
                <a:blip r:embed="rId15"/>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3704432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29"/>
          <p:cNvSpPr>
            <a:spLocks noChangeArrowheads="1"/>
          </p:cNvSpPr>
          <p:nvPr/>
        </p:nvSpPr>
        <p:spPr bwMode="auto">
          <a:xfrm>
            <a:off x="1210615" y="153305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grpSp>
        <p:nvGrpSpPr>
          <p:cNvPr id="5" name="群組 4"/>
          <p:cNvGrpSpPr/>
          <p:nvPr/>
        </p:nvGrpSpPr>
        <p:grpSpPr>
          <a:xfrm>
            <a:off x="3101068" y="1117045"/>
            <a:ext cx="5521324" cy="2683876"/>
            <a:chOff x="432009" y="800729"/>
            <a:chExt cx="11864005" cy="5767008"/>
          </a:xfrm>
        </p:grpSpPr>
        <p:sp>
          <p:nvSpPr>
            <p:cNvPr id="40" name="矩形 39"/>
            <p:cNvSpPr/>
            <p:nvPr/>
          </p:nvSpPr>
          <p:spPr>
            <a:xfrm>
              <a:off x="1815191" y="1717719"/>
              <a:ext cx="4763602" cy="1944187"/>
            </a:xfrm>
            <a:prstGeom prst="rect">
              <a:avLst/>
            </a:pr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p:cNvSpPr/>
            <p:nvPr/>
          </p:nvSpPr>
          <p:spPr>
            <a:xfrm>
              <a:off x="6602042" y="1717719"/>
              <a:ext cx="4064307" cy="1944187"/>
            </a:xfrm>
            <a:prstGeom prst="rect">
              <a:avLst/>
            </a:prstGeom>
            <a:solidFill>
              <a:srgbClr val="51DF7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p:cNvSpPr/>
            <p:nvPr/>
          </p:nvSpPr>
          <p:spPr>
            <a:xfrm>
              <a:off x="1845116" y="3661906"/>
              <a:ext cx="7094327" cy="2419629"/>
            </a:xfrm>
            <a:prstGeom prst="rect">
              <a:avLst/>
            </a:prstGeom>
            <a:solidFill>
              <a:srgbClr val="5B9BD5">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7" name="Group 7"/>
            <p:cNvGrpSpPr>
              <a:grpSpLocks/>
            </p:cNvGrpSpPr>
            <p:nvPr/>
          </p:nvGrpSpPr>
          <p:grpSpPr bwMode="auto">
            <a:xfrm>
              <a:off x="1709580" y="1637696"/>
              <a:ext cx="9870852" cy="4303263"/>
              <a:chOff x="1388" y="7721"/>
              <a:chExt cx="9198" cy="4758"/>
            </a:xfrm>
          </p:grpSpPr>
          <p:sp>
            <p:nvSpPr>
              <p:cNvPr id="30" name="Text Box 19"/>
              <p:cNvSpPr txBox="1">
                <a:spLocks noChangeArrowheads="1"/>
              </p:cNvSpPr>
              <p:nvPr/>
            </p:nvSpPr>
            <p:spPr bwMode="auto">
              <a:xfrm>
                <a:off x="9647" y="11594"/>
                <a:ext cx="939" cy="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TW" sz="1200" b="0" i="0" u="none" strike="noStrike" cap="none" normalizeH="0" baseline="0" smtClean="0">
                    <a:ln>
                      <a:noFill/>
                    </a:ln>
                    <a:solidFill>
                      <a:schemeClr val="tx1"/>
                    </a:solidFill>
                    <a:effectLst/>
                    <a:latin typeface="Calibri" panose="020F0502020204030204" pitchFamily="34" charset="0"/>
                    <a:ea typeface="新細明體" panose="02020500000000000000" pitchFamily="18" charset="-120"/>
                    <a:cs typeface="Times New Roman" panose="02020603050405020304" pitchFamily="18" charset="0"/>
                  </a:rPr>
                  <a:t>        </a:t>
                </a:r>
                <a:endParaRPr kumimoji="0" lang="en-US" altLang="zh-TW" sz="1800" b="0" i="0" u="none" strike="noStrike" cap="none" normalizeH="0" baseline="0" smtClean="0">
                  <a:ln>
                    <a:noFill/>
                  </a:ln>
                  <a:solidFill>
                    <a:schemeClr val="tx1"/>
                  </a:solidFill>
                  <a:effectLst/>
                  <a:latin typeface="Arial" panose="020B0604020202020204" pitchFamily="34" charset="0"/>
                </a:endParaRPr>
              </a:p>
            </p:txBody>
          </p:sp>
          <p:sp>
            <p:nvSpPr>
              <p:cNvPr id="31" name="Text Box 18"/>
              <p:cNvSpPr txBox="1">
                <a:spLocks noChangeArrowheads="1"/>
              </p:cNvSpPr>
              <p:nvPr/>
            </p:nvSpPr>
            <p:spPr bwMode="auto">
              <a:xfrm>
                <a:off x="1810" y="7721"/>
                <a:ext cx="939" cy="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TW" sz="1200" b="0" i="0" u="none" strike="noStrike" cap="none" normalizeH="0" baseline="0" smtClean="0">
                    <a:ln>
                      <a:noFill/>
                    </a:ln>
                    <a:solidFill>
                      <a:schemeClr val="tx1"/>
                    </a:solidFill>
                    <a:effectLst/>
                    <a:latin typeface="Calibri" panose="020F0502020204030204" pitchFamily="34" charset="0"/>
                    <a:ea typeface="新細明體" panose="02020500000000000000" pitchFamily="18" charset="-120"/>
                    <a:cs typeface="Times New Roman" panose="02020603050405020304" pitchFamily="18" charset="0"/>
                  </a:rPr>
                  <a:t>      </a:t>
                </a:r>
                <a:endParaRPr kumimoji="0" lang="en-US" altLang="zh-TW" sz="1800" b="0" i="0" u="none" strike="noStrike" cap="none" normalizeH="0" baseline="0" smtClean="0">
                  <a:ln>
                    <a:noFill/>
                  </a:ln>
                  <a:solidFill>
                    <a:schemeClr val="tx1"/>
                  </a:solidFill>
                  <a:effectLst/>
                  <a:latin typeface="Arial" panose="020B0604020202020204" pitchFamily="34" charset="0"/>
                </a:endParaRPr>
              </a:p>
            </p:txBody>
          </p:sp>
          <p:sp>
            <p:nvSpPr>
              <p:cNvPr id="32" name="Text Box 17"/>
              <p:cNvSpPr txBox="1">
                <a:spLocks noChangeArrowheads="1"/>
              </p:cNvSpPr>
              <p:nvPr/>
            </p:nvSpPr>
            <p:spPr bwMode="auto">
              <a:xfrm>
                <a:off x="1388" y="10363"/>
                <a:ext cx="1819" cy="2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TW" sz="1100" b="1" i="0" u="none" strike="noStrike" cap="none" normalizeH="0" baseline="0" dirty="0" smtClean="0">
                    <a:ln>
                      <a:noFill/>
                    </a:ln>
                    <a:solidFill>
                      <a:srgbClr val="FF0000"/>
                    </a:solidFill>
                    <a:effectLst/>
                    <a:latin typeface="微軟正黑體" panose="020B0604030504040204" pitchFamily="34" charset="-120"/>
                    <a:ea typeface="微軟正黑體" panose="020B0604030504040204" pitchFamily="34" charset="-120"/>
                    <a:cs typeface="Times New Roman" panose="02020603050405020304" pitchFamily="18" charset="0"/>
                  </a:rPr>
                  <a:t>破 產 </a:t>
                </a:r>
                <a:endParaRPr kumimoji="0" lang="zh-TW" sz="1000" b="1" i="0" u="none" strike="noStrike" cap="none" normalizeH="0" baseline="0" dirty="0" smtClean="0">
                  <a:ln>
                    <a:noFill/>
                  </a:ln>
                  <a:solidFill>
                    <a:srgbClr val="FF0000"/>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1100" b="1" i="0" u="none" strike="noStrike" cap="none" normalizeH="0" baseline="0" dirty="0" smtClean="0">
                    <a:ln>
                      <a:noFill/>
                    </a:ln>
                    <a:solidFill>
                      <a:srgbClr val="FF0000"/>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1100" b="1" i="0" u="none" strike="noStrike" cap="none" normalizeH="0" baseline="0" dirty="0" smtClean="0">
                  <a:ln>
                    <a:noFill/>
                  </a:ln>
                  <a:solidFill>
                    <a:srgbClr val="FF0000"/>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1100" b="1" dirty="0" smtClean="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1100" b="1" dirty="0" smtClean="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已轉換</a:t>
                </a:r>
                <a:endParaRPr kumimoji="0" lang="zh-TW" sz="1000" b="1" i="0" u="none" strike="noStrike" cap="none" normalizeH="0" baseline="0" dirty="0" smtClean="0">
                  <a:ln>
                    <a:noFill/>
                  </a:ln>
                  <a:solidFill>
                    <a:srgbClr val="FF0000"/>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100" b="1" i="0" u="none" strike="noStrike" cap="none" normalizeH="0" baseline="0" dirty="0" smtClean="0">
                    <a:ln>
                      <a:noFill/>
                    </a:ln>
                    <a:solidFill>
                      <a:srgbClr val="FF0000"/>
                    </a:solidFill>
                    <a:effectLst/>
                    <a:latin typeface="微軟正黑體" panose="020B0604030504040204" pitchFamily="34" charset="-120"/>
                    <a:ea typeface="微軟正黑體" panose="020B0604030504040204" pitchFamily="34" charset="-120"/>
                    <a:cs typeface="Times New Roman" panose="02020603050405020304" pitchFamily="18" charset="0"/>
                  </a:rPr>
                  <a:t>SB</a:t>
                </a:r>
                <a:r>
                  <a:rPr kumimoji="0" lang="zh-TW" altLang="en-US" sz="1100" b="1" i="0" u="none" strike="noStrike" cap="none" normalizeH="0" baseline="0" dirty="0" smtClean="0">
                    <a:ln>
                      <a:noFill/>
                    </a:ln>
                    <a:solidFill>
                      <a:srgbClr val="FF0000"/>
                    </a:solidFill>
                    <a:effectLst/>
                    <a:latin typeface="微軟正黑體" panose="020B0604030504040204" pitchFamily="34" charset="-120"/>
                    <a:ea typeface="微軟正黑體" panose="020B0604030504040204" pitchFamily="34" charset="-120"/>
                    <a:cs typeface="Times New Roman" panose="02020603050405020304" pitchFamily="18" charset="0"/>
                  </a:rPr>
                  <a:t>拿部分</a:t>
                </a:r>
                <a:endParaRPr kumimoji="0" lang="zh-TW" altLang="en-US" sz="1000" b="1" i="0" u="none" strike="noStrike" cap="none" normalizeH="0" baseline="0" dirty="0" smtClean="0">
                  <a:ln>
                    <a:noFill/>
                  </a:ln>
                  <a:solidFill>
                    <a:srgbClr val="FF0000"/>
                  </a:solidFill>
                  <a:effectLst/>
                  <a:latin typeface="微軟正黑體" panose="020B0604030504040204" pitchFamily="34" charset="-120"/>
                  <a:ea typeface="微軟正黑體" panose="020B0604030504040204" pitchFamily="34" charset="-120"/>
                </a:endParaRPr>
              </a:p>
            </p:txBody>
          </p:sp>
          <p:sp>
            <p:nvSpPr>
              <p:cNvPr id="36" name="Text Box 11"/>
              <p:cNvSpPr txBox="1">
                <a:spLocks noChangeArrowheads="1"/>
              </p:cNvSpPr>
              <p:nvPr/>
            </p:nvSpPr>
            <p:spPr bwMode="auto">
              <a:xfrm>
                <a:off x="3027" y="10224"/>
                <a:ext cx="1819" cy="2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TW" sz="1100" b="1" i="0" u="none" strike="noStrike" cap="none" normalizeH="0" baseline="0" dirty="0" smtClean="0">
                    <a:ln>
                      <a:noFill/>
                    </a:ln>
                    <a:solidFill>
                      <a:srgbClr val="FFC000"/>
                    </a:solidFill>
                    <a:effectLst/>
                    <a:latin typeface="微軟正黑體" panose="020B0604030504040204" pitchFamily="34" charset="-120"/>
                    <a:ea typeface="微軟正黑體" panose="020B0604030504040204" pitchFamily="34" charset="-120"/>
                    <a:cs typeface="Times New Roman" panose="02020603050405020304" pitchFamily="18" charset="0"/>
                  </a:rPr>
                  <a:t>破 產 </a:t>
                </a:r>
                <a:endParaRPr kumimoji="0" lang="zh-TW" sz="1100" b="1" i="0" u="none" strike="noStrike" cap="none" normalizeH="0" baseline="0" dirty="0" smtClean="0">
                  <a:ln>
                    <a:noFill/>
                  </a:ln>
                  <a:solidFill>
                    <a:srgbClr val="FFC000"/>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1100" b="1" i="0" u="none" strike="noStrike" cap="none" normalizeH="0" baseline="0" dirty="0" smtClean="0">
                    <a:ln>
                      <a:noFill/>
                    </a:ln>
                    <a:solidFill>
                      <a:srgbClr val="FFC000"/>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1100" b="1" i="0" u="none" strike="noStrike" cap="none" normalizeH="0" baseline="0" dirty="0" smtClean="0">
                  <a:ln>
                    <a:noFill/>
                  </a:ln>
                  <a:solidFill>
                    <a:srgbClr val="FFC000"/>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100" b="1" i="0" u="none" strike="noStrike" cap="none" normalizeH="0" baseline="0" dirty="0" smtClean="0">
                    <a:ln>
                      <a:noFill/>
                    </a:ln>
                    <a:solidFill>
                      <a:srgbClr val="FFC000"/>
                    </a:solidFill>
                    <a:effectLst/>
                    <a:latin typeface="微軟正黑體" panose="020B0604030504040204" pitchFamily="34" charset="-120"/>
                    <a:ea typeface="微軟正黑體" panose="020B0604030504040204" pitchFamily="34" charset="-120"/>
                  </a:rPr>
                  <a:t>CC</a:t>
                </a:r>
                <a:r>
                  <a:rPr kumimoji="0" lang="zh-TW" altLang="en-US" sz="1100" b="1" i="0" u="none" strike="noStrike" cap="none" normalizeH="0" baseline="0" dirty="0" smtClean="0">
                    <a:ln>
                      <a:noFill/>
                    </a:ln>
                    <a:solidFill>
                      <a:srgbClr val="FFC000"/>
                    </a:solidFill>
                    <a:effectLst/>
                    <a:latin typeface="微軟正黑體" panose="020B0604030504040204" pitchFamily="34" charset="-120"/>
                    <a:ea typeface="微軟正黑體" panose="020B0604030504040204" pitchFamily="34" charset="-120"/>
                  </a:rPr>
                  <a:t>已轉換</a:t>
                </a:r>
                <a:endParaRPr kumimoji="0" lang="zh-TW" sz="1100" b="1" i="0" u="none" strike="noStrike" cap="none" normalizeH="0" baseline="0" dirty="0" smtClean="0">
                  <a:ln>
                    <a:noFill/>
                  </a:ln>
                  <a:solidFill>
                    <a:srgbClr val="FFC000"/>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100" b="1" i="0" u="none" strike="noStrike" cap="none" normalizeH="0" baseline="0" dirty="0" smtClean="0">
                    <a:ln>
                      <a:noFill/>
                    </a:ln>
                    <a:solidFill>
                      <a:srgbClr val="FFC000"/>
                    </a:solidFill>
                    <a:effectLst/>
                    <a:latin typeface="微軟正黑體" panose="020B0604030504040204" pitchFamily="34" charset="-120"/>
                    <a:ea typeface="微軟正黑體" panose="020B0604030504040204" pitchFamily="34" charset="-120"/>
                    <a:cs typeface="Times New Roman" panose="02020603050405020304" pitchFamily="18" charset="0"/>
                  </a:rPr>
                  <a:t>SB</a:t>
                </a:r>
                <a:r>
                  <a:rPr kumimoji="0" lang="zh-TW" altLang="en-US" sz="1100" b="1" i="0" u="none" strike="noStrike" cap="none" normalizeH="0" baseline="0" dirty="0" smtClean="0">
                    <a:ln>
                      <a:noFill/>
                    </a:ln>
                    <a:solidFill>
                      <a:srgbClr val="FFC000"/>
                    </a:solidFill>
                    <a:effectLst/>
                    <a:latin typeface="微軟正黑體" panose="020B0604030504040204" pitchFamily="34" charset="-120"/>
                    <a:ea typeface="微軟正黑體" panose="020B0604030504040204" pitchFamily="34" charset="-120"/>
                    <a:cs typeface="Times New Roman" panose="02020603050405020304" pitchFamily="18" charset="0"/>
                  </a:rPr>
                  <a:t>拿全部</a:t>
                </a:r>
                <a:endParaRPr kumimoji="0" lang="en-US" altLang="zh-TW" sz="1100" b="1" i="0" u="none" strike="noStrike" cap="none" normalizeH="0" baseline="0" dirty="0" smtClean="0">
                  <a:ln>
                    <a:noFill/>
                  </a:ln>
                  <a:solidFill>
                    <a:srgbClr val="FFC000"/>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1100" b="1" dirty="0" smtClean="0">
                    <a:solidFill>
                      <a:srgbClr val="FFC000"/>
                    </a:solidFill>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1100" b="1" dirty="0" smtClean="0">
                    <a:solidFill>
                      <a:srgbClr val="FFC000"/>
                    </a:solidFill>
                    <a:latin typeface="微軟正黑體" panose="020B0604030504040204" pitchFamily="34" charset="-120"/>
                    <a:ea typeface="微軟正黑體" panose="020B0604030504040204" pitchFamily="34" charset="-120"/>
                    <a:cs typeface="Times New Roman" panose="02020603050405020304" pitchFamily="18" charset="0"/>
                  </a:rPr>
                  <a:t>拿部分</a:t>
                </a:r>
                <a:endParaRPr kumimoji="0" lang="zh-TW" altLang="en-US" sz="1100" b="1" i="0" u="none" strike="noStrike" cap="none" normalizeH="0" baseline="0" dirty="0" smtClean="0">
                  <a:ln>
                    <a:noFill/>
                  </a:ln>
                  <a:solidFill>
                    <a:srgbClr val="FFC000"/>
                  </a:solidFill>
                  <a:effectLst/>
                  <a:latin typeface="微軟正黑體" panose="020B0604030504040204" pitchFamily="34" charset="-120"/>
                  <a:ea typeface="微軟正黑體" panose="020B0604030504040204" pitchFamily="34" charset="-120"/>
                </a:endParaRPr>
              </a:p>
            </p:txBody>
          </p:sp>
        </p:grpSp>
        <mc:AlternateContent xmlns:mc="http://schemas.openxmlformats.org/markup-compatibility/2006" xmlns:a14="http://schemas.microsoft.com/office/drawing/2010/main">
          <mc:Choice Requires="a14">
            <p:graphicFrame>
              <p:nvGraphicFramePr>
                <p:cNvPr id="46" name="物件 45"/>
                <p:cNvGraphicFramePr>
                  <a:graphicFrameLocks noChangeAspect="1"/>
                </p:cNvGraphicFramePr>
                <p:nvPr>
                  <p:extLst/>
                </p:nvPr>
              </p:nvGraphicFramePr>
              <p:xfrm>
                <a:off x="9967548" y="6218980"/>
                <a:ext cx="603618" cy="348757"/>
              </p:xfrm>
              <a:graphic>
                <a:graphicData uri="http://schemas.openxmlformats.org/presentationml/2006/ole">
                  <mc:AlternateContent>
                    <mc:Choice xmlns:v="urn:schemas-microsoft-com:vml" Requires="v">
                      <p:oleObj spid="_x0000_s10307" r:id="rId3" imgW="355292" imgH="203024" progId="Equation.DSMT4">
                        <p:embed/>
                      </p:oleObj>
                    </mc:Choice>
                    <mc:Fallback>
                      <p:oleObj r:id="rId3" imgW="355292" imgH="203024" progId="Equation.DSMT4">
                        <p:embed/>
                        <p:pic>
                          <p:nvPicPr>
                            <p:cNvPr id="0" name=""/>
                            <p:cNvPicPr>
                              <a:picLocks noChangeAspect="1" noChangeArrowheads="1"/>
                            </p:cNvPicPr>
                            <p:nvPr/>
                          </p:nvPicPr>
                          <p:blipFill>
                            <a:blip r:embed="rId4">
                              <a:extLst>
                                <a:ext uri="{28A0092B-C50C-407E-A947-70E740481C1C}">
                                  <a14:useLocalDpi val="0"/>
                                </a:ext>
                              </a:extLst>
                            </a:blip>
                            <a:srcRect/>
                            <a:stretch>
                              <a:fillRect/>
                            </a:stretch>
                          </p:blipFill>
                          <p:spPr bwMode="auto">
                            <a:xfrm>
                              <a:off x="9967548" y="6218980"/>
                              <a:ext cx="603618" cy="348757"/>
                            </a:xfrm>
                            <a:prstGeom prst="rect">
                              <a:avLst/>
                            </a:prstGeom>
                            <a:noFill/>
                          </p:spPr>
                        </p:pic>
                      </p:oleObj>
                    </mc:Fallback>
                  </mc:AlternateContent>
                </a:graphicData>
              </a:graphic>
            </p:graphicFrame>
          </mc:Choice>
          <mc:Fallback xmlns="">
            <p:graphicFrame>
              <p:nvGraphicFramePr>
                <p:cNvPr id="46" name="物件 45"/>
                <p:cNvGraphicFramePr>
                  <a:graphicFrameLocks noChangeAspect="1"/>
                </p:cNvGraphicFramePr>
                <p:nvPr>
                  <p:extLst/>
                </p:nvPr>
              </p:nvGraphicFramePr>
              <p:xfrm>
                <a:off x="9967548" y="6218980"/>
                <a:ext cx="603618" cy="348757"/>
              </p:xfrm>
              <a:graphic>
                <a:graphicData uri="http://schemas.openxmlformats.org/presentationml/2006/ole">
                  <mc:AlternateContent>
                    <mc:Choice xmlns:v="urn:schemas-microsoft-com:vml" Requires="v">
                      <p:oleObj spid="_x0000_s5129" r:id="rId5" imgW="355292" imgH="203024" progId="Equation.DSMT4">
                        <p:embed/>
                      </p:oleObj>
                    </mc:Choice>
                    <mc:Fallback>
                      <p:oleObj r:id="rId5" imgW="355292" imgH="203024"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67548" y="6218980"/>
                              <a:ext cx="603618" cy="348757"/>
                            </a:xfrm>
                            <a:prstGeom prst="rect">
                              <a:avLst/>
                            </a:prstGeom>
                            <a:noFill/>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50" name="文字方塊 49"/>
                <p:cNvSpPr txBox="1"/>
                <p:nvPr/>
              </p:nvSpPr>
              <p:spPr>
                <a:xfrm>
                  <a:off x="1381188" y="6218980"/>
                  <a:ext cx="2919257" cy="2976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TW" sz="900" b="0" i="1" smtClean="0">
                                <a:solidFill>
                                  <a:srgbClr val="00B0F0"/>
                                </a:solidFill>
                                <a:latin typeface="Cambria Math" panose="02040503050406030204" pitchFamily="18" charset="0"/>
                              </a:rPr>
                            </m:ctrlPr>
                          </m:dPr>
                          <m:e>
                            <m:r>
                              <a:rPr lang="en-US" altLang="zh-TW" sz="900" b="0" i="1" smtClean="0">
                                <a:solidFill>
                                  <a:srgbClr val="00B0F0"/>
                                </a:solidFill>
                                <a:latin typeface="Cambria Math" panose="02040503050406030204" pitchFamily="18" charset="0"/>
                              </a:rPr>
                              <m:t>1−</m:t>
                            </m:r>
                            <m:r>
                              <a:rPr lang="zh-TW" altLang="en-US" sz="900" b="0" i="1" smtClean="0">
                                <a:solidFill>
                                  <a:srgbClr val="00B0F0"/>
                                </a:solidFill>
                                <a:latin typeface="Cambria Math" panose="02040503050406030204" pitchFamily="18" charset="0"/>
                              </a:rPr>
                              <m:t>𝛼</m:t>
                            </m:r>
                          </m:e>
                        </m:d>
                        <m:r>
                          <a:rPr lang="en-US" altLang="zh-TW" sz="900" b="0" i="1" smtClean="0">
                            <a:solidFill>
                              <a:srgbClr val="00B0F0"/>
                            </a:solidFill>
                            <a:latin typeface="Cambria Math" panose="02040503050406030204" pitchFamily="18" charset="0"/>
                          </a:rPr>
                          <m:t>𝑉</m:t>
                        </m:r>
                        <m:d>
                          <m:dPr>
                            <m:ctrlPr>
                              <a:rPr lang="en-US" altLang="zh-TW" sz="900" b="0" i="1" smtClean="0">
                                <a:solidFill>
                                  <a:srgbClr val="00B0F0"/>
                                </a:solidFill>
                                <a:latin typeface="Cambria Math" panose="02040503050406030204" pitchFamily="18" charset="0"/>
                              </a:rPr>
                            </m:ctrlPr>
                          </m:dPr>
                          <m:e>
                            <m:r>
                              <a:rPr lang="en-US" altLang="zh-TW" sz="900" b="0" i="1" smtClean="0">
                                <a:solidFill>
                                  <a:srgbClr val="00B0F0"/>
                                </a:solidFill>
                                <a:latin typeface="Cambria Math" panose="02040503050406030204" pitchFamily="18" charset="0"/>
                              </a:rPr>
                              <m:t>𝑇</m:t>
                            </m:r>
                          </m:e>
                        </m:d>
                        <m:r>
                          <a:rPr lang="en-US" altLang="zh-TW" sz="900" b="0" i="1" smtClean="0">
                            <a:solidFill>
                              <a:srgbClr val="00B0F0"/>
                            </a:solidFill>
                            <a:latin typeface="Cambria Math" panose="02040503050406030204" pitchFamily="18" charset="0"/>
                          </a:rPr>
                          <m:t>=</m:t>
                        </m:r>
                        <m:sSub>
                          <m:sSubPr>
                            <m:ctrlPr>
                              <a:rPr lang="en-US" altLang="zh-TW" sz="900" i="1" smtClean="0">
                                <a:solidFill>
                                  <a:srgbClr val="00B0F0"/>
                                </a:solidFill>
                                <a:latin typeface="Cambria Math" panose="02040503050406030204" pitchFamily="18" charset="0"/>
                              </a:rPr>
                            </m:ctrlPr>
                          </m:sSubPr>
                          <m:e>
                            <m:r>
                              <a:rPr lang="en-US" altLang="zh-TW" sz="900" i="1">
                                <a:solidFill>
                                  <a:srgbClr val="00B0F0"/>
                                </a:solidFill>
                                <a:latin typeface="Cambria Math"/>
                              </a:rPr>
                              <m:t>𝐷</m:t>
                            </m:r>
                          </m:e>
                          <m:sub>
                            <m:r>
                              <a:rPr lang="en-US" altLang="zh-TW" sz="900" i="1">
                                <a:solidFill>
                                  <a:srgbClr val="00B0F0"/>
                                </a:solidFill>
                                <a:latin typeface="Cambria Math"/>
                              </a:rPr>
                              <m:t>1</m:t>
                            </m:r>
                          </m:sub>
                        </m:sSub>
                        <m:r>
                          <a:rPr lang="en-US" altLang="zh-TW" sz="900" i="1">
                            <a:solidFill>
                              <a:srgbClr val="00B0F0"/>
                            </a:solidFill>
                            <a:latin typeface="Cambria Math"/>
                          </a:rPr>
                          <m:t>+</m:t>
                        </m:r>
                        <m:sSub>
                          <m:sSubPr>
                            <m:ctrlPr>
                              <a:rPr lang="en-US" altLang="zh-TW" sz="900" i="1">
                                <a:solidFill>
                                  <a:srgbClr val="00B0F0"/>
                                </a:solidFill>
                                <a:latin typeface="Cambria Math" panose="02040503050406030204" pitchFamily="18" charset="0"/>
                              </a:rPr>
                            </m:ctrlPr>
                          </m:sSubPr>
                          <m:e>
                            <m:r>
                              <a:rPr lang="en-US" altLang="zh-TW" sz="900" i="1">
                                <a:solidFill>
                                  <a:srgbClr val="00B0F0"/>
                                </a:solidFill>
                                <a:latin typeface="Cambria Math"/>
                              </a:rPr>
                              <m:t>𝐶</m:t>
                            </m:r>
                          </m:e>
                          <m:sub>
                            <m:r>
                              <a:rPr lang="en-US" altLang="zh-TW" sz="900" i="1">
                                <a:solidFill>
                                  <a:srgbClr val="00B0F0"/>
                                </a:solidFill>
                                <a:latin typeface="Cambria Math"/>
                              </a:rPr>
                              <m:t>1</m:t>
                            </m:r>
                          </m:sub>
                        </m:sSub>
                        <m:sSub>
                          <m:sSubPr>
                            <m:ctrlPr>
                              <a:rPr lang="en-US" altLang="zh-TW" sz="900" i="1">
                                <a:solidFill>
                                  <a:srgbClr val="00B0F0"/>
                                </a:solidFill>
                                <a:latin typeface="Cambria Math" panose="02040503050406030204" pitchFamily="18" charset="0"/>
                              </a:rPr>
                            </m:ctrlPr>
                          </m:sSubPr>
                          <m:e>
                            <m:r>
                              <a:rPr lang="en-US" altLang="zh-TW" sz="900" i="1">
                                <a:solidFill>
                                  <a:srgbClr val="00B0F0"/>
                                </a:solidFill>
                                <a:latin typeface="Cambria Math"/>
                              </a:rPr>
                              <m:t>𝐷</m:t>
                            </m:r>
                          </m:e>
                          <m:sub>
                            <m:r>
                              <a:rPr lang="en-US" altLang="zh-TW" sz="900" i="1">
                                <a:solidFill>
                                  <a:srgbClr val="00B0F0"/>
                                </a:solidFill>
                                <a:latin typeface="Cambria Math"/>
                              </a:rPr>
                              <m:t>1</m:t>
                            </m:r>
                          </m:sub>
                        </m:sSub>
                        <m:r>
                          <a:rPr lang="en-US" altLang="zh-TW" sz="900" i="1">
                            <a:solidFill>
                              <a:srgbClr val="00B0F0"/>
                            </a:solidFill>
                            <a:latin typeface="Cambria Math"/>
                          </a:rPr>
                          <m:t>𝑇</m:t>
                        </m:r>
                      </m:oMath>
                    </m:oMathPara>
                  </a14:m>
                  <a:endParaRPr lang="zh-TW" altLang="en-US" sz="900" dirty="0">
                    <a:solidFill>
                      <a:srgbClr val="00B0F0"/>
                    </a:solidFill>
                  </a:endParaRPr>
                </a:p>
              </p:txBody>
            </p:sp>
          </mc:Choice>
          <mc:Fallback xmlns="">
            <p:sp>
              <p:nvSpPr>
                <p:cNvPr id="50" name="文字方塊 49"/>
                <p:cNvSpPr txBox="1">
                  <a:spLocks noRot="1" noChangeAspect="1" noMove="1" noResize="1" noEditPoints="1" noAdjustHandles="1" noChangeArrowheads="1" noChangeShapeType="1" noTextEdit="1"/>
                </p:cNvSpPr>
                <p:nvPr/>
              </p:nvSpPr>
              <p:spPr>
                <a:xfrm>
                  <a:off x="1381188" y="6218980"/>
                  <a:ext cx="2919257" cy="297601"/>
                </a:xfrm>
                <a:prstGeom prst="rect">
                  <a:avLst/>
                </a:prstGeom>
                <a:blipFill rotWithShape="0">
                  <a:blip r:embed="rId7"/>
                  <a:stretch>
                    <a:fillRect r="-1794" b="-1739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文字方塊 51"/>
                <p:cNvSpPr txBox="1"/>
                <p:nvPr/>
              </p:nvSpPr>
              <p:spPr>
                <a:xfrm>
                  <a:off x="4621296" y="6186863"/>
                  <a:ext cx="5181599" cy="29760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900" b="0" i="1" smtClean="0">
                            <a:latin typeface="Cambria Math" panose="02040503050406030204" pitchFamily="18" charset="0"/>
                          </a:rPr>
                          <m:t>𝑉</m:t>
                        </m:r>
                        <m:d>
                          <m:dPr>
                            <m:ctrlPr>
                              <a:rPr lang="en-US" altLang="zh-TW" sz="900" b="0" i="1" smtClean="0">
                                <a:latin typeface="Cambria Math" panose="02040503050406030204" pitchFamily="18" charset="0"/>
                              </a:rPr>
                            </m:ctrlPr>
                          </m:dPr>
                          <m:e>
                            <m:r>
                              <a:rPr lang="en-US" altLang="zh-TW" sz="900" b="0" i="1" smtClean="0">
                                <a:latin typeface="Cambria Math" panose="02040503050406030204" pitchFamily="18" charset="0"/>
                              </a:rPr>
                              <m:t>𝑇</m:t>
                            </m:r>
                          </m:e>
                        </m:d>
                        <m:r>
                          <a:rPr lang="en-US" altLang="zh-TW" sz="900" b="0" i="1" smtClean="0">
                            <a:latin typeface="Cambria Math" panose="02040503050406030204" pitchFamily="18" charset="0"/>
                          </a:rPr>
                          <m:t>=</m:t>
                        </m:r>
                        <m:sSub>
                          <m:sSubPr>
                            <m:ctrlPr>
                              <a:rPr lang="en-US" altLang="zh-TW" sz="900" i="1">
                                <a:latin typeface="Cambria Math" panose="02040503050406030204" pitchFamily="18" charset="0"/>
                              </a:rPr>
                            </m:ctrlPr>
                          </m:sSubPr>
                          <m:e>
                            <m:r>
                              <a:rPr lang="en-US" altLang="zh-TW" sz="900" i="1">
                                <a:latin typeface="Cambria Math"/>
                              </a:rPr>
                              <m:t>𝐷</m:t>
                            </m:r>
                          </m:e>
                          <m:sub>
                            <m:r>
                              <a:rPr lang="en-US" altLang="zh-TW" sz="900" i="1">
                                <a:latin typeface="Cambria Math"/>
                              </a:rPr>
                              <m:t>1</m:t>
                            </m:r>
                          </m:sub>
                        </m:sSub>
                        <m:r>
                          <a:rPr lang="en-US" altLang="zh-TW" sz="900" i="1">
                            <a:latin typeface="Cambria Math"/>
                          </a:rPr>
                          <m:t>+</m:t>
                        </m:r>
                        <m:sSub>
                          <m:sSubPr>
                            <m:ctrlPr>
                              <a:rPr lang="en-US" altLang="zh-TW" sz="900" i="1">
                                <a:latin typeface="Cambria Math" panose="02040503050406030204" pitchFamily="18" charset="0"/>
                              </a:rPr>
                            </m:ctrlPr>
                          </m:sSubPr>
                          <m:e>
                            <m:r>
                              <a:rPr lang="en-US" altLang="zh-TW" sz="900" i="1">
                                <a:latin typeface="Cambria Math"/>
                              </a:rPr>
                              <m:t>𝐷</m:t>
                            </m:r>
                          </m:e>
                          <m:sub>
                            <m:r>
                              <a:rPr lang="en-US" altLang="zh-TW" sz="900" i="1">
                                <a:latin typeface="Cambria Math"/>
                              </a:rPr>
                              <m:t>2</m:t>
                            </m:r>
                          </m:sub>
                        </m:sSub>
                        <m:r>
                          <a:rPr lang="en-US" altLang="zh-TW" sz="900" i="1">
                            <a:latin typeface="Cambria Math" panose="02040503050406030204" pitchFamily="18" charset="0"/>
                          </a:rPr>
                          <m:t>+(1−</m:t>
                        </m:r>
                        <m:r>
                          <a:rPr lang="en-US" altLang="zh-TW" sz="900" i="1">
                            <a:latin typeface="Cambria Math" panose="02040503050406030204" pitchFamily="18" charset="0"/>
                          </a:rPr>
                          <m:t>𝑡𝑎𝑥</m:t>
                        </m:r>
                        <m:r>
                          <a:rPr lang="en-US" altLang="zh-TW" sz="900" i="1">
                            <a:latin typeface="Cambria Math" panose="02040503050406030204" pitchFamily="18" charset="0"/>
                          </a:rPr>
                          <m:t>)(</m:t>
                        </m:r>
                        <m:sSub>
                          <m:sSubPr>
                            <m:ctrlPr>
                              <a:rPr lang="en-US" altLang="zh-TW" sz="900" i="1">
                                <a:latin typeface="Cambria Math" panose="02040503050406030204" pitchFamily="18" charset="0"/>
                              </a:rPr>
                            </m:ctrlPr>
                          </m:sSubPr>
                          <m:e>
                            <m:r>
                              <a:rPr lang="en-US" altLang="zh-TW" sz="900" i="1">
                                <a:latin typeface="Cambria Math"/>
                              </a:rPr>
                              <m:t>𝐶</m:t>
                            </m:r>
                          </m:e>
                          <m:sub>
                            <m:r>
                              <a:rPr lang="en-US" altLang="zh-TW" sz="900" i="1">
                                <a:latin typeface="Cambria Math"/>
                              </a:rPr>
                              <m:t>1</m:t>
                            </m:r>
                          </m:sub>
                        </m:sSub>
                        <m:sSub>
                          <m:sSubPr>
                            <m:ctrlPr>
                              <a:rPr lang="en-US" altLang="zh-TW" sz="900" i="1">
                                <a:latin typeface="Cambria Math" panose="02040503050406030204" pitchFamily="18" charset="0"/>
                              </a:rPr>
                            </m:ctrlPr>
                          </m:sSubPr>
                          <m:e>
                            <m:r>
                              <a:rPr lang="en-US" altLang="zh-TW" sz="900" i="1">
                                <a:latin typeface="Cambria Math"/>
                              </a:rPr>
                              <m:t>𝐷</m:t>
                            </m:r>
                          </m:e>
                          <m:sub>
                            <m:r>
                              <a:rPr lang="en-US" altLang="zh-TW" sz="900" i="1">
                                <a:latin typeface="Cambria Math"/>
                              </a:rPr>
                              <m:t>1</m:t>
                            </m:r>
                          </m:sub>
                        </m:sSub>
                        <m:r>
                          <a:rPr lang="en-US" altLang="zh-TW" sz="900" i="1">
                            <a:latin typeface="Cambria Math"/>
                          </a:rPr>
                          <m:t>𝑇</m:t>
                        </m:r>
                        <m:r>
                          <a:rPr lang="en-US" altLang="zh-TW" sz="900" i="1">
                            <a:latin typeface="Cambria Math"/>
                          </a:rPr>
                          <m:t>+</m:t>
                        </m:r>
                        <m:sSub>
                          <m:sSubPr>
                            <m:ctrlPr>
                              <a:rPr lang="en-US" altLang="zh-TW" sz="900" i="1">
                                <a:latin typeface="Cambria Math" panose="02040503050406030204" pitchFamily="18" charset="0"/>
                              </a:rPr>
                            </m:ctrlPr>
                          </m:sSubPr>
                          <m:e>
                            <m:r>
                              <a:rPr lang="en-US" altLang="zh-TW" sz="900" i="1">
                                <a:latin typeface="Cambria Math"/>
                              </a:rPr>
                              <m:t>𝐶</m:t>
                            </m:r>
                          </m:e>
                          <m:sub>
                            <m:r>
                              <a:rPr lang="en-US" altLang="zh-TW" sz="900" i="1">
                                <a:latin typeface="Cambria Math"/>
                              </a:rPr>
                              <m:t>2</m:t>
                            </m:r>
                          </m:sub>
                        </m:sSub>
                        <m:sSub>
                          <m:sSubPr>
                            <m:ctrlPr>
                              <a:rPr lang="en-US" altLang="zh-TW" sz="900" i="1">
                                <a:latin typeface="Cambria Math" panose="02040503050406030204" pitchFamily="18" charset="0"/>
                              </a:rPr>
                            </m:ctrlPr>
                          </m:sSubPr>
                          <m:e>
                            <m:r>
                              <a:rPr lang="en-US" altLang="zh-TW" sz="900" i="1">
                                <a:latin typeface="Cambria Math"/>
                              </a:rPr>
                              <m:t>𝐷</m:t>
                            </m:r>
                          </m:e>
                          <m:sub>
                            <m:r>
                              <a:rPr lang="en-US" altLang="zh-TW" sz="900" i="1">
                                <a:latin typeface="Cambria Math"/>
                              </a:rPr>
                              <m:t>2</m:t>
                            </m:r>
                          </m:sub>
                        </m:sSub>
                        <m:r>
                          <a:rPr lang="en-US" altLang="zh-TW" sz="900" i="1">
                            <a:latin typeface="Cambria Math"/>
                          </a:rPr>
                          <m:t>𝑇</m:t>
                        </m:r>
                        <m:r>
                          <a:rPr lang="en-US" altLang="zh-TW" sz="900" i="1">
                            <a:latin typeface="Cambria Math" panose="02040503050406030204" pitchFamily="18" charset="0"/>
                          </a:rPr>
                          <m:t>)</m:t>
                        </m:r>
                      </m:oMath>
                    </m:oMathPara>
                  </a14:m>
                  <a:endParaRPr lang="zh-TW" altLang="en-US" sz="900" dirty="0"/>
                </a:p>
              </p:txBody>
            </p:sp>
          </mc:Choice>
          <mc:Fallback xmlns="">
            <p:sp>
              <p:nvSpPr>
                <p:cNvPr id="52" name="文字方塊 51"/>
                <p:cNvSpPr txBox="1">
                  <a:spLocks noRot="1" noChangeAspect="1" noMove="1" noResize="1" noEditPoints="1" noAdjustHandles="1" noChangeArrowheads="1" noChangeShapeType="1" noTextEdit="1"/>
                </p:cNvSpPr>
                <p:nvPr/>
              </p:nvSpPr>
              <p:spPr>
                <a:xfrm>
                  <a:off x="4621296" y="6186863"/>
                  <a:ext cx="5181599" cy="297601"/>
                </a:xfrm>
                <a:prstGeom prst="rect">
                  <a:avLst/>
                </a:prstGeom>
                <a:blipFill rotWithShape="0">
                  <a:blip r:embed="rId8"/>
                  <a:stretch>
                    <a:fillRect b="-3478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文字方塊 52"/>
                <p:cNvSpPr txBox="1"/>
                <p:nvPr/>
              </p:nvSpPr>
              <p:spPr>
                <a:xfrm>
                  <a:off x="432009" y="3486440"/>
                  <a:ext cx="1284510" cy="2976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900" b="0" i="1" smtClean="0">
                            <a:solidFill>
                              <a:schemeClr val="accent6"/>
                            </a:solidFill>
                            <a:latin typeface="Cambria Math" panose="02040503050406030204" pitchFamily="18" charset="0"/>
                          </a:rPr>
                          <m:t>𝐼</m:t>
                        </m:r>
                        <m:d>
                          <m:dPr>
                            <m:ctrlPr>
                              <a:rPr lang="en-US" altLang="zh-TW" sz="900" b="0" i="1" smtClean="0">
                                <a:solidFill>
                                  <a:schemeClr val="accent6"/>
                                </a:solidFill>
                                <a:latin typeface="Cambria Math" panose="02040503050406030204" pitchFamily="18" charset="0"/>
                              </a:rPr>
                            </m:ctrlPr>
                          </m:dPr>
                          <m:e>
                            <m:r>
                              <a:rPr lang="en-US" altLang="zh-TW" sz="900" b="0" i="1" smtClean="0">
                                <a:solidFill>
                                  <a:schemeClr val="accent6"/>
                                </a:solidFill>
                                <a:latin typeface="Cambria Math" panose="02040503050406030204" pitchFamily="18" charset="0"/>
                              </a:rPr>
                              <m:t>𝑇</m:t>
                            </m:r>
                          </m:e>
                        </m:d>
                        <m:r>
                          <a:rPr lang="en-US" altLang="zh-TW" sz="900" b="0" i="1" smtClean="0">
                            <a:solidFill>
                              <a:schemeClr val="accent6"/>
                            </a:solidFill>
                            <a:latin typeface="Cambria Math" panose="02040503050406030204" pitchFamily="18" charset="0"/>
                          </a:rPr>
                          <m:t>=</m:t>
                        </m:r>
                        <m:r>
                          <a:rPr lang="en-US" altLang="zh-TW" sz="900" b="0" i="1" smtClean="0">
                            <a:solidFill>
                              <a:schemeClr val="accent6"/>
                            </a:solidFill>
                            <a:latin typeface="Cambria Math" panose="02040503050406030204" pitchFamily="18" charset="0"/>
                          </a:rPr>
                          <m:t>𝐼</m:t>
                        </m:r>
                        <m:r>
                          <a:rPr lang="en-US" altLang="zh-TW" sz="900" b="0" i="1" smtClean="0">
                            <a:solidFill>
                              <a:schemeClr val="accent6"/>
                            </a:solidFill>
                            <a:latin typeface="Cambria Math" panose="02040503050406030204" pitchFamily="18" charset="0"/>
                          </a:rPr>
                          <m:t>(0)</m:t>
                        </m:r>
                      </m:oMath>
                    </m:oMathPara>
                  </a14:m>
                  <a:endParaRPr lang="zh-TW" altLang="en-US" sz="900" dirty="0">
                    <a:solidFill>
                      <a:schemeClr val="accent6"/>
                    </a:solidFill>
                  </a:endParaRPr>
                </a:p>
              </p:txBody>
            </p:sp>
          </mc:Choice>
          <mc:Fallback xmlns="">
            <p:sp>
              <p:nvSpPr>
                <p:cNvPr id="53" name="文字方塊 52"/>
                <p:cNvSpPr txBox="1">
                  <a:spLocks noRot="1" noChangeAspect="1" noMove="1" noResize="1" noEditPoints="1" noAdjustHandles="1" noChangeArrowheads="1" noChangeShapeType="1" noTextEdit="1"/>
                </p:cNvSpPr>
                <p:nvPr/>
              </p:nvSpPr>
              <p:spPr>
                <a:xfrm>
                  <a:off x="432009" y="3486440"/>
                  <a:ext cx="1284510" cy="297601"/>
                </a:xfrm>
                <a:prstGeom prst="rect">
                  <a:avLst/>
                </a:prstGeom>
                <a:blipFill rotWithShape="0">
                  <a:blip r:embed="rId9"/>
                  <a:stretch>
                    <a:fillRect l="-5102" r="-7143" b="-3478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896015" y="1348388"/>
                  <a:ext cx="795205" cy="49600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900" i="1">
                            <a:latin typeface="Cambria Math" panose="02040503050406030204" pitchFamily="18" charset="0"/>
                          </a:rPr>
                          <m:t>𝐼</m:t>
                        </m:r>
                        <m:r>
                          <a:rPr lang="en-US" altLang="zh-TW" sz="900" i="1">
                            <a:latin typeface="Cambria Math" panose="02040503050406030204" pitchFamily="18" charset="0"/>
                          </a:rPr>
                          <m:t>(</m:t>
                        </m:r>
                        <m:r>
                          <a:rPr lang="en-US" altLang="zh-TW" sz="900" i="1">
                            <a:latin typeface="Cambria Math" panose="02040503050406030204" pitchFamily="18" charset="0"/>
                          </a:rPr>
                          <m:t>𝑇</m:t>
                        </m:r>
                        <m:r>
                          <a:rPr lang="en-US" altLang="zh-TW" sz="900" i="1">
                            <a:latin typeface="Cambria Math" panose="02040503050406030204" pitchFamily="18" charset="0"/>
                          </a:rPr>
                          <m:t>)</m:t>
                        </m:r>
                      </m:oMath>
                    </m:oMathPara>
                  </a14:m>
                  <a:endParaRPr lang="zh-TW" altLang="en-US" sz="900" dirty="0"/>
                </a:p>
              </p:txBody>
            </p:sp>
          </mc:Choice>
          <mc:Fallback xmlns="">
            <p:sp>
              <p:nvSpPr>
                <p:cNvPr id="2" name="矩形 1"/>
                <p:cNvSpPr>
                  <a:spLocks noRot="1" noChangeAspect="1" noMove="1" noResize="1" noEditPoints="1" noAdjustHandles="1" noChangeArrowheads="1" noChangeShapeType="1" noTextEdit="1"/>
                </p:cNvSpPr>
                <p:nvPr/>
              </p:nvSpPr>
              <p:spPr>
                <a:xfrm>
                  <a:off x="896015" y="1348388"/>
                  <a:ext cx="795205" cy="496003"/>
                </a:xfrm>
                <a:prstGeom prst="rect">
                  <a:avLst/>
                </a:prstGeom>
                <a:blipFill rotWithShape="0">
                  <a:blip r:embed="rId10"/>
                  <a:stretch>
                    <a:fillRect b="-2632"/>
                  </a:stretch>
                </a:blipFill>
              </p:spPr>
              <p:txBody>
                <a:bodyPr/>
                <a:lstStyle/>
                <a:p>
                  <a:r>
                    <a:rPr lang="zh-TW" altLang="en-US">
                      <a:noFill/>
                    </a:rPr>
                    <a:t> </a:t>
                  </a:r>
                </a:p>
              </p:txBody>
            </p:sp>
          </mc:Fallback>
        </mc:AlternateContent>
        <p:sp>
          <p:nvSpPr>
            <p:cNvPr id="34" name="Text Box 9"/>
            <p:cNvSpPr txBox="1">
              <a:spLocks noChangeArrowheads="1"/>
            </p:cNvSpPr>
            <p:nvPr/>
          </p:nvSpPr>
          <p:spPr bwMode="auto">
            <a:xfrm>
              <a:off x="1686272" y="1748138"/>
              <a:ext cx="1952063"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1050" b="1" dirty="0" smtClean="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破</a:t>
              </a:r>
              <a:r>
                <a:rPr lang="zh-TW" altLang="en-US" sz="1050" b="1"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產</a:t>
              </a:r>
              <a:endParaRPr kumimoji="0" lang="zh-TW" sz="1050" b="1" i="0" u="none" strike="noStrike" cap="none" normalizeH="0" baseline="0" dirty="0" smtClean="0">
                <a:ln>
                  <a:noFill/>
                </a:ln>
                <a:solidFill>
                  <a:srgbClr val="FF0000"/>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1050" b="1" i="0" u="none" strike="noStrike" cap="none" normalizeH="0" baseline="0" dirty="0" smtClean="0">
                  <a:ln>
                    <a:noFill/>
                  </a:ln>
                  <a:solidFill>
                    <a:srgbClr val="FF0000"/>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1050" b="1" i="0" u="none" strike="noStrike" cap="none" normalizeH="0" baseline="0" dirty="0" smtClean="0">
                <a:ln>
                  <a:noFill/>
                </a:ln>
                <a:solidFill>
                  <a:srgbClr val="FF0000"/>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1050" b="1" dirty="0" smtClean="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1050" b="1" dirty="0" smtClean="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未轉換</a:t>
              </a:r>
              <a:endParaRPr kumimoji="0" lang="zh-TW" sz="1050" b="1" i="0" u="none" strike="noStrike" cap="none" normalizeH="0" baseline="0" dirty="0" smtClean="0">
                <a:ln>
                  <a:noFill/>
                </a:ln>
                <a:solidFill>
                  <a:srgbClr val="FF0000"/>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1050" b="1" dirty="0" smtClean="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SB</a:t>
              </a:r>
              <a:r>
                <a:rPr lang="zh-TW" altLang="en-US" sz="1050" b="1" dirty="0" smtClean="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拿部分</a:t>
              </a:r>
              <a:endParaRPr lang="en-US" altLang="zh-TW" sz="1050" b="1" dirty="0" smtClean="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050" b="1" i="0" u="none" strike="noStrike" cap="none" normalizeH="0" baseline="0" dirty="0" smtClean="0">
                  <a:ln>
                    <a:noFill/>
                  </a:ln>
                  <a:solidFill>
                    <a:srgbClr val="FF0000"/>
                  </a:solidFill>
                  <a:effectLst/>
                  <a:latin typeface="微軟正黑體" panose="020B0604030504040204" pitchFamily="34" charset="-120"/>
                  <a:ea typeface="微軟正黑體" panose="020B0604030504040204" pitchFamily="34" charset="-120"/>
                  <a:cs typeface="Times New Roman" panose="02020603050405020304" pitchFamily="18" charset="0"/>
                </a:rPr>
                <a:t>CC</a:t>
              </a:r>
              <a:r>
                <a:rPr kumimoji="0" lang="zh-TW" altLang="en-US" sz="1050" b="1" i="0" u="none" strike="noStrike" cap="none" normalizeH="0" baseline="0" dirty="0" smtClean="0">
                  <a:ln>
                    <a:noFill/>
                  </a:ln>
                  <a:solidFill>
                    <a:srgbClr val="FF0000"/>
                  </a:solidFill>
                  <a:effectLst/>
                  <a:latin typeface="微軟正黑體" panose="020B0604030504040204" pitchFamily="34" charset="-120"/>
                  <a:ea typeface="微軟正黑體" panose="020B0604030504040204" pitchFamily="34" charset="-120"/>
                  <a:cs typeface="Times New Roman" panose="02020603050405020304" pitchFamily="18" charset="0"/>
                </a:rPr>
                <a:t>分不到</a:t>
              </a:r>
              <a:endParaRPr kumimoji="0" lang="zh-TW" altLang="en-US" sz="1050" b="1" i="0" u="none" strike="noStrike" cap="none" normalizeH="0" baseline="0" dirty="0" smtClean="0">
                <a:ln>
                  <a:noFill/>
                </a:ln>
                <a:solidFill>
                  <a:srgbClr val="FF0000"/>
                </a:solidFill>
                <a:effectLst/>
                <a:latin typeface="微軟正黑體" panose="020B0604030504040204" pitchFamily="34" charset="-120"/>
                <a:ea typeface="微軟正黑體" panose="020B0604030504040204" pitchFamily="34" charset="-120"/>
              </a:endParaRPr>
            </a:p>
          </p:txBody>
        </p:sp>
        <mc:AlternateContent xmlns:mc="http://schemas.openxmlformats.org/markup-compatibility/2006" xmlns:a14="http://schemas.microsoft.com/office/drawing/2010/main">
          <mc:Choice Requires="a14">
            <p:sp>
              <p:nvSpPr>
                <p:cNvPr id="47" name="文字方塊 46"/>
                <p:cNvSpPr txBox="1"/>
                <p:nvPr/>
              </p:nvSpPr>
              <p:spPr>
                <a:xfrm>
                  <a:off x="5795746" y="1131099"/>
                  <a:ext cx="6500268" cy="609672"/>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sz="900" b="0" i="1" smtClean="0">
                            <a:solidFill>
                              <a:srgbClr val="FF0000"/>
                            </a:solidFill>
                            <a:latin typeface="Cambria Math" panose="02040503050406030204" pitchFamily="18" charset="0"/>
                          </a:rPr>
                          <m:t>𝑉</m:t>
                        </m:r>
                        <m:r>
                          <a:rPr lang="en-US" altLang="zh-TW" sz="900" b="0" i="1" smtClean="0">
                            <a:solidFill>
                              <a:srgbClr val="FF0000"/>
                            </a:solidFill>
                            <a:latin typeface="Cambria Math" panose="02040503050406030204" pitchFamily="18" charset="0"/>
                          </a:rPr>
                          <m:t>(</m:t>
                        </m:r>
                        <m:r>
                          <a:rPr lang="en-US" altLang="zh-TW" sz="900" b="0" i="1" smtClean="0">
                            <a:solidFill>
                              <a:srgbClr val="FF0000"/>
                            </a:solidFill>
                            <a:latin typeface="Cambria Math" panose="02040503050406030204" pitchFamily="18" charset="0"/>
                          </a:rPr>
                          <m:t>𝑇</m:t>
                        </m:r>
                        <m:r>
                          <a:rPr lang="en-US" altLang="zh-TW" sz="900" b="0" i="1" smtClean="0">
                            <a:solidFill>
                              <a:srgbClr val="FF0000"/>
                            </a:solidFill>
                            <a:latin typeface="Cambria Math" panose="02040503050406030204" pitchFamily="18" charset="0"/>
                          </a:rPr>
                          <m:t>)=</m:t>
                        </m:r>
                        <m:r>
                          <a:rPr lang="en-US" altLang="zh-TW" sz="900" b="0" i="1" smtClean="0">
                            <a:solidFill>
                              <a:srgbClr val="FF0000"/>
                            </a:solidFill>
                            <a:latin typeface="Cambria Math" panose="02040503050406030204" pitchFamily="18" charset="0"/>
                          </a:rPr>
                          <m:t>𝑉</m:t>
                        </m:r>
                        <m:r>
                          <a:rPr lang="en-US" altLang="zh-TW" sz="900" i="1">
                            <a:solidFill>
                              <a:srgbClr val="FF0000"/>
                            </a:solidFill>
                            <a:latin typeface="Cambria Math" panose="02040503050406030204" pitchFamily="18" charset="0"/>
                          </a:rPr>
                          <m:t>"</m:t>
                        </m:r>
                        <m:r>
                          <a:rPr lang="en-US" altLang="zh-TW" sz="900" b="0" i="1" smtClean="0">
                            <a:solidFill>
                              <a:srgbClr val="FF0000"/>
                            </a:solidFill>
                            <a:latin typeface="Cambria Math" panose="02040503050406030204" pitchFamily="18" charset="0"/>
                          </a:rPr>
                          <m:t>=</m:t>
                        </m:r>
                        <m:sSub>
                          <m:sSubPr>
                            <m:ctrlPr>
                              <a:rPr lang="en-US" altLang="zh-TW" sz="900" i="1">
                                <a:solidFill>
                                  <a:srgbClr val="FF0000"/>
                                </a:solidFill>
                                <a:latin typeface="Cambria Math" panose="02040503050406030204" pitchFamily="18" charset="0"/>
                              </a:rPr>
                            </m:ctrlPr>
                          </m:sSubPr>
                          <m:e>
                            <m:r>
                              <a:rPr lang="en-US" altLang="zh-TW" sz="900" i="1">
                                <a:solidFill>
                                  <a:srgbClr val="FF0000"/>
                                </a:solidFill>
                                <a:latin typeface="Cambria Math"/>
                              </a:rPr>
                              <m:t>𝐷</m:t>
                            </m:r>
                          </m:e>
                          <m:sub>
                            <m:r>
                              <a:rPr lang="en-US" altLang="zh-TW" sz="900" i="1">
                                <a:solidFill>
                                  <a:srgbClr val="FF0000"/>
                                </a:solidFill>
                                <a:latin typeface="Cambria Math"/>
                              </a:rPr>
                              <m:t>1</m:t>
                            </m:r>
                          </m:sub>
                        </m:sSub>
                        <m:r>
                          <a:rPr lang="en-US" altLang="zh-TW" sz="900" i="1">
                            <a:solidFill>
                              <a:srgbClr val="FF0000"/>
                            </a:solidFill>
                            <a:latin typeface="Cambria Math"/>
                          </a:rPr>
                          <m:t>+</m:t>
                        </m:r>
                        <m:r>
                          <a:rPr lang="en-US" altLang="zh-TW" sz="900" i="1">
                            <a:solidFill>
                              <a:srgbClr val="FF0000"/>
                            </a:solidFill>
                            <a:latin typeface="Cambria Math" panose="02040503050406030204" pitchFamily="18" charset="0"/>
                          </a:rPr>
                          <m:t>(</m:t>
                        </m:r>
                        <m:r>
                          <a:rPr lang="en-US" altLang="zh-TW" sz="900" b="0" i="1" smtClean="0">
                            <a:solidFill>
                              <a:srgbClr val="FF0000"/>
                            </a:solidFill>
                            <a:latin typeface="Cambria Math" panose="02040503050406030204" pitchFamily="18" charset="0"/>
                          </a:rPr>
                          <m:t>1+</m:t>
                        </m:r>
                        <m:f>
                          <m:fPr>
                            <m:ctrlPr>
                              <a:rPr lang="en-US" altLang="zh-TW" sz="900" i="1">
                                <a:solidFill>
                                  <a:srgbClr val="FF0000"/>
                                </a:solidFill>
                                <a:latin typeface="Cambria Math" panose="02040503050406030204" pitchFamily="18" charset="0"/>
                              </a:rPr>
                            </m:ctrlPr>
                          </m:fPr>
                          <m:num>
                            <m:r>
                              <a:rPr lang="en-US" altLang="zh-TW" sz="900" i="1" dirty="0">
                                <a:solidFill>
                                  <a:srgbClr val="FF0000"/>
                                </a:solidFill>
                                <a:latin typeface="Cambria Math" panose="02040503050406030204" pitchFamily="18" charset="0"/>
                                <a:ea typeface="微軟正黑體" panose="020B0604030504040204" pitchFamily="34" charset="-120"/>
                              </a:rPr>
                              <m:t>𝑂</m:t>
                            </m:r>
                          </m:num>
                          <m:den>
                            <m:sSub>
                              <m:sSubPr>
                                <m:ctrlPr>
                                  <a:rPr lang="en-US" altLang="zh-TW" sz="900" i="1" dirty="0">
                                    <a:solidFill>
                                      <a:srgbClr val="FF0000"/>
                                    </a:solidFill>
                                    <a:latin typeface="Cambria Math" panose="02040503050406030204" pitchFamily="18" charset="0"/>
                                    <a:ea typeface="微軟正黑體" panose="020B0604030504040204" pitchFamily="34" charset="-120"/>
                                  </a:rPr>
                                </m:ctrlPr>
                              </m:sSubPr>
                              <m:e>
                                <m:r>
                                  <a:rPr lang="en-US" altLang="zh-TW" sz="900" i="1" dirty="0">
                                    <a:solidFill>
                                      <a:srgbClr val="FF0000"/>
                                    </a:solidFill>
                                    <a:latin typeface="Cambria Math" panose="02040503050406030204" pitchFamily="18" charset="0"/>
                                    <a:ea typeface="微軟正黑體" panose="020B0604030504040204" pitchFamily="34" charset="-120"/>
                                  </a:rPr>
                                  <m:t>𝑂</m:t>
                                </m:r>
                              </m:e>
                              <m:sub>
                                <m:r>
                                  <a:rPr lang="en-US" altLang="zh-TW" sz="900" i="1" dirty="0">
                                    <a:solidFill>
                                      <a:srgbClr val="FF0000"/>
                                    </a:solidFill>
                                    <a:latin typeface="Cambria Math" panose="02040503050406030204" pitchFamily="18" charset="0"/>
                                    <a:ea typeface="微軟正黑體" panose="020B0604030504040204" pitchFamily="34" charset="-120"/>
                                  </a:rPr>
                                  <m:t>𝐶𝐶</m:t>
                                </m:r>
                              </m:sub>
                            </m:sSub>
                          </m:den>
                        </m:f>
                        <m:r>
                          <a:rPr lang="en-US" altLang="zh-TW" sz="900" i="1">
                            <a:solidFill>
                              <a:srgbClr val="FF0000"/>
                            </a:solidFill>
                            <a:latin typeface="Cambria Math" panose="02040503050406030204" pitchFamily="18" charset="0"/>
                          </a:rPr>
                          <m:t>)</m:t>
                        </m:r>
                        <m:sSub>
                          <m:sSubPr>
                            <m:ctrlPr>
                              <a:rPr lang="en-US" altLang="zh-TW" sz="900" i="1">
                                <a:solidFill>
                                  <a:srgbClr val="FF0000"/>
                                </a:solidFill>
                                <a:latin typeface="Cambria Math" panose="02040503050406030204" pitchFamily="18" charset="0"/>
                              </a:rPr>
                            </m:ctrlPr>
                          </m:sSubPr>
                          <m:e>
                            <m:r>
                              <a:rPr lang="en-US" altLang="zh-TW" sz="900" i="1">
                                <a:solidFill>
                                  <a:srgbClr val="FF0000"/>
                                </a:solidFill>
                                <a:latin typeface="Cambria Math"/>
                              </a:rPr>
                              <m:t>𝐷</m:t>
                            </m:r>
                          </m:e>
                          <m:sub>
                            <m:r>
                              <a:rPr lang="en-US" altLang="zh-TW" sz="900" i="1">
                                <a:solidFill>
                                  <a:srgbClr val="FF0000"/>
                                </a:solidFill>
                                <a:latin typeface="Cambria Math"/>
                              </a:rPr>
                              <m:t>2</m:t>
                            </m:r>
                          </m:sub>
                        </m:sSub>
                        <m:r>
                          <a:rPr lang="en-US" altLang="zh-TW" sz="900" i="1">
                            <a:solidFill>
                              <a:srgbClr val="FF0000"/>
                            </a:solidFill>
                            <a:latin typeface="Cambria Math"/>
                          </a:rPr>
                          <m:t>+(1−</m:t>
                        </m:r>
                        <m:r>
                          <a:rPr lang="en-US" altLang="zh-TW" sz="900" i="1">
                            <a:solidFill>
                              <a:srgbClr val="FF0000"/>
                            </a:solidFill>
                            <a:latin typeface="Cambria Math"/>
                          </a:rPr>
                          <m:t>𝑡𝑎𝑥</m:t>
                        </m:r>
                        <m:r>
                          <a:rPr lang="en-US" altLang="zh-TW" sz="900" i="1">
                            <a:solidFill>
                              <a:srgbClr val="FF0000"/>
                            </a:solidFill>
                            <a:latin typeface="Cambria Math"/>
                          </a:rPr>
                          <m:t>)(</m:t>
                        </m:r>
                        <m:sSub>
                          <m:sSubPr>
                            <m:ctrlPr>
                              <a:rPr lang="en-US" altLang="zh-TW" sz="900" i="1">
                                <a:solidFill>
                                  <a:srgbClr val="FF0000"/>
                                </a:solidFill>
                                <a:latin typeface="Cambria Math" panose="02040503050406030204" pitchFamily="18" charset="0"/>
                              </a:rPr>
                            </m:ctrlPr>
                          </m:sSubPr>
                          <m:e>
                            <m:r>
                              <a:rPr lang="en-US" altLang="zh-TW" sz="900" i="1">
                                <a:solidFill>
                                  <a:srgbClr val="FF0000"/>
                                </a:solidFill>
                                <a:latin typeface="Cambria Math"/>
                              </a:rPr>
                              <m:t>𝐶</m:t>
                            </m:r>
                          </m:e>
                          <m:sub>
                            <m:r>
                              <a:rPr lang="en-US" altLang="zh-TW" sz="900" i="1">
                                <a:solidFill>
                                  <a:srgbClr val="FF0000"/>
                                </a:solidFill>
                                <a:latin typeface="Cambria Math"/>
                              </a:rPr>
                              <m:t>1</m:t>
                            </m:r>
                          </m:sub>
                        </m:sSub>
                        <m:sSub>
                          <m:sSubPr>
                            <m:ctrlPr>
                              <a:rPr lang="en-US" altLang="zh-TW" sz="900" i="1">
                                <a:solidFill>
                                  <a:srgbClr val="FF0000"/>
                                </a:solidFill>
                                <a:latin typeface="Cambria Math" panose="02040503050406030204" pitchFamily="18" charset="0"/>
                              </a:rPr>
                            </m:ctrlPr>
                          </m:sSubPr>
                          <m:e>
                            <m:r>
                              <a:rPr lang="en-US" altLang="zh-TW" sz="900" i="1">
                                <a:solidFill>
                                  <a:srgbClr val="FF0000"/>
                                </a:solidFill>
                                <a:latin typeface="Cambria Math"/>
                              </a:rPr>
                              <m:t>𝐷</m:t>
                            </m:r>
                          </m:e>
                          <m:sub>
                            <m:r>
                              <a:rPr lang="en-US" altLang="zh-TW" sz="900" i="1">
                                <a:solidFill>
                                  <a:srgbClr val="FF0000"/>
                                </a:solidFill>
                                <a:latin typeface="Cambria Math"/>
                              </a:rPr>
                              <m:t>1</m:t>
                            </m:r>
                          </m:sub>
                        </m:sSub>
                        <m:r>
                          <a:rPr lang="en-US" altLang="zh-TW" sz="900" i="1">
                            <a:solidFill>
                              <a:srgbClr val="FF0000"/>
                            </a:solidFill>
                            <a:latin typeface="Cambria Math"/>
                          </a:rPr>
                          <m:t>𝑇</m:t>
                        </m:r>
                        <m:r>
                          <a:rPr lang="en-US" altLang="zh-TW" sz="900" i="1">
                            <a:solidFill>
                              <a:srgbClr val="FF0000"/>
                            </a:solidFill>
                            <a:latin typeface="Cambria Math"/>
                          </a:rPr>
                          <m:t>+</m:t>
                        </m:r>
                        <m:sSub>
                          <m:sSubPr>
                            <m:ctrlPr>
                              <a:rPr lang="en-US" altLang="zh-TW" sz="900" i="1">
                                <a:solidFill>
                                  <a:srgbClr val="FF0000"/>
                                </a:solidFill>
                                <a:latin typeface="Cambria Math" panose="02040503050406030204" pitchFamily="18" charset="0"/>
                              </a:rPr>
                            </m:ctrlPr>
                          </m:sSubPr>
                          <m:e>
                            <m:r>
                              <a:rPr lang="en-US" altLang="zh-TW" sz="900" i="1">
                                <a:solidFill>
                                  <a:srgbClr val="FF0000"/>
                                </a:solidFill>
                                <a:latin typeface="Cambria Math"/>
                              </a:rPr>
                              <m:t>𝐶</m:t>
                            </m:r>
                          </m:e>
                          <m:sub>
                            <m:r>
                              <a:rPr lang="en-US" altLang="zh-TW" sz="900" i="1">
                                <a:solidFill>
                                  <a:srgbClr val="FF0000"/>
                                </a:solidFill>
                                <a:latin typeface="Cambria Math"/>
                              </a:rPr>
                              <m:t>2</m:t>
                            </m:r>
                          </m:sub>
                        </m:sSub>
                        <m:sSub>
                          <m:sSubPr>
                            <m:ctrlPr>
                              <a:rPr lang="en-US" altLang="zh-TW" sz="900" i="1">
                                <a:solidFill>
                                  <a:srgbClr val="FF0000"/>
                                </a:solidFill>
                                <a:latin typeface="Cambria Math" panose="02040503050406030204" pitchFamily="18" charset="0"/>
                              </a:rPr>
                            </m:ctrlPr>
                          </m:sSubPr>
                          <m:e>
                            <m:r>
                              <a:rPr lang="en-US" altLang="zh-TW" sz="900" i="1">
                                <a:solidFill>
                                  <a:srgbClr val="FF0000"/>
                                </a:solidFill>
                                <a:latin typeface="Cambria Math"/>
                              </a:rPr>
                              <m:t>𝐷</m:t>
                            </m:r>
                          </m:e>
                          <m:sub>
                            <m:r>
                              <a:rPr lang="en-US" altLang="zh-TW" sz="900" i="1">
                                <a:solidFill>
                                  <a:srgbClr val="FF0000"/>
                                </a:solidFill>
                                <a:latin typeface="Cambria Math"/>
                              </a:rPr>
                              <m:t>2</m:t>
                            </m:r>
                          </m:sub>
                        </m:sSub>
                        <m:r>
                          <a:rPr lang="en-US" altLang="zh-TW" sz="900" i="1">
                            <a:solidFill>
                              <a:srgbClr val="FF0000"/>
                            </a:solidFill>
                            <a:latin typeface="Cambria Math"/>
                          </a:rPr>
                          <m:t>𝑇</m:t>
                        </m:r>
                        <m:r>
                          <a:rPr lang="en-US" altLang="zh-TW" sz="900" i="1">
                            <a:solidFill>
                              <a:srgbClr val="FF0000"/>
                            </a:solidFill>
                            <a:latin typeface="Cambria Math"/>
                          </a:rPr>
                          <m:t>)</m:t>
                        </m:r>
                      </m:oMath>
                    </m:oMathPara>
                  </a14:m>
                  <a:endParaRPr lang="zh-TW" altLang="en-US" sz="900" dirty="0">
                    <a:solidFill>
                      <a:srgbClr val="FF0000"/>
                    </a:solidFill>
                    <a:latin typeface="微軟正黑體" panose="020B0604030504040204" pitchFamily="34" charset="-120"/>
                    <a:ea typeface="微軟正黑體" panose="020B0604030504040204" pitchFamily="34" charset="-120"/>
                  </a:endParaRPr>
                </a:p>
              </p:txBody>
            </p:sp>
          </mc:Choice>
          <mc:Fallback xmlns="">
            <p:sp>
              <p:nvSpPr>
                <p:cNvPr id="47" name="文字方塊 46"/>
                <p:cNvSpPr txBox="1">
                  <a:spLocks noRot="1" noChangeAspect="1" noMove="1" noResize="1" noEditPoints="1" noAdjustHandles="1" noChangeArrowheads="1" noChangeShapeType="1" noTextEdit="1"/>
                </p:cNvSpPr>
                <p:nvPr/>
              </p:nvSpPr>
              <p:spPr>
                <a:xfrm>
                  <a:off x="5795746" y="1131099"/>
                  <a:ext cx="6500268" cy="609672"/>
                </a:xfrm>
                <a:prstGeom prst="rect">
                  <a:avLst/>
                </a:prstGeom>
                <a:blipFill rotWithShape="0">
                  <a:blip r:embed="rId11"/>
                  <a:stretch>
                    <a:fillRect l="-1411" b="-10638"/>
                  </a:stretch>
                </a:blipFill>
              </p:spPr>
              <p:txBody>
                <a:bodyPr/>
                <a:lstStyle/>
                <a:p>
                  <a:r>
                    <a:rPr lang="zh-TW" altLang="en-US">
                      <a:noFill/>
                    </a:rPr>
                    <a:t> </a:t>
                  </a:r>
                </a:p>
              </p:txBody>
            </p:sp>
          </mc:Fallback>
        </mc:AlternateContent>
        <p:cxnSp>
          <p:nvCxnSpPr>
            <p:cNvPr id="6" name="直線接點 5"/>
            <p:cNvCxnSpPr/>
            <p:nvPr/>
          </p:nvCxnSpPr>
          <p:spPr>
            <a:xfrm flipV="1">
              <a:off x="8939443" y="3661906"/>
              <a:ext cx="0" cy="241963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5" name="Text Box 9"/>
            <p:cNvSpPr txBox="1">
              <a:spLocks noChangeArrowheads="1"/>
            </p:cNvSpPr>
            <p:nvPr/>
          </p:nvSpPr>
          <p:spPr bwMode="auto">
            <a:xfrm>
              <a:off x="4319966" y="1722515"/>
              <a:ext cx="1952063" cy="2212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1050" b="1" dirty="0" smtClean="0">
                  <a:solidFill>
                    <a:srgbClr val="FFC000"/>
                  </a:solidFill>
                  <a:latin typeface="微軟正黑體" panose="020B0604030504040204" pitchFamily="34" charset="-120"/>
                  <a:ea typeface="微軟正黑體" panose="020B0604030504040204" pitchFamily="34" charset="-120"/>
                  <a:cs typeface="Times New Roman" panose="02020603050405020304" pitchFamily="18" charset="0"/>
                </a:rPr>
                <a:t>破</a:t>
              </a:r>
              <a:r>
                <a:rPr lang="zh-TW" altLang="en-US" sz="1050" b="1" dirty="0">
                  <a:solidFill>
                    <a:srgbClr val="FFC000"/>
                  </a:solidFill>
                  <a:latin typeface="微軟正黑體" panose="020B0604030504040204" pitchFamily="34" charset="-120"/>
                  <a:ea typeface="微軟正黑體" panose="020B0604030504040204" pitchFamily="34" charset="-120"/>
                  <a:cs typeface="Times New Roman" panose="02020603050405020304" pitchFamily="18" charset="0"/>
                </a:rPr>
                <a:t>產</a:t>
              </a:r>
              <a:endParaRPr kumimoji="0" lang="zh-TW" sz="1050" b="1" i="0" u="none" strike="noStrike" cap="none" normalizeH="0" baseline="0" dirty="0" smtClean="0">
                <a:ln>
                  <a:noFill/>
                </a:ln>
                <a:solidFill>
                  <a:srgbClr val="FFC000"/>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1050" b="1" i="0" u="none" strike="noStrike" cap="none" normalizeH="0" baseline="0" dirty="0" smtClean="0">
                  <a:ln>
                    <a:noFill/>
                  </a:ln>
                  <a:solidFill>
                    <a:srgbClr val="FFC000"/>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1050" b="1" i="0" u="none" strike="noStrike" cap="none" normalizeH="0" baseline="0" dirty="0" smtClean="0">
                <a:ln>
                  <a:noFill/>
                </a:ln>
                <a:solidFill>
                  <a:srgbClr val="FFC000"/>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050" b="1" i="0" u="none" strike="noStrike" cap="none" normalizeH="0" baseline="0" dirty="0" smtClean="0">
                  <a:ln>
                    <a:noFill/>
                  </a:ln>
                  <a:solidFill>
                    <a:srgbClr val="FFC000"/>
                  </a:solidFill>
                  <a:effectLst/>
                  <a:latin typeface="微軟正黑體" panose="020B0604030504040204" pitchFamily="34" charset="-120"/>
                  <a:ea typeface="微軟正黑體" panose="020B0604030504040204" pitchFamily="34" charset="-120"/>
                </a:rPr>
                <a:t>CC</a:t>
              </a:r>
              <a:r>
                <a:rPr kumimoji="0" lang="zh-TW" altLang="en-US" sz="1050" b="1" i="0" u="none" strike="noStrike" cap="none" normalizeH="0" baseline="0" dirty="0" smtClean="0">
                  <a:ln>
                    <a:noFill/>
                  </a:ln>
                  <a:solidFill>
                    <a:srgbClr val="FFC000"/>
                  </a:solidFill>
                  <a:effectLst/>
                  <a:latin typeface="微軟正黑體" panose="020B0604030504040204" pitchFamily="34" charset="-120"/>
                  <a:ea typeface="微軟正黑體" panose="020B0604030504040204" pitchFamily="34" charset="-120"/>
                </a:rPr>
                <a:t>未轉換</a:t>
              </a:r>
              <a:endParaRPr kumimoji="0" lang="zh-TW" sz="1050" b="1" i="0" u="none" strike="noStrike" cap="none" normalizeH="0" baseline="0" dirty="0" smtClean="0">
                <a:ln>
                  <a:noFill/>
                </a:ln>
                <a:solidFill>
                  <a:srgbClr val="FFC000"/>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050" b="1" i="0" u="none" strike="noStrike" cap="none" normalizeH="0" baseline="0" dirty="0" smtClean="0">
                  <a:ln>
                    <a:noFill/>
                  </a:ln>
                  <a:solidFill>
                    <a:srgbClr val="FFC000"/>
                  </a:solidFill>
                  <a:effectLst/>
                  <a:latin typeface="微軟正黑體" panose="020B0604030504040204" pitchFamily="34" charset="-120"/>
                  <a:ea typeface="微軟正黑體" panose="020B0604030504040204" pitchFamily="34" charset="-120"/>
                </a:rPr>
                <a:t>SB</a:t>
              </a:r>
              <a:r>
                <a:rPr kumimoji="0" lang="zh-TW" altLang="en-US" sz="1050" b="1" i="0" u="none" strike="noStrike" cap="none" normalizeH="0" baseline="0" dirty="0" smtClean="0">
                  <a:ln>
                    <a:noFill/>
                  </a:ln>
                  <a:solidFill>
                    <a:srgbClr val="FFC000"/>
                  </a:solidFill>
                  <a:effectLst/>
                  <a:latin typeface="微軟正黑體" panose="020B0604030504040204" pitchFamily="34" charset="-120"/>
                  <a:ea typeface="微軟正黑體" panose="020B0604030504040204" pitchFamily="34" charset="-120"/>
                </a:rPr>
                <a:t>拿全部</a:t>
              </a:r>
              <a:endParaRPr kumimoji="0" lang="en-US" altLang="zh-TW" sz="1050" b="1" i="0" u="none" strike="noStrike" cap="none" normalizeH="0" baseline="0" dirty="0" smtClean="0">
                <a:ln>
                  <a:noFill/>
                </a:ln>
                <a:solidFill>
                  <a:srgbClr val="FFC000"/>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1050" b="1" dirty="0" smtClean="0">
                  <a:solidFill>
                    <a:srgbClr val="FFC000"/>
                  </a:solidFill>
                  <a:latin typeface="微軟正黑體" panose="020B0604030504040204" pitchFamily="34" charset="-120"/>
                  <a:ea typeface="微軟正黑體" panose="020B0604030504040204" pitchFamily="34" charset="-120"/>
                </a:rPr>
                <a:t>CC</a:t>
              </a:r>
              <a:r>
                <a:rPr lang="zh-TW" altLang="en-US" sz="1050" b="1" dirty="0" smtClean="0">
                  <a:solidFill>
                    <a:srgbClr val="FFC000"/>
                  </a:solidFill>
                  <a:latin typeface="微軟正黑體" panose="020B0604030504040204" pitchFamily="34" charset="-120"/>
                  <a:ea typeface="微軟正黑體" panose="020B0604030504040204" pitchFamily="34" charset="-120"/>
                </a:rPr>
                <a:t>拿部分</a:t>
              </a:r>
              <a:endParaRPr kumimoji="0" lang="zh-TW" altLang="en-US" sz="1050" b="1" i="0" u="none" strike="noStrike" cap="none" normalizeH="0" baseline="0" dirty="0" smtClean="0">
                <a:ln>
                  <a:noFill/>
                </a:ln>
                <a:solidFill>
                  <a:srgbClr val="FFC000"/>
                </a:solidFill>
                <a:effectLst/>
                <a:latin typeface="微軟正黑體" panose="020B0604030504040204" pitchFamily="34" charset="-120"/>
                <a:ea typeface="微軟正黑體" panose="020B0604030504040204" pitchFamily="34" charset="-120"/>
              </a:endParaRPr>
            </a:p>
          </p:txBody>
        </p:sp>
        <p:sp>
          <p:nvSpPr>
            <p:cNvPr id="35" name="Text Box 9"/>
            <p:cNvSpPr txBox="1">
              <a:spLocks noChangeArrowheads="1"/>
            </p:cNvSpPr>
            <p:nvPr/>
          </p:nvSpPr>
          <p:spPr bwMode="auto">
            <a:xfrm>
              <a:off x="6195551" y="4263303"/>
              <a:ext cx="1952063" cy="191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1100" b="1" dirty="0" smtClean="0">
                  <a:solidFill>
                    <a:srgbClr val="00B0F0"/>
                  </a:solidFill>
                  <a:latin typeface="微軟正黑體" panose="020B0604030504040204" pitchFamily="34" charset="-120"/>
                  <a:ea typeface="微軟正黑體" panose="020B0604030504040204" pitchFamily="34" charset="-120"/>
                  <a:cs typeface="Times New Roman" panose="02020603050405020304" pitchFamily="18" charset="0"/>
                </a:rPr>
                <a:t>存活</a:t>
              </a:r>
              <a:endParaRPr lang="en-US" altLang="zh-TW" sz="1100" b="1" dirty="0" smtClean="0">
                <a:solidFill>
                  <a:srgbClr val="00B0F0"/>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1100" b="1" i="0" u="none" strike="noStrike" cap="none" normalizeH="0" baseline="0" dirty="0" smtClean="0">
                  <a:ln>
                    <a:noFill/>
                  </a:ln>
                  <a:solidFill>
                    <a:srgbClr val="00B0F0"/>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1100" b="1" i="0" u="none" strike="noStrike" cap="none" normalizeH="0" baseline="0" dirty="0" smtClean="0">
                <a:ln>
                  <a:noFill/>
                </a:ln>
                <a:solidFill>
                  <a:srgbClr val="00B0F0"/>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1100" b="1" dirty="0" smtClean="0">
                  <a:solidFill>
                    <a:srgbClr val="00B0F0"/>
                  </a:solidFill>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1100" b="1" dirty="0" smtClean="0">
                  <a:solidFill>
                    <a:srgbClr val="00B0F0"/>
                  </a:solidFill>
                  <a:latin typeface="微軟正黑體" panose="020B0604030504040204" pitchFamily="34" charset="-120"/>
                  <a:ea typeface="微軟正黑體" panose="020B0604030504040204" pitchFamily="34" charset="-120"/>
                  <a:cs typeface="Times New Roman" panose="02020603050405020304" pitchFamily="18" charset="0"/>
                </a:rPr>
                <a:t>已轉換</a:t>
              </a:r>
              <a:endParaRPr kumimoji="0" lang="zh-TW" sz="1100" b="1" i="0" u="none" strike="noStrike" cap="none" normalizeH="0" baseline="0" dirty="0" smtClean="0">
                <a:ln>
                  <a:noFill/>
                </a:ln>
                <a:solidFill>
                  <a:srgbClr val="00B0F0"/>
                </a:solidFill>
                <a:effectLst/>
                <a:latin typeface="微軟正黑體" panose="020B0604030504040204" pitchFamily="34" charset="-120"/>
                <a:ea typeface="微軟正黑體" panose="020B0604030504040204" pitchFamily="34" charset="-120"/>
              </a:endParaRPr>
            </a:p>
          </p:txBody>
        </p:sp>
        <p:sp>
          <p:nvSpPr>
            <p:cNvPr id="37" name="Text Box 9"/>
            <p:cNvSpPr txBox="1">
              <a:spLocks noChangeArrowheads="1"/>
            </p:cNvSpPr>
            <p:nvPr/>
          </p:nvSpPr>
          <p:spPr bwMode="auto">
            <a:xfrm>
              <a:off x="8826865" y="2021207"/>
              <a:ext cx="1952063"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1100" b="1" dirty="0" smtClean="0">
                  <a:solidFill>
                    <a:srgbClr val="00B0F0"/>
                  </a:solidFill>
                  <a:latin typeface="微軟正黑體" panose="020B0604030504040204" pitchFamily="34" charset="-120"/>
                  <a:ea typeface="微軟正黑體" panose="020B0604030504040204" pitchFamily="34" charset="-120"/>
                  <a:cs typeface="Times New Roman" panose="02020603050405020304" pitchFamily="18" charset="0"/>
                </a:rPr>
                <a:t>存活</a:t>
              </a:r>
              <a:endParaRPr lang="en-US" altLang="zh-TW" sz="1100" b="1" dirty="0" smtClean="0">
                <a:solidFill>
                  <a:srgbClr val="00B0F0"/>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1100" b="1" i="0" u="none" strike="noStrike" cap="none" normalizeH="0" baseline="0" dirty="0" smtClean="0">
                  <a:ln>
                    <a:noFill/>
                  </a:ln>
                  <a:solidFill>
                    <a:srgbClr val="00B0F0"/>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zh-TW" sz="1100" b="1" i="0" u="none" strike="noStrike" cap="none" normalizeH="0" baseline="0" dirty="0" smtClean="0">
                <a:ln>
                  <a:noFill/>
                </a:ln>
                <a:solidFill>
                  <a:srgbClr val="00B0F0"/>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100" b="1" i="0" u="none" strike="noStrike" cap="none" normalizeH="0" baseline="0" dirty="0" smtClean="0">
                  <a:ln>
                    <a:noFill/>
                  </a:ln>
                  <a:solidFill>
                    <a:srgbClr val="00B0F0"/>
                  </a:solidFill>
                  <a:effectLst/>
                  <a:latin typeface="微軟正黑體" panose="020B0604030504040204" pitchFamily="34" charset="-120"/>
                  <a:ea typeface="微軟正黑體" panose="020B0604030504040204" pitchFamily="34" charset="-120"/>
                  <a:cs typeface="Times New Roman" panose="02020603050405020304" pitchFamily="18" charset="0"/>
                </a:rPr>
                <a:t>CC</a:t>
              </a:r>
              <a:r>
                <a:rPr kumimoji="0" lang="zh-TW" altLang="en-US" sz="1100" b="1" i="0" u="none" strike="noStrike" cap="none" normalizeH="0" baseline="0" dirty="0" smtClean="0">
                  <a:ln>
                    <a:noFill/>
                  </a:ln>
                  <a:solidFill>
                    <a:srgbClr val="00B0F0"/>
                  </a:solidFill>
                  <a:effectLst/>
                  <a:latin typeface="微軟正黑體" panose="020B0604030504040204" pitchFamily="34" charset="-120"/>
                  <a:ea typeface="微軟正黑體" panose="020B0604030504040204" pitchFamily="34" charset="-120"/>
                  <a:cs typeface="Times New Roman" panose="02020603050405020304" pitchFamily="18" charset="0"/>
                </a:rPr>
                <a:t>未轉換</a:t>
              </a:r>
              <a:endParaRPr kumimoji="0" lang="zh-TW" altLang="en-US" sz="1100" b="1" i="0" u="none" strike="noStrike" cap="none" normalizeH="0" baseline="0" dirty="0" smtClean="0">
                <a:ln>
                  <a:noFill/>
                </a:ln>
                <a:solidFill>
                  <a:srgbClr val="00B0F0"/>
                </a:solidFill>
                <a:effectLst/>
                <a:latin typeface="微軟正黑體" panose="020B0604030504040204" pitchFamily="34" charset="-120"/>
                <a:ea typeface="微軟正黑體" panose="020B0604030504040204" pitchFamily="34" charset="-120"/>
              </a:endParaRPr>
            </a:p>
          </p:txBody>
        </p:sp>
        <p:cxnSp>
          <p:nvCxnSpPr>
            <p:cNvPr id="10" name="直線單箭頭接點 9"/>
            <p:cNvCxnSpPr/>
            <p:nvPr/>
          </p:nvCxnSpPr>
          <p:spPr>
            <a:xfrm flipH="1" flipV="1">
              <a:off x="1809498" y="1791077"/>
              <a:ext cx="25626" cy="43232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a:off x="1838080" y="6081535"/>
              <a:ext cx="8517611"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6578793" y="1717719"/>
              <a:ext cx="0" cy="19381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線接點 50"/>
            <p:cNvCxnSpPr/>
            <p:nvPr/>
          </p:nvCxnSpPr>
          <p:spPr>
            <a:xfrm flipH="1">
              <a:off x="3504811" y="3639847"/>
              <a:ext cx="9775" cy="2451632"/>
            </a:xfrm>
            <a:prstGeom prst="line">
              <a:avLst/>
            </a:prstGeom>
            <a:ln w="1905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58" name="矩形 57"/>
            <p:cNvSpPr/>
            <p:nvPr/>
          </p:nvSpPr>
          <p:spPr>
            <a:xfrm>
              <a:off x="8922626" y="3661906"/>
              <a:ext cx="1743723" cy="2419629"/>
            </a:xfrm>
            <a:prstGeom prst="rect">
              <a:avLst/>
            </a:prstGeom>
            <a:solidFill>
              <a:srgbClr val="51DF7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9" name="文字方塊 38"/>
                <p:cNvSpPr txBox="1"/>
                <p:nvPr/>
              </p:nvSpPr>
              <p:spPr>
                <a:xfrm>
                  <a:off x="4727498" y="800729"/>
                  <a:ext cx="5040639" cy="34720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sz="1050" b="0" i="1" smtClean="0">
                            <a:solidFill>
                              <a:srgbClr val="7030A0"/>
                            </a:solidFill>
                            <a:latin typeface="Cambria Math" panose="02040503050406030204" pitchFamily="18" charset="0"/>
                          </a:rPr>
                          <m:t>𝑉</m:t>
                        </m:r>
                        <m:r>
                          <a:rPr lang="en-US" altLang="zh-TW" sz="1050" b="0" i="1" smtClean="0">
                            <a:solidFill>
                              <a:srgbClr val="7030A0"/>
                            </a:solidFill>
                            <a:latin typeface="Cambria Math" panose="02040503050406030204" pitchFamily="18" charset="0"/>
                          </a:rPr>
                          <m:t>(</m:t>
                        </m:r>
                        <m:r>
                          <a:rPr lang="en-US" altLang="zh-TW" sz="1050" b="0" i="1" smtClean="0">
                            <a:solidFill>
                              <a:srgbClr val="7030A0"/>
                            </a:solidFill>
                            <a:latin typeface="Cambria Math" panose="02040503050406030204" pitchFamily="18" charset="0"/>
                          </a:rPr>
                          <m:t>𝑇</m:t>
                        </m:r>
                        <m:r>
                          <a:rPr lang="en-US" altLang="zh-TW" sz="1050" b="0" i="1" smtClean="0">
                            <a:solidFill>
                              <a:srgbClr val="7030A0"/>
                            </a:solidFill>
                            <a:latin typeface="Cambria Math" panose="02040503050406030204" pitchFamily="18" charset="0"/>
                          </a:rPr>
                          <m:t>)=</m:t>
                        </m:r>
                        <m:sSub>
                          <m:sSubPr>
                            <m:ctrlPr>
                              <a:rPr lang="en-US" altLang="zh-TW" sz="1050" i="1">
                                <a:solidFill>
                                  <a:srgbClr val="7030A0"/>
                                </a:solidFill>
                                <a:latin typeface="Cambria Math" panose="02040503050406030204" pitchFamily="18" charset="0"/>
                              </a:rPr>
                            </m:ctrlPr>
                          </m:sSubPr>
                          <m:e>
                            <m:r>
                              <a:rPr lang="en-US" altLang="zh-TW" sz="1050" i="1">
                                <a:solidFill>
                                  <a:srgbClr val="7030A0"/>
                                </a:solidFill>
                                <a:latin typeface="Cambria Math"/>
                              </a:rPr>
                              <m:t>𝐷</m:t>
                            </m:r>
                          </m:e>
                          <m:sub>
                            <m:r>
                              <a:rPr lang="en-US" altLang="zh-TW" sz="1050" i="1">
                                <a:solidFill>
                                  <a:srgbClr val="7030A0"/>
                                </a:solidFill>
                                <a:latin typeface="Cambria Math"/>
                              </a:rPr>
                              <m:t>1</m:t>
                            </m:r>
                          </m:sub>
                        </m:sSub>
                        <m:r>
                          <a:rPr lang="en-US" altLang="zh-TW" sz="1050" i="1">
                            <a:solidFill>
                              <a:srgbClr val="7030A0"/>
                            </a:solidFill>
                            <a:latin typeface="Cambria Math"/>
                          </a:rPr>
                          <m:t>+(1−</m:t>
                        </m:r>
                        <m:r>
                          <a:rPr lang="en-US" altLang="zh-TW" sz="1050" i="1">
                            <a:solidFill>
                              <a:srgbClr val="7030A0"/>
                            </a:solidFill>
                            <a:latin typeface="Cambria Math"/>
                          </a:rPr>
                          <m:t>𝑡𝑎𝑥</m:t>
                        </m:r>
                        <m:r>
                          <a:rPr lang="en-US" altLang="zh-TW" sz="1050" i="1">
                            <a:solidFill>
                              <a:srgbClr val="7030A0"/>
                            </a:solidFill>
                            <a:latin typeface="Cambria Math"/>
                          </a:rPr>
                          <m:t>)(</m:t>
                        </m:r>
                        <m:sSub>
                          <m:sSubPr>
                            <m:ctrlPr>
                              <a:rPr lang="en-US" altLang="zh-TW" sz="1050" i="1">
                                <a:solidFill>
                                  <a:srgbClr val="7030A0"/>
                                </a:solidFill>
                                <a:latin typeface="Cambria Math" panose="02040503050406030204" pitchFamily="18" charset="0"/>
                              </a:rPr>
                            </m:ctrlPr>
                          </m:sSubPr>
                          <m:e>
                            <m:r>
                              <a:rPr lang="en-US" altLang="zh-TW" sz="1050" i="1">
                                <a:solidFill>
                                  <a:srgbClr val="7030A0"/>
                                </a:solidFill>
                                <a:latin typeface="Cambria Math"/>
                              </a:rPr>
                              <m:t>𝐶</m:t>
                            </m:r>
                          </m:e>
                          <m:sub>
                            <m:r>
                              <a:rPr lang="en-US" altLang="zh-TW" sz="1050" i="1">
                                <a:solidFill>
                                  <a:srgbClr val="7030A0"/>
                                </a:solidFill>
                                <a:latin typeface="Cambria Math"/>
                              </a:rPr>
                              <m:t>1</m:t>
                            </m:r>
                          </m:sub>
                        </m:sSub>
                        <m:sSub>
                          <m:sSubPr>
                            <m:ctrlPr>
                              <a:rPr lang="en-US" altLang="zh-TW" sz="1050" i="1">
                                <a:solidFill>
                                  <a:srgbClr val="7030A0"/>
                                </a:solidFill>
                                <a:latin typeface="Cambria Math" panose="02040503050406030204" pitchFamily="18" charset="0"/>
                              </a:rPr>
                            </m:ctrlPr>
                          </m:sSubPr>
                          <m:e>
                            <m:r>
                              <a:rPr lang="en-US" altLang="zh-TW" sz="1050" i="1">
                                <a:solidFill>
                                  <a:srgbClr val="7030A0"/>
                                </a:solidFill>
                                <a:latin typeface="Cambria Math"/>
                              </a:rPr>
                              <m:t>𝐷</m:t>
                            </m:r>
                          </m:e>
                          <m:sub>
                            <m:r>
                              <a:rPr lang="en-US" altLang="zh-TW" sz="1050" i="1">
                                <a:solidFill>
                                  <a:srgbClr val="7030A0"/>
                                </a:solidFill>
                                <a:latin typeface="Cambria Math"/>
                              </a:rPr>
                              <m:t>1</m:t>
                            </m:r>
                          </m:sub>
                        </m:sSub>
                        <m:r>
                          <a:rPr lang="en-US" altLang="zh-TW" sz="1050" i="1">
                            <a:solidFill>
                              <a:srgbClr val="7030A0"/>
                            </a:solidFill>
                            <a:latin typeface="Cambria Math"/>
                          </a:rPr>
                          <m:t>𝑇</m:t>
                        </m:r>
                        <m:r>
                          <a:rPr lang="en-US" altLang="zh-TW" sz="1050" i="1">
                            <a:solidFill>
                              <a:srgbClr val="7030A0"/>
                            </a:solidFill>
                            <a:latin typeface="Cambria Math"/>
                          </a:rPr>
                          <m:t>+</m:t>
                        </m:r>
                        <m:sSub>
                          <m:sSubPr>
                            <m:ctrlPr>
                              <a:rPr lang="en-US" altLang="zh-TW" sz="1050" i="1">
                                <a:solidFill>
                                  <a:srgbClr val="7030A0"/>
                                </a:solidFill>
                                <a:latin typeface="Cambria Math" panose="02040503050406030204" pitchFamily="18" charset="0"/>
                              </a:rPr>
                            </m:ctrlPr>
                          </m:sSubPr>
                          <m:e>
                            <m:r>
                              <a:rPr lang="en-US" altLang="zh-TW" sz="1050" i="1">
                                <a:solidFill>
                                  <a:srgbClr val="7030A0"/>
                                </a:solidFill>
                                <a:latin typeface="Cambria Math"/>
                              </a:rPr>
                              <m:t>𝐶</m:t>
                            </m:r>
                          </m:e>
                          <m:sub>
                            <m:r>
                              <a:rPr lang="en-US" altLang="zh-TW" sz="1050" i="1">
                                <a:solidFill>
                                  <a:srgbClr val="7030A0"/>
                                </a:solidFill>
                                <a:latin typeface="Cambria Math"/>
                              </a:rPr>
                              <m:t>2</m:t>
                            </m:r>
                          </m:sub>
                        </m:sSub>
                        <m:sSub>
                          <m:sSubPr>
                            <m:ctrlPr>
                              <a:rPr lang="en-US" altLang="zh-TW" sz="1050" i="1">
                                <a:solidFill>
                                  <a:srgbClr val="7030A0"/>
                                </a:solidFill>
                                <a:latin typeface="Cambria Math" panose="02040503050406030204" pitchFamily="18" charset="0"/>
                              </a:rPr>
                            </m:ctrlPr>
                          </m:sSubPr>
                          <m:e>
                            <m:r>
                              <a:rPr lang="en-US" altLang="zh-TW" sz="1050" i="1">
                                <a:solidFill>
                                  <a:srgbClr val="7030A0"/>
                                </a:solidFill>
                                <a:latin typeface="Cambria Math"/>
                              </a:rPr>
                              <m:t>𝐷</m:t>
                            </m:r>
                          </m:e>
                          <m:sub>
                            <m:r>
                              <a:rPr lang="en-US" altLang="zh-TW" sz="1050" i="1">
                                <a:solidFill>
                                  <a:srgbClr val="7030A0"/>
                                </a:solidFill>
                                <a:latin typeface="Cambria Math"/>
                              </a:rPr>
                              <m:t>2</m:t>
                            </m:r>
                          </m:sub>
                        </m:sSub>
                        <m:r>
                          <a:rPr lang="en-US" altLang="zh-TW" sz="1050" i="1">
                            <a:solidFill>
                              <a:srgbClr val="7030A0"/>
                            </a:solidFill>
                            <a:latin typeface="Cambria Math"/>
                          </a:rPr>
                          <m:t>𝑇</m:t>
                        </m:r>
                        <m:r>
                          <a:rPr lang="en-US" altLang="zh-TW" sz="1050" i="1">
                            <a:solidFill>
                              <a:srgbClr val="7030A0"/>
                            </a:solidFill>
                            <a:latin typeface="Cambria Math"/>
                          </a:rPr>
                          <m:t>)</m:t>
                        </m:r>
                      </m:oMath>
                    </m:oMathPara>
                  </a14:m>
                  <a:endParaRPr lang="zh-TW" altLang="en-US" sz="1050" dirty="0">
                    <a:solidFill>
                      <a:srgbClr val="7030A0"/>
                    </a:solidFill>
                    <a:latin typeface="微軟正黑體" panose="020B0604030504040204" pitchFamily="34" charset="-120"/>
                    <a:ea typeface="微軟正黑體" panose="020B0604030504040204" pitchFamily="34" charset="-120"/>
                  </a:endParaRPr>
                </a:p>
              </p:txBody>
            </p:sp>
          </mc:Choice>
          <mc:Fallback xmlns="">
            <p:sp>
              <p:nvSpPr>
                <p:cNvPr id="39" name="文字方塊 38"/>
                <p:cNvSpPr txBox="1">
                  <a:spLocks noRot="1" noChangeAspect="1" noMove="1" noResize="1" noEditPoints="1" noAdjustHandles="1" noChangeArrowheads="1" noChangeShapeType="1" noTextEdit="1"/>
                </p:cNvSpPr>
                <p:nvPr/>
              </p:nvSpPr>
              <p:spPr>
                <a:xfrm>
                  <a:off x="4727498" y="800729"/>
                  <a:ext cx="5040639" cy="347203"/>
                </a:xfrm>
                <a:prstGeom prst="rect">
                  <a:avLst/>
                </a:prstGeom>
                <a:blipFill rotWithShape="0">
                  <a:blip r:embed="rId12"/>
                  <a:stretch>
                    <a:fillRect l="-2083" t="-3704" r="-781" b="-37037"/>
                  </a:stretch>
                </a:blipFill>
              </p:spPr>
              <p:txBody>
                <a:bodyPr/>
                <a:lstStyle/>
                <a:p>
                  <a:r>
                    <a:rPr lang="zh-TW" altLang="en-US">
                      <a:noFill/>
                    </a:rPr>
                    <a:t> </a:t>
                  </a:r>
                </a:p>
              </p:txBody>
            </p:sp>
          </mc:Fallback>
        </mc:AlternateContent>
        <p:cxnSp>
          <p:nvCxnSpPr>
            <p:cNvPr id="42" name="直線接點 41"/>
            <p:cNvCxnSpPr/>
            <p:nvPr/>
          </p:nvCxnSpPr>
          <p:spPr>
            <a:xfrm flipV="1">
              <a:off x="5294645" y="3655872"/>
              <a:ext cx="0" cy="2419629"/>
            </a:xfrm>
            <a:prstGeom prst="line">
              <a:avLst/>
            </a:prstGeom>
            <a:ln w="28575">
              <a:solidFill>
                <a:srgbClr val="7030A0"/>
              </a:solidFill>
              <a:prstDash val="solid"/>
            </a:ln>
          </p:spPr>
          <p:style>
            <a:lnRef idx="1">
              <a:schemeClr val="accent1"/>
            </a:lnRef>
            <a:fillRef idx="0">
              <a:schemeClr val="accent1"/>
            </a:fillRef>
            <a:effectRef idx="0">
              <a:schemeClr val="accent1"/>
            </a:effectRef>
            <a:fontRef idx="minor">
              <a:schemeClr val="tx1"/>
            </a:fontRef>
          </p:style>
        </p:cxnSp>
        <p:cxnSp>
          <p:nvCxnSpPr>
            <p:cNvPr id="43" name="直線接點 42"/>
            <p:cNvCxnSpPr/>
            <p:nvPr/>
          </p:nvCxnSpPr>
          <p:spPr>
            <a:xfrm>
              <a:off x="3510468" y="1330806"/>
              <a:ext cx="2382" cy="2331099"/>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5" name="標題 1"/>
              <p:cNvSpPr txBox="1">
                <a:spLocks/>
              </p:cNvSpPr>
              <p:nvPr/>
            </p:nvSpPr>
            <p:spPr>
              <a:xfrm>
                <a:off x="347730" y="283333"/>
                <a:ext cx="11844270" cy="79252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TW" altLang="en-US" sz="4800" dirty="0" smtClean="0">
                    <a:latin typeface="微軟正黑體" panose="020B0604030504040204" pitchFamily="34" charset="-120"/>
                    <a:ea typeface="微軟正黑體" panose="020B0604030504040204" pitchFamily="34" charset="-120"/>
                    <a:cs typeface="Arial" pitchFamily="34" charset="0"/>
                  </a:rPr>
                  <a:t>公式推導－</a:t>
                </a:r>
                <a14:m>
                  <m:oMath xmlns:m="http://schemas.openxmlformats.org/officeDocument/2006/math">
                    <m:r>
                      <a:rPr lang="en-US" altLang="zh-TW" sz="4800" b="0" i="1" dirty="0" smtClean="0">
                        <a:latin typeface="Cambria Math" panose="02040503050406030204" pitchFamily="18" charset="0"/>
                        <a:ea typeface="標楷體" pitchFamily="65" charset="-120"/>
                        <a:cs typeface="Arial" pitchFamily="34" charset="0"/>
                      </a:rPr>
                      <m:t>𝑆𝐵</m:t>
                    </m:r>
                  </m:oMath>
                </a14:m>
                <a:r>
                  <a:rPr lang="zh-TW" altLang="en-US" sz="4800" i="1" dirty="0">
                    <a:latin typeface="微軟正黑體" panose="020B0604030504040204" pitchFamily="34" charset="-120"/>
                    <a:ea typeface="微軟正黑體" panose="020B0604030504040204" pitchFamily="34" charset="-120"/>
                    <a:cs typeface="Arial" pitchFamily="34" charset="0"/>
                  </a:rPr>
                  <a:t>   </a:t>
                </a:r>
                <a:r>
                  <a:rPr lang="en-US" altLang="zh-TW" sz="4800" dirty="0">
                    <a:latin typeface="微軟正黑體" panose="020B0604030504040204" pitchFamily="34" charset="-120"/>
                    <a:ea typeface="微軟正黑體" panose="020B0604030504040204" pitchFamily="34" charset="-120"/>
                    <a:cs typeface="Arial" pitchFamily="34" charset="0"/>
                  </a:rPr>
                  <a:t>(</a:t>
                </a:r>
                <a14:m>
                  <m:oMath xmlns:m="http://schemas.openxmlformats.org/officeDocument/2006/math">
                    <m:sSub>
                      <m:sSubPr>
                        <m:ctrlPr>
                          <a:rPr lang="en-US" altLang="zh-TW" sz="4800" i="1">
                            <a:latin typeface="Cambria Math" panose="02040503050406030204" pitchFamily="18" charset="0"/>
                          </a:rPr>
                        </m:ctrlPr>
                      </m:sSubPr>
                      <m:e>
                        <m:r>
                          <a:rPr lang="en-US" altLang="zh-TW" sz="4800" i="1">
                            <a:latin typeface="Cambria Math" panose="02040503050406030204" pitchFamily="18" charset="0"/>
                          </a:rPr>
                          <m:t>𝑉</m:t>
                        </m:r>
                      </m:e>
                      <m:sub>
                        <m:r>
                          <a:rPr lang="en-US" altLang="zh-TW" sz="4800" i="1">
                            <a:latin typeface="Cambria Math" panose="02040503050406030204" pitchFamily="18" charset="0"/>
                          </a:rPr>
                          <m:t>𝐿</m:t>
                        </m:r>
                      </m:sub>
                    </m:sSub>
                    <m:r>
                      <a:rPr lang="en-US" altLang="zh-TW" sz="4800" i="1">
                        <a:latin typeface="Cambria Math" panose="02040503050406030204" pitchFamily="18" charset="0"/>
                      </a:rPr>
                      <m:t>=</m:t>
                    </m:r>
                    <m:r>
                      <a:rPr lang="en-US" altLang="zh-TW" sz="4800" i="1">
                        <a:latin typeface="Cambria Math" panose="02040503050406030204" pitchFamily="18" charset="0"/>
                      </a:rPr>
                      <m:t>𝐷𝑒𝑏𝑡</m:t>
                    </m:r>
                    <m:r>
                      <a:rPr lang="en-US" altLang="zh-TW" sz="4800" i="1">
                        <a:latin typeface="Cambria Math" panose="02040503050406030204" pitchFamily="18" charset="0"/>
                      </a:rPr>
                      <m:t>+</m:t>
                    </m:r>
                    <m:r>
                      <a:rPr lang="en-US" altLang="zh-TW" sz="4800" i="1">
                        <a:latin typeface="Cambria Math" panose="02040503050406030204" pitchFamily="18" charset="0"/>
                      </a:rPr>
                      <m:t>𝐸𝑞𝑢𝑖𝑡𝑦</m:t>
                    </m:r>
                  </m:oMath>
                </a14:m>
                <a:r>
                  <a:rPr lang="en-US" altLang="zh-TW" sz="4800" dirty="0">
                    <a:latin typeface="微軟正黑體" panose="020B0604030504040204" pitchFamily="34" charset="-120"/>
                    <a:ea typeface="微軟正黑體" panose="020B0604030504040204" pitchFamily="34" charset="-120"/>
                    <a:cs typeface="Arial" pitchFamily="34" charset="0"/>
                  </a:rPr>
                  <a:t>)</a:t>
                </a:r>
              </a:p>
            </p:txBody>
          </p:sp>
        </mc:Choice>
        <mc:Fallback xmlns="">
          <p:sp>
            <p:nvSpPr>
              <p:cNvPr id="45" name="標題 1"/>
              <p:cNvSpPr txBox="1">
                <a:spLocks noRot="1" noChangeAspect="1" noMove="1" noResize="1" noEditPoints="1" noAdjustHandles="1" noChangeArrowheads="1" noChangeShapeType="1" noTextEdit="1"/>
              </p:cNvSpPr>
              <p:nvPr/>
            </p:nvSpPr>
            <p:spPr>
              <a:xfrm>
                <a:off x="347730" y="283333"/>
                <a:ext cx="11844270" cy="792520"/>
              </a:xfrm>
              <a:prstGeom prst="rect">
                <a:avLst/>
              </a:prstGeom>
              <a:blipFill rotWithShape="0">
                <a:blip r:embed="rId13"/>
                <a:stretch>
                  <a:fillRect l="-2316" t="-21538" b="-4076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203635" y="3475428"/>
                <a:ext cx="12054220" cy="1370312"/>
              </a:xfrm>
              <a:prstGeom prst="rect">
                <a:avLst/>
              </a:prstGeom>
            </p:spPr>
            <p:txBody>
              <a:bodyPr wrap="square">
                <a:spAutoFit/>
              </a:bodyPr>
              <a:lstStyle/>
              <a:p>
                <a:pPr>
                  <a:lnSpc>
                    <a:spcPct val="150000"/>
                  </a:lnSpc>
                </a:pPr>
                <a14:m>
                  <m:oMathPara xmlns:m="http://schemas.openxmlformats.org/officeDocument/2006/math">
                    <m:oMathParaPr>
                      <m:jc m:val="left"/>
                    </m:oMathParaPr>
                    <m:oMath xmlns:m="http://schemas.openxmlformats.org/officeDocument/2006/math">
                      <m:r>
                        <a:rPr lang="en-US" altLang="zh-TW" sz="2800" i="1" smtClean="0">
                          <a:latin typeface="Cambria Math"/>
                        </a:rPr>
                        <m:t>𝑆𝐵</m:t>
                      </m:r>
                    </m:oMath>
                  </m:oMathPara>
                </a14:m>
                <a:endParaRPr lang="en-US" altLang="zh-TW" sz="2800" i="1" dirty="0">
                  <a:latin typeface="Cambria Math"/>
                </a:endParaRPr>
              </a:p>
              <a:p>
                <a:pPr>
                  <a:lnSpc>
                    <a:spcPct val="150000"/>
                  </a:lnSpc>
                </a:pPr>
                <a14:m>
                  <m:oMathPara xmlns:m="http://schemas.openxmlformats.org/officeDocument/2006/math">
                    <m:oMathParaPr>
                      <m:jc m:val="left"/>
                    </m:oMathParaPr>
                    <m:oMath xmlns:m="http://schemas.openxmlformats.org/officeDocument/2006/math">
                      <m:r>
                        <a:rPr lang="en-US" altLang="zh-TW" i="1">
                          <a:latin typeface="Cambria Math"/>
                        </a:rPr>
                        <m:t>=</m:t>
                      </m:r>
                      <m:acc>
                        <m:accPr>
                          <m:chr m:val="̃"/>
                          <m:ctrlPr>
                            <a:rPr lang="en-US" altLang="zh-TW" i="1">
                              <a:latin typeface="Cambria Math" panose="02040503050406030204" pitchFamily="18" charset="0"/>
                            </a:rPr>
                          </m:ctrlPr>
                        </m:accPr>
                        <m:e>
                          <m:r>
                            <a:rPr lang="en-US" altLang="zh-TW" i="1">
                              <a:latin typeface="Cambria Math"/>
                            </a:rPr>
                            <m:t>𝐸</m:t>
                          </m:r>
                        </m:e>
                      </m:acc>
                      <m:d>
                        <m:dPr>
                          <m:begChr m:val="{"/>
                          <m:endChr m:val="}"/>
                          <m:ctrlPr>
                            <a:rPr lang="en-US" altLang="zh-TW" i="1">
                              <a:latin typeface="Cambria Math" panose="02040503050406030204" pitchFamily="18" charset="0"/>
                            </a:rPr>
                          </m:ctrlPr>
                        </m:dPr>
                        <m:e>
                          <m:r>
                            <a:rPr lang="en-US" altLang="zh-TW" i="1">
                              <a:latin typeface="Cambria Math"/>
                            </a:rPr>
                            <m:t> </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a:rPr>
                                    <m:t>𝐷</m:t>
                                  </m:r>
                                </m:e>
                                <m:sub>
                                  <m:r>
                                    <a:rPr lang="en-US" altLang="zh-TW" i="1">
                                      <a:latin typeface="Cambria Math"/>
                                    </a:rPr>
                                    <m:t>1</m:t>
                                  </m:r>
                                </m:sub>
                              </m:sSub>
                              <m:r>
                                <a:rPr lang="en-US" altLang="zh-TW" i="1">
                                  <a:latin typeface="Cambria Math"/>
                                </a:rPr>
                                <m:t>+</m:t>
                              </m:r>
                              <m:sSub>
                                <m:sSubPr>
                                  <m:ctrlPr>
                                    <a:rPr lang="en-US" altLang="zh-TW" i="1">
                                      <a:latin typeface="Cambria Math" panose="02040503050406030204" pitchFamily="18" charset="0"/>
                                    </a:rPr>
                                  </m:ctrlPr>
                                </m:sSubPr>
                                <m:e>
                                  <m:r>
                                    <a:rPr lang="en-US" altLang="zh-TW" i="1">
                                      <a:latin typeface="Cambria Math"/>
                                    </a:rPr>
                                    <m:t>𝐶</m:t>
                                  </m:r>
                                </m:e>
                                <m:sub>
                                  <m:r>
                                    <a:rPr lang="en-US" altLang="zh-TW" i="1">
                                      <a:latin typeface="Cambria Math"/>
                                    </a:rPr>
                                    <m:t>1</m:t>
                                  </m:r>
                                </m:sub>
                              </m:sSub>
                              <m:sSub>
                                <m:sSubPr>
                                  <m:ctrlPr>
                                    <a:rPr lang="en-US" altLang="zh-TW" i="1">
                                      <a:latin typeface="Cambria Math" panose="02040503050406030204" pitchFamily="18" charset="0"/>
                                    </a:rPr>
                                  </m:ctrlPr>
                                </m:sSubPr>
                                <m:e>
                                  <m:r>
                                    <a:rPr lang="en-US" altLang="zh-TW" i="1">
                                      <a:latin typeface="Cambria Math"/>
                                    </a:rPr>
                                    <m:t>𝐷</m:t>
                                  </m:r>
                                </m:e>
                                <m:sub>
                                  <m:r>
                                    <a:rPr lang="en-US" altLang="zh-TW" i="1">
                                      <a:latin typeface="Cambria Math"/>
                                    </a:rPr>
                                    <m:t>1</m:t>
                                  </m:r>
                                </m:sub>
                              </m:sSub>
                              <m:r>
                                <a:rPr lang="en-US" altLang="zh-TW" i="1">
                                  <a:latin typeface="Cambria Math"/>
                                </a:rPr>
                                <m:t>𝑇</m:t>
                              </m:r>
                            </m:e>
                          </m:d>
                          <m:sSup>
                            <m:sSupPr>
                              <m:ctrlPr>
                                <a:rPr lang="en-US" altLang="zh-TW" i="1">
                                  <a:latin typeface="Cambria Math" panose="02040503050406030204" pitchFamily="18" charset="0"/>
                                </a:rPr>
                              </m:ctrlPr>
                            </m:sSupPr>
                            <m:e>
                              <m:r>
                                <a:rPr lang="en-US" altLang="zh-TW" i="1">
                                  <a:latin typeface="Cambria Math"/>
                                </a:rPr>
                                <m:t>  </m:t>
                              </m:r>
                              <m:r>
                                <a:rPr lang="en-US" altLang="zh-TW" i="1">
                                  <a:latin typeface="Cambria Math"/>
                                </a:rPr>
                                <m:t>𝑒</m:t>
                              </m:r>
                            </m:e>
                            <m:sup>
                              <m:r>
                                <a:rPr lang="en-US" altLang="zh-TW" i="1">
                                  <a:latin typeface="Cambria Math"/>
                                </a:rPr>
                                <m:t>−</m:t>
                              </m:r>
                              <m:r>
                                <a:rPr lang="en-US" altLang="zh-TW" i="1">
                                  <a:latin typeface="Cambria Math"/>
                                </a:rPr>
                                <m:t>𝑟𝑇</m:t>
                              </m:r>
                            </m:sup>
                          </m:sSup>
                          <m:sSub>
                            <m:sSubPr>
                              <m:ctrlPr>
                                <a:rPr lang="en-US" altLang="zh-TW" i="1">
                                  <a:latin typeface="Cambria Math" panose="02040503050406030204" pitchFamily="18" charset="0"/>
                                </a:rPr>
                              </m:ctrlPr>
                            </m:sSubPr>
                            <m:e>
                              <m:r>
                                <a:rPr lang="en-US" altLang="zh-TW" i="1">
                                  <a:latin typeface="Cambria Math"/>
                                </a:rPr>
                                <m:t>𝐼</m:t>
                              </m:r>
                            </m:e>
                            <m:sub>
                              <m:d>
                                <m:dPr>
                                  <m:begChr m:val="{"/>
                                  <m:endChr m:val="}"/>
                                  <m:ctrlPr>
                                    <a:rPr lang="en-US" altLang="zh-TW" i="1">
                                      <a:latin typeface="Cambria Math" panose="02040503050406030204" pitchFamily="18" charset="0"/>
                                    </a:rPr>
                                  </m:ctrlPr>
                                </m:dPr>
                                <m:e>
                                  <m:r>
                                    <a:rPr lang="en-US" altLang="zh-TW" b="0" i="1" smtClean="0">
                                      <a:solidFill>
                                        <a:srgbClr val="00B0F0"/>
                                      </a:solidFill>
                                      <a:latin typeface="Cambria Math" panose="02040503050406030204" pitchFamily="18" charset="0"/>
                                    </a:rPr>
                                    <m:t>𝑆𝐵</m:t>
                                  </m:r>
                                  <m:r>
                                    <a:rPr lang="zh-TW" altLang="en-US" i="1">
                                      <a:solidFill>
                                        <a:srgbClr val="00B0F0"/>
                                      </a:solidFill>
                                      <a:latin typeface="Cambria Math" panose="02040503050406030204" pitchFamily="18" charset="0"/>
                                    </a:rPr>
                                    <m:t>拿全部</m:t>
                                  </m:r>
                                </m:e>
                              </m:d>
                              <m:r>
                                <a:rPr lang="en-US" altLang="zh-TW" i="1">
                                  <a:latin typeface="Cambria Math"/>
                                </a:rPr>
                                <m:t>  </m:t>
                              </m:r>
                            </m:sub>
                          </m:sSub>
                        </m:e>
                      </m:d>
                      <m:r>
                        <a:rPr lang="en-US" altLang="zh-TW" i="1">
                          <a:latin typeface="Cambria Math"/>
                        </a:rPr>
                        <m:t>+</m:t>
                      </m:r>
                      <m:acc>
                        <m:accPr>
                          <m:chr m:val="̃"/>
                          <m:ctrlPr>
                            <a:rPr lang="en-US" altLang="zh-TW" i="1">
                              <a:latin typeface="Cambria Math" panose="02040503050406030204" pitchFamily="18" charset="0"/>
                            </a:rPr>
                          </m:ctrlPr>
                        </m:accPr>
                        <m:e>
                          <m:r>
                            <a:rPr lang="en-US" altLang="zh-TW" i="1">
                              <a:latin typeface="Cambria Math"/>
                            </a:rPr>
                            <m:t>𝐸</m:t>
                          </m:r>
                        </m:e>
                      </m:acc>
                      <m:d>
                        <m:dPr>
                          <m:begChr m:val="{"/>
                          <m:endChr m:val="}"/>
                          <m:ctrlPr>
                            <a:rPr lang="en-US" altLang="zh-TW" i="1">
                              <a:latin typeface="Cambria Math" panose="02040503050406030204" pitchFamily="18" charset="0"/>
                            </a:rPr>
                          </m:ctrlPr>
                        </m:dPr>
                        <m:e>
                          <m:r>
                            <a:rPr lang="en-US" altLang="zh-TW" i="1">
                              <a:latin typeface="Cambria Math"/>
                            </a:rPr>
                            <m:t> </m:t>
                          </m:r>
                          <m:r>
                            <a:rPr lang="en-US" altLang="zh-TW" i="1">
                              <a:latin typeface="Cambria Math"/>
                            </a:rPr>
                            <m:t>𝑀𝑖𝑛</m:t>
                          </m:r>
                          <m:r>
                            <a:rPr lang="en-US" altLang="zh-TW" i="1">
                              <a:latin typeface="Cambria Math"/>
                            </a:rPr>
                            <m:t>[</m:t>
                          </m:r>
                          <m:sSub>
                            <m:sSubPr>
                              <m:ctrlPr>
                                <a:rPr lang="en-US" altLang="zh-TW" i="1" smtClean="0">
                                  <a:solidFill>
                                    <a:srgbClr val="FFC000"/>
                                  </a:solidFill>
                                  <a:latin typeface="Cambria Math" panose="02040503050406030204" pitchFamily="18" charset="0"/>
                                </a:rPr>
                              </m:ctrlPr>
                            </m:sSubPr>
                            <m:e>
                              <m:r>
                                <a:rPr lang="en-US" altLang="zh-TW" b="0" i="1">
                                  <a:solidFill>
                                    <a:srgbClr val="FFC000"/>
                                  </a:solidFill>
                                  <a:latin typeface="Cambria Math"/>
                                </a:rPr>
                                <m:t>𝐷</m:t>
                              </m:r>
                            </m:e>
                            <m:sub>
                              <m:r>
                                <a:rPr lang="en-US" altLang="zh-TW" b="0" i="1">
                                  <a:solidFill>
                                    <a:srgbClr val="FFC000"/>
                                  </a:solidFill>
                                  <a:latin typeface="Cambria Math"/>
                                </a:rPr>
                                <m:t>1</m:t>
                              </m:r>
                            </m:sub>
                          </m:sSub>
                          <m:r>
                            <a:rPr lang="en-US" altLang="zh-TW" b="0" i="1">
                              <a:solidFill>
                                <a:srgbClr val="FFC000"/>
                              </a:solidFill>
                              <a:latin typeface="Cambria Math"/>
                            </a:rPr>
                            <m:t>+</m:t>
                          </m:r>
                          <m:sSub>
                            <m:sSubPr>
                              <m:ctrlPr>
                                <a:rPr lang="en-US" altLang="zh-TW" i="1">
                                  <a:solidFill>
                                    <a:srgbClr val="FFC000"/>
                                  </a:solidFill>
                                  <a:latin typeface="Cambria Math" panose="02040503050406030204" pitchFamily="18" charset="0"/>
                                </a:rPr>
                              </m:ctrlPr>
                            </m:sSubPr>
                            <m:e>
                              <m:r>
                                <a:rPr lang="en-US" altLang="zh-TW" b="0" i="1">
                                  <a:solidFill>
                                    <a:srgbClr val="FFC000"/>
                                  </a:solidFill>
                                  <a:latin typeface="Cambria Math"/>
                                </a:rPr>
                                <m:t>𝐶</m:t>
                              </m:r>
                            </m:e>
                            <m:sub>
                              <m:r>
                                <a:rPr lang="en-US" altLang="zh-TW" b="0" i="1">
                                  <a:solidFill>
                                    <a:srgbClr val="FFC000"/>
                                  </a:solidFill>
                                  <a:latin typeface="Cambria Math"/>
                                </a:rPr>
                                <m:t>1</m:t>
                              </m:r>
                            </m:sub>
                          </m:sSub>
                          <m:sSub>
                            <m:sSubPr>
                              <m:ctrlPr>
                                <a:rPr lang="en-US" altLang="zh-TW" i="1">
                                  <a:solidFill>
                                    <a:srgbClr val="FFC000"/>
                                  </a:solidFill>
                                  <a:latin typeface="Cambria Math" panose="02040503050406030204" pitchFamily="18" charset="0"/>
                                </a:rPr>
                              </m:ctrlPr>
                            </m:sSubPr>
                            <m:e>
                              <m:r>
                                <a:rPr lang="en-US" altLang="zh-TW" b="0" i="1">
                                  <a:solidFill>
                                    <a:srgbClr val="FFC000"/>
                                  </a:solidFill>
                                  <a:latin typeface="Cambria Math"/>
                                </a:rPr>
                                <m:t>𝐷</m:t>
                              </m:r>
                            </m:e>
                            <m:sub>
                              <m:r>
                                <a:rPr lang="en-US" altLang="zh-TW" b="0" i="1">
                                  <a:solidFill>
                                    <a:srgbClr val="FFC000"/>
                                  </a:solidFill>
                                  <a:latin typeface="Cambria Math"/>
                                </a:rPr>
                                <m:t>1</m:t>
                              </m:r>
                            </m:sub>
                          </m:sSub>
                          <m:r>
                            <a:rPr lang="en-US" altLang="zh-TW" b="0" i="1">
                              <a:solidFill>
                                <a:srgbClr val="FFC000"/>
                              </a:solidFill>
                              <a:latin typeface="Cambria Math"/>
                            </a:rPr>
                            <m:t>𝑇</m:t>
                          </m:r>
                          <m:r>
                            <a:rPr lang="en-US" altLang="zh-TW" i="1">
                              <a:latin typeface="Cambria Math"/>
                            </a:rPr>
                            <m:t>, </m:t>
                          </m:r>
                          <m:d>
                            <m:dPr>
                              <m:ctrlPr>
                                <a:rPr lang="en-US" altLang="zh-TW" i="1">
                                  <a:solidFill>
                                    <a:srgbClr val="FF0000"/>
                                  </a:solidFill>
                                  <a:latin typeface="Cambria Math" panose="02040503050406030204" pitchFamily="18" charset="0"/>
                                </a:rPr>
                              </m:ctrlPr>
                            </m:dPr>
                            <m:e>
                              <m:r>
                                <a:rPr lang="en-US" altLang="zh-TW" i="1">
                                  <a:solidFill>
                                    <a:srgbClr val="FF0000"/>
                                  </a:solidFill>
                                  <a:latin typeface="Cambria Math"/>
                                </a:rPr>
                                <m:t>1−</m:t>
                              </m:r>
                              <m:r>
                                <a:rPr lang="zh-TW" altLang="en-US" i="1">
                                  <a:solidFill>
                                    <a:srgbClr val="FF0000"/>
                                  </a:solidFill>
                                  <a:latin typeface="Cambria Math"/>
                                </a:rPr>
                                <m:t>𝛼</m:t>
                              </m:r>
                            </m:e>
                          </m:d>
                          <m:r>
                            <a:rPr lang="en-US" altLang="zh-TW" i="1">
                              <a:solidFill>
                                <a:srgbClr val="FF0000"/>
                              </a:solidFill>
                              <a:latin typeface="Cambria Math"/>
                            </a:rPr>
                            <m:t>𝑉</m:t>
                          </m:r>
                          <m:d>
                            <m:dPr>
                              <m:ctrlPr>
                                <a:rPr lang="en-US" altLang="zh-TW" i="1">
                                  <a:solidFill>
                                    <a:srgbClr val="FF0000"/>
                                  </a:solidFill>
                                  <a:latin typeface="Cambria Math" panose="02040503050406030204" pitchFamily="18" charset="0"/>
                                </a:rPr>
                              </m:ctrlPr>
                            </m:dPr>
                            <m:e>
                              <m:r>
                                <a:rPr lang="en-US" altLang="zh-TW" i="1">
                                  <a:solidFill>
                                    <a:srgbClr val="FF0000"/>
                                  </a:solidFill>
                                  <a:latin typeface="Cambria Math"/>
                                </a:rPr>
                                <m:t>𝑇</m:t>
                              </m:r>
                            </m:e>
                          </m:d>
                          <m:r>
                            <a:rPr lang="en-US" altLang="zh-TW" i="1">
                              <a:latin typeface="Cambria Math"/>
                            </a:rPr>
                            <m:t>]</m:t>
                          </m:r>
                          <m:sSup>
                            <m:sSupPr>
                              <m:ctrlPr>
                                <a:rPr lang="en-US" altLang="zh-TW" i="1">
                                  <a:latin typeface="Cambria Math" panose="02040503050406030204" pitchFamily="18" charset="0"/>
                                </a:rPr>
                              </m:ctrlPr>
                            </m:sSupPr>
                            <m:e>
                              <m:r>
                                <a:rPr lang="en-US" altLang="zh-TW" i="1">
                                  <a:latin typeface="Cambria Math"/>
                                </a:rPr>
                                <m:t>  </m:t>
                              </m:r>
                              <m:r>
                                <a:rPr lang="en-US" altLang="zh-TW" i="1">
                                  <a:latin typeface="Cambria Math"/>
                                </a:rPr>
                                <m:t>𝑒</m:t>
                              </m:r>
                            </m:e>
                            <m:sup>
                              <m:r>
                                <a:rPr lang="en-US" altLang="zh-TW" i="1">
                                  <a:latin typeface="Cambria Math"/>
                                </a:rPr>
                                <m:t>−</m:t>
                              </m:r>
                              <m:r>
                                <a:rPr lang="en-US" altLang="zh-TW" i="1">
                                  <a:latin typeface="Cambria Math"/>
                                </a:rPr>
                                <m:t>𝑟𝑇</m:t>
                              </m:r>
                            </m:sup>
                          </m:sSup>
                          <m:sSub>
                            <m:sSubPr>
                              <m:ctrlPr>
                                <a:rPr lang="en-US" altLang="zh-TW" i="1">
                                  <a:latin typeface="Cambria Math" panose="02040503050406030204" pitchFamily="18" charset="0"/>
                                </a:rPr>
                              </m:ctrlPr>
                            </m:sSubPr>
                            <m:e>
                              <m:r>
                                <a:rPr lang="en-US" altLang="zh-TW" i="1">
                                  <a:latin typeface="Cambria Math"/>
                                </a:rPr>
                                <m:t>𝐼</m:t>
                              </m:r>
                            </m:e>
                            <m:sub>
                              <m:d>
                                <m:dPr>
                                  <m:begChr m:val="{"/>
                                  <m:endChr m:val="}"/>
                                  <m:ctrlPr>
                                    <a:rPr lang="en-US" altLang="zh-TW" i="1">
                                      <a:latin typeface="Cambria Math" panose="02040503050406030204" pitchFamily="18" charset="0"/>
                                    </a:rPr>
                                  </m:ctrlPr>
                                </m:dPr>
                                <m:e>
                                  <m:r>
                                    <a:rPr lang="en-US" altLang="zh-TW" b="0" i="1" smtClean="0">
                                      <a:solidFill>
                                        <a:srgbClr val="FF0000"/>
                                      </a:solidFill>
                                      <a:latin typeface="Cambria Math" panose="02040503050406030204" pitchFamily="18" charset="0"/>
                                    </a:rPr>
                                    <m:t>𝑆𝐵</m:t>
                                  </m:r>
                                  <m:r>
                                    <a:rPr lang="zh-TW" altLang="en-US" i="1">
                                      <a:solidFill>
                                        <a:srgbClr val="FF0000"/>
                                      </a:solidFill>
                                      <a:latin typeface="Cambria Math" panose="02040503050406030204" pitchFamily="18" charset="0"/>
                                    </a:rPr>
                                    <m:t>拿部分</m:t>
                                  </m:r>
                                </m:e>
                              </m:d>
                              <m:r>
                                <a:rPr lang="en-US" altLang="zh-TW" i="1">
                                  <a:latin typeface="Cambria Math"/>
                                </a:rPr>
                                <m:t>  </m:t>
                              </m:r>
                            </m:sub>
                          </m:sSub>
                        </m:e>
                      </m:d>
                    </m:oMath>
                  </m:oMathPara>
                </a14:m>
                <a:endParaRPr lang="zh-TW" altLang="en-US" dirty="0"/>
              </a:p>
            </p:txBody>
          </p:sp>
        </mc:Choice>
        <mc:Fallback xmlns="">
          <p:sp>
            <p:nvSpPr>
              <p:cNvPr id="4" name="矩形 3"/>
              <p:cNvSpPr>
                <a:spLocks noRot="1" noChangeAspect="1" noMove="1" noResize="1" noEditPoints="1" noAdjustHandles="1" noChangeArrowheads="1" noChangeShapeType="1" noTextEdit="1"/>
              </p:cNvSpPr>
              <p:nvPr/>
            </p:nvSpPr>
            <p:spPr>
              <a:xfrm>
                <a:off x="203635" y="3475428"/>
                <a:ext cx="12054220" cy="1370312"/>
              </a:xfrm>
              <a:prstGeom prst="rect">
                <a:avLst/>
              </a:prstGeom>
              <a:blipFill rotWithShape="0">
                <a:blip r:embed="rId1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6601488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29"/>
          <p:cNvSpPr>
            <a:spLocks noChangeArrowheads="1"/>
          </p:cNvSpPr>
          <p:nvPr/>
        </p:nvSpPr>
        <p:spPr bwMode="auto">
          <a:xfrm>
            <a:off x="1210615" y="153305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grpSp>
        <p:nvGrpSpPr>
          <p:cNvPr id="5" name="群組 4"/>
          <p:cNvGrpSpPr/>
          <p:nvPr/>
        </p:nvGrpSpPr>
        <p:grpSpPr>
          <a:xfrm>
            <a:off x="3125782" y="998437"/>
            <a:ext cx="5521324" cy="2683876"/>
            <a:chOff x="432009" y="800729"/>
            <a:chExt cx="11864005" cy="5767008"/>
          </a:xfrm>
        </p:grpSpPr>
        <p:sp>
          <p:nvSpPr>
            <p:cNvPr id="40" name="矩形 39"/>
            <p:cNvSpPr/>
            <p:nvPr/>
          </p:nvSpPr>
          <p:spPr>
            <a:xfrm>
              <a:off x="1815191" y="1717719"/>
              <a:ext cx="4763602" cy="1944187"/>
            </a:xfrm>
            <a:prstGeom prst="rect">
              <a:avLst/>
            </a:pr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p:cNvSpPr/>
            <p:nvPr/>
          </p:nvSpPr>
          <p:spPr>
            <a:xfrm>
              <a:off x="6602042" y="1717719"/>
              <a:ext cx="4064307" cy="1944187"/>
            </a:xfrm>
            <a:prstGeom prst="rect">
              <a:avLst/>
            </a:prstGeom>
            <a:solidFill>
              <a:srgbClr val="51DF7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p:cNvSpPr/>
            <p:nvPr/>
          </p:nvSpPr>
          <p:spPr>
            <a:xfrm>
              <a:off x="1845116" y="3661906"/>
              <a:ext cx="7094327" cy="2419629"/>
            </a:xfrm>
            <a:prstGeom prst="rect">
              <a:avLst/>
            </a:prstGeom>
            <a:solidFill>
              <a:srgbClr val="5B9BD5">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7" name="Group 7"/>
            <p:cNvGrpSpPr>
              <a:grpSpLocks/>
            </p:cNvGrpSpPr>
            <p:nvPr/>
          </p:nvGrpSpPr>
          <p:grpSpPr bwMode="auto">
            <a:xfrm>
              <a:off x="2162450" y="1637697"/>
              <a:ext cx="9417982" cy="4184783"/>
              <a:chOff x="1810" y="7721"/>
              <a:chExt cx="8776" cy="4627"/>
            </a:xfrm>
          </p:grpSpPr>
          <p:sp>
            <p:nvSpPr>
              <p:cNvPr id="30" name="Text Box 19"/>
              <p:cNvSpPr txBox="1">
                <a:spLocks noChangeArrowheads="1"/>
              </p:cNvSpPr>
              <p:nvPr/>
            </p:nvSpPr>
            <p:spPr bwMode="auto">
              <a:xfrm>
                <a:off x="9647" y="11594"/>
                <a:ext cx="939" cy="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TW" sz="1200" b="0" i="0" u="none" strike="noStrike" cap="none" normalizeH="0" baseline="0" smtClean="0">
                    <a:ln>
                      <a:noFill/>
                    </a:ln>
                    <a:solidFill>
                      <a:schemeClr val="tx1"/>
                    </a:solidFill>
                    <a:effectLst/>
                    <a:latin typeface="Calibri" panose="020F0502020204030204" pitchFamily="34" charset="0"/>
                    <a:ea typeface="新細明體" panose="02020500000000000000" pitchFamily="18" charset="-120"/>
                    <a:cs typeface="Times New Roman" panose="02020603050405020304" pitchFamily="18" charset="0"/>
                  </a:rPr>
                  <a:t>        </a:t>
                </a:r>
                <a:endParaRPr kumimoji="0" lang="en-US" altLang="zh-TW" sz="1800" b="0" i="0" u="none" strike="noStrike" cap="none" normalizeH="0" baseline="0" smtClean="0">
                  <a:ln>
                    <a:noFill/>
                  </a:ln>
                  <a:solidFill>
                    <a:schemeClr val="tx1"/>
                  </a:solidFill>
                  <a:effectLst/>
                  <a:latin typeface="Arial" panose="020B0604020202020204" pitchFamily="34" charset="0"/>
                </a:endParaRPr>
              </a:p>
            </p:txBody>
          </p:sp>
          <p:sp>
            <p:nvSpPr>
              <p:cNvPr id="31" name="Text Box 18"/>
              <p:cNvSpPr txBox="1">
                <a:spLocks noChangeArrowheads="1"/>
              </p:cNvSpPr>
              <p:nvPr/>
            </p:nvSpPr>
            <p:spPr bwMode="auto">
              <a:xfrm>
                <a:off x="1810" y="7721"/>
                <a:ext cx="939" cy="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TW" sz="1200" b="0" i="0" u="none" strike="noStrike" cap="none" normalizeH="0" baseline="0" smtClean="0">
                    <a:ln>
                      <a:noFill/>
                    </a:ln>
                    <a:solidFill>
                      <a:schemeClr val="tx1"/>
                    </a:solidFill>
                    <a:effectLst/>
                    <a:latin typeface="Calibri" panose="020F0502020204030204" pitchFamily="34" charset="0"/>
                    <a:ea typeface="新細明體" panose="02020500000000000000" pitchFamily="18" charset="-120"/>
                    <a:cs typeface="Times New Roman" panose="02020603050405020304" pitchFamily="18" charset="0"/>
                  </a:rPr>
                  <a:t>      </a:t>
                </a:r>
                <a:endParaRPr kumimoji="0" lang="en-US" altLang="zh-TW" sz="1800" b="0" i="0" u="none" strike="noStrike" cap="none" normalizeH="0" baseline="0" smtClean="0">
                  <a:ln>
                    <a:noFill/>
                  </a:ln>
                  <a:solidFill>
                    <a:schemeClr val="tx1"/>
                  </a:solidFill>
                  <a:effectLst/>
                  <a:latin typeface="Arial" panose="020B0604020202020204" pitchFamily="34" charset="0"/>
                </a:endParaRPr>
              </a:p>
            </p:txBody>
          </p:sp>
          <p:sp>
            <p:nvSpPr>
              <p:cNvPr id="36" name="Text Box 11"/>
              <p:cNvSpPr txBox="1">
                <a:spLocks noChangeArrowheads="1"/>
              </p:cNvSpPr>
              <p:nvPr/>
            </p:nvSpPr>
            <p:spPr bwMode="auto">
              <a:xfrm>
                <a:off x="3000" y="10232"/>
                <a:ext cx="1819" cy="2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TW" sz="1100" b="1" i="0" u="none" strike="noStrike" cap="none" normalizeH="0" baseline="0" dirty="0" smtClean="0">
                    <a:ln>
                      <a:noFill/>
                    </a:ln>
                    <a:solidFill>
                      <a:schemeClr val="accent4"/>
                    </a:solidFill>
                    <a:effectLst/>
                    <a:latin typeface="微軟正黑體" panose="020B0604030504040204" pitchFamily="34" charset="-120"/>
                    <a:ea typeface="微軟正黑體" panose="020B0604030504040204" pitchFamily="34" charset="-120"/>
                    <a:cs typeface="Times New Roman" panose="02020603050405020304" pitchFamily="18" charset="0"/>
                  </a:rPr>
                  <a:t>破 產 </a:t>
                </a:r>
                <a:endParaRPr kumimoji="0" lang="zh-TW" sz="1100" b="1" i="0" u="none" strike="noStrike" cap="none" normalizeH="0" baseline="0" dirty="0" smtClean="0">
                  <a:ln>
                    <a:noFill/>
                  </a:ln>
                  <a:solidFill>
                    <a:schemeClr val="accent4"/>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1100" b="1" i="0" u="none" strike="noStrike" cap="none" normalizeH="0" baseline="0" dirty="0" smtClean="0">
                    <a:ln>
                      <a:noFill/>
                    </a:ln>
                    <a:solidFill>
                      <a:schemeClr val="accent4"/>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1100" b="1" i="0" u="none" strike="noStrike" cap="none" normalizeH="0" baseline="0" dirty="0" smtClean="0">
                  <a:ln>
                    <a:noFill/>
                  </a:ln>
                  <a:solidFill>
                    <a:schemeClr val="accent4"/>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100" b="1" i="0" u="none" strike="noStrike" cap="none" normalizeH="0" baseline="0" dirty="0" smtClean="0">
                    <a:ln>
                      <a:noFill/>
                    </a:ln>
                    <a:solidFill>
                      <a:schemeClr val="accent4"/>
                    </a:solidFill>
                    <a:effectLst/>
                    <a:latin typeface="微軟正黑體" panose="020B0604030504040204" pitchFamily="34" charset="-120"/>
                    <a:ea typeface="微軟正黑體" panose="020B0604030504040204" pitchFamily="34" charset="-120"/>
                  </a:rPr>
                  <a:t>CC</a:t>
                </a:r>
                <a:r>
                  <a:rPr kumimoji="0" lang="zh-TW" altLang="en-US" sz="1100" b="1" i="0" u="none" strike="noStrike" cap="none" normalizeH="0" baseline="0" dirty="0" smtClean="0">
                    <a:ln>
                      <a:noFill/>
                    </a:ln>
                    <a:solidFill>
                      <a:schemeClr val="accent4"/>
                    </a:solidFill>
                    <a:effectLst/>
                    <a:latin typeface="微軟正黑體" panose="020B0604030504040204" pitchFamily="34" charset="-120"/>
                    <a:ea typeface="微軟正黑體" panose="020B0604030504040204" pitchFamily="34" charset="-120"/>
                  </a:rPr>
                  <a:t>已轉換</a:t>
                </a:r>
                <a:endParaRPr kumimoji="0" lang="zh-TW" sz="1100" b="1" i="0" u="none" strike="noStrike" cap="none" normalizeH="0" baseline="0" dirty="0" smtClean="0">
                  <a:ln>
                    <a:noFill/>
                  </a:ln>
                  <a:solidFill>
                    <a:schemeClr val="accent4"/>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100" b="1" i="0" u="none" strike="noStrike" cap="none" normalizeH="0" baseline="0" dirty="0" smtClean="0">
                    <a:ln>
                      <a:noFill/>
                    </a:ln>
                    <a:solidFill>
                      <a:schemeClr val="accent4"/>
                    </a:solidFill>
                    <a:effectLst/>
                    <a:latin typeface="微軟正黑體" panose="020B0604030504040204" pitchFamily="34" charset="-120"/>
                    <a:ea typeface="微軟正黑體" panose="020B0604030504040204" pitchFamily="34" charset="-120"/>
                    <a:cs typeface="Times New Roman" panose="02020603050405020304" pitchFamily="18" charset="0"/>
                  </a:rPr>
                  <a:t>SB</a:t>
                </a:r>
                <a:r>
                  <a:rPr kumimoji="0" lang="zh-TW" altLang="en-US" sz="1100" b="1" i="0" u="none" strike="noStrike" cap="none" normalizeH="0" baseline="0" dirty="0" smtClean="0">
                    <a:ln>
                      <a:noFill/>
                    </a:ln>
                    <a:solidFill>
                      <a:schemeClr val="accent4"/>
                    </a:solidFill>
                    <a:effectLst/>
                    <a:latin typeface="微軟正黑體" panose="020B0604030504040204" pitchFamily="34" charset="-120"/>
                    <a:ea typeface="微軟正黑體" panose="020B0604030504040204" pitchFamily="34" charset="-120"/>
                    <a:cs typeface="Times New Roman" panose="02020603050405020304" pitchFamily="18" charset="0"/>
                  </a:rPr>
                  <a:t>拿全部</a:t>
                </a:r>
                <a:endParaRPr kumimoji="0" lang="en-US" altLang="zh-TW" sz="1100" b="1" i="0" u="none" strike="noStrike" cap="none" normalizeH="0" baseline="0" dirty="0" smtClean="0">
                  <a:ln>
                    <a:noFill/>
                  </a:ln>
                  <a:solidFill>
                    <a:schemeClr val="accent4"/>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1100" b="1" dirty="0" smtClean="0">
                    <a:solidFill>
                      <a:schemeClr val="accent4"/>
                    </a:solidFill>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1100" b="1" dirty="0" smtClean="0">
                    <a:solidFill>
                      <a:schemeClr val="accent4"/>
                    </a:solidFill>
                    <a:latin typeface="微軟正黑體" panose="020B0604030504040204" pitchFamily="34" charset="-120"/>
                    <a:ea typeface="微軟正黑體" panose="020B0604030504040204" pitchFamily="34" charset="-120"/>
                    <a:cs typeface="Times New Roman" panose="02020603050405020304" pitchFamily="18" charset="0"/>
                  </a:rPr>
                  <a:t>拿部分</a:t>
                </a:r>
                <a:endParaRPr kumimoji="0" lang="zh-TW" altLang="en-US" sz="1100" b="1" i="0" u="none" strike="noStrike" cap="none" normalizeH="0" baseline="0" dirty="0" smtClean="0">
                  <a:ln>
                    <a:noFill/>
                  </a:ln>
                  <a:solidFill>
                    <a:schemeClr val="accent4"/>
                  </a:solidFill>
                  <a:effectLst/>
                  <a:latin typeface="微軟正黑體" panose="020B0604030504040204" pitchFamily="34" charset="-120"/>
                  <a:ea typeface="微軟正黑體" panose="020B0604030504040204" pitchFamily="34" charset="-120"/>
                </a:endParaRPr>
              </a:p>
            </p:txBody>
          </p:sp>
        </p:grpSp>
        <mc:AlternateContent xmlns:mc="http://schemas.openxmlformats.org/markup-compatibility/2006" xmlns:a14="http://schemas.microsoft.com/office/drawing/2010/main">
          <mc:Choice Requires="a14">
            <p:graphicFrame>
              <p:nvGraphicFramePr>
                <p:cNvPr id="46" name="物件 45"/>
                <p:cNvGraphicFramePr>
                  <a:graphicFrameLocks noChangeAspect="1"/>
                </p:cNvGraphicFramePr>
                <p:nvPr>
                  <p:extLst/>
                </p:nvPr>
              </p:nvGraphicFramePr>
              <p:xfrm>
                <a:off x="9967548" y="6218980"/>
                <a:ext cx="603618" cy="348757"/>
              </p:xfrm>
              <a:graphic>
                <a:graphicData uri="http://schemas.openxmlformats.org/presentationml/2006/ole">
                  <mc:AlternateContent>
                    <mc:Choice xmlns:v="urn:schemas-microsoft-com:vml" Requires="v">
                      <p:oleObj spid="_x0000_s11331" r:id="rId3" imgW="355292" imgH="203024" progId="Equation.DSMT4">
                        <p:embed/>
                      </p:oleObj>
                    </mc:Choice>
                    <mc:Fallback>
                      <p:oleObj r:id="rId3" imgW="355292" imgH="203024" progId="Equation.DSMT4">
                        <p:embed/>
                        <p:pic>
                          <p:nvPicPr>
                            <p:cNvPr id="0" name=""/>
                            <p:cNvPicPr>
                              <a:picLocks noChangeAspect="1" noChangeArrowheads="1"/>
                            </p:cNvPicPr>
                            <p:nvPr/>
                          </p:nvPicPr>
                          <p:blipFill>
                            <a:blip r:embed="rId4">
                              <a:extLst>
                                <a:ext uri="{28A0092B-C50C-407E-A947-70E740481C1C}">
                                  <a14:useLocalDpi val="0"/>
                                </a:ext>
                              </a:extLst>
                            </a:blip>
                            <a:srcRect/>
                            <a:stretch>
                              <a:fillRect/>
                            </a:stretch>
                          </p:blipFill>
                          <p:spPr bwMode="auto">
                            <a:xfrm>
                              <a:off x="9967548" y="6218980"/>
                              <a:ext cx="603618" cy="348757"/>
                            </a:xfrm>
                            <a:prstGeom prst="rect">
                              <a:avLst/>
                            </a:prstGeom>
                            <a:noFill/>
                          </p:spPr>
                        </p:pic>
                      </p:oleObj>
                    </mc:Fallback>
                  </mc:AlternateContent>
                </a:graphicData>
              </a:graphic>
            </p:graphicFrame>
          </mc:Choice>
          <mc:Fallback xmlns="">
            <p:graphicFrame>
              <p:nvGraphicFramePr>
                <p:cNvPr id="46" name="物件 45"/>
                <p:cNvGraphicFramePr>
                  <a:graphicFrameLocks noChangeAspect="1"/>
                </p:cNvGraphicFramePr>
                <p:nvPr>
                  <p:extLst/>
                </p:nvPr>
              </p:nvGraphicFramePr>
              <p:xfrm>
                <a:off x="9967548" y="6218980"/>
                <a:ext cx="603618" cy="348757"/>
              </p:xfrm>
              <a:graphic>
                <a:graphicData uri="http://schemas.openxmlformats.org/presentationml/2006/ole">
                  <mc:AlternateContent>
                    <mc:Choice xmlns:v="urn:schemas-microsoft-com:vml" Requires="v">
                      <p:oleObj spid="_x0000_s6152" r:id="rId5" imgW="355292" imgH="203024" progId="Equation.DSMT4">
                        <p:embed/>
                      </p:oleObj>
                    </mc:Choice>
                    <mc:Fallback>
                      <p:oleObj r:id="rId5" imgW="355292" imgH="203024"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67548" y="6218980"/>
                              <a:ext cx="603618" cy="348757"/>
                            </a:xfrm>
                            <a:prstGeom prst="rect">
                              <a:avLst/>
                            </a:prstGeom>
                            <a:noFill/>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50" name="文字方塊 49"/>
                <p:cNvSpPr txBox="1"/>
                <p:nvPr/>
              </p:nvSpPr>
              <p:spPr>
                <a:xfrm>
                  <a:off x="1381188" y="6218980"/>
                  <a:ext cx="2919257" cy="2976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TW" sz="900" b="0" i="1" smtClean="0">
                                <a:solidFill>
                                  <a:srgbClr val="00B0F0"/>
                                </a:solidFill>
                                <a:latin typeface="Cambria Math" panose="02040503050406030204" pitchFamily="18" charset="0"/>
                              </a:rPr>
                            </m:ctrlPr>
                          </m:dPr>
                          <m:e>
                            <m:r>
                              <a:rPr lang="en-US" altLang="zh-TW" sz="900" b="0" i="1" smtClean="0">
                                <a:solidFill>
                                  <a:srgbClr val="00B0F0"/>
                                </a:solidFill>
                                <a:latin typeface="Cambria Math" panose="02040503050406030204" pitchFamily="18" charset="0"/>
                              </a:rPr>
                              <m:t>1−</m:t>
                            </m:r>
                            <m:r>
                              <a:rPr lang="zh-TW" altLang="en-US" sz="900" b="0" i="1" smtClean="0">
                                <a:solidFill>
                                  <a:srgbClr val="00B0F0"/>
                                </a:solidFill>
                                <a:latin typeface="Cambria Math" panose="02040503050406030204" pitchFamily="18" charset="0"/>
                              </a:rPr>
                              <m:t>𝛼</m:t>
                            </m:r>
                          </m:e>
                        </m:d>
                        <m:r>
                          <a:rPr lang="en-US" altLang="zh-TW" sz="900" b="0" i="1" smtClean="0">
                            <a:solidFill>
                              <a:srgbClr val="00B0F0"/>
                            </a:solidFill>
                            <a:latin typeface="Cambria Math" panose="02040503050406030204" pitchFamily="18" charset="0"/>
                          </a:rPr>
                          <m:t>𝑉</m:t>
                        </m:r>
                        <m:d>
                          <m:dPr>
                            <m:ctrlPr>
                              <a:rPr lang="en-US" altLang="zh-TW" sz="900" b="0" i="1" smtClean="0">
                                <a:solidFill>
                                  <a:srgbClr val="00B0F0"/>
                                </a:solidFill>
                                <a:latin typeface="Cambria Math" panose="02040503050406030204" pitchFamily="18" charset="0"/>
                              </a:rPr>
                            </m:ctrlPr>
                          </m:dPr>
                          <m:e>
                            <m:r>
                              <a:rPr lang="en-US" altLang="zh-TW" sz="900" b="0" i="1" smtClean="0">
                                <a:solidFill>
                                  <a:srgbClr val="00B0F0"/>
                                </a:solidFill>
                                <a:latin typeface="Cambria Math" panose="02040503050406030204" pitchFamily="18" charset="0"/>
                              </a:rPr>
                              <m:t>𝑇</m:t>
                            </m:r>
                          </m:e>
                        </m:d>
                        <m:r>
                          <a:rPr lang="en-US" altLang="zh-TW" sz="900" b="0" i="1" smtClean="0">
                            <a:solidFill>
                              <a:srgbClr val="00B0F0"/>
                            </a:solidFill>
                            <a:latin typeface="Cambria Math" panose="02040503050406030204" pitchFamily="18" charset="0"/>
                          </a:rPr>
                          <m:t>=</m:t>
                        </m:r>
                        <m:sSub>
                          <m:sSubPr>
                            <m:ctrlPr>
                              <a:rPr lang="en-US" altLang="zh-TW" sz="900" i="1" smtClean="0">
                                <a:solidFill>
                                  <a:srgbClr val="00B0F0"/>
                                </a:solidFill>
                                <a:latin typeface="Cambria Math" panose="02040503050406030204" pitchFamily="18" charset="0"/>
                              </a:rPr>
                            </m:ctrlPr>
                          </m:sSubPr>
                          <m:e>
                            <m:r>
                              <a:rPr lang="en-US" altLang="zh-TW" sz="900" i="1">
                                <a:solidFill>
                                  <a:srgbClr val="00B0F0"/>
                                </a:solidFill>
                                <a:latin typeface="Cambria Math"/>
                              </a:rPr>
                              <m:t>𝐷</m:t>
                            </m:r>
                          </m:e>
                          <m:sub>
                            <m:r>
                              <a:rPr lang="en-US" altLang="zh-TW" sz="900" i="1">
                                <a:solidFill>
                                  <a:srgbClr val="00B0F0"/>
                                </a:solidFill>
                                <a:latin typeface="Cambria Math"/>
                              </a:rPr>
                              <m:t>1</m:t>
                            </m:r>
                          </m:sub>
                        </m:sSub>
                        <m:r>
                          <a:rPr lang="en-US" altLang="zh-TW" sz="900" i="1">
                            <a:solidFill>
                              <a:srgbClr val="00B0F0"/>
                            </a:solidFill>
                            <a:latin typeface="Cambria Math"/>
                          </a:rPr>
                          <m:t>+</m:t>
                        </m:r>
                        <m:sSub>
                          <m:sSubPr>
                            <m:ctrlPr>
                              <a:rPr lang="en-US" altLang="zh-TW" sz="900" i="1">
                                <a:solidFill>
                                  <a:srgbClr val="00B0F0"/>
                                </a:solidFill>
                                <a:latin typeface="Cambria Math" panose="02040503050406030204" pitchFamily="18" charset="0"/>
                              </a:rPr>
                            </m:ctrlPr>
                          </m:sSubPr>
                          <m:e>
                            <m:r>
                              <a:rPr lang="en-US" altLang="zh-TW" sz="900" i="1">
                                <a:solidFill>
                                  <a:srgbClr val="00B0F0"/>
                                </a:solidFill>
                                <a:latin typeface="Cambria Math"/>
                              </a:rPr>
                              <m:t>𝐶</m:t>
                            </m:r>
                          </m:e>
                          <m:sub>
                            <m:r>
                              <a:rPr lang="en-US" altLang="zh-TW" sz="900" i="1">
                                <a:solidFill>
                                  <a:srgbClr val="00B0F0"/>
                                </a:solidFill>
                                <a:latin typeface="Cambria Math"/>
                              </a:rPr>
                              <m:t>1</m:t>
                            </m:r>
                          </m:sub>
                        </m:sSub>
                        <m:sSub>
                          <m:sSubPr>
                            <m:ctrlPr>
                              <a:rPr lang="en-US" altLang="zh-TW" sz="900" i="1">
                                <a:solidFill>
                                  <a:srgbClr val="00B0F0"/>
                                </a:solidFill>
                                <a:latin typeface="Cambria Math" panose="02040503050406030204" pitchFamily="18" charset="0"/>
                              </a:rPr>
                            </m:ctrlPr>
                          </m:sSubPr>
                          <m:e>
                            <m:r>
                              <a:rPr lang="en-US" altLang="zh-TW" sz="900" i="1">
                                <a:solidFill>
                                  <a:srgbClr val="00B0F0"/>
                                </a:solidFill>
                                <a:latin typeface="Cambria Math"/>
                              </a:rPr>
                              <m:t>𝐷</m:t>
                            </m:r>
                          </m:e>
                          <m:sub>
                            <m:r>
                              <a:rPr lang="en-US" altLang="zh-TW" sz="900" i="1">
                                <a:solidFill>
                                  <a:srgbClr val="00B0F0"/>
                                </a:solidFill>
                                <a:latin typeface="Cambria Math"/>
                              </a:rPr>
                              <m:t>1</m:t>
                            </m:r>
                          </m:sub>
                        </m:sSub>
                        <m:r>
                          <a:rPr lang="en-US" altLang="zh-TW" sz="900" i="1">
                            <a:solidFill>
                              <a:srgbClr val="00B0F0"/>
                            </a:solidFill>
                            <a:latin typeface="Cambria Math"/>
                          </a:rPr>
                          <m:t>𝑇</m:t>
                        </m:r>
                      </m:oMath>
                    </m:oMathPara>
                  </a14:m>
                  <a:endParaRPr lang="zh-TW" altLang="en-US" sz="900" dirty="0">
                    <a:solidFill>
                      <a:srgbClr val="00B0F0"/>
                    </a:solidFill>
                  </a:endParaRPr>
                </a:p>
              </p:txBody>
            </p:sp>
          </mc:Choice>
          <mc:Fallback xmlns="">
            <p:sp>
              <p:nvSpPr>
                <p:cNvPr id="50" name="文字方塊 49"/>
                <p:cNvSpPr txBox="1">
                  <a:spLocks noRot="1" noChangeAspect="1" noMove="1" noResize="1" noEditPoints="1" noAdjustHandles="1" noChangeArrowheads="1" noChangeShapeType="1" noTextEdit="1"/>
                </p:cNvSpPr>
                <p:nvPr/>
              </p:nvSpPr>
              <p:spPr>
                <a:xfrm>
                  <a:off x="1381188" y="6218980"/>
                  <a:ext cx="2919257" cy="297601"/>
                </a:xfrm>
                <a:prstGeom prst="rect">
                  <a:avLst/>
                </a:prstGeom>
                <a:blipFill rotWithShape="0">
                  <a:blip r:embed="rId7"/>
                  <a:stretch>
                    <a:fillRect r="-1794" b="-1739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文字方塊 51"/>
                <p:cNvSpPr txBox="1"/>
                <p:nvPr/>
              </p:nvSpPr>
              <p:spPr>
                <a:xfrm>
                  <a:off x="4621296" y="6186863"/>
                  <a:ext cx="5181599" cy="29760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900" b="0" i="1" smtClean="0">
                            <a:latin typeface="Cambria Math" panose="02040503050406030204" pitchFamily="18" charset="0"/>
                          </a:rPr>
                          <m:t>𝑉</m:t>
                        </m:r>
                        <m:d>
                          <m:dPr>
                            <m:ctrlPr>
                              <a:rPr lang="en-US" altLang="zh-TW" sz="900" b="0" i="1" smtClean="0">
                                <a:latin typeface="Cambria Math" panose="02040503050406030204" pitchFamily="18" charset="0"/>
                              </a:rPr>
                            </m:ctrlPr>
                          </m:dPr>
                          <m:e>
                            <m:r>
                              <a:rPr lang="en-US" altLang="zh-TW" sz="900" b="0" i="1" smtClean="0">
                                <a:latin typeface="Cambria Math" panose="02040503050406030204" pitchFamily="18" charset="0"/>
                              </a:rPr>
                              <m:t>𝑇</m:t>
                            </m:r>
                          </m:e>
                        </m:d>
                        <m:r>
                          <a:rPr lang="en-US" altLang="zh-TW" sz="900" b="0" i="1" smtClean="0">
                            <a:latin typeface="Cambria Math" panose="02040503050406030204" pitchFamily="18" charset="0"/>
                          </a:rPr>
                          <m:t>=</m:t>
                        </m:r>
                        <m:sSub>
                          <m:sSubPr>
                            <m:ctrlPr>
                              <a:rPr lang="en-US" altLang="zh-TW" sz="900" i="1">
                                <a:latin typeface="Cambria Math" panose="02040503050406030204" pitchFamily="18" charset="0"/>
                              </a:rPr>
                            </m:ctrlPr>
                          </m:sSubPr>
                          <m:e>
                            <m:r>
                              <a:rPr lang="en-US" altLang="zh-TW" sz="900" i="1">
                                <a:latin typeface="Cambria Math"/>
                              </a:rPr>
                              <m:t>𝐷</m:t>
                            </m:r>
                          </m:e>
                          <m:sub>
                            <m:r>
                              <a:rPr lang="en-US" altLang="zh-TW" sz="900" i="1">
                                <a:latin typeface="Cambria Math"/>
                              </a:rPr>
                              <m:t>1</m:t>
                            </m:r>
                          </m:sub>
                        </m:sSub>
                        <m:r>
                          <a:rPr lang="en-US" altLang="zh-TW" sz="900" i="1">
                            <a:latin typeface="Cambria Math"/>
                          </a:rPr>
                          <m:t>+</m:t>
                        </m:r>
                        <m:sSub>
                          <m:sSubPr>
                            <m:ctrlPr>
                              <a:rPr lang="en-US" altLang="zh-TW" sz="900" i="1">
                                <a:latin typeface="Cambria Math" panose="02040503050406030204" pitchFamily="18" charset="0"/>
                              </a:rPr>
                            </m:ctrlPr>
                          </m:sSubPr>
                          <m:e>
                            <m:r>
                              <a:rPr lang="en-US" altLang="zh-TW" sz="900" i="1">
                                <a:latin typeface="Cambria Math"/>
                              </a:rPr>
                              <m:t>𝐷</m:t>
                            </m:r>
                          </m:e>
                          <m:sub>
                            <m:r>
                              <a:rPr lang="en-US" altLang="zh-TW" sz="900" i="1">
                                <a:latin typeface="Cambria Math"/>
                              </a:rPr>
                              <m:t>2</m:t>
                            </m:r>
                          </m:sub>
                        </m:sSub>
                        <m:r>
                          <a:rPr lang="en-US" altLang="zh-TW" sz="900" i="1">
                            <a:latin typeface="Cambria Math" panose="02040503050406030204" pitchFamily="18" charset="0"/>
                          </a:rPr>
                          <m:t>+(1−</m:t>
                        </m:r>
                        <m:r>
                          <a:rPr lang="en-US" altLang="zh-TW" sz="900" i="1">
                            <a:latin typeface="Cambria Math" panose="02040503050406030204" pitchFamily="18" charset="0"/>
                          </a:rPr>
                          <m:t>𝑡𝑎𝑥</m:t>
                        </m:r>
                        <m:r>
                          <a:rPr lang="en-US" altLang="zh-TW" sz="900" i="1">
                            <a:latin typeface="Cambria Math" panose="02040503050406030204" pitchFamily="18" charset="0"/>
                          </a:rPr>
                          <m:t>)(</m:t>
                        </m:r>
                        <m:sSub>
                          <m:sSubPr>
                            <m:ctrlPr>
                              <a:rPr lang="en-US" altLang="zh-TW" sz="900" i="1">
                                <a:latin typeface="Cambria Math" panose="02040503050406030204" pitchFamily="18" charset="0"/>
                              </a:rPr>
                            </m:ctrlPr>
                          </m:sSubPr>
                          <m:e>
                            <m:r>
                              <a:rPr lang="en-US" altLang="zh-TW" sz="900" i="1">
                                <a:latin typeface="Cambria Math"/>
                              </a:rPr>
                              <m:t>𝐶</m:t>
                            </m:r>
                          </m:e>
                          <m:sub>
                            <m:r>
                              <a:rPr lang="en-US" altLang="zh-TW" sz="900" i="1">
                                <a:latin typeface="Cambria Math"/>
                              </a:rPr>
                              <m:t>1</m:t>
                            </m:r>
                          </m:sub>
                        </m:sSub>
                        <m:sSub>
                          <m:sSubPr>
                            <m:ctrlPr>
                              <a:rPr lang="en-US" altLang="zh-TW" sz="900" i="1">
                                <a:latin typeface="Cambria Math" panose="02040503050406030204" pitchFamily="18" charset="0"/>
                              </a:rPr>
                            </m:ctrlPr>
                          </m:sSubPr>
                          <m:e>
                            <m:r>
                              <a:rPr lang="en-US" altLang="zh-TW" sz="900" i="1">
                                <a:latin typeface="Cambria Math"/>
                              </a:rPr>
                              <m:t>𝐷</m:t>
                            </m:r>
                          </m:e>
                          <m:sub>
                            <m:r>
                              <a:rPr lang="en-US" altLang="zh-TW" sz="900" i="1">
                                <a:latin typeface="Cambria Math"/>
                              </a:rPr>
                              <m:t>1</m:t>
                            </m:r>
                          </m:sub>
                        </m:sSub>
                        <m:r>
                          <a:rPr lang="en-US" altLang="zh-TW" sz="900" i="1">
                            <a:latin typeface="Cambria Math"/>
                          </a:rPr>
                          <m:t>𝑇</m:t>
                        </m:r>
                        <m:r>
                          <a:rPr lang="en-US" altLang="zh-TW" sz="900" i="1">
                            <a:latin typeface="Cambria Math"/>
                          </a:rPr>
                          <m:t>+</m:t>
                        </m:r>
                        <m:sSub>
                          <m:sSubPr>
                            <m:ctrlPr>
                              <a:rPr lang="en-US" altLang="zh-TW" sz="900" i="1">
                                <a:latin typeface="Cambria Math" panose="02040503050406030204" pitchFamily="18" charset="0"/>
                              </a:rPr>
                            </m:ctrlPr>
                          </m:sSubPr>
                          <m:e>
                            <m:r>
                              <a:rPr lang="en-US" altLang="zh-TW" sz="900" i="1">
                                <a:latin typeface="Cambria Math"/>
                              </a:rPr>
                              <m:t>𝐶</m:t>
                            </m:r>
                          </m:e>
                          <m:sub>
                            <m:r>
                              <a:rPr lang="en-US" altLang="zh-TW" sz="900" i="1">
                                <a:latin typeface="Cambria Math"/>
                              </a:rPr>
                              <m:t>2</m:t>
                            </m:r>
                          </m:sub>
                        </m:sSub>
                        <m:sSub>
                          <m:sSubPr>
                            <m:ctrlPr>
                              <a:rPr lang="en-US" altLang="zh-TW" sz="900" i="1">
                                <a:latin typeface="Cambria Math" panose="02040503050406030204" pitchFamily="18" charset="0"/>
                              </a:rPr>
                            </m:ctrlPr>
                          </m:sSubPr>
                          <m:e>
                            <m:r>
                              <a:rPr lang="en-US" altLang="zh-TW" sz="900" i="1">
                                <a:latin typeface="Cambria Math"/>
                              </a:rPr>
                              <m:t>𝐷</m:t>
                            </m:r>
                          </m:e>
                          <m:sub>
                            <m:r>
                              <a:rPr lang="en-US" altLang="zh-TW" sz="900" i="1">
                                <a:latin typeface="Cambria Math"/>
                              </a:rPr>
                              <m:t>2</m:t>
                            </m:r>
                          </m:sub>
                        </m:sSub>
                        <m:r>
                          <a:rPr lang="en-US" altLang="zh-TW" sz="900" i="1">
                            <a:latin typeface="Cambria Math"/>
                          </a:rPr>
                          <m:t>𝑇</m:t>
                        </m:r>
                        <m:r>
                          <a:rPr lang="en-US" altLang="zh-TW" sz="900" i="1">
                            <a:latin typeface="Cambria Math" panose="02040503050406030204" pitchFamily="18" charset="0"/>
                          </a:rPr>
                          <m:t>)</m:t>
                        </m:r>
                      </m:oMath>
                    </m:oMathPara>
                  </a14:m>
                  <a:endParaRPr lang="zh-TW" altLang="en-US" sz="900" dirty="0"/>
                </a:p>
              </p:txBody>
            </p:sp>
          </mc:Choice>
          <mc:Fallback xmlns="">
            <p:sp>
              <p:nvSpPr>
                <p:cNvPr id="52" name="文字方塊 51"/>
                <p:cNvSpPr txBox="1">
                  <a:spLocks noRot="1" noChangeAspect="1" noMove="1" noResize="1" noEditPoints="1" noAdjustHandles="1" noChangeArrowheads="1" noChangeShapeType="1" noTextEdit="1"/>
                </p:cNvSpPr>
                <p:nvPr/>
              </p:nvSpPr>
              <p:spPr>
                <a:xfrm>
                  <a:off x="4621296" y="6186863"/>
                  <a:ext cx="5181599" cy="297601"/>
                </a:xfrm>
                <a:prstGeom prst="rect">
                  <a:avLst/>
                </a:prstGeom>
                <a:blipFill rotWithShape="0">
                  <a:blip r:embed="rId8"/>
                  <a:stretch>
                    <a:fillRect b="-3478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文字方塊 52"/>
                <p:cNvSpPr txBox="1"/>
                <p:nvPr/>
              </p:nvSpPr>
              <p:spPr>
                <a:xfrm>
                  <a:off x="432009" y="3486440"/>
                  <a:ext cx="1284510" cy="2976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900" b="0" i="1" smtClean="0">
                            <a:solidFill>
                              <a:schemeClr val="accent6"/>
                            </a:solidFill>
                            <a:latin typeface="Cambria Math" panose="02040503050406030204" pitchFamily="18" charset="0"/>
                          </a:rPr>
                          <m:t>𝐼</m:t>
                        </m:r>
                        <m:d>
                          <m:dPr>
                            <m:ctrlPr>
                              <a:rPr lang="en-US" altLang="zh-TW" sz="900" b="0" i="1" smtClean="0">
                                <a:solidFill>
                                  <a:schemeClr val="accent6"/>
                                </a:solidFill>
                                <a:latin typeface="Cambria Math" panose="02040503050406030204" pitchFamily="18" charset="0"/>
                              </a:rPr>
                            </m:ctrlPr>
                          </m:dPr>
                          <m:e>
                            <m:r>
                              <a:rPr lang="en-US" altLang="zh-TW" sz="900" b="0" i="1" smtClean="0">
                                <a:solidFill>
                                  <a:schemeClr val="accent6"/>
                                </a:solidFill>
                                <a:latin typeface="Cambria Math" panose="02040503050406030204" pitchFamily="18" charset="0"/>
                              </a:rPr>
                              <m:t>𝑇</m:t>
                            </m:r>
                          </m:e>
                        </m:d>
                        <m:r>
                          <a:rPr lang="en-US" altLang="zh-TW" sz="900" b="0" i="1" smtClean="0">
                            <a:solidFill>
                              <a:schemeClr val="accent6"/>
                            </a:solidFill>
                            <a:latin typeface="Cambria Math" panose="02040503050406030204" pitchFamily="18" charset="0"/>
                          </a:rPr>
                          <m:t>=</m:t>
                        </m:r>
                        <m:r>
                          <a:rPr lang="en-US" altLang="zh-TW" sz="900" b="0" i="1" smtClean="0">
                            <a:solidFill>
                              <a:schemeClr val="accent6"/>
                            </a:solidFill>
                            <a:latin typeface="Cambria Math" panose="02040503050406030204" pitchFamily="18" charset="0"/>
                          </a:rPr>
                          <m:t>𝐼</m:t>
                        </m:r>
                        <m:r>
                          <a:rPr lang="en-US" altLang="zh-TW" sz="900" b="0" i="1" smtClean="0">
                            <a:solidFill>
                              <a:schemeClr val="accent6"/>
                            </a:solidFill>
                            <a:latin typeface="Cambria Math" panose="02040503050406030204" pitchFamily="18" charset="0"/>
                          </a:rPr>
                          <m:t>(0)</m:t>
                        </m:r>
                      </m:oMath>
                    </m:oMathPara>
                  </a14:m>
                  <a:endParaRPr lang="zh-TW" altLang="en-US" sz="900" dirty="0">
                    <a:solidFill>
                      <a:schemeClr val="accent6"/>
                    </a:solidFill>
                  </a:endParaRPr>
                </a:p>
              </p:txBody>
            </p:sp>
          </mc:Choice>
          <mc:Fallback xmlns="">
            <p:sp>
              <p:nvSpPr>
                <p:cNvPr id="53" name="文字方塊 52"/>
                <p:cNvSpPr txBox="1">
                  <a:spLocks noRot="1" noChangeAspect="1" noMove="1" noResize="1" noEditPoints="1" noAdjustHandles="1" noChangeArrowheads="1" noChangeShapeType="1" noTextEdit="1"/>
                </p:cNvSpPr>
                <p:nvPr/>
              </p:nvSpPr>
              <p:spPr>
                <a:xfrm>
                  <a:off x="432009" y="3486440"/>
                  <a:ext cx="1284510" cy="297601"/>
                </a:xfrm>
                <a:prstGeom prst="rect">
                  <a:avLst/>
                </a:prstGeom>
                <a:blipFill rotWithShape="0">
                  <a:blip r:embed="rId9"/>
                  <a:stretch>
                    <a:fillRect l="-5102" r="-7143" b="-3478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896015" y="1348388"/>
                  <a:ext cx="795205" cy="49600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900" i="1">
                            <a:latin typeface="Cambria Math" panose="02040503050406030204" pitchFamily="18" charset="0"/>
                          </a:rPr>
                          <m:t>𝐼</m:t>
                        </m:r>
                        <m:r>
                          <a:rPr lang="en-US" altLang="zh-TW" sz="900" i="1">
                            <a:latin typeface="Cambria Math" panose="02040503050406030204" pitchFamily="18" charset="0"/>
                          </a:rPr>
                          <m:t>(</m:t>
                        </m:r>
                        <m:r>
                          <a:rPr lang="en-US" altLang="zh-TW" sz="900" i="1">
                            <a:latin typeface="Cambria Math" panose="02040503050406030204" pitchFamily="18" charset="0"/>
                          </a:rPr>
                          <m:t>𝑇</m:t>
                        </m:r>
                        <m:r>
                          <a:rPr lang="en-US" altLang="zh-TW" sz="900" i="1">
                            <a:latin typeface="Cambria Math" panose="02040503050406030204" pitchFamily="18" charset="0"/>
                          </a:rPr>
                          <m:t>)</m:t>
                        </m:r>
                      </m:oMath>
                    </m:oMathPara>
                  </a14:m>
                  <a:endParaRPr lang="zh-TW" altLang="en-US" sz="900" dirty="0"/>
                </a:p>
              </p:txBody>
            </p:sp>
          </mc:Choice>
          <mc:Fallback xmlns="">
            <p:sp>
              <p:nvSpPr>
                <p:cNvPr id="2" name="矩形 1"/>
                <p:cNvSpPr>
                  <a:spLocks noRot="1" noChangeAspect="1" noMove="1" noResize="1" noEditPoints="1" noAdjustHandles="1" noChangeArrowheads="1" noChangeShapeType="1" noTextEdit="1"/>
                </p:cNvSpPr>
                <p:nvPr/>
              </p:nvSpPr>
              <p:spPr>
                <a:xfrm>
                  <a:off x="896015" y="1348388"/>
                  <a:ext cx="795205" cy="496003"/>
                </a:xfrm>
                <a:prstGeom prst="rect">
                  <a:avLst/>
                </a:prstGeom>
                <a:blipFill rotWithShape="0">
                  <a:blip r:embed="rId10"/>
                  <a:stretch>
                    <a:fillRect b="-270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7" name="文字方塊 46"/>
                <p:cNvSpPr txBox="1"/>
                <p:nvPr/>
              </p:nvSpPr>
              <p:spPr>
                <a:xfrm>
                  <a:off x="5795746" y="1131099"/>
                  <a:ext cx="6500268" cy="609672"/>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sz="900" b="0" i="1" smtClean="0">
                            <a:solidFill>
                              <a:srgbClr val="FF0000"/>
                            </a:solidFill>
                            <a:latin typeface="Cambria Math" panose="02040503050406030204" pitchFamily="18" charset="0"/>
                          </a:rPr>
                          <m:t>𝑉</m:t>
                        </m:r>
                        <m:r>
                          <a:rPr lang="en-US" altLang="zh-TW" sz="900" b="0" i="1" smtClean="0">
                            <a:solidFill>
                              <a:srgbClr val="FF0000"/>
                            </a:solidFill>
                            <a:latin typeface="Cambria Math" panose="02040503050406030204" pitchFamily="18" charset="0"/>
                          </a:rPr>
                          <m:t>(</m:t>
                        </m:r>
                        <m:r>
                          <a:rPr lang="en-US" altLang="zh-TW" sz="900" b="0" i="1" smtClean="0">
                            <a:solidFill>
                              <a:srgbClr val="FF0000"/>
                            </a:solidFill>
                            <a:latin typeface="Cambria Math" panose="02040503050406030204" pitchFamily="18" charset="0"/>
                          </a:rPr>
                          <m:t>𝑇</m:t>
                        </m:r>
                        <m:r>
                          <a:rPr lang="en-US" altLang="zh-TW" sz="900" b="0" i="1" smtClean="0">
                            <a:solidFill>
                              <a:srgbClr val="FF0000"/>
                            </a:solidFill>
                            <a:latin typeface="Cambria Math" panose="02040503050406030204" pitchFamily="18" charset="0"/>
                          </a:rPr>
                          <m:t>)=</m:t>
                        </m:r>
                        <m:r>
                          <a:rPr lang="en-US" altLang="zh-TW" sz="900" b="0" i="1" smtClean="0">
                            <a:solidFill>
                              <a:srgbClr val="FF0000"/>
                            </a:solidFill>
                            <a:latin typeface="Cambria Math" panose="02040503050406030204" pitchFamily="18" charset="0"/>
                          </a:rPr>
                          <m:t>𝑉</m:t>
                        </m:r>
                        <m:r>
                          <a:rPr lang="en-US" altLang="zh-TW" sz="900" i="1">
                            <a:solidFill>
                              <a:srgbClr val="FF0000"/>
                            </a:solidFill>
                            <a:latin typeface="Cambria Math" panose="02040503050406030204" pitchFamily="18" charset="0"/>
                          </a:rPr>
                          <m:t>"</m:t>
                        </m:r>
                        <m:r>
                          <a:rPr lang="en-US" altLang="zh-TW" sz="900" b="0" i="1" smtClean="0">
                            <a:solidFill>
                              <a:srgbClr val="FF0000"/>
                            </a:solidFill>
                            <a:latin typeface="Cambria Math" panose="02040503050406030204" pitchFamily="18" charset="0"/>
                          </a:rPr>
                          <m:t>=</m:t>
                        </m:r>
                        <m:sSub>
                          <m:sSubPr>
                            <m:ctrlPr>
                              <a:rPr lang="en-US" altLang="zh-TW" sz="900" i="1">
                                <a:solidFill>
                                  <a:srgbClr val="FF0000"/>
                                </a:solidFill>
                                <a:latin typeface="Cambria Math" panose="02040503050406030204" pitchFamily="18" charset="0"/>
                              </a:rPr>
                            </m:ctrlPr>
                          </m:sSubPr>
                          <m:e>
                            <m:r>
                              <a:rPr lang="en-US" altLang="zh-TW" sz="900" i="1">
                                <a:solidFill>
                                  <a:srgbClr val="FF0000"/>
                                </a:solidFill>
                                <a:latin typeface="Cambria Math"/>
                              </a:rPr>
                              <m:t>𝐷</m:t>
                            </m:r>
                          </m:e>
                          <m:sub>
                            <m:r>
                              <a:rPr lang="en-US" altLang="zh-TW" sz="900" i="1">
                                <a:solidFill>
                                  <a:srgbClr val="FF0000"/>
                                </a:solidFill>
                                <a:latin typeface="Cambria Math"/>
                              </a:rPr>
                              <m:t>1</m:t>
                            </m:r>
                          </m:sub>
                        </m:sSub>
                        <m:r>
                          <a:rPr lang="en-US" altLang="zh-TW" sz="900" i="1">
                            <a:solidFill>
                              <a:srgbClr val="FF0000"/>
                            </a:solidFill>
                            <a:latin typeface="Cambria Math"/>
                          </a:rPr>
                          <m:t>+</m:t>
                        </m:r>
                        <m:r>
                          <a:rPr lang="en-US" altLang="zh-TW" sz="900" i="1">
                            <a:solidFill>
                              <a:srgbClr val="FF0000"/>
                            </a:solidFill>
                            <a:latin typeface="Cambria Math" panose="02040503050406030204" pitchFamily="18" charset="0"/>
                          </a:rPr>
                          <m:t>(</m:t>
                        </m:r>
                        <m:r>
                          <a:rPr lang="en-US" altLang="zh-TW" sz="900" b="0" i="1" smtClean="0">
                            <a:solidFill>
                              <a:srgbClr val="FF0000"/>
                            </a:solidFill>
                            <a:latin typeface="Cambria Math" panose="02040503050406030204" pitchFamily="18" charset="0"/>
                          </a:rPr>
                          <m:t>1+</m:t>
                        </m:r>
                        <m:f>
                          <m:fPr>
                            <m:ctrlPr>
                              <a:rPr lang="en-US" altLang="zh-TW" sz="900" i="1">
                                <a:solidFill>
                                  <a:srgbClr val="FF0000"/>
                                </a:solidFill>
                                <a:latin typeface="Cambria Math" panose="02040503050406030204" pitchFamily="18" charset="0"/>
                              </a:rPr>
                            </m:ctrlPr>
                          </m:fPr>
                          <m:num>
                            <m:r>
                              <a:rPr lang="en-US" altLang="zh-TW" sz="900" i="1" dirty="0">
                                <a:solidFill>
                                  <a:srgbClr val="FF0000"/>
                                </a:solidFill>
                                <a:latin typeface="Cambria Math" panose="02040503050406030204" pitchFamily="18" charset="0"/>
                                <a:ea typeface="微軟正黑體" panose="020B0604030504040204" pitchFamily="34" charset="-120"/>
                              </a:rPr>
                              <m:t>𝑂</m:t>
                            </m:r>
                          </m:num>
                          <m:den>
                            <m:sSub>
                              <m:sSubPr>
                                <m:ctrlPr>
                                  <a:rPr lang="en-US" altLang="zh-TW" sz="900" i="1" dirty="0">
                                    <a:solidFill>
                                      <a:srgbClr val="FF0000"/>
                                    </a:solidFill>
                                    <a:latin typeface="Cambria Math" panose="02040503050406030204" pitchFamily="18" charset="0"/>
                                    <a:ea typeface="微軟正黑體" panose="020B0604030504040204" pitchFamily="34" charset="-120"/>
                                  </a:rPr>
                                </m:ctrlPr>
                              </m:sSubPr>
                              <m:e>
                                <m:r>
                                  <a:rPr lang="en-US" altLang="zh-TW" sz="900" i="1" dirty="0">
                                    <a:solidFill>
                                      <a:srgbClr val="FF0000"/>
                                    </a:solidFill>
                                    <a:latin typeface="Cambria Math" panose="02040503050406030204" pitchFamily="18" charset="0"/>
                                    <a:ea typeface="微軟正黑體" panose="020B0604030504040204" pitchFamily="34" charset="-120"/>
                                  </a:rPr>
                                  <m:t>𝑂</m:t>
                                </m:r>
                              </m:e>
                              <m:sub>
                                <m:r>
                                  <a:rPr lang="en-US" altLang="zh-TW" sz="900" i="1" dirty="0">
                                    <a:solidFill>
                                      <a:srgbClr val="FF0000"/>
                                    </a:solidFill>
                                    <a:latin typeface="Cambria Math" panose="02040503050406030204" pitchFamily="18" charset="0"/>
                                    <a:ea typeface="微軟正黑體" panose="020B0604030504040204" pitchFamily="34" charset="-120"/>
                                  </a:rPr>
                                  <m:t>𝐶𝐶</m:t>
                                </m:r>
                              </m:sub>
                            </m:sSub>
                          </m:den>
                        </m:f>
                        <m:r>
                          <a:rPr lang="en-US" altLang="zh-TW" sz="900" i="1">
                            <a:solidFill>
                              <a:srgbClr val="FF0000"/>
                            </a:solidFill>
                            <a:latin typeface="Cambria Math" panose="02040503050406030204" pitchFamily="18" charset="0"/>
                          </a:rPr>
                          <m:t>)</m:t>
                        </m:r>
                        <m:sSub>
                          <m:sSubPr>
                            <m:ctrlPr>
                              <a:rPr lang="en-US" altLang="zh-TW" sz="900" i="1">
                                <a:solidFill>
                                  <a:srgbClr val="FF0000"/>
                                </a:solidFill>
                                <a:latin typeface="Cambria Math" panose="02040503050406030204" pitchFamily="18" charset="0"/>
                              </a:rPr>
                            </m:ctrlPr>
                          </m:sSubPr>
                          <m:e>
                            <m:r>
                              <a:rPr lang="en-US" altLang="zh-TW" sz="900" i="1">
                                <a:solidFill>
                                  <a:srgbClr val="FF0000"/>
                                </a:solidFill>
                                <a:latin typeface="Cambria Math"/>
                              </a:rPr>
                              <m:t>𝐷</m:t>
                            </m:r>
                          </m:e>
                          <m:sub>
                            <m:r>
                              <a:rPr lang="en-US" altLang="zh-TW" sz="900" i="1">
                                <a:solidFill>
                                  <a:srgbClr val="FF0000"/>
                                </a:solidFill>
                                <a:latin typeface="Cambria Math"/>
                              </a:rPr>
                              <m:t>2</m:t>
                            </m:r>
                          </m:sub>
                        </m:sSub>
                        <m:r>
                          <a:rPr lang="en-US" altLang="zh-TW" sz="900" i="1">
                            <a:solidFill>
                              <a:srgbClr val="FF0000"/>
                            </a:solidFill>
                            <a:latin typeface="Cambria Math"/>
                          </a:rPr>
                          <m:t>+(1−</m:t>
                        </m:r>
                        <m:r>
                          <a:rPr lang="en-US" altLang="zh-TW" sz="900" i="1">
                            <a:solidFill>
                              <a:srgbClr val="FF0000"/>
                            </a:solidFill>
                            <a:latin typeface="Cambria Math"/>
                          </a:rPr>
                          <m:t>𝑡𝑎𝑥</m:t>
                        </m:r>
                        <m:r>
                          <a:rPr lang="en-US" altLang="zh-TW" sz="900" i="1">
                            <a:solidFill>
                              <a:srgbClr val="FF0000"/>
                            </a:solidFill>
                            <a:latin typeface="Cambria Math"/>
                          </a:rPr>
                          <m:t>)(</m:t>
                        </m:r>
                        <m:sSub>
                          <m:sSubPr>
                            <m:ctrlPr>
                              <a:rPr lang="en-US" altLang="zh-TW" sz="900" i="1">
                                <a:solidFill>
                                  <a:srgbClr val="FF0000"/>
                                </a:solidFill>
                                <a:latin typeface="Cambria Math" panose="02040503050406030204" pitchFamily="18" charset="0"/>
                              </a:rPr>
                            </m:ctrlPr>
                          </m:sSubPr>
                          <m:e>
                            <m:r>
                              <a:rPr lang="en-US" altLang="zh-TW" sz="900" i="1">
                                <a:solidFill>
                                  <a:srgbClr val="FF0000"/>
                                </a:solidFill>
                                <a:latin typeface="Cambria Math"/>
                              </a:rPr>
                              <m:t>𝐶</m:t>
                            </m:r>
                          </m:e>
                          <m:sub>
                            <m:r>
                              <a:rPr lang="en-US" altLang="zh-TW" sz="900" i="1">
                                <a:solidFill>
                                  <a:srgbClr val="FF0000"/>
                                </a:solidFill>
                                <a:latin typeface="Cambria Math"/>
                              </a:rPr>
                              <m:t>1</m:t>
                            </m:r>
                          </m:sub>
                        </m:sSub>
                        <m:sSub>
                          <m:sSubPr>
                            <m:ctrlPr>
                              <a:rPr lang="en-US" altLang="zh-TW" sz="900" i="1">
                                <a:solidFill>
                                  <a:srgbClr val="FF0000"/>
                                </a:solidFill>
                                <a:latin typeface="Cambria Math" panose="02040503050406030204" pitchFamily="18" charset="0"/>
                              </a:rPr>
                            </m:ctrlPr>
                          </m:sSubPr>
                          <m:e>
                            <m:r>
                              <a:rPr lang="en-US" altLang="zh-TW" sz="900" i="1">
                                <a:solidFill>
                                  <a:srgbClr val="FF0000"/>
                                </a:solidFill>
                                <a:latin typeface="Cambria Math"/>
                              </a:rPr>
                              <m:t>𝐷</m:t>
                            </m:r>
                          </m:e>
                          <m:sub>
                            <m:r>
                              <a:rPr lang="en-US" altLang="zh-TW" sz="900" i="1">
                                <a:solidFill>
                                  <a:srgbClr val="FF0000"/>
                                </a:solidFill>
                                <a:latin typeface="Cambria Math"/>
                              </a:rPr>
                              <m:t>1</m:t>
                            </m:r>
                          </m:sub>
                        </m:sSub>
                        <m:r>
                          <a:rPr lang="en-US" altLang="zh-TW" sz="900" i="1">
                            <a:solidFill>
                              <a:srgbClr val="FF0000"/>
                            </a:solidFill>
                            <a:latin typeface="Cambria Math"/>
                          </a:rPr>
                          <m:t>𝑇</m:t>
                        </m:r>
                        <m:r>
                          <a:rPr lang="en-US" altLang="zh-TW" sz="900" i="1">
                            <a:solidFill>
                              <a:srgbClr val="FF0000"/>
                            </a:solidFill>
                            <a:latin typeface="Cambria Math"/>
                          </a:rPr>
                          <m:t>+</m:t>
                        </m:r>
                        <m:sSub>
                          <m:sSubPr>
                            <m:ctrlPr>
                              <a:rPr lang="en-US" altLang="zh-TW" sz="900" i="1">
                                <a:solidFill>
                                  <a:srgbClr val="FF0000"/>
                                </a:solidFill>
                                <a:latin typeface="Cambria Math" panose="02040503050406030204" pitchFamily="18" charset="0"/>
                              </a:rPr>
                            </m:ctrlPr>
                          </m:sSubPr>
                          <m:e>
                            <m:r>
                              <a:rPr lang="en-US" altLang="zh-TW" sz="900" i="1">
                                <a:solidFill>
                                  <a:srgbClr val="FF0000"/>
                                </a:solidFill>
                                <a:latin typeface="Cambria Math"/>
                              </a:rPr>
                              <m:t>𝐶</m:t>
                            </m:r>
                          </m:e>
                          <m:sub>
                            <m:r>
                              <a:rPr lang="en-US" altLang="zh-TW" sz="900" i="1">
                                <a:solidFill>
                                  <a:srgbClr val="FF0000"/>
                                </a:solidFill>
                                <a:latin typeface="Cambria Math"/>
                              </a:rPr>
                              <m:t>2</m:t>
                            </m:r>
                          </m:sub>
                        </m:sSub>
                        <m:sSub>
                          <m:sSubPr>
                            <m:ctrlPr>
                              <a:rPr lang="en-US" altLang="zh-TW" sz="900" i="1">
                                <a:solidFill>
                                  <a:srgbClr val="FF0000"/>
                                </a:solidFill>
                                <a:latin typeface="Cambria Math" panose="02040503050406030204" pitchFamily="18" charset="0"/>
                              </a:rPr>
                            </m:ctrlPr>
                          </m:sSubPr>
                          <m:e>
                            <m:r>
                              <a:rPr lang="en-US" altLang="zh-TW" sz="900" i="1">
                                <a:solidFill>
                                  <a:srgbClr val="FF0000"/>
                                </a:solidFill>
                                <a:latin typeface="Cambria Math"/>
                              </a:rPr>
                              <m:t>𝐷</m:t>
                            </m:r>
                          </m:e>
                          <m:sub>
                            <m:r>
                              <a:rPr lang="en-US" altLang="zh-TW" sz="900" i="1">
                                <a:solidFill>
                                  <a:srgbClr val="FF0000"/>
                                </a:solidFill>
                                <a:latin typeface="Cambria Math"/>
                              </a:rPr>
                              <m:t>2</m:t>
                            </m:r>
                          </m:sub>
                        </m:sSub>
                        <m:r>
                          <a:rPr lang="en-US" altLang="zh-TW" sz="900" i="1">
                            <a:solidFill>
                              <a:srgbClr val="FF0000"/>
                            </a:solidFill>
                            <a:latin typeface="Cambria Math"/>
                          </a:rPr>
                          <m:t>𝑇</m:t>
                        </m:r>
                        <m:r>
                          <a:rPr lang="en-US" altLang="zh-TW" sz="900" i="1">
                            <a:solidFill>
                              <a:srgbClr val="FF0000"/>
                            </a:solidFill>
                            <a:latin typeface="Cambria Math"/>
                          </a:rPr>
                          <m:t>)</m:t>
                        </m:r>
                      </m:oMath>
                    </m:oMathPara>
                  </a14:m>
                  <a:endParaRPr lang="zh-TW" altLang="en-US" sz="900" dirty="0">
                    <a:solidFill>
                      <a:srgbClr val="FF0000"/>
                    </a:solidFill>
                    <a:latin typeface="微軟正黑體" panose="020B0604030504040204" pitchFamily="34" charset="-120"/>
                    <a:ea typeface="微軟正黑體" panose="020B0604030504040204" pitchFamily="34" charset="-120"/>
                  </a:endParaRPr>
                </a:p>
              </p:txBody>
            </p:sp>
          </mc:Choice>
          <mc:Fallback xmlns="">
            <p:sp>
              <p:nvSpPr>
                <p:cNvPr id="47" name="文字方塊 46"/>
                <p:cNvSpPr txBox="1">
                  <a:spLocks noRot="1" noChangeAspect="1" noMove="1" noResize="1" noEditPoints="1" noAdjustHandles="1" noChangeArrowheads="1" noChangeShapeType="1" noTextEdit="1"/>
                </p:cNvSpPr>
                <p:nvPr/>
              </p:nvSpPr>
              <p:spPr>
                <a:xfrm>
                  <a:off x="5795746" y="1131099"/>
                  <a:ext cx="6500268" cy="609672"/>
                </a:xfrm>
                <a:prstGeom prst="rect">
                  <a:avLst/>
                </a:prstGeom>
                <a:blipFill rotWithShape="0">
                  <a:blip r:embed="rId11"/>
                  <a:stretch>
                    <a:fillRect l="-1411" t="-2128" b="-10638"/>
                  </a:stretch>
                </a:blipFill>
              </p:spPr>
              <p:txBody>
                <a:bodyPr/>
                <a:lstStyle/>
                <a:p>
                  <a:r>
                    <a:rPr lang="zh-TW" altLang="en-US">
                      <a:noFill/>
                    </a:rPr>
                    <a:t> </a:t>
                  </a:r>
                </a:p>
              </p:txBody>
            </p:sp>
          </mc:Fallback>
        </mc:AlternateContent>
        <p:cxnSp>
          <p:nvCxnSpPr>
            <p:cNvPr id="6" name="直線接點 5"/>
            <p:cNvCxnSpPr/>
            <p:nvPr/>
          </p:nvCxnSpPr>
          <p:spPr>
            <a:xfrm flipV="1">
              <a:off x="8939443" y="3661906"/>
              <a:ext cx="0" cy="241963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5" name="Text Box 9"/>
            <p:cNvSpPr txBox="1">
              <a:spLocks noChangeArrowheads="1"/>
            </p:cNvSpPr>
            <p:nvPr/>
          </p:nvSpPr>
          <p:spPr bwMode="auto">
            <a:xfrm>
              <a:off x="4319966" y="1722515"/>
              <a:ext cx="1952063" cy="2212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1050" b="1" dirty="0" smtClean="0">
                  <a:solidFill>
                    <a:srgbClr val="00B050"/>
                  </a:solidFill>
                  <a:latin typeface="微軟正黑體" panose="020B0604030504040204" pitchFamily="34" charset="-120"/>
                  <a:ea typeface="微軟正黑體" panose="020B0604030504040204" pitchFamily="34" charset="-120"/>
                  <a:cs typeface="Times New Roman" panose="02020603050405020304" pitchFamily="18" charset="0"/>
                </a:rPr>
                <a:t>破</a:t>
              </a:r>
              <a:r>
                <a:rPr lang="zh-TW" altLang="en-US" sz="1050" b="1" dirty="0">
                  <a:solidFill>
                    <a:srgbClr val="00B050"/>
                  </a:solidFill>
                  <a:latin typeface="微軟正黑體" panose="020B0604030504040204" pitchFamily="34" charset="-120"/>
                  <a:ea typeface="微軟正黑體" panose="020B0604030504040204" pitchFamily="34" charset="-120"/>
                  <a:cs typeface="Times New Roman" panose="02020603050405020304" pitchFamily="18" charset="0"/>
                </a:rPr>
                <a:t>產</a:t>
              </a:r>
              <a:endParaRPr kumimoji="0" lang="zh-TW" sz="1050" b="1" i="0" u="none" strike="noStrike" cap="none" normalizeH="0" baseline="0" dirty="0" smtClean="0">
                <a:ln>
                  <a:noFill/>
                </a:ln>
                <a:solidFill>
                  <a:srgbClr val="00B050"/>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1050" b="1" i="0" u="none" strike="noStrike" cap="none" normalizeH="0" baseline="0" dirty="0" smtClean="0">
                  <a:ln>
                    <a:noFill/>
                  </a:ln>
                  <a:solidFill>
                    <a:srgbClr val="00B050"/>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1050" b="1" i="0" u="none" strike="noStrike" cap="none" normalizeH="0" baseline="0" dirty="0" smtClean="0">
                <a:ln>
                  <a:noFill/>
                </a:ln>
                <a:solidFill>
                  <a:srgbClr val="00B050"/>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050" b="1" i="0" u="none" strike="noStrike" cap="none" normalizeH="0" baseline="0" dirty="0" smtClean="0">
                  <a:ln>
                    <a:noFill/>
                  </a:ln>
                  <a:solidFill>
                    <a:srgbClr val="00B050"/>
                  </a:solidFill>
                  <a:effectLst/>
                  <a:latin typeface="微軟正黑體" panose="020B0604030504040204" pitchFamily="34" charset="-120"/>
                  <a:ea typeface="微軟正黑體" panose="020B0604030504040204" pitchFamily="34" charset="-120"/>
                </a:rPr>
                <a:t>CC</a:t>
              </a:r>
              <a:r>
                <a:rPr kumimoji="0" lang="zh-TW" altLang="en-US" sz="1050" b="1" i="0" u="none" strike="noStrike" cap="none" normalizeH="0" baseline="0" dirty="0" smtClean="0">
                  <a:ln>
                    <a:noFill/>
                  </a:ln>
                  <a:solidFill>
                    <a:srgbClr val="00B050"/>
                  </a:solidFill>
                  <a:effectLst/>
                  <a:latin typeface="微軟正黑體" panose="020B0604030504040204" pitchFamily="34" charset="-120"/>
                  <a:ea typeface="微軟正黑體" panose="020B0604030504040204" pitchFamily="34" charset="-120"/>
                </a:rPr>
                <a:t>未轉換</a:t>
              </a:r>
              <a:endParaRPr kumimoji="0" lang="zh-TW" sz="1050" b="1" i="0" u="none" strike="noStrike" cap="none" normalizeH="0" baseline="0" dirty="0" smtClean="0">
                <a:ln>
                  <a:noFill/>
                </a:ln>
                <a:solidFill>
                  <a:srgbClr val="00B050"/>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050" b="1" i="0" u="none" strike="noStrike" cap="none" normalizeH="0" baseline="0" dirty="0" smtClean="0">
                  <a:ln>
                    <a:noFill/>
                  </a:ln>
                  <a:solidFill>
                    <a:srgbClr val="00B050"/>
                  </a:solidFill>
                  <a:effectLst/>
                  <a:latin typeface="微軟正黑體" panose="020B0604030504040204" pitchFamily="34" charset="-120"/>
                  <a:ea typeface="微軟正黑體" panose="020B0604030504040204" pitchFamily="34" charset="-120"/>
                </a:rPr>
                <a:t>SB</a:t>
              </a:r>
              <a:r>
                <a:rPr kumimoji="0" lang="zh-TW" altLang="en-US" sz="1050" b="1" i="0" u="none" strike="noStrike" cap="none" normalizeH="0" baseline="0" dirty="0" smtClean="0">
                  <a:ln>
                    <a:noFill/>
                  </a:ln>
                  <a:solidFill>
                    <a:srgbClr val="00B050"/>
                  </a:solidFill>
                  <a:effectLst/>
                  <a:latin typeface="微軟正黑體" panose="020B0604030504040204" pitchFamily="34" charset="-120"/>
                  <a:ea typeface="微軟正黑體" panose="020B0604030504040204" pitchFamily="34" charset="-120"/>
                </a:rPr>
                <a:t>拿全部</a:t>
              </a:r>
              <a:endParaRPr kumimoji="0" lang="en-US" altLang="zh-TW" sz="1050" b="1" i="0" u="none" strike="noStrike" cap="none" normalizeH="0" baseline="0" dirty="0" smtClean="0">
                <a:ln>
                  <a:noFill/>
                </a:ln>
                <a:solidFill>
                  <a:srgbClr val="00B050"/>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1050" b="1" dirty="0" smtClean="0">
                  <a:solidFill>
                    <a:srgbClr val="00B050"/>
                  </a:solidFill>
                  <a:latin typeface="微軟正黑體" panose="020B0604030504040204" pitchFamily="34" charset="-120"/>
                  <a:ea typeface="微軟正黑體" panose="020B0604030504040204" pitchFamily="34" charset="-120"/>
                </a:rPr>
                <a:t>CC</a:t>
              </a:r>
              <a:r>
                <a:rPr lang="zh-TW" altLang="en-US" sz="1050" b="1" dirty="0" smtClean="0">
                  <a:solidFill>
                    <a:srgbClr val="00B050"/>
                  </a:solidFill>
                  <a:latin typeface="微軟正黑體" panose="020B0604030504040204" pitchFamily="34" charset="-120"/>
                  <a:ea typeface="微軟正黑體" panose="020B0604030504040204" pitchFamily="34" charset="-120"/>
                </a:rPr>
                <a:t>拿部分</a:t>
              </a:r>
              <a:endParaRPr kumimoji="0" lang="zh-TW" altLang="en-US" sz="1050" b="1" i="0" u="none" strike="noStrike" cap="none" normalizeH="0" baseline="0" dirty="0" smtClean="0">
                <a:ln>
                  <a:noFill/>
                </a:ln>
                <a:solidFill>
                  <a:srgbClr val="00B050"/>
                </a:solidFill>
                <a:effectLst/>
                <a:latin typeface="微軟正黑體" panose="020B0604030504040204" pitchFamily="34" charset="-120"/>
                <a:ea typeface="微軟正黑體" panose="020B0604030504040204" pitchFamily="34" charset="-120"/>
              </a:endParaRPr>
            </a:p>
          </p:txBody>
        </p:sp>
        <p:sp>
          <p:nvSpPr>
            <p:cNvPr id="35" name="Text Box 9"/>
            <p:cNvSpPr txBox="1">
              <a:spLocks noChangeArrowheads="1"/>
            </p:cNvSpPr>
            <p:nvPr/>
          </p:nvSpPr>
          <p:spPr bwMode="auto">
            <a:xfrm>
              <a:off x="6129681" y="4204489"/>
              <a:ext cx="1952063" cy="191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1100" b="1" dirty="0" smtClean="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存活</a:t>
              </a:r>
              <a:endParaRPr lang="en-US" altLang="zh-TW" sz="1100" b="1" dirty="0" smtClean="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1100" b="1" i="0" u="none" strike="noStrike" cap="none" normalizeH="0" baseline="0" dirty="0" smtClean="0">
                  <a:ln>
                    <a:noFill/>
                  </a:ln>
                  <a:solidFill>
                    <a:srgbClr val="FF0000"/>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1100" b="1" i="0" u="none" strike="noStrike" cap="none" normalizeH="0" baseline="0" dirty="0" smtClean="0">
                <a:ln>
                  <a:noFill/>
                </a:ln>
                <a:solidFill>
                  <a:srgbClr val="FF0000"/>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1100" b="1" dirty="0" smtClean="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1100" b="1" dirty="0" smtClean="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已轉換</a:t>
              </a:r>
              <a:endParaRPr kumimoji="0" lang="zh-TW" sz="1100" b="1" i="0" u="none" strike="noStrike" cap="none" normalizeH="0" baseline="0" dirty="0" smtClean="0">
                <a:ln>
                  <a:noFill/>
                </a:ln>
                <a:solidFill>
                  <a:srgbClr val="FF0000"/>
                </a:solidFill>
                <a:effectLst/>
                <a:latin typeface="微軟正黑體" panose="020B0604030504040204" pitchFamily="34" charset="-120"/>
                <a:ea typeface="微軟正黑體" panose="020B0604030504040204" pitchFamily="34" charset="-120"/>
              </a:endParaRPr>
            </a:p>
          </p:txBody>
        </p:sp>
        <p:sp>
          <p:nvSpPr>
            <p:cNvPr id="37" name="Text Box 9"/>
            <p:cNvSpPr txBox="1">
              <a:spLocks noChangeArrowheads="1"/>
            </p:cNvSpPr>
            <p:nvPr/>
          </p:nvSpPr>
          <p:spPr bwMode="auto">
            <a:xfrm>
              <a:off x="8826865" y="2021207"/>
              <a:ext cx="1952063"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1100" b="1" dirty="0" smtClean="0">
                  <a:solidFill>
                    <a:srgbClr val="00B0F0"/>
                  </a:solidFill>
                  <a:latin typeface="微軟正黑體" panose="020B0604030504040204" pitchFamily="34" charset="-120"/>
                  <a:ea typeface="微軟正黑體" panose="020B0604030504040204" pitchFamily="34" charset="-120"/>
                  <a:cs typeface="Times New Roman" panose="02020603050405020304" pitchFamily="18" charset="0"/>
                </a:rPr>
                <a:t>存活</a:t>
              </a:r>
              <a:endParaRPr lang="en-US" altLang="zh-TW" sz="1100" b="1" dirty="0" smtClean="0">
                <a:solidFill>
                  <a:srgbClr val="00B0F0"/>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1100" b="1" i="0" u="none" strike="noStrike" cap="none" normalizeH="0" baseline="0" dirty="0" smtClean="0">
                  <a:ln>
                    <a:noFill/>
                  </a:ln>
                  <a:solidFill>
                    <a:srgbClr val="00B0F0"/>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zh-TW" sz="1100" b="1" i="0" u="none" strike="noStrike" cap="none" normalizeH="0" baseline="0" dirty="0" smtClean="0">
                <a:ln>
                  <a:noFill/>
                </a:ln>
                <a:solidFill>
                  <a:srgbClr val="00B0F0"/>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1100" b="1" i="0" u="none" strike="noStrike" cap="none" normalizeH="0" baseline="0" dirty="0" smtClean="0">
                  <a:ln>
                    <a:noFill/>
                  </a:ln>
                  <a:solidFill>
                    <a:srgbClr val="00B0F0"/>
                  </a:solidFill>
                  <a:effectLst/>
                  <a:latin typeface="微軟正黑體" panose="020B0604030504040204" pitchFamily="34" charset="-120"/>
                  <a:ea typeface="微軟正黑體" panose="020B0604030504040204" pitchFamily="34" charset="-120"/>
                  <a:cs typeface="Times New Roman" panose="02020603050405020304" pitchFamily="18" charset="0"/>
                </a:rPr>
                <a:t>CC</a:t>
              </a:r>
              <a:r>
                <a:rPr kumimoji="0" lang="zh-TW" altLang="en-US" sz="1100" b="1" i="0" u="none" strike="noStrike" cap="none" normalizeH="0" baseline="0" dirty="0" smtClean="0">
                  <a:ln>
                    <a:noFill/>
                  </a:ln>
                  <a:solidFill>
                    <a:srgbClr val="00B0F0"/>
                  </a:solidFill>
                  <a:effectLst/>
                  <a:latin typeface="微軟正黑體" panose="020B0604030504040204" pitchFamily="34" charset="-120"/>
                  <a:ea typeface="微軟正黑體" panose="020B0604030504040204" pitchFamily="34" charset="-120"/>
                  <a:cs typeface="Times New Roman" panose="02020603050405020304" pitchFamily="18" charset="0"/>
                </a:rPr>
                <a:t>未轉換</a:t>
              </a:r>
              <a:endParaRPr kumimoji="0" lang="zh-TW" altLang="en-US" sz="1100" b="1" i="0" u="none" strike="noStrike" cap="none" normalizeH="0" baseline="0" dirty="0" smtClean="0">
                <a:ln>
                  <a:noFill/>
                </a:ln>
                <a:solidFill>
                  <a:srgbClr val="00B0F0"/>
                </a:solidFill>
                <a:effectLst/>
                <a:latin typeface="微軟正黑體" panose="020B0604030504040204" pitchFamily="34" charset="-120"/>
                <a:ea typeface="微軟正黑體" panose="020B0604030504040204" pitchFamily="34" charset="-120"/>
              </a:endParaRPr>
            </a:p>
          </p:txBody>
        </p:sp>
        <p:cxnSp>
          <p:nvCxnSpPr>
            <p:cNvPr id="10" name="直線單箭頭接點 9"/>
            <p:cNvCxnSpPr/>
            <p:nvPr/>
          </p:nvCxnSpPr>
          <p:spPr>
            <a:xfrm flipH="1" flipV="1">
              <a:off x="1809498" y="1791077"/>
              <a:ext cx="25626" cy="43232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a:off x="1838080" y="6081535"/>
              <a:ext cx="8517611"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6578793" y="1717719"/>
              <a:ext cx="0" cy="19381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線接點 50"/>
            <p:cNvCxnSpPr/>
            <p:nvPr/>
          </p:nvCxnSpPr>
          <p:spPr>
            <a:xfrm flipH="1">
              <a:off x="3504811" y="3639847"/>
              <a:ext cx="9775" cy="2451632"/>
            </a:xfrm>
            <a:prstGeom prst="line">
              <a:avLst/>
            </a:prstGeom>
            <a:ln w="1905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58" name="矩形 57"/>
            <p:cNvSpPr/>
            <p:nvPr/>
          </p:nvSpPr>
          <p:spPr>
            <a:xfrm>
              <a:off x="8922626" y="3661906"/>
              <a:ext cx="1743723" cy="2419629"/>
            </a:xfrm>
            <a:prstGeom prst="rect">
              <a:avLst/>
            </a:prstGeom>
            <a:solidFill>
              <a:srgbClr val="51DF7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9" name="文字方塊 38"/>
                <p:cNvSpPr txBox="1"/>
                <p:nvPr/>
              </p:nvSpPr>
              <p:spPr>
                <a:xfrm>
                  <a:off x="4727498" y="800729"/>
                  <a:ext cx="5040639" cy="347203"/>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sz="1050" b="0" i="1" smtClean="0">
                            <a:solidFill>
                              <a:srgbClr val="7030A0"/>
                            </a:solidFill>
                            <a:latin typeface="Cambria Math" panose="02040503050406030204" pitchFamily="18" charset="0"/>
                          </a:rPr>
                          <m:t>𝑉</m:t>
                        </m:r>
                        <m:r>
                          <a:rPr lang="en-US" altLang="zh-TW" sz="1050" b="0" i="1" smtClean="0">
                            <a:solidFill>
                              <a:srgbClr val="7030A0"/>
                            </a:solidFill>
                            <a:latin typeface="Cambria Math" panose="02040503050406030204" pitchFamily="18" charset="0"/>
                          </a:rPr>
                          <m:t>(</m:t>
                        </m:r>
                        <m:r>
                          <a:rPr lang="en-US" altLang="zh-TW" sz="1050" b="0" i="1" smtClean="0">
                            <a:solidFill>
                              <a:srgbClr val="7030A0"/>
                            </a:solidFill>
                            <a:latin typeface="Cambria Math" panose="02040503050406030204" pitchFamily="18" charset="0"/>
                          </a:rPr>
                          <m:t>𝑇</m:t>
                        </m:r>
                        <m:r>
                          <a:rPr lang="en-US" altLang="zh-TW" sz="1050" b="0" i="1" smtClean="0">
                            <a:solidFill>
                              <a:srgbClr val="7030A0"/>
                            </a:solidFill>
                            <a:latin typeface="Cambria Math" panose="02040503050406030204" pitchFamily="18" charset="0"/>
                          </a:rPr>
                          <m:t>)=</m:t>
                        </m:r>
                        <m:sSub>
                          <m:sSubPr>
                            <m:ctrlPr>
                              <a:rPr lang="en-US" altLang="zh-TW" sz="1050" i="1">
                                <a:solidFill>
                                  <a:srgbClr val="7030A0"/>
                                </a:solidFill>
                                <a:latin typeface="Cambria Math" panose="02040503050406030204" pitchFamily="18" charset="0"/>
                              </a:rPr>
                            </m:ctrlPr>
                          </m:sSubPr>
                          <m:e>
                            <m:r>
                              <a:rPr lang="en-US" altLang="zh-TW" sz="1050" i="1">
                                <a:solidFill>
                                  <a:srgbClr val="7030A0"/>
                                </a:solidFill>
                                <a:latin typeface="Cambria Math"/>
                              </a:rPr>
                              <m:t>𝐷</m:t>
                            </m:r>
                          </m:e>
                          <m:sub>
                            <m:r>
                              <a:rPr lang="en-US" altLang="zh-TW" sz="1050" i="1">
                                <a:solidFill>
                                  <a:srgbClr val="7030A0"/>
                                </a:solidFill>
                                <a:latin typeface="Cambria Math"/>
                              </a:rPr>
                              <m:t>1</m:t>
                            </m:r>
                          </m:sub>
                        </m:sSub>
                        <m:r>
                          <a:rPr lang="en-US" altLang="zh-TW" sz="1050" i="1">
                            <a:solidFill>
                              <a:srgbClr val="7030A0"/>
                            </a:solidFill>
                            <a:latin typeface="Cambria Math"/>
                          </a:rPr>
                          <m:t>+(1−</m:t>
                        </m:r>
                        <m:r>
                          <a:rPr lang="en-US" altLang="zh-TW" sz="1050" i="1">
                            <a:solidFill>
                              <a:srgbClr val="7030A0"/>
                            </a:solidFill>
                            <a:latin typeface="Cambria Math"/>
                          </a:rPr>
                          <m:t>𝑡𝑎𝑥</m:t>
                        </m:r>
                        <m:r>
                          <a:rPr lang="en-US" altLang="zh-TW" sz="1050" i="1">
                            <a:solidFill>
                              <a:srgbClr val="7030A0"/>
                            </a:solidFill>
                            <a:latin typeface="Cambria Math"/>
                          </a:rPr>
                          <m:t>)(</m:t>
                        </m:r>
                        <m:sSub>
                          <m:sSubPr>
                            <m:ctrlPr>
                              <a:rPr lang="en-US" altLang="zh-TW" sz="1050" i="1">
                                <a:solidFill>
                                  <a:srgbClr val="7030A0"/>
                                </a:solidFill>
                                <a:latin typeface="Cambria Math" panose="02040503050406030204" pitchFamily="18" charset="0"/>
                              </a:rPr>
                            </m:ctrlPr>
                          </m:sSubPr>
                          <m:e>
                            <m:r>
                              <a:rPr lang="en-US" altLang="zh-TW" sz="1050" i="1">
                                <a:solidFill>
                                  <a:srgbClr val="7030A0"/>
                                </a:solidFill>
                                <a:latin typeface="Cambria Math"/>
                              </a:rPr>
                              <m:t>𝐶</m:t>
                            </m:r>
                          </m:e>
                          <m:sub>
                            <m:r>
                              <a:rPr lang="en-US" altLang="zh-TW" sz="1050" i="1">
                                <a:solidFill>
                                  <a:srgbClr val="7030A0"/>
                                </a:solidFill>
                                <a:latin typeface="Cambria Math"/>
                              </a:rPr>
                              <m:t>1</m:t>
                            </m:r>
                          </m:sub>
                        </m:sSub>
                        <m:sSub>
                          <m:sSubPr>
                            <m:ctrlPr>
                              <a:rPr lang="en-US" altLang="zh-TW" sz="1050" i="1">
                                <a:solidFill>
                                  <a:srgbClr val="7030A0"/>
                                </a:solidFill>
                                <a:latin typeface="Cambria Math" panose="02040503050406030204" pitchFamily="18" charset="0"/>
                              </a:rPr>
                            </m:ctrlPr>
                          </m:sSubPr>
                          <m:e>
                            <m:r>
                              <a:rPr lang="en-US" altLang="zh-TW" sz="1050" i="1">
                                <a:solidFill>
                                  <a:srgbClr val="7030A0"/>
                                </a:solidFill>
                                <a:latin typeface="Cambria Math"/>
                              </a:rPr>
                              <m:t>𝐷</m:t>
                            </m:r>
                          </m:e>
                          <m:sub>
                            <m:r>
                              <a:rPr lang="en-US" altLang="zh-TW" sz="1050" i="1">
                                <a:solidFill>
                                  <a:srgbClr val="7030A0"/>
                                </a:solidFill>
                                <a:latin typeface="Cambria Math"/>
                              </a:rPr>
                              <m:t>1</m:t>
                            </m:r>
                          </m:sub>
                        </m:sSub>
                        <m:r>
                          <a:rPr lang="en-US" altLang="zh-TW" sz="1050" i="1">
                            <a:solidFill>
                              <a:srgbClr val="7030A0"/>
                            </a:solidFill>
                            <a:latin typeface="Cambria Math"/>
                          </a:rPr>
                          <m:t>𝑇</m:t>
                        </m:r>
                        <m:r>
                          <a:rPr lang="en-US" altLang="zh-TW" sz="1050" i="1">
                            <a:solidFill>
                              <a:srgbClr val="7030A0"/>
                            </a:solidFill>
                            <a:latin typeface="Cambria Math"/>
                          </a:rPr>
                          <m:t>+</m:t>
                        </m:r>
                        <m:sSub>
                          <m:sSubPr>
                            <m:ctrlPr>
                              <a:rPr lang="en-US" altLang="zh-TW" sz="1050" i="1">
                                <a:solidFill>
                                  <a:srgbClr val="7030A0"/>
                                </a:solidFill>
                                <a:latin typeface="Cambria Math" panose="02040503050406030204" pitchFamily="18" charset="0"/>
                              </a:rPr>
                            </m:ctrlPr>
                          </m:sSubPr>
                          <m:e>
                            <m:r>
                              <a:rPr lang="en-US" altLang="zh-TW" sz="1050" i="1">
                                <a:solidFill>
                                  <a:srgbClr val="7030A0"/>
                                </a:solidFill>
                                <a:latin typeface="Cambria Math"/>
                              </a:rPr>
                              <m:t>𝐶</m:t>
                            </m:r>
                          </m:e>
                          <m:sub>
                            <m:r>
                              <a:rPr lang="en-US" altLang="zh-TW" sz="1050" i="1">
                                <a:solidFill>
                                  <a:srgbClr val="7030A0"/>
                                </a:solidFill>
                                <a:latin typeface="Cambria Math"/>
                              </a:rPr>
                              <m:t>2</m:t>
                            </m:r>
                          </m:sub>
                        </m:sSub>
                        <m:sSub>
                          <m:sSubPr>
                            <m:ctrlPr>
                              <a:rPr lang="en-US" altLang="zh-TW" sz="1050" i="1">
                                <a:solidFill>
                                  <a:srgbClr val="7030A0"/>
                                </a:solidFill>
                                <a:latin typeface="Cambria Math" panose="02040503050406030204" pitchFamily="18" charset="0"/>
                              </a:rPr>
                            </m:ctrlPr>
                          </m:sSubPr>
                          <m:e>
                            <m:r>
                              <a:rPr lang="en-US" altLang="zh-TW" sz="1050" i="1">
                                <a:solidFill>
                                  <a:srgbClr val="7030A0"/>
                                </a:solidFill>
                                <a:latin typeface="Cambria Math"/>
                              </a:rPr>
                              <m:t>𝐷</m:t>
                            </m:r>
                          </m:e>
                          <m:sub>
                            <m:r>
                              <a:rPr lang="en-US" altLang="zh-TW" sz="1050" i="1">
                                <a:solidFill>
                                  <a:srgbClr val="7030A0"/>
                                </a:solidFill>
                                <a:latin typeface="Cambria Math"/>
                              </a:rPr>
                              <m:t>2</m:t>
                            </m:r>
                          </m:sub>
                        </m:sSub>
                        <m:r>
                          <a:rPr lang="en-US" altLang="zh-TW" sz="1050" i="1">
                            <a:solidFill>
                              <a:srgbClr val="7030A0"/>
                            </a:solidFill>
                            <a:latin typeface="Cambria Math"/>
                          </a:rPr>
                          <m:t>𝑇</m:t>
                        </m:r>
                        <m:r>
                          <a:rPr lang="en-US" altLang="zh-TW" sz="1050" i="1">
                            <a:solidFill>
                              <a:srgbClr val="7030A0"/>
                            </a:solidFill>
                            <a:latin typeface="Cambria Math"/>
                          </a:rPr>
                          <m:t>)</m:t>
                        </m:r>
                      </m:oMath>
                    </m:oMathPara>
                  </a14:m>
                  <a:endParaRPr lang="zh-TW" altLang="en-US" sz="1050" dirty="0">
                    <a:solidFill>
                      <a:srgbClr val="7030A0"/>
                    </a:solidFill>
                    <a:latin typeface="微軟正黑體" panose="020B0604030504040204" pitchFamily="34" charset="-120"/>
                    <a:ea typeface="微軟正黑體" panose="020B0604030504040204" pitchFamily="34" charset="-120"/>
                  </a:endParaRPr>
                </a:p>
              </p:txBody>
            </p:sp>
          </mc:Choice>
          <mc:Fallback xmlns="">
            <p:sp>
              <p:nvSpPr>
                <p:cNvPr id="39" name="文字方塊 38"/>
                <p:cNvSpPr txBox="1">
                  <a:spLocks noRot="1" noChangeAspect="1" noMove="1" noResize="1" noEditPoints="1" noAdjustHandles="1" noChangeArrowheads="1" noChangeShapeType="1" noTextEdit="1"/>
                </p:cNvSpPr>
                <p:nvPr/>
              </p:nvSpPr>
              <p:spPr>
                <a:xfrm>
                  <a:off x="4727498" y="800729"/>
                  <a:ext cx="5040639" cy="347203"/>
                </a:xfrm>
                <a:prstGeom prst="rect">
                  <a:avLst/>
                </a:prstGeom>
                <a:blipFill rotWithShape="0">
                  <a:blip r:embed="rId12"/>
                  <a:stretch>
                    <a:fillRect l="-2078" t="-3846" r="-519" b="-42308"/>
                  </a:stretch>
                </a:blipFill>
              </p:spPr>
              <p:txBody>
                <a:bodyPr/>
                <a:lstStyle/>
                <a:p>
                  <a:r>
                    <a:rPr lang="zh-TW" altLang="en-US">
                      <a:noFill/>
                    </a:rPr>
                    <a:t> </a:t>
                  </a:r>
                </a:p>
              </p:txBody>
            </p:sp>
          </mc:Fallback>
        </mc:AlternateContent>
        <p:cxnSp>
          <p:nvCxnSpPr>
            <p:cNvPr id="42" name="直線接點 41"/>
            <p:cNvCxnSpPr/>
            <p:nvPr/>
          </p:nvCxnSpPr>
          <p:spPr>
            <a:xfrm flipV="1">
              <a:off x="5294645" y="3655872"/>
              <a:ext cx="0" cy="2419629"/>
            </a:xfrm>
            <a:prstGeom prst="line">
              <a:avLst/>
            </a:prstGeom>
            <a:ln w="28575">
              <a:solidFill>
                <a:srgbClr val="7030A0"/>
              </a:solidFill>
              <a:prstDash val="solid"/>
            </a:ln>
          </p:spPr>
          <p:style>
            <a:lnRef idx="1">
              <a:schemeClr val="accent1"/>
            </a:lnRef>
            <a:fillRef idx="0">
              <a:schemeClr val="accent1"/>
            </a:fillRef>
            <a:effectRef idx="0">
              <a:schemeClr val="accent1"/>
            </a:effectRef>
            <a:fontRef idx="minor">
              <a:schemeClr val="tx1"/>
            </a:fontRef>
          </p:style>
        </p:cxnSp>
        <p:cxnSp>
          <p:nvCxnSpPr>
            <p:cNvPr id="43" name="直線接點 42"/>
            <p:cNvCxnSpPr/>
            <p:nvPr/>
          </p:nvCxnSpPr>
          <p:spPr>
            <a:xfrm>
              <a:off x="3510468" y="1330806"/>
              <a:ext cx="2382" cy="2331099"/>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5" name="標題 1"/>
              <p:cNvSpPr txBox="1">
                <a:spLocks/>
              </p:cNvSpPr>
              <p:nvPr/>
            </p:nvSpPr>
            <p:spPr>
              <a:xfrm>
                <a:off x="347730" y="135052"/>
                <a:ext cx="11844270" cy="79252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TW" altLang="en-US" sz="4800" dirty="0" smtClean="0">
                    <a:latin typeface="微軟正黑體" panose="020B0604030504040204" pitchFamily="34" charset="-120"/>
                    <a:ea typeface="微軟正黑體" panose="020B0604030504040204" pitchFamily="34" charset="-120"/>
                    <a:cs typeface="Arial" pitchFamily="34" charset="0"/>
                  </a:rPr>
                  <a:t>公式推導－</a:t>
                </a:r>
                <a14:m>
                  <m:oMath xmlns:m="http://schemas.openxmlformats.org/officeDocument/2006/math">
                    <m:r>
                      <a:rPr lang="en-US" altLang="zh-TW" sz="4800" b="0" i="1" smtClean="0">
                        <a:latin typeface="Cambria Math" panose="02040503050406030204" pitchFamily="18" charset="0"/>
                        <a:ea typeface="微軟正黑體" panose="020B0604030504040204" pitchFamily="34" charset="-120"/>
                        <a:cs typeface="Arial" pitchFamily="34" charset="0"/>
                      </a:rPr>
                      <m:t>𝐶𝐶</m:t>
                    </m:r>
                  </m:oMath>
                </a14:m>
                <a:r>
                  <a:rPr lang="zh-TW" altLang="en-US" sz="4800" i="1" dirty="0" smtClean="0">
                    <a:latin typeface="微軟正黑體" panose="020B0604030504040204" pitchFamily="34" charset="-120"/>
                    <a:ea typeface="微軟正黑體" panose="020B0604030504040204" pitchFamily="34" charset="-120"/>
                    <a:cs typeface="Arial" pitchFamily="34" charset="0"/>
                  </a:rPr>
                  <a:t>   </a:t>
                </a:r>
                <a:r>
                  <a:rPr lang="en-US" altLang="zh-TW" sz="4800" dirty="0">
                    <a:latin typeface="微軟正黑體" panose="020B0604030504040204" pitchFamily="34" charset="-120"/>
                    <a:ea typeface="微軟正黑體" panose="020B0604030504040204" pitchFamily="34" charset="-120"/>
                    <a:cs typeface="Arial" pitchFamily="34" charset="0"/>
                  </a:rPr>
                  <a:t>(</a:t>
                </a:r>
                <a14:m>
                  <m:oMath xmlns:m="http://schemas.openxmlformats.org/officeDocument/2006/math">
                    <m:sSub>
                      <m:sSubPr>
                        <m:ctrlPr>
                          <a:rPr lang="en-US" altLang="zh-TW" sz="4800" i="1">
                            <a:latin typeface="Cambria Math" panose="02040503050406030204" pitchFamily="18" charset="0"/>
                          </a:rPr>
                        </m:ctrlPr>
                      </m:sSubPr>
                      <m:e>
                        <m:r>
                          <a:rPr lang="en-US" altLang="zh-TW" sz="4800" i="1">
                            <a:latin typeface="Cambria Math" panose="02040503050406030204" pitchFamily="18" charset="0"/>
                          </a:rPr>
                          <m:t>𝑉</m:t>
                        </m:r>
                      </m:e>
                      <m:sub>
                        <m:r>
                          <a:rPr lang="en-US" altLang="zh-TW" sz="4800" i="1">
                            <a:latin typeface="Cambria Math" panose="02040503050406030204" pitchFamily="18" charset="0"/>
                          </a:rPr>
                          <m:t>𝐿</m:t>
                        </m:r>
                      </m:sub>
                    </m:sSub>
                    <m:r>
                      <a:rPr lang="en-US" altLang="zh-TW" sz="4800" i="1">
                        <a:latin typeface="Cambria Math" panose="02040503050406030204" pitchFamily="18" charset="0"/>
                      </a:rPr>
                      <m:t>=</m:t>
                    </m:r>
                    <m:r>
                      <a:rPr lang="en-US" altLang="zh-TW" sz="4800" i="1">
                        <a:latin typeface="Cambria Math" panose="02040503050406030204" pitchFamily="18" charset="0"/>
                      </a:rPr>
                      <m:t>𝐷𝑒𝑏𝑡</m:t>
                    </m:r>
                    <m:r>
                      <a:rPr lang="en-US" altLang="zh-TW" sz="4800" i="1">
                        <a:latin typeface="Cambria Math" panose="02040503050406030204" pitchFamily="18" charset="0"/>
                      </a:rPr>
                      <m:t>+</m:t>
                    </m:r>
                    <m:r>
                      <a:rPr lang="en-US" altLang="zh-TW" sz="4800" i="1">
                        <a:latin typeface="Cambria Math" panose="02040503050406030204" pitchFamily="18" charset="0"/>
                      </a:rPr>
                      <m:t>𝐸𝑞𝑢𝑖𝑡𝑦</m:t>
                    </m:r>
                  </m:oMath>
                </a14:m>
                <a:r>
                  <a:rPr lang="en-US" altLang="zh-TW" sz="4800" dirty="0">
                    <a:latin typeface="微軟正黑體" panose="020B0604030504040204" pitchFamily="34" charset="-120"/>
                    <a:ea typeface="微軟正黑體" panose="020B0604030504040204" pitchFamily="34" charset="-120"/>
                    <a:cs typeface="Arial" pitchFamily="34" charset="0"/>
                  </a:rPr>
                  <a:t>)</a:t>
                </a:r>
              </a:p>
            </p:txBody>
          </p:sp>
        </mc:Choice>
        <mc:Fallback xmlns="">
          <p:sp>
            <p:nvSpPr>
              <p:cNvPr id="45" name="標題 1"/>
              <p:cNvSpPr txBox="1">
                <a:spLocks noRot="1" noChangeAspect="1" noMove="1" noResize="1" noEditPoints="1" noAdjustHandles="1" noChangeArrowheads="1" noChangeShapeType="1" noTextEdit="1"/>
              </p:cNvSpPr>
              <p:nvPr/>
            </p:nvSpPr>
            <p:spPr>
              <a:xfrm>
                <a:off x="347730" y="135052"/>
                <a:ext cx="11844270" cy="792520"/>
              </a:xfrm>
              <a:prstGeom prst="rect">
                <a:avLst/>
              </a:prstGeom>
              <a:blipFill rotWithShape="0">
                <a:blip r:embed="rId13"/>
                <a:stretch>
                  <a:fillRect l="-2316" t="-21538" b="-4076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84558" y="3112393"/>
                <a:ext cx="12049776" cy="3470309"/>
              </a:xfrm>
              <a:prstGeom prst="rect">
                <a:avLst/>
              </a:prstGeom>
            </p:spPr>
            <p:txBody>
              <a:bodyPr wrap="square">
                <a:spAutoFit/>
              </a:bodyPr>
              <a:lstStyle/>
              <a:p>
                <a:pPr>
                  <a:lnSpc>
                    <a:spcPct val="150000"/>
                  </a:lnSpc>
                </a:pPr>
                <a14:m>
                  <m:oMathPara xmlns:m="http://schemas.openxmlformats.org/officeDocument/2006/math">
                    <m:oMathParaPr>
                      <m:jc m:val="left"/>
                    </m:oMathParaPr>
                    <m:oMath xmlns:m="http://schemas.openxmlformats.org/officeDocument/2006/math">
                      <m:r>
                        <a:rPr lang="en-US" altLang="zh-TW" sz="2800" i="1" smtClean="0">
                          <a:latin typeface="Cambria Math" panose="02040503050406030204" pitchFamily="18" charset="0"/>
                        </a:rPr>
                        <m:t>𝐶𝐶</m:t>
                      </m:r>
                    </m:oMath>
                  </m:oMathPara>
                </a14:m>
                <a:endParaRPr lang="en-US" altLang="zh-TW" sz="2800" i="1" dirty="0">
                  <a:latin typeface="Cambria Math"/>
                </a:endParaRPr>
              </a:p>
              <a:p>
                <a:pPr>
                  <a:lnSpc>
                    <a:spcPct val="150000"/>
                  </a:lnSpc>
                </a:pPr>
                <a14:m>
                  <m:oMathPara xmlns:m="http://schemas.openxmlformats.org/officeDocument/2006/math">
                    <m:oMathParaPr>
                      <m:jc m:val="left"/>
                    </m:oMathParaPr>
                    <m:oMath xmlns:m="http://schemas.openxmlformats.org/officeDocument/2006/math">
                      <m:r>
                        <a:rPr lang="en-US" altLang="zh-TW" i="1">
                          <a:latin typeface="Cambria Math"/>
                        </a:rPr>
                        <m:t>=</m:t>
                      </m:r>
                      <m:acc>
                        <m:accPr>
                          <m:chr m:val="̃"/>
                          <m:ctrlPr>
                            <a:rPr lang="en-US" altLang="zh-TW" i="1" smtClean="0">
                              <a:solidFill>
                                <a:srgbClr val="00B0F0"/>
                              </a:solidFill>
                              <a:latin typeface="Cambria Math" panose="02040503050406030204" pitchFamily="18" charset="0"/>
                            </a:rPr>
                          </m:ctrlPr>
                        </m:accPr>
                        <m:e>
                          <m:r>
                            <a:rPr lang="en-US" altLang="zh-TW" i="1">
                              <a:solidFill>
                                <a:srgbClr val="00B0F0"/>
                              </a:solidFill>
                              <a:latin typeface="Cambria Math"/>
                            </a:rPr>
                            <m:t>𝐸</m:t>
                          </m:r>
                        </m:e>
                      </m:acc>
                      <m:r>
                        <a:rPr lang="en-US" altLang="zh-TW" i="1">
                          <a:solidFill>
                            <a:srgbClr val="00B0F0"/>
                          </a:solidFill>
                          <a:latin typeface="Cambria Math"/>
                        </a:rPr>
                        <m:t>[</m:t>
                      </m:r>
                      <m:sSub>
                        <m:sSubPr>
                          <m:ctrlPr>
                            <a:rPr lang="en-US" altLang="zh-TW" i="1">
                              <a:solidFill>
                                <a:srgbClr val="00B0F0"/>
                              </a:solidFill>
                              <a:latin typeface="Cambria Math" panose="02040503050406030204" pitchFamily="18" charset="0"/>
                            </a:rPr>
                          </m:ctrlPr>
                        </m:sSubPr>
                        <m:e>
                          <m:r>
                            <a:rPr lang="en-US" altLang="zh-TW" i="1">
                              <a:solidFill>
                                <a:srgbClr val="00B0F0"/>
                              </a:solidFill>
                              <a:latin typeface="Cambria Math"/>
                            </a:rPr>
                            <m:t>𝐷</m:t>
                          </m:r>
                        </m:e>
                        <m:sub>
                          <m:r>
                            <a:rPr lang="en-US" altLang="zh-TW" i="1">
                              <a:solidFill>
                                <a:srgbClr val="00B0F0"/>
                              </a:solidFill>
                              <a:latin typeface="Cambria Math"/>
                            </a:rPr>
                            <m:t>2</m:t>
                          </m:r>
                        </m:sub>
                      </m:sSub>
                      <m:r>
                        <a:rPr lang="en-US" altLang="zh-TW" i="1">
                          <a:solidFill>
                            <a:srgbClr val="00B0F0"/>
                          </a:solidFill>
                          <a:latin typeface="Cambria Math"/>
                        </a:rPr>
                        <m:t>+</m:t>
                      </m:r>
                      <m:sSub>
                        <m:sSubPr>
                          <m:ctrlPr>
                            <a:rPr lang="en-US" altLang="zh-TW" i="1">
                              <a:solidFill>
                                <a:srgbClr val="00B0F0"/>
                              </a:solidFill>
                              <a:latin typeface="Cambria Math" panose="02040503050406030204" pitchFamily="18" charset="0"/>
                            </a:rPr>
                          </m:ctrlPr>
                        </m:sSubPr>
                        <m:e>
                          <m:r>
                            <a:rPr lang="en-US" altLang="zh-TW" i="1">
                              <a:solidFill>
                                <a:srgbClr val="00B0F0"/>
                              </a:solidFill>
                              <a:latin typeface="Cambria Math"/>
                            </a:rPr>
                            <m:t>𝐶</m:t>
                          </m:r>
                        </m:e>
                        <m:sub>
                          <m:r>
                            <a:rPr lang="en-US" altLang="zh-TW" i="1">
                              <a:solidFill>
                                <a:srgbClr val="00B0F0"/>
                              </a:solidFill>
                              <a:latin typeface="Cambria Math"/>
                            </a:rPr>
                            <m:t>2</m:t>
                          </m:r>
                        </m:sub>
                      </m:sSub>
                      <m:sSub>
                        <m:sSubPr>
                          <m:ctrlPr>
                            <a:rPr lang="en-US" altLang="zh-TW" i="1">
                              <a:solidFill>
                                <a:srgbClr val="00B0F0"/>
                              </a:solidFill>
                              <a:latin typeface="Cambria Math" panose="02040503050406030204" pitchFamily="18" charset="0"/>
                            </a:rPr>
                          </m:ctrlPr>
                        </m:sSubPr>
                        <m:e>
                          <m:r>
                            <a:rPr lang="en-US" altLang="zh-TW" i="1">
                              <a:solidFill>
                                <a:srgbClr val="00B0F0"/>
                              </a:solidFill>
                              <a:latin typeface="Cambria Math"/>
                            </a:rPr>
                            <m:t>𝐷</m:t>
                          </m:r>
                        </m:e>
                        <m:sub>
                          <m:r>
                            <a:rPr lang="en-US" altLang="zh-TW" i="1">
                              <a:solidFill>
                                <a:srgbClr val="00B0F0"/>
                              </a:solidFill>
                              <a:latin typeface="Cambria Math"/>
                            </a:rPr>
                            <m:t>2</m:t>
                          </m:r>
                        </m:sub>
                      </m:sSub>
                      <m:r>
                        <a:rPr lang="en-US" altLang="zh-TW" i="1">
                          <a:solidFill>
                            <a:srgbClr val="00B0F0"/>
                          </a:solidFill>
                          <a:latin typeface="Cambria Math"/>
                        </a:rPr>
                        <m:t>𝑇</m:t>
                      </m:r>
                      <m:r>
                        <a:rPr lang="en-US" altLang="zh-TW" i="1">
                          <a:solidFill>
                            <a:srgbClr val="00B0F0"/>
                          </a:solidFill>
                          <a:latin typeface="Cambria Math"/>
                        </a:rPr>
                        <m:t>]</m:t>
                      </m:r>
                      <m:sSup>
                        <m:sSupPr>
                          <m:ctrlPr>
                            <a:rPr lang="en-US" altLang="zh-TW" i="1">
                              <a:solidFill>
                                <a:srgbClr val="00B0F0"/>
                              </a:solidFill>
                              <a:latin typeface="Cambria Math" panose="02040503050406030204" pitchFamily="18" charset="0"/>
                            </a:rPr>
                          </m:ctrlPr>
                        </m:sSupPr>
                        <m:e>
                          <m:r>
                            <a:rPr lang="en-US" altLang="zh-TW" i="1">
                              <a:solidFill>
                                <a:srgbClr val="00B0F0"/>
                              </a:solidFill>
                              <a:latin typeface="Cambria Math"/>
                            </a:rPr>
                            <m:t>  </m:t>
                          </m:r>
                          <m:r>
                            <a:rPr lang="en-US" altLang="zh-TW" i="1">
                              <a:solidFill>
                                <a:srgbClr val="00B0F0"/>
                              </a:solidFill>
                              <a:latin typeface="Cambria Math"/>
                            </a:rPr>
                            <m:t>𝑒</m:t>
                          </m:r>
                        </m:e>
                        <m:sup>
                          <m:r>
                            <a:rPr lang="en-US" altLang="zh-TW" i="1">
                              <a:solidFill>
                                <a:srgbClr val="00B0F0"/>
                              </a:solidFill>
                              <a:latin typeface="Cambria Math"/>
                            </a:rPr>
                            <m:t>−</m:t>
                          </m:r>
                          <m:r>
                            <a:rPr lang="en-US" altLang="zh-TW" i="1">
                              <a:solidFill>
                                <a:srgbClr val="00B0F0"/>
                              </a:solidFill>
                              <a:latin typeface="Cambria Math"/>
                            </a:rPr>
                            <m:t>𝑟𝑇</m:t>
                          </m:r>
                        </m:sup>
                      </m:sSup>
                      <m:sSub>
                        <m:sSubPr>
                          <m:ctrlPr>
                            <a:rPr lang="en-US" altLang="zh-TW" i="1">
                              <a:solidFill>
                                <a:srgbClr val="00B0F0"/>
                              </a:solidFill>
                              <a:latin typeface="Cambria Math" panose="02040503050406030204" pitchFamily="18" charset="0"/>
                            </a:rPr>
                          </m:ctrlPr>
                        </m:sSubPr>
                        <m:e>
                          <m:r>
                            <a:rPr lang="en-US" altLang="zh-TW" i="1">
                              <a:solidFill>
                                <a:srgbClr val="00B0F0"/>
                              </a:solidFill>
                              <a:latin typeface="Cambria Math"/>
                            </a:rPr>
                            <m:t>𝐼</m:t>
                          </m:r>
                        </m:e>
                        <m:sub>
                          <m:d>
                            <m:dPr>
                              <m:begChr m:val="{"/>
                              <m:endChr m:val="}"/>
                              <m:ctrlPr>
                                <a:rPr lang="en-US" altLang="zh-TW" i="1">
                                  <a:solidFill>
                                    <a:srgbClr val="00B0F0"/>
                                  </a:solidFill>
                                  <a:latin typeface="Cambria Math" panose="02040503050406030204" pitchFamily="18" charset="0"/>
                                </a:rPr>
                              </m:ctrlPr>
                            </m:dPr>
                            <m:e>
                              <m:r>
                                <a:rPr lang="zh-TW" altLang="en-US" i="1">
                                  <a:solidFill>
                                    <a:srgbClr val="00B0F0"/>
                                  </a:solidFill>
                                  <a:latin typeface="Cambria Math"/>
                                </a:rPr>
                                <m:t>存活，</m:t>
                              </m:r>
                              <m:r>
                                <a:rPr lang="en-US" altLang="zh-TW" i="1">
                                  <a:solidFill>
                                    <a:srgbClr val="00B0F0"/>
                                  </a:solidFill>
                                  <a:latin typeface="Cambria Math" panose="02040503050406030204" pitchFamily="18" charset="0"/>
                                </a:rPr>
                                <m:t>𝐶𝐶</m:t>
                              </m:r>
                              <m:r>
                                <a:rPr lang="zh-TW" altLang="en-US" i="1">
                                  <a:solidFill>
                                    <a:srgbClr val="00B0F0"/>
                                  </a:solidFill>
                                  <a:latin typeface="Cambria Math"/>
                                </a:rPr>
                                <m:t>未轉換</m:t>
                              </m:r>
                            </m:e>
                          </m:d>
                          <m:r>
                            <a:rPr lang="en-US" altLang="zh-TW" i="1">
                              <a:solidFill>
                                <a:srgbClr val="00B0F0"/>
                              </a:solidFill>
                              <a:latin typeface="Cambria Math"/>
                            </a:rPr>
                            <m:t>  </m:t>
                          </m:r>
                        </m:sub>
                      </m:sSub>
                      <m:r>
                        <a:rPr lang="en-US" altLang="zh-TW" i="1">
                          <a:solidFill>
                            <a:srgbClr val="00B0F0"/>
                          </a:solidFill>
                          <a:latin typeface="Cambria Math"/>
                        </a:rPr>
                        <m:t>}</m:t>
                      </m:r>
                    </m:oMath>
                  </m:oMathPara>
                </a14:m>
                <a:endParaRPr lang="en-US" altLang="zh-TW" i="1" dirty="0" smtClean="0">
                  <a:solidFill>
                    <a:srgbClr val="00B0F0"/>
                  </a:solidFill>
                  <a:latin typeface="Cambria Math"/>
                </a:endParaRPr>
              </a:p>
              <a:p>
                <a:pPr>
                  <a:lnSpc>
                    <a:spcPct val="150000"/>
                  </a:lnSpc>
                </a:pPr>
                <a14:m>
                  <m:oMathPara xmlns:m="http://schemas.openxmlformats.org/officeDocument/2006/math">
                    <m:oMathParaPr>
                      <m:jc m:val="left"/>
                    </m:oMathParaPr>
                    <m:oMath xmlns:m="http://schemas.openxmlformats.org/officeDocument/2006/math">
                      <m:r>
                        <a:rPr lang="en-US" altLang="zh-TW" i="1">
                          <a:solidFill>
                            <a:srgbClr val="FF0000"/>
                          </a:solidFill>
                          <a:latin typeface="Cambria Math"/>
                        </a:rPr>
                        <m:t>+ </m:t>
                      </m:r>
                      <m:acc>
                        <m:accPr>
                          <m:chr m:val="̃"/>
                          <m:ctrlPr>
                            <a:rPr lang="en-US" altLang="zh-TW" i="1">
                              <a:solidFill>
                                <a:srgbClr val="FF0000"/>
                              </a:solidFill>
                              <a:latin typeface="Cambria Math" panose="02040503050406030204" pitchFamily="18" charset="0"/>
                            </a:rPr>
                          </m:ctrlPr>
                        </m:accPr>
                        <m:e>
                          <m:r>
                            <a:rPr lang="en-US" altLang="zh-TW" i="1">
                              <a:solidFill>
                                <a:srgbClr val="FF0000"/>
                              </a:solidFill>
                              <a:latin typeface="Cambria Math"/>
                            </a:rPr>
                            <m:t>𝐸</m:t>
                          </m:r>
                        </m:e>
                      </m:acc>
                      <m:r>
                        <a:rPr lang="en-US" altLang="zh-TW" i="1">
                          <a:solidFill>
                            <a:srgbClr val="FF0000"/>
                          </a:solidFill>
                          <a:latin typeface="Cambria Math" panose="02040503050406030204" pitchFamily="18" charset="0"/>
                        </a:rPr>
                        <m:t>{</m:t>
                      </m:r>
                      <m:r>
                        <a:rPr lang="en-US" altLang="zh-TW" i="1">
                          <a:solidFill>
                            <a:srgbClr val="FF0000"/>
                          </a:solidFill>
                          <a:latin typeface="Cambria Math"/>
                        </a:rPr>
                        <m:t>[[</m:t>
                      </m:r>
                      <m:r>
                        <a:rPr lang="en-US" altLang="zh-TW" i="1">
                          <a:solidFill>
                            <a:srgbClr val="FF0000"/>
                          </a:solidFill>
                          <a:latin typeface="Cambria Math"/>
                        </a:rPr>
                        <m:t>𝑉</m:t>
                      </m:r>
                      <m:d>
                        <m:dPr>
                          <m:ctrlPr>
                            <a:rPr lang="en-US" altLang="zh-TW" i="1">
                              <a:solidFill>
                                <a:srgbClr val="FF0000"/>
                              </a:solidFill>
                              <a:latin typeface="Cambria Math" panose="02040503050406030204" pitchFamily="18" charset="0"/>
                            </a:rPr>
                          </m:ctrlPr>
                        </m:dPr>
                        <m:e>
                          <m:r>
                            <a:rPr lang="en-US" altLang="zh-TW" i="1">
                              <a:solidFill>
                                <a:srgbClr val="FF0000"/>
                              </a:solidFill>
                              <a:latin typeface="Cambria Math"/>
                            </a:rPr>
                            <m:t>𝑇</m:t>
                          </m:r>
                        </m:e>
                      </m:d>
                      <m:r>
                        <a:rPr lang="en-US" altLang="zh-TW" i="1">
                          <a:solidFill>
                            <a:srgbClr val="FF0000"/>
                          </a:solidFill>
                          <a:latin typeface="Cambria Math"/>
                        </a:rPr>
                        <m:t>−[</m:t>
                      </m:r>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𝐷</m:t>
                          </m:r>
                        </m:e>
                        <m:sub>
                          <m:r>
                            <a:rPr lang="en-US" altLang="zh-TW" i="1">
                              <a:solidFill>
                                <a:srgbClr val="FF0000"/>
                              </a:solidFill>
                              <a:latin typeface="Cambria Math"/>
                            </a:rPr>
                            <m:t>1</m:t>
                          </m:r>
                        </m:sub>
                      </m:sSub>
                      <m:r>
                        <a:rPr lang="en-US" altLang="zh-TW" i="1" dirty="0">
                          <a:solidFill>
                            <a:srgbClr val="FF0000"/>
                          </a:solidFill>
                          <a:latin typeface="Cambria Math" panose="02040503050406030204" pitchFamily="18" charset="0"/>
                          <a:ea typeface="微軟正黑體" panose="020B0604030504040204" pitchFamily="34" charset="-120"/>
                        </a:rPr>
                        <m:t>+</m:t>
                      </m:r>
                      <m:r>
                        <a:rPr lang="en-US" altLang="zh-TW" i="1">
                          <a:solidFill>
                            <a:srgbClr val="FF0000"/>
                          </a:solidFill>
                          <a:latin typeface="Cambria Math"/>
                        </a:rPr>
                        <m:t>(1−</m:t>
                      </m:r>
                      <m:r>
                        <a:rPr lang="en-US" altLang="zh-TW" i="1">
                          <a:solidFill>
                            <a:srgbClr val="FF0000"/>
                          </a:solidFill>
                          <a:latin typeface="Cambria Math"/>
                        </a:rPr>
                        <m:t>𝑡𝑎𝑥</m:t>
                      </m:r>
                      <m:r>
                        <a:rPr lang="en-US" altLang="zh-TW" i="1">
                          <a:solidFill>
                            <a:srgbClr val="FF0000"/>
                          </a:solidFill>
                          <a:latin typeface="Cambria Math"/>
                        </a:rPr>
                        <m:t>)(</m:t>
                      </m:r>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𝐶</m:t>
                          </m:r>
                        </m:e>
                        <m:sub>
                          <m:r>
                            <a:rPr lang="en-US" altLang="zh-TW" i="1">
                              <a:solidFill>
                                <a:srgbClr val="FF0000"/>
                              </a:solidFill>
                              <a:latin typeface="Cambria Math"/>
                            </a:rPr>
                            <m:t>1</m:t>
                          </m:r>
                        </m:sub>
                      </m:sSub>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𝐷</m:t>
                          </m:r>
                        </m:e>
                        <m:sub>
                          <m:r>
                            <a:rPr lang="en-US" altLang="zh-TW" i="1">
                              <a:solidFill>
                                <a:srgbClr val="FF0000"/>
                              </a:solidFill>
                              <a:latin typeface="Cambria Math"/>
                            </a:rPr>
                            <m:t>1</m:t>
                          </m:r>
                        </m:sub>
                      </m:sSub>
                      <m:r>
                        <a:rPr lang="en-US" altLang="zh-TW" i="1">
                          <a:solidFill>
                            <a:srgbClr val="FF0000"/>
                          </a:solidFill>
                          <a:latin typeface="Cambria Math"/>
                        </a:rPr>
                        <m:t>𝑇</m:t>
                      </m:r>
                      <m:r>
                        <a:rPr lang="en-US" altLang="zh-TW" i="1">
                          <a:solidFill>
                            <a:srgbClr val="FF0000"/>
                          </a:solidFill>
                          <a:latin typeface="Cambria Math"/>
                        </a:rPr>
                        <m:t>+</m:t>
                      </m:r>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𝐶</m:t>
                          </m:r>
                        </m:e>
                        <m:sub>
                          <m:r>
                            <a:rPr lang="en-US" altLang="zh-TW" i="1">
                              <a:solidFill>
                                <a:srgbClr val="FF0000"/>
                              </a:solidFill>
                              <a:latin typeface="Cambria Math"/>
                            </a:rPr>
                            <m:t>2</m:t>
                          </m:r>
                        </m:sub>
                      </m:sSub>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𝐷</m:t>
                          </m:r>
                        </m:e>
                        <m:sub>
                          <m:r>
                            <a:rPr lang="en-US" altLang="zh-TW" i="1">
                              <a:solidFill>
                                <a:srgbClr val="FF0000"/>
                              </a:solidFill>
                              <a:latin typeface="Cambria Math"/>
                            </a:rPr>
                            <m:t>2</m:t>
                          </m:r>
                        </m:sub>
                      </m:sSub>
                      <m:r>
                        <a:rPr lang="en-US" altLang="zh-TW" i="1">
                          <a:solidFill>
                            <a:srgbClr val="FF0000"/>
                          </a:solidFill>
                          <a:latin typeface="Cambria Math"/>
                        </a:rPr>
                        <m:t>𝑇</m:t>
                      </m:r>
                      <m:r>
                        <a:rPr lang="en-US" altLang="zh-TW" i="1">
                          <a:solidFill>
                            <a:srgbClr val="FF0000"/>
                          </a:solidFill>
                          <a:latin typeface="Cambria Math"/>
                        </a:rPr>
                        <m:t>)]]</m:t>
                      </m:r>
                      <m:f>
                        <m:fPr>
                          <m:ctrlPr>
                            <a:rPr lang="en-US" altLang="zh-TW" i="1">
                              <a:solidFill>
                                <a:srgbClr val="FF0000"/>
                              </a:solidFill>
                              <a:latin typeface="Cambria Math" panose="02040503050406030204" pitchFamily="18" charset="0"/>
                            </a:rPr>
                          </m:ctrlPr>
                        </m:fPr>
                        <m:num>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𝑂</m:t>
                              </m:r>
                            </m:e>
                            <m:sub>
                              <m:r>
                                <a:rPr lang="en-US" altLang="zh-TW" i="1">
                                  <a:solidFill>
                                    <a:srgbClr val="FF0000"/>
                                  </a:solidFill>
                                  <a:latin typeface="Cambria Math" panose="02040503050406030204" pitchFamily="18" charset="0"/>
                                </a:rPr>
                                <m:t>𝐶𝐶</m:t>
                              </m:r>
                            </m:sub>
                          </m:sSub>
                        </m:num>
                        <m:den>
                          <m:r>
                            <a:rPr lang="en-US" altLang="zh-TW" i="1">
                              <a:solidFill>
                                <a:srgbClr val="FF0000"/>
                              </a:solidFill>
                              <a:latin typeface="Cambria Math" panose="02040503050406030204" pitchFamily="18" charset="0"/>
                            </a:rPr>
                            <m:t>𝑂</m:t>
                          </m:r>
                          <m:r>
                            <a:rPr lang="en-US" altLang="zh-TW" i="1">
                              <a:solidFill>
                                <a:srgbClr val="FF0000"/>
                              </a:solidFill>
                              <a:latin typeface="Cambria Math" panose="02040503050406030204" pitchFamily="18" charset="0"/>
                            </a:rPr>
                            <m:t>+</m:t>
                          </m:r>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𝑂</m:t>
                              </m:r>
                            </m:e>
                            <m:sub>
                              <m:r>
                                <a:rPr lang="en-US" altLang="zh-TW" i="1">
                                  <a:solidFill>
                                    <a:srgbClr val="FF0000"/>
                                  </a:solidFill>
                                  <a:latin typeface="Cambria Math" panose="02040503050406030204" pitchFamily="18" charset="0"/>
                                </a:rPr>
                                <m:t>𝐶𝐶</m:t>
                              </m:r>
                            </m:sub>
                          </m:sSub>
                        </m:den>
                      </m:f>
                      <m:r>
                        <a:rPr lang="en-US" altLang="zh-TW" i="1">
                          <a:solidFill>
                            <a:srgbClr val="FF0000"/>
                          </a:solidFill>
                          <a:latin typeface="Cambria Math"/>
                        </a:rPr>
                        <m:t>+</m:t>
                      </m:r>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𝐶</m:t>
                          </m:r>
                        </m:e>
                        <m:sub>
                          <m:r>
                            <a:rPr lang="en-US" altLang="zh-TW" i="1">
                              <a:solidFill>
                                <a:srgbClr val="FF0000"/>
                              </a:solidFill>
                              <a:latin typeface="Cambria Math"/>
                            </a:rPr>
                            <m:t>2</m:t>
                          </m:r>
                        </m:sub>
                      </m:sSub>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𝐷</m:t>
                          </m:r>
                        </m:e>
                        <m:sub>
                          <m:r>
                            <a:rPr lang="en-US" altLang="zh-TW" i="1">
                              <a:solidFill>
                                <a:srgbClr val="FF0000"/>
                              </a:solidFill>
                              <a:latin typeface="Cambria Math"/>
                            </a:rPr>
                            <m:t>2</m:t>
                          </m:r>
                        </m:sub>
                      </m:sSub>
                      <m:r>
                        <a:rPr lang="en-US" altLang="zh-TW" i="1">
                          <a:solidFill>
                            <a:srgbClr val="FF0000"/>
                          </a:solidFill>
                          <a:latin typeface="Cambria Math"/>
                        </a:rPr>
                        <m:t>𝑇</m:t>
                      </m:r>
                      <m:r>
                        <a:rPr lang="en-US" altLang="zh-TW" i="1">
                          <a:solidFill>
                            <a:srgbClr val="FF0000"/>
                          </a:solidFill>
                          <a:latin typeface="Cambria Math"/>
                        </a:rPr>
                        <m:t>]</m:t>
                      </m:r>
                      <m:sSup>
                        <m:sSupPr>
                          <m:ctrlPr>
                            <a:rPr lang="en-US" altLang="zh-TW" i="1">
                              <a:solidFill>
                                <a:srgbClr val="FF0000"/>
                              </a:solidFill>
                              <a:latin typeface="Cambria Math" panose="02040503050406030204" pitchFamily="18" charset="0"/>
                            </a:rPr>
                          </m:ctrlPr>
                        </m:sSupPr>
                        <m:e>
                          <m:r>
                            <a:rPr lang="en-US" altLang="zh-TW" i="1">
                              <a:solidFill>
                                <a:srgbClr val="FF0000"/>
                              </a:solidFill>
                              <a:latin typeface="Cambria Math"/>
                            </a:rPr>
                            <m:t>  </m:t>
                          </m:r>
                          <m:r>
                            <a:rPr lang="en-US" altLang="zh-TW" i="1">
                              <a:solidFill>
                                <a:srgbClr val="FF0000"/>
                              </a:solidFill>
                              <a:latin typeface="Cambria Math"/>
                            </a:rPr>
                            <m:t>𝑒</m:t>
                          </m:r>
                        </m:e>
                        <m:sup>
                          <m:r>
                            <a:rPr lang="en-US" altLang="zh-TW" i="1">
                              <a:solidFill>
                                <a:srgbClr val="FF0000"/>
                              </a:solidFill>
                              <a:latin typeface="Cambria Math"/>
                            </a:rPr>
                            <m:t>−</m:t>
                          </m:r>
                          <m:r>
                            <a:rPr lang="en-US" altLang="zh-TW" i="1">
                              <a:solidFill>
                                <a:srgbClr val="FF0000"/>
                              </a:solidFill>
                              <a:latin typeface="Cambria Math"/>
                            </a:rPr>
                            <m:t>𝑟𝑇</m:t>
                          </m:r>
                        </m:sup>
                      </m:sSup>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𝐼</m:t>
                          </m:r>
                        </m:e>
                        <m:sub>
                          <m:d>
                            <m:dPr>
                              <m:begChr m:val="{"/>
                              <m:endChr m:val="}"/>
                              <m:ctrlPr>
                                <a:rPr lang="en-US" altLang="zh-TW" i="1">
                                  <a:solidFill>
                                    <a:srgbClr val="FF0000"/>
                                  </a:solidFill>
                                  <a:latin typeface="Cambria Math" panose="02040503050406030204" pitchFamily="18" charset="0"/>
                                </a:rPr>
                              </m:ctrlPr>
                            </m:dPr>
                            <m:e>
                              <m:r>
                                <a:rPr lang="zh-TW" altLang="en-US" i="1">
                                  <a:solidFill>
                                    <a:srgbClr val="FF0000"/>
                                  </a:solidFill>
                                  <a:latin typeface="Cambria Math"/>
                                </a:rPr>
                                <m:t>存活，</m:t>
                              </m:r>
                              <m:r>
                                <a:rPr lang="en-US" altLang="zh-TW" i="1">
                                  <a:solidFill>
                                    <a:srgbClr val="FF0000"/>
                                  </a:solidFill>
                                  <a:latin typeface="Cambria Math" panose="02040503050406030204" pitchFamily="18" charset="0"/>
                                </a:rPr>
                                <m:t>𝐶𝐶</m:t>
                              </m:r>
                              <m:r>
                                <a:rPr lang="zh-TW" altLang="en-US" i="1">
                                  <a:solidFill>
                                    <a:srgbClr val="FF0000"/>
                                  </a:solidFill>
                                  <a:latin typeface="Cambria Math"/>
                                </a:rPr>
                                <m:t>已轉換</m:t>
                              </m:r>
                            </m:e>
                          </m:d>
                          <m:r>
                            <a:rPr lang="en-US" altLang="zh-TW" i="1">
                              <a:solidFill>
                                <a:srgbClr val="FF0000"/>
                              </a:solidFill>
                              <a:latin typeface="Cambria Math"/>
                            </a:rPr>
                            <m:t>  </m:t>
                          </m:r>
                        </m:sub>
                      </m:sSub>
                      <m:r>
                        <a:rPr lang="en-US" altLang="zh-TW" i="1">
                          <a:solidFill>
                            <a:srgbClr val="FF0000"/>
                          </a:solidFill>
                          <a:latin typeface="Cambria Math"/>
                        </a:rPr>
                        <m:t>}</m:t>
                      </m:r>
                    </m:oMath>
                  </m:oMathPara>
                </a14:m>
                <a:endParaRPr lang="en-US" altLang="zh-TW" dirty="0">
                  <a:solidFill>
                    <a:srgbClr val="FF0000"/>
                  </a:solidFill>
                  <a:latin typeface="標楷體" pitchFamily="65" charset="-120"/>
                  <a:ea typeface="標楷體" pitchFamily="65" charset="-120"/>
                </a:endParaRPr>
              </a:p>
              <a:p>
                <a:pPr>
                  <a:lnSpc>
                    <a:spcPct val="150000"/>
                  </a:lnSpc>
                </a:pPr>
                <a14:m>
                  <m:oMathPara xmlns:m="http://schemas.openxmlformats.org/officeDocument/2006/math">
                    <m:oMathParaPr>
                      <m:jc m:val="left"/>
                    </m:oMathParaPr>
                    <m:oMath xmlns:m="http://schemas.openxmlformats.org/officeDocument/2006/math">
                      <m:r>
                        <a:rPr lang="en-US" altLang="zh-TW" i="1" smtClean="0">
                          <a:solidFill>
                            <a:srgbClr val="00B050"/>
                          </a:solidFill>
                          <a:latin typeface="Cambria Math"/>
                        </a:rPr>
                        <m:t>+ </m:t>
                      </m:r>
                      <m:acc>
                        <m:accPr>
                          <m:chr m:val="̃"/>
                          <m:ctrlPr>
                            <a:rPr lang="en-US" altLang="zh-TW" i="1">
                              <a:solidFill>
                                <a:srgbClr val="00B050"/>
                              </a:solidFill>
                              <a:latin typeface="Cambria Math" panose="02040503050406030204" pitchFamily="18" charset="0"/>
                            </a:rPr>
                          </m:ctrlPr>
                        </m:accPr>
                        <m:e>
                          <m:r>
                            <a:rPr lang="en-US" altLang="zh-TW" i="1">
                              <a:solidFill>
                                <a:srgbClr val="00B050"/>
                              </a:solidFill>
                              <a:latin typeface="Cambria Math"/>
                            </a:rPr>
                            <m:t>𝐸</m:t>
                          </m:r>
                        </m:e>
                      </m:acc>
                      <m:d>
                        <m:dPr>
                          <m:begChr m:val="{"/>
                          <m:endChr m:val="}"/>
                          <m:ctrlPr>
                            <a:rPr lang="en-US" altLang="zh-TW" i="1">
                              <a:solidFill>
                                <a:srgbClr val="00B050"/>
                              </a:solidFill>
                              <a:latin typeface="Cambria Math" panose="02040503050406030204" pitchFamily="18" charset="0"/>
                            </a:rPr>
                          </m:ctrlPr>
                        </m:dPr>
                        <m:e>
                          <m:r>
                            <a:rPr lang="en-US" altLang="zh-TW" i="1">
                              <a:solidFill>
                                <a:srgbClr val="00B050"/>
                              </a:solidFill>
                              <a:latin typeface="Cambria Math"/>
                            </a:rPr>
                            <m:t>𝑀𝑎𝑥</m:t>
                          </m:r>
                          <m:d>
                            <m:dPr>
                              <m:begChr m:val="["/>
                              <m:endChr m:val="]"/>
                              <m:ctrlPr>
                                <a:rPr lang="en-US" altLang="zh-TW" i="1">
                                  <a:solidFill>
                                    <a:srgbClr val="00B050"/>
                                  </a:solidFill>
                                  <a:latin typeface="Cambria Math" panose="02040503050406030204" pitchFamily="18" charset="0"/>
                                </a:rPr>
                              </m:ctrlPr>
                            </m:dPr>
                            <m:e>
                              <m:d>
                                <m:dPr>
                                  <m:ctrlPr>
                                    <a:rPr lang="en-US" altLang="zh-TW" i="1" smtClean="0">
                                      <a:solidFill>
                                        <a:srgbClr val="00B050"/>
                                      </a:solidFill>
                                      <a:latin typeface="Cambria Math" panose="02040503050406030204" pitchFamily="18" charset="0"/>
                                    </a:rPr>
                                  </m:ctrlPr>
                                </m:dPr>
                                <m:e>
                                  <m:r>
                                    <a:rPr lang="en-US" altLang="zh-TW" i="1">
                                      <a:solidFill>
                                        <a:srgbClr val="00B050"/>
                                      </a:solidFill>
                                      <a:latin typeface="Cambria Math"/>
                                    </a:rPr>
                                    <m:t>1−</m:t>
                                  </m:r>
                                  <m:r>
                                    <a:rPr lang="zh-TW" altLang="en-US" i="1">
                                      <a:solidFill>
                                        <a:srgbClr val="00B050"/>
                                      </a:solidFill>
                                      <a:latin typeface="Cambria Math"/>
                                    </a:rPr>
                                    <m:t>𝛼</m:t>
                                  </m:r>
                                </m:e>
                              </m:d>
                              <m:r>
                                <a:rPr lang="en-US" altLang="zh-TW" i="1">
                                  <a:solidFill>
                                    <a:srgbClr val="00B050"/>
                                  </a:solidFill>
                                  <a:latin typeface="Cambria Math"/>
                                </a:rPr>
                                <m:t>𝑉</m:t>
                              </m:r>
                              <m:d>
                                <m:dPr>
                                  <m:ctrlPr>
                                    <a:rPr lang="en-US" altLang="zh-TW" i="1">
                                      <a:solidFill>
                                        <a:srgbClr val="00B050"/>
                                      </a:solidFill>
                                      <a:latin typeface="Cambria Math" panose="02040503050406030204" pitchFamily="18" charset="0"/>
                                    </a:rPr>
                                  </m:ctrlPr>
                                </m:dPr>
                                <m:e>
                                  <m:r>
                                    <a:rPr lang="en-US" altLang="zh-TW" i="1">
                                      <a:solidFill>
                                        <a:srgbClr val="00B050"/>
                                      </a:solidFill>
                                      <a:latin typeface="Cambria Math"/>
                                    </a:rPr>
                                    <m:t>𝑇</m:t>
                                  </m:r>
                                </m:e>
                              </m:d>
                              <m:r>
                                <a:rPr lang="en-US" altLang="zh-TW" i="1">
                                  <a:solidFill>
                                    <a:srgbClr val="00B050"/>
                                  </a:solidFill>
                                  <a:latin typeface="Cambria Math"/>
                                </a:rPr>
                                <m:t>−</m:t>
                              </m:r>
                              <m:d>
                                <m:dPr>
                                  <m:ctrlPr>
                                    <a:rPr lang="en-US" altLang="zh-TW" i="1">
                                      <a:solidFill>
                                        <a:srgbClr val="00B050"/>
                                      </a:solidFill>
                                      <a:latin typeface="Cambria Math" panose="02040503050406030204" pitchFamily="18" charset="0"/>
                                    </a:rPr>
                                  </m:ctrlPr>
                                </m:dPr>
                                <m:e>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a:rPr>
                                        <m:t>𝐷</m:t>
                                      </m:r>
                                    </m:e>
                                    <m:sub>
                                      <m:r>
                                        <a:rPr lang="en-US" altLang="zh-TW" i="1">
                                          <a:solidFill>
                                            <a:srgbClr val="00B050"/>
                                          </a:solidFill>
                                          <a:latin typeface="Cambria Math"/>
                                        </a:rPr>
                                        <m:t>1</m:t>
                                      </m:r>
                                    </m:sub>
                                  </m:sSub>
                                  <m:r>
                                    <a:rPr lang="en-US" altLang="zh-TW" i="1">
                                      <a:solidFill>
                                        <a:srgbClr val="00B050"/>
                                      </a:solidFill>
                                      <a:latin typeface="Cambria Math"/>
                                    </a:rPr>
                                    <m:t>+</m:t>
                                  </m:r>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a:rPr>
                                        <m:t>𝐶</m:t>
                                      </m:r>
                                    </m:e>
                                    <m:sub>
                                      <m:r>
                                        <a:rPr lang="en-US" altLang="zh-TW" i="1">
                                          <a:solidFill>
                                            <a:srgbClr val="00B050"/>
                                          </a:solidFill>
                                          <a:latin typeface="Cambria Math"/>
                                        </a:rPr>
                                        <m:t>1</m:t>
                                      </m:r>
                                    </m:sub>
                                  </m:sSub>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a:rPr>
                                        <m:t>𝐷</m:t>
                                      </m:r>
                                    </m:e>
                                    <m:sub>
                                      <m:r>
                                        <a:rPr lang="en-US" altLang="zh-TW" i="1">
                                          <a:solidFill>
                                            <a:srgbClr val="00B050"/>
                                          </a:solidFill>
                                          <a:latin typeface="Cambria Math"/>
                                        </a:rPr>
                                        <m:t>1</m:t>
                                      </m:r>
                                    </m:sub>
                                  </m:sSub>
                                  <m:r>
                                    <a:rPr lang="en-US" altLang="zh-TW" i="1">
                                      <a:solidFill>
                                        <a:srgbClr val="00B050"/>
                                      </a:solidFill>
                                      <a:latin typeface="Cambria Math"/>
                                    </a:rPr>
                                    <m:t>𝑇</m:t>
                                  </m:r>
                                </m:e>
                              </m:d>
                              <m:r>
                                <a:rPr lang="en-US" altLang="zh-TW" i="1">
                                  <a:solidFill>
                                    <a:srgbClr val="00B050"/>
                                  </a:solidFill>
                                  <a:latin typeface="Cambria Math"/>
                                </a:rPr>
                                <m:t>,0</m:t>
                              </m:r>
                            </m:e>
                          </m:d>
                          <m:sSup>
                            <m:sSupPr>
                              <m:ctrlPr>
                                <a:rPr lang="en-US" altLang="zh-TW" i="1" smtClean="0">
                                  <a:solidFill>
                                    <a:srgbClr val="00B050"/>
                                  </a:solidFill>
                                  <a:latin typeface="Cambria Math" panose="02040503050406030204" pitchFamily="18" charset="0"/>
                                </a:rPr>
                              </m:ctrlPr>
                            </m:sSupPr>
                            <m:e>
                              <m:r>
                                <a:rPr lang="en-US" altLang="zh-TW" i="1">
                                  <a:solidFill>
                                    <a:srgbClr val="00B050"/>
                                  </a:solidFill>
                                  <a:latin typeface="Cambria Math"/>
                                </a:rPr>
                                <m:t>  </m:t>
                              </m:r>
                              <m:r>
                                <a:rPr lang="en-US" altLang="zh-TW" i="1">
                                  <a:solidFill>
                                    <a:srgbClr val="00B050"/>
                                  </a:solidFill>
                                  <a:latin typeface="Cambria Math"/>
                                </a:rPr>
                                <m:t>𝑒</m:t>
                              </m:r>
                            </m:e>
                            <m:sup>
                              <m:r>
                                <a:rPr lang="en-US" altLang="zh-TW" i="1">
                                  <a:solidFill>
                                    <a:srgbClr val="00B050"/>
                                  </a:solidFill>
                                  <a:latin typeface="Cambria Math"/>
                                </a:rPr>
                                <m:t>−</m:t>
                              </m:r>
                              <m:r>
                                <a:rPr lang="en-US" altLang="zh-TW" i="1">
                                  <a:solidFill>
                                    <a:srgbClr val="00B050"/>
                                  </a:solidFill>
                                  <a:latin typeface="Cambria Math"/>
                                </a:rPr>
                                <m:t>𝑟𝑇</m:t>
                              </m:r>
                            </m:sup>
                          </m:sSup>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a:rPr>
                                <m:t>𝐼</m:t>
                              </m:r>
                            </m:e>
                            <m:sub>
                              <m:d>
                                <m:dPr>
                                  <m:begChr m:val="{"/>
                                  <m:endChr m:val="}"/>
                                  <m:ctrlPr>
                                    <a:rPr lang="en-US" altLang="zh-TW" i="1">
                                      <a:solidFill>
                                        <a:srgbClr val="00B050"/>
                                      </a:solidFill>
                                      <a:latin typeface="Cambria Math" panose="02040503050406030204" pitchFamily="18" charset="0"/>
                                    </a:rPr>
                                  </m:ctrlPr>
                                </m:dPr>
                                <m:e>
                                  <m:r>
                                    <a:rPr lang="zh-TW" altLang="en-US" i="1">
                                      <a:solidFill>
                                        <a:srgbClr val="00B050"/>
                                      </a:solidFill>
                                      <a:latin typeface="Cambria Math"/>
                                    </a:rPr>
                                    <m:t>破產，</m:t>
                                  </m:r>
                                  <m:r>
                                    <a:rPr lang="en-US" altLang="zh-TW" b="0" i="1" smtClean="0">
                                      <a:solidFill>
                                        <a:srgbClr val="00B050"/>
                                      </a:solidFill>
                                      <a:latin typeface="Cambria Math" panose="02040503050406030204" pitchFamily="18" charset="0"/>
                                    </a:rPr>
                                    <m:t>𝐶𝐶</m:t>
                                  </m:r>
                                  <m:r>
                                    <a:rPr lang="zh-TW" altLang="en-US" i="1">
                                      <a:solidFill>
                                        <a:srgbClr val="00B050"/>
                                      </a:solidFill>
                                      <a:latin typeface="Cambria Math" panose="02040503050406030204" pitchFamily="18" charset="0"/>
                                    </a:rPr>
                                    <m:t>未轉換，</m:t>
                                  </m:r>
                                  <m:r>
                                    <m:rPr>
                                      <m:sty m:val="p"/>
                                    </m:rPr>
                                    <a:rPr lang="en-US" altLang="zh-TW" i="1">
                                      <a:solidFill>
                                        <a:srgbClr val="00B050"/>
                                      </a:solidFill>
                                      <a:latin typeface="Cambria Math"/>
                                    </a:rPr>
                                    <m:t>SB</m:t>
                                  </m:r>
                                  <m:r>
                                    <a:rPr lang="zh-TW" altLang="en-US" i="1">
                                      <a:solidFill>
                                        <a:srgbClr val="00B050"/>
                                      </a:solidFill>
                                      <a:latin typeface="Cambria Math"/>
                                    </a:rPr>
                                    <m:t>全拿，</m:t>
                                  </m:r>
                                  <m:r>
                                    <a:rPr lang="en-US" altLang="zh-TW" i="1">
                                      <a:solidFill>
                                        <a:srgbClr val="00B050"/>
                                      </a:solidFill>
                                      <a:latin typeface="Cambria Math" panose="02040503050406030204" pitchFamily="18" charset="0"/>
                                    </a:rPr>
                                    <m:t>𝐶𝐶</m:t>
                                  </m:r>
                                  <m:r>
                                    <a:rPr lang="zh-TW" altLang="en-US" i="1">
                                      <a:solidFill>
                                        <a:srgbClr val="00B050"/>
                                      </a:solidFill>
                                      <a:latin typeface="Cambria Math"/>
                                    </a:rPr>
                                    <m:t>拿部分</m:t>
                                  </m:r>
                                </m:e>
                              </m:d>
                              <m:r>
                                <a:rPr lang="en-US" altLang="zh-TW" i="1">
                                  <a:solidFill>
                                    <a:srgbClr val="00B050"/>
                                  </a:solidFill>
                                  <a:latin typeface="Cambria Math"/>
                                </a:rPr>
                                <m:t>  </m:t>
                              </m:r>
                            </m:sub>
                          </m:sSub>
                        </m:e>
                      </m:d>
                    </m:oMath>
                  </m:oMathPara>
                </a14:m>
                <a:endParaRPr lang="en-US" altLang="zh-TW" i="1" dirty="0" smtClean="0">
                  <a:solidFill>
                    <a:schemeClr val="tx1"/>
                  </a:solidFill>
                  <a:latin typeface="Cambria Math"/>
                </a:endParaRPr>
              </a:p>
              <a:p>
                <a:pPr>
                  <a:lnSpc>
                    <a:spcPct val="150000"/>
                  </a:lnSpc>
                </a:pPr>
                <a14:m>
                  <m:oMathPara xmlns:m="http://schemas.openxmlformats.org/officeDocument/2006/math">
                    <m:oMathParaPr>
                      <m:jc m:val="left"/>
                    </m:oMathParaPr>
                    <m:oMath xmlns:m="http://schemas.openxmlformats.org/officeDocument/2006/math">
                      <m:r>
                        <a:rPr lang="en-US" altLang="zh-TW" i="1" smtClean="0">
                          <a:solidFill>
                            <a:srgbClr val="FFC000"/>
                          </a:solidFill>
                          <a:latin typeface="Cambria Math"/>
                        </a:rPr>
                        <m:t>+ </m:t>
                      </m:r>
                      <m:acc>
                        <m:accPr>
                          <m:chr m:val="̃"/>
                          <m:ctrlPr>
                            <a:rPr lang="en-US" altLang="zh-TW" i="1">
                              <a:solidFill>
                                <a:srgbClr val="FFC000"/>
                              </a:solidFill>
                              <a:latin typeface="Cambria Math" panose="02040503050406030204" pitchFamily="18" charset="0"/>
                            </a:rPr>
                          </m:ctrlPr>
                        </m:accPr>
                        <m:e>
                          <m:r>
                            <a:rPr lang="en-US" altLang="zh-TW" i="1">
                              <a:solidFill>
                                <a:srgbClr val="FFC000"/>
                              </a:solidFill>
                              <a:latin typeface="Cambria Math"/>
                            </a:rPr>
                            <m:t>𝐸</m:t>
                          </m:r>
                        </m:e>
                      </m:acc>
                      <m:d>
                        <m:dPr>
                          <m:begChr m:val="{"/>
                          <m:endChr m:val="}"/>
                          <m:ctrlPr>
                            <a:rPr lang="en-US" altLang="zh-TW" i="1">
                              <a:solidFill>
                                <a:srgbClr val="FFC000"/>
                              </a:solidFill>
                              <a:latin typeface="Cambria Math" panose="02040503050406030204" pitchFamily="18" charset="0"/>
                            </a:rPr>
                          </m:ctrlPr>
                        </m:dPr>
                        <m:e>
                          <m:d>
                            <m:dPr>
                              <m:ctrlPr>
                                <a:rPr lang="en-US" altLang="zh-TW" i="1" smtClean="0">
                                  <a:solidFill>
                                    <a:srgbClr val="FFC000"/>
                                  </a:solidFill>
                                  <a:latin typeface="Cambria Math" panose="02040503050406030204" pitchFamily="18" charset="0"/>
                                </a:rPr>
                              </m:ctrlPr>
                            </m:dPr>
                            <m:e>
                              <m:sSub>
                                <m:sSubPr>
                                  <m:ctrlPr>
                                    <a:rPr lang="en-US" altLang="zh-TW" i="1">
                                      <a:solidFill>
                                        <a:srgbClr val="FFC000"/>
                                      </a:solidFill>
                                      <a:latin typeface="Cambria Math" panose="02040503050406030204" pitchFamily="18" charset="0"/>
                                    </a:rPr>
                                  </m:ctrlPr>
                                </m:sSubPr>
                                <m:e>
                                  <m:r>
                                    <a:rPr lang="en-US" altLang="zh-TW" i="1">
                                      <a:solidFill>
                                        <a:srgbClr val="FFC000"/>
                                      </a:solidFill>
                                      <a:latin typeface="Cambria Math"/>
                                    </a:rPr>
                                    <m:t>𝐶</m:t>
                                  </m:r>
                                </m:e>
                                <m:sub>
                                  <m:r>
                                    <a:rPr lang="en-US" altLang="zh-TW" i="1">
                                      <a:solidFill>
                                        <a:srgbClr val="FFC000"/>
                                      </a:solidFill>
                                      <a:latin typeface="Cambria Math" panose="02040503050406030204" pitchFamily="18" charset="0"/>
                                    </a:rPr>
                                    <m:t>2</m:t>
                                  </m:r>
                                </m:sub>
                              </m:sSub>
                              <m:sSub>
                                <m:sSubPr>
                                  <m:ctrlPr>
                                    <a:rPr lang="en-US" altLang="zh-TW" i="1">
                                      <a:solidFill>
                                        <a:srgbClr val="FFC000"/>
                                      </a:solidFill>
                                      <a:latin typeface="Cambria Math" panose="02040503050406030204" pitchFamily="18" charset="0"/>
                                    </a:rPr>
                                  </m:ctrlPr>
                                </m:sSubPr>
                                <m:e>
                                  <m:r>
                                    <a:rPr lang="en-US" altLang="zh-TW" i="1">
                                      <a:solidFill>
                                        <a:srgbClr val="FFC000"/>
                                      </a:solidFill>
                                      <a:latin typeface="Cambria Math"/>
                                    </a:rPr>
                                    <m:t>𝐷</m:t>
                                  </m:r>
                                </m:e>
                                <m:sub>
                                  <m:r>
                                    <a:rPr lang="en-US" altLang="zh-TW" i="1">
                                      <a:solidFill>
                                        <a:srgbClr val="FFC000"/>
                                      </a:solidFill>
                                      <a:latin typeface="Cambria Math" panose="02040503050406030204" pitchFamily="18" charset="0"/>
                                    </a:rPr>
                                    <m:t>2</m:t>
                                  </m:r>
                                </m:sub>
                              </m:sSub>
                              <m:r>
                                <a:rPr lang="en-US" altLang="zh-TW" i="1">
                                  <a:solidFill>
                                    <a:srgbClr val="FFC000"/>
                                  </a:solidFill>
                                  <a:latin typeface="Cambria Math"/>
                                </a:rPr>
                                <m:t>𝑇</m:t>
                              </m:r>
                            </m:e>
                          </m:d>
                          <m:sSup>
                            <m:sSupPr>
                              <m:ctrlPr>
                                <a:rPr lang="en-US" altLang="zh-TW" i="1" smtClean="0">
                                  <a:solidFill>
                                    <a:srgbClr val="FFC000"/>
                                  </a:solidFill>
                                  <a:latin typeface="Cambria Math" panose="02040503050406030204" pitchFamily="18" charset="0"/>
                                </a:rPr>
                              </m:ctrlPr>
                            </m:sSupPr>
                            <m:e>
                              <m:r>
                                <a:rPr lang="en-US" altLang="zh-TW" i="1">
                                  <a:solidFill>
                                    <a:srgbClr val="FFC000"/>
                                  </a:solidFill>
                                  <a:latin typeface="Cambria Math"/>
                                </a:rPr>
                                <m:t>  </m:t>
                              </m:r>
                              <m:r>
                                <a:rPr lang="en-US" altLang="zh-TW" i="1">
                                  <a:solidFill>
                                    <a:srgbClr val="FFC000"/>
                                  </a:solidFill>
                                  <a:latin typeface="Cambria Math"/>
                                </a:rPr>
                                <m:t>𝑒</m:t>
                              </m:r>
                            </m:e>
                            <m:sup>
                              <m:r>
                                <a:rPr lang="en-US" altLang="zh-TW" i="1">
                                  <a:solidFill>
                                    <a:srgbClr val="FFC000"/>
                                  </a:solidFill>
                                  <a:latin typeface="Cambria Math"/>
                                </a:rPr>
                                <m:t>−</m:t>
                              </m:r>
                              <m:r>
                                <a:rPr lang="en-US" altLang="zh-TW" i="1">
                                  <a:solidFill>
                                    <a:srgbClr val="FFC000"/>
                                  </a:solidFill>
                                  <a:latin typeface="Cambria Math"/>
                                </a:rPr>
                                <m:t>𝑟𝑇</m:t>
                              </m:r>
                            </m:sup>
                          </m:sSup>
                          <m:sSub>
                            <m:sSubPr>
                              <m:ctrlPr>
                                <a:rPr lang="en-US" altLang="zh-TW" i="1">
                                  <a:solidFill>
                                    <a:srgbClr val="FFC000"/>
                                  </a:solidFill>
                                  <a:latin typeface="Cambria Math" panose="02040503050406030204" pitchFamily="18" charset="0"/>
                                </a:rPr>
                              </m:ctrlPr>
                            </m:sSubPr>
                            <m:e>
                              <m:r>
                                <a:rPr lang="en-US" altLang="zh-TW" i="1">
                                  <a:solidFill>
                                    <a:srgbClr val="FFC000"/>
                                  </a:solidFill>
                                  <a:latin typeface="Cambria Math"/>
                                </a:rPr>
                                <m:t>𝐼</m:t>
                              </m:r>
                            </m:e>
                            <m:sub>
                              <m:d>
                                <m:dPr>
                                  <m:begChr m:val="{"/>
                                  <m:endChr m:val="}"/>
                                  <m:ctrlPr>
                                    <a:rPr lang="en-US" altLang="zh-TW" i="1">
                                      <a:solidFill>
                                        <a:srgbClr val="FFC000"/>
                                      </a:solidFill>
                                      <a:latin typeface="Cambria Math" panose="02040503050406030204" pitchFamily="18" charset="0"/>
                                    </a:rPr>
                                  </m:ctrlPr>
                                </m:dPr>
                                <m:e>
                                  <m:r>
                                    <a:rPr lang="zh-TW" altLang="en-US" i="1">
                                      <a:solidFill>
                                        <a:srgbClr val="FFC000"/>
                                      </a:solidFill>
                                      <a:latin typeface="Cambria Math"/>
                                    </a:rPr>
                                    <m:t>破產，</m:t>
                                  </m:r>
                                  <m:r>
                                    <a:rPr lang="en-US" altLang="zh-TW" i="1">
                                      <a:solidFill>
                                        <a:srgbClr val="FFC000"/>
                                      </a:solidFill>
                                      <a:latin typeface="Cambria Math" panose="02040503050406030204" pitchFamily="18" charset="0"/>
                                    </a:rPr>
                                    <m:t>𝐶𝐶</m:t>
                                  </m:r>
                                  <m:r>
                                    <a:rPr lang="zh-TW" altLang="en-US" i="1" smtClean="0">
                                      <a:solidFill>
                                        <a:srgbClr val="FFC000"/>
                                      </a:solidFill>
                                      <a:latin typeface="Cambria Math" panose="02040503050406030204" pitchFamily="18" charset="0"/>
                                    </a:rPr>
                                    <m:t>已</m:t>
                                  </m:r>
                                  <m:r>
                                    <a:rPr lang="zh-TW" altLang="en-US" i="1">
                                      <a:solidFill>
                                        <a:srgbClr val="FFC000"/>
                                      </a:solidFill>
                                      <a:latin typeface="Cambria Math" panose="02040503050406030204" pitchFamily="18" charset="0"/>
                                    </a:rPr>
                                    <m:t>轉換，</m:t>
                                  </m:r>
                                  <m:r>
                                    <m:rPr>
                                      <m:sty m:val="p"/>
                                    </m:rPr>
                                    <a:rPr lang="en-US" altLang="zh-TW" i="1">
                                      <a:solidFill>
                                        <a:srgbClr val="FFC000"/>
                                      </a:solidFill>
                                      <a:latin typeface="Cambria Math"/>
                                    </a:rPr>
                                    <m:t>SB</m:t>
                                  </m:r>
                                  <m:r>
                                    <a:rPr lang="zh-TW" altLang="en-US" i="1">
                                      <a:solidFill>
                                        <a:srgbClr val="FFC000"/>
                                      </a:solidFill>
                                      <a:latin typeface="Cambria Math"/>
                                    </a:rPr>
                                    <m:t>全拿</m:t>
                                  </m:r>
                                  <m:r>
                                    <a:rPr lang="zh-TW" altLang="en-US" i="1">
                                      <a:solidFill>
                                        <a:srgbClr val="FFC000"/>
                                      </a:solidFill>
                                      <a:latin typeface="Cambria Math" panose="02040503050406030204" pitchFamily="18" charset="0"/>
                                    </a:rPr>
                                    <m:t>，</m:t>
                                  </m:r>
                                  <m:r>
                                    <a:rPr lang="en-US" altLang="zh-TW" b="0" i="1" smtClean="0">
                                      <a:solidFill>
                                        <a:srgbClr val="FFC000"/>
                                      </a:solidFill>
                                      <a:latin typeface="Cambria Math" panose="02040503050406030204" pitchFamily="18" charset="0"/>
                                    </a:rPr>
                                    <m:t>𝐶𝐶</m:t>
                                  </m:r>
                                  <m:r>
                                    <a:rPr lang="zh-TW" altLang="en-US" i="1">
                                      <a:solidFill>
                                        <a:srgbClr val="FFC000"/>
                                      </a:solidFill>
                                      <a:latin typeface="Cambria Math" panose="02040503050406030204" pitchFamily="18" charset="0"/>
                                    </a:rPr>
                                    <m:t>拿部分</m:t>
                                  </m:r>
                                </m:e>
                              </m:d>
                              <m:r>
                                <a:rPr lang="en-US" altLang="zh-TW" i="1">
                                  <a:solidFill>
                                    <a:srgbClr val="FFC000"/>
                                  </a:solidFill>
                                  <a:latin typeface="Cambria Math"/>
                                </a:rPr>
                                <m:t>  </m:t>
                              </m:r>
                            </m:sub>
                          </m:sSub>
                        </m:e>
                      </m:d>
                    </m:oMath>
                  </m:oMathPara>
                </a14:m>
                <a:endParaRPr lang="en-US" altLang="zh-TW" i="1" dirty="0" smtClean="0">
                  <a:solidFill>
                    <a:schemeClr val="tx1"/>
                  </a:solidFill>
                  <a:latin typeface="標楷體" pitchFamily="65" charset="-120"/>
                </a:endParaRPr>
              </a:p>
            </p:txBody>
          </p:sp>
        </mc:Choice>
        <mc:Fallback xmlns="">
          <p:sp>
            <p:nvSpPr>
              <p:cNvPr id="4" name="矩形 3"/>
              <p:cNvSpPr>
                <a:spLocks noRot="1" noChangeAspect="1" noMove="1" noResize="1" noEditPoints="1" noAdjustHandles="1" noChangeArrowheads="1" noChangeShapeType="1" noTextEdit="1"/>
              </p:cNvSpPr>
              <p:nvPr/>
            </p:nvSpPr>
            <p:spPr>
              <a:xfrm>
                <a:off x="84558" y="3112393"/>
                <a:ext cx="12049776" cy="3470309"/>
              </a:xfrm>
              <a:prstGeom prst="rect">
                <a:avLst/>
              </a:prstGeom>
              <a:blipFill rotWithShape="0">
                <a:blip r:embed="rId1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4588521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標題 1"/>
              <p:cNvSpPr txBox="1">
                <a:spLocks/>
              </p:cNvSpPr>
              <p:nvPr/>
            </p:nvSpPr>
            <p:spPr>
              <a:xfrm>
                <a:off x="347730" y="283333"/>
                <a:ext cx="11844270" cy="79252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TW" altLang="en-US" sz="4800" dirty="0" smtClean="0">
                    <a:latin typeface="微軟正黑體" panose="020B0604030504040204" pitchFamily="34" charset="-120"/>
                    <a:ea typeface="微軟正黑體" panose="020B0604030504040204" pitchFamily="34" charset="-120"/>
                    <a:cs typeface="Arial" pitchFamily="34" charset="0"/>
                  </a:rPr>
                  <a:t>公式推導－</a:t>
                </a:r>
                <a14:m>
                  <m:oMath xmlns:m="http://schemas.openxmlformats.org/officeDocument/2006/math">
                    <m:sSub>
                      <m:sSubPr>
                        <m:ctrlPr>
                          <a:rPr lang="en-US" altLang="zh-TW" sz="4800" i="1">
                            <a:latin typeface="Cambria Math" panose="02040503050406030204" pitchFamily="18" charset="0"/>
                          </a:rPr>
                        </m:ctrlPr>
                      </m:sSubPr>
                      <m:e>
                        <m:r>
                          <a:rPr lang="en-US" altLang="zh-TW" sz="4800" i="1">
                            <a:latin typeface="Cambria Math" panose="02040503050406030204" pitchFamily="18" charset="0"/>
                          </a:rPr>
                          <m:t>𝑉</m:t>
                        </m:r>
                      </m:e>
                      <m:sub>
                        <m:r>
                          <a:rPr lang="en-US" altLang="zh-TW" sz="4800" i="1">
                            <a:latin typeface="Cambria Math" panose="02040503050406030204" pitchFamily="18" charset="0"/>
                          </a:rPr>
                          <m:t>𝐿</m:t>
                        </m:r>
                      </m:sub>
                    </m:sSub>
                    <m:r>
                      <a:rPr lang="en-US" altLang="zh-TW" sz="4800" i="1">
                        <a:latin typeface="Cambria Math" panose="02040503050406030204" pitchFamily="18" charset="0"/>
                      </a:rPr>
                      <m:t>=</m:t>
                    </m:r>
                    <m:sSub>
                      <m:sSubPr>
                        <m:ctrlPr>
                          <a:rPr lang="en-US" altLang="zh-TW" sz="4800" i="1">
                            <a:latin typeface="Cambria Math" panose="02040503050406030204" pitchFamily="18" charset="0"/>
                          </a:rPr>
                        </m:ctrlPr>
                      </m:sSubPr>
                      <m:e>
                        <m:r>
                          <a:rPr lang="en-US" altLang="zh-TW" sz="4800" i="1">
                            <a:latin typeface="Cambria Math" panose="02040503050406030204" pitchFamily="18" charset="0"/>
                          </a:rPr>
                          <m:t>𝑉</m:t>
                        </m:r>
                      </m:e>
                      <m:sub>
                        <m:r>
                          <a:rPr lang="en-US" altLang="zh-TW" sz="4800" i="1">
                            <a:latin typeface="Cambria Math" panose="02040503050406030204" pitchFamily="18" charset="0"/>
                          </a:rPr>
                          <m:t>𝐴</m:t>
                        </m:r>
                      </m:sub>
                    </m:sSub>
                    <m:r>
                      <a:rPr lang="en-US" altLang="zh-TW" sz="4800" i="1">
                        <a:latin typeface="Cambria Math" panose="02040503050406030204" pitchFamily="18" charset="0"/>
                      </a:rPr>
                      <m:t>+</m:t>
                    </m:r>
                    <m:r>
                      <a:rPr lang="en-US" altLang="zh-TW" sz="4800" i="1">
                        <a:latin typeface="Cambria Math" panose="02040503050406030204" pitchFamily="18" charset="0"/>
                      </a:rPr>
                      <m:t>𝑇𝐵</m:t>
                    </m:r>
                    <m:r>
                      <a:rPr lang="en-US" altLang="zh-TW" sz="4800" i="1">
                        <a:latin typeface="Cambria Math" panose="02040503050406030204" pitchFamily="18" charset="0"/>
                      </a:rPr>
                      <m:t> −</m:t>
                    </m:r>
                    <m:r>
                      <a:rPr lang="en-US" altLang="zh-TW" sz="4800" i="1">
                        <a:latin typeface="Cambria Math" panose="02040503050406030204" pitchFamily="18" charset="0"/>
                      </a:rPr>
                      <m:t>𝐵𝐶</m:t>
                    </m:r>
                  </m:oMath>
                </a14:m>
                <a:endParaRPr lang="zh-TW" altLang="en-US" sz="4800" dirty="0"/>
              </a:p>
            </p:txBody>
          </p:sp>
        </mc:Choice>
        <mc:Fallback xmlns="">
          <p:sp>
            <p:nvSpPr>
              <p:cNvPr id="4" name="標題 1"/>
              <p:cNvSpPr txBox="1">
                <a:spLocks noRot="1" noChangeAspect="1" noMove="1" noResize="1" noEditPoints="1" noAdjustHandles="1" noChangeArrowheads="1" noChangeShapeType="1" noTextEdit="1"/>
              </p:cNvSpPr>
              <p:nvPr/>
            </p:nvSpPr>
            <p:spPr>
              <a:xfrm>
                <a:off x="347730" y="283333"/>
                <a:ext cx="11844270" cy="792520"/>
              </a:xfrm>
              <a:prstGeom prst="rect">
                <a:avLst/>
              </a:prstGeom>
              <a:blipFill rotWithShape="0">
                <a:blip r:embed="rId2"/>
                <a:stretch>
                  <a:fillRect l="-2316" t="-23846" b="-3846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347730" y="1075853"/>
                <a:ext cx="10745274" cy="5426422"/>
              </a:xfrm>
              <a:prstGeom prst="rect">
                <a:avLst/>
              </a:prstGeom>
            </p:spPr>
            <p:txBody>
              <a:bodyPr wrap="square">
                <a:spAutoFit/>
              </a:bodyPr>
              <a:lstStyle/>
              <a:p>
                <a:pPr>
                  <a:lnSpc>
                    <a:spcPct val="150000"/>
                  </a:lnSpc>
                </a:pPr>
                <a14:m>
                  <m:oMathPara xmlns:m="http://schemas.openxmlformats.org/officeDocument/2006/math">
                    <m:oMathParaPr>
                      <m:jc m:val="left"/>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i="1">
                              <a:latin typeface="Cambria Math" panose="02040503050406030204" pitchFamily="18" charset="0"/>
                            </a:rPr>
                            <m:t>𝑉</m:t>
                          </m:r>
                        </m:e>
                        <m:sub>
                          <m:r>
                            <a:rPr lang="en-US" altLang="zh-TW" sz="2400" i="1">
                              <a:latin typeface="Cambria Math" panose="02040503050406030204" pitchFamily="18" charset="0"/>
                            </a:rPr>
                            <m:t>𝐴</m:t>
                          </m:r>
                        </m:sub>
                      </m:sSub>
                      <m:r>
                        <a:rPr lang="en-US" altLang="zh-TW" sz="2400" i="1" smtClean="0">
                          <a:latin typeface="Cambria Math" panose="02040503050406030204" pitchFamily="18" charset="0"/>
                        </a:rPr>
                        <m:t>=</m:t>
                      </m:r>
                      <m:r>
                        <a:rPr lang="en-US" altLang="zh-TW" sz="2400" i="1">
                          <a:latin typeface="Cambria Math"/>
                        </a:rPr>
                        <m:t>𝐶𝑎𝑙𝑙</m:t>
                      </m:r>
                      <m:d>
                        <m:dPr>
                          <m:ctrlPr>
                            <a:rPr lang="en-US" altLang="zh-TW" sz="2400" i="1">
                              <a:latin typeface="Cambria Math" panose="02040503050406030204" pitchFamily="18" charset="0"/>
                            </a:rPr>
                          </m:ctrlPr>
                        </m:dPr>
                        <m:e>
                          <m:r>
                            <a:rPr lang="en-US" altLang="zh-TW" sz="2400" i="1">
                              <a:latin typeface="Cambria Math"/>
                            </a:rPr>
                            <m:t>𝑋</m:t>
                          </m:r>
                          <m:r>
                            <a:rPr lang="en-US" altLang="zh-TW" sz="2400" i="1">
                              <a:latin typeface="Cambria Math"/>
                            </a:rPr>
                            <m:t>=0</m:t>
                          </m:r>
                        </m:e>
                      </m:d>
                    </m:oMath>
                  </m:oMathPara>
                </a14:m>
                <a:endParaRPr lang="en-US" altLang="zh-TW" sz="2400" i="1" dirty="0" smtClean="0">
                  <a:latin typeface="Cambria Math"/>
                </a:endParaRPr>
              </a:p>
              <a:p>
                <a:pPr>
                  <a:lnSpc>
                    <a:spcPct val="150000"/>
                  </a:lnSpc>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rPr>
                        <m:t>𝑇𝐵</m:t>
                      </m:r>
                    </m:oMath>
                  </m:oMathPara>
                </a14:m>
                <a:endParaRPr lang="en-US" altLang="zh-TW" sz="2400" b="0" i="1" dirty="0" smtClean="0">
                  <a:latin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altLang="zh-TW" sz="2400" i="1">
                          <a:latin typeface="Cambria Math"/>
                        </a:rPr>
                        <m:t>=</m:t>
                      </m:r>
                      <m:acc>
                        <m:accPr>
                          <m:chr m:val="̃"/>
                          <m:ctrlPr>
                            <a:rPr lang="en-US" altLang="zh-TW" sz="2400" i="1">
                              <a:latin typeface="Cambria Math" panose="02040503050406030204" pitchFamily="18" charset="0"/>
                            </a:rPr>
                          </m:ctrlPr>
                        </m:accPr>
                        <m:e>
                          <m:r>
                            <a:rPr lang="en-US" altLang="zh-TW" sz="2400" i="1">
                              <a:latin typeface="Cambria Math"/>
                            </a:rPr>
                            <m:t>𝐸</m:t>
                          </m:r>
                        </m:e>
                      </m:acc>
                      <m:r>
                        <a:rPr lang="en-US" altLang="zh-TW" sz="2400" i="1">
                          <a:latin typeface="Cambria Math"/>
                        </a:rPr>
                        <m:t>{ </m:t>
                      </m:r>
                      <m:r>
                        <a:rPr lang="en-US" altLang="zh-TW" sz="2400" i="1">
                          <a:latin typeface="Cambria Math"/>
                        </a:rPr>
                        <m:t>𝑡𝑎𝑥</m:t>
                      </m:r>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a:rPr>
                                <m:t>𝐶</m:t>
                              </m:r>
                            </m:e>
                            <m:sub>
                              <m:r>
                                <a:rPr lang="en-US" altLang="zh-TW" sz="2400" i="1">
                                  <a:latin typeface="Cambria Math"/>
                                </a:rPr>
                                <m:t>1</m:t>
                              </m:r>
                            </m:sub>
                          </m:sSub>
                          <m:sSub>
                            <m:sSubPr>
                              <m:ctrlPr>
                                <a:rPr lang="en-US" altLang="zh-TW" sz="2400" i="1">
                                  <a:latin typeface="Cambria Math" panose="02040503050406030204" pitchFamily="18" charset="0"/>
                                </a:rPr>
                              </m:ctrlPr>
                            </m:sSubPr>
                            <m:e>
                              <m:r>
                                <a:rPr lang="en-US" altLang="zh-TW" sz="2400" i="1">
                                  <a:latin typeface="Cambria Math"/>
                                </a:rPr>
                                <m:t>𝐷</m:t>
                              </m:r>
                            </m:e>
                            <m:sub>
                              <m:r>
                                <a:rPr lang="en-US" altLang="zh-TW" sz="2400" i="1">
                                  <a:latin typeface="Cambria Math"/>
                                </a:rPr>
                                <m:t>1</m:t>
                              </m:r>
                            </m:sub>
                          </m:sSub>
                          <m:r>
                            <a:rPr lang="en-US" altLang="zh-TW" sz="2400" i="1">
                              <a:latin typeface="Cambria Math"/>
                            </a:rPr>
                            <m:t>𝑇</m:t>
                          </m:r>
                          <m:r>
                            <a:rPr lang="en-US" altLang="zh-TW" sz="2400" i="1">
                              <a:latin typeface="Cambria Math"/>
                            </a:rPr>
                            <m:t>+</m:t>
                          </m:r>
                          <m:sSub>
                            <m:sSubPr>
                              <m:ctrlPr>
                                <a:rPr lang="en-US" altLang="zh-TW" sz="2400" i="1">
                                  <a:latin typeface="Cambria Math" panose="02040503050406030204" pitchFamily="18" charset="0"/>
                                </a:rPr>
                              </m:ctrlPr>
                            </m:sSubPr>
                            <m:e>
                              <m:r>
                                <a:rPr lang="en-US" altLang="zh-TW" sz="2400" i="1">
                                  <a:latin typeface="Cambria Math"/>
                                </a:rPr>
                                <m:t>𝐶</m:t>
                              </m:r>
                            </m:e>
                            <m:sub>
                              <m:r>
                                <a:rPr lang="en-US" altLang="zh-TW" sz="2400" i="1">
                                  <a:latin typeface="Cambria Math"/>
                                </a:rPr>
                                <m:t>2</m:t>
                              </m:r>
                            </m:sub>
                          </m:sSub>
                          <m:sSub>
                            <m:sSubPr>
                              <m:ctrlPr>
                                <a:rPr lang="en-US" altLang="zh-TW" sz="2400" i="1">
                                  <a:latin typeface="Cambria Math" panose="02040503050406030204" pitchFamily="18" charset="0"/>
                                </a:rPr>
                              </m:ctrlPr>
                            </m:sSubPr>
                            <m:e>
                              <m:r>
                                <a:rPr lang="en-US" altLang="zh-TW" sz="2400" i="1">
                                  <a:latin typeface="Cambria Math"/>
                                </a:rPr>
                                <m:t>𝐷</m:t>
                              </m:r>
                            </m:e>
                            <m:sub>
                              <m:r>
                                <a:rPr lang="en-US" altLang="zh-TW" sz="2400" i="1">
                                  <a:latin typeface="Cambria Math"/>
                                </a:rPr>
                                <m:t>2</m:t>
                              </m:r>
                            </m:sub>
                          </m:sSub>
                          <m:r>
                            <a:rPr lang="en-US" altLang="zh-TW" sz="2400" i="1">
                              <a:latin typeface="Cambria Math"/>
                            </a:rPr>
                            <m:t>𝑇</m:t>
                          </m:r>
                        </m:e>
                      </m:d>
                      <m:sSup>
                        <m:sSupPr>
                          <m:ctrlPr>
                            <a:rPr lang="en-US" altLang="zh-TW" sz="2400" i="1">
                              <a:latin typeface="Cambria Math" panose="02040503050406030204" pitchFamily="18" charset="0"/>
                            </a:rPr>
                          </m:ctrlPr>
                        </m:sSupPr>
                        <m:e>
                          <m:r>
                            <a:rPr lang="en-US" altLang="zh-TW" sz="2400" i="1">
                              <a:latin typeface="Cambria Math"/>
                            </a:rPr>
                            <m:t>  </m:t>
                          </m:r>
                          <m:r>
                            <a:rPr lang="en-US" altLang="zh-TW" sz="2400" i="1">
                              <a:latin typeface="Cambria Math"/>
                            </a:rPr>
                            <m:t>𝑒</m:t>
                          </m:r>
                        </m:e>
                        <m:sup>
                          <m:r>
                            <a:rPr lang="en-US" altLang="zh-TW" sz="2400" i="1">
                              <a:latin typeface="Cambria Math"/>
                            </a:rPr>
                            <m:t>−</m:t>
                          </m:r>
                          <m:r>
                            <a:rPr lang="en-US" altLang="zh-TW" sz="2400" i="1">
                              <a:latin typeface="Cambria Math"/>
                            </a:rPr>
                            <m:t>𝑟𝑇</m:t>
                          </m:r>
                        </m:sup>
                      </m:sSup>
                      <m:sSub>
                        <m:sSubPr>
                          <m:ctrlPr>
                            <a:rPr lang="en-US" altLang="zh-TW" sz="2400" i="1">
                              <a:latin typeface="Cambria Math" panose="02040503050406030204" pitchFamily="18" charset="0"/>
                            </a:rPr>
                          </m:ctrlPr>
                        </m:sSubPr>
                        <m:e>
                          <m:r>
                            <a:rPr lang="en-US" altLang="zh-TW" sz="2400" i="1">
                              <a:latin typeface="Cambria Math"/>
                            </a:rPr>
                            <m:t>𝐼</m:t>
                          </m:r>
                        </m:e>
                        <m:sub>
                          <m:d>
                            <m:dPr>
                              <m:begChr m:val="{"/>
                              <m:endChr m:val="}"/>
                              <m:ctrlPr>
                                <a:rPr lang="en-US" altLang="zh-TW" sz="2400" i="1">
                                  <a:latin typeface="Cambria Math" panose="02040503050406030204" pitchFamily="18" charset="0"/>
                                </a:rPr>
                              </m:ctrlPr>
                            </m:dPr>
                            <m:e>
                              <m:r>
                                <a:rPr lang="zh-TW" altLang="en-US" sz="2400" i="1">
                                  <a:latin typeface="Cambria Math"/>
                                </a:rPr>
                                <m:t>存活</m:t>
                              </m:r>
                            </m:e>
                          </m:d>
                          <m:r>
                            <a:rPr lang="en-US" altLang="zh-TW" sz="2400" i="1">
                              <a:latin typeface="Cambria Math"/>
                            </a:rPr>
                            <m:t>  </m:t>
                          </m:r>
                        </m:sub>
                      </m:sSub>
                      <m:r>
                        <a:rPr lang="en-US" altLang="zh-TW" sz="2400" b="0" i="1" smtClean="0">
                          <a:latin typeface="Cambria Math" panose="02040503050406030204" pitchFamily="18" charset="0"/>
                        </a:rPr>
                        <m:t>}</m:t>
                      </m:r>
                    </m:oMath>
                  </m:oMathPara>
                </a14:m>
                <a:endParaRPr lang="en-US" altLang="zh-TW" sz="2400" i="1" dirty="0" smtClean="0">
                  <a:latin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altLang="zh-TW" sz="2400" i="1">
                          <a:latin typeface="Cambria Math"/>
                        </a:rPr>
                        <m:t>= </m:t>
                      </m:r>
                      <m:r>
                        <a:rPr lang="en-US" altLang="zh-TW" sz="2400" i="1">
                          <a:latin typeface="Cambria Math"/>
                        </a:rPr>
                        <m:t>𝑡𝑎𝑥</m:t>
                      </m:r>
                      <m:r>
                        <a:rPr lang="en-US" altLang="zh-TW" sz="2400" i="1">
                          <a:latin typeface="Cambria Math"/>
                        </a:rPr>
                        <m:t>(</m:t>
                      </m:r>
                      <m:sSub>
                        <m:sSubPr>
                          <m:ctrlPr>
                            <a:rPr lang="en-US" altLang="zh-TW" sz="2400" i="1">
                              <a:latin typeface="Cambria Math" panose="02040503050406030204" pitchFamily="18" charset="0"/>
                            </a:rPr>
                          </m:ctrlPr>
                        </m:sSubPr>
                        <m:e>
                          <m:r>
                            <a:rPr lang="en-US" altLang="zh-TW" sz="2400" i="1">
                              <a:latin typeface="Cambria Math"/>
                            </a:rPr>
                            <m:t>𝐶</m:t>
                          </m:r>
                        </m:e>
                        <m:sub>
                          <m:r>
                            <a:rPr lang="en-US" altLang="zh-TW" sz="2400" i="1">
                              <a:latin typeface="Cambria Math"/>
                            </a:rPr>
                            <m:t>1</m:t>
                          </m:r>
                        </m:sub>
                      </m:sSub>
                      <m:sSub>
                        <m:sSubPr>
                          <m:ctrlPr>
                            <a:rPr lang="en-US" altLang="zh-TW" sz="2400" i="1">
                              <a:latin typeface="Cambria Math" panose="02040503050406030204" pitchFamily="18" charset="0"/>
                            </a:rPr>
                          </m:ctrlPr>
                        </m:sSubPr>
                        <m:e>
                          <m:r>
                            <a:rPr lang="en-US" altLang="zh-TW" sz="2400" i="1">
                              <a:latin typeface="Cambria Math"/>
                            </a:rPr>
                            <m:t>𝐷</m:t>
                          </m:r>
                        </m:e>
                        <m:sub>
                          <m:r>
                            <a:rPr lang="en-US" altLang="zh-TW" sz="2400" i="1">
                              <a:latin typeface="Cambria Math"/>
                            </a:rPr>
                            <m:t>1</m:t>
                          </m:r>
                        </m:sub>
                      </m:sSub>
                      <m:r>
                        <a:rPr lang="en-US" altLang="zh-TW" sz="2400" i="1">
                          <a:latin typeface="Cambria Math"/>
                        </a:rPr>
                        <m:t>𝑇</m:t>
                      </m:r>
                      <m:r>
                        <a:rPr lang="en-US" altLang="zh-TW" sz="2400" i="1">
                          <a:latin typeface="Cambria Math"/>
                        </a:rPr>
                        <m:t>+</m:t>
                      </m:r>
                      <m:sSub>
                        <m:sSubPr>
                          <m:ctrlPr>
                            <a:rPr lang="en-US" altLang="zh-TW" sz="2400" i="1">
                              <a:latin typeface="Cambria Math" panose="02040503050406030204" pitchFamily="18" charset="0"/>
                            </a:rPr>
                          </m:ctrlPr>
                        </m:sSubPr>
                        <m:e>
                          <m:r>
                            <a:rPr lang="en-US" altLang="zh-TW" sz="2400" i="1">
                              <a:latin typeface="Cambria Math"/>
                            </a:rPr>
                            <m:t>𝐶</m:t>
                          </m:r>
                        </m:e>
                        <m:sub>
                          <m:r>
                            <a:rPr lang="en-US" altLang="zh-TW" sz="2400" i="1">
                              <a:latin typeface="Cambria Math"/>
                            </a:rPr>
                            <m:t>2</m:t>
                          </m:r>
                        </m:sub>
                      </m:sSub>
                      <m:sSub>
                        <m:sSubPr>
                          <m:ctrlPr>
                            <a:rPr lang="en-US" altLang="zh-TW" sz="2400" i="1">
                              <a:latin typeface="Cambria Math" panose="02040503050406030204" pitchFamily="18" charset="0"/>
                            </a:rPr>
                          </m:ctrlPr>
                        </m:sSubPr>
                        <m:e>
                          <m:r>
                            <a:rPr lang="en-US" altLang="zh-TW" sz="2400" i="1">
                              <a:latin typeface="Cambria Math"/>
                            </a:rPr>
                            <m:t>𝐷</m:t>
                          </m:r>
                        </m:e>
                        <m:sub>
                          <m:r>
                            <a:rPr lang="en-US" altLang="zh-TW" sz="2400" i="1">
                              <a:latin typeface="Cambria Math"/>
                            </a:rPr>
                            <m:t>2</m:t>
                          </m:r>
                        </m:sub>
                      </m:sSub>
                      <m:r>
                        <a:rPr lang="en-US" altLang="zh-TW" sz="2400" i="1">
                          <a:latin typeface="Cambria Math"/>
                        </a:rPr>
                        <m:t>𝑇</m:t>
                      </m:r>
                      <m:r>
                        <a:rPr lang="en-US" altLang="zh-TW" sz="2400" i="1">
                          <a:latin typeface="Cambria Math"/>
                        </a:rPr>
                        <m:t>)</m:t>
                      </m:r>
                      <m:sSup>
                        <m:sSupPr>
                          <m:ctrlPr>
                            <a:rPr lang="en-US" altLang="zh-TW" sz="2400" i="1">
                              <a:latin typeface="Cambria Math" panose="02040503050406030204" pitchFamily="18" charset="0"/>
                            </a:rPr>
                          </m:ctrlPr>
                        </m:sSupPr>
                        <m:e>
                          <m:r>
                            <a:rPr lang="en-US" altLang="zh-TW" sz="2400" i="1">
                              <a:latin typeface="Cambria Math"/>
                            </a:rPr>
                            <m:t>  </m:t>
                          </m:r>
                          <m:r>
                            <a:rPr lang="en-US" altLang="zh-TW" sz="2400" i="1">
                              <a:latin typeface="Cambria Math"/>
                            </a:rPr>
                            <m:t>𝑒</m:t>
                          </m:r>
                        </m:e>
                        <m:sup>
                          <m:r>
                            <a:rPr lang="en-US" altLang="zh-TW" sz="2400" i="1">
                              <a:latin typeface="Cambria Math"/>
                            </a:rPr>
                            <m:t>−</m:t>
                          </m:r>
                          <m:r>
                            <a:rPr lang="en-US" altLang="zh-TW" sz="2400" i="1">
                              <a:latin typeface="Cambria Math"/>
                            </a:rPr>
                            <m:t>𝑟𝑇</m:t>
                          </m:r>
                        </m:sup>
                      </m:sSup>
                      <m:acc>
                        <m:accPr>
                          <m:chr m:val="̃"/>
                          <m:ctrlPr>
                            <a:rPr lang="en-US" altLang="zh-TW" sz="2400" i="1">
                              <a:latin typeface="Cambria Math" panose="02040503050406030204" pitchFamily="18" charset="0"/>
                            </a:rPr>
                          </m:ctrlPr>
                        </m:accPr>
                        <m:e>
                          <m:r>
                            <a:rPr lang="en-US" altLang="zh-TW" sz="2400" i="1">
                              <a:latin typeface="Cambria Math"/>
                            </a:rPr>
                            <m:t>𝐸</m:t>
                          </m:r>
                        </m:e>
                      </m:acc>
                      <m:r>
                        <a:rPr lang="en-US" altLang="zh-TW" sz="2400" i="1">
                          <a:latin typeface="Cambria Math"/>
                        </a:rPr>
                        <m:t>{</m:t>
                      </m:r>
                      <m:sSub>
                        <m:sSubPr>
                          <m:ctrlPr>
                            <a:rPr lang="en-US" altLang="zh-TW" sz="2400" i="1">
                              <a:latin typeface="Cambria Math" panose="02040503050406030204" pitchFamily="18" charset="0"/>
                            </a:rPr>
                          </m:ctrlPr>
                        </m:sSubPr>
                        <m:e>
                          <m:r>
                            <a:rPr lang="en-US" altLang="zh-TW" sz="2400" i="1">
                              <a:latin typeface="Cambria Math"/>
                            </a:rPr>
                            <m:t>𝐼</m:t>
                          </m:r>
                        </m:e>
                        <m:sub>
                          <m:d>
                            <m:dPr>
                              <m:begChr m:val="{"/>
                              <m:endChr m:val="}"/>
                              <m:ctrlPr>
                                <a:rPr lang="en-US" altLang="zh-TW" sz="2400" i="1">
                                  <a:latin typeface="Cambria Math" panose="02040503050406030204" pitchFamily="18" charset="0"/>
                                </a:rPr>
                              </m:ctrlPr>
                            </m:dPr>
                            <m:e>
                              <m:r>
                                <a:rPr lang="zh-TW" altLang="en-US" sz="2400" i="1">
                                  <a:latin typeface="Cambria Math"/>
                                </a:rPr>
                                <m:t>存活</m:t>
                              </m:r>
                            </m:e>
                          </m:d>
                          <m:r>
                            <a:rPr lang="en-US" altLang="zh-TW" sz="2400" i="1">
                              <a:latin typeface="Cambria Math"/>
                            </a:rPr>
                            <m:t>  </m:t>
                          </m:r>
                        </m:sub>
                      </m:sSub>
                      <m:r>
                        <a:rPr lang="en-US" altLang="zh-TW" sz="2400" i="1">
                          <a:latin typeface="Cambria Math"/>
                        </a:rPr>
                        <m:t>}</m:t>
                      </m:r>
                    </m:oMath>
                  </m:oMathPara>
                </a14:m>
                <a:endParaRPr lang="en-US" altLang="zh-TW" sz="2400" dirty="0">
                  <a:latin typeface="Arial" pitchFamily="34" charset="0"/>
                  <a:ea typeface="標楷體" pitchFamily="65" charset="-120"/>
                  <a:cs typeface="Arial" pitchFamily="34" charset="0"/>
                </a:endParaRPr>
              </a:p>
              <a:p>
                <a:pPr>
                  <a:lnSpc>
                    <a:spcPct val="150000"/>
                  </a:lnSpc>
                </a:pPr>
                <a14:m>
                  <m:oMathPara xmlns:m="http://schemas.openxmlformats.org/officeDocument/2006/math">
                    <m:oMathParaPr>
                      <m:jc m:val="left"/>
                    </m:oMathParaPr>
                    <m:oMath xmlns:m="http://schemas.openxmlformats.org/officeDocument/2006/math">
                      <m:r>
                        <a:rPr lang="en-US" altLang="zh-TW" sz="2400" i="1">
                          <a:latin typeface="Cambria Math"/>
                        </a:rPr>
                        <m:t>𝐵𝐶</m:t>
                      </m:r>
                    </m:oMath>
                  </m:oMathPara>
                </a14:m>
                <a:endParaRPr lang="en-US" altLang="zh-TW" sz="2400" i="1" dirty="0" smtClean="0">
                  <a:latin typeface="Cambria Math"/>
                </a:endParaRPr>
              </a:p>
              <a:p>
                <a:pPr>
                  <a:lnSpc>
                    <a:spcPct val="150000"/>
                  </a:lnSpc>
                </a:pPr>
                <a14:m>
                  <m:oMathPara xmlns:m="http://schemas.openxmlformats.org/officeDocument/2006/math">
                    <m:oMathParaPr>
                      <m:jc m:val="left"/>
                    </m:oMathParaPr>
                    <m:oMath xmlns:m="http://schemas.openxmlformats.org/officeDocument/2006/math">
                      <m:r>
                        <a:rPr lang="en-US" altLang="zh-TW" sz="2400" i="1">
                          <a:latin typeface="Cambria Math"/>
                        </a:rPr>
                        <m:t>=</m:t>
                      </m:r>
                      <m:acc>
                        <m:accPr>
                          <m:chr m:val="̃"/>
                          <m:ctrlPr>
                            <a:rPr lang="en-US" altLang="zh-TW" sz="2400" i="1">
                              <a:latin typeface="Cambria Math" panose="02040503050406030204" pitchFamily="18" charset="0"/>
                            </a:rPr>
                          </m:ctrlPr>
                        </m:accPr>
                        <m:e>
                          <m:r>
                            <a:rPr lang="en-US" altLang="zh-TW" sz="2400" i="1">
                              <a:latin typeface="Cambria Math"/>
                            </a:rPr>
                            <m:t>𝐸</m:t>
                          </m:r>
                        </m:e>
                      </m:acc>
                      <m:d>
                        <m:dPr>
                          <m:begChr m:val="["/>
                          <m:endChr m:val="]"/>
                          <m:ctrlPr>
                            <a:rPr lang="en-US" altLang="zh-TW" sz="2400" i="1">
                              <a:latin typeface="Cambria Math" panose="02040503050406030204" pitchFamily="18" charset="0"/>
                            </a:rPr>
                          </m:ctrlPr>
                        </m:dPr>
                        <m:e>
                          <m:r>
                            <a:rPr lang="zh-TW" altLang="en-US" sz="2400" i="1">
                              <a:latin typeface="Cambria Math"/>
                            </a:rPr>
                            <m:t>𝛼</m:t>
                          </m:r>
                          <m:r>
                            <a:rPr lang="en-US" altLang="zh-TW" sz="2400" i="1">
                              <a:latin typeface="Cambria Math"/>
                            </a:rPr>
                            <m:t>𝑉</m:t>
                          </m:r>
                          <m:r>
                            <a:rPr lang="en-US" altLang="zh-TW" sz="2400" i="1">
                              <a:latin typeface="Cambria Math"/>
                            </a:rPr>
                            <m:t>(</m:t>
                          </m:r>
                          <m:r>
                            <a:rPr lang="en-US" altLang="zh-TW" sz="2400" i="1">
                              <a:latin typeface="Cambria Math"/>
                            </a:rPr>
                            <m:t>𝑇</m:t>
                          </m:r>
                          <m:r>
                            <a:rPr lang="en-US" altLang="zh-TW" sz="2400" i="1">
                              <a:latin typeface="Cambria Math"/>
                            </a:rPr>
                            <m:t>)</m:t>
                          </m:r>
                          <m:sSup>
                            <m:sSupPr>
                              <m:ctrlPr>
                                <a:rPr lang="en-US" altLang="zh-TW" sz="2400" i="1">
                                  <a:latin typeface="Cambria Math" panose="02040503050406030204" pitchFamily="18" charset="0"/>
                                </a:rPr>
                              </m:ctrlPr>
                            </m:sSupPr>
                            <m:e>
                              <m:r>
                                <a:rPr lang="en-US" altLang="zh-TW" sz="2400" i="1">
                                  <a:latin typeface="Cambria Math"/>
                                </a:rPr>
                                <m:t>𝑒</m:t>
                              </m:r>
                            </m:e>
                            <m:sup>
                              <m:r>
                                <a:rPr lang="en-US" altLang="zh-TW" sz="2400" i="1">
                                  <a:latin typeface="Cambria Math"/>
                                </a:rPr>
                                <m:t>−</m:t>
                              </m:r>
                              <m:r>
                                <a:rPr lang="en-US" altLang="zh-TW" sz="2400" i="1">
                                  <a:latin typeface="Cambria Math"/>
                                </a:rPr>
                                <m:t>𝑟𝑇</m:t>
                              </m:r>
                            </m:sup>
                          </m:sSup>
                          <m:sSub>
                            <m:sSubPr>
                              <m:ctrlPr>
                                <a:rPr lang="en-US" altLang="zh-TW" sz="2400" i="1">
                                  <a:latin typeface="Cambria Math" panose="02040503050406030204" pitchFamily="18" charset="0"/>
                                </a:rPr>
                              </m:ctrlPr>
                            </m:sSubPr>
                            <m:e>
                              <m:r>
                                <a:rPr lang="en-US" altLang="zh-TW" sz="2400" i="1">
                                  <a:latin typeface="Cambria Math"/>
                                </a:rPr>
                                <m:t>𝐼</m:t>
                              </m:r>
                            </m:e>
                            <m:sub>
                              <m:d>
                                <m:dPr>
                                  <m:begChr m:val="{"/>
                                  <m:endChr m:val="}"/>
                                  <m:ctrlPr>
                                    <a:rPr lang="en-US" altLang="zh-TW" sz="2400" i="1">
                                      <a:latin typeface="Cambria Math" panose="02040503050406030204" pitchFamily="18" charset="0"/>
                                    </a:rPr>
                                  </m:ctrlPr>
                                </m:dPr>
                                <m:e>
                                  <m:r>
                                    <a:rPr lang="zh-TW" altLang="en-US" sz="2400" i="1">
                                      <a:latin typeface="Cambria Math"/>
                                    </a:rPr>
                                    <m:t>破產</m:t>
                                  </m:r>
                                </m:e>
                              </m:d>
                            </m:sub>
                          </m:sSub>
                        </m:e>
                      </m:d>
                    </m:oMath>
                  </m:oMathPara>
                </a14:m>
                <a:endParaRPr lang="en-US" altLang="zh-TW" sz="2400" i="1" dirty="0" smtClean="0">
                  <a:latin typeface="Arial" pitchFamily="34" charset="0"/>
                  <a:cs typeface="Arial" pitchFamily="34" charset="0"/>
                </a:endParaRPr>
              </a:p>
              <a:p>
                <a:pPr>
                  <a:lnSpc>
                    <a:spcPct val="150000"/>
                  </a:lnSpc>
                </a:pPr>
                <a14:m>
                  <m:oMathPara xmlns:m="http://schemas.openxmlformats.org/officeDocument/2006/math">
                    <m:oMathParaPr>
                      <m:jc m:val="left"/>
                    </m:oMathParaPr>
                    <m:oMath xmlns:m="http://schemas.openxmlformats.org/officeDocument/2006/math">
                      <m:r>
                        <a:rPr lang="en-US" altLang="zh-TW" sz="2400" i="1">
                          <a:latin typeface="Cambria Math"/>
                        </a:rPr>
                        <m:t>=</m:t>
                      </m:r>
                      <m:r>
                        <a:rPr lang="zh-TW" altLang="en-US" sz="2400" i="1">
                          <a:latin typeface="Cambria Math"/>
                        </a:rPr>
                        <m:t>𝛼</m:t>
                      </m:r>
                      <m:r>
                        <a:rPr lang="en-US" altLang="zh-TW" sz="2400" i="1">
                          <a:latin typeface="Cambria Math"/>
                        </a:rPr>
                        <m:t>𝑉</m:t>
                      </m:r>
                      <m:r>
                        <a:rPr lang="en-US" altLang="zh-TW" sz="2400" i="1">
                          <a:latin typeface="Cambria Math"/>
                        </a:rPr>
                        <m:t>(0)</m:t>
                      </m:r>
                      <m:sSup>
                        <m:sSupPr>
                          <m:ctrlPr>
                            <a:rPr lang="en-US" altLang="zh-TW" sz="2400" i="1">
                              <a:latin typeface="Cambria Math" panose="02040503050406030204" pitchFamily="18" charset="0"/>
                            </a:rPr>
                          </m:ctrlPr>
                        </m:sSupPr>
                        <m:e>
                          <m:r>
                            <a:rPr lang="en-US" altLang="zh-TW" sz="2400" i="1">
                              <a:latin typeface="Cambria Math"/>
                            </a:rPr>
                            <m:t>𝑒</m:t>
                          </m:r>
                        </m:e>
                        <m:sup>
                          <m:r>
                            <a:rPr lang="en-US" altLang="zh-TW" sz="2400" i="1">
                              <a:latin typeface="Cambria Math"/>
                            </a:rPr>
                            <m:t>−</m:t>
                          </m:r>
                          <m:r>
                            <a:rPr lang="en-US" altLang="zh-TW" sz="2400" i="1">
                              <a:latin typeface="Cambria Math"/>
                            </a:rPr>
                            <m:t>𝑟𝑇</m:t>
                          </m:r>
                        </m:sup>
                      </m:sSup>
                      <m:acc>
                        <m:accPr>
                          <m:chr m:val="̃"/>
                          <m:ctrlPr>
                            <a:rPr lang="en-US" altLang="zh-TW" sz="2400" i="1">
                              <a:latin typeface="Cambria Math" panose="02040503050406030204" pitchFamily="18" charset="0"/>
                            </a:rPr>
                          </m:ctrlPr>
                        </m:accPr>
                        <m:e>
                          <m:r>
                            <a:rPr lang="en-US" altLang="zh-TW" sz="2400" i="1">
                              <a:latin typeface="Cambria Math"/>
                            </a:rPr>
                            <m:t>𝐸</m:t>
                          </m:r>
                        </m:e>
                      </m:acc>
                      <m:d>
                        <m:dPr>
                          <m:begChr m:val="["/>
                          <m:endChr m:val="]"/>
                          <m:ctrlPr>
                            <a:rPr lang="en-US" altLang="zh-TW" sz="2400" i="1">
                              <a:latin typeface="Cambria Math" panose="02040503050406030204" pitchFamily="18" charset="0"/>
                            </a:rPr>
                          </m:ctrlPr>
                        </m:dPr>
                        <m:e>
                          <m:sSup>
                            <m:sSupPr>
                              <m:ctrlPr>
                                <a:rPr lang="en-US" altLang="zh-TW" sz="2400" i="1" smtClean="0">
                                  <a:solidFill>
                                    <a:schemeClr val="tx1"/>
                                  </a:solidFill>
                                  <a:latin typeface="Cambria Math" panose="02040503050406030204" pitchFamily="18" charset="0"/>
                                </a:rPr>
                              </m:ctrlPr>
                            </m:sSupPr>
                            <m:e>
                              <m:r>
                                <a:rPr lang="en-US" altLang="zh-TW" sz="2400" i="1">
                                  <a:solidFill>
                                    <a:schemeClr val="tx1"/>
                                  </a:solidFill>
                                  <a:latin typeface="Cambria Math"/>
                                </a:rPr>
                                <m:t>𝑒</m:t>
                              </m:r>
                            </m:e>
                            <m:sup>
                              <m:sSub>
                                <m:sSubPr>
                                  <m:ctrlPr>
                                    <a:rPr lang="en-US" altLang="zh-TW" sz="2400" i="1">
                                      <a:solidFill>
                                        <a:schemeClr val="tx1"/>
                                      </a:solidFill>
                                      <a:latin typeface="Cambria Math" panose="02040503050406030204" pitchFamily="18" charset="0"/>
                                    </a:rPr>
                                  </m:ctrlPr>
                                </m:sSubPr>
                                <m:e>
                                  <m:r>
                                    <a:rPr lang="zh-TW" altLang="en-US" sz="2400" i="1">
                                      <a:solidFill>
                                        <a:schemeClr val="tx1"/>
                                      </a:solidFill>
                                      <a:latin typeface="Cambria Math"/>
                                    </a:rPr>
                                    <m:t>𝜎</m:t>
                                  </m:r>
                                </m:e>
                                <m:sub>
                                  <m:r>
                                    <a:rPr lang="en-US" altLang="zh-TW" sz="2400" i="1">
                                      <a:solidFill>
                                        <a:schemeClr val="tx1"/>
                                      </a:solidFill>
                                      <a:latin typeface="Cambria Math"/>
                                    </a:rPr>
                                    <m:t>1</m:t>
                                  </m:r>
                                </m:sub>
                              </m:sSub>
                              <m:sSub>
                                <m:sSubPr>
                                  <m:ctrlPr>
                                    <a:rPr lang="en-US" altLang="zh-TW" sz="2400" i="1">
                                      <a:solidFill>
                                        <a:schemeClr val="tx1"/>
                                      </a:solidFill>
                                      <a:latin typeface="Cambria Math" panose="02040503050406030204" pitchFamily="18" charset="0"/>
                                    </a:rPr>
                                  </m:ctrlPr>
                                </m:sSubPr>
                                <m:e>
                                  <m:r>
                                    <a:rPr lang="en-US" altLang="zh-TW" sz="2400" i="1">
                                      <a:solidFill>
                                        <a:schemeClr val="tx1"/>
                                      </a:solidFill>
                                      <a:latin typeface="Cambria Math"/>
                                    </a:rPr>
                                    <m:t>𝐵</m:t>
                                  </m:r>
                                </m:e>
                                <m:sub>
                                  <m:r>
                                    <a:rPr lang="en-US" altLang="zh-TW" sz="2400" i="1">
                                      <a:solidFill>
                                        <a:schemeClr val="tx1"/>
                                      </a:solidFill>
                                      <a:latin typeface="Cambria Math"/>
                                    </a:rPr>
                                    <m:t>1</m:t>
                                  </m:r>
                                </m:sub>
                              </m:sSub>
                              <m:d>
                                <m:dPr>
                                  <m:ctrlPr>
                                    <a:rPr lang="en-US" altLang="zh-TW" sz="2400" i="1">
                                      <a:solidFill>
                                        <a:schemeClr val="tx1"/>
                                      </a:solidFill>
                                      <a:latin typeface="Cambria Math" panose="02040503050406030204" pitchFamily="18" charset="0"/>
                                    </a:rPr>
                                  </m:ctrlPr>
                                </m:dPr>
                                <m:e>
                                  <m:r>
                                    <a:rPr lang="en-US" altLang="zh-TW" sz="2400" i="1">
                                      <a:solidFill>
                                        <a:schemeClr val="tx1"/>
                                      </a:solidFill>
                                      <a:latin typeface="Cambria Math"/>
                                    </a:rPr>
                                    <m:t>𝑇</m:t>
                                  </m:r>
                                </m:e>
                              </m:d>
                            </m:sup>
                          </m:sSup>
                          <m:sSub>
                            <m:sSubPr>
                              <m:ctrlPr>
                                <a:rPr lang="en-US" altLang="zh-TW" sz="2400" i="1">
                                  <a:latin typeface="Cambria Math" panose="02040503050406030204" pitchFamily="18" charset="0"/>
                                </a:rPr>
                              </m:ctrlPr>
                            </m:sSubPr>
                            <m:e>
                              <m:r>
                                <a:rPr lang="en-US" altLang="zh-TW" sz="2400" i="1">
                                  <a:latin typeface="Cambria Math"/>
                                </a:rPr>
                                <m:t>𝐼</m:t>
                              </m:r>
                            </m:e>
                            <m:sub>
                              <m:d>
                                <m:dPr>
                                  <m:begChr m:val="{"/>
                                  <m:endChr m:val="}"/>
                                  <m:ctrlPr>
                                    <a:rPr lang="en-US" altLang="zh-TW" sz="2400" i="1">
                                      <a:latin typeface="Cambria Math" panose="02040503050406030204" pitchFamily="18" charset="0"/>
                                    </a:rPr>
                                  </m:ctrlPr>
                                </m:dPr>
                                <m:e>
                                  <m:r>
                                    <a:rPr lang="zh-TW" altLang="en-US" sz="2400" i="1">
                                      <a:latin typeface="Cambria Math"/>
                                    </a:rPr>
                                    <m:t>破產</m:t>
                                  </m:r>
                                </m:e>
                              </m:d>
                            </m:sub>
                          </m:sSub>
                        </m:e>
                      </m:d>
                    </m:oMath>
                  </m:oMathPara>
                </a14:m>
                <a:endParaRPr lang="en-US" altLang="zh-TW" sz="2400" i="1" dirty="0">
                  <a:latin typeface="Arial" pitchFamily="34" charset="0"/>
                  <a:cs typeface="Arial" pitchFamily="34" charset="0"/>
                </a:endParaRPr>
              </a:p>
            </p:txBody>
          </p:sp>
        </mc:Choice>
        <mc:Fallback xmlns="">
          <p:sp>
            <p:nvSpPr>
              <p:cNvPr id="5" name="矩形 4"/>
              <p:cNvSpPr>
                <a:spLocks noRot="1" noChangeAspect="1" noMove="1" noResize="1" noEditPoints="1" noAdjustHandles="1" noChangeArrowheads="1" noChangeShapeType="1" noTextEdit="1"/>
              </p:cNvSpPr>
              <p:nvPr/>
            </p:nvSpPr>
            <p:spPr>
              <a:xfrm>
                <a:off x="347730" y="1075853"/>
                <a:ext cx="10745274" cy="5426422"/>
              </a:xfrm>
              <a:prstGeom prst="rect">
                <a:avLst/>
              </a:prstGeom>
              <a:blipFill rotWithShape="0">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216340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1815191" y="1717719"/>
            <a:ext cx="4763602" cy="1944187"/>
          </a:xfrm>
          <a:prstGeom prst="rect">
            <a:avLst/>
          </a:pr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p:cNvSpPr/>
          <p:nvPr/>
        </p:nvSpPr>
        <p:spPr>
          <a:xfrm>
            <a:off x="6602042" y="1717719"/>
            <a:ext cx="4064307" cy="1944187"/>
          </a:xfrm>
          <a:prstGeom prst="rect">
            <a:avLst/>
          </a:prstGeom>
          <a:solidFill>
            <a:srgbClr val="51DF7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p:cNvSpPr/>
          <p:nvPr/>
        </p:nvSpPr>
        <p:spPr>
          <a:xfrm>
            <a:off x="1845116" y="3661906"/>
            <a:ext cx="7094327" cy="2419629"/>
          </a:xfrm>
          <a:prstGeom prst="rect">
            <a:avLst/>
          </a:prstGeom>
          <a:solidFill>
            <a:srgbClr val="5B9BD5">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標題 1"/>
          <p:cNvSpPr txBox="1">
            <a:spLocks/>
          </p:cNvSpPr>
          <p:nvPr/>
        </p:nvSpPr>
        <p:spPr>
          <a:xfrm>
            <a:off x="347730" y="283333"/>
            <a:ext cx="11844270" cy="79252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TW" sz="4800" dirty="0" smtClean="0">
                <a:latin typeface="微軟正黑體" panose="020B0604030504040204" pitchFamily="34" charset="-120"/>
                <a:ea typeface="微軟正黑體" panose="020B0604030504040204" pitchFamily="34" charset="-120"/>
                <a:cs typeface="Arial" pitchFamily="34" charset="0"/>
              </a:rPr>
              <a:t>SB + CC </a:t>
            </a:r>
            <a:r>
              <a:rPr lang="zh-TW" altLang="en-US" sz="4800" dirty="0" smtClean="0">
                <a:latin typeface="微軟正黑體" panose="020B0604030504040204" pitchFamily="34" charset="-120"/>
                <a:ea typeface="微軟正黑體" panose="020B0604030504040204" pitchFamily="34" charset="-120"/>
                <a:cs typeface="Arial" pitchFamily="34" charset="0"/>
              </a:rPr>
              <a:t>分析</a:t>
            </a:r>
            <a:r>
              <a:rPr lang="zh-TW" altLang="en-US" sz="4800" dirty="0">
                <a:latin typeface="微軟正黑體" panose="020B0604030504040204" pitchFamily="34" charset="-120"/>
                <a:ea typeface="微軟正黑體" panose="020B0604030504040204" pitchFamily="34" charset="-120"/>
                <a:cs typeface="Arial" pitchFamily="34" charset="0"/>
              </a:rPr>
              <a:t>圖</a:t>
            </a:r>
            <a:endParaRPr lang="zh-TW" altLang="en-US" sz="4800" dirty="0">
              <a:latin typeface="微軟正黑體" panose="020B0604030504040204" pitchFamily="34" charset="-120"/>
              <a:ea typeface="微軟正黑體" panose="020B0604030504040204" pitchFamily="34" charset="-120"/>
            </a:endParaRPr>
          </a:p>
        </p:txBody>
      </p:sp>
      <p:grpSp>
        <p:nvGrpSpPr>
          <p:cNvPr id="27" name="Group 7"/>
          <p:cNvGrpSpPr>
            <a:grpSpLocks/>
          </p:cNvGrpSpPr>
          <p:nvPr/>
        </p:nvGrpSpPr>
        <p:grpSpPr bwMode="auto">
          <a:xfrm>
            <a:off x="1748214" y="1637697"/>
            <a:ext cx="9832218" cy="4207394"/>
            <a:chOff x="1424" y="7721"/>
            <a:chExt cx="9162" cy="4652"/>
          </a:xfrm>
        </p:grpSpPr>
        <p:sp>
          <p:nvSpPr>
            <p:cNvPr id="30" name="Text Box 19"/>
            <p:cNvSpPr txBox="1">
              <a:spLocks noChangeArrowheads="1"/>
            </p:cNvSpPr>
            <p:nvPr/>
          </p:nvSpPr>
          <p:spPr bwMode="auto">
            <a:xfrm>
              <a:off x="9647" y="11594"/>
              <a:ext cx="939" cy="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TW" sz="1200" b="0" i="0" u="none" strike="noStrike" cap="none" normalizeH="0" baseline="0" smtClean="0">
                  <a:ln>
                    <a:noFill/>
                  </a:ln>
                  <a:solidFill>
                    <a:schemeClr val="tx1"/>
                  </a:solidFill>
                  <a:effectLst/>
                  <a:latin typeface="Calibri" panose="020F0502020204030204" pitchFamily="34" charset="0"/>
                  <a:ea typeface="新細明體" panose="02020500000000000000" pitchFamily="18" charset="-120"/>
                  <a:cs typeface="Times New Roman" panose="02020603050405020304" pitchFamily="18" charset="0"/>
                </a:rPr>
                <a:t>        </a:t>
              </a:r>
              <a:endParaRPr kumimoji="0" lang="en-US" altLang="zh-TW" sz="1800" b="0" i="0" u="none" strike="noStrike" cap="none" normalizeH="0" baseline="0" smtClean="0">
                <a:ln>
                  <a:noFill/>
                </a:ln>
                <a:solidFill>
                  <a:schemeClr val="tx1"/>
                </a:solidFill>
                <a:effectLst/>
                <a:latin typeface="Arial" panose="020B0604020202020204" pitchFamily="34" charset="0"/>
              </a:endParaRPr>
            </a:p>
          </p:txBody>
        </p:sp>
        <p:sp>
          <p:nvSpPr>
            <p:cNvPr id="31" name="Text Box 18"/>
            <p:cNvSpPr txBox="1">
              <a:spLocks noChangeArrowheads="1"/>
            </p:cNvSpPr>
            <p:nvPr/>
          </p:nvSpPr>
          <p:spPr bwMode="auto">
            <a:xfrm>
              <a:off x="1810" y="7721"/>
              <a:ext cx="939" cy="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TW" sz="1200" b="0" i="0" u="none" strike="noStrike" cap="none" normalizeH="0" baseline="0" smtClean="0">
                  <a:ln>
                    <a:noFill/>
                  </a:ln>
                  <a:solidFill>
                    <a:schemeClr val="tx1"/>
                  </a:solidFill>
                  <a:effectLst/>
                  <a:latin typeface="Calibri" panose="020F0502020204030204" pitchFamily="34" charset="0"/>
                  <a:ea typeface="新細明體" panose="02020500000000000000" pitchFamily="18" charset="-120"/>
                  <a:cs typeface="Times New Roman" panose="02020603050405020304" pitchFamily="18" charset="0"/>
                </a:rPr>
                <a:t>      </a:t>
              </a:r>
              <a:endParaRPr kumimoji="0" lang="en-US" altLang="zh-TW" sz="1800" b="0" i="0" u="none" strike="noStrike" cap="none" normalizeH="0" baseline="0" smtClean="0">
                <a:ln>
                  <a:noFill/>
                </a:ln>
                <a:solidFill>
                  <a:schemeClr val="tx1"/>
                </a:solidFill>
                <a:effectLst/>
                <a:latin typeface="Arial" panose="020B0604020202020204" pitchFamily="34" charset="0"/>
              </a:endParaRPr>
            </a:p>
          </p:txBody>
        </p:sp>
        <p:sp>
          <p:nvSpPr>
            <p:cNvPr id="32" name="Text Box 17"/>
            <p:cNvSpPr txBox="1">
              <a:spLocks noChangeArrowheads="1"/>
            </p:cNvSpPr>
            <p:nvPr/>
          </p:nvSpPr>
          <p:spPr bwMode="auto">
            <a:xfrm>
              <a:off x="1424" y="10257"/>
              <a:ext cx="1819" cy="2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破 產 </a:t>
              </a:r>
              <a:endParaRPr kumimoji="0" lang="zh-TW" sz="20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800" dirty="0" smtClean="0">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2800" dirty="0" smtClean="0">
                  <a:latin typeface="微軟正黑體" panose="020B0604030504040204" pitchFamily="34" charset="-120"/>
                  <a:ea typeface="微軟正黑體" panose="020B0604030504040204" pitchFamily="34" charset="-120"/>
                  <a:cs typeface="Times New Roman" panose="02020603050405020304" pitchFamily="18" charset="0"/>
                </a:rPr>
                <a:t>已轉換</a:t>
              </a:r>
              <a:endParaRPr kumimoji="0" lang="zh-TW" sz="20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SB</a:t>
              </a:r>
              <a:r>
                <a:rPr kumimoji="0" lang="zh-TW" altLang="en-US"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拿部分</a:t>
              </a:r>
              <a:endParaRPr kumimoji="0" lang="zh-TW" altLang="en-US" sz="20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36" name="Text Box 11"/>
            <p:cNvSpPr txBox="1">
              <a:spLocks noChangeArrowheads="1"/>
            </p:cNvSpPr>
            <p:nvPr/>
          </p:nvSpPr>
          <p:spPr bwMode="auto">
            <a:xfrm>
              <a:off x="3000" y="10004"/>
              <a:ext cx="1819" cy="2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破 產 </a:t>
              </a:r>
              <a:endPar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rPr>
                <a:t>CC</a:t>
              </a:r>
              <a:r>
                <a:rPr kumimoji="0" lang="zh-TW" altLang="en-US"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rPr>
                <a:t>已轉換</a:t>
              </a:r>
              <a:endPar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SB</a:t>
              </a:r>
              <a:r>
                <a:rPr kumimoji="0" lang="zh-TW" altLang="en-US"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拿全部</a:t>
              </a:r>
              <a:endParaRPr kumimoji="0" lang="en-US" alt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800" dirty="0" smtClean="0">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2800" dirty="0" smtClean="0">
                  <a:latin typeface="微軟正黑體" panose="020B0604030504040204" pitchFamily="34" charset="-120"/>
                  <a:ea typeface="微軟正黑體" panose="020B0604030504040204" pitchFamily="34" charset="-120"/>
                  <a:cs typeface="Times New Roman" panose="02020603050405020304" pitchFamily="18" charset="0"/>
                </a:rPr>
                <a:t>拿部分</a:t>
              </a:r>
              <a:endParaRPr kumimoji="0" lang="zh-TW" altLang="en-US"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grpSp>
      <p:graphicFrame>
        <p:nvGraphicFramePr>
          <p:cNvPr id="46" name="物件 45"/>
          <p:cNvGraphicFramePr>
            <a:graphicFrameLocks noChangeAspect="1"/>
          </p:cNvGraphicFramePr>
          <p:nvPr>
            <p:extLst/>
          </p:nvPr>
        </p:nvGraphicFramePr>
        <p:xfrm>
          <a:off x="9967548" y="6218980"/>
          <a:ext cx="603618" cy="348757"/>
        </p:xfrm>
        <a:graphic>
          <a:graphicData uri="http://schemas.openxmlformats.org/presentationml/2006/ole">
            <mc:AlternateContent xmlns:mc="http://schemas.openxmlformats.org/markup-compatibility/2006">
              <mc:Choice xmlns:v="urn:schemas-microsoft-com:vml" Requires="v">
                <p:oleObj spid="_x0000_s13322" r:id="rId3" imgW="355292" imgH="203024" progId="Equation.DSMT4">
                  <p:embed/>
                </p:oleObj>
              </mc:Choice>
              <mc:Fallback>
                <p:oleObj r:id="rId3" imgW="355292" imgH="203024"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67548" y="6218980"/>
                        <a:ext cx="603618" cy="348757"/>
                      </a:xfrm>
                      <a:prstGeom prst="rect">
                        <a:avLst/>
                      </a:prstGeom>
                      <a:noFill/>
                    </p:spPr>
                  </p:pic>
                </p:oleObj>
              </mc:Fallback>
            </mc:AlternateContent>
          </a:graphicData>
        </a:graphic>
      </p:graphicFrame>
      <p:sp>
        <p:nvSpPr>
          <p:cNvPr id="49" name="Rectangle 29"/>
          <p:cNvSpPr>
            <a:spLocks noChangeArrowheads="1"/>
          </p:cNvSpPr>
          <p:nvPr/>
        </p:nvSpPr>
        <p:spPr bwMode="auto">
          <a:xfrm>
            <a:off x="1210615" y="153305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mc:AlternateContent xmlns:mc="http://schemas.openxmlformats.org/markup-compatibility/2006" xmlns:a14="http://schemas.microsoft.com/office/drawing/2010/main">
        <mc:Choice Requires="a14">
          <p:sp>
            <p:nvSpPr>
              <p:cNvPr id="50" name="文字方塊 49"/>
              <p:cNvSpPr txBox="1"/>
              <p:nvPr/>
            </p:nvSpPr>
            <p:spPr>
              <a:xfrm>
                <a:off x="1007839" y="1038547"/>
                <a:ext cx="272331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TW" b="0" i="1" smtClean="0">
                              <a:solidFill>
                                <a:srgbClr val="00B0F0"/>
                              </a:solidFill>
                              <a:latin typeface="Cambria Math" panose="02040503050406030204" pitchFamily="18" charset="0"/>
                            </a:rPr>
                          </m:ctrlPr>
                        </m:dPr>
                        <m:e>
                          <m:r>
                            <a:rPr lang="en-US" altLang="zh-TW" b="0" i="1" smtClean="0">
                              <a:solidFill>
                                <a:srgbClr val="00B0F0"/>
                              </a:solidFill>
                              <a:latin typeface="Cambria Math" panose="02040503050406030204" pitchFamily="18" charset="0"/>
                            </a:rPr>
                            <m:t>1−</m:t>
                          </m:r>
                          <m:r>
                            <a:rPr lang="zh-TW" altLang="en-US" b="0" i="1" smtClean="0">
                              <a:solidFill>
                                <a:srgbClr val="00B0F0"/>
                              </a:solidFill>
                              <a:latin typeface="Cambria Math" panose="02040503050406030204" pitchFamily="18" charset="0"/>
                            </a:rPr>
                            <m:t>𝛼</m:t>
                          </m:r>
                        </m:e>
                      </m:d>
                      <m:r>
                        <a:rPr lang="en-US" altLang="zh-TW" b="0" i="1" smtClean="0">
                          <a:solidFill>
                            <a:srgbClr val="00B0F0"/>
                          </a:solidFill>
                          <a:latin typeface="Cambria Math" panose="02040503050406030204" pitchFamily="18" charset="0"/>
                        </a:rPr>
                        <m:t>𝑉</m:t>
                      </m:r>
                      <m:d>
                        <m:dPr>
                          <m:ctrlPr>
                            <a:rPr lang="en-US" altLang="zh-TW" b="0" i="1" smtClean="0">
                              <a:solidFill>
                                <a:srgbClr val="00B0F0"/>
                              </a:solidFill>
                              <a:latin typeface="Cambria Math" panose="02040503050406030204" pitchFamily="18" charset="0"/>
                            </a:rPr>
                          </m:ctrlPr>
                        </m:dPr>
                        <m:e>
                          <m:r>
                            <a:rPr lang="en-US" altLang="zh-TW" b="0" i="1" smtClean="0">
                              <a:solidFill>
                                <a:srgbClr val="00B0F0"/>
                              </a:solidFill>
                              <a:latin typeface="Cambria Math" panose="02040503050406030204" pitchFamily="18" charset="0"/>
                            </a:rPr>
                            <m:t>𝑇</m:t>
                          </m:r>
                        </m:e>
                      </m:d>
                      <m:r>
                        <a:rPr lang="en-US" altLang="zh-TW" b="0" i="1" smtClean="0">
                          <a:solidFill>
                            <a:srgbClr val="00B0F0"/>
                          </a:solidFill>
                          <a:latin typeface="Cambria Math" panose="02040503050406030204" pitchFamily="18" charset="0"/>
                        </a:rPr>
                        <m:t>=</m:t>
                      </m:r>
                      <m:sSub>
                        <m:sSubPr>
                          <m:ctrlPr>
                            <a:rPr lang="en-US" altLang="zh-TW" i="1" smtClean="0">
                              <a:solidFill>
                                <a:srgbClr val="00B0F0"/>
                              </a:solidFill>
                              <a:latin typeface="Cambria Math" panose="02040503050406030204" pitchFamily="18" charset="0"/>
                            </a:rPr>
                          </m:ctrlPr>
                        </m:sSubPr>
                        <m:e>
                          <m:r>
                            <a:rPr lang="en-US" altLang="zh-TW" i="1">
                              <a:solidFill>
                                <a:srgbClr val="00B0F0"/>
                              </a:solidFill>
                              <a:latin typeface="Cambria Math"/>
                            </a:rPr>
                            <m:t>𝐷</m:t>
                          </m:r>
                        </m:e>
                        <m:sub>
                          <m:r>
                            <a:rPr lang="en-US" altLang="zh-TW" i="1">
                              <a:solidFill>
                                <a:srgbClr val="00B0F0"/>
                              </a:solidFill>
                              <a:latin typeface="Cambria Math"/>
                            </a:rPr>
                            <m:t>1</m:t>
                          </m:r>
                        </m:sub>
                      </m:sSub>
                      <m:r>
                        <a:rPr lang="en-US" altLang="zh-TW" i="1">
                          <a:solidFill>
                            <a:srgbClr val="00B0F0"/>
                          </a:solidFill>
                          <a:latin typeface="Cambria Math"/>
                        </a:rPr>
                        <m:t>+</m:t>
                      </m:r>
                      <m:sSub>
                        <m:sSubPr>
                          <m:ctrlPr>
                            <a:rPr lang="en-US" altLang="zh-TW" i="1">
                              <a:solidFill>
                                <a:srgbClr val="00B0F0"/>
                              </a:solidFill>
                              <a:latin typeface="Cambria Math" panose="02040503050406030204" pitchFamily="18" charset="0"/>
                            </a:rPr>
                          </m:ctrlPr>
                        </m:sSubPr>
                        <m:e>
                          <m:r>
                            <a:rPr lang="en-US" altLang="zh-TW" i="1">
                              <a:solidFill>
                                <a:srgbClr val="00B0F0"/>
                              </a:solidFill>
                              <a:latin typeface="Cambria Math"/>
                            </a:rPr>
                            <m:t>𝐶</m:t>
                          </m:r>
                        </m:e>
                        <m:sub>
                          <m:r>
                            <a:rPr lang="en-US" altLang="zh-TW" i="1">
                              <a:solidFill>
                                <a:srgbClr val="00B0F0"/>
                              </a:solidFill>
                              <a:latin typeface="Cambria Math"/>
                            </a:rPr>
                            <m:t>1</m:t>
                          </m:r>
                        </m:sub>
                      </m:sSub>
                      <m:sSub>
                        <m:sSubPr>
                          <m:ctrlPr>
                            <a:rPr lang="en-US" altLang="zh-TW" i="1">
                              <a:solidFill>
                                <a:srgbClr val="00B0F0"/>
                              </a:solidFill>
                              <a:latin typeface="Cambria Math" panose="02040503050406030204" pitchFamily="18" charset="0"/>
                            </a:rPr>
                          </m:ctrlPr>
                        </m:sSubPr>
                        <m:e>
                          <m:r>
                            <a:rPr lang="en-US" altLang="zh-TW" i="1">
                              <a:solidFill>
                                <a:srgbClr val="00B0F0"/>
                              </a:solidFill>
                              <a:latin typeface="Cambria Math"/>
                            </a:rPr>
                            <m:t>𝐷</m:t>
                          </m:r>
                        </m:e>
                        <m:sub>
                          <m:r>
                            <a:rPr lang="en-US" altLang="zh-TW" i="1">
                              <a:solidFill>
                                <a:srgbClr val="00B0F0"/>
                              </a:solidFill>
                              <a:latin typeface="Cambria Math"/>
                            </a:rPr>
                            <m:t>1</m:t>
                          </m:r>
                        </m:sub>
                      </m:sSub>
                      <m:r>
                        <a:rPr lang="en-US" altLang="zh-TW" i="1">
                          <a:solidFill>
                            <a:srgbClr val="00B0F0"/>
                          </a:solidFill>
                          <a:latin typeface="Cambria Math"/>
                        </a:rPr>
                        <m:t>𝑇</m:t>
                      </m:r>
                    </m:oMath>
                  </m:oMathPara>
                </a14:m>
                <a:endParaRPr lang="zh-TW" altLang="en-US" dirty="0">
                  <a:solidFill>
                    <a:srgbClr val="00B0F0"/>
                  </a:solidFill>
                </a:endParaRPr>
              </a:p>
            </p:txBody>
          </p:sp>
        </mc:Choice>
        <mc:Fallback xmlns="">
          <p:sp>
            <p:nvSpPr>
              <p:cNvPr id="50" name="文字方塊 49"/>
              <p:cNvSpPr txBox="1">
                <a:spLocks noRot="1" noChangeAspect="1" noMove="1" noResize="1" noEditPoints="1" noAdjustHandles="1" noChangeArrowheads="1" noChangeShapeType="1" noTextEdit="1"/>
              </p:cNvSpPr>
              <p:nvPr/>
            </p:nvSpPr>
            <p:spPr>
              <a:xfrm>
                <a:off x="1007839" y="1038547"/>
                <a:ext cx="2723310" cy="276999"/>
              </a:xfrm>
              <a:prstGeom prst="rect">
                <a:avLst/>
              </a:prstGeom>
              <a:blipFill rotWithShape="0">
                <a:blip r:embed="rId5"/>
                <a:stretch>
                  <a:fillRect r="-1566" b="-1521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文字方塊 51"/>
              <p:cNvSpPr txBox="1"/>
              <p:nvPr/>
            </p:nvSpPr>
            <p:spPr>
              <a:xfrm>
                <a:off x="6043395" y="1267815"/>
                <a:ext cx="518160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𝑉</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𝑇</m:t>
                          </m:r>
                        </m:e>
                      </m:d>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a:rPr>
                            <m:t>𝐷</m:t>
                          </m:r>
                        </m:e>
                        <m:sub>
                          <m:r>
                            <a:rPr lang="en-US" altLang="zh-TW" i="1">
                              <a:latin typeface="Cambria Math"/>
                            </a:rPr>
                            <m:t>1</m:t>
                          </m:r>
                        </m:sub>
                      </m:sSub>
                      <m:r>
                        <a:rPr lang="en-US" altLang="zh-TW" i="1">
                          <a:latin typeface="Cambria Math"/>
                        </a:rPr>
                        <m:t>+</m:t>
                      </m:r>
                      <m:sSub>
                        <m:sSubPr>
                          <m:ctrlPr>
                            <a:rPr lang="en-US" altLang="zh-TW" i="1">
                              <a:latin typeface="Cambria Math" panose="02040503050406030204" pitchFamily="18" charset="0"/>
                            </a:rPr>
                          </m:ctrlPr>
                        </m:sSubPr>
                        <m:e>
                          <m:r>
                            <a:rPr lang="en-US" altLang="zh-TW" i="1">
                              <a:latin typeface="Cambria Math"/>
                            </a:rPr>
                            <m:t>𝐷</m:t>
                          </m:r>
                        </m:e>
                        <m:sub>
                          <m:r>
                            <a:rPr lang="en-US" altLang="zh-TW" i="1">
                              <a:latin typeface="Cambria Math"/>
                            </a:rPr>
                            <m:t>2</m:t>
                          </m:r>
                        </m:sub>
                      </m:sSub>
                      <m:r>
                        <a:rPr lang="en-US" altLang="zh-TW" i="1">
                          <a:latin typeface="Cambria Math" panose="02040503050406030204" pitchFamily="18" charset="0"/>
                        </a:rPr>
                        <m:t>+(1−</m:t>
                      </m:r>
                      <m:r>
                        <a:rPr lang="en-US" altLang="zh-TW" i="1">
                          <a:latin typeface="Cambria Math" panose="02040503050406030204" pitchFamily="18" charset="0"/>
                        </a:rPr>
                        <m:t>𝑡𝑎𝑥</m:t>
                      </m:r>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a:rPr>
                            <m:t>𝐶</m:t>
                          </m:r>
                        </m:e>
                        <m:sub>
                          <m:r>
                            <a:rPr lang="en-US" altLang="zh-TW" i="1">
                              <a:latin typeface="Cambria Math"/>
                            </a:rPr>
                            <m:t>1</m:t>
                          </m:r>
                        </m:sub>
                      </m:sSub>
                      <m:sSub>
                        <m:sSubPr>
                          <m:ctrlPr>
                            <a:rPr lang="en-US" altLang="zh-TW" i="1">
                              <a:latin typeface="Cambria Math" panose="02040503050406030204" pitchFamily="18" charset="0"/>
                            </a:rPr>
                          </m:ctrlPr>
                        </m:sSubPr>
                        <m:e>
                          <m:r>
                            <a:rPr lang="en-US" altLang="zh-TW" i="1">
                              <a:latin typeface="Cambria Math"/>
                            </a:rPr>
                            <m:t>𝐷</m:t>
                          </m:r>
                        </m:e>
                        <m:sub>
                          <m:r>
                            <a:rPr lang="en-US" altLang="zh-TW" i="1">
                              <a:latin typeface="Cambria Math"/>
                            </a:rPr>
                            <m:t>1</m:t>
                          </m:r>
                        </m:sub>
                      </m:sSub>
                      <m:r>
                        <a:rPr lang="en-US" altLang="zh-TW" i="1">
                          <a:latin typeface="Cambria Math"/>
                        </a:rPr>
                        <m:t>𝑇</m:t>
                      </m:r>
                      <m:r>
                        <a:rPr lang="en-US" altLang="zh-TW" i="1">
                          <a:latin typeface="Cambria Math"/>
                        </a:rPr>
                        <m:t>+</m:t>
                      </m:r>
                      <m:sSub>
                        <m:sSubPr>
                          <m:ctrlPr>
                            <a:rPr lang="en-US" altLang="zh-TW" i="1">
                              <a:latin typeface="Cambria Math" panose="02040503050406030204" pitchFamily="18" charset="0"/>
                            </a:rPr>
                          </m:ctrlPr>
                        </m:sSubPr>
                        <m:e>
                          <m:r>
                            <a:rPr lang="en-US" altLang="zh-TW" i="1">
                              <a:latin typeface="Cambria Math"/>
                            </a:rPr>
                            <m:t>𝐶</m:t>
                          </m:r>
                        </m:e>
                        <m:sub>
                          <m:r>
                            <a:rPr lang="en-US" altLang="zh-TW" i="1">
                              <a:latin typeface="Cambria Math"/>
                            </a:rPr>
                            <m:t>2</m:t>
                          </m:r>
                        </m:sub>
                      </m:sSub>
                      <m:sSub>
                        <m:sSubPr>
                          <m:ctrlPr>
                            <a:rPr lang="en-US" altLang="zh-TW" i="1">
                              <a:latin typeface="Cambria Math" panose="02040503050406030204" pitchFamily="18" charset="0"/>
                            </a:rPr>
                          </m:ctrlPr>
                        </m:sSubPr>
                        <m:e>
                          <m:r>
                            <a:rPr lang="en-US" altLang="zh-TW" i="1">
                              <a:latin typeface="Cambria Math"/>
                            </a:rPr>
                            <m:t>𝐷</m:t>
                          </m:r>
                        </m:e>
                        <m:sub>
                          <m:r>
                            <a:rPr lang="en-US" altLang="zh-TW" i="1">
                              <a:latin typeface="Cambria Math"/>
                            </a:rPr>
                            <m:t>2</m:t>
                          </m:r>
                        </m:sub>
                      </m:sSub>
                      <m:r>
                        <a:rPr lang="en-US" altLang="zh-TW" i="1">
                          <a:latin typeface="Cambria Math"/>
                        </a:rPr>
                        <m:t>𝑇</m:t>
                      </m:r>
                      <m:r>
                        <a:rPr lang="en-US" altLang="zh-TW" i="1">
                          <a:latin typeface="Cambria Math" panose="02040503050406030204" pitchFamily="18" charset="0"/>
                        </a:rPr>
                        <m:t>)</m:t>
                      </m:r>
                    </m:oMath>
                  </m:oMathPara>
                </a14:m>
                <a:endParaRPr lang="zh-TW" altLang="en-US" dirty="0"/>
              </a:p>
            </p:txBody>
          </p:sp>
        </mc:Choice>
        <mc:Fallback xmlns="">
          <p:sp>
            <p:nvSpPr>
              <p:cNvPr id="52" name="文字方塊 51"/>
              <p:cNvSpPr txBox="1">
                <a:spLocks noRot="1" noChangeAspect="1" noMove="1" noResize="1" noEditPoints="1" noAdjustHandles="1" noChangeArrowheads="1" noChangeShapeType="1" noTextEdit="1"/>
              </p:cNvSpPr>
              <p:nvPr/>
            </p:nvSpPr>
            <p:spPr>
              <a:xfrm>
                <a:off x="6043395" y="1267815"/>
                <a:ext cx="5181600" cy="276999"/>
              </a:xfrm>
              <a:prstGeom prst="rect">
                <a:avLst/>
              </a:prstGeom>
              <a:blipFill rotWithShape="0">
                <a:blip r:embed="rId6"/>
                <a:stretch>
                  <a:fillRect t="-2222" b="-355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文字方塊 52"/>
              <p:cNvSpPr txBox="1"/>
              <p:nvPr/>
            </p:nvSpPr>
            <p:spPr>
              <a:xfrm>
                <a:off x="432009" y="3486440"/>
                <a:ext cx="12003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solidFill>
                            <a:schemeClr val="accent6"/>
                          </a:solidFill>
                          <a:latin typeface="Cambria Math" panose="02040503050406030204" pitchFamily="18" charset="0"/>
                        </a:rPr>
                        <m:t>𝐼</m:t>
                      </m:r>
                      <m:d>
                        <m:dPr>
                          <m:ctrlPr>
                            <a:rPr lang="en-US" altLang="zh-TW" b="0" i="1" smtClean="0">
                              <a:solidFill>
                                <a:schemeClr val="accent6"/>
                              </a:solidFill>
                              <a:latin typeface="Cambria Math" panose="02040503050406030204" pitchFamily="18" charset="0"/>
                            </a:rPr>
                          </m:ctrlPr>
                        </m:dPr>
                        <m:e>
                          <m:r>
                            <a:rPr lang="en-US" altLang="zh-TW" b="0" i="1" smtClean="0">
                              <a:solidFill>
                                <a:schemeClr val="accent6"/>
                              </a:solidFill>
                              <a:latin typeface="Cambria Math" panose="02040503050406030204" pitchFamily="18" charset="0"/>
                            </a:rPr>
                            <m:t>𝑇</m:t>
                          </m:r>
                        </m:e>
                      </m:d>
                      <m:r>
                        <a:rPr lang="en-US" altLang="zh-TW" b="0" i="1" smtClean="0">
                          <a:solidFill>
                            <a:schemeClr val="accent6"/>
                          </a:solidFill>
                          <a:latin typeface="Cambria Math" panose="02040503050406030204" pitchFamily="18" charset="0"/>
                        </a:rPr>
                        <m:t>=</m:t>
                      </m:r>
                      <m:r>
                        <a:rPr lang="en-US" altLang="zh-TW" b="0" i="1" smtClean="0">
                          <a:solidFill>
                            <a:schemeClr val="accent6"/>
                          </a:solidFill>
                          <a:latin typeface="Cambria Math" panose="02040503050406030204" pitchFamily="18" charset="0"/>
                        </a:rPr>
                        <m:t>𝐼</m:t>
                      </m:r>
                      <m:r>
                        <a:rPr lang="en-US" altLang="zh-TW" b="0" i="1" smtClean="0">
                          <a:solidFill>
                            <a:schemeClr val="accent6"/>
                          </a:solidFill>
                          <a:latin typeface="Cambria Math" panose="02040503050406030204" pitchFamily="18" charset="0"/>
                        </a:rPr>
                        <m:t>(0)</m:t>
                      </m:r>
                    </m:oMath>
                  </m:oMathPara>
                </a14:m>
                <a:endParaRPr lang="zh-TW" altLang="en-US" dirty="0">
                  <a:solidFill>
                    <a:schemeClr val="accent6"/>
                  </a:solidFill>
                </a:endParaRPr>
              </a:p>
            </p:txBody>
          </p:sp>
        </mc:Choice>
        <mc:Fallback xmlns="">
          <p:sp>
            <p:nvSpPr>
              <p:cNvPr id="53" name="文字方塊 52"/>
              <p:cNvSpPr txBox="1">
                <a:spLocks noRot="1" noChangeAspect="1" noMove="1" noResize="1" noEditPoints="1" noAdjustHandles="1" noChangeArrowheads="1" noChangeShapeType="1" noTextEdit="1"/>
              </p:cNvSpPr>
              <p:nvPr/>
            </p:nvSpPr>
            <p:spPr>
              <a:xfrm>
                <a:off x="432009" y="3486440"/>
                <a:ext cx="1200329" cy="276999"/>
              </a:xfrm>
              <a:prstGeom prst="rect">
                <a:avLst/>
              </a:prstGeom>
              <a:blipFill rotWithShape="0">
                <a:blip r:embed="rId7"/>
                <a:stretch>
                  <a:fillRect l="-4569" t="-2222" r="-7107" b="-355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896015" y="1348387"/>
                <a:ext cx="795205"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rPr>
                        <m:t>𝐼</m:t>
                      </m:r>
                      <m:r>
                        <a:rPr lang="en-US" altLang="zh-TW" i="1">
                          <a:latin typeface="Cambria Math" panose="02040503050406030204" pitchFamily="18" charset="0"/>
                        </a:rPr>
                        <m:t>(</m:t>
                      </m:r>
                      <m:r>
                        <a:rPr lang="en-US" altLang="zh-TW" i="1">
                          <a:latin typeface="Cambria Math" panose="02040503050406030204" pitchFamily="18" charset="0"/>
                        </a:rPr>
                        <m:t>𝑇</m:t>
                      </m:r>
                      <m:r>
                        <a:rPr lang="en-US" altLang="zh-TW" i="1">
                          <a:latin typeface="Cambria Math" panose="02040503050406030204" pitchFamily="18" charset="0"/>
                        </a:rPr>
                        <m:t>)</m:t>
                      </m:r>
                    </m:oMath>
                  </m:oMathPara>
                </a14:m>
                <a:endParaRPr lang="zh-TW" altLang="en-US" dirty="0"/>
              </a:p>
            </p:txBody>
          </p:sp>
        </mc:Choice>
        <mc:Fallback xmlns="">
          <p:sp>
            <p:nvSpPr>
              <p:cNvPr id="2" name="矩形 1"/>
              <p:cNvSpPr>
                <a:spLocks noRot="1" noChangeAspect="1" noMove="1" noResize="1" noEditPoints="1" noAdjustHandles="1" noChangeArrowheads="1" noChangeShapeType="1" noTextEdit="1"/>
              </p:cNvSpPr>
              <p:nvPr/>
            </p:nvSpPr>
            <p:spPr>
              <a:xfrm>
                <a:off x="896015" y="1348387"/>
                <a:ext cx="795205" cy="369332"/>
              </a:xfrm>
              <a:prstGeom prst="rect">
                <a:avLst/>
              </a:prstGeom>
              <a:blipFill rotWithShape="0">
                <a:blip r:embed="rId8"/>
                <a:stretch>
                  <a:fillRect b="-13115"/>
                </a:stretch>
              </a:blipFill>
            </p:spPr>
            <p:txBody>
              <a:bodyPr/>
              <a:lstStyle/>
              <a:p>
                <a:r>
                  <a:rPr lang="zh-TW" altLang="en-US">
                    <a:noFill/>
                  </a:rPr>
                  <a:t> </a:t>
                </a:r>
              </a:p>
            </p:txBody>
          </p:sp>
        </mc:Fallback>
      </mc:AlternateContent>
      <p:sp>
        <p:nvSpPr>
          <p:cNvPr id="34" name="Text Box 9"/>
          <p:cNvSpPr txBox="1">
            <a:spLocks noChangeArrowheads="1"/>
          </p:cNvSpPr>
          <p:nvPr/>
        </p:nvSpPr>
        <p:spPr bwMode="auto">
          <a:xfrm>
            <a:off x="1686272" y="1748138"/>
            <a:ext cx="1952063"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2400" dirty="0" smtClean="0">
                <a:latin typeface="微軟正黑體" panose="020B0604030504040204" pitchFamily="34" charset="-120"/>
                <a:ea typeface="微軟正黑體" panose="020B0604030504040204" pitchFamily="34" charset="-120"/>
                <a:cs typeface="Times New Roman" panose="02020603050405020304" pitchFamily="18" charset="0"/>
              </a:rPr>
              <a:t>破</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產</a:t>
            </a:r>
            <a:endPar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400" dirty="0" smtClean="0">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2400" dirty="0" smtClean="0">
                <a:latin typeface="微軟正黑體" panose="020B0604030504040204" pitchFamily="34" charset="-120"/>
                <a:ea typeface="微軟正黑體" panose="020B0604030504040204" pitchFamily="34" charset="-120"/>
                <a:cs typeface="Times New Roman" panose="02020603050405020304" pitchFamily="18" charset="0"/>
              </a:rPr>
              <a:t>未轉換</a:t>
            </a:r>
            <a:endPar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400" dirty="0" smtClean="0">
                <a:latin typeface="微軟正黑體" panose="020B0604030504040204" pitchFamily="34" charset="-120"/>
                <a:ea typeface="微軟正黑體" panose="020B0604030504040204" pitchFamily="34" charset="-120"/>
                <a:cs typeface="Times New Roman" panose="02020603050405020304" pitchFamily="18" charset="0"/>
              </a:rPr>
              <a:t>SB</a:t>
            </a:r>
            <a:r>
              <a:rPr lang="zh-TW" altLang="en-US" sz="2400" dirty="0" smtClean="0">
                <a:latin typeface="微軟正黑體" panose="020B0604030504040204" pitchFamily="34" charset="-120"/>
                <a:ea typeface="微軟正黑體" panose="020B0604030504040204" pitchFamily="34" charset="-120"/>
                <a:cs typeface="Times New Roman" panose="02020603050405020304" pitchFamily="18" charset="0"/>
              </a:rPr>
              <a:t>拿部分</a:t>
            </a:r>
            <a:endParaRPr lang="en-US" altLang="zh-TW" sz="2400" dirty="0" smtClean="0">
              <a:latin typeface="微軟正黑體" panose="020B0604030504040204" pitchFamily="34" charset="-120"/>
              <a:ea typeface="微軟正黑體" panose="020B0604030504040204" pitchFamily="34"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7" name="文字方塊 46"/>
              <p:cNvSpPr txBox="1"/>
              <p:nvPr/>
            </p:nvSpPr>
            <p:spPr>
              <a:xfrm>
                <a:off x="3426253" y="6134199"/>
                <a:ext cx="6062237" cy="567528"/>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b="0" i="1" smtClean="0">
                          <a:solidFill>
                            <a:srgbClr val="FF0000"/>
                          </a:solidFill>
                          <a:latin typeface="Cambria Math" panose="02040503050406030204" pitchFamily="18" charset="0"/>
                        </a:rPr>
                        <m:t>𝑉</m:t>
                      </m:r>
                      <m:r>
                        <a:rPr lang="en-US" altLang="zh-TW" b="0" i="1" smtClean="0">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rPr>
                        <m:t>𝑇</m:t>
                      </m:r>
                      <m:r>
                        <a:rPr lang="en-US" altLang="zh-TW" b="0" i="1" smtClean="0">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rPr>
                        <m:t>𝑉</m:t>
                      </m:r>
                      <m:r>
                        <a:rPr lang="en-US" altLang="zh-TW" i="1">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rPr>
                        <m:t>=</m:t>
                      </m:r>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𝐷</m:t>
                          </m:r>
                        </m:e>
                        <m:sub>
                          <m:r>
                            <a:rPr lang="en-US" altLang="zh-TW" i="1">
                              <a:solidFill>
                                <a:srgbClr val="FF0000"/>
                              </a:solidFill>
                              <a:latin typeface="Cambria Math"/>
                            </a:rPr>
                            <m:t>1</m:t>
                          </m:r>
                        </m:sub>
                      </m:sSub>
                      <m:r>
                        <a:rPr lang="en-US" altLang="zh-TW" i="1">
                          <a:solidFill>
                            <a:srgbClr val="FF0000"/>
                          </a:solidFill>
                          <a:latin typeface="Cambria Math"/>
                        </a:rPr>
                        <m:t>+</m:t>
                      </m:r>
                      <m:r>
                        <a:rPr lang="en-US" altLang="zh-TW" i="1">
                          <a:solidFill>
                            <a:srgbClr val="FF0000"/>
                          </a:solidFill>
                          <a:latin typeface="Cambria Math" panose="02040503050406030204" pitchFamily="18" charset="0"/>
                        </a:rPr>
                        <m:t>(</m:t>
                      </m:r>
                      <m:r>
                        <a:rPr lang="en-US" altLang="zh-TW" b="0" i="1" smtClean="0">
                          <a:solidFill>
                            <a:srgbClr val="FF0000"/>
                          </a:solidFill>
                          <a:latin typeface="Cambria Math" panose="02040503050406030204" pitchFamily="18" charset="0"/>
                        </a:rPr>
                        <m:t>1+</m:t>
                      </m:r>
                      <m:f>
                        <m:fPr>
                          <m:ctrlPr>
                            <a:rPr lang="en-US" altLang="zh-TW" i="1">
                              <a:solidFill>
                                <a:srgbClr val="FF0000"/>
                              </a:solidFill>
                              <a:latin typeface="Cambria Math" panose="02040503050406030204" pitchFamily="18" charset="0"/>
                            </a:rPr>
                          </m:ctrlPr>
                        </m:fPr>
                        <m:num>
                          <m:r>
                            <a:rPr lang="en-US" altLang="zh-TW" i="1" dirty="0">
                              <a:solidFill>
                                <a:srgbClr val="FF0000"/>
                              </a:solidFill>
                              <a:latin typeface="Cambria Math" panose="02040503050406030204" pitchFamily="18" charset="0"/>
                              <a:ea typeface="微軟正黑體" panose="020B0604030504040204" pitchFamily="34" charset="-120"/>
                            </a:rPr>
                            <m:t>𝑂</m:t>
                          </m:r>
                        </m:num>
                        <m:den>
                          <m:sSub>
                            <m:sSubPr>
                              <m:ctrlPr>
                                <a:rPr lang="en-US" altLang="zh-TW" i="1" dirty="0">
                                  <a:solidFill>
                                    <a:srgbClr val="FF0000"/>
                                  </a:solidFill>
                                  <a:latin typeface="Cambria Math" panose="02040503050406030204" pitchFamily="18" charset="0"/>
                                  <a:ea typeface="微軟正黑體" panose="020B0604030504040204" pitchFamily="34" charset="-120"/>
                                </a:rPr>
                              </m:ctrlPr>
                            </m:sSubPr>
                            <m:e>
                              <m:r>
                                <a:rPr lang="en-US" altLang="zh-TW" i="1" dirty="0">
                                  <a:solidFill>
                                    <a:srgbClr val="FF0000"/>
                                  </a:solidFill>
                                  <a:latin typeface="Cambria Math" panose="02040503050406030204" pitchFamily="18" charset="0"/>
                                  <a:ea typeface="微軟正黑體" panose="020B0604030504040204" pitchFamily="34" charset="-120"/>
                                </a:rPr>
                                <m:t>𝑂</m:t>
                              </m:r>
                            </m:e>
                            <m:sub>
                              <m:r>
                                <a:rPr lang="en-US" altLang="zh-TW" i="1" dirty="0">
                                  <a:solidFill>
                                    <a:srgbClr val="FF0000"/>
                                  </a:solidFill>
                                  <a:latin typeface="Cambria Math" panose="02040503050406030204" pitchFamily="18" charset="0"/>
                                  <a:ea typeface="微軟正黑體" panose="020B0604030504040204" pitchFamily="34" charset="-120"/>
                                </a:rPr>
                                <m:t>𝐶𝐶</m:t>
                              </m:r>
                            </m:sub>
                          </m:sSub>
                        </m:den>
                      </m:f>
                      <m:r>
                        <a:rPr lang="en-US" altLang="zh-TW" i="1">
                          <a:solidFill>
                            <a:srgbClr val="FF0000"/>
                          </a:solidFill>
                          <a:latin typeface="Cambria Math" panose="02040503050406030204" pitchFamily="18" charset="0"/>
                        </a:rPr>
                        <m:t>)</m:t>
                      </m:r>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𝐷</m:t>
                          </m:r>
                        </m:e>
                        <m:sub>
                          <m:r>
                            <a:rPr lang="en-US" altLang="zh-TW" i="1">
                              <a:solidFill>
                                <a:srgbClr val="FF0000"/>
                              </a:solidFill>
                              <a:latin typeface="Cambria Math"/>
                            </a:rPr>
                            <m:t>2</m:t>
                          </m:r>
                        </m:sub>
                      </m:sSub>
                      <m:r>
                        <a:rPr lang="en-US" altLang="zh-TW" i="1">
                          <a:solidFill>
                            <a:srgbClr val="FF0000"/>
                          </a:solidFill>
                          <a:latin typeface="Cambria Math"/>
                        </a:rPr>
                        <m:t>+(1−</m:t>
                      </m:r>
                      <m:r>
                        <a:rPr lang="en-US" altLang="zh-TW" i="1">
                          <a:solidFill>
                            <a:srgbClr val="FF0000"/>
                          </a:solidFill>
                          <a:latin typeface="Cambria Math"/>
                        </a:rPr>
                        <m:t>𝑡𝑎𝑥</m:t>
                      </m:r>
                      <m:r>
                        <a:rPr lang="en-US" altLang="zh-TW" i="1">
                          <a:solidFill>
                            <a:srgbClr val="FF0000"/>
                          </a:solidFill>
                          <a:latin typeface="Cambria Math"/>
                        </a:rPr>
                        <m:t>)(</m:t>
                      </m:r>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𝐶</m:t>
                          </m:r>
                        </m:e>
                        <m:sub>
                          <m:r>
                            <a:rPr lang="en-US" altLang="zh-TW" i="1">
                              <a:solidFill>
                                <a:srgbClr val="FF0000"/>
                              </a:solidFill>
                              <a:latin typeface="Cambria Math"/>
                            </a:rPr>
                            <m:t>1</m:t>
                          </m:r>
                        </m:sub>
                      </m:sSub>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𝐷</m:t>
                          </m:r>
                        </m:e>
                        <m:sub>
                          <m:r>
                            <a:rPr lang="en-US" altLang="zh-TW" i="1">
                              <a:solidFill>
                                <a:srgbClr val="FF0000"/>
                              </a:solidFill>
                              <a:latin typeface="Cambria Math"/>
                            </a:rPr>
                            <m:t>1</m:t>
                          </m:r>
                        </m:sub>
                      </m:sSub>
                      <m:r>
                        <a:rPr lang="en-US" altLang="zh-TW" i="1">
                          <a:solidFill>
                            <a:srgbClr val="FF0000"/>
                          </a:solidFill>
                          <a:latin typeface="Cambria Math"/>
                        </a:rPr>
                        <m:t>𝑇</m:t>
                      </m:r>
                      <m:r>
                        <a:rPr lang="en-US" altLang="zh-TW" i="1">
                          <a:solidFill>
                            <a:srgbClr val="FF0000"/>
                          </a:solidFill>
                          <a:latin typeface="Cambria Math"/>
                        </a:rPr>
                        <m:t>+</m:t>
                      </m:r>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𝐶</m:t>
                          </m:r>
                        </m:e>
                        <m:sub>
                          <m:r>
                            <a:rPr lang="en-US" altLang="zh-TW" i="1">
                              <a:solidFill>
                                <a:srgbClr val="FF0000"/>
                              </a:solidFill>
                              <a:latin typeface="Cambria Math"/>
                            </a:rPr>
                            <m:t>2</m:t>
                          </m:r>
                        </m:sub>
                      </m:sSub>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𝐷</m:t>
                          </m:r>
                        </m:e>
                        <m:sub>
                          <m:r>
                            <a:rPr lang="en-US" altLang="zh-TW" i="1">
                              <a:solidFill>
                                <a:srgbClr val="FF0000"/>
                              </a:solidFill>
                              <a:latin typeface="Cambria Math"/>
                            </a:rPr>
                            <m:t>2</m:t>
                          </m:r>
                        </m:sub>
                      </m:sSub>
                      <m:r>
                        <a:rPr lang="en-US" altLang="zh-TW" i="1">
                          <a:solidFill>
                            <a:srgbClr val="FF0000"/>
                          </a:solidFill>
                          <a:latin typeface="Cambria Math"/>
                        </a:rPr>
                        <m:t>𝑇</m:t>
                      </m:r>
                      <m:r>
                        <a:rPr lang="en-US" altLang="zh-TW" i="1">
                          <a:solidFill>
                            <a:srgbClr val="FF0000"/>
                          </a:solidFill>
                          <a:latin typeface="Cambria Math"/>
                        </a:rPr>
                        <m:t>)</m:t>
                      </m:r>
                    </m:oMath>
                  </m:oMathPara>
                </a14:m>
                <a:endParaRPr lang="zh-TW" altLang="en-US" dirty="0">
                  <a:solidFill>
                    <a:srgbClr val="FF0000"/>
                  </a:solidFill>
                  <a:latin typeface="微軟正黑體" panose="020B0604030504040204" pitchFamily="34" charset="-120"/>
                  <a:ea typeface="微軟正黑體" panose="020B0604030504040204" pitchFamily="34" charset="-120"/>
                </a:endParaRPr>
              </a:p>
            </p:txBody>
          </p:sp>
        </mc:Choice>
        <mc:Fallback xmlns="">
          <p:sp>
            <p:nvSpPr>
              <p:cNvPr id="47" name="文字方塊 46"/>
              <p:cNvSpPr txBox="1">
                <a:spLocks noRot="1" noChangeAspect="1" noMove="1" noResize="1" noEditPoints="1" noAdjustHandles="1" noChangeArrowheads="1" noChangeShapeType="1" noTextEdit="1"/>
              </p:cNvSpPr>
              <p:nvPr/>
            </p:nvSpPr>
            <p:spPr>
              <a:xfrm>
                <a:off x="3426253" y="6134199"/>
                <a:ext cx="6062237" cy="567528"/>
              </a:xfrm>
              <a:prstGeom prst="rect">
                <a:avLst/>
              </a:prstGeom>
              <a:blipFill rotWithShape="0">
                <a:blip r:embed="rId9"/>
                <a:stretch>
                  <a:fillRect/>
                </a:stretch>
              </a:blipFill>
            </p:spPr>
            <p:txBody>
              <a:bodyPr/>
              <a:lstStyle/>
              <a:p>
                <a:r>
                  <a:rPr lang="zh-TW" altLang="en-US">
                    <a:noFill/>
                  </a:rPr>
                  <a:t> </a:t>
                </a:r>
              </a:p>
            </p:txBody>
          </p:sp>
        </mc:Fallback>
      </mc:AlternateContent>
      <p:cxnSp>
        <p:nvCxnSpPr>
          <p:cNvPr id="6" name="直線接點 5"/>
          <p:cNvCxnSpPr/>
          <p:nvPr/>
        </p:nvCxnSpPr>
        <p:spPr>
          <a:xfrm flipV="1">
            <a:off x="8939443" y="3661906"/>
            <a:ext cx="0" cy="241963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5" name="Text Box 9"/>
          <p:cNvSpPr txBox="1">
            <a:spLocks noChangeArrowheads="1"/>
          </p:cNvSpPr>
          <p:nvPr/>
        </p:nvSpPr>
        <p:spPr bwMode="auto">
          <a:xfrm>
            <a:off x="4319966" y="1722515"/>
            <a:ext cx="1952063" cy="2212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2400" dirty="0" smtClean="0">
                <a:latin typeface="微軟正黑體" panose="020B0604030504040204" pitchFamily="34" charset="-120"/>
                <a:ea typeface="微軟正黑體" panose="020B0604030504040204" pitchFamily="34" charset="-120"/>
                <a:cs typeface="Times New Roman" panose="02020603050405020304" pitchFamily="18" charset="0"/>
              </a:rPr>
              <a:t>破</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產</a:t>
            </a:r>
            <a:endPar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rPr>
              <a:t>CC</a:t>
            </a:r>
            <a:r>
              <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rPr>
              <a:t>未轉換</a:t>
            </a:r>
            <a:endPar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rPr>
              <a:t>SB</a:t>
            </a:r>
            <a:r>
              <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rPr>
              <a:t>拿全部</a:t>
            </a:r>
            <a:endPar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400" dirty="0" smtClean="0">
                <a:latin typeface="微軟正黑體" panose="020B0604030504040204" pitchFamily="34" charset="-120"/>
                <a:ea typeface="微軟正黑體" panose="020B0604030504040204" pitchFamily="34" charset="-120"/>
              </a:rPr>
              <a:t>CC</a:t>
            </a:r>
            <a:r>
              <a:rPr lang="zh-TW" altLang="en-US" sz="2400" dirty="0" smtClean="0">
                <a:latin typeface="微軟正黑體" panose="020B0604030504040204" pitchFamily="34" charset="-120"/>
                <a:ea typeface="微軟正黑體" panose="020B0604030504040204" pitchFamily="34" charset="-120"/>
              </a:rPr>
              <a:t>拿部分</a:t>
            </a:r>
            <a:endPar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35" name="Text Box 9"/>
          <p:cNvSpPr txBox="1">
            <a:spLocks noChangeArrowheads="1"/>
          </p:cNvSpPr>
          <p:nvPr/>
        </p:nvSpPr>
        <p:spPr bwMode="auto">
          <a:xfrm>
            <a:off x="6180904" y="4220432"/>
            <a:ext cx="1952063"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2800" dirty="0" smtClean="0">
                <a:latin typeface="微軟正黑體" panose="020B0604030504040204" pitchFamily="34" charset="-120"/>
                <a:ea typeface="微軟正黑體" panose="020B0604030504040204" pitchFamily="34" charset="-120"/>
                <a:cs typeface="Times New Roman" panose="02020603050405020304" pitchFamily="18" charset="0"/>
              </a:rPr>
              <a:t>存活</a:t>
            </a:r>
            <a:endParaRPr lang="en-US" altLang="zh-TW" sz="2800" dirty="0" smtClean="0">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800" dirty="0" smtClean="0">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2800" dirty="0" smtClean="0">
                <a:latin typeface="微軟正黑體" panose="020B0604030504040204" pitchFamily="34" charset="-120"/>
                <a:ea typeface="微軟正黑體" panose="020B0604030504040204" pitchFamily="34" charset="-120"/>
                <a:cs typeface="Times New Roman" panose="02020603050405020304" pitchFamily="18" charset="0"/>
              </a:rPr>
              <a:t>已轉換</a:t>
            </a:r>
            <a:endPar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37" name="Text Box 9"/>
          <p:cNvSpPr txBox="1">
            <a:spLocks noChangeArrowheads="1"/>
          </p:cNvSpPr>
          <p:nvPr/>
        </p:nvSpPr>
        <p:spPr bwMode="auto">
          <a:xfrm>
            <a:off x="8826865" y="2021207"/>
            <a:ext cx="1952063"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2800" dirty="0" smtClean="0">
                <a:latin typeface="微軟正黑體" panose="020B0604030504040204" pitchFamily="34" charset="-120"/>
                <a:ea typeface="微軟正黑體" panose="020B0604030504040204" pitchFamily="34" charset="-120"/>
                <a:cs typeface="Times New Roman" panose="02020603050405020304" pitchFamily="18" charset="0"/>
              </a:rPr>
              <a:t>存活</a:t>
            </a:r>
            <a:endParaRPr lang="en-US" altLang="zh-TW" sz="2800" dirty="0" smtClean="0">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CC</a:t>
            </a:r>
            <a:r>
              <a:rPr kumimoji="0" lang="zh-TW" altLang="en-US"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未轉換</a:t>
            </a:r>
            <a:endParaRPr kumimoji="0" lang="zh-TW" altLang="en-US"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cxnSp>
        <p:nvCxnSpPr>
          <p:cNvPr id="10" name="直線單箭頭接點 9"/>
          <p:cNvCxnSpPr/>
          <p:nvPr/>
        </p:nvCxnSpPr>
        <p:spPr>
          <a:xfrm flipH="1" flipV="1">
            <a:off x="1809498" y="1791077"/>
            <a:ext cx="25626" cy="43232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a:off x="1838080" y="6081535"/>
            <a:ext cx="8517611"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6578793" y="1717719"/>
            <a:ext cx="0" cy="19381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線接點 50"/>
          <p:cNvCxnSpPr/>
          <p:nvPr/>
        </p:nvCxnSpPr>
        <p:spPr>
          <a:xfrm flipH="1">
            <a:off x="3504811" y="3639847"/>
            <a:ext cx="9775" cy="2451632"/>
          </a:xfrm>
          <a:prstGeom prst="line">
            <a:avLst/>
          </a:prstGeom>
          <a:ln w="19050">
            <a:solidFill>
              <a:srgbClr val="00B0F0"/>
            </a:solidFill>
            <a:prstDash val="solid"/>
          </a:ln>
        </p:spPr>
        <p:style>
          <a:lnRef idx="1">
            <a:schemeClr val="accent1"/>
          </a:lnRef>
          <a:fillRef idx="0">
            <a:schemeClr val="accent1"/>
          </a:fillRef>
          <a:effectRef idx="0">
            <a:schemeClr val="accent1"/>
          </a:effectRef>
          <a:fontRef idx="minor">
            <a:schemeClr val="tx1"/>
          </a:fontRef>
        </p:style>
      </p:cxnSp>
      <p:sp>
        <p:nvSpPr>
          <p:cNvPr id="58" name="矩形 57"/>
          <p:cNvSpPr/>
          <p:nvPr/>
        </p:nvSpPr>
        <p:spPr>
          <a:xfrm>
            <a:off x="8922626" y="3661906"/>
            <a:ext cx="1743723" cy="2419629"/>
          </a:xfrm>
          <a:prstGeom prst="rect">
            <a:avLst/>
          </a:prstGeom>
          <a:solidFill>
            <a:srgbClr val="51DF7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9" name="文字方塊 38"/>
              <p:cNvSpPr txBox="1"/>
              <p:nvPr/>
            </p:nvSpPr>
            <p:spPr>
              <a:xfrm>
                <a:off x="5456874" y="3865197"/>
                <a:ext cx="4031616" cy="276999"/>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altLang="zh-TW" b="0" i="1" smtClean="0">
                          <a:solidFill>
                            <a:srgbClr val="7030A0"/>
                          </a:solidFill>
                          <a:latin typeface="Cambria Math" panose="02040503050406030204" pitchFamily="18" charset="0"/>
                        </a:rPr>
                        <m:t>𝑉</m:t>
                      </m:r>
                      <m:r>
                        <a:rPr lang="en-US" altLang="zh-TW" b="0" i="1" smtClean="0">
                          <a:solidFill>
                            <a:srgbClr val="7030A0"/>
                          </a:solidFill>
                          <a:latin typeface="Cambria Math" panose="02040503050406030204" pitchFamily="18" charset="0"/>
                        </a:rPr>
                        <m:t>(</m:t>
                      </m:r>
                      <m:r>
                        <a:rPr lang="en-US" altLang="zh-TW" b="0" i="1" smtClean="0">
                          <a:solidFill>
                            <a:srgbClr val="7030A0"/>
                          </a:solidFill>
                          <a:latin typeface="Cambria Math" panose="02040503050406030204" pitchFamily="18" charset="0"/>
                        </a:rPr>
                        <m:t>𝑇</m:t>
                      </m:r>
                      <m:r>
                        <a:rPr lang="en-US" altLang="zh-TW" b="0" i="1" smtClean="0">
                          <a:solidFill>
                            <a:srgbClr val="7030A0"/>
                          </a:solidFill>
                          <a:latin typeface="Cambria Math" panose="02040503050406030204" pitchFamily="18" charset="0"/>
                        </a:rPr>
                        <m:t>)=</m:t>
                      </m:r>
                      <m:sSub>
                        <m:sSubPr>
                          <m:ctrlPr>
                            <a:rPr lang="en-US" altLang="zh-TW" i="1">
                              <a:solidFill>
                                <a:srgbClr val="7030A0"/>
                              </a:solidFill>
                              <a:latin typeface="Cambria Math" panose="02040503050406030204" pitchFamily="18" charset="0"/>
                            </a:rPr>
                          </m:ctrlPr>
                        </m:sSubPr>
                        <m:e>
                          <m:r>
                            <a:rPr lang="en-US" altLang="zh-TW" i="1">
                              <a:solidFill>
                                <a:srgbClr val="7030A0"/>
                              </a:solidFill>
                              <a:latin typeface="Cambria Math"/>
                            </a:rPr>
                            <m:t>𝐷</m:t>
                          </m:r>
                        </m:e>
                        <m:sub>
                          <m:r>
                            <a:rPr lang="en-US" altLang="zh-TW" i="1">
                              <a:solidFill>
                                <a:srgbClr val="7030A0"/>
                              </a:solidFill>
                              <a:latin typeface="Cambria Math"/>
                            </a:rPr>
                            <m:t>1</m:t>
                          </m:r>
                        </m:sub>
                      </m:sSub>
                      <m:r>
                        <a:rPr lang="en-US" altLang="zh-TW" i="1">
                          <a:solidFill>
                            <a:srgbClr val="7030A0"/>
                          </a:solidFill>
                          <a:latin typeface="Cambria Math"/>
                        </a:rPr>
                        <m:t>+(1−</m:t>
                      </m:r>
                      <m:r>
                        <a:rPr lang="en-US" altLang="zh-TW" i="1">
                          <a:solidFill>
                            <a:srgbClr val="7030A0"/>
                          </a:solidFill>
                          <a:latin typeface="Cambria Math"/>
                        </a:rPr>
                        <m:t>𝑡𝑎𝑥</m:t>
                      </m:r>
                      <m:r>
                        <a:rPr lang="en-US" altLang="zh-TW" i="1">
                          <a:solidFill>
                            <a:srgbClr val="7030A0"/>
                          </a:solidFill>
                          <a:latin typeface="Cambria Math"/>
                        </a:rPr>
                        <m:t>)(</m:t>
                      </m:r>
                      <m:sSub>
                        <m:sSubPr>
                          <m:ctrlPr>
                            <a:rPr lang="en-US" altLang="zh-TW" i="1">
                              <a:solidFill>
                                <a:srgbClr val="7030A0"/>
                              </a:solidFill>
                              <a:latin typeface="Cambria Math" panose="02040503050406030204" pitchFamily="18" charset="0"/>
                            </a:rPr>
                          </m:ctrlPr>
                        </m:sSubPr>
                        <m:e>
                          <m:r>
                            <a:rPr lang="en-US" altLang="zh-TW" i="1">
                              <a:solidFill>
                                <a:srgbClr val="7030A0"/>
                              </a:solidFill>
                              <a:latin typeface="Cambria Math"/>
                            </a:rPr>
                            <m:t>𝐶</m:t>
                          </m:r>
                        </m:e>
                        <m:sub>
                          <m:r>
                            <a:rPr lang="en-US" altLang="zh-TW" i="1">
                              <a:solidFill>
                                <a:srgbClr val="7030A0"/>
                              </a:solidFill>
                              <a:latin typeface="Cambria Math"/>
                            </a:rPr>
                            <m:t>1</m:t>
                          </m:r>
                        </m:sub>
                      </m:sSub>
                      <m:sSub>
                        <m:sSubPr>
                          <m:ctrlPr>
                            <a:rPr lang="en-US" altLang="zh-TW" i="1">
                              <a:solidFill>
                                <a:srgbClr val="7030A0"/>
                              </a:solidFill>
                              <a:latin typeface="Cambria Math" panose="02040503050406030204" pitchFamily="18" charset="0"/>
                            </a:rPr>
                          </m:ctrlPr>
                        </m:sSubPr>
                        <m:e>
                          <m:r>
                            <a:rPr lang="en-US" altLang="zh-TW" i="1">
                              <a:solidFill>
                                <a:srgbClr val="7030A0"/>
                              </a:solidFill>
                              <a:latin typeface="Cambria Math"/>
                            </a:rPr>
                            <m:t>𝐷</m:t>
                          </m:r>
                        </m:e>
                        <m:sub>
                          <m:r>
                            <a:rPr lang="en-US" altLang="zh-TW" i="1">
                              <a:solidFill>
                                <a:srgbClr val="7030A0"/>
                              </a:solidFill>
                              <a:latin typeface="Cambria Math"/>
                            </a:rPr>
                            <m:t>1</m:t>
                          </m:r>
                        </m:sub>
                      </m:sSub>
                      <m:r>
                        <a:rPr lang="en-US" altLang="zh-TW" i="1">
                          <a:solidFill>
                            <a:srgbClr val="7030A0"/>
                          </a:solidFill>
                          <a:latin typeface="Cambria Math"/>
                        </a:rPr>
                        <m:t>𝑇</m:t>
                      </m:r>
                      <m:r>
                        <a:rPr lang="en-US" altLang="zh-TW" i="1">
                          <a:solidFill>
                            <a:srgbClr val="7030A0"/>
                          </a:solidFill>
                          <a:latin typeface="Cambria Math"/>
                        </a:rPr>
                        <m:t>+</m:t>
                      </m:r>
                      <m:sSub>
                        <m:sSubPr>
                          <m:ctrlPr>
                            <a:rPr lang="en-US" altLang="zh-TW" i="1">
                              <a:solidFill>
                                <a:srgbClr val="7030A0"/>
                              </a:solidFill>
                              <a:latin typeface="Cambria Math" panose="02040503050406030204" pitchFamily="18" charset="0"/>
                            </a:rPr>
                          </m:ctrlPr>
                        </m:sSubPr>
                        <m:e>
                          <m:r>
                            <a:rPr lang="en-US" altLang="zh-TW" i="1">
                              <a:solidFill>
                                <a:srgbClr val="7030A0"/>
                              </a:solidFill>
                              <a:latin typeface="Cambria Math"/>
                            </a:rPr>
                            <m:t>𝐶</m:t>
                          </m:r>
                        </m:e>
                        <m:sub>
                          <m:r>
                            <a:rPr lang="en-US" altLang="zh-TW" i="1">
                              <a:solidFill>
                                <a:srgbClr val="7030A0"/>
                              </a:solidFill>
                              <a:latin typeface="Cambria Math"/>
                            </a:rPr>
                            <m:t>2</m:t>
                          </m:r>
                        </m:sub>
                      </m:sSub>
                      <m:sSub>
                        <m:sSubPr>
                          <m:ctrlPr>
                            <a:rPr lang="en-US" altLang="zh-TW" i="1">
                              <a:solidFill>
                                <a:srgbClr val="7030A0"/>
                              </a:solidFill>
                              <a:latin typeface="Cambria Math" panose="02040503050406030204" pitchFamily="18" charset="0"/>
                            </a:rPr>
                          </m:ctrlPr>
                        </m:sSubPr>
                        <m:e>
                          <m:r>
                            <a:rPr lang="en-US" altLang="zh-TW" i="1">
                              <a:solidFill>
                                <a:srgbClr val="7030A0"/>
                              </a:solidFill>
                              <a:latin typeface="Cambria Math"/>
                            </a:rPr>
                            <m:t>𝐷</m:t>
                          </m:r>
                        </m:e>
                        <m:sub>
                          <m:r>
                            <a:rPr lang="en-US" altLang="zh-TW" i="1">
                              <a:solidFill>
                                <a:srgbClr val="7030A0"/>
                              </a:solidFill>
                              <a:latin typeface="Cambria Math"/>
                            </a:rPr>
                            <m:t>2</m:t>
                          </m:r>
                        </m:sub>
                      </m:sSub>
                      <m:r>
                        <a:rPr lang="en-US" altLang="zh-TW" i="1">
                          <a:solidFill>
                            <a:srgbClr val="7030A0"/>
                          </a:solidFill>
                          <a:latin typeface="Cambria Math"/>
                        </a:rPr>
                        <m:t>𝑇</m:t>
                      </m:r>
                      <m:r>
                        <a:rPr lang="en-US" altLang="zh-TW" i="1">
                          <a:solidFill>
                            <a:srgbClr val="7030A0"/>
                          </a:solidFill>
                          <a:latin typeface="Cambria Math"/>
                        </a:rPr>
                        <m:t>)</m:t>
                      </m:r>
                    </m:oMath>
                  </m:oMathPara>
                </a14:m>
                <a:endParaRPr lang="zh-TW" altLang="en-US" dirty="0">
                  <a:solidFill>
                    <a:srgbClr val="7030A0"/>
                  </a:solidFill>
                  <a:latin typeface="微軟正黑體" panose="020B0604030504040204" pitchFamily="34" charset="-120"/>
                  <a:ea typeface="微軟正黑體" panose="020B0604030504040204" pitchFamily="34" charset="-120"/>
                </a:endParaRPr>
              </a:p>
            </p:txBody>
          </p:sp>
        </mc:Choice>
        <mc:Fallback xmlns="">
          <p:sp>
            <p:nvSpPr>
              <p:cNvPr id="39" name="文字方塊 38"/>
              <p:cNvSpPr txBox="1">
                <a:spLocks noRot="1" noChangeAspect="1" noMove="1" noResize="1" noEditPoints="1" noAdjustHandles="1" noChangeArrowheads="1" noChangeShapeType="1" noTextEdit="1"/>
              </p:cNvSpPr>
              <p:nvPr/>
            </p:nvSpPr>
            <p:spPr>
              <a:xfrm>
                <a:off x="5456874" y="3865197"/>
                <a:ext cx="4031616" cy="276999"/>
              </a:xfrm>
              <a:prstGeom prst="rect">
                <a:avLst/>
              </a:prstGeom>
              <a:blipFill rotWithShape="0">
                <a:blip r:embed="rId10"/>
                <a:stretch>
                  <a:fillRect l="-1964" r="-302" b="-37778"/>
                </a:stretch>
              </a:blipFill>
            </p:spPr>
            <p:txBody>
              <a:bodyPr/>
              <a:lstStyle/>
              <a:p>
                <a:r>
                  <a:rPr lang="zh-TW" altLang="en-US">
                    <a:noFill/>
                  </a:rPr>
                  <a:t> </a:t>
                </a:r>
              </a:p>
            </p:txBody>
          </p:sp>
        </mc:Fallback>
      </mc:AlternateContent>
      <p:cxnSp>
        <p:nvCxnSpPr>
          <p:cNvPr id="42" name="直線接點 41"/>
          <p:cNvCxnSpPr/>
          <p:nvPr/>
        </p:nvCxnSpPr>
        <p:spPr>
          <a:xfrm flipV="1">
            <a:off x="5294645" y="3655872"/>
            <a:ext cx="0" cy="2419629"/>
          </a:xfrm>
          <a:prstGeom prst="line">
            <a:avLst/>
          </a:prstGeom>
          <a:ln w="28575">
            <a:solidFill>
              <a:srgbClr val="7030A0"/>
            </a:solidFill>
            <a:prstDash val="solid"/>
          </a:ln>
        </p:spPr>
        <p:style>
          <a:lnRef idx="1">
            <a:schemeClr val="accent1"/>
          </a:lnRef>
          <a:fillRef idx="0">
            <a:schemeClr val="accent1"/>
          </a:fillRef>
          <a:effectRef idx="0">
            <a:schemeClr val="accent1"/>
          </a:effectRef>
          <a:fontRef idx="minor">
            <a:schemeClr val="tx1"/>
          </a:fontRef>
        </p:style>
      </p:cxnSp>
      <p:cxnSp>
        <p:nvCxnSpPr>
          <p:cNvPr id="43" name="直線接點 42"/>
          <p:cNvCxnSpPr/>
          <p:nvPr/>
        </p:nvCxnSpPr>
        <p:spPr>
          <a:xfrm>
            <a:off x="3510468" y="1330806"/>
            <a:ext cx="2382" cy="2331099"/>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625165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txBox="1">
            <a:spLocks/>
          </p:cNvSpPr>
          <p:nvPr/>
        </p:nvSpPr>
        <p:spPr>
          <a:xfrm>
            <a:off x="347730" y="283333"/>
            <a:ext cx="11844270" cy="79252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TW" altLang="en-US" sz="4800" dirty="0" smtClean="0">
                <a:latin typeface="微軟正黑體" panose="020B0604030504040204" pitchFamily="34" charset="-120"/>
                <a:ea typeface="微軟正黑體" panose="020B0604030504040204" pitchFamily="34" charset="-120"/>
                <a:cs typeface="Arial" pitchFamily="34" charset="0"/>
              </a:rPr>
              <a:t>邊</a:t>
            </a:r>
            <a:r>
              <a:rPr lang="zh-TW" altLang="en-US" sz="4800" dirty="0">
                <a:latin typeface="微軟正黑體" panose="020B0604030504040204" pitchFamily="34" charset="-120"/>
                <a:ea typeface="微軟正黑體" panose="020B0604030504040204" pitchFamily="34" charset="-120"/>
                <a:cs typeface="Arial" pitchFamily="34" charset="0"/>
              </a:rPr>
              <a:t>界</a:t>
            </a:r>
            <a:r>
              <a:rPr lang="zh-TW" altLang="en-US" sz="4800" dirty="0" smtClean="0">
                <a:latin typeface="微軟正黑體" panose="020B0604030504040204" pitchFamily="34" charset="-120"/>
                <a:ea typeface="微軟正黑體" panose="020B0604030504040204" pitchFamily="34" charset="-120"/>
                <a:cs typeface="Arial" pitchFamily="34" charset="0"/>
              </a:rPr>
              <a:t>設定</a:t>
            </a:r>
            <a:r>
              <a:rPr lang="en-US" altLang="zh-TW" sz="4800" dirty="0" smtClean="0">
                <a:latin typeface="微軟正黑體" panose="020B0604030504040204" pitchFamily="34" charset="-120"/>
                <a:ea typeface="微軟正黑體" panose="020B0604030504040204" pitchFamily="34" charset="-120"/>
                <a:cs typeface="Arial" pitchFamily="34" charset="0"/>
              </a:rPr>
              <a:t>(1/5)</a:t>
            </a:r>
            <a:endParaRPr lang="zh-TW" altLang="en-US" sz="4800" dirty="0">
              <a:latin typeface="微軟正黑體" panose="020B0604030504040204" pitchFamily="34" charset="-120"/>
              <a:ea typeface="微軟正黑體" panose="020B0604030504040204" pitchFamily="34" charset="-120"/>
            </a:endParaRPr>
          </a:p>
        </p:txBody>
      </p:sp>
      <mc:AlternateContent xmlns:mc="http://schemas.openxmlformats.org/markup-compatibility/2006" xmlns:a14="http://schemas.microsoft.com/office/drawing/2010/main">
        <mc:Choice Requires="a14">
          <p:sp>
            <p:nvSpPr>
              <p:cNvPr id="5" name="矩形 4"/>
              <p:cNvSpPr/>
              <p:nvPr/>
            </p:nvSpPr>
            <p:spPr>
              <a:xfrm>
                <a:off x="629568" y="1821049"/>
                <a:ext cx="11562431" cy="4185698"/>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altLang="zh-TW" sz="3200" i="1" smtClean="0">
                          <a:latin typeface="Cambria Math" panose="02040503050406030204" pitchFamily="18" charset="0"/>
                        </a:rPr>
                        <m:t>𝑉</m:t>
                      </m:r>
                      <m:d>
                        <m:dPr>
                          <m:ctrlPr>
                            <a:rPr lang="en-US" altLang="zh-TW" sz="3200" i="1">
                              <a:latin typeface="Cambria Math" panose="02040503050406030204" pitchFamily="18" charset="0"/>
                            </a:rPr>
                          </m:ctrlPr>
                        </m:dPr>
                        <m:e>
                          <m:r>
                            <a:rPr lang="en-US" altLang="zh-TW" sz="3200" i="1">
                              <a:latin typeface="Cambria Math" panose="02040503050406030204" pitchFamily="18" charset="0"/>
                            </a:rPr>
                            <m:t>𝑇</m:t>
                          </m:r>
                        </m:e>
                      </m:d>
                      <m:r>
                        <a:rPr lang="en-US" altLang="zh-TW" sz="3200" i="1">
                          <a:latin typeface="Cambria Math" panose="02040503050406030204" pitchFamily="18" charset="0"/>
                        </a:rPr>
                        <m:t>=</m:t>
                      </m:r>
                      <m:r>
                        <a:rPr lang="en-US" altLang="zh-TW" sz="3200" i="1" smtClean="0">
                          <a:solidFill>
                            <a:schemeClr val="tx1"/>
                          </a:solidFill>
                          <a:latin typeface="Cambria Math" panose="02040503050406030204" pitchFamily="18" charset="0"/>
                        </a:rPr>
                        <m:t>𝑉</m:t>
                      </m:r>
                      <m:r>
                        <a:rPr lang="en-US" altLang="zh-TW" sz="3200" i="1">
                          <a:solidFill>
                            <a:schemeClr val="tx1"/>
                          </a:solidFill>
                          <a:latin typeface="Cambria Math" panose="02040503050406030204" pitchFamily="18" charset="0"/>
                        </a:rPr>
                        <m:t>"=</m:t>
                      </m:r>
                      <m:sSub>
                        <m:sSubPr>
                          <m:ctrlPr>
                            <a:rPr lang="en-US" altLang="zh-TW" sz="3200" i="1">
                              <a:solidFill>
                                <a:schemeClr val="tx1"/>
                              </a:solidFill>
                              <a:latin typeface="Cambria Math" panose="02040503050406030204" pitchFamily="18" charset="0"/>
                            </a:rPr>
                          </m:ctrlPr>
                        </m:sSubPr>
                        <m:e>
                          <m:r>
                            <a:rPr lang="en-US" altLang="zh-TW" sz="3200" i="1">
                              <a:solidFill>
                                <a:schemeClr val="tx1"/>
                              </a:solidFill>
                              <a:latin typeface="Cambria Math"/>
                            </a:rPr>
                            <m:t>𝐷</m:t>
                          </m:r>
                        </m:e>
                        <m:sub>
                          <m:r>
                            <a:rPr lang="en-US" altLang="zh-TW" sz="3200" i="1">
                              <a:solidFill>
                                <a:schemeClr val="tx1"/>
                              </a:solidFill>
                              <a:latin typeface="Cambria Math"/>
                            </a:rPr>
                            <m:t>1</m:t>
                          </m:r>
                        </m:sub>
                      </m:sSub>
                      <m:r>
                        <a:rPr lang="en-US" altLang="zh-TW" sz="3200" i="1">
                          <a:solidFill>
                            <a:schemeClr val="tx1"/>
                          </a:solidFill>
                          <a:latin typeface="Cambria Math"/>
                        </a:rPr>
                        <m:t>+</m:t>
                      </m:r>
                      <m:r>
                        <a:rPr lang="en-US" altLang="zh-TW" sz="3200" i="1">
                          <a:solidFill>
                            <a:schemeClr val="tx1"/>
                          </a:solidFill>
                          <a:latin typeface="Cambria Math" panose="02040503050406030204" pitchFamily="18" charset="0"/>
                        </a:rPr>
                        <m:t>(1+</m:t>
                      </m:r>
                      <m:f>
                        <m:fPr>
                          <m:ctrlPr>
                            <a:rPr lang="en-US" altLang="zh-TW" sz="3200" i="1">
                              <a:solidFill>
                                <a:schemeClr val="tx1"/>
                              </a:solidFill>
                              <a:latin typeface="Cambria Math" panose="02040503050406030204" pitchFamily="18" charset="0"/>
                            </a:rPr>
                          </m:ctrlPr>
                        </m:fPr>
                        <m:num>
                          <m:r>
                            <a:rPr lang="en-US" altLang="zh-TW" sz="3200" i="1" dirty="0">
                              <a:solidFill>
                                <a:schemeClr val="tx1"/>
                              </a:solidFill>
                              <a:latin typeface="Cambria Math" panose="02040503050406030204" pitchFamily="18" charset="0"/>
                              <a:ea typeface="微軟正黑體" panose="020B0604030504040204" pitchFamily="34" charset="-120"/>
                            </a:rPr>
                            <m:t>𝑂</m:t>
                          </m:r>
                        </m:num>
                        <m:den>
                          <m:sSub>
                            <m:sSubPr>
                              <m:ctrlPr>
                                <a:rPr lang="en-US" altLang="zh-TW" sz="3200" i="1" dirty="0">
                                  <a:solidFill>
                                    <a:schemeClr val="tx1"/>
                                  </a:solidFill>
                                  <a:latin typeface="Cambria Math" panose="02040503050406030204" pitchFamily="18" charset="0"/>
                                  <a:ea typeface="微軟正黑體" panose="020B0604030504040204" pitchFamily="34" charset="-120"/>
                                </a:rPr>
                              </m:ctrlPr>
                            </m:sSubPr>
                            <m:e>
                              <m:r>
                                <a:rPr lang="en-US" altLang="zh-TW" sz="3200" i="1" dirty="0">
                                  <a:solidFill>
                                    <a:schemeClr val="tx1"/>
                                  </a:solidFill>
                                  <a:latin typeface="Cambria Math" panose="02040503050406030204" pitchFamily="18" charset="0"/>
                                  <a:ea typeface="微軟正黑體" panose="020B0604030504040204" pitchFamily="34" charset="-120"/>
                                </a:rPr>
                                <m:t>𝑂</m:t>
                              </m:r>
                            </m:e>
                            <m:sub>
                              <m:r>
                                <a:rPr lang="en-US" altLang="zh-TW" sz="3200" i="1" dirty="0">
                                  <a:solidFill>
                                    <a:schemeClr val="tx1"/>
                                  </a:solidFill>
                                  <a:latin typeface="Cambria Math" panose="02040503050406030204" pitchFamily="18" charset="0"/>
                                  <a:ea typeface="微軟正黑體" panose="020B0604030504040204" pitchFamily="34" charset="-120"/>
                                </a:rPr>
                                <m:t>𝐶𝐶</m:t>
                              </m:r>
                            </m:sub>
                          </m:sSub>
                        </m:den>
                      </m:f>
                      <m:r>
                        <a:rPr lang="en-US" altLang="zh-TW" sz="3200" i="1">
                          <a:solidFill>
                            <a:schemeClr val="tx1"/>
                          </a:solidFill>
                          <a:latin typeface="Cambria Math" panose="02040503050406030204" pitchFamily="18" charset="0"/>
                        </a:rPr>
                        <m:t>)</m:t>
                      </m:r>
                      <m:sSub>
                        <m:sSubPr>
                          <m:ctrlPr>
                            <a:rPr lang="en-US" altLang="zh-TW" sz="3200" i="1">
                              <a:solidFill>
                                <a:schemeClr val="tx1"/>
                              </a:solidFill>
                              <a:latin typeface="Cambria Math" panose="02040503050406030204" pitchFamily="18" charset="0"/>
                            </a:rPr>
                          </m:ctrlPr>
                        </m:sSubPr>
                        <m:e>
                          <m:r>
                            <a:rPr lang="en-US" altLang="zh-TW" sz="3200" i="1">
                              <a:solidFill>
                                <a:schemeClr val="tx1"/>
                              </a:solidFill>
                              <a:latin typeface="Cambria Math"/>
                            </a:rPr>
                            <m:t>𝐷</m:t>
                          </m:r>
                        </m:e>
                        <m:sub>
                          <m:r>
                            <a:rPr lang="en-US" altLang="zh-TW" sz="3200" i="1">
                              <a:solidFill>
                                <a:schemeClr val="tx1"/>
                              </a:solidFill>
                              <a:latin typeface="Cambria Math"/>
                            </a:rPr>
                            <m:t>2</m:t>
                          </m:r>
                        </m:sub>
                      </m:sSub>
                      <m:r>
                        <a:rPr lang="en-US" altLang="zh-TW" sz="3200" i="1">
                          <a:solidFill>
                            <a:schemeClr val="tx1"/>
                          </a:solidFill>
                          <a:latin typeface="Cambria Math"/>
                        </a:rPr>
                        <m:t>+(1−</m:t>
                      </m:r>
                      <m:r>
                        <a:rPr lang="en-US" altLang="zh-TW" sz="3200" i="1">
                          <a:solidFill>
                            <a:schemeClr val="tx1"/>
                          </a:solidFill>
                          <a:latin typeface="Cambria Math"/>
                        </a:rPr>
                        <m:t>𝑡𝑎𝑥</m:t>
                      </m:r>
                      <m:r>
                        <a:rPr lang="en-US" altLang="zh-TW" sz="3200" i="1">
                          <a:solidFill>
                            <a:schemeClr val="tx1"/>
                          </a:solidFill>
                          <a:latin typeface="Cambria Math"/>
                        </a:rPr>
                        <m:t>)(</m:t>
                      </m:r>
                      <m:sSub>
                        <m:sSubPr>
                          <m:ctrlPr>
                            <a:rPr lang="en-US" altLang="zh-TW" sz="3200" i="1">
                              <a:solidFill>
                                <a:schemeClr val="tx1"/>
                              </a:solidFill>
                              <a:latin typeface="Cambria Math" panose="02040503050406030204" pitchFamily="18" charset="0"/>
                            </a:rPr>
                          </m:ctrlPr>
                        </m:sSubPr>
                        <m:e>
                          <m:r>
                            <a:rPr lang="en-US" altLang="zh-TW" sz="3200" i="1">
                              <a:solidFill>
                                <a:schemeClr val="tx1"/>
                              </a:solidFill>
                              <a:latin typeface="Cambria Math"/>
                            </a:rPr>
                            <m:t>𝐶</m:t>
                          </m:r>
                        </m:e>
                        <m:sub>
                          <m:r>
                            <a:rPr lang="en-US" altLang="zh-TW" sz="3200" i="1">
                              <a:solidFill>
                                <a:schemeClr val="tx1"/>
                              </a:solidFill>
                              <a:latin typeface="Cambria Math"/>
                            </a:rPr>
                            <m:t>1</m:t>
                          </m:r>
                        </m:sub>
                      </m:sSub>
                      <m:sSub>
                        <m:sSubPr>
                          <m:ctrlPr>
                            <a:rPr lang="en-US" altLang="zh-TW" sz="3200" i="1">
                              <a:solidFill>
                                <a:schemeClr val="tx1"/>
                              </a:solidFill>
                              <a:latin typeface="Cambria Math" panose="02040503050406030204" pitchFamily="18" charset="0"/>
                            </a:rPr>
                          </m:ctrlPr>
                        </m:sSubPr>
                        <m:e>
                          <m:r>
                            <a:rPr lang="en-US" altLang="zh-TW" sz="3200" i="1">
                              <a:solidFill>
                                <a:schemeClr val="tx1"/>
                              </a:solidFill>
                              <a:latin typeface="Cambria Math"/>
                            </a:rPr>
                            <m:t>𝐷</m:t>
                          </m:r>
                        </m:e>
                        <m:sub>
                          <m:r>
                            <a:rPr lang="en-US" altLang="zh-TW" sz="3200" i="1">
                              <a:solidFill>
                                <a:schemeClr val="tx1"/>
                              </a:solidFill>
                              <a:latin typeface="Cambria Math"/>
                            </a:rPr>
                            <m:t>1</m:t>
                          </m:r>
                        </m:sub>
                      </m:sSub>
                      <m:r>
                        <a:rPr lang="en-US" altLang="zh-TW" sz="3200" i="1">
                          <a:solidFill>
                            <a:schemeClr val="tx1"/>
                          </a:solidFill>
                          <a:latin typeface="Cambria Math"/>
                        </a:rPr>
                        <m:t>𝑇</m:t>
                      </m:r>
                      <m:r>
                        <a:rPr lang="en-US" altLang="zh-TW" sz="3200" i="1">
                          <a:solidFill>
                            <a:schemeClr val="tx1"/>
                          </a:solidFill>
                          <a:latin typeface="Cambria Math"/>
                        </a:rPr>
                        <m:t>+</m:t>
                      </m:r>
                      <m:sSub>
                        <m:sSubPr>
                          <m:ctrlPr>
                            <a:rPr lang="en-US" altLang="zh-TW" sz="3200" i="1">
                              <a:solidFill>
                                <a:schemeClr val="tx1"/>
                              </a:solidFill>
                              <a:latin typeface="Cambria Math" panose="02040503050406030204" pitchFamily="18" charset="0"/>
                            </a:rPr>
                          </m:ctrlPr>
                        </m:sSubPr>
                        <m:e>
                          <m:r>
                            <a:rPr lang="en-US" altLang="zh-TW" sz="3200" i="1">
                              <a:solidFill>
                                <a:schemeClr val="tx1"/>
                              </a:solidFill>
                              <a:latin typeface="Cambria Math"/>
                            </a:rPr>
                            <m:t>𝐶</m:t>
                          </m:r>
                        </m:e>
                        <m:sub>
                          <m:r>
                            <a:rPr lang="en-US" altLang="zh-TW" sz="3200" i="1">
                              <a:solidFill>
                                <a:schemeClr val="tx1"/>
                              </a:solidFill>
                              <a:latin typeface="Cambria Math"/>
                            </a:rPr>
                            <m:t>2</m:t>
                          </m:r>
                        </m:sub>
                      </m:sSub>
                      <m:sSub>
                        <m:sSubPr>
                          <m:ctrlPr>
                            <a:rPr lang="en-US" altLang="zh-TW" sz="3200" i="1">
                              <a:solidFill>
                                <a:schemeClr val="tx1"/>
                              </a:solidFill>
                              <a:latin typeface="Cambria Math" panose="02040503050406030204" pitchFamily="18" charset="0"/>
                            </a:rPr>
                          </m:ctrlPr>
                        </m:sSubPr>
                        <m:e>
                          <m:r>
                            <a:rPr lang="en-US" altLang="zh-TW" sz="3200" i="1">
                              <a:solidFill>
                                <a:schemeClr val="tx1"/>
                              </a:solidFill>
                              <a:latin typeface="Cambria Math"/>
                            </a:rPr>
                            <m:t>𝐷</m:t>
                          </m:r>
                        </m:e>
                        <m:sub>
                          <m:r>
                            <a:rPr lang="en-US" altLang="zh-TW" sz="3200" i="1">
                              <a:solidFill>
                                <a:schemeClr val="tx1"/>
                              </a:solidFill>
                              <a:latin typeface="Cambria Math"/>
                            </a:rPr>
                            <m:t>2</m:t>
                          </m:r>
                        </m:sub>
                      </m:sSub>
                      <m:r>
                        <a:rPr lang="en-US" altLang="zh-TW" sz="3200" i="1">
                          <a:solidFill>
                            <a:schemeClr val="tx1"/>
                          </a:solidFill>
                          <a:latin typeface="Cambria Math"/>
                        </a:rPr>
                        <m:t>𝑇</m:t>
                      </m:r>
                      <m:r>
                        <a:rPr lang="en-US" altLang="zh-TW" sz="3200" i="1">
                          <a:solidFill>
                            <a:schemeClr val="tx1"/>
                          </a:solidFill>
                          <a:latin typeface="Cambria Math"/>
                        </a:rPr>
                        <m:t>)</m:t>
                      </m:r>
                    </m:oMath>
                  </m:oMathPara>
                </a14:m>
                <a:endParaRPr lang="en-US" altLang="zh-TW" sz="3200" dirty="0" smtClean="0">
                  <a:solidFill>
                    <a:schemeClr val="tx1"/>
                  </a:solidFill>
                  <a:latin typeface="微軟正黑體" panose="020B0604030504040204" pitchFamily="34" charset="-120"/>
                </a:endParaRPr>
              </a:p>
              <a:p>
                <a:pPr/>
                <a14:m>
                  <m:oMathPara xmlns:m="http://schemas.openxmlformats.org/officeDocument/2006/math">
                    <m:oMathParaPr>
                      <m:jc m:val="left"/>
                    </m:oMathParaPr>
                    <m:oMath xmlns:m="http://schemas.openxmlformats.org/officeDocument/2006/math">
                      <m:r>
                        <a:rPr lang="en-US" altLang="zh-TW" sz="3200" i="1" smtClean="0">
                          <a:latin typeface="Cambria Math" panose="02040503050406030204" pitchFamily="18" charset="0"/>
                          <a:ea typeface="Cambria Math" panose="02040503050406030204" pitchFamily="18" charset="0"/>
                        </a:rPr>
                        <m:t>⇒</m:t>
                      </m:r>
                      <m:r>
                        <a:rPr lang="en-US" altLang="zh-TW" sz="3200" i="1">
                          <a:solidFill>
                            <a:prstClr val="black"/>
                          </a:solidFill>
                          <a:latin typeface="Cambria Math" panose="02040503050406030204" pitchFamily="18" charset="0"/>
                        </a:rPr>
                        <m:t>𝑉</m:t>
                      </m:r>
                      <m:d>
                        <m:dPr>
                          <m:ctrlPr>
                            <a:rPr lang="en-US" altLang="zh-TW" sz="3200" i="1">
                              <a:solidFill>
                                <a:prstClr val="black"/>
                              </a:solidFill>
                              <a:latin typeface="Cambria Math" panose="02040503050406030204" pitchFamily="18" charset="0"/>
                            </a:rPr>
                          </m:ctrlPr>
                        </m:dPr>
                        <m:e>
                          <m:r>
                            <a:rPr lang="en-US" altLang="zh-TW" sz="3200" i="1">
                              <a:solidFill>
                                <a:prstClr val="black"/>
                              </a:solidFill>
                              <a:latin typeface="Cambria Math" panose="02040503050406030204" pitchFamily="18" charset="0"/>
                            </a:rPr>
                            <m:t>0</m:t>
                          </m:r>
                        </m:e>
                      </m:d>
                      <m:sSup>
                        <m:sSupPr>
                          <m:ctrlPr>
                            <a:rPr lang="en-US" altLang="zh-TW" sz="3200" i="1">
                              <a:solidFill>
                                <a:prstClr val="black"/>
                              </a:solidFill>
                              <a:latin typeface="Cambria Math" panose="02040503050406030204" pitchFamily="18" charset="0"/>
                            </a:rPr>
                          </m:ctrlPr>
                        </m:sSupPr>
                        <m:e>
                          <m:r>
                            <a:rPr lang="en-US" altLang="zh-TW" sz="3200" i="1">
                              <a:solidFill>
                                <a:prstClr val="black"/>
                              </a:solidFill>
                              <a:latin typeface="Cambria Math" panose="02040503050406030204" pitchFamily="18" charset="0"/>
                              <a:ea typeface="Cambria Math" panose="02040503050406030204" pitchFamily="18" charset="0"/>
                            </a:rPr>
                            <m:t>ℯ</m:t>
                          </m:r>
                        </m:e>
                        <m:sup>
                          <m:sSub>
                            <m:sSubPr>
                              <m:ctrlPr>
                                <a:rPr lang="en-US" altLang="zh-TW" sz="3200" i="1">
                                  <a:solidFill>
                                    <a:prstClr val="black"/>
                                  </a:solidFill>
                                  <a:latin typeface="Cambria Math" panose="02040503050406030204" pitchFamily="18" charset="0"/>
                                </a:rPr>
                              </m:ctrlPr>
                            </m:sSubPr>
                            <m:e>
                              <m:r>
                                <a:rPr lang="zh-TW" altLang="en-US" sz="3200" i="1">
                                  <a:solidFill>
                                    <a:prstClr val="black"/>
                                  </a:solidFill>
                                  <a:latin typeface="Cambria Math" panose="02040503050406030204" pitchFamily="18" charset="0"/>
                                </a:rPr>
                                <m:t>𝜎</m:t>
                              </m:r>
                            </m:e>
                            <m:sub>
                              <m:r>
                                <a:rPr lang="en-US" altLang="zh-TW" sz="3200" i="1">
                                  <a:solidFill>
                                    <a:prstClr val="black"/>
                                  </a:solidFill>
                                  <a:latin typeface="Cambria Math" panose="02040503050406030204" pitchFamily="18" charset="0"/>
                                </a:rPr>
                                <m:t>1</m:t>
                              </m:r>
                            </m:sub>
                          </m:sSub>
                          <m:sSub>
                            <m:sSubPr>
                              <m:ctrlPr>
                                <a:rPr lang="en-US" altLang="zh-TW" sz="3200" i="1">
                                  <a:solidFill>
                                    <a:prstClr val="black"/>
                                  </a:solidFill>
                                  <a:latin typeface="Cambria Math" panose="02040503050406030204" pitchFamily="18" charset="0"/>
                                </a:rPr>
                              </m:ctrlPr>
                            </m:sSubPr>
                            <m:e>
                              <m:r>
                                <a:rPr lang="en-US" altLang="zh-TW" sz="3200" i="1">
                                  <a:solidFill>
                                    <a:prstClr val="black"/>
                                  </a:solidFill>
                                  <a:latin typeface="Cambria Math" panose="02040503050406030204" pitchFamily="18" charset="0"/>
                                </a:rPr>
                                <m:t>𝐵</m:t>
                              </m:r>
                            </m:e>
                            <m:sub>
                              <m:r>
                                <a:rPr lang="en-US" altLang="zh-TW" sz="3200" i="1">
                                  <a:solidFill>
                                    <a:prstClr val="black"/>
                                  </a:solidFill>
                                  <a:latin typeface="Cambria Math" panose="02040503050406030204" pitchFamily="18" charset="0"/>
                                </a:rPr>
                                <m:t>1</m:t>
                              </m:r>
                            </m:sub>
                          </m:sSub>
                          <m:d>
                            <m:dPr>
                              <m:ctrlPr>
                                <a:rPr lang="en-US" altLang="zh-TW" sz="3200" i="1">
                                  <a:solidFill>
                                    <a:prstClr val="black"/>
                                  </a:solidFill>
                                  <a:latin typeface="Cambria Math" panose="02040503050406030204" pitchFamily="18" charset="0"/>
                                </a:rPr>
                              </m:ctrlPr>
                            </m:dPr>
                            <m:e>
                              <m:r>
                                <a:rPr lang="en-US" altLang="zh-TW" sz="3200" i="1">
                                  <a:solidFill>
                                    <a:prstClr val="black"/>
                                  </a:solidFill>
                                  <a:latin typeface="Cambria Math" panose="02040503050406030204" pitchFamily="18" charset="0"/>
                                </a:rPr>
                                <m:t>𝑇</m:t>
                              </m:r>
                            </m:e>
                          </m:d>
                        </m:sup>
                      </m:sSup>
                      <m:r>
                        <a:rPr lang="en-US" altLang="zh-TW" sz="3200" b="0" i="1" smtClean="0">
                          <a:solidFill>
                            <a:prstClr val="black"/>
                          </a:solidFill>
                          <a:latin typeface="Cambria Math" panose="02040503050406030204" pitchFamily="18" charset="0"/>
                        </a:rPr>
                        <m:t>=</m:t>
                      </m:r>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1</m:t>
                          </m:r>
                        </m:sub>
                      </m:sSub>
                      <m:r>
                        <a:rPr lang="en-US" altLang="zh-TW" sz="3200" i="1">
                          <a:latin typeface="Cambria Math"/>
                        </a:rPr>
                        <m:t>+</m:t>
                      </m:r>
                      <m:r>
                        <a:rPr lang="en-US" altLang="zh-TW" sz="3200" i="1">
                          <a:latin typeface="Cambria Math" panose="02040503050406030204" pitchFamily="18" charset="0"/>
                        </a:rPr>
                        <m:t>(1+</m:t>
                      </m:r>
                      <m:f>
                        <m:fPr>
                          <m:ctrlPr>
                            <a:rPr lang="en-US" altLang="zh-TW" sz="3200" i="1">
                              <a:latin typeface="Cambria Math" panose="02040503050406030204" pitchFamily="18" charset="0"/>
                            </a:rPr>
                          </m:ctrlPr>
                        </m:fPr>
                        <m:num>
                          <m:r>
                            <a:rPr lang="en-US" altLang="zh-TW" sz="3200" i="1" dirty="0">
                              <a:latin typeface="Cambria Math" panose="02040503050406030204" pitchFamily="18" charset="0"/>
                              <a:ea typeface="微軟正黑體" panose="020B0604030504040204" pitchFamily="34" charset="-120"/>
                            </a:rPr>
                            <m:t>𝑂</m:t>
                          </m:r>
                        </m:num>
                        <m:den>
                          <m:sSub>
                            <m:sSubPr>
                              <m:ctrlPr>
                                <a:rPr lang="en-US" altLang="zh-TW" sz="3200" i="1" dirty="0">
                                  <a:latin typeface="Cambria Math" panose="02040503050406030204" pitchFamily="18" charset="0"/>
                                  <a:ea typeface="微軟正黑體" panose="020B0604030504040204" pitchFamily="34" charset="-120"/>
                                </a:rPr>
                              </m:ctrlPr>
                            </m:sSubPr>
                            <m:e>
                              <m:r>
                                <a:rPr lang="en-US" altLang="zh-TW" sz="3200" i="1" dirty="0">
                                  <a:latin typeface="Cambria Math" panose="02040503050406030204" pitchFamily="18" charset="0"/>
                                  <a:ea typeface="微軟正黑體" panose="020B0604030504040204" pitchFamily="34" charset="-120"/>
                                </a:rPr>
                                <m:t>𝑂</m:t>
                              </m:r>
                            </m:e>
                            <m:sub>
                              <m:r>
                                <a:rPr lang="en-US" altLang="zh-TW" sz="3200" i="1" dirty="0">
                                  <a:latin typeface="Cambria Math" panose="02040503050406030204" pitchFamily="18" charset="0"/>
                                  <a:ea typeface="微軟正黑體" panose="020B0604030504040204" pitchFamily="34" charset="-120"/>
                                </a:rPr>
                                <m:t>𝐶𝐶</m:t>
                              </m:r>
                            </m:sub>
                          </m:sSub>
                        </m:den>
                      </m:f>
                      <m:r>
                        <a:rPr lang="en-US" altLang="zh-TW" sz="3200" i="1">
                          <a:latin typeface="Cambria Math" panose="02040503050406030204" pitchFamily="18" charset="0"/>
                        </a:rPr>
                        <m:t>)</m:t>
                      </m:r>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2</m:t>
                          </m:r>
                        </m:sub>
                      </m:sSub>
                      <m:r>
                        <a:rPr lang="en-US" altLang="zh-TW" sz="3200" i="1">
                          <a:latin typeface="Cambria Math"/>
                        </a:rPr>
                        <m:t>+(1−</m:t>
                      </m:r>
                      <m:r>
                        <a:rPr lang="en-US" altLang="zh-TW" sz="3200" i="1">
                          <a:latin typeface="Cambria Math"/>
                        </a:rPr>
                        <m:t>𝑡𝑎𝑥</m:t>
                      </m:r>
                      <m:r>
                        <a:rPr lang="en-US" altLang="zh-TW" sz="3200" i="1">
                          <a:latin typeface="Cambria Math"/>
                        </a:rPr>
                        <m:t>)(</m:t>
                      </m:r>
                      <m:sSub>
                        <m:sSubPr>
                          <m:ctrlPr>
                            <a:rPr lang="en-US" altLang="zh-TW" sz="3200" i="1">
                              <a:latin typeface="Cambria Math" panose="02040503050406030204" pitchFamily="18" charset="0"/>
                            </a:rPr>
                          </m:ctrlPr>
                        </m:sSubPr>
                        <m:e>
                          <m:r>
                            <a:rPr lang="en-US" altLang="zh-TW" sz="3200" i="1">
                              <a:latin typeface="Cambria Math"/>
                            </a:rPr>
                            <m:t>𝐶</m:t>
                          </m:r>
                        </m:e>
                        <m:sub>
                          <m:r>
                            <a:rPr lang="en-US" altLang="zh-TW" sz="3200" i="1">
                              <a:latin typeface="Cambria Math"/>
                            </a:rPr>
                            <m:t>1</m:t>
                          </m:r>
                        </m:sub>
                      </m:sSub>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1</m:t>
                          </m:r>
                        </m:sub>
                      </m:sSub>
                      <m:r>
                        <a:rPr lang="en-US" altLang="zh-TW" sz="3200" i="1">
                          <a:latin typeface="Cambria Math"/>
                        </a:rPr>
                        <m:t>𝑇</m:t>
                      </m:r>
                      <m:r>
                        <a:rPr lang="en-US" altLang="zh-TW" sz="3200" i="1">
                          <a:latin typeface="Cambria Math"/>
                        </a:rPr>
                        <m:t>+</m:t>
                      </m:r>
                      <m:sSub>
                        <m:sSubPr>
                          <m:ctrlPr>
                            <a:rPr lang="en-US" altLang="zh-TW" sz="3200" i="1">
                              <a:latin typeface="Cambria Math" panose="02040503050406030204" pitchFamily="18" charset="0"/>
                            </a:rPr>
                          </m:ctrlPr>
                        </m:sSubPr>
                        <m:e>
                          <m:r>
                            <a:rPr lang="en-US" altLang="zh-TW" sz="3200" i="1">
                              <a:latin typeface="Cambria Math"/>
                            </a:rPr>
                            <m:t>𝐶</m:t>
                          </m:r>
                        </m:e>
                        <m:sub>
                          <m:r>
                            <a:rPr lang="en-US" altLang="zh-TW" sz="3200" i="1">
                              <a:latin typeface="Cambria Math"/>
                            </a:rPr>
                            <m:t>2</m:t>
                          </m:r>
                        </m:sub>
                      </m:sSub>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2</m:t>
                          </m:r>
                        </m:sub>
                      </m:sSub>
                      <m:r>
                        <a:rPr lang="en-US" altLang="zh-TW" sz="3200" i="1">
                          <a:latin typeface="Cambria Math"/>
                        </a:rPr>
                        <m:t>𝑇</m:t>
                      </m:r>
                      <m:r>
                        <a:rPr lang="en-US" altLang="zh-TW" sz="3200" i="1">
                          <a:latin typeface="Cambria Math"/>
                        </a:rPr>
                        <m:t>)</m:t>
                      </m:r>
                    </m:oMath>
                  </m:oMathPara>
                </a14:m>
                <a:endParaRPr lang="en-US" altLang="zh-TW" sz="3200" dirty="0">
                  <a:latin typeface="微軟正黑體" panose="020B0604030504040204" pitchFamily="34" charset="-120"/>
                </a:endParaRPr>
              </a:p>
              <a:p>
                <a:endParaRPr lang="en-US" altLang="zh-TW" sz="3200" dirty="0" smtClean="0">
                  <a:latin typeface="微軟正黑體" panose="020B0604030504040204" pitchFamily="34" charset="-120"/>
                  <a:ea typeface="微軟正黑體" panose="020B0604030504040204" pitchFamily="34" charset="-120"/>
                </a:endParaRPr>
              </a:p>
              <a:p>
                <a14:m>
                  <m:oMath xmlns:m="http://schemas.openxmlformats.org/officeDocument/2006/math">
                    <m:r>
                      <a:rPr lang="en-US" altLang="zh-TW" sz="3200" i="1">
                        <a:latin typeface="Cambria Math" panose="02040503050406030204" pitchFamily="18" charset="0"/>
                        <a:ea typeface="Cambria Math" panose="02040503050406030204" pitchFamily="18" charset="0"/>
                      </a:rPr>
                      <m:t>⇒</m:t>
                    </m:r>
                    <m:sSub>
                      <m:sSubPr>
                        <m:ctrlPr>
                          <a:rPr lang="en-US" altLang="zh-TW" sz="3200" i="1">
                            <a:solidFill>
                              <a:prstClr val="black"/>
                            </a:solidFill>
                            <a:latin typeface="Cambria Math" panose="02040503050406030204" pitchFamily="18" charset="0"/>
                          </a:rPr>
                        </m:ctrlPr>
                      </m:sSubPr>
                      <m:e>
                        <m:r>
                          <a:rPr lang="en-US" altLang="zh-TW" sz="3200" i="1">
                            <a:solidFill>
                              <a:prstClr val="black"/>
                            </a:solidFill>
                            <a:latin typeface="Cambria Math" panose="02040503050406030204" pitchFamily="18" charset="0"/>
                          </a:rPr>
                          <m:t>𝐵</m:t>
                        </m:r>
                      </m:e>
                      <m:sub>
                        <m:r>
                          <a:rPr lang="en-US" altLang="zh-TW" sz="3200" i="1">
                            <a:solidFill>
                              <a:prstClr val="black"/>
                            </a:solidFill>
                            <a:latin typeface="Cambria Math" panose="02040503050406030204" pitchFamily="18" charset="0"/>
                          </a:rPr>
                          <m:t>1</m:t>
                        </m:r>
                      </m:sub>
                    </m:sSub>
                    <m:d>
                      <m:dPr>
                        <m:ctrlPr>
                          <a:rPr lang="en-US" altLang="zh-TW" sz="3200" i="1">
                            <a:solidFill>
                              <a:prstClr val="black"/>
                            </a:solidFill>
                            <a:latin typeface="Cambria Math" panose="02040503050406030204" pitchFamily="18" charset="0"/>
                          </a:rPr>
                        </m:ctrlPr>
                      </m:dPr>
                      <m:e>
                        <m:r>
                          <a:rPr lang="en-US" altLang="zh-TW" sz="3200" i="1">
                            <a:solidFill>
                              <a:prstClr val="black"/>
                            </a:solidFill>
                            <a:latin typeface="Cambria Math" panose="02040503050406030204" pitchFamily="18" charset="0"/>
                          </a:rPr>
                          <m:t>𝑇</m:t>
                        </m:r>
                      </m:e>
                    </m:d>
                    <m:r>
                      <a:rPr lang="en-US" altLang="zh-TW" sz="3200" i="1">
                        <a:solidFill>
                          <a:prstClr val="black"/>
                        </a:solidFill>
                        <a:latin typeface="Cambria Math" panose="02040503050406030204" pitchFamily="18" charset="0"/>
                      </a:rPr>
                      <m:t>=</m:t>
                    </m:r>
                    <m:f>
                      <m:fPr>
                        <m:ctrlPr>
                          <a:rPr lang="en-US" altLang="zh-TW" sz="3200" i="1" smtClean="0">
                            <a:solidFill>
                              <a:prstClr val="black"/>
                            </a:solidFill>
                            <a:latin typeface="Cambria Math" panose="02040503050406030204" pitchFamily="18" charset="0"/>
                          </a:rPr>
                        </m:ctrlPr>
                      </m:fPr>
                      <m:num>
                        <m:r>
                          <a:rPr lang="en-US" altLang="zh-TW" sz="3200" b="0" i="1" smtClean="0">
                            <a:solidFill>
                              <a:prstClr val="black"/>
                            </a:solidFill>
                            <a:latin typeface="Cambria Math" panose="02040503050406030204" pitchFamily="18" charset="0"/>
                          </a:rPr>
                          <m:t>1</m:t>
                        </m:r>
                      </m:num>
                      <m:den>
                        <m:sSub>
                          <m:sSubPr>
                            <m:ctrlPr>
                              <a:rPr lang="en-US" altLang="zh-TW" sz="3200" i="1" smtClean="0">
                                <a:solidFill>
                                  <a:prstClr val="black"/>
                                </a:solidFill>
                                <a:latin typeface="Cambria Math" panose="02040503050406030204" pitchFamily="18" charset="0"/>
                              </a:rPr>
                            </m:ctrlPr>
                          </m:sSubPr>
                          <m:e>
                            <m:r>
                              <a:rPr lang="zh-TW" altLang="en-US" sz="3200" i="1" smtClean="0">
                                <a:solidFill>
                                  <a:prstClr val="black"/>
                                </a:solidFill>
                                <a:latin typeface="Cambria Math" panose="02040503050406030204" pitchFamily="18" charset="0"/>
                              </a:rPr>
                              <m:t>𝜎</m:t>
                            </m:r>
                          </m:e>
                          <m:sub>
                            <m:r>
                              <a:rPr lang="en-US" altLang="zh-TW" sz="3200" b="0" i="1" smtClean="0">
                                <a:solidFill>
                                  <a:prstClr val="black"/>
                                </a:solidFill>
                                <a:latin typeface="Cambria Math" panose="02040503050406030204" pitchFamily="18" charset="0"/>
                              </a:rPr>
                              <m:t>1</m:t>
                            </m:r>
                          </m:sub>
                        </m:sSub>
                      </m:den>
                    </m:f>
                    <m:func>
                      <m:funcPr>
                        <m:ctrlPr>
                          <a:rPr lang="en-US" altLang="zh-TW" sz="3200" i="1" smtClean="0">
                            <a:solidFill>
                              <a:prstClr val="black"/>
                            </a:solidFill>
                            <a:latin typeface="Cambria Math" panose="02040503050406030204" pitchFamily="18" charset="0"/>
                          </a:rPr>
                        </m:ctrlPr>
                      </m:funcPr>
                      <m:fName>
                        <m:r>
                          <m:rPr>
                            <m:sty m:val="p"/>
                          </m:rPr>
                          <a:rPr lang="en-US" altLang="zh-TW" sz="3200" i="0" smtClean="0">
                            <a:solidFill>
                              <a:prstClr val="black"/>
                            </a:solidFill>
                            <a:latin typeface="Cambria Math" panose="02040503050406030204" pitchFamily="18" charset="0"/>
                          </a:rPr>
                          <m:t>ln</m:t>
                        </m:r>
                      </m:fName>
                      <m:e>
                        <m:r>
                          <a:rPr lang="en-US" altLang="zh-TW" sz="3200" b="0" i="1" smtClean="0">
                            <a:solidFill>
                              <a:prstClr val="black"/>
                            </a:solidFill>
                            <a:latin typeface="Cambria Math" panose="02040503050406030204" pitchFamily="18" charset="0"/>
                          </a:rPr>
                          <m:t>[</m:t>
                        </m:r>
                        <m:f>
                          <m:fPr>
                            <m:ctrlPr>
                              <a:rPr lang="en-US" altLang="zh-TW" sz="3200" i="1" smtClean="0">
                                <a:solidFill>
                                  <a:prstClr val="black"/>
                                </a:solidFill>
                                <a:latin typeface="Cambria Math" panose="02040503050406030204" pitchFamily="18" charset="0"/>
                              </a:rPr>
                            </m:ctrlPr>
                          </m:fPr>
                          <m:num>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1</m:t>
                                </m:r>
                              </m:sub>
                            </m:sSub>
                            <m:r>
                              <a:rPr lang="en-US" altLang="zh-TW" sz="3200" i="1">
                                <a:latin typeface="Cambria Math"/>
                              </a:rPr>
                              <m:t>+</m:t>
                            </m:r>
                            <m:r>
                              <a:rPr lang="en-US" altLang="zh-TW" sz="3200" i="1">
                                <a:latin typeface="Cambria Math" panose="02040503050406030204" pitchFamily="18" charset="0"/>
                              </a:rPr>
                              <m:t>(1+</m:t>
                            </m:r>
                            <m:f>
                              <m:fPr>
                                <m:ctrlPr>
                                  <a:rPr lang="en-US" altLang="zh-TW" sz="3200" i="1">
                                    <a:latin typeface="Cambria Math" panose="02040503050406030204" pitchFamily="18" charset="0"/>
                                  </a:rPr>
                                </m:ctrlPr>
                              </m:fPr>
                              <m:num>
                                <m:r>
                                  <a:rPr lang="en-US" altLang="zh-TW" sz="3200" i="1" dirty="0">
                                    <a:latin typeface="Cambria Math" panose="02040503050406030204" pitchFamily="18" charset="0"/>
                                    <a:ea typeface="微軟正黑體" panose="020B0604030504040204" pitchFamily="34" charset="-120"/>
                                  </a:rPr>
                                  <m:t>𝑂</m:t>
                                </m:r>
                              </m:num>
                              <m:den>
                                <m:sSub>
                                  <m:sSubPr>
                                    <m:ctrlPr>
                                      <a:rPr lang="en-US" altLang="zh-TW" sz="3200" i="1" dirty="0">
                                        <a:latin typeface="Cambria Math" panose="02040503050406030204" pitchFamily="18" charset="0"/>
                                        <a:ea typeface="微軟正黑體" panose="020B0604030504040204" pitchFamily="34" charset="-120"/>
                                      </a:rPr>
                                    </m:ctrlPr>
                                  </m:sSubPr>
                                  <m:e>
                                    <m:r>
                                      <a:rPr lang="en-US" altLang="zh-TW" sz="3200" i="1" dirty="0">
                                        <a:latin typeface="Cambria Math" panose="02040503050406030204" pitchFamily="18" charset="0"/>
                                        <a:ea typeface="微軟正黑體" panose="020B0604030504040204" pitchFamily="34" charset="-120"/>
                                      </a:rPr>
                                      <m:t>𝑂</m:t>
                                    </m:r>
                                  </m:e>
                                  <m:sub>
                                    <m:r>
                                      <a:rPr lang="en-US" altLang="zh-TW" sz="3200" i="1" dirty="0">
                                        <a:latin typeface="Cambria Math" panose="02040503050406030204" pitchFamily="18" charset="0"/>
                                        <a:ea typeface="微軟正黑體" panose="020B0604030504040204" pitchFamily="34" charset="-120"/>
                                      </a:rPr>
                                      <m:t>𝐶𝐶</m:t>
                                    </m:r>
                                  </m:sub>
                                </m:sSub>
                              </m:den>
                            </m:f>
                            <m:r>
                              <a:rPr lang="en-US" altLang="zh-TW" sz="3200" i="1">
                                <a:latin typeface="Cambria Math" panose="02040503050406030204" pitchFamily="18" charset="0"/>
                              </a:rPr>
                              <m:t>)</m:t>
                            </m:r>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2</m:t>
                                </m:r>
                              </m:sub>
                            </m:sSub>
                            <m:r>
                              <a:rPr lang="en-US" altLang="zh-TW" sz="3200" i="1">
                                <a:latin typeface="Cambria Math"/>
                              </a:rPr>
                              <m:t>+(1−</m:t>
                            </m:r>
                            <m:r>
                              <a:rPr lang="en-US" altLang="zh-TW" sz="3200" i="1">
                                <a:latin typeface="Cambria Math"/>
                              </a:rPr>
                              <m:t>𝑡𝑎𝑥</m:t>
                            </m:r>
                            <m:r>
                              <a:rPr lang="en-US" altLang="zh-TW" sz="3200" i="1">
                                <a:latin typeface="Cambria Math"/>
                              </a:rPr>
                              <m:t>)(</m:t>
                            </m:r>
                            <m:sSub>
                              <m:sSubPr>
                                <m:ctrlPr>
                                  <a:rPr lang="en-US" altLang="zh-TW" sz="3200" i="1">
                                    <a:latin typeface="Cambria Math" panose="02040503050406030204" pitchFamily="18" charset="0"/>
                                  </a:rPr>
                                </m:ctrlPr>
                              </m:sSubPr>
                              <m:e>
                                <m:r>
                                  <a:rPr lang="en-US" altLang="zh-TW" sz="3200" i="1">
                                    <a:latin typeface="Cambria Math"/>
                                  </a:rPr>
                                  <m:t>𝐶</m:t>
                                </m:r>
                              </m:e>
                              <m:sub>
                                <m:r>
                                  <a:rPr lang="en-US" altLang="zh-TW" sz="3200" i="1">
                                    <a:latin typeface="Cambria Math"/>
                                  </a:rPr>
                                  <m:t>1</m:t>
                                </m:r>
                              </m:sub>
                            </m:sSub>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1</m:t>
                                </m:r>
                              </m:sub>
                            </m:sSub>
                            <m:r>
                              <a:rPr lang="en-US" altLang="zh-TW" sz="3200" i="1">
                                <a:latin typeface="Cambria Math"/>
                              </a:rPr>
                              <m:t>𝑇</m:t>
                            </m:r>
                            <m:r>
                              <a:rPr lang="en-US" altLang="zh-TW" sz="3200" i="1">
                                <a:latin typeface="Cambria Math"/>
                              </a:rPr>
                              <m:t>+</m:t>
                            </m:r>
                            <m:sSub>
                              <m:sSubPr>
                                <m:ctrlPr>
                                  <a:rPr lang="en-US" altLang="zh-TW" sz="3200" i="1">
                                    <a:latin typeface="Cambria Math" panose="02040503050406030204" pitchFamily="18" charset="0"/>
                                  </a:rPr>
                                </m:ctrlPr>
                              </m:sSubPr>
                              <m:e>
                                <m:r>
                                  <a:rPr lang="en-US" altLang="zh-TW" sz="3200" i="1">
                                    <a:latin typeface="Cambria Math"/>
                                  </a:rPr>
                                  <m:t>𝐶</m:t>
                                </m:r>
                              </m:e>
                              <m:sub>
                                <m:r>
                                  <a:rPr lang="en-US" altLang="zh-TW" sz="3200" i="1">
                                    <a:latin typeface="Cambria Math"/>
                                  </a:rPr>
                                  <m:t>2</m:t>
                                </m:r>
                              </m:sub>
                            </m:sSub>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2</m:t>
                                </m:r>
                              </m:sub>
                            </m:sSub>
                            <m:r>
                              <a:rPr lang="en-US" altLang="zh-TW" sz="3200" i="1">
                                <a:latin typeface="Cambria Math"/>
                              </a:rPr>
                              <m:t>𝑇</m:t>
                            </m:r>
                            <m:r>
                              <a:rPr lang="en-US" altLang="zh-TW" sz="3200" i="1">
                                <a:latin typeface="Cambria Math"/>
                              </a:rPr>
                              <m:t>)</m:t>
                            </m:r>
                            <m:r>
                              <m:rPr>
                                <m:nor/>
                              </m:rPr>
                              <a:rPr lang="en-US" altLang="zh-TW" sz="3200" dirty="0">
                                <a:latin typeface="微軟正黑體" panose="020B0604030504040204" pitchFamily="34" charset="-120"/>
                              </a:rPr>
                              <m:t> </m:t>
                            </m:r>
                          </m:num>
                          <m:den>
                            <m:r>
                              <a:rPr lang="en-US" altLang="zh-TW" sz="3200" i="1">
                                <a:solidFill>
                                  <a:prstClr val="black"/>
                                </a:solidFill>
                                <a:latin typeface="Cambria Math" panose="02040503050406030204" pitchFamily="18" charset="0"/>
                              </a:rPr>
                              <m:t>𝑉</m:t>
                            </m:r>
                            <m:d>
                              <m:dPr>
                                <m:ctrlPr>
                                  <a:rPr lang="en-US" altLang="zh-TW" sz="3200" i="1">
                                    <a:solidFill>
                                      <a:prstClr val="black"/>
                                    </a:solidFill>
                                    <a:latin typeface="Cambria Math" panose="02040503050406030204" pitchFamily="18" charset="0"/>
                                  </a:rPr>
                                </m:ctrlPr>
                              </m:dPr>
                              <m:e>
                                <m:r>
                                  <a:rPr lang="en-US" altLang="zh-TW" sz="3200" i="1">
                                    <a:solidFill>
                                      <a:prstClr val="black"/>
                                    </a:solidFill>
                                    <a:latin typeface="Cambria Math" panose="02040503050406030204" pitchFamily="18" charset="0"/>
                                  </a:rPr>
                                  <m:t>0</m:t>
                                </m:r>
                              </m:e>
                            </m:d>
                          </m:den>
                        </m:f>
                      </m:e>
                    </m:func>
                    <m:r>
                      <a:rPr lang="en-US" altLang="zh-TW" sz="3200" b="0" i="1" smtClean="0">
                        <a:solidFill>
                          <a:prstClr val="black"/>
                        </a:solidFill>
                        <a:latin typeface="Cambria Math" panose="02040503050406030204" pitchFamily="18" charset="0"/>
                      </a:rPr>
                      <m:t>]</m:t>
                    </m:r>
                  </m:oMath>
                </a14:m>
                <a:r>
                  <a:rPr lang="en-US" altLang="zh-TW" sz="3200" dirty="0" smtClean="0">
                    <a:latin typeface="微軟正黑體" panose="020B0604030504040204" pitchFamily="34" charset="-120"/>
                    <a:ea typeface="微軟正黑體" panose="020B0604030504040204" pitchFamily="34" charset="-120"/>
                  </a:rPr>
                  <a:t> ,</a:t>
                </a:r>
                <a:r>
                  <a:rPr lang="zh-TW" altLang="en-US" sz="3200" dirty="0" smtClean="0">
                    <a:latin typeface="微軟正黑體" panose="020B0604030504040204" pitchFamily="34" charset="-120"/>
                    <a:ea typeface="微軟正黑體" panose="020B0604030504040204" pitchFamily="34" charset="-120"/>
                  </a:rPr>
                  <a:t>令為 </a:t>
                </a:r>
                <a14:m>
                  <m:oMath xmlns:m="http://schemas.openxmlformats.org/officeDocument/2006/math">
                    <m:sSub>
                      <m:sSubPr>
                        <m:ctrlPr>
                          <a:rPr lang="en-US" altLang="zh-TW" sz="3200" i="1" smtClean="0">
                            <a:latin typeface="Cambria Math" panose="02040503050406030204" pitchFamily="18" charset="0"/>
                            <a:ea typeface="微軟正黑體" panose="020B0604030504040204" pitchFamily="34" charset="-120"/>
                          </a:rPr>
                        </m:ctrlPr>
                      </m:sSubPr>
                      <m:e>
                        <m:r>
                          <a:rPr lang="zh-TW" altLang="en-US" sz="3200" i="1" smtClean="0">
                            <a:latin typeface="Cambria Math" panose="02040503050406030204" pitchFamily="18" charset="0"/>
                            <a:ea typeface="微軟正黑體" panose="020B0604030504040204" pitchFamily="34" charset="-120"/>
                          </a:rPr>
                          <m:t>𝒹</m:t>
                        </m:r>
                      </m:e>
                      <m:sub>
                        <m:r>
                          <a:rPr lang="en-US" altLang="zh-TW" sz="3200" i="1">
                            <a:latin typeface="Cambria Math" panose="02040503050406030204" pitchFamily="18" charset="0"/>
                            <a:ea typeface="微軟正黑體" panose="020B0604030504040204" pitchFamily="34" charset="-120"/>
                          </a:rPr>
                          <m:t>1</m:t>
                        </m:r>
                      </m:sub>
                    </m:sSub>
                  </m:oMath>
                </a14:m>
                <a:endParaRPr lang="en-US" altLang="zh-TW" sz="2400" dirty="0" smtClean="0">
                  <a:latin typeface="微軟正黑體" panose="020B0604030504040204" pitchFamily="34" charset="-120"/>
                  <a:ea typeface="微軟正黑體" panose="020B0604030504040204" pitchFamily="34" charset="-120"/>
                </a:endParaRPr>
              </a:p>
            </p:txBody>
          </p:sp>
        </mc:Choice>
        <mc:Fallback xmlns="">
          <p:sp>
            <p:nvSpPr>
              <p:cNvPr id="5" name="矩形 4"/>
              <p:cNvSpPr>
                <a:spLocks noRot="1" noChangeAspect="1" noMove="1" noResize="1" noEditPoints="1" noAdjustHandles="1" noChangeArrowheads="1" noChangeShapeType="1" noTextEdit="1"/>
              </p:cNvSpPr>
              <p:nvPr/>
            </p:nvSpPr>
            <p:spPr>
              <a:xfrm>
                <a:off x="629568" y="1821049"/>
                <a:ext cx="11562431" cy="4185698"/>
              </a:xfrm>
              <a:prstGeom prst="rect">
                <a:avLst/>
              </a:prstGeom>
              <a:blipFill rotWithShape="0">
                <a:blip r:embed="rId2"/>
                <a:stretch>
                  <a:fillRect l="-158"/>
                </a:stretch>
              </a:blipFill>
            </p:spPr>
            <p:txBody>
              <a:bodyPr/>
              <a:lstStyle/>
              <a:p>
                <a:r>
                  <a:rPr lang="zh-TW" altLang="en-US">
                    <a:noFill/>
                  </a:rPr>
                  <a:t> </a:t>
                </a:r>
              </a:p>
            </p:txBody>
          </p:sp>
        </mc:Fallback>
      </mc:AlternateContent>
      <p:sp>
        <p:nvSpPr>
          <p:cNvPr id="7" name="矩形 6"/>
          <p:cNvSpPr/>
          <p:nvPr/>
        </p:nvSpPr>
        <p:spPr>
          <a:xfrm>
            <a:off x="629569" y="1236274"/>
            <a:ext cx="5522089" cy="584775"/>
          </a:xfrm>
          <a:prstGeom prst="rect">
            <a:avLst/>
          </a:prstGeom>
        </p:spPr>
        <p:txBody>
          <a:bodyPr wrap="none">
            <a:spAutoFit/>
          </a:bodyPr>
          <a:lstStyle/>
          <a:p>
            <a:r>
              <a:rPr lang="en-US" altLang="zh-TW" sz="3200" dirty="0" smtClean="0">
                <a:latin typeface="微軟正黑體" panose="020B0604030504040204" pitchFamily="34" charset="-120"/>
                <a:ea typeface="微軟正黑體" panose="020B0604030504040204" pitchFamily="34" charset="-120"/>
              </a:rPr>
              <a:t>1.</a:t>
            </a:r>
            <a:r>
              <a:rPr lang="zh-TW" altLang="en-US" sz="3200" dirty="0" smtClean="0">
                <a:latin typeface="微軟正黑體" panose="020B0604030504040204" pitchFamily="34" charset="-120"/>
                <a:ea typeface="微軟正黑體" panose="020B0604030504040204" pitchFamily="34" charset="-120"/>
              </a:rPr>
              <a:t> </a:t>
            </a:r>
            <a:r>
              <a:rPr lang="en-US" altLang="zh-TW" sz="3200" dirty="0" smtClean="0">
                <a:latin typeface="微軟正黑體" panose="020B0604030504040204" pitchFamily="34" charset="-120"/>
                <a:ea typeface="微軟正黑體" panose="020B0604030504040204" pitchFamily="34" charset="-120"/>
              </a:rPr>
              <a:t>CC</a:t>
            </a:r>
            <a:r>
              <a:rPr lang="zh-TW" altLang="en-US" sz="3200" dirty="0" smtClean="0">
                <a:latin typeface="微軟正黑體" panose="020B0604030504040204" pitchFamily="34" charset="-120"/>
                <a:ea typeface="微軟正黑體" panose="020B0604030504040204" pitchFamily="34" charset="-120"/>
              </a:rPr>
              <a:t>轉換的邊界</a:t>
            </a:r>
            <a:r>
              <a:rPr lang="en-US" altLang="zh-TW" sz="3200" dirty="0" smtClean="0">
                <a:latin typeface="微軟正黑體" panose="020B0604030504040204" pitchFamily="34" charset="-120"/>
                <a:ea typeface="微軟正黑體" panose="020B0604030504040204" pitchFamily="34" charset="-120"/>
              </a:rPr>
              <a:t>(</a:t>
            </a:r>
            <a:r>
              <a:rPr lang="zh-TW" altLang="en-US" sz="3200" dirty="0" smtClean="0">
                <a:latin typeface="微軟正黑體" panose="020B0604030504040204" pitchFamily="34" charset="-120"/>
                <a:ea typeface="微軟正黑體" panose="020B0604030504040204" pitchFamily="34" charset="-120"/>
              </a:rPr>
              <a:t>與股價有關</a:t>
            </a:r>
            <a:r>
              <a:rPr lang="en-US" altLang="zh-TW" sz="3200" dirty="0" smtClean="0">
                <a:latin typeface="微軟正黑體" panose="020B0604030504040204" pitchFamily="34" charset="-120"/>
                <a:ea typeface="微軟正黑體" panose="020B0604030504040204" pitchFamily="34" charset="-120"/>
              </a:rPr>
              <a:t>)</a:t>
            </a:r>
            <a:endParaRPr lang="zh-TW" altLang="en-US" sz="32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70422425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矩形 4"/>
              <p:cNvSpPr/>
              <p:nvPr/>
            </p:nvSpPr>
            <p:spPr>
              <a:xfrm>
                <a:off x="645184" y="2315803"/>
                <a:ext cx="10470524" cy="2501903"/>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altLang="zh-TW" sz="3200" i="1" smtClean="0">
                          <a:latin typeface="Cambria Math" panose="02040503050406030204" pitchFamily="18" charset="0"/>
                        </a:rPr>
                        <m:t>𝑉</m:t>
                      </m:r>
                      <m:d>
                        <m:dPr>
                          <m:ctrlPr>
                            <a:rPr lang="en-US" altLang="zh-TW" sz="3200" i="1">
                              <a:latin typeface="Cambria Math" panose="02040503050406030204" pitchFamily="18" charset="0"/>
                            </a:rPr>
                          </m:ctrlPr>
                        </m:dPr>
                        <m:e>
                          <m:r>
                            <a:rPr lang="en-US" altLang="zh-TW" sz="3200" i="1">
                              <a:latin typeface="Cambria Math" panose="02040503050406030204" pitchFamily="18" charset="0"/>
                            </a:rPr>
                            <m:t>𝑇</m:t>
                          </m:r>
                        </m:e>
                      </m:d>
                      <m:r>
                        <a:rPr lang="en-US" altLang="zh-TW" sz="3200" i="1">
                          <a:latin typeface="Cambria Math" panose="02040503050406030204" pitchFamily="18" charset="0"/>
                        </a:rPr>
                        <m:t>=</m:t>
                      </m:r>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1</m:t>
                          </m:r>
                        </m:sub>
                      </m:sSub>
                      <m:r>
                        <a:rPr lang="en-US" altLang="zh-TW" sz="3200" i="1">
                          <a:latin typeface="Cambria Math"/>
                        </a:rPr>
                        <m:t>+</m:t>
                      </m:r>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2</m:t>
                          </m:r>
                        </m:sub>
                      </m:sSub>
                      <m:r>
                        <a:rPr lang="en-US" altLang="zh-TW" sz="3200" i="1">
                          <a:latin typeface="Cambria Math" panose="02040503050406030204" pitchFamily="18" charset="0"/>
                        </a:rPr>
                        <m:t>+(1−</m:t>
                      </m:r>
                      <m:r>
                        <a:rPr lang="en-US" altLang="zh-TW" sz="3200" i="1">
                          <a:latin typeface="Cambria Math" panose="02040503050406030204" pitchFamily="18" charset="0"/>
                        </a:rPr>
                        <m:t>𝑡𝑎𝑥</m:t>
                      </m:r>
                      <m:r>
                        <a:rPr lang="en-US" altLang="zh-TW" sz="3200" i="1">
                          <a:latin typeface="Cambria Math" panose="02040503050406030204" pitchFamily="18" charset="0"/>
                        </a:rPr>
                        <m:t>)(</m:t>
                      </m:r>
                      <m:sSub>
                        <m:sSubPr>
                          <m:ctrlPr>
                            <a:rPr lang="en-US" altLang="zh-TW" sz="3200" i="1">
                              <a:latin typeface="Cambria Math" panose="02040503050406030204" pitchFamily="18" charset="0"/>
                            </a:rPr>
                          </m:ctrlPr>
                        </m:sSubPr>
                        <m:e>
                          <m:r>
                            <a:rPr lang="en-US" altLang="zh-TW" sz="3200" i="1">
                              <a:latin typeface="Cambria Math"/>
                            </a:rPr>
                            <m:t>𝐶</m:t>
                          </m:r>
                        </m:e>
                        <m:sub>
                          <m:r>
                            <a:rPr lang="en-US" altLang="zh-TW" sz="3200" i="1">
                              <a:latin typeface="Cambria Math"/>
                            </a:rPr>
                            <m:t>1</m:t>
                          </m:r>
                        </m:sub>
                      </m:sSub>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1</m:t>
                          </m:r>
                        </m:sub>
                      </m:sSub>
                      <m:r>
                        <a:rPr lang="en-US" altLang="zh-TW" sz="3200" i="1">
                          <a:latin typeface="Cambria Math"/>
                        </a:rPr>
                        <m:t>𝑇</m:t>
                      </m:r>
                      <m:r>
                        <a:rPr lang="en-US" altLang="zh-TW" sz="3200" i="1">
                          <a:latin typeface="Cambria Math"/>
                        </a:rPr>
                        <m:t>+</m:t>
                      </m:r>
                      <m:sSub>
                        <m:sSubPr>
                          <m:ctrlPr>
                            <a:rPr lang="en-US" altLang="zh-TW" sz="3200" i="1">
                              <a:latin typeface="Cambria Math" panose="02040503050406030204" pitchFamily="18" charset="0"/>
                            </a:rPr>
                          </m:ctrlPr>
                        </m:sSubPr>
                        <m:e>
                          <m:r>
                            <a:rPr lang="en-US" altLang="zh-TW" sz="3200" i="1">
                              <a:latin typeface="Cambria Math"/>
                            </a:rPr>
                            <m:t>𝐶</m:t>
                          </m:r>
                        </m:e>
                        <m:sub>
                          <m:r>
                            <a:rPr lang="en-US" altLang="zh-TW" sz="3200" i="1">
                              <a:latin typeface="Cambria Math"/>
                            </a:rPr>
                            <m:t>2</m:t>
                          </m:r>
                        </m:sub>
                      </m:sSub>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2</m:t>
                          </m:r>
                        </m:sub>
                      </m:sSub>
                      <m:r>
                        <a:rPr lang="en-US" altLang="zh-TW" sz="3200" i="1">
                          <a:latin typeface="Cambria Math"/>
                        </a:rPr>
                        <m:t>𝑇</m:t>
                      </m:r>
                      <m:r>
                        <a:rPr lang="en-US" altLang="zh-TW" sz="3200" i="1">
                          <a:latin typeface="Cambria Math" panose="02040503050406030204" pitchFamily="18" charset="0"/>
                        </a:rPr>
                        <m:t>)</m:t>
                      </m:r>
                    </m:oMath>
                  </m:oMathPara>
                </a14:m>
                <a:endParaRPr lang="zh-TW" altLang="en-US" sz="3200" dirty="0"/>
              </a:p>
              <a:p>
                <a:pPr/>
                <a14:m>
                  <m:oMathPara xmlns:m="http://schemas.openxmlformats.org/officeDocument/2006/math">
                    <m:oMathParaPr>
                      <m:jc m:val="left"/>
                    </m:oMathParaPr>
                    <m:oMath xmlns:m="http://schemas.openxmlformats.org/officeDocument/2006/math">
                      <m:r>
                        <a:rPr lang="en-US" altLang="zh-TW" sz="3600" i="1">
                          <a:latin typeface="Cambria Math" panose="02040503050406030204" pitchFamily="18" charset="0"/>
                          <a:ea typeface="Cambria Math" panose="02040503050406030204" pitchFamily="18" charset="0"/>
                        </a:rPr>
                        <m:t>⇒</m:t>
                      </m:r>
                      <m:r>
                        <a:rPr lang="en-US" altLang="zh-TW" sz="3200" i="1">
                          <a:solidFill>
                            <a:prstClr val="black"/>
                          </a:solidFill>
                          <a:latin typeface="Cambria Math" panose="02040503050406030204" pitchFamily="18" charset="0"/>
                        </a:rPr>
                        <m:t>𝑉</m:t>
                      </m:r>
                      <m:d>
                        <m:dPr>
                          <m:ctrlPr>
                            <a:rPr lang="en-US" altLang="zh-TW" sz="3200" i="1">
                              <a:solidFill>
                                <a:prstClr val="black"/>
                              </a:solidFill>
                              <a:latin typeface="Cambria Math" panose="02040503050406030204" pitchFamily="18" charset="0"/>
                            </a:rPr>
                          </m:ctrlPr>
                        </m:dPr>
                        <m:e>
                          <m:r>
                            <a:rPr lang="en-US" altLang="zh-TW" sz="3200" i="1">
                              <a:solidFill>
                                <a:prstClr val="black"/>
                              </a:solidFill>
                              <a:latin typeface="Cambria Math" panose="02040503050406030204" pitchFamily="18" charset="0"/>
                            </a:rPr>
                            <m:t>0</m:t>
                          </m:r>
                        </m:e>
                      </m:d>
                      <m:sSup>
                        <m:sSupPr>
                          <m:ctrlPr>
                            <a:rPr lang="en-US" altLang="zh-TW" sz="3200" i="1">
                              <a:solidFill>
                                <a:prstClr val="black"/>
                              </a:solidFill>
                              <a:latin typeface="Cambria Math" panose="02040503050406030204" pitchFamily="18" charset="0"/>
                            </a:rPr>
                          </m:ctrlPr>
                        </m:sSupPr>
                        <m:e>
                          <m:r>
                            <a:rPr lang="en-US" altLang="zh-TW" sz="3200" i="1">
                              <a:solidFill>
                                <a:prstClr val="black"/>
                              </a:solidFill>
                              <a:latin typeface="Cambria Math" panose="02040503050406030204" pitchFamily="18" charset="0"/>
                              <a:ea typeface="Cambria Math" panose="02040503050406030204" pitchFamily="18" charset="0"/>
                            </a:rPr>
                            <m:t>ℯ</m:t>
                          </m:r>
                        </m:e>
                        <m:sup>
                          <m:sSub>
                            <m:sSubPr>
                              <m:ctrlPr>
                                <a:rPr lang="en-US" altLang="zh-TW" sz="3200" i="1">
                                  <a:solidFill>
                                    <a:prstClr val="black"/>
                                  </a:solidFill>
                                  <a:latin typeface="Cambria Math" panose="02040503050406030204" pitchFamily="18" charset="0"/>
                                </a:rPr>
                              </m:ctrlPr>
                            </m:sSubPr>
                            <m:e>
                              <m:r>
                                <a:rPr lang="zh-TW" altLang="en-US" sz="3200" i="1">
                                  <a:solidFill>
                                    <a:prstClr val="black"/>
                                  </a:solidFill>
                                  <a:latin typeface="Cambria Math" panose="02040503050406030204" pitchFamily="18" charset="0"/>
                                </a:rPr>
                                <m:t>𝜎</m:t>
                              </m:r>
                            </m:e>
                            <m:sub>
                              <m:r>
                                <a:rPr lang="en-US" altLang="zh-TW" sz="3200" i="1">
                                  <a:solidFill>
                                    <a:prstClr val="black"/>
                                  </a:solidFill>
                                  <a:latin typeface="Cambria Math" panose="02040503050406030204" pitchFamily="18" charset="0"/>
                                </a:rPr>
                                <m:t>1</m:t>
                              </m:r>
                            </m:sub>
                          </m:sSub>
                          <m:sSub>
                            <m:sSubPr>
                              <m:ctrlPr>
                                <a:rPr lang="en-US" altLang="zh-TW" sz="3200" i="1">
                                  <a:solidFill>
                                    <a:prstClr val="black"/>
                                  </a:solidFill>
                                  <a:latin typeface="Cambria Math" panose="02040503050406030204" pitchFamily="18" charset="0"/>
                                </a:rPr>
                              </m:ctrlPr>
                            </m:sSubPr>
                            <m:e>
                              <m:r>
                                <a:rPr lang="en-US" altLang="zh-TW" sz="3200" i="1">
                                  <a:solidFill>
                                    <a:prstClr val="black"/>
                                  </a:solidFill>
                                  <a:latin typeface="Cambria Math" panose="02040503050406030204" pitchFamily="18" charset="0"/>
                                </a:rPr>
                                <m:t>𝐵</m:t>
                              </m:r>
                            </m:e>
                            <m:sub>
                              <m:r>
                                <a:rPr lang="en-US" altLang="zh-TW" sz="3200" i="1">
                                  <a:solidFill>
                                    <a:prstClr val="black"/>
                                  </a:solidFill>
                                  <a:latin typeface="Cambria Math" panose="02040503050406030204" pitchFamily="18" charset="0"/>
                                </a:rPr>
                                <m:t>1</m:t>
                              </m:r>
                            </m:sub>
                          </m:sSub>
                          <m:d>
                            <m:dPr>
                              <m:ctrlPr>
                                <a:rPr lang="en-US" altLang="zh-TW" sz="3200" i="1">
                                  <a:solidFill>
                                    <a:prstClr val="black"/>
                                  </a:solidFill>
                                  <a:latin typeface="Cambria Math" panose="02040503050406030204" pitchFamily="18" charset="0"/>
                                </a:rPr>
                              </m:ctrlPr>
                            </m:dPr>
                            <m:e>
                              <m:r>
                                <a:rPr lang="en-US" altLang="zh-TW" sz="3200" i="1">
                                  <a:solidFill>
                                    <a:prstClr val="black"/>
                                  </a:solidFill>
                                  <a:latin typeface="Cambria Math" panose="02040503050406030204" pitchFamily="18" charset="0"/>
                                </a:rPr>
                                <m:t>𝑇</m:t>
                              </m:r>
                            </m:e>
                          </m:d>
                        </m:sup>
                      </m:sSup>
                      <m:r>
                        <a:rPr lang="en-US" altLang="zh-TW" sz="3200" i="1">
                          <a:solidFill>
                            <a:prstClr val="black"/>
                          </a:solidFill>
                          <a:latin typeface="Cambria Math" panose="02040503050406030204" pitchFamily="18" charset="0"/>
                        </a:rPr>
                        <m:t>=</m:t>
                      </m:r>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1</m:t>
                          </m:r>
                        </m:sub>
                      </m:sSub>
                      <m:r>
                        <a:rPr lang="en-US" altLang="zh-TW" sz="3200" i="1">
                          <a:latin typeface="Cambria Math"/>
                        </a:rPr>
                        <m:t>+</m:t>
                      </m:r>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2</m:t>
                          </m:r>
                        </m:sub>
                      </m:sSub>
                      <m:r>
                        <a:rPr lang="en-US" altLang="zh-TW" sz="3200" i="1">
                          <a:latin typeface="Cambria Math" panose="02040503050406030204" pitchFamily="18" charset="0"/>
                        </a:rPr>
                        <m:t>+(1−</m:t>
                      </m:r>
                      <m:r>
                        <a:rPr lang="en-US" altLang="zh-TW" sz="3200" i="1">
                          <a:latin typeface="Cambria Math" panose="02040503050406030204" pitchFamily="18" charset="0"/>
                        </a:rPr>
                        <m:t>𝑡𝑎𝑥</m:t>
                      </m:r>
                      <m:r>
                        <a:rPr lang="en-US" altLang="zh-TW" sz="3200" i="1">
                          <a:latin typeface="Cambria Math" panose="02040503050406030204" pitchFamily="18" charset="0"/>
                        </a:rPr>
                        <m:t>)(</m:t>
                      </m:r>
                      <m:sSub>
                        <m:sSubPr>
                          <m:ctrlPr>
                            <a:rPr lang="en-US" altLang="zh-TW" sz="3200" i="1">
                              <a:latin typeface="Cambria Math" panose="02040503050406030204" pitchFamily="18" charset="0"/>
                            </a:rPr>
                          </m:ctrlPr>
                        </m:sSubPr>
                        <m:e>
                          <m:r>
                            <a:rPr lang="en-US" altLang="zh-TW" sz="3200" i="1">
                              <a:latin typeface="Cambria Math"/>
                            </a:rPr>
                            <m:t>𝐶</m:t>
                          </m:r>
                        </m:e>
                        <m:sub>
                          <m:r>
                            <a:rPr lang="en-US" altLang="zh-TW" sz="3200" i="1">
                              <a:latin typeface="Cambria Math"/>
                            </a:rPr>
                            <m:t>1</m:t>
                          </m:r>
                        </m:sub>
                      </m:sSub>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1</m:t>
                          </m:r>
                        </m:sub>
                      </m:sSub>
                      <m:r>
                        <a:rPr lang="en-US" altLang="zh-TW" sz="3200" i="1">
                          <a:latin typeface="Cambria Math"/>
                        </a:rPr>
                        <m:t>𝑇</m:t>
                      </m:r>
                      <m:r>
                        <a:rPr lang="en-US" altLang="zh-TW" sz="3200" i="1">
                          <a:latin typeface="Cambria Math"/>
                        </a:rPr>
                        <m:t>+</m:t>
                      </m:r>
                      <m:sSub>
                        <m:sSubPr>
                          <m:ctrlPr>
                            <a:rPr lang="en-US" altLang="zh-TW" sz="3200" i="1">
                              <a:latin typeface="Cambria Math" panose="02040503050406030204" pitchFamily="18" charset="0"/>
                            </a:rPr>
                          </m:ctrlPr>
                        </m:sSubPr>
                        <m:e>
                          <m:r>
                            <a:rPr lang="en-US" altLang="zh-TW" sz="3200" i="1">
                              <a:latin typeface="Cambria Math"/>
                            </a:rPr>
                            <m:t>𝐶</m:t>
                          </m:r>
                        </m:e>
                        <m:sub>
                          <m:r>
                            <a:rPr lang="en-US" altLang="zh-TW" sz="3200" i="1">
                              <a:latin typeface="Cambria Math"/>
                            </a:rPr>
                            <m:t>2</m:t>
                          </m:r>
                        </m:sub>
                      </m:sSub>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2</m:t>
                          </m:r>
                        </m:sub>
                      </m:sSub>
                      <m:r>
                        <a:rPr lang="en-US" altLang="zh-TW" sz="3200" i="1">
                          <a:latin typeface="Cambria Math"/>
                        </a:rPr>
                        <m:t>𝑇</m:t>
                      </m:r>
                      <m:r>
                        <a:rPr lang="en-US" altLang="zh-TW" sz="3200" i="1">
                          <a:latin typeface="Cambria Math" panose="02040503050406030204" pitchFamily="18" charset="0"/>
                        </a:rPr>
                        <m:t>)</m:t>
                      </m:r>
                    </m:oMath>
                  </m:oMathPara>
                </a14:m>
                <a:endParaRPr lang="zh-TW" altLang="en-US" sz="3200" dirty="0"/>
              </a:p>
              <a:p>
                <a:endParaRPr lang="en-US" altLang="zh-TW" sz="3200" dirty="0" smtClean="0"/>
              </a:p>
              <a:p>
                <a14:m>
                  <m:oMath xmlns:m="http://schemas.openxmlformats.org/officeDocument/2006/math">
                    <m:r>
                      <a:rPr lang="en-US" altLang="zh-TW" sz="3600" i="1">
                        <a:latin typeface="Cambria Math" panose="02040503050406030204" pitchFamily="18" charset="0"/>
                        <a:ea typeface="Cambria Math" panose="02040503050406030204" pitchFamily="18" charset="0"/>
                      </a:rPr>
                      <m:t>⇒</m:t>
                    </m:r>
                    <m:sSub>
                      <m:sSubPr>
                        <m:ctrlPr>
                          <a:rPr lang="en-US" altLang="zh-TW" sz="3200" i="1">
                            <a:solidFill>
                              <a:prstClr val="black"/>
                            </a:solidFill>
                            <a:latin typeface="Cambria Math" panose="02040503050406030204" pitchFamily="18" charset="0"/>
                          </a:rPr>
                        </m:ctrlPr>
                      </m:sSubPr>
                      <m:e>
                        <m:r>
                          <a:rPr lang="en-US" altLang="zh-TW" sz="3200" i="1">
                            <a:solidFill>
                              <a:prstClr val="black"/>
                            </a:solidFill>
                            <a:latin typeface="Cambria Math" panose="02040503050406030204" pitchFamily="18" charset="0"/>
                          </a:rPr>
                          <m:t>𝐵</m:t>
                        </m:r>
                      </m:e>
                      <m:sub>
                        <m:r>
                          <a:rPr lang="en-US" altLang="zh-TW" sz="3200" b="0" i="1" smtClean="0">
                            <a:solidFill>
                              <a:prstClr val="black"/>
                            </a:solidFill>
                            <a:latin typeface="Cambria Math" panose="02040503050406030204" pitchFamily="18" charset="0"/>
                          </a:rPr>
                          <m:t>1</m:t>
                        </m:r>
                      </m:sub>
                    </m:sSub>
                    <m:d>
                      <m:dPr>
                        <m:ctrlPr>
                          <a:rPr lang="en-US" altLang="zh-TW" sz="3200" i="1">
                            <a:solidFill>
                              <a:prstClr val="black"/>
                            </a:solidFill>
                            <a:latin typeface="Cambria Math" panose="02040503050406030204" pitchFamily="18" charset="0"/>
                          </a:rPr>
                        </m:ctrlPr>
                      </m:dPr>
                      <m:e>
                        <m:r>
                          <a:rPr lang="en-US" altLang="zh-TW" sz="3200" i="1">
                            <a:solidFill>
                              <a:prstClr val="black"/>
                            </a:solidFill>
                            <a:latin typeface="Cambria Math" panose="02040503050406030204" pitchFamily="18" charset="0"/>
                          </a:rPr>
                          <m:t>𝑇</m:t>
                        </m:r>
                      </m:e>
                    </m:d>
                    <m:r>
                      <a:rPr lang="en-US" altLang="zh-TW" sz="3200" i="1">
                        <a:solidFill>
                          <a:prstClr val="black"/>
                        </a:solidFill>
                        <a:latin typeface="Cambria Math" panose="02040503050406030204" pitchFamily="18" charset="0"/>
                      </a:rPr>
                      <m:t>=</m:t>
                    </m:r>
                    <m:f>
                      <m:fPr>
                        <m:ctrlPr>
                          <a:rPr lang="en-US" altLang="zh-TW" sz="3200" i="1">
                            <a:solidFill>
                              <a:prstClr val="black"/>
                            </a:solidFill>
                            <a:latin typeface="Cambria Math" panose="02040503050406030204" pitchFamily="18" charset="0"/>
                          </a:rPr>
                        </m:ctrlPr>
                      </m:fPr>
                      <m:num>
                        <m:r>
                          <a:rPr lang="en-US" altLang="zh-TW" sz="3200" i="1">
                            <a:solidFill>
                              <a:prstClr val="black"/>
                            </a:solidFill>
                            <a:latin typeface="Cambria Math" panose="02040503050406030204" pitchFamily="18" charset="0"/>
                          </a:rPr>
                          <m:t>1</m:t>
                        </m:r>
                      </m:num>
                      <m:den>
                        <m:sSub>
                          <m:sSubPr>
                            <m:ctrlPr>
                              <a:rPr lang="en-US" altLang="zh-TW" sz="3200" i="1">
                                <a:solidFill>
                                  <a:prstClr val="black"/>
                                </a:solidFill>
                                <a:latin typeface="Cambria Math" panose="02040503050406030204" pitchFamily="18" charset="0"/>
                              </a:rPr>
                            </m:ctrlPr>
                          </m:sSubPr>
                          <m:e>
                            <m:r>
                              <a:rPr lang="zh-TW" altLang="en-US" sz="3200" i="1">
                                <a:solidFill>
                                  <a:prstClr val="black"/>
                                </a:solidFill>
                                <a:latin typeface="Cambria Math" panose="02040503050406030204" pitchFamily="18" charset="0"/>
                              </a:rPr>
                              <m:t>𝜎</m:t>
                            </m:r>
                          </m:e>
                          <m:sub>
                            <m:r>
                              <a:rPr lang="en-US" altLang="zh-TW" sz="3200" i="1" smtClean="0">
                                <a:solidFill>
                                  <a:prstClr val="black"/>
                                </a:solidFill>
                                <a:latin typeface="Cambria Math" panose="02040503050406030204" pitchFamily="18" charset="0"/>
                              </a:rPr>
                              <m:t>1</m:t>
                            </m:r>
                          </m:sub>
                        </m:sSub>
                      </m:den>
                    </m:f>
                    <m:func>
                      <m:funcPr>
                        <m:ctrlPr>
                          <a:rPr lang="en-US" altLang="zh-TW" sz="3200" i="1">
                            <a:solidFill>
                              <a:prstClr val="black"/>
                            </a:solidFill>
                            <a:latin typeface="Cambria Math" panose="02040503050406030204" pitchFamily="18" charset="0"/>
                          </a:rPr>
                        </m:ctrlPr>
                      </m:funcPr>
                      <m:fName>
                        <m:r>
                          <m:rPr>
                            <m:sty m:val="p"/>
                          </m:rPr>
                          <a:rPr lang="en-US" altLang="zh-TW" sz="3200">
                            <a:solidFill>
                              <a:prstClr val="black"/>
                            </a:solidFill>
                            <a:latin typeface="Cambria Math" panose="02040503050406030204" pitchFamily="18" charset="0"/>
                          </a:rPr>
                          <m:t>ln</m:t>
                        </m:r>
                      </m:fName>
                      <m:e>
                        <m:r>
                          <a:rPr lang="en-US" altLang="zh-TW" sz="3200" i="1">
                            <a:solidFill>
                              <a:prstClr val="black"/>
                            </a:solidFill>
                            <a:latin typeface="Cambria Math" panose="02040503050406030204" pitchFamily="18" charset="0"/>
                          </a:rPr>
                          <m:t>[</m:t>
                        </m:r>
                        <m:f>
                          <m:fPr>
                            <m:ctrlPr>
                              <a:rPr lang="en-US" altLang="zh-TW" sz="3200" i="1">
                                <a:solidFill>
                                  <a:prstClr val="black"/>
                                </a:solidFill>
                                <a:latin typeface="Cambria Math" panose="02040503050406030204" pitchFamily="18" charset="0"/>
                              </a:rPr>
                            </m:ctrlPr>
                          </m:fPr>
                          <m:num>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1</m:t>
                                </m:r>
                              </m:sub>
                            </m:sSub>
                            <m:r>
                              <a:rPr lang="en-US" altLang="zh-TW" sz="3200" i="1">
                                <a:latin typeface="Cambria Math"/>
                              </a:rPr>
                              <m:t>+</m:t>
                            </m:r>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2</m:t>
                                </m:r>
                              </m:sub>
                            </m:sSub>
                            <m:r>
                              <a:rPr lang="en-US" altLang="zh-TW" sz="3200" i="1">
                                <a:latin typeface="Cambria Math" panose="02040503050406030204" pitchFamily="18" charset="0"/>
                              </a:rPr>
                              <m:t>+(1−</m:t>
                            </m:r>
                            <m:r>
                              <a:rPr lang="en-US" altLang="zh-TW" sz="3200" i="1">
                                <a:latin typeface="Cambria Math" panose="02040503050406030204" pitchFamily="18" charset="0"/>
                              </a:rPr>
                              <m:t>𝑡𝑎𝑥</m:t>
                            </m:r>
                            <m:r>
                              <a:rPr lang="en-US" altLang="zh-TW" sz="3200" i="1">
                                <a:latin typeface="Cambria Math" panose="02040503050406030204" pitchFamily="18" charset="0"/>
                              </a:rPr>
                              <m:t>)(</m:t>
                            </m:r>
                            <m:sSub>
                              <m:sSubPr>
                                <m:ctrlPr>
                                  <a:rPr lang="en-US" altLang="zh-TW" sz="3200" i="1">
                                    <a:latin typeface="Cambria Math" panose="02040503050406030204" pitchFamily="18" charset="0"/>
                                  </a:rPr>
                                </m:ctrlPr>
                              </m:sSubPr>
                              <m:e>
                                <m:r>
                                  <a:rPr lang="en-US" altLang="zh-TW" sz="3200" i="1">
                                    <a:latin typeface="Cambria Math"/>
                                  </a:rPr>
                                  <m:t>𝐶</m:t>
                                </m:r>
                              </m:e>
                              <m:sub>
                                <m:r>
                                  <a:rPr lang="en-US" altLang="zh-TW" sz="3200" i="1">
                                    <a:latin typeface="Cambria Math" panose="02040503050406030204" pitchFamily="18" charset="0"/>
                                  </a:rPr>
                                  <m:t>1</m:t>
                                </m:r>
                              </m:sub>
                            </m:sSub>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1</m:t>
                                </m:r>
                              </m:sub>
                            </m:sSub>
                            <m:r>
                              <a:rPr lang="en-US" altLang="zh-TW" sz="3200" i="1">
                                <a:latin typeface="Cambria Math"/>
                              </a:rPr>
                              <m:t>𝑇</m:t>
                            </m:r>
                            <m:r>
                              <a:rPr lang="en-US" altLang="zh-TW" sz="3200" i="1">
                                <a:latin typeface="Cambria Math"/>
                              </a:rPr>
                              <m:t>+</m:t>
                            </m:r>
                            <m:sSub>
                              <m:sSubPr>
                                <m:ctrlPr>
                                  <a:rPr lang="en-US" altLang="zh-TW" sz="3200" i="1">
                                    <a:latin typeface="Cambria Math" panose="02040503050406030204" pitchFamily="18" charset="0"/>
                                  </a:rPr>
                                </m:ctrlPr>
                              </m:sSubPr>
                              <m:e>
                                <m:r>
                                  <a:rPr lang="en-US" altLang="zh-TW" sz="3200" i="1">
                                    <a:latin typeface="Cambria Math"/>
                                  </a:rPr>
                                  <m:t>𝐶</m:t>
                                </m:r>
                              </m:e>
                              <m:sub>
                                <m:r>
                                  <a:rPr lang="en-US" altLang="zh-TW" sz="3200" i="1">
                                    <a:latin typeface="Cambria Math"/>
                                  </a:rPr>
                                  <m:t>2</m:t>
                                </m:r>
                              </m:sub>
                            </m:sSub>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2</m:t>
                                </m:r>
                              </m:sub>
                            </m:sSub>
                            <m:r>
                              <a:rPr lang="en-US" altLang="zh-TW" sz="3200" i="1">
                                <a:latin typeface="Cambria Math"/>
                              </a:rPr>
                              <m:t>𝑇</m:t>
                            </m:r>
                            <m:r>
                              <a:rPr lang="en-US" altLang="zh-TW" sz="3200" i="1">
                                <a:latin typeface="Cambria Math" panose="02040503050406030204" pitchFamily="18" charset="0"/>
                              </a:rPr>
                              <m:t>)</m:t>
                            </m:r>
                            <m:r>
                              <m:rPr>
                                <m:nor/>
                              </m:rPr>
                              <a:rPr lang="zh-TW" altLang="en-US" sz="3200" dirty="0"/>
                              <m:t> </m:t>
                            </m:r>
                          </m:num>
                          <m:den>
                            <m:r>
                              <a:rPr lang="en-US" altLang="zh-TW" sz="3200" i="1">
                                <a:solidFill>
                                  <a:prstClr val="black"/>
                                </a:solidFill>
                                <a:latin typeface="Cambria Math" panose="02040503050406030204" pitchFamily="18" charset="0"/>
                              </a:rPr>
                              <m:t>𝑉</m:t>
                            </m:r>
                            <m:d>
                              <m:dPr>
                                <m:ctrlPr>
                                  <a:rPr lang="en-US" altLang="zh-TW" sz="3200" i="1">
                                    <a:solidFill>
                                      <a:prstClr val="black"/>
                                    </a:solidFill>
                                    <a:latin typeface="Cambria Math" panose="02040503050406030204" pitchFamily="18" charset="0"/>
                                  </a:rPr>
                                </m:ctrlPr>
                              </m:dPr>
                              <m:e>
                                <m:r>
                                  <a:rPr lang="en-US" altLang="zh-TW" sz="3200" i="1">
                                    <a:solidFill>
                                      <a:prstClr val="black"/>
                                    </a:solidFill>
                                    <a:latin typeface="Cambria Math" panose="02040503050406030204" pitchFamily="18" charset="0"/>
                                  </a:rPr>
                                  <m:t>0</m:t>
                                </m:r>
                              </m:e>
                            </m:d>
                          </m:den>
                        </m:f>
                      </m:e>
                    </m:func>
                    <m:r>
                      <a:rPr lang="en-US" altLang="zh-TW" sz="3200" i="1">
                        <a:solidFill>
                          <a:prstClr val="black"/>
                        </a:solidFill>
                        <a:latin typeface="Cambria Math" panose="02040503050406030204" pitchFamily="18" charset="0"/>
                      </a:rPr>
                      <m:t>]</m:t>
                    </m:r>
                  </m:oMath>
                </a14:m>
                <a:r>
                  <a:rPr lang="en-US" altLang="zh-TW" sz="3200" dirty="0">
                    <a:latin typeface="微軟正黑體" panose="020B0604030504040204" pitchFamily="34" charset="-120"/>
                    <a:ea typeface="微軟正黑體" panose="020B0604030504040204" pitchFamily="34" charset="-120"/>
                  </a:rPr>
                  <a:t> ,</a:t>
                </a:r>
                <a:r>
                  <a:rPr lang="zh-TW" altLang="en-US" sz="3200" dirty="0">
                    <a:latin typeface="微軟正黑體" panose="020B0604030504040204" pitchFamily="34" charset="-120"/>
                    <a:ea typeface="微軟正黑體" panose="020B0604030504040204" pitchFamily="34" charset="-120"/>
                  </a:rPr>
                  <a:t>令為 </a:t>
                </a:r>
                <a14:m>
                  <m:oMath xmlns:m="http://schemas.openxmlformats.org/officeDocument/2006/math">
                    <m:sSub>
                      <m:sSubPr>
                        <m:ctrlPr>
                          <a:rPr lang="en-US" altLang="zh-TW" sz="3200" i="1">
                            <a:latin typeface="Cambria Math" panose="02040503050406030204" pitchFamily="18" charset="0"/>
                            <a:ea typeface="微軟正黑體" panose="020B0604030504040204" pitchFamily="34" charset="-120"/>
                          </a:rPr>
                        </m:ctrlPr>
                      </m:sSubPr>
                      <m:e>
                        <m:r>
                          <a:rPr lang="zh-TW" altLang="en-US" sz="3200" i="1">
                            <a:latin typeface="Cambria Math" panose="02040503050406030204" pitchFamily="18" charset="0"/>
                            <a:ea typeface="微軟正黑體" panose="020B0604030504040204" pitchFamily="34" charset="-120"/>
                          </a:rPr>
                          <m:t>𝒹</m:t>
                        </m:r>
                      </m:e>
                      <m:sub>
                        <m:r>
                          <a:rPr lang="en-US" altLang="zh-TW" sz="3200" i="1" smtClean="0">
                            <a:latin typeface="Cambria Math" panose="02040503050406030204" pitchFamily="18" charset="0"/>
                            <a:ea typeface="微軟正黑體" panose="020B0604030504040204" pitchFamily="34" charset="-120"/>
                          </a:rPr>
                          <m:t>2</m:t>
                        </m:r>
                      </m:sub>
                    </m:sSub>
                  </m:oMath>
                </a14:m>
                <a:endParaRPr lang="zh-TW" altLang="en-US" sz="3200" dirty="0"/>
              </a:p>
            </p:txBody>
          </p:sp>
        </mc:Choice>
        <mc:Fallback xmlns="">
          <p:sp>
            <p:nvSpPr>
              <p:cNvPr id="5" name="矩形 4"/>
              <p:cNvSpPr>
                <a:spLocks noRot="1" noChangeAspect="1" noMove="1" noResize="1" noEditPoints="1" noAdjustHandles="1" noChangeArrowheads="1" noChangeShapeType="1" noTextEdit="1"/>
              </p:cNvSpPr>
              <p:nvPr/>
            </p:nvSpPr>
            <p:spPr>
              <a:xfrm>
                <a:off x="645184" y="2315803"/>
                <a:ext cx="10470524" cy="2501903"/>
              </a:xfrm>
              <a:prstGeom prst="rect">
                <a:avLst/>
              </a:prstGeom>
              <a:blipFill rotWithShape="0">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645184" y="1275103"/>
                <a:ext cx="7958782" cy="584775"/>
              </a:xfrm>
              <a:prstGeom prst="rect">
                <a:avLst/>
              </a:prstGeom>
            </p:spPr>
            <p:txBody>
              <a:bodyPr wrap="none">
                <a:spAutoFit/>
              </a:bodyPr>
              <a:lstStyle/>
              <a:p>
                <a:r>
                  <a:rPr lang="en-US" altLang="zh-TW" sz="3200" dirty="0" smtClean="0">
                    <a:solidFill>
                      <a:srgbClr val="000000"/>
                    </a:solidFill>
                    <a:latin typeface="微軟正黑體" panose="020B0604030504040204" pitchFamily="34" charset="-120"/>
                    <a:ea typeface="微軟正黑體" panose="020B0604030504040204" pitchFamily="34" charset="-120"/>
                  </a:rPr>
                  <a:t>2.</a:t>
                </a:r>
                <a:r>
                  <a:rPr lang="zh-TW" altLang="en-US" sz="3200" dirty="0" smtClean="0">
                    <a:solidFill>
                      <a:srgbClr val="000000"/>
                    </a:solidFill>
                    <a:latin typeface="微軟正黑體" panose="020B0604030504040204" pitchFamily="34" charset="-120"/>
                    <a:ea typeface="微軟正黑體" panose="020B0604030504040204" pitchFamily="34" charset="-120"/>
                  </a:rPr>
                  <a:t> 存活與破產邊</a:t>
                </a:r>
                <a:r>
                  <a:rPr lang="zh-TW" altLang="en-US" sz="3200" dirty="0">
                    <a:solidFill>
                      <a:srgbClr val="000000"/>
                    </a:solidFill>
                    <a:latin typeface="微軟正黑體" panose="020B0604030504040204" pitchFamily="34" charset="-120"/>
                    <a:ea typeface="微軟正黑體" panose="020B0604030504040204" pitchFamily="34" charset="-120"/>
                  </a:rPr>
                  <a:t>界</a:t>
                </a:r>
                <a:r>
                  <a:rPr lang="en-US" altLang="zh-TW" sz="3200" dirty="0" smtClean="0">
                    <a:solidFill>
                      <a:srgbClr val="000000"/>
                    </a:solidFill>
                    <a:latin typeface="微軟正黑體" panose="020B0604030504040204" pitchFamily="34" charset="-120"/>
                    <a:ea typeface="微軟正黑體" panose="020B0604030504040204" pitchFamily="34" charset="-120"/>
                  </a:rPr>
                  <a:t>(CC</a:t>
                </a:r>
                <a:r>
                  <a:rPr lang="zh-TW" altLang="en-US" sz="3200" dirty="0" smtClean="0">
                    <a:solidFill>
                      <a:srgbClr val="000000"/>
                    </a:solidFill>
                    <a:latin typeface="微軟正黑體" panose="020B0604030504040204" pitchFamily="34" charset="-120"/>
                    <a:ea typeface="微軟正黑體" panose="020B0604030504040204" pitchFamily="34" charset="-120"/>
                  </a:rPr>
                  <a:t>未轉換 </a:t>
                </a:r>
                <a:r>
                  <a:rPr lang="en-US" altLang="zh-TW" sz="3200" dirty="0" smtClean="0">
                    <a:solidFill>
                      <a:srgbClr val="000000"/>
                    </a:solidFill>
                    <a:latin typeface="微軟正黑體" panose="020B0604030504040204" pitchFamily="34" charset="-120"/>
                    <a:ea typeface="微軟正黑體" panose="020B0604030504040204" pitchFamily="34" charset="-120"/>
                  </a:rPr>
                  <a:t>, </a:t>
                </a:r>
                <a14:m>
                  <m:oMath xmlns:m="http://schemas.openxmlformats.org/officeDocument/2006/math">
                    <m:r>
                      <a:rPr lang="en-US" altLang="zh-TW" sz="3200" i="1" dirty="0">
                        <a:latin typeface="Cambria Math" panose="02040503050406030204" pitchFamily="18" charset="0"/>
                      </a:rPr>
                      <m:t>𝐼</m:t>
                    </m:r>
                    <m:d>
                      <m:dPr>
                        <m:ctrlPr>
                          <a:rPr lang="en-US" altLang="zh-TW" sz="3200" i="1" dirty="0">
                            <a:latin typeface="Cambria Math" panose="02040503050406030204" pitchFamily="18" charset="0"/>
                          </a:rPr>
                        </m:ctrlPr>
                      </m:dPr>
                      <m:e>
                        <m:r>
                          <a:rPr lang="en-US" altLang="zh-TW" sz="3200" i="1" dirty="0">
                            <a:latin typeface="Cambria Math" panose="02040503050406030204" pitchFamily="18" charset="0"/>
                          </a:rPr>
                          <m:t>𝑇</m:t>
                        </m:r>
                      </m:e>
                    </m:d>
                    <m:r>
                      <a:rPr lang="en-US" altLang="zh-TW" sz="3200" i="1" dirty="0" smtClean="0">
                        <a:latin typeface="Cambria Math" panose="02040503050406030204" pitchFamily="18" charset="0"/>
                        <a:ea typeface="Cambria Math" panose="02040503050406030204" pitchFamily="18" charset="0"/>
                      </a:rPr>
                      <m:t>&gt;</m:t>
                    </m:r>
                    <m:r>
                      <a:rPr lang="en-US" altLang="zh-TW" sz="3200" i="1" dirty="0">
                        <a:latin typeface="Cambria Math" panose="02040503050406030204" pitchFamily="18" charset="0"/>
                        <a:ea typeface="Cambria Math" panose="02040503050406030204" pitchFamily="18" charset="0"/>
                      </a:rPr>
                      <m:t>𝐼</m:t>
                    </m:r>
                    <m:d>
                      <m:dPr>
                        <m:ctrlPr>
                          <a:rPr lang="en-US" altLang="zh-TW" sz="3200" i="1" dirty="0">
                            <a:latin typeface="Cambria Math" panose="02040503050406030204" pitchFamily="18" charset="0"/>
                            <a:ea typeface="Cambria Math" panose="02040503050406030204" pitchFamily="18" charset="0"/>
                          </a:rPr>
                        </m:ctrlPr>
                      </m:dPr>
                      <m:e>
                        <m:r>
                          <a:rPr lang="en-US" altLang="zh-TW" sz="3200" i="1" dirty="0">
                            <a:latin typeface="Cambria Math" panose="02040503050406030204" pitchFamily="18" charset="0"/>
                            <a:ea typeface="Cambria Math" panose="02040503050406030204" pitchFamily="18" charset="0"/>
                          </a:rPr>
                          <m:t>0</m:t>
                        </m:r>
                      </m:e>
                    </m:d>
                  </m:oMath>
                </a14:m>
                <a:r>
                  <a:rPr lang="en-US" altLang="zh-TW" sz="3200" dirty="0" smtClean="0">
                    <a:solidFill>
                      <a:srgbClr val="000000"/>
                    </a:solidFill>
                    <a:latin typeface="微軟正黑體" panose="020B0604030504040204" pitchFamily="34" charset="-120"/>
                    <a:ea typeface="微軟正黑體" panose="020B0604030504040204" pitchFamily="34" charset="-120"/>
                  </a:rPr>
                  <a:t>) </a:t>
                </a:r>
                <a:endParaRPr lang="zh-TW" altLang="en-US" sz="3200" dirty="0">
                  <a:latin typeface="微軟正黑體" panose="020B0604030504040204" pitchFamily="34" charset="-120"/>
                  <a:ea typeface="微軟正黑體" panose="020B0604030504040204" pitchFamily="34" charset="-120"/>
                </a:endParaRPr>
              </a:p>
            </p:txBody>
          </p:sp>
        </mc:Choice>
        <mc:Fallback xmlns="">
          <p:sp>
            <p:nvSpPr>
              <p:cNvPr id="6" name="矩形 5"/>
              <p:cNvSpPr>
                <a:spLocks noRot="1" noChangeAspect="1" noMove="1" noResize="1" noEditPoints="1" noAdjustHandles="1" noChangeArrowheads="1" noChangeShapeType="1" noTextEdit="1"/>
              </p:cNvSpPr>
              <p:nvPr/>
            </p:nvSpPr>
            <p:spPr>
              <a:xfrm>
                <a:off x="645184" y="1275103"/>
                <a:ext cx="7958782" cy="584775"/>
              </a:xfrm>
              <a:prstGeom prst="rect">
                <a:avLst/>
              </a:prstGeom>
              <a:blipFill rotWithShape="0">
                <a:blip r:embed="rId3"/>
                <a:stretch>
                  <a:fillRect l="-1992" t="-13542" r="-920" b="-33333"/>
                </a:stretch>
              </a:blipFill>
            </p:spPr>
            <p:txBody>
              <a:bodyPr/>
              <a:lstStyle/>
              <a:p>
                <a:r>
                  <a:rPr lang="zh-TW" altLang="en-US">
                    <a:noFill/>
                  </a:rPr>
                  <a:t> </a:t>
                </a:r>
              </a:p>
            </p:txBody>
          </p:sp>
        </mc:Fallback>
      </mc:AlternateContent>
      <p:sp>
        <p:nvSpPr>
          <p:cNvPr id="7" name="標題 1"/>
          <p:cNvSpPr txBox="1">
            <a:spLocks/>
          </p:cNvSpPr>
          <p:nvPr/>
        </p:nvSpPr>
        <p:spPr>
          <a:xfrm>
            <a:off x="347730" y="283333"/>
            <a:ext cx="11844270" cy="79252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TW" altLang="en-US" sz="4800" dirty="0" smtClean="0">
                <a:latin typeface="微軟正黑體" panose="020B0604030504040204" pitchFamily="34" charset="-120"/>
                <a:ea typeface="微軟正黑體" panose="020B0604030504040204" pitchFamily="34" charset="-120"/>
                <a:cs typeface="Arial" pitchFamily="34" charset="0"/>
              </a:rPr>
              <a:t>邊</a:t>
            </a:r>
            <a:r>
              <a:rPr lang="zh-TW" altLang="en-US" sz="4800" dirty="0">
                <a:latin typeface="微軟正黑體" panose="020B0604030504040204" pitchFamily="34" charset="-120"/>
                <a:ea typeface="微軟正黑體" panose="020B0604030504040204" pitchFamily="34" charset="-120"/>
                <a:cs typeface="Arial" pitchFamily="34" charset="0"/>
              </a:rPr>
              <a:t>界</a:t>
            </a:r>
            <a:r>
              <a:rPr lang="zh-TW" altLang="en-US" sz="4800" dirty="0" smtClean="0">
                <a:latin typeface="微軟正黑體" panose="020B0604030504040204" pitchFamily="34" charset="-120"/>
                <a:ea typeface="微軟正黑體" panose="020B0604030504040204" pitchFamily="34" charset="-120"/>
                <a:cs typeface="Arial" pitchFamily="34" charset="0"/>
              </a:rPr>
              <a:t>設定</a:t>
            </a:r>
            <a:r>
              <a:rPr lang="en-US" altLang="zh-TW" sz="4800" dirty="0" smtClean="0">
                <a:latin typeface="微軟正黑體" panose="020B0604030504040204" pitchFamily="34" charset="-120"/>
                <a:ea typeface="微軟正黑體" panose="020B0604030504040204" pitchFamily="34" charset="-120"/>
                <a:cs typeface="Arial" pitchFamily="34" charset="0"/>
              </a:rPr>
              <a:t>(2/5)</a:t>
            </a:r>
            <a:endParaRPr lang="zh-TW" altLang="en-US" sz="48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86253212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矩形 4"/>
              <p:cNvSpPr/>
              <p:nvPr/>
            </p:nvSpPr>
            <p:spPr>
              <a:xfrm>
                <a:off x="645184" y="2315803"/>
                <a:ext cx="10470524" cy="2501903"/>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altLang="zh-TW" sz="3200" i="1" smtClean="0">
                          <a:solidFill>
                            <a:schemeClr val="tx1"/>
                          </a:solidFill>
                          <a:latin typeface="Cambria Math" panose="02040503050406030204" pitchFamily="18" charset="0"/>
                        </a:rPr>
                        <m:t>𝑉</m:t>
                      </m:r>
                      <m:d>
                        <m:dPr>
                          <m:ctrlPr>
                            <a:rPr lang="en-US" altLang="zh-TW" sz="3200" i="1">
                              <a:solidFill>
                                <a:schemeClr val="tx1"/>
                              </a:solidFill>
                              <a:latin typeface="Cambria Math" panose="02040503050406030204" pitchFamily="18" charset="0"/>
                            </a:rPr>
                          </m:ctrlPr>
                        </m:dPr>
                        <m:e>
                          <m:r>
                            <a:rPr lang="en-US" altLang="zh-TW" sz="3200" i="1">
                              <a:solidFill>
                                <a:schemeClr val="tx1"/>
                              </a:solidFill>
                              <a:latin typeface="Cambria Math" panose="02040503050406030204" pitchFamily="18" charset="0"/>
                            </a:rPr>
                            <m:t>𝑇</m:t>
                          </m:r>
                        </m:e>
                      </m:d>
                      <m:r>
                        <a:rPr lang="en-US" altLang="zh-TW" sz="3200" i="1">
                          <a:solidFill>
                            <a:schemeClr val="tx1"/>
                          </a:solidFill>
                          <a:latin typeface="Cambria Math" panose="02040503050406030204" pitchFamily="18" charset="0"/>
                        </a:rPr>
                        <m:t>=</m:t>
                      </m:r>
                      <m:sSub>
                        <m:sSubPr>
                          <m:ctrlPr>
                            <a:rPr lang="en-US" altLang="zh-TW" sz="3200" i="1">
                              <a:solidFill>
                                <a:schemeClr val="tx1"/>
                              </a:solidFill>
                              <a:latin typeface="Cambria Math" panose="02040503050406030204" pitchFamily="18" charset="0"/>
                            </a:rPr>
                          </m:ctrlPr>
                        </m:sSubPr>
                        <m:e>
                          <m:r>
                            <a:rPr lang="en-US" altLang="zh-TW" sz="3200" i="1">
                              <a:solidFill>
                                <a:schemeClr val="tx1"/>
                              </a:solidFill>
                              <a:latin typeface="Cambria Math"/>
                            </a:rPr>
                            <m:t>𝐷</m:t>
                          </m:r>
                        </m:e>
                        <m:sub>
                          <m:r>
                            <a:rPr lang="en-US" altLang="zh-TW" sz="3200" i="1">
                              <a:solidFill>
                                <a:schemeClr val="tx1"/>
                              </a:solidFill>
                              <a:latin typeface="Cambria Math"/>
                            </a:rPr>
                            <m:t>1</m:t>
                          </m:r>
                        </m:sub>
                      </m:sSub>
                      <m:r>
                        <a:rPr lang="en-US" altLang="zh-TW" sz="3200" i="1">
                          <a:solidFill>
                            <a:schemeClr val="tx1"/>
                          </a:solidFill>
                          <a:latin typeface="Cambria Math"/>
                        </a:rPr>
                        <m:t>+(1−</m:t>
                      </m:r>
                      <m:r>
                        <a:rPr lang="en-US" altLang="zh-TW" sz="3200" i="1">
                          <a:solidFill>
                            <a:schemeClr val="tx1"/>
                          </a:solidFill>
                          <a:latin typeface="Cambria Math"/>
                        </a:rPr>
                        <m:t>𝑡𝑎𝑥</m:t>
                      </m:r>
                      <m:r>
                        <a:rPr lang="en-US" altLang="zh-TW" sz="3200" i="1">
                          <a:solidFill>
                            <a:schemeClr val="tx1"/>
                          </a:solidFill>
                          <a:latin typeface="Cambria Math"/>
                        </a:rPr>
                        <m:t>)(</m:t>
                      </m:r>
                      <m:sSub>
                        <m:sSubPr>
                          <m:ctrlPr>
                            <a:rPr lang="en-US" altLang="zh-TW" sz="3200" i="1">
                              <a:solidFill>
                                <a:schemeClr val="tx1"/>
                              </a:solidFill>
                              <a:latin typeface="Cambria Math" panose="02040503050406030204" pitchFamily="18" charset="0"/>
                            </a:rPr>
                          </m:ctrlPr>
                        </m:sSubPr>
                        <m:e>
                          <m:r>
                            <a:rPr lang="en-US" altLang="zh-TW" sz="3200" i="1">
                              <a:solidFill>
                                <a:schemeClr val="tx1"/>
                              </a:solidFill>
                              <a:latin typeface="Cambria Math"/>
                            </a:rPr>
                            <m:t>𝐶</m:t>
                          </m:r>
                        </m:e>
                        <m:sub>
                          <m:r>
                            <a:rPr lang="en-US" altLang="zh-TW" sz="3200" i="1">
                              <a:solidFill>
                                <a:schemeClr val="tx1"/>
                              </a:solidFill>
                              <a:latin typeface="Cambria Math"/>
                            </a:rPr>
                            <m:t>1</m:t>
                          </m:r>
                        </m:sub>
                      </m:sSub>
                      <m:sSub>
                        <m:sSubPr>
                          <m:ctrlPr>
                            <a:rPr lang="en-US" altLang="zh-TW" sz="3200" i="1">
                              <a:solidFill>
                                <a:schemeClr val="tx1"/>
                              </a:solidFill>
                              <a:latin typeface="Cambria Math" panose="02040503050406030204" pitchFamily="18" charset="0"/>
                            </a:rPr>
                          </m:ctrlPr>
                        </m:sSubPr>
                        <m:e>
                          <m:r>
                            <a:rPr lang="en-US" altLang="zh-TW" sz="3200" i="1">
                              <a:solidFill>
                                <a:schemeClr val="tx1"/>
                              </a:solidFill>
                              <a:latin typeface="Cambria Math"/>
                            </a:rPr>
                            <m:t>𝐷</m:t>
                          </m:r>
                        </m:e>
                        <m:sub>
                          <m:r>
                            <a:rPr lang="en-US" altLang="zh-TW" sz="3200" i="1">
                              <a:solidFill>
                                <a:schemeClr val="tx1"/>
                              </a:solidFill>
                              <a:latin typeface="Cambria Math"/>
                            </a:rPr>
                            <m:t>1</m:t>
                          </m:r>
                        </m:sub>
                      </m:sSub>
                      <m:r>
                        <a:rPr lang="en-US" altLang="zh-TW" sz="3200" i="1">
                          <a:solidFill>
                            <a:schemeClr val="tx1"/>
                          </a:solidFill>
                          <a:latin typeface="Cambria Math"/>
                        </a:rPr>
                        <m:t>𝑇</m:t>
                      </m:r>
                      <m:r>
                        <a:rPr lang="en-US" altLang="zh-TW" sz="3200" i="1">
                          <a:solidFill>
                            <a:schemeClr val="tx1"/>
                          </a:solidFill>
                          <a:latin typeface="Cambria Math"/>
                        </a:rPr>
                        <m:t>+</m:t>
                      </m:r>
                      <m:sSub>
                        <m:sSubPr>
                          <m:ctrlPr>
                            <a:rPr lang="en-US" altLang="zh-TW" sz="3200" i="1">
                              <a:solidFill>
                                <a:schemeClr val="tx1"/>
                              </a:solidFill>
                              <a:latin typeface="Cambria Math" panose="02040503050406030204" pitchFamily="18" charset="0"/>
                            </a:rPr>
                          </m:ctrlPr>
                        </m:sSubPr>
                        <m:e>
                          <m:r>
                            <a:rPr lang="en-US" altLang="zh-TW" sz="3200" i="1">
                              <a:solidFill>
                                <a:schemeClr val="tx1"/>
                              </a:solidFill>
                              <a:latin typeface="Cambria Math"/>
                            </a:rPr>
                            <m:t>𝐶</m:t>
                          </m:r>
                        </m:e>
                        <m:sub>
                          <m:r>
                            <a:rPr lang="en-US" altLang="zh-TW" sz="3200" i="1">
                              <a:solidFill>
                                <a:schemeClr val="tx1"/>
                              </a:solidFill>
                              <a:latin typeface="Cambria Math"/>
                            </a:rPr>
                            <m:t>2</m:t>
                          </m:r>
                        </m:sub>
                      </m:sSub>
                      <m:sSub>
                        <m:sSubPr>
                          <m:ctrlPr>
                            <a:rPr lang="en-US" altLang="zh-TW" sz="3200" i="1">
                              <a:solidFill>
                                <a:schemeClr val="tx1"/>
                              </a:solidFill>
                              <a:latin typeface="Cambria Math" panose="02040503050406030204" pitchFamily="18" charset="0"/>
                            </a:rPr>
                          </m:ctrlPr>
                        </m:sSubPr>
                        <m:e>
                          <m:r>
                            <a:rPr lang="en-US" altLang="zh-TW" sz="3200" i="1">
                              <a:solidFill>
                                <a:schemeClr val="tx1"/>
                              </a:solidFill>
                              <a:latin typeface="Cambria Math"/>
                            </a:rPr>
                            <m:t>𝐷</m:t>
                          </m:r>
                        </m:e>
                        <m:sub>
                          <m:r>
                            <a:rPr lang="en-US" altLang="zh-TW" sz="3200" i="1">
                              <a:solidFill>
                                <a:schemeClr val="tx1"/>
                              </a:solidFill>
                              <a:latin typeface="Cambria Math"/>
                            </a:rPr>
                            <m:t>2</m:t>
                          </m:r>
                        </m:sub>
                      </m:sSub>
                      <m:r>
                        <a:rPr lang="en-US" altLang="zh-TW" sz="3200" i="1">
                          <a:solidFill>
                            <a:schemeClr val="tx1"/>
                          </a:solidFill>
                          <a:latin typeface="Cambria Math"/>
                        </a:rPr>
                        <m:t>𝑇</m:t>
                      </m:r>
                      <m:r>
                        <a:rPr lang="en-US" altLang="zh-TW" sz="3200" i="1">
                          <a:solidFill>
                            <a:schemeClr val="tx1"/>
                          </a:solidFill>
                          <a:latin typeface="Cambria Math"/>
                        </a:rPr>
                        <m:t>)</m:t>
                      </m:r>
                    </m:oMath>
                  </m:oMathPara>
                </a14:m>
                <a:endParaRPr lang="zh-TW" altLang="en-US" sz="3200" dirty="0">
                  <a:solidFill>
                    <a:schemeClr val="tx1"/>
                  </a:solidFill>
                  <a:latin typeface="微軟正黑體" panose="020B0604030504040204" pitchFamily="34" charset="-120"/>
                  <a:ea typeface="微軟正黑體" panose="020B0604030504040204" pitchFamily="34" charset="-120"/>
                </a:endParaRPr>
              </a:p>
              <a:p>
                <a:pPr/>
                <a14:m>
                  <m:oMathPara xmlns:m="http://schemas.openxmlformats.org/officeDocument/2006/math">
                    <m:oMathParaPr>
                      <m:jc m:val="left"/>
                    </m:oMathParaPr>
                    <m:oMath xmlns:m="http://schemas.openxmlformats.org/officeDocument/2006/math">
                      <m:r>
                        <a:rPr lang="en-US" altLang="zh-TW" sz="3600" i="1">
                          <a:latin typeface="Cambria Math" panose="02040503050406030204" pitchFamily="18" charset="0"/>
                          <a:ea typeface="Cambria Math" panose="02040503050406030204" pitchFamily="18" charset="0"/>
                        </a:rPr>
                        <m:t>⇒</m:t>
                      </m:r>
                      <m:r>
                        <a:rPr lang="en-US" altLang="zh-TW" sz="3200" i="1">
                          <a:solidFill>
                            <a:prstClr val="black"/>
                          </a:solidFill>
                          <a:latin typeface="Cambria Math" panose="02040503050406030204" pitchFamily="18" charset="0"/>
                        </a:rPr>
                        <m:t>𝑉</m:t>
                      </m:r>
                      <m:d>
                        <m:dPr>
                          <m:ctrlPr>
                            <a:rPr lang="en-US" altLang="zh-TW" sz="3200" i="1">
                              <a:solidFill>
                                <a:prstClr val="black"/>
                              </a:solidFill>
                              <a:latin typeface="Cambria Math" panose="02040503050406030204" pitchFamily="18" charset="0"/>
                            </a:rPr>
                          </m:ctrlPr>
                        </m:dPr>
                        <m:e>
                          <m:r>
                            <a:rPr lang="en-US" altLang="zh-TW" sz="3200" i="1">
                              <a:solidFill>
                                <a:prstClr val="black"/>
                              </a:solidFill>
                              <a:latin typeface="Cambria Math" panose="02040503050406030204" pitchFamily="18" charset="0"/>
                            </a:rPr>
                            <m:t>0</m:t>
                          </m:r>
                        </m:e>
                      </m:d>
                      <m:sSup>
                        <m:sSupPr>
                          <m:ctrlPr>
                            <a:rPr lang="en-US" altLang="zh-TW" sz="3200" i="1">
                              <a:solidFill>
                                <a:prstClr val="black"/>
                              </a:solidFill>
                              <a:latin typeface="Cambria Math" panose="02040503050406030204" pitchFamily="18" charset="0"/>
                            </a:rPr>
                          </m:ctrlPr>
                        </m:sSupPr>
                        <m:e>
                          <m:r>
                            <a:rPr lang="en-US" altLang="zh-TW" sz="3200" i="1">
                              <a:solidFill>
                                <a:prstClr val="black"/>
                              </a:solidFill>
                              <a:latin typeface="Cambria Math" panose="02040503050406030204" pitchFamily="18" charset="0"/>
                              <a:ea typeface="Cambria Math" panose="02040503050406030204" pitchFamily="18" charset="0"/>
                            </a:rPr>
                            <m:t>ℯ</m:t>
                          </m:r>
                        </m:e>
                        <m:sup>
                          <m:sSub>
                            <m:sSubPr>
                              <m:ctrlPr>
                                <a:rPr lang="en-US" altLang="zh-TW" sz="3200" i="1">
                                  <a:solidFill>
                                    <a:prstClr val="black"/>
                                  </a:solidFill>
                                  <a:latin typeface="Cambria Math" panose="02040503050406030204" pitchFamily="18" charset="0"/>
                                </a:rPr>
                              </m:ctrlPr>
                            </m:sSubPr>
                            <m:e>
                              <m:r>
                                <a:rPr lang="zh-TW" altLang="en-US" sz="3200" i="1">
                                  <a:solidFill>
                                    <a:prstClr val="black"/>
                                  </a:solidFill>
                                  <a:latin typeface="Cambria Math" panose="02040503050406030204" pitchFamily="18" charset="0"/>
                                </a:rPr>
                                <m:t>𝜎</m:t>
                              </m:r>
                            </m:e>
                            <m:sub>
                              <m:r>
                                <a:rPr lang="en-US" altLang="zh-TW" sz="3200" i="1">
                                  <a:solidFill>
                                    <a:prstClr val="black"/>
                                  </a:solidFill>
                                  <a:latin typeface="Cambria Math" panose="02040503050406030204" pitchFamily="18" charset="0"/>
                                </a:rPr>
                                <m:t>1</m:t>
                              </m:r>
                            </m:sub>
                          </m:sSub>
                          <m:sSub>
                            <m:sSubPr>
                              <m:ctrlPr>
                                <a:rPr lang="en-US" altLang="zh-TW" sz="3200" i="1">
                                  <a:solidFill>
                                    <a:prstClr val="black"/>
                                  </a:solidFill>
                                  <a:latin typeface="Cambria Math" panose="02040503050406030204" pitchFamily="18" charset="0"/>
                                </a:rPr>
                              </m:ctrlPr>
                            </m:sSubPr>
                            <m:e>
                              <m:r>
                                <a:rPr lang="en-US" altLang="zh-TW" sz="3200" i="1">
                                  <a:solidFill>
                                    <a:prstClr val="black"/>
                                  </a:solidFill>
                                  <a:latin typeface="Cambria Math" panose="02040503050406030204" pitchFamily="18" charset="0"/>
                                </a:rPr>
                                <m:t>𝐵</m:t>
                              </m:r>
                            </m:e>
                            <m:sub>
                              <m:r>
                                <a:rPr lang="en-US" altLang="zh-TW" sz="3200" i="1">
                                  <a:solidFill>
                                    <a:prstClr val="black"/>
                                  </a:solidFill>
                                  <a:latin typeface="Cambria Math" panose="02040503050406030204" pitchFamily="18" charset="0"/>
                                </a:rPr>
                                <m:t>1</m:t>
                              </m:r>
                            </m:sub>
                          </m:sSub>
                          <m:d>
                            <m:dPr>
                              <m:ctrlPr>
                                <a:rPr lang="en-US" altLang="zh-TW" sz="3200" i="1">
                                  <a:solidFill>
                                    <a:prstClr val="black"/>
                                  </a:solidFill>
                                  <a:latin typeface="Cambria Math" panose="02040503050406030204" pitchFamily="18" charset="0"/>
                                </a:rPr>
                              </m:ctrlPr>
                            </m:dPr>
                            <m:e>
                              <m:r>
                                <a:rPr lang="en-US" altLang="zh-TW" sz="3200" i="1">
                                  <a:solidFill>
                                    <a:prstClr val="black"/>
                                  </a:solidFill>
                                  <a:latin typeface="Cambria Math" panose="02040503050406030204" pitchFamily="18" charset="0"/>
                                </a:rPr>
                                <m:t>𝑇</m:t>
                              </m:r>
                            </m:e>
                          </m:d>
                        </m:sup>
                      </m:sSup>
                      <m:r>
                        <a:rPr lang="en-US" altLang="zh-TW" sz="3200" i="1">
                          <a:solidFill>
                            <a:prstClr val="black"/>
                          </a:solidFill>
                          <a:latin typeface="Cambria Math" panose="02040503050406030204" pitchFamily="18" charset="0"/>
                        </a:rPr>
                        <m:t>=</m:t>
                      </m:r>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1</m:t>
                          </m:r>
                        </m:sub>
                      </m:sSub>
                      <m:r>
                        <a:rPr lang="en-US" altLang="zh-TW" sz="3200" i="1">
                          <a:latin typeface="Cambria Math"/>
                        </a:rPr>
                        <m:t>+(1−</m:t>
                      </m:r>
                      <m:r>
                        <a:rPr lang="en-US" altLang="zh-TW" sz="3200" i="1">
                          <a:latin typeface="Cambria Math"/>
                        </a:rPr>
                        <m:t>𝑡𝑎𝑥</m:t>
                      </m:r>
                      <m:r>
                        <a:rPr lang="en-US" altLang="zh-TW" sz="3200" i="1">
                          <a:latin typeface="Cambria Math"/>
                        </a:rPr>
                        <m:t>)(</m:t>
                      </m:r>
                      <m:sSub>
                        <m:sSubPr>
                          <m:ctrlPr>
                            <a:rPr lang="en-US" altLang="zh-TW" sz="3200" i="1">
                              <a:latin typeface="Cambria Math" panose="02040503050406030204" pitchFamily="18" charset="0"/>
                            </a:rPr>
                          </m:ctrlPr>
                        </m:sSubPr>
                        <m:e>
                          <m:r>
                            <a:rPr lang="en-US" altLang="zh-TW" sz="3200" i="1">
                              <a:latin typeface="Cambria Math"/>
                            </a:rPr>
                            <m:t>𝐶</m:t>
                          </m:r>
                        </m:e>
                        <m:sub>
                          <m:r>
                            <a:rPr lang="en-US" altLang="zh-TW" sz="3200" i="1">
                              <a:latin typeface="Cambria Math"/>
                            </a:rPr>
                            <m:t>1</m:t>
                          </m:r>
                        </m:sub>
                      </m:sSub>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1</m:t>
                          </m:r>
                        </m:sub>
                      </m:sSub>
                      <m:r>
                        <a:rPr lang="en-US" altLang="zh-TW" sz="3200" i="1">
                          <a:latin typeface="Cambria Math"/>
                        </a:rPr>
                        <m:t>𝑇</m:t>
                      </m:r>
                      <m:r>
                        <a:rPr lang="en-US" altLang="zh-TW" sz="3200" i="1">
                          <a:latin typeface="Cambria Math"/>
                        </a:rPr>
                        <m:t>+</m:t>
                      </m:r>
                      <m:sSub>
                        <m:sSubPr>
                          <m:ctrlPr>
                            <a:rPr lang="en-US" altLang="zh-TW" sz="3200" i="1">
                              <a:latin typeface="Cambria Math" panose="02040503050406030204" pitchFamily="18" charset="0"/>
                            </a:rPr>
                          </m:ctrlPr>
                        </m:sSubPr>
                        <m:e>
                          <m:r>
                            <a:rPr lang="en-US" altLang="zh-TW" sz="3200" i="1">
                              <a:latin typeface="Cambria Math"/>
                            </a:rPr>
                            <m:t>𝐶</m:t>
                          </m:r>
                        </m:e>
                        <m:sub>
                          <m:r>
                            <a:rPr lang="en-US" altLang="zh-TW" sz="3200" i="1">
                              <a:latin typeface="Cambria Math"/>
                            </a:rPr>
                            <m:t>2</m:t>
                          </m:r>
                        </m:sub>
                      </m:sSub>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2</m:t>
                          </m:r>
                        </m:sub>
                      </m:sSub>
                      <m:r>
                        <a:rPr lang="en-US" altLang="zh-TW" sz="3200" i="1">
                          <a:latin typeface="Cambria Math"/>
                        </a:rPr>
                        <m:t>𝑇</m:t>
                      </m:r>
                      <m:r>
                        <a:rPr lang="en-US" altLang="zh-TW" sz="3200" i="1">
                          <a:latin typeface="Cambria Math"/>
                        </a:rPr>
                        <m:t>)</m:t>
                      </m:r>
                    </m:oMath>
                  </m:oMathPara>
                </a14:m>
                <a:endParaRPr lang="zh-TW" altLang="en-US" sz="3200" dirty="0">
                  <a:latin typeface="微軟正黑體" panose="020B0604030504040204" pitchFamily="34" charset="-120"/>
                  <a:ea typeface="微軟正黑體" panose="020B0604030504040204" pitchFamily="34" charset="-120"/>
                </a:endParaRPr>
              </a:p>
              <a:p>
                <a:endParaRPr lang="en-US" altLang="zh-TW" sz="3200" dirty="0" smtClean="0"/>
              </a:p>
              <a:p>
                <a14:m>
                  <m:oMath xmlns:m="http://schemas.openxmlformats.org/officeDocument/2006/math">
                    <m:r>
                      <a:rPr lang="en-US" altLang="zh-TW" sz="3600" i="1">
                        <a:latin typeface="Cambria Math" panose="02040503050406030204" pitchFamily="18" charset="0"/>
                        <a:ea typeface="Cambria Math" panose="02040503050406030204" pitchFamily="18" charset="0"/>
                      </a:rPr>
                      <m:t>⇒</m:t>
                    </m:r>
                    <m:sSub>
                      <m:sSubPr>
                        <m:ctrlPr>
                          <a:rPr lang="en-US" altLang="zh-TW" sz="3200" i="1">
                            <a:solidFill>
                              <a:prstClr val="black"/>
                            </a:solidFill>
                            <a:latin typeface="Cambria Math" panose="02040503050406030204" pitchFamily="18" charset="0"/>
                          </a:rPr>
                        </m:ctrlPr>
                      </m:sSubPr>
                      <m:e>
                        <m:r>
                          <a:rPr lang="en-US" altLang="zh-TW" sz="3200" i="1">
                            <a:solidFill>
                              <a:prstClr val="black"/>
                            </a:solidFill>
                            <a:latin typeface="Cambria Math" panose="02040503050406030204" pitchFamily="18" charset="0"/>
                          </a:rPr>
                          <m:t>𝐵</m:t>
                        </m:r>
                      </m:e>
                      <m:sub>
                        <m:r>
                          <a:rPr lang="en-US" altLang="zh-TW" sz="3200" b="0" i="1" smtClean="0">
                            <a:solidFill>
                              <a:prstClr val="black"/>
                            </a:solidFill>
                            <a:latin typeface="Cambria Math" panose="02040503050406030204" pitchFamily="18" charset="0"/>
                          </a:rPr>
                          <m:t>1</m:t>
                        </m:r>
                      </m:sub>
                    </m:sSub>
                    <m:d>
                      <m:dPr>
                        <m:ctrlPr>
                          <a:rPr lang="en-US" altLang="zh-TW" sz="3200" i="1">
                            <a:solidFill>
                              <a:prstClr val="black"/>
                            </a:solidFill>
                            <a:latin typeface="Cambria Math" panose="02040503050406030204" pitchFamily="18" charset="0"/>
                          </a:rPr>
                        </m:ctrlPr>
                      </m:dPr>
                      <m:e>
                        <m:r>
                          <a:rPr lang="en-US" altLang="zh-TW" sz="3200" i="1">
                            <a:solidFill>
                              <a:prstClr val="black"/>
                            </a:solidFill>
                            <a:latin typeface="Cambria Math" panose="02040503050406030204" pitchFamily="18" charset="0"/>
                          </a:rPr>
                          <m:t>𝑇</m:t>
                        </m:r>
                      </m:e>
                    </m:d>
                    <m:r>
                      <a:rPr lang="en-US" altLang="zh-TW" sz="3200" i="1">
                        <a:solidFill>
                          <a:prstClr val="black"/>
                        </a:solidFill>
                        <a:latin typeface="Cambria Math" panose="02040503050406030204" pitchFamily="18" charset="0"/>
                      </a:rPr>
                      <m:t>=</m:t>
                    </m:r>
                    <m:f>
                      <m:fPr>
                        <m:ctrlPr>
                          <a:rPr lang="en-US" altLang="zh-TW" sz="3200" i="1">
                            <a:solidFill>
                              <a:prstClr val="black"/>
                            </a:solidFill>
                            <a:latin typeface="Cambria Math" panose="02040503050406030204" pitchFamily="18" charset="0"/>
                          </a:rPr>
                        </m:ctrlPr>
                      </m:fPr>
                      <m:num>
                        <m:r>
                          <a:rPr lang="en-US" altLang="zh-TW" sz="3200" i="1">
                            <a:solidFill>
                              <a:prstClr val="black"/>
                            </a:solidFill>
                            <a:latin typeface="Cambria Math" panose="02040503050406030204" pitchFamily="18" charset="0"/>
                          </a:rPr>
                          <m:t>1</m:t>
                        </m:r>
                      </m:num>
                      <m:den>
                        <m:sSub>
                          <m:sSubPr>
                            <m:ctrlPr>
                              <a:rPr lang="en-US" altLang="zh-TW" sz="3200" i="1">
                                <a:solidFill>
                                  <a:prstClr val="black"/>
                                </a:solidFill>
                                <a:latin typeface="Cambria Math" panose="02040503050406030204" pitchFamily="18" charset="0"/>
                              </a:rPr>
                            </m:ctrlPr>
                          </m:sSubPr>
                          <m:e>
                            <m:r>
                              <a:rPr lang="zh-TW" altLang="en-US" sz="3200" i="1">
                                <a:solidFill>
                                  <a:prstClr val="black"/>
                                </a:solidFill>
                                <a:latin typeface="Cambria Math" panose="02040503050406030204" pitchFamily="18" charset="0"/>
                              </a:rPr>
                              <m:t>𝜎</m:t>
                            </m:r>
                          </m:e>
                          <m:sub>
                            <m:r>
                              <a:rPr lang="en-US" altLang="zh-TW" sz="3200" i="1" smtClean="0">
                                <a:solidFill>
                                  <a:prstClr val="black"/>
                                </a:solidFill>
                                <a:latin typeface="Cambria Math" panose="02040503050406030204" pitchFamily="18" charset="0"/>
                              </a:rPr>
                              <m:t>1</m:t>
                            </m:r>
                          </m:sub>
                        </m:sSub>
                      </m:den>
                    </m:f>
                    <m:func>
                      <m:funcPr>
                        <m:ctrlPr>
                          <a:rPr lang="en-US" altLang="zh-TW" sz="3200" i="1">
                            <a:solidFill>
                              <a:prstClr val="black"/>
                            </a:solidFill>
                            <a:latin typeface="Cambria Math" panose="02040503050406030204" pitchFamily="18" charset="0"/>
                          </a:rPr>
                        </m:ctrlPr>
                      </m:funcPr>
                      <m:fName>
                        <m:r>
                          <m:rPr>
                            <m:sty m:val="p"/>
                          </m:rPr>
                          <a:rPr lang="en-US" altLang="zh-TW" sz="3200">
                            <a:solidFill>
                              <a:prstClr val="black"/>
                            </a:solidFill>
                            <a:latin typeface="Cambria Math" panose="02040503050406030204" pitchFamily="18" charset="0"/>
                          </a:rPr>
                          <m:t>ln</m:t>
                        </m:r>
                      </m:fName>
                      <m:e>
                        <m:r>
                          <a:rPr lang="en-US" altLang="zh-TW" sz="3200" i="1">
                            <a:solidFill>
                              <a:prstClr val="black"/>
                            </a:solidFill>
                            <a:latin typeface="Cambria Math" panose="02040503050406030204" pitchFamily="18" charset="0"/>
                          </a:rPr>
                          <m:t>[</m:t>
                        </m:r>
                        <m:f>
                          <m:fPr>
                            <m:ctrlPr>
                              <a:rPr lang="en-US" altLang="zh-TW" sz="3200" i="1">
                                <a:solidFill>
                                  <a:prstClr val="black"/>
                                </a:solidFill>
                                <a:latin typeface="Cambria Math" panose="02040503050406030204" pitchFamily="18" charset="0"/>
                              </a:rPr>
                            </m:ctrlPr>
                          </m:fPr>
                          <m:num>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1</m:t>
                                </m:r>
                              </m:sub>
                            </m:sSub>
                            <m:r>
                              <a:rPr lang="en-US" altLang="zh-TW" sz="3200" i="1">
                                <a:latin typeface="Cambria Math"/>
                              </a:rPr>
                              <m:t>+(1−</m:t>
                            </m:r>
                            <m:r>
                              <a:rPr lang="en-US" altLang="zh-TW" sz="3200" i="1">
                                <a:latin typeface="Cambria Math"/>
                              </a:rPr>
                              <m:t>𝑡𝑎𝑥</m:t>
                            </m:r>
                            <m:r>
                              <a:rPr lang="en-US" altLang="zh-TW" sz="3200" i="1">
                                <a:latin typeface="Cambria Math"/>
                              </a:rPr>
                              <m:t>)(</m:t>
                            </m:r>
                            <m:sSub>
                              <m:sSubPr>
                                <m:ctrlPr>
                                  <a:rPr lang="en-US" altLang="zh-TW" sz="3200" i="1">
                                    <a:latin typeface="Cambria Math" panose="02040503050406030204" pitchFamily="18" charset="0"/>
                                  </a:rPr>
                                </m:ctrlPr>
                              </m:sSubPr>
                              <m:e>
                                <m:r>
                                  <a:rPr lang="en-US" altLang="zh-TW" sz="3200" i="1">
                                    <a:latin typeface="Cambria Math"/>
                                  </a:rPr>
                                  <m:t>𝐶</m:t>
                                </m:r>
                              </m:e>
                              <m:sub>
                                <m:r>
                                  <a:rPr lang="en-US" altLang="zh-TW" sz="3200" i="1">
                                    <a:latin typeface="Cambria Math"/>
                                  </a:rPr>
                                  <m:t>1</m:t>
                                </m:r>
                              </m:sub>
                            </m:sSub>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1</m:t>
                                </m:r>
                              </m:sub>
                            </m:sSub>
                            <m:r>
                              <a:rPr lang="en-US" altLang="zh-TW" sz="3200" i="1">
                                <a:latin typeface="Cambria Math"/>
                              </a:rPr>
                              <m:t>𝑇</m:t>
                            </m:r>
                            <m:r>
                              <a:rPr lang="en-US" altLang="zh-TW" sz="3200" i="1">
                                <a:latin typeface="Cambria Math"/>
                              </a:rPr>
                              <m:t>+</m:t>
                            </m:r>
                            <m:sSub>
                              <m:sSubPr>
                                <m:ctrlPr>
                                  <a:rPr lang="en-US" altLang="zh-TW" sz="3200" i="1">
                                    <a:latin typeface="Cambria Math" panose="02040503050406030204" pitchFamily="18" charset="0"/>
                                  </a:rPr>
                                </m:ctrlPr>
                              </m:sSubPr>
                              <m:e>
                                <m:r>
                                  <a:rPr lang="en-US" altLang="zh-TW" sz="3200" i="1">
                                    <a:latin typeface="Cambria Math"/>
                                  </a:rPr>
                                  <m:t>𝐶</m:t>
                                </m:r>
                              </m:e>
                              <m:sub>
                                <m:r>
                                  <a:rPr lang="en-US" altLang="zh-TW" sz="3200" i="1">
                                    <a:latin typeface="Cambria Math"/>
                                  </a:rPr>
                                  <m:t>2</m:t>
                                </m:r>
                              </m:sub>
                            </m:sSub>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2</m:t>
                                </m:r>
                              </m:sub>
                            </m:sSub>
                            <m:r>
                              <a:rPr lang="en-US" altLang="zh-TW" sz="3200" i="1">
                                <a:latin typeface="Cambria Math"/>
                              </a:rPr>
                              <m:t>𝑇</m:t>
                            </m:r>
                            <m:r>
                              <a:rPr lang="en-US" altLang="zh-TW" sz="3200" i="1">
                                <a:latin typeface="Cambria Math"/>
                              </a:rPr>
                              <m:t>)</m:t>
                            </m:r>
                            <m:r>
                              <m:rPr>
                                <m:nor/>
                              </m:rPr>
                              <a:rPr lang="zh-TW" altLang="en-US" sz="3200" dirty="0">
                                <a:latin typeface="微軟正黑體" panose="020B0604030504040204" pitchFamily="34" charset="-120"/>
                                <a:ea typeface="微軟正黑體" panose="020B0604030504040204" pitchFamily="34" charset="-120"/>
                              </a:rPr>
                              <m:t> </m:t>
                            </m:r>
                          </m:num>
                          <m:den>
                            <m:r>
                              <a:rPr lang="en-US" altLang="zh-TW" sz="3200" i="1">
                                <a:solidFill>
                                  <a:prstClr val="black"/>
                                </a:solidFill>
                                <a:latin typeface="Cambria Math" panose="02040503050406030204" pitchFamily="18" charset="0"/>
                              </a:rPr>
                              <m:t>𝑉</m:t>
                            </m:r>
                            <m:d>
                              <m:dPr>
                                <m:ctrlPr>
                                  <a:rPr lang="en-US" altLang="zh-TW" sz="3200" i="1">
                                    <a:solidFill>
                                      <a:prstClr val="black"/>
                                    </a:solidFill>
                                    <a:latin typeface="Cambria Math" panose="02040503050406030204" pitchFamily="18" charset="0"/>
                                  </a:rPr>
                                </m:ctrlPr>
                              </m:dPr>
                              <m:e>
                                <m:r>
                                  <a:rPr lang="en-US" altLang="zh-TW" sz="3200" i="1">
                                    <a:solidFill>
                                      <a:prstClr val="black"/>
                                    </a:solidFill>
                                    <a:latin typeface="Cambria Math" panose="02040503050406030204" pitchFamily="18" charset="0"/>
                                  </a:rPr>
                                  <m:t>0</m:t>
                                </m:r>
                              </m:e>
                            </m:d>
                          </m:den>
                        </m:f>
                      </m:e>
                    </m:func>
                    <m:r>
                      <a:rPr lang="en-US" altLang="zh-TW" sz="3200" i="1">
                        <a:solidFill>
                          <a:prstClr val="black"/>
                        </a:solidFill>
                        <a:latin typeface="Cambria Math" panose="02040503050406030204" pitchFamily="18" charset="0"/>
                      </a:rPr>
                      <m:t>]</m:t>
                    </m:r>
                  </m:oMath>
                </a14:m>
                <a:r>
                  <a:rPr lang="en-US" altLang="zh-TW" sz="3200" dirty="0">
                    <a:latin typeface="微軟正黑體" panose="020B0604030504040204" pitchFamily="34" charset="-120"/>
                    <a:ea typeface="微軟正黑體" panose="020B0604030504040204" pitchFamily="34" charset="-120"/>
                  </a:rPr>
                  <a:t> ,</a:t>
                </a:r>
                <a:r>
                  <a:rPr lang="zh-TW" altLang="en-US" sz="3200" dirty="0">
                    <a:latin typeface="微軟正黑體" panose="020B0604030504040204" pitchFamily="34" charset="-120"/>
                    <a:ea typeface="微軟正黑體" panose="020B0604030504040204" pitchFamily="34" charset="-120"/>
                  </a:rPr>
                  <a:t>令為 </a:t>
                </a:r>
                <a14:m>
                  <m:oMath xmlns:m="http://schemas.openxmlformats.org/officeDocument/2006/math">
                    <m:sSub>
                      <m:sSubPr>
                        <m:ctrlPr>
                          <a:rPr lang="en-US" altLang="zh-TW" sz="3200" i="1">
                            <a:latin typeface="Cambria Math" panose="02040503050406030204" pitchFamily="18" charset="0"/>
                            <a:ea typeface="微軟正黑體" panose="020B0604030504040204" pitchFamily="34" charset="-120"/>
                          </a:rPr>
                        </m:ctrlPr>
                      </m:sSubPr>
                      <m:e>
                        <m:r>
                          <a:rPr lang="zh-TW" altLang="en-US" sz="3200" i="1">
                            <a:latin typeface="Cambria Math" panose="02040503050406030204" pitchFamily="18" charset="0"/>
                            <a:ea typeface="微軟正黑體" panose="020B0604030504040204" pitchFamily="34" charset="-120"/>
                          </a:rPr>
                          <m:t>𝒹</m:t>
                        </m:r>
                      </m:e>
                      <m:sub>
                        <m:r>
                          <a:rPr lang="en-US" altLang="zh-TW" sz="3200" b="0" i="1" smtClean="0">
                            <a:latin typeface="Cambria Math" panose="02040503050406030204" pitchFamily="18" charset="0"/>
                            <a:ea typeface="微軟正黑體" panose="020B0604030504040204" pitchFamily="34" charset="-120"/>
                          </a:rPr>
                          <m:t>3</m:t>
                        </m:r>
                      </m:sub>
                    </m:sSub>
                  </m:oMath>
                </a14:m>
                <a:endParaRPr lang="zh-TW" altLang="en-US" sz="3200" dirty="0"/>
              </a:p>
            </p:txBody>
          </p:sp>
        </mc:Choice>
        <mc:Fallback xmlns="">
          <p:sp>
            <p:nvSpPr>
              <p:cNvPr id="5" name="矩形 4"/>
              <p:cNvSpPr>
                <a:spLocks noRot="1" noChangeAspect="1" noMove="1" noResize="1" noEditPoints="1" noAdjustHandles="1" noChangeArrowheads="1" noChangeShapeType="1" noTextEdit="1"/>
              </p:cNvSpPr>
              <p:nvPr/>
            </p:nvSpPr>
            <p:spPr>
              <a:xfrm>
                <a:off x="645184" y="2315803"/>
                <a:ext cx="10470524" cy="2501903"/>
              </a:xfrm>
              <a:prstGeom prst="rect">
                <a:avLst/>
              </a:prstGeom>
              <a:blipFill rotWithShape="0">
                <a:blip r:embed="rId2"/>
                <a:stretch>
                  <a:fillRect/>
                </a:stretch>
              </a:blipFill>
            </p:spPr>
            <p:txBody>
              <a:bodyPr/>
              <a:lstStyle/>
              <a:p>
                <a:r>
                  <a:rPr lang="zh-TW" altLang="en-US">
                    <a:noFill/>
                  </a:rPr>
                  <a:t> </a:t>
                </a:r>
              </a:p>
            </p:txBody>
          </p:sp>
        </mc:Fallback>
      </mc:AlternateContent>
      <p:sp>
        <p:nvSpPr>
          <p:cNvPr id="6" name="矩形 5"/>
          <p:cNvSpPr/>
          <p:nvPr/>
        </p:nvSpPr>
        <p:spPr>
          <a:xfrm>
            <a:off x="645184" y="1275103"/>
            <a:ext cx="5624681" cy="584775"/>
          </a:xfrm>
          <a:prstGeom prst="rect">
            <a:avLst/>
          </a:prstGeom>
        </p:spPr>
        <p:txBody>
          <a:bodyPr wrap="none">
            <a:spAutoFit/>
          </a:bodyPr>
          <a:lstStyle/>
          <a:p>
            <a:r>
              <a:rPr lang="en-US" altLang="zh-TW" sz="3200" dirty="0" smtClean="0">
                <a:solidFill>
                  <a:srgbClr val="000000"/>
                </a:solidFill>
                <a:latin typeface="微軟正黑體" panose="020B0604030504040204" pitchFamily="34" charset="-120"/>
                <a:ea typeface="微軟正黑體" panose="020B0604030504040204" pitchFamily="34" charset="-120"/>
              </a:rPr>
              <a:t>3.</a:t>
            </a:r>
            <a:r>
              <a:rPr lang="zh-TW" altLang="en-US" sz="3200" dirty="0" smtClean="0">
                <a:solidFill>
                  <a:srgbClr val="000000"/>
                </a:solidFill>
                <a:latin typeface="微軟正黑體" panose="020B0604030504040204" pitchFamily="34" charset="-120"/>
                <a:ea typeface="微軟正黑體" panose="020B0604030504040204" pitchFamily="34" charset="-120"/>
              </a:rPr>
              <a:t> 存活與破產邊</a:t>
            </a:r>
            <a:r>
              <a:rPr lang="zh-TW" altLang="en-US" sz="3200" dirty="0">
                <a:solidFill>
                  <a:srgbClr val="000000"/>
                </a:solidFill>
                <a:latin typeface="微軟正黑體" panose="020B0604030504040204" pitchFamily="34" charset="-120"/>
                <a:ea typeface="微軟正黑體" panose="020B0604030504040204" pitchFamily="34" charset="-120"/>
              </a:rPr>
              <a:t>界</a:t>
            </a:r>
            <a:r>
              <a:rPr lang="en-US" altLang="zh-TW" sz="3200" dirty="0" smtClean="0">
                <a:solidFill>
                  <a:srgbClr val="000000"/>
                </a:solidFill>
                <a:latin typeface="微軟正黑體" panose="020B0604030504040204" pitchFamily="34" charset="-120"/>
                <a:ea typeface="微軟正黑體" panose="020B0604030504040204" pitchFamily="34" charset="-120"/>
              </a:rPr>
              <a:t>(CC</a:t>
            </a:r>
            <a:r>
              <a:rPr lang="zh-TW" altLang="en-US" sz="3200" dirty="0" smtClean="0">
                <a:solidFill>
                  <a:srgbClr val="000000"/>
                </a:solidFill>
                <a:latin typeface="微軟正黑體" panose="020B0604030504040204" pitchFamily="34" charset="-120"/>
                <a:ea typeface="微軟正黑體" panose="020B0604030504040204" pitchFamily="34" charset="-120"/>
              </a:rPr>
              <a:t>已轉換</a:t>
            </a:r>
            <a:r>
              <a:rPr lang="en-US" altLang="zh-TW" sz="3200" dirty="0" smtClean="0">
                <a:solidFill>
                  <a:srgbClr val="000000"/>
                </a:solidFill>
                <a:latin typeface="微軟正黑體" panose="020B0604030504040204" pitchFamily="34" charset="-120"/>
                <a:ea typeface="微軟正黑體" panose="020B0604030504040204" pitchFamily="34" charset="-120"/>
              </a:rPr>
              <a:t>) </a:t>
            </a:r>
            <a:endParaRPr lang="zh-TW" altLang="en-US" sz="3200" dirty="0">
              <a:latin typeface="微軟正黑體" panose="020B0604030504040204" pitchFamily="34" charset="-120"/>
              <a:ea typeface="微軟正黑體" panose="020B0604030504040204" pitchFamily="34" charset="-120"/>
            </a:endParaRPr>
          </a:p>
        </p:txBody>
      </p:sp>
      <p:sp>
        <p:nvSpPr>
          <p:cNvPr id="7" name="標題 1"/>
          <p:cNvSpPr txBox="1">
            <a:spLocks/>
          </p:cNvSpPr>
          <p:nvPr/>
        </p:nvSpPr>
        <p:spPr>
          <a:xfrm>
            <a:off x="347730" y="283333"/>
            <a:ext cx="11844270" cy="79252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TW" altLang="en-US" sz="4800" dirty="0" smtClean="0">
                <a:latin typeface="微軟正黑體" panose="020B0604030504040204" pitchFamily="34" charset="-120"/>
                <a:ea typeface="微軟正黑體" panose="020B0604030504040204" pitchFamily="34" charset="-120"/>
                <a:cs typeface="Arial" pitchFamily="34" charset="0"/>
              </a:rPr>
              <a:t>邊</a:t>
            </a:r>
            <a:r>
              <a:rPr lang="zh-TW" altLang="en-US" sz="4800" dirty="0">
                <a:latin typeface="微軟正黑體" panose="020B0604030504040204" pitchFamily="34" charset="-120"/>
                <a:ea typeface="微軟正黑體" panose="020B0604030504040204" pitchFamily="34" charset="-120"/>
                <a:cs typeface="Arial" pitchFamily="34" charset="0"/>
              </a:rPr>
              <a:t>界</a:t>
            </a:r>
            <a:r>
              <a:rPr lang="zh-TW" altLang="en-US" sz="4800" dirty="0" smtClean="0">
                <a:latin typeface="微軟正黑體" panose="020B0604030504040204" pitchFamily="34" charset="-120"/>
                <a:ea typeface="微軟正黑體" panose="020B0604030504040204" pitchFamily="34" charset="-120"/>
                <a:cs typeface="Arial" pitchFamily="34" charset="0"/>
              </a:rPr>
              <a:t>設定</a:t>
            </a:r>
            <a:r>
              <a:rPr lang="en-US" altLang="zh-TW" sz="4800" dirty="0" smtClean="0">
                <a:latin typeface="微軟正黑體" panose="020B0604030504040204" pitchFamily="34" charset="-120"/>
                <a:ea typeface="微軟正黑體" panose="020B0604030504040204" pitchFamily="34" charset="-120"/>
                <a:cs typeface="Arial" pitchFamily="34" charset="0"/>
              </a:rPr>
              <a:t>(3/5)</a:t>
            </a:r>
            <a:endParaRPr lang="zh-TW" altLang="en-US" sz="48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425938708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7730" y="1342372"/>
            <a:ext cx="11209544" cy="1077218"/>
          </a:xfrm>
          <a:prstGeom prst="rect">
            <a:avLst/>
          </a:prstGeom>
        </p:spPr>
        <p:txBody>
          <a:bodyPr wrap="none">
            <a:spAutoFit/>
          </a:bodyPr>
          <a:lstStyle/>
          <a:p>
            <a:r>
              <a:rPr lang="en-US" altLang="zh-TW" sz="3200" dirty="0" smtClean="0">
                <a:solidFill>
                  <a:srgbClr val="000000"/>
                </a:solidFill>
                <a:latin typeface="微軟正黑體" panose="020B0604030504040204" pitchFamily="34" charset="-120"/>
                <a:ea typeface="微軟正黑體" panose="020B0604030504040204" pitchFamily="34" charset="-120"/>
              </a:rPr>
              <a:t>4.</a:t>
            </a:r>
            <a:r>
              <a:rPr lang="zh-TW" altLang="en-US" sz="3200" dirty="0" smtClean="0">
                <a:solidFill>
                  <a:srgbClr val="000000"/>
                </a:solidFill>
                <a:latin typeface="微軟正黑體" panose="020B0604030504040204" pitchFamily="34" charset="-120"/>
                <a:ea typeface="微軟正黑體" panose="020B0604030504040204" pitchFamily="34" charset="-120"/>
              </a:rPr>
              <a:t> </a:t>
            </a:r>
            <a:r>
              <a:rPr lang="en-US" altLang="zh-TW" sz="3200" dirty="0" smtClean="0">
                <a:solidFill>
                  <a:srgbClr val="000000"/>
                </a:solidFill>
                <a:latin typeface="微軟正黑體" panose="020B0604030504040204" pitchFamily="34" charset="-120"/>
                <a:ea typeface="微軟正黑體" panose="020B0604030504040204" pitchFamily="34" charset="-120"/>
              </a:rPr>
              <a:t>SB</a:t>
            </a:r>
            <a:r>
              <a:rPr lang="zh-TW" altLang="en-US" sz="3200" dirty="0" smtClean="0">
                <a:solidFill>
                  <a:srgbClr val="000000"/>
                </a:solidFill>
                <a:latin typeface="微軟正黑體" panose="020B0604030504040204" pitchFamily="34" charset="-120"/>
                <a:ea typeface="微軟正黑體" panose="020B0604030504040204" pitchFamily="34" charset="-120"/>
              </a:rPr>
              <a:t>拿全部</a:t>
            </a:r>
            <a:r>
              <a:rPr lang="en-US" altLang="zh-TW" sz="3200" dirty="0" smtClean="0">
                <a:solidFill>
                  <a:srgbClr val="000000"/>
                </a:solidFill>
                <a:latin typeface="微軟正黑體" panose="020B0604030504040204" pitchFamily="34" charset="-120"/>
                <a:ea typeface="微軟正黑體" panose="020B0604030504040204" pitchFamily="34" charset="-120"/>
              </a:rPr>
              <a:t>CC</a:t>
            </a:r>
            <a:r>
              <a:rPr lang="zh-TW" altLang="en-US" sz="3200" dirty="0" smtClean="0">
                <a:solidFill>
                  <a:srgbClr val="000000"/>
                </a:solidFill>
                <a:latin typeface="微軟正黑體" panose="020B0604030504040204" pitchFamily="34" charset="-120"/>
                <a:ea typeface="微軟正黑體" panose="020B0604030504040204" pitchFamily="34" charset="-120"/>
              </a:rPr>
              <a:t>拿部分 與 </a:t>
            </a:r>
            <a:r>
              <a:rPr lang="en-US" altLang="zh-TW" sz="3200" dirty="0" smtClean="0">
                <a:solidFill>
                  <a:srgbClr val="000000"/>
                </a:solidFill>
                <a:latin typeface="微軟正黑體" panose="020B0604030504040204" pitchFamily="34" charset="-120"/>
                <a:ea typeface="微軟正黑體" panose="020B0604030504040204" pitchFamily="34" charset="-120"/>
              </a:rPr>
              <a:t>SB</a:t>
            </a:r>
            <a:r>
              <a:rPr lang="zh-TW" altLang="en-US" sz="3200" dirty="0" smtClean="0">
                <a:solidFill>
                  <a:srgbClr val="000000"/>
                </a:solidFill>
                <a:latin typeface="微軟正黑體" panose="020B0604030504040204" pitchFamily="34" charset="-120"/>
                <a:ea typeface="微軟正黑體" panose="020B0604030504040204" pitchFamily="34" charset="-120"/>
              </a:rPr>
              <a:t>拿部分</a:t>
            </a:r>
            <a:r>
              <a:rPr lang="en-US" altLang="zh-TW" sz="3200" dirty="0" smtClean="0">
                <a:solidFill>
                  <a:srgbClr val="000000"/>
                </a:solidFill>
                <a:latin typeface="微軟正黑體" panose="020B0604030504040204" pitchFamily="34" charset="-120"/>
                <a:ea typeface="微軟正黑體" panose="020B0604030504040204" pitchFamily="34" charset="-120"/>
              </a:rPr>
              <a:t>CC</a:t>
            </a:r>
            <a:r>
              <a:rPr lang="zh-TW" altLang="en-US" sz="3200" dirty="0" smtClean="0">
                <a:solidFill>
                  <a:srgbClr val="000000"/>
                </a:solidFill>
                <a:latin typeface="微軟正黑體" panose="020B0604030504040204" pitchFamily="34" charset="-120"/>
                <a:ea typeface="微軟正黑體" panose="020B0604030504040204" pitchFamily="34" charset="-120"/>
              </a:rPr>
              <a:t>分不到 的邊界</a:t>
            </a:r>
            <a:endParaRPr lang="en-US" altLang="zh-TW" sz="3200" dirty="0" smtClean="0">
              <a:solidFill>
                <a:srgbClr val="000000"/>
              </a:solidFill>
              <a:latin typeface="微軟正黑體" panose="020B0604030504040204" pitchFamily="34" charset="-120"/>
              <a:ea typeface="微軟正黑體" panose="020B0604030504040204" pitchFamily="34" charset="-120"/>
            </a:endParaRPr>
          </a:p>
          <a:p>
            <a:r>
              <a:rPr lang="en-US" altLang="zh-TW" sz="3200" dirty="0">
                <a:solidFill>
                  <a:srgbClr val="000000"/>
                </a:solidFill>
                <a:latin typeface="微軟正黑體" panose="020B0604030504040204" pitchFamily="34" charset="-120"/>
                <a:ea typeface="微軟正黑體" panose="020B0604030504040204" pitchFamily="34" charset="-120"/>
              </a:rPr>
              <a:t> </a:t>
            </a:r>
            <a:r>
              <a:rPr lang="en-US" altLang="zh-TW" sz="3200" dirty="0" smtClean="0">
                <a:solidFill>
                  <a:srgbClr val="000000"/>
                </a:solidFill>
                <a:latin typeface="微軟正黑體" panose="020B0604030504040204" pitchFamily="34" charset="-120"/>
                <a:ea typeface="微軟正黑體" panose="020B0604030504040204" pitchFamily="34" charset="-120"/>
              </a:rPr>
              <a:t>                                                                             (CC</a:t>
            </a:r>
            <a:r>
              <a:rPr lang="zh-TW" altLang="en-US" sz="3200" dirty="0" smtClean="0">
                <a:solidFill>
                  <a:srgbClr val="000000"/>
                </a:solidFill>
                <a:latin typeface="微軟正黑體" panose="020B0604030504040204" pitchFamily="34" charset="-120"/>
                <a:ea typeface="微軟正黑體" panose="020B0604030504040204" pitchFamily="34" charset="-120"/>
              </a:rPr>
              <a:t>未轉換</a:t>
            </a:r>
            <a:r>
              <a:rPr lang="en-US" altLang="zh-TW" sz="3200" dirty="0" smtClean="0">
                <a:solidFill>
                  <a:srgbClr val="000000"/>
                </a:solidFill>
                <a:latin typeface="微軟正黑體" panose="020B0604030504040204" pitchFamily="34" charset="-120"/>
                <a:ea typeface="微軟正黑體" panose="020B0604030504040204" pitchFamily="34" charset="-120"/>
              </a:rPr>
              <a:t>/</a:t>
            </a:r>
            <a:r>
              <a:rPr lang="zh-TW" altLang="en-US" sz="3200" dirty="0" smtClean="0">
                <a:solidFill>
                  <a:srgbClr val="000000"/>
                </a:solidFill>
                <a:latin typeface="微軟正黑體" panose="020B0604030504040204" pitchFamily="34" charset="-120"/>
                <a:ea typeface="微軟正黑體" panose="020B0604030504040204" pitchFamily="34" charset="-120"/>
              </a:rPr>
              <a:t>轉換</a:t>
            </a:r>
            <a:r>
              <a:rPr lang="en-US" altLang="zh-TW" sz="3200" dirty="0" smtClean="0">
                <a:solidFill>
                  <a:srgbClr val="000000"/>
                </a:solidFill>
                <a:latin typeface="微軟正黑體" panose="020B0604030504040204" pitchFamily="34" charset="-120"/>
                <a:ea typeface="微軟正黑體" panose="020B0604030504040204" pitchFamily="34" charset="-120"/>
              </a:rPr>
              <a:t>) </a:t>
            </a:r>
            <a:endParaRPr lang="zh-TW" altLang="en-US" sz="3200" dirty="0">
              <a:latin typeface="微軟正黑體" panose="020B0604030504040204" pitchFamily="34" charset="-120"/>
              <a:ea typeface="微軟正黑體" panose="020B0604030504040204" pitchFamily="34" charset="-120"/>
            </a:endParaRPr>
          </a:p>
        </p:txBody>
      </p:sp>
      <mc:AlternateContent xmlns:mc="http://schemas.openxmlformats.org/markup-compatibility/2006" xmlns:a14="http://schemas.microsoft.com/office/drawing/2010/main">
        <mc:Choice Requires="a14">
          <p:sp>
            <p:nvSpPr>
              <p:cNvPr id="5" name="矩形 4"/>
              <p:cNvSpPr/>
              <p:nvPr/>
            </p:nvSpPr>
            <p:spPr>
              <a:xfrm>
                <a:off x="831704" y="2419590"/>
                <a:ext cx="7859010" cy="2861232"/>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d>
                        <m:dPr>
                          <m:ctrlPr>
                            <a:rPr lang="en-US" altLang="zh-TW" sz="3200" i="1" smtClean="0">
                              <a:latin typeface="Cambria Math" panose="02040503050406030204" pitchFamily="18" charset="0"/>
                            </a:rPr>
                          </m:ctrlPr>
                        </m:dPr>
                        <m:e>
                          <m:r>
                            <a:rPr lang="en-US" altLang="zh-TW" sz="3200" i="1">
                              <a:latin typeface="Cambria Math" panose="02040503050406030204" pitchFamily="18" charset="0"/>
                            </a:rPr>
                            <m:t>1−</m:t>
                          </m:r>
                          <m:r>
                            <a:rPr lang="zh-TW" altLang="en-US" sz="3200" i="1">
                              <a:latin typeface="Cambria Math" panose="02040503050406030204" pitchFamily="18" charset="0"/>
                            </a:rPr>
                            <m:t>𝛼</m:t>
                          </m:r>
                        </m:e>
                      </m:d>
                      <m:r>
                        <a:rPr lang="en-US" altLang="zh-TW" sz="3200" i="1">
                          <a:latin typeface="Cambria Math" panose="02040503050406030204" pitchFamily="18" charset="0"/>
                        </a:rPr>
                        <m:t>𝑉</m:t>
                      </m:r>
                      <m:d>
                        <m:dPr>
                          <m:ctrlPr>
                            <a:rPr lang="en-US" altLang="zh-TW" sz="3200" i="1">
                              <a:latin typeface="Cambria Math" panose="02040503050406030204" pitchFamily="18" charset="0"/>
                            </a:rPr>
                          </m:ctrlPr>
                        </m:dPr>
                        <m:e>
                          <m:r>
                            <a:rPr lang="en-US" altLang="zh-TW" sz="3200" i="1">
                              <a:latin typeface="Cambria Math" panose="02040503050406030204" pitchFamily="18" charset="0"/>
                            </a:rPr>
                            <m:t>𝑇</m:t>
                          </m:r>
                        </m:e>
                      </m:d>
                      <m:r>
                        <a:rPr lang="en-US" altLang="zh-TW" sz="3200" i="1">
                          <a:latin typeface="Cambria Math" panose="02040503050406030204" pitchFamily="18" charset="0"/>
                        </a:rPr>
                        <m:t>=</m:t>
                      </m:r>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1</m:t>
                          </m:r>
                        </m:sub>
                      </m:sSub>
                      <m:r>
                        <a:rPr lang="en-US" altLang="zh-TW" sz="3200" i="1">
                          <a:latin typeface="Cambria Math"/>
                        </a:rPr>
                        <m:t>+</m:t>
                      </m:r>
                      <m:sSub>
                        <m:sSubPr>
                          <m:ctrlPr>
                            <a:rPr lang="en-US" altLang="zh-TW" sz="3200" i="1">
                              <a:latin typeface="Cambria Math" panose="02040503050406030204" pitchFamily="18" charset="0"/>
                            </a:rPr>
                          </m:ctrlPr>
                        </m:sSubPr>
                        <m:e>
                          <m:r>
                            <a:rPr lang="en-US" altLang="zh-TW" sz="3200" i="1">
                              <a:latin typeface="Cambria Math"/>
                            </a:rPr>
                            <m:t>𝐶</m:t>
                          </m:r>
                        </m:e>
                        <m:sub>
                          <m:r>
                            <a:rPr lang="en-US" altLang="zh-TW" sz="3200" i="1">
                              <a:latin typeface="Cambria Math"/>
                            </a:rPr>
                            <m:t>1</m:t>
                          </m:r>
                        </m:sub>
                      </m:sSub>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1</m:t>
                          </m:r>
                        </m:sub>
                      </m:sSub>
                      <m:r>
                        <a:rPr lang="en-US" altLang="zh-TW" sz="3200" i="1">
                          <a:latin typeface="Cambria Math"/>
                        </a:rPr>
                        <m:t>𝑇</m:t>
                      </m:r>
                    </m:oMath>
                  </m:oMathPara>
                </a14:m>
                <a:endParaRPr lang="en-US" altLang="zh-TW" sz="3200" dirty="0" smtClean="0"/>
              </a:p>
              <a:p>
                <a:endParaRPr lang="en-US" altLang="zh-TW" sz="3200" dirty="0" smtClean="0"/>
              </a:p>
              <a:p>
                <a:pPr/>
                <a14:m>
                  <m:oMathPara xmlns:m="http://schemas.openxmlformats.org/officeDocument/2006/math">
                    <m:oMathParaPr>
                      <m:jc m:val="left"/>
                    </m:oMathParaPr>
                    <m:oMath xmlns:m="http://schemas.openxmlformats.org/officeDocument/2006/math">
                      <m:r>
                        <a:rPr lang="en-US" altLang="zh-TW" sz="3200" i="1">
                          <a:latin typeface="Cambria Math" panose="02040503050406030204" pitchFamily="18" charset="0"/>
                          <a:ea typeface="Cambria Math" panose="02040503050406030204" pitchFamily="18" charset="0"/>
                        </a:rPr>
                        <m:t>⇒</m:t>
                      </m:r>
                      <m:d>
                        <m:dPr>
                          <m:ctrlPr>
                            <a:rPr lang="en-US" altLang="zh-TW" sz="3200" i="1">
                              <a:latin typeface="Cambria Math" panose="02040503050406030204" pitchFamily="18" charset="0"/>
                            </a:rPr>
                          </m:ctrlPr>
                        </m:dPr>
                        <m:e>
                          <m:r>
                            <a:rPr lang="en-US" altLang="zh-TW" sz="3200" i="1">
                              <a:latin typeface="Cambria Math" panose="02040503050406030204" pitchFamily="18" charset="0"/>
                            </a:rPr>
                            <m:t>1−</m:t>
                          </m:r>
                          <m:r>
                            <a:rPr lang="zh-TW" altLang="en-US" sz="3200" i="1">
                              <a:latin typeface="Cambria Math" panose="02040503050406030204" pitchFamily="18" charset="0"/>
                            </a:rPr>
                            <m:t>𝛼</m:t>
                          </m:r>
                        </m:e>
                      </m:d>
                      <m:r>
                        <a:rPr lang="en-US" altLang="zh-TW" sz="3200" i="1">
                          <a:solidFill>
                            <a:prstClr val="black"/>
                          </a:solidFill>
                          <a:latin typeface="Cambria Math" panose="02040503050406030204" pitchFamily="18" charset="0"/>
                        </a:rPr>
                        <m:t>𝑉</m:t>
                      </m:r>
                      <m:d>
                        <m:dPr>
                          <m:ctrlPr>
                            <a:rPr lang="en-US" altLang="zh-TW" sz="3200" i="1">
                              <a:solidFill>
                                <a:prstClr val="black"/>
                              </a:solidFill>
                              <a:latin typeface="Cambria Math" panose="02040503050406030204" pitchFamily="18" charset="0"/>
                            </a:rPr>
                          </m:ctrlPr>
                        </m:dPr>
                        <m:e>
                          <m:r>
                            <a:rPr lang="en-US" altLang="zh-TW" sz="3200" i="1">
                              <a:solidFill>
                                <a:prstClr val="black"/>
                              </a:solidFill>
                              <a:latin typeface="Cambria Math" panose="02040503050406030204" pitchFamily="18" charset="0"/>
                            </a:rPr>
                            <m:t>0</m:t>
                          </m:r>
                        </m:e>
                      </m:d>
                      <m:sSup>
                        <m:sSupPr>
                          <m:ctrlPr>
                            <a:rPr lang="en-US" altLang="zh-TW" sz="3200" i="1">
                              <a:solidFill>
                                <a:prstClr val="black"/>
                              </a:solidFill>
                              <a:latin typeface="Cambria Math" panose="02040503050406030204" pitchFamily="18" charset="0"/>
                            </a:rPr>
                          </m:ctrlPr>
                        </m:sSupPr>
                        <m:e>
                          <m:r>
                            <a:rPr lang="en-US" altLang="zh-TW" sz="3200" i="1">
                              <a:solidFill>
                                <a:prstClr val="black"/>
                              </a:solidFill>
                              <a:latin typeface="Cambria Math" panose="02040503050406030204" pitchFamily="18" charset="0"/>
                              <a:ea typeface="Cambria Math" panose="02040503050406030204" pitchFamily="18" charset="0"/>
                            </a:rPr>
                            <m:t>ℯ</m:t>
                          </m:r>
                        </m:e>
                        <m:sup>
                          <m:sSub>
                            <m:sSubPr>
                              <m:ctrlPr>
                                <a:rPr lang="en-US" altLang="zh-TW" sz="3200" i="1">
                                  <a:solidFill>
                                    <a:prstClr val="black"/>
                                  </a:solidFill>
                                  <a:latin typeface="Cambria Math" panose="02040503050406030204" pitchFamily="18" charset="0"/>
                                </a:rPr>
                              </m:ctrlPr>
                            </m:sSubPr>
                            <m:e>
                              <m:r>
                                <a:rPr lang="zh-TW" altLang="en-US" sz="3200" i="1">
                                  <a:solidFill>
                                    <a:prstClr val="black"/>
                                  </a:solidFill>
                                  <a:latin typeface="Cambria Math" panose="02040503050406030204" pitchFamily="18" charset="0"/>
                                </a:rPr>
                                <m:t>𝜎</m:t>
                              </m:r>
                            </m:e>
                            <m:sub>
                              <m:r>
                                <a:rPr lang="en-US" altLang="zh-TW" sz="3200" i="1">
                                  <a:solidFill>
                                    <a:prstClr val="black"/>
                                  </a:solidFill>
                                  <a:latin typeface="Cambria Math" panose="02040503050406030204" pitchFamily="18" charset="0"/>
                                </a:rPr>
                                <m:t>1</m:t>
                              </m:r>
                            </m:sub>
                          </m:sSub>
                          <m:sSub>
                            <m:sSubPr>
                              <m:ctrlPr>
                                <a:rPr lang="en-US" altLang="zh-TW" sz="3200" i="1">
                                  <a:solidFill>
                                    <a:prstClr val="black"/>
                                  </a:solidFill>
                                  <a:latin typeface="Cambria Math" panose="02040503050406030204" pitchFamily="18" charset="0"/>
                                </a:rPr>
                              </m:ctrlPr>
                            </m:sSubPr>
                            <m:e>
                              <m:r>
                                <a:rPr lang="en-US" altLang="zh-TW" sz="3200" i="1">
                                  <a:solidFill>
                                    <a:prstClr val="black"/>
                                  </a:solidFill>
                                  <a:latin typeface="Cambria Math" panose="02040503050406030204" pitchFamily="18" charset="0"/>
                                </a:rPr>
                                <m:t>𝐵</m:t>
                              </m:r>
                            </m:e>
                            <m:sub>
                              <m:r>
                                <a:rPr lang="en-US" altLang="zh-TW" sz="3200" i="1">
                                  <a:solidFill>
                                    <a:prstClr val="black"/>
                                  </a:solidFill>
                                  <a:latin typeface="Cambria Math" panose="02040503050406030204" pitchFamily="18" charset="0"/>
                                </a:rPr>
                                <m:t>1</m:t>
                              </m:r>
                            </m:sub>
                          </m:sSub>
                          <m:d>
                            <m:dPr>
                              <m:ctrlPr>
                                <a:rPr lang="en-US" altLang="zh-TW" sz="3200" i="1">
                                  <a:solidFill>
                                    <a:prstClr val="black"/>
                                  </a:solidFill>
                                  <a:latin typeface="Cambria Math" panose="02040503050406030204" pitchFamily="18" charset="0"/>
                                </a:rPr>
                              </m:ctrlPr>
                            </m:dPr>
                            <m:e>
                              <m:r>
                                <a:rPr lang="en-US" altLang="zh-TW" sz="3200" i="1">
                                  <a:solidFill>
                                    <a:prstClr val="black"/>
                                  </a:solidFill>
                                  <a:latin typeface="Cambria Math" panose="02040503050406030204" pitchFamily="18" charset="0"/>
                                </a:rPr>
                                <m:t>𝑇</m:t>
                              </m:r>
                            </m:e>
                          </m:d>
                        </m:sup>
                      </m:sSup>
                      <m:r>
                        <a:rPr lang="en-US" altLang="zh-TW" sz="3200" i="1">
                          <a:solidFill>
                            <a:prstClr val="black"/>
                          </a:solidFill>
                          <a:latin typeface="Cambria Math" panose="02040503050406030204" pitchFamily="18" charset="0"/>
                        </a:rPr>
                        <m:t>=</m:t>
                      </m:r>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1</m:t>
                          </m:r>
                        </m:sub>
                      </m:sSub>
                      <m:r>
                        <a:rPr lang="en-US" altLang="zh-TW" sz="3200" i="1">
                          <a:latin typeface="Cambria Math"/>
                        </a:rPr>
                        <m:t>+</m:t>
                      </m:r>
                      <m:sSub>
                        <m:sSubPr>
                          <m:ctrlPr>
                            <a:rPr lang="en-US" altLang="zh-TW" sz="3200" i="1">
                              <a:latin typeface="Cambria Math" panose="02040503050406030204" pitchFamily="18" charset="0"/>
                            </a:rPr>
                          </m:ctrlPr>
                        </m:sSubPr>
                        <m:e>
                          <m:r>
                            <a:rPr lang="en-US" altLang="zh-TW" sz="3200" i="1">
                              <a:latin typeface="Cambria Math"/>
                            </a:rPr>
                            <m:t>𝐶</m:t>
                          </m:r>
                        </m:e>
                        <m:sub>
                          <m:r>
                            <a:rPr lang="en-US" altLang="zh-TW" sz="3200" i="1">
                              <a:latin typeface="Cambria Math"/>
                            </a:rPr>
                            <m:t>1</m:t>
                          </m:r>
                        </m:sub>
                      </m:sSub>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1</m:t>
                          </m:r>
                        </m:sub>
                      </m:sSub>
                      <m:r>
                        <a:rPr lang="en-US" altLang="zh-TW" sz="3200" i="1">
                          <a:latin typeface="Cambria Math"/>
                        </a:rPr>
                        <m:t>𝑇</m:t>
                      </m:r>
                    </m:oMath>
                  </m:oMathPara>
                </a14:m>
                <a:endParaRPr lang="en-US" altLang="zh-TW" sz="3200" dirty="0" smtClean="0"/>
              </a:p>
              <a:p>
                <a:endParaRPr lang="en-US" altLang="zh-TW" sz="3200" dirty="0"/>
              </a:p>
              <a:p>
                <a14:m>
                  <m:oMath xmlns:m="http://schemas.openxmlformats.org/officeDocument/2006/math">
                    <m:r>
                      <a:rPr lang="en-US" altLang="zh-TW" sz="3200" i="1">
                        <a:latin typeface="Cambria Math" panose="02040503050406030204" pitchFamily="18" charset="0"/>
                        <a:ea typeface="Cambria Math" panose="02040503050406030204" pitchFamily="18" charset="0"/>
                      </a:rPr>
                      <m:t>⇒</m:t>
                    </m:r>
                    <m:sSub>
                      <m:sSubPr>
                        <m:ctrlPr>
                          <a:rPr lang="en-US" altLang="zh-TW" sz="3200" i="1">
                            <a:solidFill>
                              <a:prstClr val="black"/>
                            </a:solidFill>
                            <a:latin typeface="Cambria Math" panose="02040503050406030204" pitchFamily="18" charset="0"/>
                          </a:rPr>
                        </m:ctrlPr>
                      </m:sSubPr>
                      <m:e>
                        <m:r>
                          <a:rPr lang="en-US" altLang="zh-TW" sz="3200" i="1">
                            <a:solidFill>
                              <a:prstClr val="black"/>
                            </a:solidFill>
                            <a:latin typeface="Cambria Math" panose="02040503050406030204" pitchFamily="18" charset="0"/>
                          </a:rPr>
                          <m:t>𝐵</m:t>
                        </m:r>
                      </m:e>
                      <m:sub>
                        <m:r>
                          <a:rPr lang="en-US" altLang="zh-TW" sz="3200" i="1">
                            <a:solidFill>
                              <a:prstClr val="black"/>
                            </a:solidFill>
                            <a:latin typeface="Cambria Math" panose="02040503050406030204" pitchFamily="18" charset="0"/>
                          </a:rPr>
                          <m:t>1</m:t>
                        </m:r>
                      </m:sub>
                    </m:sSub>
                    <m:d>
                      <m:dPr>
                        <m:ctrlPr>
                          <a:rPr lang="en-US" altLang="zh-TW" sz="3200" i="1">
                            <a:solidFill>
                              <a:prstClr val="black"/>
                            </a:solidFill>
                            <a:latin typeface="Cambria Math" panose="02040503050406030204" pitchFamily="18" charset="0"/>
                          </a:rPr>
                        </m:ctrlPr>
                      </m:dPr>
                      <m:e>
                        <m:r>
                          <a:rPr lang="en-US" altLang="zh-TW" sz="3200" i="1">
                            <a:solidFill>
                              <a:prstClr val="black"/>
                            </a:solidFill>
                            <a:latin typeface="Cambria Math" panose="02040503050406030204" pitchFamily="18" charset="0"/>
                          </a:rPr>
                          <m:t>𝑇</m:t>
                        </m:r>
                      </m:e>
                    </m:d>
                    <m:r>
                      <a:rPr lang="en-US" altLang="zh-TW" sz="3200" i="1">
                        <a:solidFill>
                          <a:prstClr val="black"/>
                        </a:solidFill>
                        <a:latin typeface="Cambria Math" panose="02040503050406030204" pitchFamily="18" charset="0"/>
                      </a:rPr>
                      <m:t>=</m:t>
                    </m:r>
                    <m:f>
                      <m:fPr>
                        <m:ctrlPr>
                          <a:rPr lang="en-US" altLang="zh-TW" sz="3200" i="1">
                            <a:solidFill>
                              <a:prstClr val="black"/>
                            </a:solidFill>
                            <a:latin typeface="Cambria Math" panose="02040503050406030204" pitchFamily="18" charset="0"/>
                          </a:rPr>
                        </m:ctrlPr>
                      </m:fPr>
                      <m:num>
                        <m:r>
                          <a:rPr lang="en-US" altLang="zh-TW" sz="3200" i="1">
                            <a:solidFill>
                              <a:prstClr val="black"/>
                            </a:solidFill>
                            <a:latin typeface="Cambria Math" panose="02040503050406030204" pitchFamily="18" charset="0"/>
                          </a:rPr>
                          <m:t>1</m:t>
                        </m:r>
                      </m:num>
                      <m:den>
                        <m:sSub>
                          <m:sSubPr>
                            <m:ctrlPr>
                              <a:rPr lang="en-US" altLang="zh-TW" sz="3200" i="1">
                                <a:solidFill>
                                  <a:prstClr val="black"/>
                                </a:solidFill>
                                <a:latin typeface="Cambria Math" panose="02040503050406030204" pitchFamily="18" charset="0"/>
                              </a:rPr>
                            </m:ctrlPr>
                          </m:sSubPr>
                          <m:e>
                            <m:r>
                              <a:rPr lang="zh-TW" altLang="en-US" sz="3200" i="1">
                                <a:solidFill>
                                  <a:prstClr val="black"/>
                                </a:solidFill>
                                <a:latin typeface="Cambria Math" panose="02040503050406030204" pitchFamily="18" charset="0"/>
                              </a:rPr>
                              <m:t>𝜎</m:t>
                            </m:r>
                          </m:e>
                          <m:sub>
                            <m:r>
                              <a:rPr lang="en-US" altLang="zh-TW" sz="3200" i="1">
                                <a:solidFill>
                                  <a:prstClr val="black"/>
                                </a:solidFill>
                                <a:latin typeface="Cambria Math" panose="02040503050406030204" pitchFamily="18" charset="0"/>
                              </a:rPr>
                              <m:t>1</m:t>
                            </m:r>
                          </m:sub>
                        </m:sSub>
                      </m:den>
                    </m:f>
                    <m:func>
                      <m:funcPr>
                        <m:ctrlPr>
                          <a:rPr lang="en-US" altLang="zh-TW" sz="3200" i="1">
                            <a:solidFill>
                              <a:prstClr val="black"/>
                            </a:solidFill>
                            <a:latin typeface="Cambria Math" panose="02040503050406030204" pitchFamily="18" charset="0"/>
                          </a:rPr>
                        </m:ctrlPr>
                      </m:funcPr>
                      <m:fName>
                        <m:r>
                          <m:rPr>
                            <m:sty m:val="p"/>
                          </m:rPr>
                          <a:rPr lang="en-US" altLang="zh-TW" sz="3200">
                            <a:solidFill>
                              <a:prstClr val="black"/>
                            </a:solidFill>
                            <a:latin typeface="Cambria Math" panose="02040503050406030204" pitchFamily="18" charset="0"/>
                          </a:rPr>
                          <m:t>ln</m:t>
                        </m:r>
                      </m:fName>
                      <m:e>
                        <m:r>
                          <a:rPr lang="en-US" altLang="zh-TW" sz="3200" i="1">
                            <a:solidFill>
                              <a:prstClr val="black"/>
                            </a:solidFill>
                            <a:latin typeface="Cambria Math" panose="02040503050406030204" pitchFamily="18" charset="0"/>
                          </a:rPr>
                          <m:t>[</m:t>
                        </m:r>
                        <m:f>
                          <m:fPr>
                            <m:ctrlPr>
                              <a:rPr lang="en-US" altLang="zh-TW" sz="3200" i="1">
                                <a:solidFill>
                                  <a:prstClr val="black"/>
                                </a:solidFill>
                                <a:latin typeface="Cambria Math" panose="02040503050406030204" pitchFamily="18" charset="0"/>
                              </a:rPr>
                            </m:ctrlPr>
                          </m:fPr>
                          <m:num>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1</m:t>
                                </m:r>
                              </m:sub>
                            </m:sSub>
                            <m:r>
                              <a:rPr lang="en-US" altLang="zh-TW" sz="3200" i="1">
                                <a:latin typeface="Cambria Math" panose="02040503050406030204" pitchFamily="18" charset="0"/>
                              </a:rPr>
                              <m:t>+</m:t>
                            </m:r>
                            <m:sSub>
                              <m:sSubPr>
                                <m:ctrlPr>
                                  <a:rPr lang="en-US" altLang="zh-TW" sz="3200" i="1">
                                    <a:latin typeface="Cambria Math" panose="02040503050406030204" pitchFamily="18" charset="0"/>
                                  </a:rPr>
                                </m:ctrlPr>
                              </m:sSubPr>
                              <m:e>
                                <m:r>
                                  <a:rPr lang="en-US" altLang="zh-TW" sz="3200" i="1">
                                    <a:latin typeface="Cambria Math"/>
                                  </a:rPr>
                                  <m:t>𝐶</m:t>
                                </m:r>
                              </m:e>
                              <m:sub>
                                <m:r>
                                  <a:rPr lang="en-US" altLang="zh-TW" sz="3200" i="1">
                                    <a:latin typeface="Cambria Math"/>
                                  </a:rPr>
                                  <m:t>1</m:t>
                                </m:r>
                              </m:sub>
                            </m:sSub>
                            <m:sSub>
                              <m:sSubPr>
                                <m:ctrlPr>
                                  <a:rPr lang="en-US" altLang="zh-TW" sz="3200" i="1">
                                    <a:latin typeface="Cambria Math" panose="02040503050406030204" pitchFamily="18" charset="0"/>
                                  </a:rPr>
                                </m:ctrlPr>
                              </m:sSubPr>
                              <m:e>
                                <m:r>
                                  <a:rPr lang="en-US" altLang="zh-TW" sz="3200" i="1">
                                    <a:latin typeface="Cambria Math"/>
                                  </a:rPr>
                                  <m:t>𝐷</m:t>
                                </m:r>
                              </m:e>
                              <m:sub>
                                <m:r>
                                  <a:rPr lang="en-US" altLang="zh-TW" sz="3200" i="1">
                                    <a:latin typeface="Cambria Math"/>
                                  </a:rPr>
                                  <m:t>1</m:t>
                                </m:r>
                              </m:sub>
                            </m:sSub>
                            <m:r>
                              <a:rPr lang="en-US" altLang="zh-TW" sz="3200" i="1">
                                <a:latin typeface="Cambria Math"/>
                              </a:rPr>
                              <m:t>𝑇</m:t>
                            </m:r>
                            <m:r>
                              <m:rPr>
                                <m:nor/>
                              </m:rPr>
                              <a:rPr lang="en-US" altLang="zh-TW" sz="3200" dirty="0"/>
                              <m:t> </m:t>
                            </m:r>
                          </m:num>
                          <m:den>
                            <m:r>
                              <a:rPr lang="en-US" altLang="zh-TW" sz="3200" i="1">
                                <a:latin typeface="Cambria Math" panose="02040503050406030204" pitchFamily="18" charset="0"/>
                              </a:rPr>
                              <m:t>(1−</m:t>
                            </m:r>
                            <m:r>
                              <a:rPr lang="zh-TW" altLang="en-US" sz="3200" i="1">
                                <a:latin typeface="Cambria Math" panose="02040503050406030204" pitchFamily="18" charset="0"/>
                              </a:rPr>
                              <m:t>𝛼</m:t>
                            </m:r>
                            <m:r>
                              <a:rPr lang="en-US" altLang="zh-TW" sz="3200" i="1">
                                <a:latin typeface="Cambria Math" panose="02040503050406030204" pitchFamily="18" charset="0"/>
                              </a:rPr>
                              <m:t>)</m:t>
                            </m:r>
                            <m:r>
                              <a:rPr lang="en-US" altLang="zh-TW" sz="3200" i="1">
                                <a:solidFill>
                                  <a:prstClr val="black"/>
                                </a:solidFill>
                                <a:latin typeface="Cambria Math" panose="02040503050406030204" pitchFamily="18" charset="0"/>
                              </a:rPr>
                              <m:t>𝑉</m:t>
                            </m:r>
                            <m:d>
                              <m:dPr>
                                <m:ctrlPr>
                                  <a:rPr lang="en-US" altLang="zh-TW" sz="3200" i="1">
                                    <a:solidFill>
                                      <a:prstClr val="black"/>
                                    </a:solidFill>
                                    <a:latin typeface="Cambria Math" panose="02040503050406030204" pitchFamily="18" charset="0"/>
                                  </a:rPr>
                                </m:ctrlPr>
                              </m:dPr>
                              <m:e>
                                <m:r>
                                  <a:rPr lang="en-US" altLang="zh-TW" sz="3200" i="1">
                                    <a:solidFill>
                                      <a:prstClr val="black"/>
                                    </a:solidFill>
                                    <a:latin typeface="Cambria Math" panose="02040503050406030204" pitchFamily="18" charset="0"/>
                                  </a:rPr>
                                  <m:t>0</m:t>
                                </m:r>
                              </m:e>
                            </m:d>
                          </m:den>
                        </m:f>
                      </m:e>
                    </m:func>
                    <m:r>
                      <a:rPr lang="en-US" altLang="zh-TW" sz="3200" i="1">
                        <a:solidFill>
                          <a:prstClr val="black"/>
                        </a:solidFill>
                        <a:latin typeface="Cambria Math" panose="02040503050406030204" pitchFamily="18" charset="0"/>
                      </a:rPr>
                      <m:t>]</m:t>
                    </m:r>
                  </m:oMath>
                </a14:m>
                <a:r>
                  <a:rPr lang="en-US" altLang="zh-TW" sz="3200" dirty="0">
                    <a:latin typeface="微軟正黑體" panose="020B0604030504040204" pitchFamily="34" charset="-120"/>
                    <a:ea typeface="微軟正黑體" panose="020B0604030504040204" pitchFamily="34" charset="-120"/>
                  </a:rPr>
                  <a:t> ,</a:t>
                </a:r>
                <a:r>
                  <a:rPr lang="zh-TW" altLang="en-US" sz="3200" dirty="0">
                    <a:latin typeface="微軟正黑體" panose="020B0604030504040204" pitchFamily="34" charset="-120"/>
                    <a:ea typeface="微軟正黑體" panose="020B0604030504040204" pitchFamily="34" charset="-120"/>
                  </a:rPr>
                  <a:t>令為 </a:t>
                </a:r>
                <a14:m>
                  <m:oMath xmlns:m="http://schemas.openxmlformats.org/officeDocument/2006/math">
                    <m:sSub>
                      <m:sSubPr>
                        <m:ctrlPr>
                          <a:rPr lang="en-US" altLang="zh-TW" sz="3200" i="1">
                            <a:latin typeface="Cambria Math" panose="02040503050406030204" pitchFamily="18" charset="0"/>
                            <a:ea typeface="微軟正黑體" panose="020B0604030504040204" pitchFamily="34" charset="-120"/>
                          </a:rPr>
                        </m:ctrlPr>
                      </m:sSubPr>
                      <m:e>
                        <m:r>
                          <a:rPr lang="zh-TW" altLang="en-US" sz="3200" i="1">
                            <a:latin typeface="Cambria Math" panose="02040503050406030204" pitchFamily="18" charset="0"/>
                            <a:ea typeface="微軟正黑體" panose="020B0604030504040204" pitchFamily="34" charset="-120"/>
                          </a:rPr>
                          <m:t>𝒹</m:t>
                        </m:r>
                      </m:e>
                      <m:sub>
                        <m:r>
                          <a:rPr lang="en-US" altLang="zh-TW" sz="3200" b="0" i="1" smtClean="0">
                            <a:latin typeface="Cambria Math" panose="02040503050406030204" pitchFamily="18" charset="0"/>
                            <a:ea typeface="微軟正黑體" panose="020B0604030504040204" pitchFamily="34" charset="-120"/>
                          </a:rPr>
                          <m:t>4</m:t>
                        </m:r>
                      </m:sub>
                    </m:sSub>
                  </m:oMath>
                </a14:m>
                <a:endParaRPr lang="zh-TW" altLang="en-US" sz="3200" dirty="0"/>
              </a:p>
            </p:txBody>
          </p:sp>
        </mc:Choice>
        <mc:Fallback xmlns="">
          <p:sp>
            <p:nvSpPr>
              <p:cNvPr id="5" name="矩形 4"/>
              <p:cNvSpPr>
                <a:spLocks noRot="1" noChangeAspect="1" noMove="1" noResize="1" noEditPoints="1" noAdjustHandles="1" noChangeArrowheads="1" noChangeShapeType="1" noTextEdit="1"/>
              </p:cNvSpPr>
              <p:nvPr/>
            </p:nvSpPr>
            <p:spPr>
              <a:xfrm>
                <a:off x="831704" y="2419590"/>
                <a:ext cx="7859010" cy="2861232"/>
              </a:xfrm>
              <a:prstGeom prst="rect">
                <a:avLst/>
              </a:prstGeom>
              <a:blipFill rotWithShape="0">
                <a:blip r:embed="rId2"/>
                <a:stretch>
                  <a:fillRect/>
                </a:stretch>
              </a:blipFill>
            </p:spPr>
            <p:txBody>
              <a:bodyPr/>
              <a:lstStyle/>
              <a:p>
                <a:r>
                  <a:rPr lang="zh-TW" altLang="en-US">
                    <a:noFill/>
                  </a:rPr>
                  <a:t> </a:t>
                </a:r>
              </a:p>
            </p:txBody>
          </p:sp>
        </mc:Fallback>
      </mc:AlternateContent>
      <p:sp>
        <p:nvSpPr>
          <p:cNvPr id="6" name="標題 1"/>
          <p:cNvSpPr txBox="1">
            <a:spLocks/>
          </p:cNvSpPr>
          <p:nvPr/>
        </p:nvSpPr>
        <p:spPr>
          <a:xfrm>
            <a:off x="347730" y="283333"/>
            <a:ext cx="11844270" cy="79252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TW" altLang="en-US" sz="4800" dirty="0" smtClean="0">
                <a:latin typeface="微軟正黑體" panose="020B0604030504040204" pitchFamily="34" charset="-120"/>
                <a:ea typeface="微軟正黑體" panose="020B0604030504040204" pitchFamily="34" charset="-120"/>
                <a:cs typeface="Arial" pitchFamily="34" charset="0"/>
              </a:rPr>
              <a:t>邊</a:t>
            </a:r>
            <a:r>
              <a:rPr lang="zh-TW" altLang="en-US" sz="4800" dirty="0">
                <a:latin typeface="微軟正黑體" panose="020B0604030504040204" pitchFamily="34" charset="-120"/>
                <a:ea typeface="微軟正黑體" panose="020B0604030504040204" pitchFamily="34" charset="-120"/>
                <a:cs typeface="Arial" pitchFamily="34" charset="0"/>
              </a:rPr>
              <a:t>界</a:t>
            </a:r>
            <a:r>
              <a:rPr lang="zh-TW" altLang="en-US" sz="4800" dirty="0" smtClean="0">
                <a:latin typeface="微軟正黑體" panose="020B0604030504040204" pitchFamily="34" charset="-120"/>
                <a:ea typeface="微軟正黑體" panose="020B0604030504040204" pitchFamily="34" charset="-120"/>
                <a:cs typeface="Arial" pitchFamily="34" charset="0"/>
              </a:rPr>
              <a:t>設定</a:t>
            </a:r>
            <a:r>
              <a:rPr lang="en-US" altLang="zh-TW" sz="4800" dirty="0" smtClean="0">
                <a:latin typeface="微軟正黑體" panose="020B0604030504040204" pitchFamily="34" charset="-120"/>
                <a:ea typeface="微軟正黑體" panose="020B0604030504040204" pitchFamily="34" charset="-120"/>
                <a:cs typeface="Arial" pitchFamily="34" charset="0"/>
              </a:rPr>
              <a:t>(4/5)</a:t>
            </a:r>
            <a:endParaRPr lang="zh-TW" altLang="en-US" sz="48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1672552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7730" y="1342372"/>
            <a:ext cx="5312095" cy="584775"/>
          </a:xfrm>
          <a:prstGeom prst="rect">
            <a:avLst/>
          </a:prstGeom>
        </p:spPr>
        <p:txBody>
          <a:bodyPr wrap="none">
            <a:spAutoFit/>
          </a:bodyPr>
          <a:lstStyle/>
          <a:p>
            <a:r>
              <a:rPr lang="en-US" altLang="zh-TW" sz="3200" dirty="0">
                <a:solidFill>
                  <a:srgbClr val="000000"/>
                </a:solidFill>
                <a:latin typeface="微軟正黑體" panose="020B0604030504040204" pitchFamily="34" charset="-120"/>
                <a:ea typeface="微軟正黑體" panose="020B0604030504040204" pitchFamily="34" charset="-120"/>
              </a:rPr>
              <a:t>5</a:t>
            </a:r>
            <a:r>
              <a:rPr lang="en-US" altLang="zh-TW" sz="3200" dirty="0" smtClean="0">
                <a:solidFill>
                  <a:srgbClr val="000000"/>
                </a:solidFill>
                <a:latin typeface="微軟正黑體" panose="020B0604030504040204" pitchFamily="34" charset="-120"/>
                <a:ea typeface="微軟正黑體" panose="020B0604030504040204" pitchFamily="34" charset="-120"/>
              </a:rPr>
              <a:t>.</a:t>
            </a:r>
            <a:r>
              <a:rPr lang="zh-TW" altLang="en-US" sz="3200" dirty="0" smtClean="0">
                <a:solidFill>
                  <a:srgbClr val="000000"/>
                </a:solidFill>
                <a:latin typeface="微軟正黑體" panose="020B0604030504040204" pitchFamily="34" charset="-120"/>
                <a:ea typeface="微軟正黑體" panose="020B0604030504040204" pitchFamily="34" charset="-120"/>
              </a:rPr>
              <a:t> </a:t>
            </a:r>
            <a:r>
              <a:rPr lang="en-US" altLang="zh-TW" sz="3200" dirty="0">
                <a:latin typeface="微軟正黑體" panose="020B0604030504040204" pitchFamily="34" charset="-120"/>
                <a:ea typeface="微軟正黑體" panose="020B0604030504040204" pitchFamily="34" charset="-120"/>
              </a:rPr>
              <a:t>CC</a:t>
            </a:r>
            <a:r>
              <a:rPr lang="zh-TW" altLang="en-US" sz="3200" dirty="0">
                <a:latin typeface="微軟正黑體" panose="020B0604030504040204" pitchFamily="34" charset="-120"/>
                <a:ea typeface="微軟正黑體" panose="020B0604030504040204" pitchFamily="34" charset="-120"/>
              </a:rPr>
              <a:t>轉換的邊界</a:t>
            </a:r>
            <a:r>
              <a:rPr lang="en-US" altLang="zh-TW" sz="3200" dirty="0">
                <a:latin typeface="微軟正黑體" panose="020B0604030504040204" pitchFamily="34" charset="-120"/>
                <a:ea typeface="微軟正黑體" panose="020B0604030504040204" pitchFamily="34" charset="-120"/>
              </a:rPr>
              <a:t>(</a:t>
            </a:r>
            <a:r>
              <a:rPr lang="zh-TW" altLang="en-US" sz="3200" dirty="0" smtClean="0">
                <a:latin typeface="微軟正黑體" panose="020B0604030504040204" pitchFamily="34" charset="-120"/>
                <a:ea typeface="微軟正黑體" panose="020B0604030504040204" pitchFamily="34" charset="-120"/>
              </a:rPr>
              <a:t>與</a:t>
            </a:r>
            <a:r>
              <a:rPr lang="en-US" altLang="zh-TW" sz="3200" dirty="0">
                <a:latin typeface="微軟正黑體" panose="020B0604030504040204" pitchFamily="34" charset="-120"/>
                <a:ea typeface="微軟正黑體" panose="020B0604030504040204" pitchFamily="34" charset="-120"/>
              </a:rPr>
              <a:t>I</a:t>
            </a:r>
            <a:r>
              <a:rPr lang="en-US" altLang="zh-TW" sz="3200" dirty="0" smtClean="0">
                <a:latin typeface="微軟正黑體" panose="020B0604030504040204" pitchFamily="34" charset="-120"/>
                <a:ea typeface="微軟正黑體" panose="020B0604030504040204" pitchFamily="34" charset="-120"/>
              </a:rPr>
              <a:t>(T</a:t>
            </a:r>
            <a:r>
              <a:rPr lang="en-US" altLang="zh-TW" sz="3200" dirty="0">
                <a:latin typeface="微軟正黑體" panose="020B0604030504040204" pitchFamily="34" charset="-120"/>
                <a:ea typeface="微軟正黑體" panose="020B0604030504040204" pitchFamily="34" charset="-120"/>
              </a:rPr>
              <a:t>)</a:t>
            </a:r>
            <a:r>
              <a:rPr lang="zh-TW" altLang="en-US" sz="3200" dirty="0">
                <a:latin typeface="微軟正黑體" panose="020B0604030504040204" pitchFamily="34" charset="-120"/>
                <a:ea typeface="微軟正黑體" panose="020B0604030504040204" pitchFamily="34" charset="-120"/>
              </a:rPr>
              <a:t>有關</a:t>
            </a:r>
            <a:r>
              <a:rPr lang="en-US" altLang="zh-TW" sz="3200" dirty="0">
                <a:latin typeface="微軟正黑體" panose="020B0604030504040204" pitchFamily="34" charset="-120"/>
                <a:ea typeface="微軟正黑體" panose="020B0604030504040204" pitchFamily="34" charset="-120"/>
              </a:rPr>
              <a:t>)</a:t>
            </a:r>
            <a:endParaRPr lang="zh-TW" altLang="en-US" sz="3200" dirty="0">
              <a:latin typeface="微軟正黑體" panose="020B0604030504040204" pitchFamily="34" charset="-120"/>
              <a:ea typeface="微軟正黑體" panose="020B0604030504040204" pitchFamily="34" charset="-120"/>
            </a:endParaRPr>
          </a:p>
        </p:txBody>
      </p:sp>
      <mc:AlternateContent xmlns:mc="http://schemas.openxmlformats.org/markup-compatibility/2006" xmlns:a14="http://schemas.microsoft.com/office/drawing/2010/main">
        <mc:Choice Requires="a14">
          <p:sp>
            <p:nvSpPr>
              <p:cNvPr id="5" name="矩形 4"/>
              <p:cNvSpPr/>
              <p:nvPr/>
            </p:nvSpPr>
            <p:spPr>
              <a:xfrm>
                <a:off x="831704" y="2419590"/>
                <a:ext cx="7859010" cy="258801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altLang="zh-TW" sz="3200" b="0" i="1" smtClean="0">
                          <a:latin typeface="Cambria Math" panose="02040503050406030204" pitchFamily="18" charset="0"/>
                        </a:rPr>
                        <m:t>𝐼</m:t>
                      </m:r>
                      <m:d>
                        <m:dPr>
                          <m:ctrlPr>
                            <a:rPr lang="en-US" altLang="zh-TW" sz="3200" i="1">
                              <a:latin typeface="Cambria Math" panose="02040503050406030204" pitchFamily="18" charset="0"/>
                            </a:rPr>
                          </m:ctrlPr>
                        </m:dPr>
                        <m:e>
                          <m:r>
                            <a:rPr lang="en-US" altLang="zh-TW" sz="3200" i="1">
                              <a:latin typeface="Cambria Math" panose="02040503050406030204" pitchFamily="18" charset="0"/>
                            </a:rPr>
                            <m:t>𝑇</m:t>
                          </m:r>
                        </m:e>
                      </m:d>
                      <m:r>
                        <a:rPr lang="en-US" altLang="zh-TW" sz="3200" i="1">
                          <a:latin typeface="Cambria Math" panose="02040503050406030204" pitchFamily="18" charset="0"/>
                        </a:rPr>
                        <m:t>=</m:t>
                      </m:r>
                      <m:r>
                        <a:rPr lang="en-US" altLang="zh-TW" sz="3200" b="0" i="1" smtClean="0">
                          <a:latin typeface="Cambria Math" panose="02040503050406030204" pitchFamily="18" charset="0"/>
                        </a:rPr>
                        <m:t>𝐼</m:t>
                      </m:r>
                      <m:r>
                        <a:rPr lang="en-US" altLang="zh-TW" sz="3200" i="1">
                          <a:latin typeface="Cambria Math" panose="02040503050406030204" pitchFamily="18" charset="0"/>
                        </a:rPr>
                        <m:t>(0)</m:t>
                      </m:r>
                    </m:oMath>
                  </m:oMathPara>
                </a14:m>
                <a:endParaRPr lang="en-US" altLang="zh-TW" sz="3200" dirty="0" smtClean="0">
                  <a:latin typeface="微軟正黑體" panose="020B0604030504040204" pitchFamily="34" charset="-120"/>
                  <a:ea typeface="微軟正黑體" panose="020B0604030504040204" pitchFamily="34" charset="-120"/>
                </a:endParaRPr>
              </a:p>
              <a:p>
                <a:endParaRPr lang="en-US" altLang="zh-TW" sz="3200" dirty="0">
                  <a:latin typeface="微軟正黑體" panose="020B0604030504040204" pitchFamily="34" charset="-120"/>
                  <a:ea typeface="微軟正黑體" panose="020B0604030504040204" pitchFamily="34" charset="-120"/>
                </a:endParaRPr>
              </a:p>
              <a:p>
                <a:pPr/>
                <a14:m>
                  <m:oMathPara xmlns:m="http://schemas.openxmlformats.org/officeDocument/2006/math">
                    <m:oMathParaPr>
                      <m:jc m:val="left"/>
                    </m:oMathParaPr>
                    <m:oMath xmlns:m="http://schemas.openxmlformats.org/officeDocument/2006/math">
                      <m:r>
                        <a:rPr lang="en-US" altLang="zh-TW" sz="3200" i="1">
                          <a:latin typeface="Cambria Math" panose="02040503050406030204" pitchFamily="18" charset="0"/>
                          <a:ea typeface="Cambria Math" panose="02040503050406030204" pitchFamily="18" charset="0"/>
                        </a:rPr>
                        <m:t>⇒</m:t>
                      </m:r>
                      <m:r>
                        <a:rPr lang="en-US" altLang="zh-TW" sz="3200" b="0" i="1" smtClean="0">
                          <a:latin typeface="Cambria Math" panose="02040503050406030204" pitchFamily="18" charset="0"/>
                        </a:rPr>
                        <m:t>𝐼</m:t>
                      </m:r>
                      <m:d>
                        <m:dPr>
                          <m:ctrlPr>
                            <a:rPr lang="en-US" altLang="zh-TW" sz="3200" i="1">
                              <a:latin typeface="Cambria Math" panose="02040503050406030204" pitchFamily="18" charset="0"/>
                            </a:rPr>
                          </m:ctrlPr>
                        </m:dPr>
                        <m:e>
                          <m:r>
                            <a:rPr lang="en-US" altLang="zh-TW" sz="3200" i="1">
                              <a:latin typeface="Cambria Math" panose="02040503050406030204" pitchFamily="18" charset="0"/>
                            </a:rPr>
                            <m:t>0</m:t>
                          </m:r>
                        </m:e>
                      </m:d>
                      <m:sSup>
                        <m:sSupPr>
                          <m:ctrlPr>
                            <a:rPr lang="en-US" altLang="zh-TW" sz="3200" i="1">
                              <a:solidFill>
                                <a:prstClr val="black"/>
                              </a:solidFill>
                              <a:latin typeface="Cambria Math" panose="02040503050406030204" pitchFamily="18" charset="0"/>
                            </a:rPr>
                          </m:ctrlPr>
                        </m:sSupPr>
                        <m:e>
                          <m:r>
                            <a:rPr lang="en-US" altLang="zh-TW" sz="3200" i="1">
                              <a:solidFill>
                                <a:prstClr val="black"/>
                              </a:solidFill>
                              <a:latin typeface="Cambria Math" panose="02040503050406030204" pitchFamily="18" charset="0"/>
                              <a:ea typeface="Cambria Math" panose="02040503050406030204" pitchFamily="18" charset="0"/>
                            </a:rPr>
                            <m:t>ℯ</m:t>
                          </m:r>
                        </m:e>
                        <m:sup>
                          <m:sSub>
                            <m:sSubPr>
                              <m:ctrlPr>
                                <a:rPr lang="en-US" altLang="zh-TW" sz="3200" i="1">
                                  <a:solidFill>
                                    <a:prstClr val="black"/>
                                  </a:solidFill>
                                  <a:latin typeface="Cambria Math" panose="02040503050406030204" pitchFamily="18" charset="0"/>
                                </a:rPr>
                              </m:ctrlPr>
                            </m:sSubPr>
                            <m:e>
                              <m:r>
                                <a:rPr lang="zh-TW" altLang="en-US" sz="3200" i="1">
                                  <a:solidFill>
                                    <a:prstClr val="black"/>
                                  </a:solidFill>
                                  <a:latin typeface="Cambria Math" panose="02040503050406030204" pitchFamily="18" charset="0"/>
                                </a:rPr>
                                <m:t>𝜎</m:t>
                              </m:r>
                            </m:e>
                            <m:sub>
                              <m:r>
                                <a:rPr lang="en-US" altLang="zh-TW" sz="3200" i="1">
                                  <a:solidFill>
                                    <a:prstClr val="black"/>
                                  </a:solidFill>
                                  <a:latin typeface="Cambria Math" panose="02040503050406030204" pitchFamily="18" charset="0"/>
                                </a:rPr>
                                <m:t>2</m:t>
                              </m:r>
                            </m:sub>
                          </m:sSub>
                          <m:sSub>
                            <m:sSubPr>
                              <m:ctrlPr>
                                <a:rPr lang="en-US" altLang="zh-TW" sz="3200" i="1">
                                  <a:solidFill>
                                    <a:prstClr val="black"/>
                                  </a:solidFill>
                                  <a:latin typeface="Cambria Math" panose="02040503050406030204" pitchFamily="18" charset="0"/>
                                </a:rPr>
                              </m:ctrlPr>
                            </m:sSubPr>
                            <m:e>
                              <m:r>
                                <a:rPr lang="en-US" altLang="zh-TW" sz="3200" i="1">
                                  <a:solidFill>
                                    <a:prstClr val="black"/>
                                  </a:solidFill>
                                  <a:latin typeface="Cambria Math" panose="02040503050406030204" pitchFamily="18" charset="0"/>
                                </a:rPr>
                                <m:t>𝐵</m:t>
                              </m:r>
                            </m:e>
                            <m:sub>
                              <m:r>
                                <a:rPr lang="en-US" altLang="zh-TW" sz="3200" i="1">
                                  <a:solidFill>
                                    <a:prstClr val="black"/>
                                  </a:solidFill>
                                  <a:latin typeface="Cambria Math" panose="02040503050406030204" pitchFamily="18" charset="0"/>
                                </a:rPr>
                                <m:t>2</m:t>
                              </m:r>
                            </m:sub>
                          </m:sSub>
                          <m:d>
                            <m:dPr>
                              <m:ctrlPr>
                                <a:rPr lang="en-US" altLang="zh-TW" sz="3200" i="1">
                                  <a:solidFill>
                                    <a:prstClr val="black"/>
                                  </a:solidFill>
                                  <a:latin typeface="Cambria Math" panose="02040503050406030204" pitchFamily="18" charset="0"/>
                                </a:rPr>
                              </m:ctrlPr>
                            </m:dPr>
                            <m:e>
                              <m:r>
                                <a:rPr lang="en-US" altLang="zh-TW" sz="3200" i="1">
                                  <a:solidFill>
                                    <a:prstClr val="black"/>
                                  </a:solidFill>
                                  <a:latin typeface="Cambria Math" panose="02040503050406030204" pitchFamily="18" charset="0"/>
                                </a:rPr>
                                <m:t>𝑇</m:t>
                              </m:r>
                            </m:e>
                          </m:d>
                        </m:sup>
                      </m:sSup>
                      <m:r>
                        <a:rPr lang="en-US" altLang="zh-TW" sz="3200" i="1">
                          <a:solidFill>
                            <a:prstClr val="black"/>
                          </a:solidFill>
                          <a:latin typeface="Cambria Math" panose="02040503050406030204" pitchFamily="18" charset="0"/>
                        </a:rPr>
                        <m:t>=</m:t>
                      </m:r>
                      <m:r>
                        <a:rPr lang="en-US" altLang="zh-TW" sz="3200" b="0" i="1" smtClean="0">
                          <a:latin typeface="Cambria Math" panose="02040503050406030204" pitchFamily="18" charset="0"/>
                        </a:rPr>
                        <m:t>𝐼</m:t>
                      </m:r>
                      <m:d>
                        <m:dPr>
                          <m:ctrlPr>
                            <a:rPr lang="en-US" altLang="zh-TW" sz="3200" i="1">
                              <a:latin typeface="Cambria Math" panose="02040503050406030204" pitchFamily="18" charset="0"/>
                            </a:rPr>
                          </m:ctrlPr>
                        </m:dPr>
                        <m:e>
                          <m:r>
                            <a:rPr lang="en-US" altLang="zh-TW" sz="3200" i="1">
                              <a:latin typeface="Cambria Math" panose="02040503050406030204" pitchFamily="18" charset="0"/>
                            </a:rPr>
                            <m:t>0</m:t>
                          </m:r>
                        </m:e>
                      </m:d>
                    </m:oMath>
                  </m:oMathPara>
                </a14:m>
                <a:endParaRPr lang="en-US" altLang="zh-TW" sz="3200" i="1" dirty="0" smtClean="0">
                  <a:latin typeface="Cambria Math" panose="02040503050406030204" pitchFamily="18" charset="0"/>
                </a:endParaRPr>
              </a:p>
              <a:p>
                <a:endParaRPr lang="en-US" altLang="zh-TW" sz="32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en-US" altLang="zh-TW" sz="3200" i="1">
                              <a:solidFill>
                                <a:prstClr val="black"/>
                              </a:solidFill>
                              <a:latin typeface="Cambria Math" panose="02040503050406030204" pitchFamily="18" charset="0"/>
                            </a:rPr>
                          </m:ctrlPr>
                        </m:sSubPr>
                        <m:e>
                          <m:r>
                            <a:rPr lang="en-US" altLang="zh-TW" sz="3200" i="1">
                              <a:latin typeface="Cambria Math" panose="02040503050406030204" pitchFamily="18" charset="0"/>
                              <a:ea typeface="Cambria Math" panose="02040503050406030204" pitchFamily="18" charset="0"/>
                            </a:rPr>
                            <m:t>⇒</m:t>
                          </m:r>
                          <m:r>
                            <a:rPr lang="en-US" altLang="zh-TW" sz="3200" i="1">
                              <a:solidFill>
                                <a:prstClr val="black"/>
                              </a:solidFill>
                              <a:latin typeface="Cambria Math" panose="02040503050406030204" pitchFamily="18" charset="0"/>
                            </a:rPr>
                            <m:t>𝐵</m:t>
                          </m:r>
                        </m:e>
                        <m:sub>
                          <m:r>
                            <a:rPr lang="en-US" altLang="zh-TW" sz="3200" i="1">
                              <a:solidFill>
                                <a:prstClr val="black"/>
                              </a:solidFill>
                              <a:latin typeface="Cambria Math" panose="02040503050406030204" pitchFamily="18" charset="0"/>
                            </a:rPr>
                            <m:t>2</m:t>
                          </m:r>
                        </m:sub>
                      </m:sSub>
                      <m:d>
                        <m:dPr>
                          <m:ctrlPr>
                            <a:rPr lang="en-US" altLang="zh-TW" sz="3200" i="1">
                              <a:solidFill>
                                <a:prstClr val="black"/>
                              </a:solidFill>
                              <a:latin typeface="Cambria Math" panose="02040503050406030204" pitchFamily="18" charset="0"/>
                            </a:rPr>
                          </m:ctrlPr>
                        </m:dPr>
                        <m:e>
                          <m:r>
                            <a:rPr lang="en-US" altLang="zh-TW" sz="3200" i="1">
                              <a:solidFill>
                                <a:prstClr val="black"/>
                              </a:solidFill>
                              <a:latin typeface="Cambria Math" panose="02040503050406030204" pitchFamily="18" charset="0"/>
                            </a:rPr>
                            <m:t>𝑇</m:t>
                          </m:r>
                        </m:e>
                      </m:d>
                      <m:r>
                        <a:rPr lang="en-US" altLang="zh-TW" sz="3200" i="1">
                          <a:solidFill>
                            <a:prstClr val="black"/>
                          </a:solidFill>
                          <a:latin typeface="Cambria Math" panose="02040503050406030204" pitchFamily="18" charset="0"/>
                        </a:rPr>
                        <m:t>=0 , </m:t>
                      </m:r>
                      <m:r>
                        <a:rPr lang="zh-TW" altLang="en-US" sz="3200" i="1">
                          <a:solidFill>
                            <a:prstClr val="black"/>
                          </a:solidFill>
                          <a:latin typeface="Cambria Math" panose="02040503050406030204" pitchFamily="18" charset="0"/>
                        </a:rPr>
                        <m:t>令</m:t>
                      </m:r>
                      <m:r>
                        <a:rPr lang="zh-TW" altLang="en-US" sz="3200" i="1" dirty="0">
                          <a:solidFill>
                            <a:prstClr val="black"/>
                          </a:solidFill>
                          <a:latin typeface="Cambria Math" panose="02040503050406030204" pitchFamily="18" charset="0"/>
                          <a:ea typeface="微軟正黑體" panose="020B0604030504040204" pitchFamily="34" charset="-120"/>
                        </a:rPr>
                        <m:t>為</m:t>
                      </m:r>
                      <m:sSub>
                        <m:sSubPr>
                          <m:ctrlPr>
                            <a:rPr lang="en-US" altLang="zh-TW" sz="3200" i="1">
                              <a:latin typeface="Cambria Math" panose="02040503050406030204" pitchFamily="18" charset="0"/>
                              <a:ea typeface="微軟正黑體" panose="020B0604030504040204" pitchFamily="34" charset="-120"/>
                            </a:rPr>
                          </m:ctrlPr>
                        </m:sSubPr>
                        <m:e>
                          <m:r>
                            <a:rPr lang="zh-TW" altLang="en-US" sz="3200" i="1">
                              <a:latin typeface="Cambria Math" panose="02040503050406030204" pitchFamily="18" charset="0"/>
                              <a:ea typeface="微軟正黑體" panose="020B0604030504040204" pitchFamily="34" charset="-120"/>
                            </a:rPr>
                            <m:t>𝒹</m:t>
                          </m:r>
                        </m:e>
                        <m:sub>
                          <m:r>
                            <a:rPr lang="en-US" altLang="zh-TW" sz="3200" b="0" i="1" smtClean="0">
                              <a:latin typeface="Cambria Math" panose="02040503050406030204" pitchFamily="18" charset="0"/>
                              <a:ea typeface="微軟正黑體" panose="020B0604030504040204" pitchFamily="34" charset="-120"/>
                            </a:rPr>
                            <m:t>5</m:t>
                          </m:r>
                        </m:sub>
                      </m:sSub>
                    </m:oMath>
                  </m:oMathPara>
                </a14:m>
                <a:endParaRPr lang="zh-TW" altLang="en-US" sz="3200" dirty="0"/>
              </a:p>
            </p:txBody>
          </p:sp>
        </mc:Choice>
        <mc:Fallback xmlns="">
          <p:sp>
            <p:nvSpPr>
              <p:cNvPr id="5" name="矩形 4"/>
              <p:cNvSpPr>
                <a:spLocks noRot="1" noChangeAspect="1" noMove="1" noResize="1" noEditPoints="1" noAdjustHandles="1" noChangeArrowheads="1" noChangeShapeType="1" noTextEdit="1"/>
              </p:cNvSpPr>
              <p:nvPr/>
            </p:nvSpPr>
            <p:spPr>
              <a:xfrm>
                <a:off x="831704" y="2419590"/>
                <a:ext cx="7859010" cy="2588016"/>
              </a:xfrm>
              <a:prstGeom prst="rect">
                <a:avLst/>
              </a:prstGeom>
              <a:blipFill rotWithShape="0">
                <a:blip r:embed="rId2"/>
                <a:stretch>
                  <a:fillRect/>
                </a:stretch>
              </a:blipFill>
            </p:spPr>
            <p:txBody>
              <a:bodyPr/>
              <a:lstStyle/>
              <a:p>
                <a:r>
                  <a:rPr lang="zh-TW" altLang="en-US">
                    <a:noFill/>
                  </a:rPr>
                  <a:t> </a:t>
                </a:r>
              </a:p>
            </p:txBody>
          </p:sp>
        </mc:Fallback>
      </mc:AlternateContent>
      <p:sp>
        <p:nvSpPr>
          <p:cNvPr id="6" name="標題 1"/>
          <p:cNvSpPr txBox="1">
            <a:spLocks/>
          </p:cNvSpPr>
          <p:nvPr/>
        </p:nvSpPr>
        <p:spPr>
          <a:xfrm>
            <a:off x="347730" y="283333"/>
            <a:ext cx="11844270" cy="79252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TW" altLang="en-US" sz="4800" dirty="0" smtClean="0">
                <a:latin typeface="微軟正黑體" panose="020B0604030504040204" pitchFamily="34" charset="-120"/>
                <a:ea typeface="微軟正黑體" panose="020B0604030504040204" pitchFamily="34" charset="-120"/>
                <a:cs typeface="Arial" pitchFamily="34" charset="0"/>
              </a:rPr>
              <a:t>邊</a:t>
            </a:r>
            <a:r>
              <a:rPr lang="zh-TW" altLang="en-US" sz="4800" dirty="0">
                <a:latin typeface="微軟正黑體" panose="020B0604030504040204" pitchFamily="34" charset="-120"/>
                <a:ea typeface="微軟正黑體" panose="020B0604030504040204" pitchFamily="34" charset="-120"/>
                <a:cs typeface="Arial" pitchFamily="34" charset="0"/>
              </a:rPr>
              <a:t>界</a:t>
            </a:r>
            <a:r>
              <a:rPr lang="zh-TW" altLang="en-US" sz="4800" dirty="0" smtClean="0">
                <a:latin typeface="微軟正黑體" panose="020B0604030504040204" pitchFamily="34" charset="-120"/>
                <a:ea typeface="微軟正黑體" panose="020B0604030504040204" pitchFamily="34" charset="-120"/>
                <a:cs typeface="Arial" pitchFamily="34" charset="0"/>
              </a:rPr>
              <a:t>設定</a:t>
            </a:r>
            <a:r>
              <a:rPr lang="en-US" altLang="zh-TW" sz="4800" dirty="0" smtClean="0">
                <a:latin typeface="微軟正黑體" panose="020B0604030504040204" pitchFamily="34" charset="-120"/>
                <a:ea typeface="微軟正黑體" panose="020B0604030504040204" pitchFamily="34" charset="-120"/>
                <a:cs typeface="Arial" pitchFamily="34" charset="0"/>
              </a:rPr>
              <a:t>(5/5)</a:t>
            </a:r>
            <a:endParaRPr lang="zh-TW" altLang="en-US" sz="48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99803884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5464151" y="4133504"/>
            <a:ext cx="1523202" cy="2243682"/>
          </a:xfrm>
          <a:prstGeom prst="rect">
            <a:avLst/>
          </a:prstGeom>
          <a:solidFill>
            <a:srgbClr val="7030A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矩形 30"/>
          <p:cNvSpPr/>
          <p:nvPr/>
        </p:nvSpPr>
        <p:spPr>
          <a:xfrm>
            <a:off x="8127694" y="1902438"/>
            <a:ext cx="2925318" cy="2243682"/>
          </a:xfrm>
          <a:prstGeom prst="rect">
            <a:avLst/>
          </a:prstGeom>
          <a:solidFill>
            <a:srgbClr val="51DF7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p:cNvSpPr/>
          <p:nvPr/>
        </p:nvSpPr>
        <p:spPr>
          <a:xfrm>
            <a:off x="5483697" y="1896958"/>
            <a:ext cx="2607282" cy="2255459"/>
          </a:xfrm>
          <a:prstGeom prst="rect">
            <a:avLst/>
          </a:prstGeom>
          <a:solidFill>
            <a:srgbClr val="FFFF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p:cNvSpPr/>
          <p:nvPr/>
        </p:nvSpPr>
        <p:spPr>
          <a:xfrm>
            <a:off x="6994706" y="4140732"/>
            <a:ext cx="2427126" cy="2246100"/>
          </a:xfrm>
          <a:prstGeom prst="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矩形 35"/>
          <p:cNvSpPr/>
          <p:nvPr/>
        </p:nvSpPr>
        <p:spPr>
          <a:xfrm>
            <a:off x="3911990" y="1908736"/>
            <a:ext cx="1549673" cy="4468450"/>
          </a:xfrm>
          <a:prstGeom prst="rect">
            <a:avLst/>
          </a:pr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標題 1"/>
          <p:cNvSpPr txBox="1">
            <a:spLocks/>
          </p:cNvSpPr>
          <p:nvPr/>
        </p:nvSpPr>
        <p:spPr>
          <a:xfrm>
            <a:off x="347730" y="283333"/>
            <a:ext cx="11844270" cy="79252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TW" altLang="en-US" sz="4800" dirty="0" smtClean="0">
                <a:latin typeface="微軟正黑體" panose="020B0604030504040204" pitchFamily="34" charset="-120"/>
                <a:ea typeface="微軟正黑體" panose="020B0604030504040204" pitchFamily="34" charset="-120"/>
                <a:cs typeface="Arial" pitchFamily="34" charset="0"/>
              </a:rPr>
              <a:t>積分範圍</a:t>
            </a:r>
            <a:r>
              <a:rPr lang="en-US" altLang="zh-TW" sz="4800" dirty="0" smtClean="0">
                <a:latin typeface="微軟正黑體" panose="020B0604030504040204" pitchFamily="34" charset="-120"/>
                <a:ea typeface="微軟正黑體" panose="020B0604030504040204" pitchFamily="34" charset="-120"/>
                <a:cs typeface="Arial" pitchFamily="34" charset="0"/>
              </a:rPr>
              <a:t>(1/4)</a:t>
            </a:r>
            <a:endParaRPr lang="zh-TW" altLang="en-US" sz="4800" dirty="0">
              <a:latin typeface="微軟正黑體" panose="020B0604030504040204" pitchFamily="34" charset="-120"/>
              <a:ea typeface="微軟正黑體" panose="020B0604030504040204" pitchFamily="34" charset="-120"/>
            </a:endParaRPr>
          </a:p>
        </p:txBody>
      </p:sp>
      <p:grpSp>
        <p:nvGrpSpPr>
          <p:cNvPr id="2" name="群組 1"/>
          <p:cNvGrpSpPr/>
          <p:nvPr/>
        </p:nvGrpSpPr>
        <p:grpSpPr>
          <a:xfrm>
            <a:off x="2255803" y="1537673"/>
            <a:ext cx="8271480" cy="4978458"/>
            <a:chOff x="1555585" y="870407"/>
            <a:chExt cx="9628411" cy="5795171"/>
          </a:xfrm>
        </p:grpSpPr>
        <p:cxnSp>
          <p:nvCxnSpPr>
            <p:cNvPr id="4" name="直線單箭頭接點 3"/>
            <p:cNvCxnSpPr/>
            <p:nvPr/>
          </p:nvCxnSpPr>
          <p:spPr>
            <a:xfrm flipV="1">
              <a:off x="3489130" y="1320845"/>
              <a:ext cx="0" cy="534473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線單箭頭接點 4"/>
            <p:cNvCxnSpPr/>
            <p:nvPr/>
          </p:nvCxnSpPr>
          <p:spPr>
            <a:xfrm>
              <a:off x="1996224" y="3915181"/>
              <a:ext cx="864172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矩形 5"/>
                <p:cNvSpPr/>
                <p:nvPr/>
              </p:nvSpPr>
              <p:spPr>
                <a:xfrm>
                  <a:off x="2904655" y="879512"/>
                  <a:ext cx="55316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solidFill>
                                  <a:prstClr val="black"/>
                                </a:solidFill>
                                <a:latin typeface="Cambria Math" panose="02040503050406030204" pitchFamily="18" charset="0"/>
                              </a:rPr>
                            </m:ctrlPr>
                          </m:sSubPr>
                          <m:e>
                            <m:r>
                              <a:rPr lang="en-US" altLang="zh-TW" sz="2400" i="1">
                                <a:solidFill>
                                  <a:prstClr val="black"/>
                                </a:solidFill>
                                <a:latin typeface="Cambria Math" panose="02040503050406030204" pitchFamily="18" charset="0"/>
                              </a:rPr>
                              <m:t>𝑏</m:t>
                            </m:r>
                          </m:e>
                          <m:sub>
                            <m:r>
                              <a:rPr lang="en-US" altLang="zh-TW" sz="2400" i="1">
                                <a:solidFill>
                                  <a:prstClr val="black"/>
                                </a:solidFill>
                                <a:latin typeface="Cambria Math" panose="02040503050406030204" pitchFamily="18" charset="0"/>
                              </a:rPr>
                              <m:t>2</m:t>
                            </m:r>
                          </m:sub>
                        </m:sSub>
                      </m:oMath>
                    </m:oMathPara>
                  </a14:m>
                  <a:endParaRPr lang="zh-TW" altLang="en-US" sz="2400" dirty="0"/>
                </a:p>
              </p:txBody>
            </p:sp>
          </mc:Choice>
          <mc:Fallback xmlns="">
            <p:sp>
              <p:nvSpPr>
                <p:cNvPr id="6" name="矩形 5"/>
                <p:cNvSpPr>
                  <a:spLocks noRot="1" noChangeAspect="1" noMove="1" noResize="1" noEditPoints="1" noAdjustHandles="1" noChangeArrowheads="1" noChangeShapeType="1" noTextEdit="1"/>
                </p:cNvSpPr>
                <p:nvPr/>
              </p:nvSpPr>
              <p:spPr>
                <a:xfrm>
                  <a:off x="2904655" y="879512"/>
                  <a:ext cx="553164" cy="461665"/>
                </a:xfrm>
                <a:prstGeom prst="rect">
                  <a:avLst/>
                </a:prstGeom>
                <a:blipFill rotWithShape="0">
                  <a:blip r:embed="rId2"/>
                  <a:stretch>
                    <a:fillRect b="-13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10637949" y="4094344"/>
                  <a:ext cx="54604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solidFill>
                                  <a:prstClr val="black"/>
                                </a:solidFill>
                                <a:latin typeface="Cambria Math" panose="02040503050406030204" pitchFamily="18" charset="0"/>
                              </a:rPr>
                            </m:ctrlPr>
                          </m:sSubPr>
                          <m:e>
                            <m:r>
                              <a:rPr lang="en-US" altLang="zh-TW" sz="2400" i="1">
                                <a:solidFill>
                                  <a:prstClr val="black"/>
                                </a:solidFill>
                                <a:latin typeface="Cambria Math" panose="02040503050406030204" pitchFamily="18" charset="0"/>
                              </a:rPr>
                              <m:t>𝑏</m:t>
                            </m:r>
                          </m:e>
                          <m:sub>
                            <m:r>
                              <a:rPr lang="en-US" altLang="zh-TW" sz="2400" i="1">
                                <a:solidFill>
                                  <a:prstClr val="black"/>
                                </a:solidFill>
                                <a:latin typeface="Cambria Math" panose="02040503050406030204" pitchFamily="18" charset="0"/>
                              </a:rPr>
                              <m:t>1</m:t>
                            </m:r>
                          </m:sub>
                        </m:sSub>
                      </m:oMath>
                    </m:oMathPara>
                  </a14:m>
                  <a:endParaRPr lang="zh-TW" altLang="en-US" sz="2400" dirty="0"/>
                </a:p>
              </p:txBody>
            </p:sp>
          </mc:Choice>
          <mc:Fallback xmlns="">
            <p:sp>
              <p:nvSpPr>
                <p:cNvPr id="7" name="矩形 6"/>
                <p:cNvSpPr>
                  <a:spLocks noRot="1" noChangeAspect="1" noMove="1" noResize="1" noEditPoints="1" noAdjustHandles="1" noChangeArrowheads="1" noChangeShapeType="1" noTextEdit="1"/>
                </p:cNvSpPr>
                <p:nvPr/>
              </p:nvSpPr>
              <p:spPr>
                <a:xfrm>
                  <a:off x="10637949" y="4094344"/>
                  <a:ext cx="546047" cy="461665"/>
                </a:xfrm>
                <a:prstGeom prst="rect">
                  <a:avLst/>
                </a:prstGeom>
                <a:blipFill rotWithShape="0">
                  <a:blip r:embed="rId3"/>
                  <a:stretch>
                    <a:fillRect b="-1333"/>
                  </a:stretch>
                </a:blipFill>
              </p:spPr>
              <p:txBody>
                <a:bodyPr/>
                <a:lstStyle/>
                <a:p>
                  <a:r>
                    <a:rPr lang="zh-TW" altLang="en-US">
                      <a:noFill/>
                    </a:rPr>
                    <a:t> </a:t>
                  </a:r>
                </a:p>
              </p:txBody>
            </p:sp>
          </mc:Fallback>
        </mc:AlternateContent>
        <p:cxnSp>
          <p:nvCxnSpPr>
            <p:cNvPr id="9" name="直線接點 8"/>
            <p:cNvCxnSpPr/>
            <p:nvPr/>
          </p:nvCxnSpPr>
          <p:spPr>
            <a:xfrm>
              <a:off x="1996224" y="3915181"/>
              <a:ext cx="8641725" cy="0"/>
            </a:xfrm>
            <a:prstGeom prst="line">
              <a:avLst/>
            </a:prstGeom>
            <a:ln w="57150">
              <a:solidFill>
                <a:srgbClr val="00B05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矩形 9"/>
                <p:cNvSpPr/>
                <p:nvPr/>
              </p:nvSpPr>
              <p:spPr>
                <a:xfrm>
                  <a:off x="1555585" y="3445102"/>
                  <a:ext cx="59978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ea typeface="微軟正黑體" panose="020B0604030504040204" pitchFamily="34" charset="-120"/>
                              </a:rPr>
                            </m:ctrlPr>
                          </m:sSubPr>
                          <m:e>
                            <m:r>
                              <a:rPr lang="zh-TW" altLang="en-US" sz="2400" i="1">
                                <a:latin typeface="Cambria Math" panose="02040503050406030204" pitchFamily="18" charset="0"/>
                                <a:ea typeface="微軟正黑體" panose="020B0604030504040204" pitchFamily="34" charset="-120"/>
                              </a:rPr>
                              <m:t>𝒹</m:t>
                            </m:r>
                          </m:e>
                          <m:sub>
                            <m:r>
                              <a:rPr lang="en-US" altLang="zh-TW" sz="2400" i="1">
                                <a:latin typeface="Cambria Math" panose="02040503050406030204" pitchFamily="18" charset="0"/>
                                <a:ea typeface="微軟正黑體" panose="020B0604030504040204" pitchFamily="34" charset="-120"/>
                              </a:rPr>
                              <m:t>5</m:t>
                            </m:r>
                          </m:sub>
                        </m:sSub>
                      </m:oMath>
                    </m:oMathPara>
                  </a14:m>
                  <a:endParaRPr lang="zh-TW"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1555585" y="3445102"/>
                  <a:ext cx="599780" cy="461665"/>
                </a:xfrm>
                <a:prstGeom prst="rect">
                  <a:avLst/>
                </a:prstGeom>
                <a:blipFill rotWithShape="0">
                  <a:blip r:embed="rId4"/>
                  <a:stretch>
                    <a:fillRect b="-13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9905558" y="4168611"/>
                  <a:ext cx="49667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ea typeface="微軟正黑體" panose="020B0604030504040204" pitchFamily="34" charset="-120"/>
                              </a:rPr>
                            </m:ctrlPr>
                          </m:sSubPr>
                          <m:e>
                            <m:r>
                              <a:rPr lang="zh-TW" altLang="en-US" i="1">
                                <a:latin typeface="Cambria Math" panose="02040503050406030204" pitchFamily="18" charset="0"/>
                                <a:ea typeface="微軟正黑體" panose="020B0604030504040204" pitchFamily="34" charset="-120"/>
                              </a:rPr>
                              <m:t>𝒹</m:t>
                            </m:r>
                          </m:e>
                          <m:sub>
                            <m:r>
                              <a:rPr lang="en-US" altLang="zh-TW" i="1">
                                <a:latin typeface="Cambria Math" panose="02040503050406030204" pitchFamily="18" charset="0"/>
                                <a:ea typeface="微軟正黑體" panose="020B0604030504040204" pitchFamily="34" charset="-120"/>
                              </a:rPr>
                              <m:t>1</m:t>
                            </m:r>
                          </m:sub>
                        </m:sSub>
                      </m:oMath>
                    </m:oMathPara>
                  </a14:m>
                  <a:endParaRPr lang="en-US" altLang="zh-TW" dirty="0">
                    <a:latin typeface="微軟正黑體" panose="020B0604030504040204" pitchFamily="34" charset="-120"/>
                    <a:ea typeface="微軟正黑體" panose="020B0604030504040204" pitchFamily="34" charset="-120"/>
                  </a:endParaRPr>
                </a:p>
              </p:txBody>
            </p:sp>
          </mc:Choice>
          <mc:Fallback xmlns="">
            <p:sp>
              <p:nvSpPr>
                <p:cNvPr id="11" name="矩形 10"/>
                <p:cNvSpPr>
                  <a:spLocks noRot="1" noChangeAspect="1" noMove="1" noResize="1" noEditPoints="1" noAdjustHandles="1" noChangeArrowheads="1" noChangeShapeType="1" noTextEdit="1"/>
                </p:cNvSpPr>
                <p:nvPr/>
              </p:nvSpPr>
              <p:spPr>
                <a:xfrm>
                  <a:off x="9905558" y="4168611"/>
                  <a:ext cx="496674" cy="369332"/>
                </a:xfrm>
                <a:prstGeom prst="rect">
                  <a:avLst/>
                </a:prstGeom>
                <a:blipFill rotWithShape="0">
                  <a:blip r:embed="rId5"/>
                  <a:stretch>
                    <a:fillRect b="-1667"/>
                  </a:stretch>
                </a:blipFill>
              </p:spPr>
              <p:txBody>
                <a:bodyPr/>
                <a:lstStyle/>
                <a:p>
                  <a:r>
                    <a:rPr lang="zh-TW" altLang="en-US">
                      <a:noFill/>
                    </a:rPr>
                    <a:t> </a:t>
                  </a:r>
                </a:p>
              </p:txBody>
            </p:sp>
          </mc:Fallback>
        </mc:AlternateContent>
        <p:cxnSp>
          <p:nvCxnSpPr>
            <p:cNvPr id="13" name="直線接點 12"/>
            <p:cNvCxnSpPr/>
            <p:nvPr/>
          </p:nvCxnSpPr>
          <p:spPr>
            <a:xfrm>
              <a:off x="9905558" y="3915181"/>
              <a:ext cx="0" cy="265861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8373666" y="1248153"/>
              <a:ext cx="0" cy="265861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矩形 18"/>
                <p:cNvSpPr/>
                <p:nvPr/>
              </p:nvSpPr>
              <p:spPr>
                <a:xfrm>
                  <a:off x="8368577" y="870407"/>
                  <a:ext cx="49718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ea typeface="微軟正黑體" panose="020B0604030504040204" pitchFamily="34" charset="-120"/>
                              </a:rPr>
                            </m:ctrlPr>
                          </m:sSubPr>
                          <m:e>
                            <m:r>
                              <a:rPr lang="zh-TW" altLang="en-US" i="1">
                                <a:latin typeface="Cambria Math" panose="02040503050406030204" pitchFamily="18" charset="0"/>
                                <a:ea typeface="微軟正黑體" panose="020B0604030504040204" pitchFamily="34" charset="-120"/>
                              </a:rPr>
                              <m:t>𝒹</m:t>
                            </m:r>
                          </m:e>
                          <m:sub>
                            <m:r>
                              <a:rPr lang="en-US" altLang="zh-TW" i="1">
                                <a:latin typeface="Cambria Math" panose="02040503050406030204" pitchFamily="18" charset="0"/>
                                <a:ea typeface="微軟正黑體" panose="020B0604030504040204" pitchFamily="34" charset="-120"/>
                              </a:rPr>
                              <m:t>2</m:t>
                            </m:r>
                          </m:sub>
                        </m:sSub>
                      </m:oMath>
                    </m:oMathPara>
                  </a14:m>
                  <a:endParaRPr lang="zh-TW" altLang="en-US" dirty="0"/>
                </a:p>
              </p:txBody>
            </p:sp>
          </mc:Choice>
          <mc:Fallback xmlns="">
            <p:sp>
              <p:nvSpPr>
                <p:cNvPr id="19" name="矩形 18"/>
                <p:cNvSpPr>
                  <a:spLocks noRot="1" noChangeAspect="1" noMove="1" noResize="1" noEditPoints="1" noAdjustHandles="1" noChangeArrowheads="1" noChangeShapeType="1" noTextEdit="1"/>
                </p:cNvSpPr>
                <p:nvPr/>
              </p:nvSpPr>
              <p:spPr>
                <a:xfrm>
                  <a:off x="8368577" y="870407"/>
                  <a:ext cx="497187" cy="369332"/>
                </a:xfrm>
                <a:prstGeom prst="rect">
                  <a:avLst/>
                </a:prstGeom>
                <a:blipFill rotWithShape="0">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7080067" y="4069310"/>
                  <a:ext cx="49718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ea typeface="微軟正黑體" panose="020B0604030504040204" pitchFamily="34" charset="-120"/>
                              </a:rPr>
                            </m:ctrlPr>
                          </m:sSubPr>
                          <m:e>
                            <m:r>
                              <a:rPr lang="zh-TW" altLang="en-US" i="1">
                                <a:latin typeface="Cambria Math" panose="02040503050406030204" pitchFamily="18" charset="0"/>
                                <a:ea typeface="微軟正黑體" panose="020B0604030504040204" pitchFamily="34" charset="-120"/>
                              </a:rPr>
                              <m:t>𝒹</m:t>
                            </m:r>
                          </m:e>
                          <m:sub>
                            <m:r>
                              <a:rPr lang="en-US" altLang="zh-TW" i="1">
                                <a:latin typeface="Cambria Math" panose="02040503050406030204" pitchFamily="18" charset="0"/>
                                <a:ea typeface="微軟正黑體" panose="020B0604030504040204" pitchFamily="34" charset="-120"/>
                              </a:rPr>
                              <m:t>3</m:t>
                            </m:r>
                          </m:sub>
                        </m:sSub>
                      </m:oMath>
                    </m:oMathPara>
                  </a14:m>
                  <a:endParaRPr lang="zh-TW" altLang="en-US" dirty="0"/>
                </a:p>
              </p:txBody>
            </p:sp>
          </mc:Choice>
          <mc:Fallback xmlns="">
            <p:sp>
              <p:nvSpPr>
                <p:cNvPr id="20" name="矩形 19"/>
                <p:cNvSpPr>
                  <a:spLocks noRot="1" noChangeAspect="1" noMove="1" noResize="1" noEditPoints="1" noAdjustHandles="1" noChangeArrowheads="1" noChangeShapeType="1" noTextEdit="1"/>
                </p:cNvSpPr>
                <p:nvPr/>
              </p:nvSpPr>
              <p:spPr>
                <a:xfrm>
                  <a:off x="7080067" y="4069310"/>
                  <a:ext cx="497186" cy="369332"/>
                </a:xfrm>
                <a:prstGeom prst="rect">
                  <a:avLst/>
                </a:prstGeom>
                <a:blipFill rotWithShape="0">
                  <a:blip r:embed="rId7"/>
                  <a:stretch>
                    <a:fillRect b="-15385"/>
                  </a:stretch>
                </a:blipFill>
              </p:spPr>
              <p:txBody>
                <a:bodyPr/>
                <a:lstStyle/>
                <a:p>
                  <a:r>
                    <a:rPr lang="zh-TW" altLang="en-US">
                      <a:noFill/>
                    </a:rPr>
                    <a:t> </a:t>
                  </a:r>
                </a:p>
              </p:txBody>
            </p:sp>
          </mc:Fallback>
        </mc:AlternateContent>
        <p:cxnSp>
          <p:nvCxnSpPr>
            <p:cNvPr id="22" name="直線接點 21"/>
            <p:cNvCxnSpPr/>
            <p:nvPr/>
          </p:nvCxnSpPr>
          <p:spPr>
            <a:xfrm>
              <a:off x="7063539" y="3915181"/>
              <a:ext cx="0" cy="2658614"/>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3" name="直線接點 22"/>
            <p:cNvCxnSpPr/>
            <p:nvPr/>
          </p:nvCxnSpPr>
          <p:spPr>
            <a:xfrm>
              <a:off x="5290262" y="1248153"/>
              <a:ext cx="0" cy="2658614"/>
            </a:xfrm>
            <a:prstGeom prst="line">
              <a:avLst/>
            </a:prstGeom>
            <a:ln w="38100">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線接點 23"/>
            <p:cNvCxnSpPr/>
            <p:nvPr/>
          </p:nvCxnSpPr>
          <p:spPr>
            <a:xfrm>
              <a:off x="5290262" y="3915181"/>
              <a:ext cx="0" cy="2658614"/>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矩形 24"/>
                <p:cNvSpPr/>
                <p:nvPr/>
              </p:nvSpPr>
              <p:spPr>
                <a:xfrm>
                  <a:off x="5117453" y="925678"/>
                  <a:ext cx="49718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ea typeface="微軟正黑體" panose="020B0604030504040204" pitchFamily="34" charset="-120"/>
                              </a:rPr>
                            </m:ctrlPr>
                          </m:sSubPr>
                          <m:e>
                            <m:r>
                              <a:rPr lang="zh-TW" altLang="en-US" i="1">
                                <a:latin typeface="Cambria Math" panose="02040503050406030204" pitchFamily="18" charset="0"/>
                                <a:ea typeface="微軟正黑體" panose="020B0604030504040204" pitchFamily="34" charset="-120"/>
                              </a:rPr>
                              <m:t>𝒹</m:t>
                            </m:r>
                          </m:e>
                          <m:sub>
                            <m:r>
                              <a:rPr lang="en-US" altLang="zh-TW" i="1">
                                <a:latin typeface="Cambria Math" panose="02040503050406030204" pitchFamily="18" charset="0"/>
                                <a:ea typeface="微軟正黑體" panose="020B0604030504040204" pitchFamily="34" charset="-120"/>
                              </a:rPr>
                              <m:t>4</m:t>
                            </m:r>
                          </m:sub>
                        </m:sSub>
                      </m:oMath>
                    </m:oMathPara>
                  </a14:m>
                  <a:endParaRPr lang="zh-TW" altLang="en-US" dirty="0"/>
                </a:p>
              </p:txBody>
            </p:sp>
          </mc:Choice>
          <mc:Fallback xmlns="">
            <p:sp>
              <p:nvSpPr>
                <p:cNvPr id="25" name="矩形 24"/>
                <p:cNvSpPr>
                  <a:spLocks noRot="1" noChangeAspect="1" noMove="1" noResize="1" noEditPoints="1" noAdjustHandles="1" noChangeArrowheads="1" noChangeShapeType="1" noTextEdit="1"/>
                </p:cNvSpPr>
                <p:nvPr/>
              </p:nvSpPr>
              <p:spPr>
                <a:xfrm>
                  <a:off x="5117453" y="925678"/>
                  <a:ext cx="497187" cy="369332"/>
                </a:xfrm>
                <a:prstGeom prst="rect">
                  <a:avLst/>
                </a:prstGeom>
                <a:blipFill rotWithShape="0">
                  <a:blip r:embed="rId8"/>
                  <a:stretch>
                    <a:fillRect/>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3" name="文字方塊 2"/>
              <p:cNvSpPr txBox="1"/>
              <p:nvPr/>
            </p:nvSpPr>
            <p:spPr>
              <a:xfrm>
                <a:off x="1178011" y="1130910"/>
                <a:ext cx="2667782" cy="523220"/>
              </a:xfrm>
              <a:prstGeom prst="rect">
                <a:avLst/>
              </a:prstGeom>
              <a:noFill/>
            </p:spPr>
            <p:txBody>
              <a:bodyPr wrap="none" rtlCol="0">
                <a:spAutoFit/>
              </a:bodyPr>
              <a:lstStyle/>
              <a:p>
                <a:r>
                  <a:rPr lang="en-US" altLang="zh-TW" sz="2800" dirty="0" smtClean="0"/>
                  <a:t>Case 1 : </a:t>
                </a:r>
                <a14:m>
                  <m:oMath xmlns:m="http://schemas.openxmlformats.org/officeDocument/2006/math">
                    <m:sSub>
                      <m:sSubPr>
                        <m:ctrlPr>
                          <a:rPr lang="en-US" altLang="zh-TW" sz="2800" i="1">
                            <a:latin typeface="Cambria Math" panose="02040503050406030204" pitchFamily="18" charset="0"/>
                            <a:ea typeface="微軟正黑體" panose="020B0604030504040204" pitchFamily="34" charset="-120"/>
                          </a:rPr>
                        </m:ctrlPr>
                      </m:sSubPr>
                      <m:e>
                        <m:r>
                          <a:rPr lang="zh-TW" altLang="en-US" sz="2800" i="1">
                            <a:latin typeface="Cambria Math" panose="02040503050406030204" pitchFamily="18" charset="0"/>
                            <a:ea typeface="微軟正黑體" panose="020B0604030504040204" pitchFamily="34" charset="-120"/>
                          </a:rPr>
                          <m:t>𝒹</m:t>
                        </m:r>
                      </m:e>
                      <m:sub>
                        <m:r>
                          <a:rPr lang="en-US" altLang="zh-TW" sz="2800" i="1">
                            <a:latin typeface="Cambria Math" panose="02040503050406030204" pitchFamily="18" charset="0"/>
                            <a:ea typeface="微軟正黑體" panose="020B0604030504040204" pitchFamily="34" charset="-120"/>
                          </a:rPr>
                          <m:t>4</m:t>
                        </m:r>
                      </m:sub>
                    </m:sSub>
                    <m:r>
                      <a:rPr lang="en-US" altLang="zh-TW" sz="2800" b="0" i="1" smtClean="0">
                        <a:latin typeface="Cambria Math" panose="02040503050406030204" pitchFamily="18" charset="0"/>
                        <a:ea typeface="微軟正黑體" panose="020B0604030504040204" pitchFamily="34" charset="-120"/>
                      </a:rPr>
                      <m:t>&lt;</m:t>
                    </m:r>
                    <m:sSub>
                      <m:sSubPr>
                        <m:ctrlPr>
                          <a:rPr lang="en-US" altLang="zh-TW" sz="2800" i="1">
                            <a:latin typeface="Cambria Math" panose="02040503050406030204" pitchFamily="18" charset="0"/>
                            <a:ea typeface="微軟正黑體" panose="020B0604030504040204" pitchFamily="34" charset="-120"/>
                          </a:rPr>
                        </m:ctrlPr>
                      </m:sSubPr>
                      <m:e>
                        <m:r>
                          <a:rPr lang="zh-TW" altLang="en-US" sz="2800" i="1">
                            <a:latin typeface="Cambria Math" panose="02040503050406030204" pitchFamily="18" charset="0"/>
                            <a:ea typeface="微軟正黑體" panose="020B0604030504040204" pitchFamily="34" charset="-120"/>
                          </a:rPr>
                          <m:t>𝒹</m:t>
                        </m:r>
                      </m:e>
                      <m:sub>
                        <m:r>
                          <a:rPr lang="en-US" altLang="zh-TW" sz="2800" i="1">
                            <a:latin typeface="Cambria Math" panose="02040503050406030204" pitchFamily="18" charset="0"/>
                            <a:ea typeface="微軟正黑體" panose="020B0604030504040204" pitchFamily="34" charset="-120"/>
                          </a:rPr>
                          <m:t>3</m:t>
                        </m:r>
                      </m:sub>
                    </m:sSub>
                  </m:oMath>
                </a14:m>
                <a:endParaRPr lang="zh-TW" altLang="en-US" sz="2800" dirty="0"/>
              </a:p>
            </p:txBody>
          </p:sp>
        </mc:Choice>
        <mc:Fallback xmlns="">
          <p:sp>
            <p:nvSpPr>
              <p:cNvPr id="3" name="文字方塊 2"/>
              <p:cNvSpPr txBox="1">
                <a:spLocks noRot="1" noChangeAspect="1" noMove="1" noResize="1" noEditPoints="1" noAdjustHandles="1" noChangeArrowheads="1" noChangeShapeType="1" noTextEdit="1"/>
              </p:cNvSpPr>
              <p:nvPr/>
            </p:nvSpPr>
            <p:spPr>
              <a:xfrm>
                <a:off x="1178011" y="1130910"/>
                <a:ext cx="2667782" cy="523220"/>
              </a:xfrm>
              <a:prstGeom prst="rect">
                <a:avLst/>
              </a:prstGeom>
              <a:blipFill rotWithShape="0">
                <a:blip r:embed="rId9"/>
                <a:stretch>
                  <a:fillRect l="-4566" t="-11765" b="-34118"/>
                </a:stretch>
              </a:blipFill>
            </p:spPr>
            <p:txBody>
              <a:bodyPr/>
              <a:lstStyle/>
              <a:p>
                <a:r>
                  <a:rPr lang="zh-TW" altLang="en-US">
                    <a:noFill/>
                  </a:rPr>
                  <a:t> </a:t>
                </a:r>
              </a:p>
            </p:txBody>
          </p:sp>
        </mc:Fallback>
      </mc:AlternateContent>
      <p:sp>
        <p:nvSpPr>
          <p:cNvPr id="21" name="Text Box 9"/>
          <p:cNvSpPr txBox="1">
            <a:spLocks noChangeArrowheads="1"/>
          </p:cNvSpPr>
          <p:nvPr/>
        </p:nvSpPr>
        <p:spPr bwMode="auto">
          <a:xfrm>
            <a:off x="3652352" y="2110669"/>
            <a:ext cx="1952063"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2400" dirty="0" smtClean="0">
                <a:latin typeface="微軟正黑體" panose="020B0604030504040204" pitchFamily="34" charset="-120"/>
                <a:ea typeface="微軟正黑體" panose="020B0604030504040204" pitchFamily="34" charset="-120"/>
                <a:cs typeface="Times New Roman" panose="02020603050405020304" pitchFamily="18" charset="0"/>
              </a:rPr>
              <a:t>破</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產</a:t>
            </a:r>
            <a:endPar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400" dirty="0" smtClean="0">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2400" dirty="0" smtClean="0">
                <a:latin typeface="微軟正黑體" panose="020B0604030504040204" pitchFamily="34" charset="-120"/>
                <a:ea typeface="微軟正黑體" panose="020B0604030504040204" pitchFamily="34" charset="-120"/>
                <a:cs typeface="Times New Roman" panose="02020603050405020304" pitchFamily="18" charset="0"/>
              </a:rPr>
              <a:t>未轉換</a:t>
            </a:r>
            <a:endPar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400" dirty="0" smtClean="0">
                <a:latin typeface="微軟正黑體" panose="020B0604030504040204" pitchFamily="34" charset="-120"/>
                <a:ea typeface="微軟正黑體" panose="020B0604030504040204" pitchFamily="34" charset="-120"/>
                <a:cs typeface="Times New Roman" panose="02020603050405020304" pitchFamily="18" charset="0"/>
              </a:rPr>
              <a:t>SB</a:t>
            </a:r>
            <a:r>
              <a:rPr lang="zh-TW" altLang="en-US" sz="2400" dirty="0" smtClean="0">
                <a:latin typeface="微軟正黑體" panose="020B0604030504040204" pitchFamily="34" charset="-120"/>
                <a:ea typeface="微軟正黑體" panose="020B0604030504040204" pitchFamily="34" charset="-120"/>
                <a:cs typeface="Times New Roman" panose="02020603050405020304" pitchFamily="18" charset="0"/>
              </a:rPr>
              <a:t>拿部分</a:t>
            </a:r>
            <a:endParaRPr lang="en-US" altLang="zh-TW" sz="2400" dirty="0" smtClean="0">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CC</a:t>
            </a:r>
            <a:r>
              <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分不到</a:t>
            </a:r>
            <a:endPar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26" name="Text Box 17"/>
          <p:cNvSpPr txBox="1">
            <a:spLocks noChangeArrowheads="1"/>
          </p:cNvSpPr>
          <p:nvPr/>
        </p:nvSpPr>
        <p:spPr bwMode="auto">
          <a:xfrm>
            <a:off x="3660534" y="4592330"/>
            <a:ext cx="1952063"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破 產 </a:t>
            </a:r>
            <a:endParaRPr kumimoji="0" lang="zh-TW"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400" dirty="0" smtClean="0">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2400" dirty="0" smtClean="0">
                <a:latin typeface="微軟正黑體" panose="020B0604030504040204" pitchFamily="34" charset="-120"/>
                <a:ea typeface="微軟正黑體" panose="020B0604030504040204" pitchFamily="34" charset="-120"/>
                <a:cs typeface="Times New Roman" panose="02020603050405020304" pitchFamily="18" charset="0"/>
              </a:rPr>
              <a:t>已轉換</a:t>
            </a:r>
            <a:endParaRPr kumimoji="0" lang="zh-TW"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SB</a:t>
            </a:r>
            <a:r>
              <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拿部分</a:t>
            </a:r>
            <a:endParaRPr kumimoji="0" lang="zh-TW" altLang="en-US"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27" name="Text Box 11"/>
          <p:cNvSpPr txBox="1">
            <a:spLocks noChangeArrowheads="1"/>
          </p:cNvSpPr>
          <p:nvPr/>
        </p:nvSpPr>
        <p:spPr bwMode="auto">
          <a:xfrm>
            <a:off x="5293833" y="4568502"/>
            <a:ext cx="1952063"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破 產 </a:t>
            </a:r>
            <a:endPar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rPr>
              <a:t>CC</a:t>
            </a:r>
            <a:r>
              <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rPr>
              <a:t>已轉換</a:t>
            </a:r>
            <a:endPar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SB</a:t>
            </a:r>
            <a:r>
              <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拿全部</a:t>
            </a:r>
            <a:endPar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28" name="Text Box 9"/>
          <p:cNvSpPr txBox="1">
            <a:spLocks noChangeArrowheads="1"/>
          </p:cNvSpPr>
          <p:nvPr/>
        </p:nvSpPr>
        <p:spPr bwMode="auto">
          <a:xfrm>
            <a:off x="5862875" y="2074978"/>
            <a:ext cx="1952063" cy="2212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2400" dirty="0" smtClean="0">
                <a:latin typeface="微軟正黑體" panose="020B0604030504040204" pitchFamily="34" charset="-120"/>
                <a:ea typeface="微軟正黑體" panose="020B0604030504040204" pitchFamily="34" charset="-120"/>
                <a:cs typeface="Times New Roman" panose="02020603050405020304" pitchFamily="18" charset="0"/>
              </a:rPr>
              <a:t>破</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產</a:t>
            </a:r>
            <a:endPar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rPr>
              <a:t>CC</a:t>
            </a:r>
            <a:r>
              <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rPr>
              <a:t>未轉換</a:t>
            </a:r>
            <a:endPar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rPr>
              <a:t>SB</a:t>
            </a:r>
            <a:r>
              <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rPr>
              <a:t>拿全部</a:t>
            </a:r>
            <a:endPar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400" dirty="0" smtClean="0">
                <a:latin typeface="微軟正黑體" panose="020B0604030504040204" pitchFamily="34" charset="-120"/>
                <a:ea typeface="微軟正黑體" panose="020B0604030504040204" pitchFamily="34" charset="-120"/>
              </a:rPr>
              <a:t>CC</a:t>
            </a:r>
            <a:r>
              <a:rPr lang="zh-TW" altLang="en-US" sz="2400" dirty="0" smtClean="0">
                <a:latin typeface="微軟正黑體" panose="020B0604030504040204" pitchFamily="34" charset="-120"/>
                <a:ea typeface="微軟正黑體" panose="020B0604030504040204" pitchFamily="34" charset="-120"/>
              </a:rPr>
              <a:t>拿部分</a:t>
            </a:r>
            <a:endPar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29" name="Text Box 9"/>
          <p:cNvSpPr txBox="1">
            <a:spLocks noChangeArrowheads="1"/>
          </p:cNvSpPr>
          <p:nvPr/>
        </p:nvSpPr>
        <p:spPr bwMode="auto">
          <a:xfrm>
            <a:off x="7263394" y="4696129"/>
            <a:ext cx="1952063"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2800" dirty="0" smtClean="0">
                <a:latin typeface="微軟正黑體" panose="020B0604030504040204" pitchFamily="34" charset="-120"/>
                <a:ea typeface="微軟正黑體" panose="020B0604030504040204" pitchFamily="34" charset="-120"/>
                <a:cs typeface="Times New Roman" panose="02020603050405020304" pitchFamily="18" charset="0"/>
              </a:rPr>
              <a:t>存活</a:t>
            </a:r>
            <a:endParaRPr lang="en-US" altLang="zh-TW" sz="2800" dirty="0" smtClean="0">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800" dirty="0" smtClean="0">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2800" dirty="0" smtClean="0">
                <a:latin typeface="微軟正黑體" panose="020B0604030504040204" pitchFamily="34" charset="-120"/>
                <a:ea typeface="微軟正黑體" panose="020B0604030504040204" pitchFamily="34" charset="-120"/>
                <a:cs typeface="Times New Roman" panose="02020603050405020304" pitchFamily="18" charset="0"/>
              </a:rPr>
              <a:t>已轉換</a:t>
            </a:r>
            <a:endPar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30" name="Text Box 9"/>
          <p:cNvSpPr txBox="1">
            <a:spLocks noChangeArrowheads="1"/>
          </p:cNvSpPr>
          <p:nvPr/>
        </p:nvSpPr>
        <p:spPr bwMode="auto">
          <a:xfrm>
            <a:off x="8809811" y="2175124"/>
            <a:ext cx="1952063"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2800" dirty="0" smtClean="0">
                <a:latin typeface="微軟正黑體" panose="020B0604030504040204" pitchFamily="34" charset="-120"/>
                <a:ea typeface="微軟正黑體" panose="020B0604030504040204" pitchFamily="34" charset="-120"/>
                <a:cs typeface="Times New Roman" panose="02020603050405020304" pitchFamily="18" charset="0"/>
              </a:rPr>
              <a:t>存活</a:t>
            </a:r>
            <a:endParaRPr lang="en-US" altLang="zh-TW" sz="2800" dirty="0" smtClean="0">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CC</a:t>
            </a:r>
            <a:r>
              <a:rPr kumimoji="0" lang="zh-TW" altLang="en-US"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未轉換</a:t>
            </a:r>
            <a:endParaRPr kumimoji="0" lang="zh-TW" altLang="en-US"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32" name="矩形 31"/>
          <p:cNvSpPr/>
          <p:nvPr/>
        </p:nvSpPr>
        <p:spPr>
          <a:xfrm>
            <a:off x="9436199" y="4143150"/>
            <a:ext cx="1606894" cy="2243682"/>
          </a:xfrm>
          <a:prstGeom prst="rect">
            <a:avLst/>
          </a:prstGeom>
          <a:solidFill>
            <a:srgbClr val="51DF7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18196620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3911990" y="1908736"/>
            <a:ext cx="2709256" cy="2243681"/>
          </a:xfrm>
          <a:prstGeom prst="rect">
            <a:avLst/>
          </a:pr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Text Box 17"/>
          <p:cNvSpPr txBox="1">
            <a:spLocks noChangeArrowheads="1"/>
          </p:cNvSpPr>
          <p:nvPr/>
        </p:nvSpPr>
        <p:spPr bwMode="auto">
          <a:xfrm>
            <a:off x="3743013" y="4498320"/>
            <a:ext cx="1952063"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破 產 </a:t>
            </a:r>
            <a:endParaRPr kumimoji="0" lang="zh-TW"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400" dirty="0" smtClean="0">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2400" dirty="0" smtClean="0">
                <a:latin typeface="微軟正黑體" panose="020B0604030504040204" pitchFamily="34" charset="-120"/>
                <a:ea typeface="微軟正黑體" panose="020B0604030504040204" pitchFamily="34" charset="-120"/>
                <a:cs typeface="Times New Roman" panose="02020603050405020304" pitchFamily="18" charset="0"/>
              </a:rPr>
              <a:t>已轉換</a:t>
            </a:r>
            <a:endParaRPr kumimoji="0" lang="zh-TW"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SB</a:t>
            </a:r>
            <a:r>
              <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拿部分</a:t>
            </a:r>
            <a:endParaRPr kumimoji="0" lang="zh-TW" altLang="en-US"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30" name="矩形 29"/>
          <p:cNvSpPr/>
          <p:nvPr/>
        </p:nvSpPr>
        <p:spPr>
          <a:xfrm>
            <a:off x="5530558" y="4140732"/>
            <a:ext cx="3891274" cy="2246100"/>
          </a:xfrm>
          <a:prstGeom prst="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標題 1"/>
          <p:cNvSpPr txBox="1">
            <a:spLocks/>
          </p:cNvSpPr>
          <p:nvPr/>
        </p:nvSpPr>
        <p:spPr>
          <a:xfrm>
            <a:off x="347730" y="283333"/>
            <a:ext cx="11844270" cy="79252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TW" altLang="en-US" sz="4800" dirty="0" smtClean="0">
                <a:latin typeface="微軟正黑體" panose="020B0604030504040204" pitchFamily="34" charset="-120"/>
                <a:ea typeface="微軟正黑體" panose="020B0604030504040204" pitchFamily="34" charset="-120"/>
                <a:cs typeface="Arial" pitchFamily="34" charset="0"/>
              </a:rPr>
              <a:t>積分範圍</a:t>
            </a:r>
            <a:r>
              <a:rPr lang="en-US" altLang="zh-TW" sz="4800" dirty="0" smtClean="0">
                <a:latin typeface="微軟正黑體" panose="020B0604030504040204" pitchFamily="34" charset="-120"/>
                <a:ea typeface="微軟正黑體" panose="020B0604030504040204" pitchFamily="34" charset="-120"/>
                <a:cs typeface="Arial" pitchFamily="34" charset="0"/>
              </a:rPr>
              <a:t>(2/4)</a:t>
            </a:r>
            <a:endParaRPr lang="zh-TW" altLang="en-US" sz="4800" dirty="0">
              <a:latin typeface="微軟正黑體" panose="020B0604030504040204" pitchFamily="34" charset="-120"/>
              <a:ea typeface="微軟正黑體" panose="020B0604030504040204" pitchFamily="34" charset="-120"/>
            </a:endParaRPr>
          </a:p>
        </p:txBody>
      </p:sp>
      <p:grpSp>
        <p:nvGrpSpPr>
          <p:cNvPr id="2" name="群組 1"/>
          <p:cNvGrpSpPr/>
          <p:nvPr/>
        </p:nvGrpSpPr>
        <p:grpSpPr>
          <a:xfrm>
            <a:off x="2255803" y="1537673"/>
            <a:ext cx="8271480" cy="5119496"/>
            <a:chOff x="1555585" y="870407"/>
            <a:chExt cx="9628411" cy="5959346"/>
          </a:xfrm>
        </p:grpSpPr>
        <p:cxnSp>
          <p:nvCxnSpPr>
            <p:cNvPr id="4" name="直線單箭頭接點 3"/>
            <p:cNvCxnSpPr/>
            <p:nvPr/>
          </p:nvCxnSpPr>
          <p:spPr>
            <a:xfrm flipV="1">
              <a:off x="3489130" y="1320845"/>
              <a:ext cx="0" cy="534473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線單箭頭接點 4"/>
            <p:cNvCxnSpPr/>
            <p:nvPr/>
          </p:nvCxnSpPr>
          <p:spPr>
            <a:xfrm>
              <a:off x="1996224" y="3915181"/>
              <a:ext cx="864172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矩形 5"/>
                <p:cNvSpPr/>
                <p:nvPr/>
              </p:nvSpPr>
              <p:spPr>
                <a:xfrm>
                  <a:off x="2904655" y="879512"/>
                  <a:ext cx="55316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solidFill>
                                  <a:prstClr val="black"/>
                                </a:solidFill>
                                <a:latin typeface="Cambria Math" panose="02040503050406030204" pitchFamily="18" charset="0"/>
                              </a:rPr>
                            </m:ctrlPr>
                          </m:sSubPr>
                          <m:e>
                            <m:r>
                              <a:rPr lang="en-US" altLang="zh-TW" sz="2400" i="1">
                                <a:solidFill>
                                  <a:prstClr val="black"/>
                                </a:solidFill>
                                <a:latin typeface="Cambria Math" panose="02040503050406030204" pitchFamily="18" charset="0"/>
                              </a:rPr>
                              <m:t>𝑏</m:t>
                            </m:r>
                          </m:e>
                          <m:sub>
                            <m:r>
                              <a:rPr lang="en-US" altLang="zh-TW" sz="2400" i="1">
                                <a:solidFill>
                                  <a:prstClr val="black"/>
                                </a:solidFill>
                                <a:latin typeface="Cambria Math" panose="02040503050406030204" pitchFamily="18" charset="0"/>
                              </a:rPr>
                              <m:t>2</m:t>
                            </m:r>
                          </m:sub>
                        </m:sSub>
                      </m:oMath>
                    </m:oMathPara>
                  </a14:m>
                  <a:endParaRPr lang="zh-TW" altLang="en-US" sz="2400" dirty="0"/>
                </a:p>
              </p:txBody>
            </p:sp>
          </mc:Choice>
          <mc:Fallback xmlns="">
            <p:sp>
              <p:nvSpPr>
                <p:cNvPr id="6" name="矩形 5"/>
                <p:cNvSpPr>
                  <a:spLocks noRot="1" noChangeAspect="1" noMove="1" noResize="1" noEditPoints="1" noAdjustHandles="1" noChangeArrowheads="1" noChangeShapeType="1" noTextEdit="1"/>
                </p:cNvSpPr>
                <p:nvPr/>
              </p:nvSpPr>
              <p:spPr>
                <a:xfrm>
                  <a:off x="2904655" y="879512"/>
                  <a:ext cx="553164" cy="461665"/>
                </a:xfrm>
                <a:prstGeom prst="rect">
                  <a:avLst/>
                </a:prstGeom>
                <a:blipFill rotWithShape="0">
                  <a:blip r:embed="rId2"/>
                  <a:stretch>
                    <a:fillRect b="-13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10637949" y="4094344"/>
                  <a:ext cx="54604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solidFill>
                                  <a:prstClr val="black"/>
                                </a:solidFill>
                                <a:latin typeface="Cambria Math" panose="02040503050406030204" pitchFamily="18" charset="0"/>
                              </a:rPr>
                            </m:ctrlPr>
                          </m:sSubPr>
                          <m:e>
                            <m:r>
                              <a:rPr lang="en-US" altLang="zh-TW" sz="2400" i="1">
                                <a:solidFill>
                                  <a:prstClr val="black"/>
                                </a:solidFill>
                                <a:latin typeface="Cambria Math" panose="02040503050406030204" pitchFamily="18" charset="0"/>
                              </a:rPr>
                              <m:t>𝑏</m:t>
                            </m:r>
                          </m:e>
                          <m:sub>
                            <m:r>
                              <a:rPr lang="en-US" altLang="zh-TW" sz="2400" i="1">
                                <a:solidFill>
                                  <a:prstClr val="black"/>
                                </a:solidFill>
                                <a:latin typeface="Cambria Math" panose="02040503050406030204" pitchFamily="18" charset="0"/>
                              </a:rPr>
                              <m:t>1</m:t>
                            </m:r>
                          </m:sub>
                        </m:sSub>
                      </m:oMath>
                    </m:oMathPara>
                  </a14:m>
                  <a:endParaRPr lang="zh-TW" altLang="en-US" sz="2400" dirty="0"/>
                </a:p>
              </p:txBody>
            </p:sp>
          </mc:Choice>
          <mc:Fallback xmlns="">
            <p:sp>
              <p:nvSpPr>
                <p:cNvPr id="7" name="矩形 6"/>
                <p:cNvSpPr>
                  <a:spLocks noRot="1" noChangeAspect="1" noMove="1" noResize="1" noEditPoints="1" noAdjustHandles="1" noChangeArrowheads="1" noChangeShapeType="1" noTextEdit="1"/>
                </p:cNvSpPr>
                <p:nvPr/>
              </p:nvSpPr>
              <p:spPr>
                <a:xfrm>
                  <a:off x="10637949" y="4094344"/>
                  <a:ext cx="546047" cy="461665"/>
                </a:xfrm>
                <a:prstGeom prst="rect">
                  <a:avLst/>
                </a:prstGeom>
                <a:blipFill rotWithShape="0">
                  <a:blip r:embed="rId3"/>
                  <a:stretch>
                    <a:fillRect b="-1333"/>
                  </a:stretch>
                </a:blipFill>
              </p:spPr>
              <p:txBody>
                <a:bodyPr/>
                <a:lstStyle/>
                <a:p>
                  <a:r>
                    <a:rPr lang="zh-TW" altLang="en-US">
                      <a:noFill/>
                    </a:rPr>
                    <a:t> </a:t>
                  </a:r>
                </a:p>
              </p:txBody>
            </p:sp>
          </mc:Fallback>
        </mc:AlternateContent>
        <p:cxnSp>
          <p:nvCxnSpPr>
            <p:cNvPr id="9" name="直線接點 8"/>
            <p:cNvCxnSpPr/>
            <p:nvPr/>
          </p:nvCxnSpPr>
          <p:spPr>
            <a:xfrm>
              <a:off x="1996224" y="3915181"/>
              <a:ext cx="8641725" cy="0"/>
            </a:xfrm>
            <a:prstGeom prst="line">
              <a:avLst/>
            </a:prstGeom>
            <a:ln w="57150">
              <a:solidFill>
                <a:srgbClr val="00B05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矩形 9"/>
                <p:cNvSpPr/>
                <p:nvPr/>
              </p:nvSpPr>
              <p:spPr>
                <a:xfrm>
                  <a:off x="1555585" y="3445102"/>
                  <a:ext cx="59978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ea typeface="微軟正黑體" panose="020B0604030504040204" pitchFamily="34" charset="-120"/>
                              </a:rPr>
                            </m:ctrlPr>
                          </m:sSubPr>
                          <m:e>
                            <m:r>
                              <a:rPr lang="zh-TW" altLang="en-US" sz="2400" i="1">
                                <a:latin typeface="Cambria Math" panose="02040503050406030204" pitchFamily="18" charset="0"/>
                                <a:ea typeface="微軟正黑體" panose="020B0604030504040204" pitchFamily="34" charset="-120"/>
                              </a:rPr>
                              <m:t>𝒹</m:t>
                            </m:r>
                          </m:e>
                          <m:sub>
                            <m:r>
                              <a:rPr lang="en-US" altLang="zh-TW" sz="2400" i="1">
                                <a:latin typeface="Cambria Math" panose="02040503050406030204" pitchFamily="18" charset="0"/>
                                <a:ea typeface="微軟正黑體" panose="020B0604030504040204" pitchFamily="34" charset="-120"/>
                              </a:rPr>
                              <m:t>5</m:t>
                            </m:r>
                          </m:sub>
                        </m:sSub>
                      </m:oMath>
                    </m:oMathPara>
                  </a14:m>
                  <a:endParaRPr lang="zh-TW"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1555585" y="3445102"/>
                  <a:ext cx="599780" cy="461665"/>
                </a:xfrm>
                <a:prstGeom prst="rect">
                  <a:avLst/>
                </a:prstGeom>
                <a:blipFill rotWithShape="0">
                  <a:blip r:embed="rId4"/>
                  <a:stretch>
                    <a:fillRect b="-13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9905558" y="4168611"/>
                  <a:ext cx="49667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ea typeface="微軟正黑體" panose="020B0604030504040204" pitchFamily="34" charset="-120"/>
                              </a:rPr>
                            </m:ctrlPr>
                          </m:sSubPr>
                          <m:e>
                            <m:r>
                              <a:rPr lang="zh-TW" altLang="en-US" i="1">
                                <a:latin typeface="Cambria Math" panose="02040503050406030204" pitchFamily="18" charset="0"/>
                                <a:ea typeface="微軟正黑體" panose="020B0604030504040204" pitchFamily="34" charset="-120"/>
                              </a:rPr>
                              <m:t>𝒹</m:t>
                            </m:r>
                          </m:e>
                          <m:sub>
                            <m:r>
                              <a:rPr lang="en-US" altLang="zh-TW" i="1">
                                <a:latin typeface="Cambria Math" panose="02040503050406030204" pitchFamily="18" charset="0"/>
                                <a:ea typeface="微軟正黑體" panose="020B0604030504040204" pitchFamily="34" charset="-120"/>
                              </a:rPr>
                              <m:t>1</m:t>
                            </m:r>
                          </m:sub>
                        </m:sSub>
                      </m:oMath>
                    </m:oMathPara>
                  </a14:m>
                  <a:endParaRPr lang="en-US" altLang="zh-TW" dirty="0">
                    <a:latin typeface="微軟正黑體" panose="020B0604030504040204" pitchFamily="34" charset="-120"/>
                    <a:ea typeface="微軟正黑體" panose="020B0604030504040204" pitchFamily="34" charset="-120"/>
                  </a:endParaRPr>
                </a:p>
              </p:txBody>
            </p:sp>
          </mc:Choice>
          <mc:Fallback xmlns="">
            <p:sp>
              <p:nvSpPr>
                <p:cNvPr id="11" name="矩形 10"/>
                <p:cNvSpPr>
                  <a:spLocks noRot="1" noChangeAspect="1" noMove="1" noResize="1" noEditPoints="1" noAdjustHandles="1" noChangeArrowheads="1" noChangeShapeType="1" noTextEdit="1"/>
                </p:cNvSpPr>
                <p:nvPr/>
              </p:nvSpPr>
              <p:spPr>
                <a:xfrm>
                  <a:off x="9905558" y="4168611"/>
                  <a:ext cx="496674" cy="369332"/>
                </a:xfrm>
                <a:prstGeom prst="rect">
                  <a:avLst/>
                </a:prstGeom>
                <a:blipFill rotWithShape="0">
                  <a:blip r:embed="rId5"/>
                  <a:stretch>
                    <a:fillRect b="-1667"/>
                  </a:stretch>
                </a:blipFill>
              </p:spPr>
              <p:txBody>
                <a:bodyPr/>
                <a:lstStyle/>
                <a:p>
                  <a:r>
                    <a:rPr lang="zh-TW" altLang="en-US">
                      <a:noFill/>
                    </a:rPr>
                    <a:t> </a:t>
                  </a:r>
                </a:p>
              </p:txBody>
            </p:sp>
          </mc:Fallback>
        </mc:AlternateContent>
        <p:cxnSp>
          <p:nvCxnSpPr>
            <p:cNvPr id="13" name="直線接點 12"/>
            <p:cNvCxnSpPr/>
            <p:nvPr/>
          </p:nvCxnSpPr>
          <p:spPr>
            <a:xfrm>
              <a:off x="9905558" y="3915181"/>
              <a:ext cx="0" cy="265861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8373666" y="1248153"/>
              <a:ext cx="0" cy="265861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矩形 18"/>
                <p:cNvSpPr/>
                <p:nvPr/>
              </p:nvSpPr>
              <p:spPr>
                <a:xfrm>
                  <a:off x="8368577" y="870407"/>
                  <a:ext cx="49718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ea typeface="微軟正黑體" panose="020B0604030504040204" pitchFamily="34" charset="-120"/>
                              </a:rPr>
                            </m:ctrlPr>
                          </m:sSubPr>
                          <m:e>
                            <m:r>
                              <a:rPr lang="zh-TW" altLang="en-US" i="1">
                                <a:latin typeface="Cambria Math" panose="02040503050406030204" pitchFamily="18" charset="0"/>
                                <a:ea typeface="微軟正黑體" panose="020B0604030504040204" pitchFamily="34" charset="-120"/>
                              </a:rPr>
                              <m:t>𝒹</m:t>
                            </m:r>
                          </m:e>
                          <m:sub>
                            <m:r>
                              <a:rPr lang="en-US" altLang="zh-TW" i="1">
                                <a:latin typeface="Cambria Math" panose="02040503050406030204" pitchFamily="18" charset="0"/>
                                <a:ea typeface="微軟正黑體" panose="020B0604030504040204" pitchFamily="34" charset="-120"/>
                              </a:rPr>
                              <m:t>2</m:t>
                            </m:r>
                          </m:sub>
                        </m:sSub>
                      </m:oMath>
                    </m:oMathPara>
                  </a14:m>
                  <a:endParaRPr lang="zh-TW" altLang="en-US" dirty="0"/>
                </a:p>
              </p:txBody>
            </p:sp>
          </mc:Choice>
          <mc:Fallback xmlns="">
            <p:sp>
              <p:nvSpPr>
                <p:cNvPr id="19" name="矩形 18"/>
                <p:cNvSpPr>
                  <a:spLocks noRot="1" noChangeAspect="1" noMove="1" noResize="1" noEditPoints="1" noAdjustHandles="1" noChangeArrowheads="1" noChangeShapeType="1" noTextEdit="1"/>
                </p:cNvSpPr>
                <p:nvPr/>
              </p:nvSpPr>
              <p:spPr>
                <a:xfrm>
                  <a:off x="8368577" y="870407"/>
                  <a:ext cx="497187" cy="369332"/>
                </a:xfrm>
                <a:prstGeom prst="rect">
                  <a:avLst/>
                </a:prstGeom>
                <a:blipFill rotWithShape="0">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4634659" y="6460421"/>
                  <a:ext cx="49718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ea typeface="微軟正黑體" panose="020B0604030504040204" pitchFamily="34" charset="-120"/>
                              </a:rPr>
                            </m:ctrlPr>
                          </m:sSubPr>
                          <m:e>
                            <m:r>
                              <a:rPr lang="zh-TW" altLang="en-US" i="1">
                                <a:latin typeface="Cambria Math" panose="02040503050406030204" pitchFamily="18" charset="0"/>
                                <a:ea typeface="微軟正黑體" panose="020B0604030504040204" pitchFamily="34" charset="-120"/>
                              </a:rPr>
                              <m:t>𝒹</m:t>
                            </m:r>
                          </m:e>
                          <m:sub>
                            <m:r>
                              <a:rPr lang="en-US" altLang="zh-TW" i="1">
                                <a:latin typeface="Cambria Math" panose="02040503050406030204" pitchFamily="18" charset="0"/>
                                <a:ea typeface="微軟正黑體" panose="020B0604030504040204" pitchFamily="34" charset="-120"/>
                              </a:rPr>
                              <m:t>3</m:t>
                            </m:r>
                          </m:sub>
                        </m:sSub>
                      </m:oMath>
                    </m:oMathPara>
                  </a14:m>
                  <a:endParaRPr lang="zh-TW" altLang="en-US" dirty="0"/>
                </a:p>
              </p:txBody>
            </p:sp>
          </mc:Choice>
          <mc:Fallback xmlns="">
            <p:sp>
              <p:nvSpPr>
                <p:cNvPr id="20" name="矩形 19"/>
                <p:cNvSpPr>
                  <a:spLocks noRot="1" noChangeAspect="1" noMove="1" noResize="1" noEditPoints="1" noAdjustHandles="1" noChangeArrowheads="1" noChangeShapeType="1" noTextEdit="1"/>
                </p:cNvSpPr>
                <p:nvPr/>
              </p:nvSpPr>
              <p:spPr>
                <a:xfrm>
                  <a:off x="4634659" y="6460421"/>
                  <a:ext cx="497186" cy="369332"/>
                </a:xfrm>
                <a:prstGeom prst="rect">
                  <a:avLst/>
                </a:prstGeom>
                <a:blipFill rotWithShape="0">
                  <a:blip r:embed="rId7"/>
                  <a:stretch>
                    <a:fillRect b="-15385"/>
                  </a:stretch>
                </a:blipFill>
              </p:spPr>
              <p:txBody>
                <a:bodyPr/>
                <a:lstStyle/>
                <a:p>
                  <a:r>
                    <a:rPr lang="zh-TW" altLang="en-US">
                      <a:noFill/>
                    </a:rPr>
                    <a:t> </a:t>
                  </a:r>
                </a:p>
              </p:txBody>
            </p:sp>
          </mc:Fallback>
        </mc:AlternateContent>
        <p:cxnSp>
          <p:nvCxnSpPr>
            <p:cNvPr id="22" name="直線接點 21"/>
            <p:cNvCxnSpPr/>
            <p:nvPr/>
          </p:nvCxnSpPr>
          <p:spPr>
            <a:xfrm>
              <a:off x="5333244" y="3915181"/>
              <a:ext cx="0" cy="2658614"/>
            </a:xfrm>
            <a:prstGeom prst="line">
              <a:avLst/>
            </a:prstGeom>
            <a:ln w="38100">
              <a:solidFill>
                <a:srgbClr val="7030A0"/>
              </a:solidFill>
              <a:prstDash val="solid"/>
            </a:ln>
          </p:spPr>
          <p:style>
            <a:lnRef idx="1">
              <a:schemeClr val="accent1"/>
            </a:lnRef>
            <a:fillRef idx="0">
              <a:schemeClr val="accent1"/>
            </a:fillRef>
            <a:effectRef idx="0">
              <a:schemeClr val="accent1"/>
            </a:effectRef>
            <a:fontRef idx="minor">
              <a:schemeClr val="tx1"/>
            </a:fontRef>
          </p:style>
        </p:cxnSp>
        <p:cxnSp>
          <p:nvCxnSpPr>
            <p:cNvPr id="23" name="直線接點 22"/>
            <p:cNvCxnSpPr/>
            <p:nvPr/>
          </p:nvCxnSpPr>
          <p:spPr>
            <a:xfrm>
              <a:off x="6637177" y="1248153"/>
              <a:ext cx="0" cy="2658614"/>
            </a:xfrm>
            <a:prstGeom prst="line">
              <a:avLst/>
            </a:prstGeom>
            <a:ln w="38100">
              <a:solidFill>
                <a:srgbClr val="00B0F0"/>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線接點 23"/>
            <p:cNvCxnSpPr/>
            <p:nvPr/>
          </p:nvCxnSpPr>
          <p:spPr>
            <a:xfrm>
              <a:off x="6643121" y="3915181"/>
              <a:ext cx="0" cy="2658614"/>
            </a:xfrm>
            <a:prstGeom prst="line">
              <a:avLst/>
            </a:prstGeom>
            <a:ln w="38100">
              <a:solidFill>
                <a:srgbClr val="00B0F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矩形 24"/>
                <p:cNvSpPr/>
                <p:nvPr/>
              </p:nvSpPr>
              <p:spPr>
                <a:xfrm>
                  <a:off x="6546251" y="878279"/>
                  <a:ext cx="49718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ea typeface="微軟正黑體" panose="020B0604030504040204" pitchFamily="34" charset="-120"/>
                              </a:rPr>
                            </m:ctrlPr>
                          </m:sSubPr>
                          <m:e>
                            <m:r>
                              <a:rPr lang="zh-TW" altLang="en-US" i="1">
                                <a:latin typeface="Cambria Math" panose="02040503050406030204" pitchFamily="18" charset="0"/>
                                <a:ea typeface="微軟正黑體" panose="020B0604030504040204" pitchFamily="34" charset="-120"/>
                              </a:rPr>
                              <m:t>𝒹</m:t>
                            </m:r>
                          </m:e>
                          <m:sub>
                            <m:r>
                              <a:rPr lang="en-US" altLang="zh-TW" i="1">
                                <a:latin typeface="Cambria Math" panose="02040503050406030204" pitchFamily="18" charset="0"/>
                                <a:ea typeface="微軟正黑體" panose="020B0604030504040204" pitchFamily="34" charset="-120"/>
                              </a:rPr>
                              <m:t>4</m:t>
                            </m:r>
                          </m:sub>
                        </m:sSub>
                      </m:oMath>
                    </m:oMathPara>
                  </a14:m>
                  <a:endParaRPr lang="zh-TW" altLang="en-US" dirty="0"/>
                </a:p>
              </p:txBody>
            </p:sp>
          </mc:Choice>
          <mc:Fallback xmlns="">
            <p:sp>
              <p:nvSpPr>
                <p:cNvPr id="25" name="矩形 24"/>
                <p:cNvSpPr>
                  <a:spLocks noRot="1" noChangeAspect="1" noMove="1" noResize="1" noEditPoints="1" noAdjustHandles="1" noChangeArrowheads="1" noChangeShapeType="1" noTextEdit="1"/>
                </p:cNvSpPr>
                <p:nvPr/>
              </p:nvSpPr>
              <p:spPr>
                <a:xfrm>
                  <a:off x="6546251" y="878279"/>
                  <a:ext cx="497186" cy="369332"/>
                </a:xfrm>
                <a:prstGeom prst="rect">
                  <a:avLst/>
                </a:prstGeom>
                <a:blipFill rotWithShape="0">
                  <a:blip r:embed="rId8"/>
                  <a:stretch>
                    <a:fillRect b="-15385"/>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21" name="文字方塊 20"/>
              <p:cNvSpPr txBox="1"/>
              <p:nvPr/>
            </p:nvSpPr>
            <p:spPr>
              <a:xfrm>
                <a:off x="1178011" y="1130910"/>
                <a:ext cx="3541034" cy="523220"/>
              </a:xfrm>
              <a:prstGeom prst="rect">
                <a:avLst/>
              </a:prstGeom>
              <a:noFill/>
            </p:spPr>
            <p:txBody>
              <a:bodyPr wrap="none" rtlCol="0">
                <a:spAutoFit/>
              </a:bodyPr>
              <a:lstStyle/>
              <a:p>
                <a:r>
                  <a:rPr lang="en-US" altLang="zh-TW" sz="2800" dirty="0" smtClean="0"/>
                  <a:t>Case 2 : </a:t>
                </a:r>
                <a14:m>
                  <m:oMath xmlns:m="http://schemas.openxmlformats.org/officeDocument/2006/math">
                    <m:sSub>
                      <m:sSubPr>
                        <m:ctrlPr>
                          <a:rPr lang="en-US" altLang="zh-TW" sz="2800" i="1">
                            <a:latin typeface="Cambria Math" panose="02040503050406030204" pitchFamily="18" charset="0"/>
                            <a:ea typeface="微軟正黑體" panose="020B0604030504040204" pitchFamily="34" charset="-120"/>
                          </a:rPr>
                        </m:ctrlPr>
                      </m:sSubPr>
                      <m:e>
                        <m:r>
                          <a:rPr lang="zh-TW" altLang="en-US" sz="2800" i="1">
                            <a:latin typeface="Cambria Math" panose="02040503050406030204" pitchFamily="18" charset="0"/>
                            <a:ea typeface="微軟正黑體" panose="020B0604030504040204" pitchFamily="34" charset="-120"/>
                          </a:rPr>
                          <m:t>𝒹</m:t>
                        </m:r>
                      </m:e>
                      <m:sub>
                        <m:r>
                          <a:rPr lang="en-US" altLang="zh-TW" sz="2800" b="0" i="1" smtClean="0">
                            <a:latin typeface="Cambria Math" panose="02040503050406030204" pitchFamily="18" charset="0"/>
                            <a:ea typeface="微軟正黑體" panose="020B0604030504040204" pitchFamily="34" charset="-120"/>
                          </a:rPr>
                          <m:t>3</m:t>
                        </m:r>
                      </m:sub>
                    </m:sSub>
                    <m:r>
                      <a:rPr lang="en-US" altLang="zh-TW" sz="2800" b="0" i="1" smtClean="0">
                        <a:latin typeface="Cambria Math" panose="02040503050406030204" pitchFamily="18" charset="0"/>
                        <a:ea typeface="微軟正黑體" panose="020B0604030504040204" pitchFamily="34" charset="-120"/>
                      </a:rPr>
                      <m:t>&lt;</m:t>
                    </m:r>
                    <m:sSub>
                      <m:sSubPr>
                        <m:ctrlPr>
                          <a:rPr lang="en-US" altLang="zh-TW" sz="2800" i="1">
                            <a:latin typeface="Cambria Math" panose="02040503050406030204" pitchFamily="18" charset="0"/>
                            <a:ea typeface="微軟正黑體" panose="020B0604030504040204" pitchFamily="34" charset="-120"/>
                          </a:rPr>
                        </m:ctrlPr>
                      </m:sSubPr>
                      <m:e>
                        <m:r>
                          <a:rPr lang="zh-TW" altLang="en-US" sz="2800" i="1">
                            <a:latin typeface="Cambria Math" panose="02040503050406030204" pitchFamily="18" charset="0"/>
                            <a:ea typeface="微軟正黑體" panose="020B0604030504040204" pitchFamily="34" charset="-120"/>
                          </a:rPr>
                          <m:t>𝒹</m:t>
                        </m:r>
                      </m:e>
                      <m:sub>
                        <m:r>
                          <a:rPr lang="en-US" altLang="zh-TW" sz="2800" b="0" i="1" smtClean="0">
                            <a:latin typeface="Cambria Math" panose="02040503050406030204" pitchFamily="18" charset="0"/>
                            <a:ea typeface="微軟正黑體" panose="020B0604030504040204" pitchFamily="34" charset="-120"/>
                          </a:rPr>
                          <m:t>4</m:t>
                        </m:r>
                      </m:sub>
                    </m:sSub>
                    <m:r>
                      <a:rPr lang="en-US" altLang="zh-TW" sz="2800" b="0" i="1" smtClean="0">
                        <a:latin typeface="Cambria Math" panose="02040503050406030204" pitchFamily="18" charset="0"/>
                        <a:ea typeface="微軟正黑體" panose="020B0604030504040204" pitchFamily="34" charset="-120"/>
                      </a:rPr>
                      <m:t>&lt;</m:t>
                    </m:r>
                    <m:sSub>
                      <m:sSubPr>
                        <m:ctrlPr>
                          <a:rPr lang="en-US" altLang="zh-TW" sz="2800" i="1">
                            <a:latin typeface="Cambria Math" panose="02040503050406030204" pitchFamily="18" charset="0"/>
                            <a:ea typeface="微軟正黑體" panose="020B0604030504040204" pitchFamily="34" charset="-120"/>
                          </a:rPr>
                        </m:ctrlPr>
                      </m:sSubPr>
                      <m:e>
                        <m:r>
                          <a:rPr lang="zh-TW" altLang="en-US" sz="2800" i="1">
                            <a:latin typeface="Cambria Math" panose="02040503050406030204" pitchFamily="18" charset="0"/>
                            <a:ea typeface="微軟正黑體" panose="020B0604030504040204" pitchFamily="34" charset="-120"/>
                          </a:rPr>
                          <m:t>𝒹</m:t>
                        </m:r>
                      </m:e>
                      <m:sub>
                        <m:r>
                          <a:rPr lang="en-US" altLang="zh-TW" sz="2800" b="0" i="1" smtClean="0">
                            <a:latin typeface="Cambria Math" panose="02040503050406030204" pitchFamily="18" charset="0"/>
                            <a:ea typeface="微軟正黑體" panose="020B0604030504040204" pitchFamily="34" charset="-120"/>
                          </a:rPr>
                          <m:t>2</m:t>
                        </m:r>
                      </m:sub>
                    </m:sSub>
                  </m:oMath>
                </a14:m>
                <a:endParaRPr lang="zh-TW" altLang="en-US" sz="2800" dirty="0"/>
              </a:p>
            </p:txBody>
          </p:sp>
        </mc:Choice>
        <mc:Fallback xmlns="">
          <p:sp>
            <p:nvSpPr>
              <p:cNvPr id="21" name="文字方塊 20"/>
              <p:cNvSpPr txBox="1">
                <a:spLocks noRot="1" noChangeAspect="1" noMove="1" noResize="1" noEditPoints="1" noAdjustHandles="1" noChangeArrowheads="1" noChangeShapeType="1" noTextEdit="1"/>
              </p:cNvSpPr>
              <p:nvPr/>
            </p:nvSpPr>
            <p:spPr>
              <a:xfrm>
                <a:off x="1178011" y="1130910"/>
                <a:ext cx="3541034" cy="523220"/>
              </a:xfrm>
              <a:prstGeom prst="rect">
                <a:avLst/>
              </a:prstGeom>
              <a:blipFill rotWithShape="0">
                <a:blip r:embed="rId9"/>
                <a:stretch>
                  <a:fillRect l="-3442" t="-11765" b="-34118"/>
                </a:stretch>
              </a:blipFill>
            </p:spPr>
            <p:txBody>
              <a:bodyPr/>
              <a:lstStyle/>
              <a:p>
                <a:r>
                  <a:rPr lang="zh-TW" altLang="en-US">
                    <a:noFill/>
                  </a:rPr>
                  <a:t> </a:t>
                </a:r>
              </a:p>
            </p:txBody>
          </p:sp>
        </mc:Fallback>
      </mc:AlternateContent>
      <p:sp>
        <p:nvSpPr>
          <p:cNvPr id="27" name="Text Box 9"/>
          <p:cNvSpPr txBox="1">
            <a:spLocks noChangeArrowheads="1"/>
          </p:cNvSpPr>
          <p:nvPr/>
        </p:nvSpPr>
        <p:spPr bwMode="auto">
          <a:xfrm>
            <a:off x="4293019" y="2085667"/>
            <a:ext cx="1952063"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2400" dirty="0" smtClean="0">
                <a:latin typeface="微軟正黑體" panose="020B0604030504040204" pitchFamily="34" charset="-120"/>
                <a:ea typeface="微軟正黑體" panose="020B0604030504040204" pitchFamily="34" charset="-120"/>
                <a:cs typeface="Times New Roman" panose="02020603050405020304" pitchFamily="18" charset="0"/>
              </a:rPr>
              <a:t>破</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產</a:t>
            </a:r>
            <a:endPar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400" dirty="0" smtClean="0">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2400" dirty="0" smtClean="0">
                <a:latin typeface="微軟正黑體" panose="020B0604030504040204" pitchFamily="34" charset="-120"/>
                <a:ea typeface="微軟正黑體" panose="020B0604030504040204" pitchFamily="34" charset="-120"/>
                <a:cs typeface="Times New Roman" panose="02020603050405020304" pitchFamily="18" charset="0"/>
              </a:rPr>
              <a:t>未轉換</a:t>
            </a:r>
            <a:endPar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400" dirty="0" smtClean="0">
                <a:latin typeface="微軟正黑體" panose="020B0604030504040204" pitchFamily="34" charset="-120"/>
                <a:ea typeface="微軟正黑體" panose="020B0604030504040204" pitchFamily="34" charset="-120"/>
                <a:cs typeface="Times New Roman" panose="02020603050405020304" pitchFamily="18" charset="0"/>
              </a:rPr>
              <a:t>SB</a:t>
            </a:r>
            <a:r>
              <a:rPr lang="zh-TW" altLang="en-US" sz="2400" dirty="0" smtClean="0">
                <a:latin typeface="微軟正黑體" panose="020B0604030504040204" pitchFamily="34" charset="-120"/>
                <a:ea typeface="微軟正黑體" panose="020B0604030504040204" pitchFamily="34" charset="-120"/>
                <a:cs typeface="Times New Roman" panose="02020603050405020304" pitchFamily="18" charset="0"/>
              </a:rPr>
              <a:t>拿部分</a:t>
            </a:r>
            <a:endParaRPr lang="en-US" altLang="zh-TW" sz="2400" dirty="0" smtClean="0">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CC</a:t>
            </a:r>
            <a:r>
              <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分不到</a:t>
            </a:r>
            <a:endPar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29" name="Text Box 9"/>
          <p:cNvSpPr txBox="1">
            <a:spLocks noChangeArrowheads="1"/>
          </p:cNvSpPr>
          <p:nvPr/>
        </p:nvSpPr>
        <p:spPr bwMode="auto">
          <a:xfrm>
            <a:off x="6594986" y="4581921"/>
            <a:ext cx="1952063"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2800" dirty="0" smtClean="0">
                <a:latin typeface="微軟正黑體" panose="020B0604030504040204" pitchFamily="34" charset="-120"/>
                <a:ea typeface="微軟正黑體" panose="020B0604030504040204" pitchFamily="34" charset="-120"/>
                <a:cs typeface="Times New Roman" panose="02020603050405020304" pitchFamily="18" charset="0"/>
              </a:rPr>
              <a:t>存活</a:t>
            </a:r>
            <a:endParaRPr lang="en-US" altLang="zh-TW" sz="2800" dirty="0" smtClean="0">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800" dirty="0" smtClean="0">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2800" dirty="0" smtClean="0">
                <a:latin typeface="微軟正黑體" panose="020B0604030504040204" pitchFamily="34" charset="-120"/>
                <a:ea typeface="微軟正黑體" panose="020B0604030504040204" pitchFamily="34" charset="-120"/>
                <a:cs typeface="Times New Roman" panose="02020603050405020304" pitchFamily="18" charset="0"/>
              </a:rPr>
              <a:t>已轉換</a:t>
            </a:r>
            <a:endPar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31" name="矩形 30"/>
          <p:cNvSpPr/>
          <p:nvPr/>
        </p:nvSpPr>
        <p:spPr>
          <a:xfrm>
            <a:off x="6621245" y="1896958"/>
            <a:ext cx="1469733" cy="2255459"/>
          </a:xfrm>
          <a:prstGeom prst="rect">
            <a:avLst/>
          </a:prstGeom>
          <a:solidFill>
            <a:srgbClr val="FFFF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Text Box 9"/>
          <p:cNvSpPr txBox="1">
            <a:spLocks noChangeArrowheads="1"/>
          </p:cNvSpPr>
          <p:nvPr/>
        </p:nvSpPr>
        <p:spPr bwMode="auto">
          <a:xfrm>
            <a:off x="6380079" y="2073502"/>
            <a:ext cx="1952063" cy="2212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2400" dirty="0" smtClean="0">
                <a:latin typeface="微軟正黑體" panose="020B0604030504040204" pitchFamily="34" charset="-120"/>
                <a:ea typeface="微軟正黑體" panose="020B0604030504040204" pitchFamily="34" charset="-120"/>
                <a:cs typeface="Times New Roman" panose="02020603050405020304" pitchFamily="18" charset="0"/>
              </a:rPr>
              <a:t>破</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產</a:t>
            </a:r>
            <a:endPar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rPr>
              <a:t>CC</a:t>
            </a:r>
            <a:r>
              <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rPr>
              <a:t>未轉換</a:t>
            </a:r>
            <a:endPar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rPr>
              <a:t>SB</a:t>
            </a:r>
            <a:r>
              <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rPr>
              <a:t>拿全部</a:t>
            </a:r>
            <a:endPar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400" dirty="0" smtClean="0">
                <a:latin typeface="微軟正黑體" panose="020B0604030504040204" pitchFamily="34" charset="-120"/>
                <a:ea typeface="微軟正黑體" panose="020B0604030504040204" pitchFamily="34" charset="-120"/>
              </a:rPr>
              <a:t>CC</a:t>
            </a:r>
            <a:r>
              <a:rPr lang="zh-TW" altLang="en-US" sz="2400" dirty="0" smtClean="0">
                <a:latin typeface="微軟正黑體" panose="020B0604030504040204" pitchFamily="34" charset="-120"/>
                <a:ea typeface="微軟正黑體" panose="020B0604030504040204" pitchFamily="34" charset="-120"/>
              </a:rPr>
              <a:t>拿部分</a:t>
            </a:r>
            <a:endPar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33" name="矩形 32"/>
          <p:cNvSpPr/>
          <p:nvPr/>
        </p:nvSpPr>
        <p:spPr>
          <a:xfrm>
            <a:off x="8127694" y="1902438"/>
            <a:ext cx="2925318" cy="2243682"/>
          </a:xfrm>
          <a:prstGeom prst="rect">
            <a:avLst/>
          </a:prstGeom>
          <a:solidFill>
            <a:srgbClr val="51DF7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p:cNvSpPr/>
          <p:nvPr/>
        </p:nvSpPr>
        <p:spPr>
          <a:xfrm>
            <a:off x="9436199" y="4143150"/>
            <a:ext cx="1606894" cy="2243682"/>
          </a:xfrm>
          <a:prstGeom prst="rect">
            <a:avLst/>
          </a:prstGeom>
          <a:solidFill>
            <a:srgbClr val="51DF7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Text Box 9"/>
          <p:cNvSpPr txBox="1">
            <a:spLocks noChangeArrowheads="1"/>
          </p:cNvSpPr>
          <p:nvPr/>
        </p:nvSpPr>
        <p:spPr bwMode="auto">
          <a:xfrm>
            <a:off x="8843303" y="2198814"/>
            <a:ext cx="1952063"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2800" dirty="0" smtClean="0">
                <a:latin typeface="微軟正黑體" panose="020B0604030504040204" pitchFamily="34" charset="-120"/>
                <a:ea typeface="微軟正黑體" panose="020B0604030504040204" pitchFamily="34" charset="-120"/>
                <a:cs typeface="Times New Roman" panose="02020603050405020304" pitchFamily="18" charset="0"/>
              </a:rPr>
              <a:t>存活</a:t>
            </a:r>
            <a:endParaRPr lang="en-US" altLang="zh-TW" sz="2800" dirty="0" smtClean="0">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CC</a:t>
            </a:r>
            <a:r>
              <a:rPr kumimoji="0" lang="zh-TW" altLang="en-US"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未轉換</a:t>
            </a:r>
            <a:endParaRPr kumimoji="0" lang="zh-TW" altLang="en-US"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36" name="矩形 35"/>
          <p:cNvSpPr/>
          <p:nvPr/>
        </p:nvSpPr>
        <p:spPr>
          <a:xfrm>
            <a:off x="3915582" y="4143211"/>
            <a:ext cx="1578312" cy="2243681"/>
          </a:xfrm>
          <a:prstGeom prst="rect">
            <a:avLst/>
          </a:pr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69386649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5278655" y="4140732"/>
            <a:ext cx="4143177" cy="2246100"/>
          </a:xfrm>
          <a:prstGeom prst="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Text Box 9"/>
          <p:cNvSpPr txBox="1">
            <a:spLocks noChangeArrowheads="1"/>
          </p:cNvSpPr>
          <p:nvPr/>
        </p:nvSpPr>
        <p:spPr bwMode="auto">
          <a:xfrm>
            <a:off x="6346267" y="4612063"/>
            <a:ext cx="1952063"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2800" dirty="0" smtClean="0">
                <a:latin typeface="微軟正黑體" panose="020B0604030504040204" pitchFamily="34" charset="-120"/>
                <a:ea typeface="微軟正黑體" panose="020B0604030504040204" pitchFamily="34" charset="-120"/>
                <a:cs typeface="Times New Roman" panose="02020603050405020304" pitchFamily="18" charset="0"/>
              </a:rPr>
              <a:t>存活</a:t>
            </a:r>
            <a:endParaRPr lang="en-US" altLang="zh-TW" sz="2800" dirty="0" smtClean="0">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800" dirty="0" smtClean="0">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2800" dirty="0" smtClean="0">
                <a:latin typeface="微軟正黑體" panose="020B0604030504040204" pitchFamily="34" charset="-120"/>
                <a:ea typeface="微軟正黑體" panose="020B0604030504040204" pitchFamily="34" charset="-120"/>
                <a:cs typeface="Times New Roman" panose="02020603050405020304" pitchFamily="18" charset="0"/>
              </a:rPr>
              <a:t>已轉換</a:t>
            </a:r>
            <a:endPar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21" name="矩形 20"/>
          <p:cNvSpPr/>
          <p:nvPr/>
        </p:nvSpPr>
        <p:spPr>
          <a:xfrm>
            <a:off x="3911990" y="1924630"/>
            <a:ext cx="2683580" cy="2235945"/>
          </a:xfrm>
          <a:prstGeom prst="rect">
            <a:avLst/>
          </a:pr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標題 1"/>
          <p:cNvSpPr txBox="1">
            <a:spLocks/>
          </p:cNvSpPr>
          <p:nvPr/>
        </p:nvSpPr>
        <p:spPr>
          <a:xfrm>
            <a:off x="347730" y="283333"/>
            <a:ext cx="11844270" cy="79252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TW" altLang="en-US" sz="4800" dirty="0" smtClean="0">
                <a:latin typeface="微軟正黑體" panose="020B0604030504040204" pitchFamily="34" charset="-120"/>
                <a:ea typeface="微軟正黑體" panose="020B0604030504040204" pitchFamily="34" charset="-120"/>
                <a:cs typeface="Arial" pitchFamily="34" charset="0"/>
              </a:rPr>
              <a:t>積分範圍</a:t>
            </a:r>
            <a:r>
              <a:rPr lang="en-US" altLang="zh-TW" sz="4800" dirty="0" smtClean="0">
                <a:latin typeface="微軟正黑體" panose="020B0604030504040204" pitchFamily="34" charset="-120"/>
                <a:ea typeface="微軟正黑體" panose="020B0604030504040204" pitchFamily="34" charset="-120"/>
                <a:cs typeface="Arial" pitchFamily="34" charset="0"/>
              </a:rPr>
              <a:t>(3/4)</a:t>
            </a:r>
            <a:endParaRPr lang="zh-TW" altLang="en-US" sz="4800" dirty="0">
              <a:latin typeface="微軟正黑體" panose="020B0604030504040204" pitchFamily="34" charset="-120"/>
              <a:ea typeface="微軟正黑體" panose="020B0604030504040204" pitchFamily="34" charset="-120"/>
            </a:endParaRPr>
          </a:p>
        </p:txBody>
      </p:sp>
      <p:grpSp>
        <p:nvGrpSpPr>
          <p:cNvPr id="2" name="群組 1"/>
          <p:cNvGrpSpPr/>
          <p:nvPr/>
        </p:nvGrpSpPr>
        <p:grpSpPr>
          <a:xfrm>
            <a:off x="2255803" y="1534720"/>
            <a:ext cx="8271480" cy="5133274"/>
            <a:chOff x="1555585" y="866970"/>
            <a:chExt cx="9628411" cy="5975384"/>
          </a:xfrm>
        </p:grpSpPr>
        <p:cxnSp>
          <p:nvCxnSpPr>
            <p:cNvPr id="4" name="直線單箭頭接點 3"/>
            <p:cNvCxnSpPr/>
            <p:nvPr/>
          </p:nvCxnSpPr>
          <p:spPr>
            <a:xfrm flipV="1">
              <a:off x="3489130" y="1320845"/>
              <a:ext cx="0" cy="534473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線單箭頭接點 4"/>
            <p:cNvCxnSpPr/>
            <p:nvPr/>
          </p:nvCxnSpPr>
          <p:spPr>
            <a:xfrm>
              <a:off x="1996224" y="3915181"/>
              <a:ext cx="864172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矩形 5"/>
                <p:cNvSpPr/>
                <p:nvPr/>
              </p:nvSpPr>
              <p:spPr>
                <a:xfrm>
                  <a:off x="2904655" y="879512"/>
                  <a:ext cx="55316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solidFill>
                                  <a:prstClr val="black"/>
                                </a:solidFill>
                                <a:latin typeface="Cambria Math" panose="02040503050406030204" pitchFamily="18" charset="0"/>
                              </a:rPr>
                            </m:ctrlPr>
                          </m:sSubPr>
                          <m:e>
                            <m:r>
                              <a:rPr lang="en-US" altLang="zh-TW" sz="2400" i="1">
                                <a:solidFill>
                                  <a:prstClr val="black"/>
                                </a:solidFill>
                                <a:latin typeface="Cambria Math" panose="02040503050406030204" pitchFamily="18" charset="0"/>
                              </a:rPr>
                              <m:t>𝑏</m:t>
                            </m:r>
                          </m:e>
                          <m:sub>
                            <m:r>
                              <a:rPr lang="en-US" altLang="zh-TW" sz="2400" i="1">
                                <a:solidFill>
                                  <a:prstClr val="black"/>
                                </a:solidFill>
                                <a:latin typeface="Cambria Math" panose="02040503050406030204" pitchFamily="18" charset="0"/>
                              </a:rPr>
                              <m:t>2</m:t>
                            </m:r>
                          </m:sub>
                        </m:sSub>
                      </m:oMath>
                    </m:oMathPara>
                  </a14:m>
                  <a:endParaRPr lang="zh-TW" altLang="en-US" sz="2400" dirty="0"/>
                </a:p>
              </p:txBody>
            </p:sp>
          </mc:Choice>
          <mc:Fallback xmlns="">
            <p:sp>
              <p:nvSpPr>
                <p:cNvPr id="6" name="矩形 5"/>
                <p:cNvSpPr>
                  <a:spLocks noRot="1" noChangeAspect="1" noMove="1" noResize="1" noEditPoints="1" noAdjustHandles="1" noChangeArrowheads="1" noChangeShapeType="1" noTextEdit="1"/>
                </p:cNvSpPr>
                <p:nvPr/>
              </p:nvSpPr>
              <p:spPr>
                <a:xfrm>
                  <a:off x="2904655" y="879512"/>
                  <a:ext cx="553164" cy="461665"/>
                </a:xfrm>
                <a:prstGeom prst="rect">
                  <a:avLst/>
                </a:prstGeom>
                <a:blipFill rotWithShape="0">
                  <a:blip r:embed="rId2"/>
                  <a:stretch>
                    <a:fillRect b="-13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10637949" y="4094344"/>
                  <a:ext cx="54604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solidFill>
                                  <a:prstClr val="black"/>
                                </a:solidFill>
                                <a:latin typeface="Cambria Math" panose="02040503050406030204" pitchFamily="18" charset="0"/>
                              </a:rPr>
                            </m:ctrlPr>
                          </m:sSubPr>
                          <m:e>
                            <m:r>
                              <a:rPr lang="en-US" altLang="zh-TW" sz="2400" i="1">
                                <a:solidFill>
                                  <a:prstClr val="black"/>
                                </a:solidFill>
                                <a:latin typeface="Cambria Math" panose="02040503050406030204" pitchFamily="18" charset="0"/>
                              </a:rPr>
                              <m:t>𝑏</m:t>
                            </m:r>
                          </m:e>
                          <m:sub>
                            <m:r>
                              <a:rPr lang="en-US" altLang="zh-TW" sz="2400" i="1">
                                <a:solidFill>
                                  <a:prstClr val="black"/>
                                </a:solidFill>
                                <a:latin typeface="Cambria Math" panose="02040503050406030204" pitchFamily="18" charset="0"/>
                              </a:rPr>
                              <m:t>1</m:t>
                            </m:r>
                          </m:sub>
                        </m:sSub>
                      </m:oMath>
                    </m:oMathPara>
                  </a14:m>
                  <a:endParaRPr lang="zh-TW" altLang="en-US" sz="2400" dirty="0"/>
                </a:p>
              </p:txBody>
            </p:sp>
          </mc:Choice>
          <mc:Fallback xmlns="">
            <p:sp>
              <p:nvSpPr>
                <p:cNvPr id="7" name="矩形 6"/>
                <p:cNvSpPr>
                  <a:spLocks noRot="1" noChangeAspect="1" noMove="1" noResize="1" noEditPoints="1" noAdjustHandles="1" noChangeArrowheads="1" noChangeShapeType="1" noTextEdit="1"/>
                </p:cNvSpPr>
                <p:nvPr/>
              </p:nvSpPr>
              <p:spPr>
                <a:xfrm>
                  <a:off x="10637949" y="4094344"/>
                  <a:ext cx="546047" cy="461665"/>
                </a:xfrm>
                <a:prstGeom prst="rect">
                  <a:avLst/>
                </a:prstGeom>
                <a:blipFill rotWithShape="0">
                  <a:blip r:embed="rId3"/>
                  <a:stretch>
                    <a:fillRect b="-1333"/>
                  </a:stretch>
                </a:blipFill>
              </p:spPr>
              <p:txBody>
                <a:bodyPr/>
                <a:lstStyle/>
                <a:p>
                  <a:r>
                    <a:rPr lang="zh-TW" altLang="en-US">
                      <a:noFill/>
                    </a:rPr>
                    <a:t> </a:t>
                  </a:r>
                </a:p>
              </p:txBody>
            </p:sp>
          </mc:Fallback>
        </mc:AlternateContent>
        <p:cxnSp>
          <p:nvCxnSpPr>
            <p:cNvPr id="9" name="直線接點 8"/>
            <p:cNvCxnSpPr/>
            <p:nvPr/>
          </p:nvCxnSpPr>
          <p:spPr>
            <a:xfrm>
              <a:off x="1996224" y="3915181"/>
              <a:ext cx="8641725" cy="0"/>
            </a:xfrm>
            <a:prstGeom prst="line">
              <a:avLst/>
            </a:prstGeom>
            <a:ln w="57150">
              <a:solidFill>
                <a:srgbClr val="00B05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矩形 9"/>
                <p:cNvSpPr/>
                <p:nvPr/>
              </p:nvSpPr>
              <p:spPr>
                <a:xfrm>
                  <a:off x="1555585" y="3445102"/>
                  <a:ext cx="59978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ea typeface="微軟正黑體" panose="020B0604030504040204" pitchFamily="34" charset="-120"/>
                              </a:rPr>
                            </m:ctrlPr>
                          </m:sSubPr>
                          <m:e>
                            <m:r>
                              <a:rPr lang="zh-TW" altLang="en-US" sz="2400" i="1">
                                <a:latin typeface="Cambria Math" panose="02040503050406030204" pitchFamily="18" charset="0"/>
                                <a:ea typeface="微軟正黑體" panose="020B0604030504040204" pitchFamily="34" charset="-120"/>
                              </a:rPr>
                              <m:t>𝒹</m:t>
                            </m:r>
                          </m:e>
                          <m:sub>
                            <m:r>
                              <a:rPr lang="en-US" altLang="zh-TW" sz="2400" i="1">
                                <a:latin typeface="Cambria Math" panose="02040503050406030204" pitchFamily="18" charset="0"/>
                                <a:ea typeface="微軟正黑體" panose="020B0604030504040204" pitchFamily="34" charset="-120"/>
                              </a:rPr>
                              <m:t>5</m:t>
                            </m:r>
                          </m:sub>
                        </m:sSub>
                      </m:oMath>
                    </m:oMathPara>
                  </a14:m>
                  <a:endParaRPr lang="zh-TW"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1555585" y="3445102"/>
                  <a:ext cx="599780" cy="461665"/>
                </a:xfrm>
                <a:prstGeom prst="rect">
                  <a:avLst/>
                </a:prstGeom>
                <a:blipFill rotWithShape="0">
                  <a:blip r:embed="rId4"/>
                  <a:stretch>
                    <a:fillRect b="-13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9905558" y="4168611"/>
                  <a:ext cx="49667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ea typeface="微軟正黑體" panose="020B0604030504040204" pitchFamily="34" charset="-120"/>
                              </a:rPr>
                            </m:ctrlPr>
                          </m:sSubPr>
                          <m:e>
                            <m:r>
                              <a:rPr lang="zh-TW" altLang="en-US" i="1">
                                <a:latin typeface="Cambria Math" panose="02040503050406030204" pitchFamily="18" charset="0"/>
                                <a:ea typeface="微軟正黑體" panose="020B0604030504040204" pitchFamily="34" charset="-120"/>
                              </a:rPr>
                              <m:t>𝒹</m:t>
                            </m:r>
                          </m:e>
                          <m:sub>
                            <m:r>
                              <a:rPr lang="en-US" altLang="zh-TW" i="1">
                                <a:latin typeface="Cambria Math" panose="02040503050406030204" pitchFamily="18" charset="0"/>
                                <a:ea typeface="微軟正黑體" panose="020B0604030504040204" pitchFamily="34" charset="-120"/>
                              </a:rPr>
                              <m:t>1</m:t>
                            </m:r>
                          </m:sub>
                        </m:sSub>
                      </m:oMath>
                    </m:oMathPara>
                  </a14:m>
                  <a:endParaRPr lang="en-US" altLang="zh-TW" dirty="0">
                    <a:latin typeface="微軟正黑體" panose="020B0604030504040204" pitchFamily="34" charset="-120"/>
                    <a:ea typeface="微軟正黑體" panose="020B0604030504040204" pitchFamily="34" charset="-120"/>
                  </a:endParaRPr>
                </a:p>
              </p:txBody>
            </p:sp>
          </mc:Choice>
          <mc:Fallback xmlns="">
            <p:sp>
              <p:nvSpPr>
                <p:cNvPr id="11" name="矩形 10"/>
                <p:cNvSpPr>
                  <a:spLocks noRot="1" noChangeAspect="1" noMove="1" noResize="1" noEditPoints="1" noAdjustHandles="1" noChangeArrowheads="1" noChangeShapeType="1" noTextEdit="1"/>
                </p:cNvSpPr>
                <p:nvPr/>
              </p:nvSpPr>
              <p:spPr>
                <a:xfrm>
                  <a:off x="9905558" y="4168611"/>
                  <a:ext cx="496674" cy="369332"/>
                </a:xfrm>
                <a:prstGeom prst="rect">
                  <a:avLst/>
                </a:prstGeom>
                <a:blipFill rotWithShape="0">
                  <a:blip r:embed="rId5"/>
                  <a:stretch>
                    <a:fillRect b="-1667"/>
                  </a:stretch>
                </a:blipFill>
              </p:spPr>
              <p:txBody>
                <a:bodyPr/>
                <a:lstStyle/>
                <a:p>
                  <a:r>
                    <a:rPr lang="zh-TW" altLang="en-US">
                      <a:noFill/>
                    </a:rPr>
                    <a:t> </a:t>
                  </a:r>
                </a:p>
              </p:txBody>
            </p:sp>
          </mc:Fallback>
        </mc:AlternateContent>
        <p:cxnSp>
          <p:nvCxnSpPr>
            <p:cNvPr id="13" name="直線接點 12"/>
            <p:cNvCxnSpPr/>
            <p:nvPr/>
          </p:nvCxnSpPr>
          <p:spPr>
            <a:xfrm>
              <a:off x="9905558" y="3915181"/>
              <a:ext cx="0" cy="265861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6618834" y="1256567"/>
              <a:ext cx="0" cy="2658614"/>
            </a:xfrm>
            <a:prstGeom prst="line">
              <a:avLst/>
            </a:prstGeom>
            <a:ln w="38100">
              <a:solidFill>
                <a:schemeClr val="tx1"/>
              </a:solidFill>
              <a:prstDash val="soli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矩形 18"/>
                <p:cNvSpPr/>
                <p:nvPr/>
              </p:nvSpPr>
              <p:spPr>
                <a:xfrm>
                  <a:off x="6121648" y="871449"/>
                  <a:ext cx="49718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ea typeface="微軟正黑體" panose="020B0604030504040204" pitchFamily="34" charset="-120"/>
                              </a:rPr>
                            </m:ctrlPr>
                          </m:sSubPr>
                          <m:e>
                            <m:r>
                              <a:rPr lang="zh-TW" altLang="en-US" i="1">
                                <a:latin typeface="Cambria Math" panose="02040503050406030204" pitchFamily="18" charset="0"/>
                                <a:ea typeface="微軟正黑體" panose="020B0604030504040204" pitchFamily="34" charset="-120"/>
                              </a:rPr>
                              <m:t>𝒹</m:t>
                            </m:r>
                          </m:e>
                          <m:sub>
                            <m:r>
                              <a:rPr lang="en-US" altLang="zh-TW" i="1">
                                <a:latin typeface="Cambria Math" panose="02040503050406030204" pitchFamily="18" charset="0"/>
                                <a:ea typeface="微軟正黑體" panose="020B0604030504040204" pitchFamily="34" charset="-120"/>
                              </a:rPr>
                              <m:t>2</m:t>
                            </m:r>
                          </m:sub>
                        </m:sSub>
                      </m:oMath>
                    </m:oMathPara>
                  </a14:m>
                  <a:endParaRPr lang="zh-TW" altLang="en-US" dirty="0"/>
                </a:p>
              </p:txBody>
            </p:sp>
          </mc:Choice>
          <mc:Fallback xmlns="">
            <p:sp>
              <p:nvSpPr>
                <p:cNvPr id="19" name="矩形 18"/>
                <p:cNvSpPr>
                  <a:spLocks noRot="1" noChangeAspect="1" noMove="1" noResize="1" noEditPoints="1" noAdjustHandles="1" noChangeArrowheads="1" noChangeShapeType="1" noTextEdit="1"/>
                </p:cNvSpPr>
                <p:nvPr/>
              </p:nvSpPr>
              <p:spPr>
                <a:xfrm>
                  <a:off x="6121648" y="871449"/>
                  <a:ext cx="497186" cy="369332"/>
                </a:xfrm>
                <a:prstGeom prst="rect">
                  <a:avLst/>
                </a:prstGeom>
                <a:blipFill rotWithShape="0">
                  <a:blip r:embed="rId6"/>
                  <a:stretch>
                    <a:fillRect b="-1538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4697262" y="6473022"/>
                  <a:ext cx="49718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ea typeface="微軟正黑體" panose="020B0604030504040204" pitchFamily="34" charset="-120"/>
                              </a:rPr>
                            </m:ctrlPr>
                          </m:sSubPr>
                          <m:e>
                            <m:r>
                              <a:rPr lang="zh-TW" altLang="en-US" i="1">
                                <a:latin typeface="Cambria Math" panose="02040503050406030204" pitchFamily="18" charset="0"/>
                                <a:ea typeface="微軟正黑體" panose="020B0604030504040204" pitchFamily="34" charset="-120"/>
                              </a:rPr>
                              <m:t>𝒹</m:t>
                            </m:r>
                          </m:e>
                          <m:sub>
                            <m:r>
                              <a:rPr lang="en-US" altLang="zh-TW" i="1">
                                <a:latin typeface="Cambria Math" panose="02040503050406030204" pitchFamily="18" charset="0"/>
                                <a:ea typeface="微軟正黑體" panose="020B0604030504040204" pitchFamily="34" charset="-120"/>
                              </a:rPr>
                              <m:t>3</m:t>
                            </m:r>
                          </m:sub>
                        </m:sSub>
                      </m:oMath>
                    </m:oMathPara>
                  </a14:m>
                  <a:endParaRPr lang="zh-TW" altLang="en-US" dirty="0"/>
                </a:p>
              </p:txBody>
            </p:sp>
          </mc:Choice>
          <mc:Fallback xmlns="">
            <p:sp>
              <p:nvSpPr>
                <p:cNvPr id="20" name="矩形 19"/>
                <p:cNvSpPr>
                  <a:spLocks noRot="1" noChangeAspect="1" noMove="1" noResize="1" noEditPoints="1" noAdjustHandles="1" noChangeArrowheads="1" noChangeShapeType="1" noTextEdit="1"/>
                </p:cNvSpPr>
                <p:nvPr/>
              </p:nvSpPr>
              <p:spPr>
                <a:xfrm>
                  <a:off x="4697262" y="6473022"/>
                  <a:ext cx="497186" cy="369332"/>
                </a:xfrm>
                <a:prstGeom prst="rect">
                  <a:avLst/>
                </a:prstGeom>
                <a:blipFill rotWithShape="0">
                  <a:blip r:embed="rId7"/>
                  <a:stretch>
                    <a:fillRect b="-15385"/>
                  </a:stretch>
                </a:blipFill>
              </p:spPr>
              <p:txBody>
                <a:bodyPr/>
                <a:lstStyle/>
                <a:p>
                  <a:r>
                    <a:rPr lang="zh-TW" altLang="en-US">
                      <a:noFill/>
                    </a:rPr>
                    <a:t> </a:t>
                  </a:r>
                </a:p>
              </p:txBody>
            </p:sp>
          </mc:Fallback>
        </mc:AlternateContent>
        <p:cxnSp>
          <p:nvCxnSpPr>
            <p:cNvPr id="22" name="直線接點 21"/>
            <p:cNvCxnSpPr/>
            <p:nvPr/>
          </p:nvCxnSpPr>
          <p:spPr>
            <a:xfrm>
              <a:off x="5074335" y="3915181"/>
              <a:ext cx="0" cy="2658614"/>
            </a:xfrm>
            <a:prstGeom prst="line">
              <a:avLst/>
            </a:prstGeom>
            <a:ln w="38100">
              <a:solidFill>
                <a:srgbClr val="7030A0"/>
              </a:solidFill>
              <a:prstDash val="solid"/>
            </a:ln>
          </p:spPr>
          <p:style>
            <a:lnRef idx="1">
              <a:schemeClr val="accent1"/>
            </a:lnRef>
            <a:fillRef idx="0">
              <a:schemeClr val="accent1"/>
            </a:fillRef>
            <a:effectRef idx="0">
              <a:schemeClr val="accent1"/>
            </a:effectRef>
            <a:fontRef idx="minor">
              <a:schemeClr val="tx1"/>
            </a:fontRef>
          </p:style>
        </p:cxnSp>
        <p:cxnSp>
          <p:nvCxnSpPr>
            <p:cNvPr id="23" name="直線接點 22"/>
            <p:cNvCxnSpPr/>
            <p:nvPr/>
          </p:nvCxnSpPr>
          <p:spPr>
            <a:xfrm>
              <a:off x="7884015" y="1248153"/>
              <a:ext cx="0" cy="2658614"/>
            </a:xfrm>
            <a:prstGeom prst="line">
              <a:avLst/>
            </a:prstGeom>
            <a:ln w="381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24" name="直線接點 23"/>
            <p:cNvCxnSpPr/>
            <p:nvPr/>
          </p:nvCxnSpPr>
          <p:spPr>
            <a:xfrm>
              <a:off x="7890569" y="3915181"/>
              <a:ext cx="0" cy="2658614"/>
            </a:xfrm>
            <a:prstGeom prst="line">
              <a:avLst/>
            </a:prstGeom>
            <a:ln w="38100">
              <a:solidFill>
                <a:srgbClr val="00B0F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矩形 24"/>
                <p:cNvSpPr/>
                <p:nvPr/>
              </p:nvSpPr>
              <p:spPr>
                <a:xfrm>
                  <a:off x="7871390" y="866970"/>
                  <a:ext cx="49718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ea typeface="微軟正黑體" panose="020B0604030504040204" pitchFamily="34" charset="-120"/>
                              </a:rPr>
                            </m:ctrlPr>
                          </m:sSubPr>
                          <m:e>
                            <m:r>
                              <a:rPr lang="zh-TW" altLang="en-US" i="1">
                                <a:latin typeface="Cambria Math" panose="02040503050406030204" pitchFamily="18" charset="0"/>
                                <a:ea typeface="微軟正黑體" panose="020B0604030504040204" pitchFamily="34" charset="-120"/>
                              </a:rPr>
                              <m:t>𝒹</m:t>
                            </m:r>
                          </m:e>
                          <m:sub>
                            <m:r>
                              <a:rPr lang="en-US" altLang="zh-TW" i="1">
                                <a:latin typeface="Cambria Math" panose="02040503050406030204" pitchFamily="18" charset="0"/>
                                <a:ea typeface="微軟正黑體" panose="020B0604030504040204" pitchFamily="34" charset="-120"/>
                              </a:rPr>
                              <m:t>4</m:t>
                            </m:r>
                          </m:sub>
                        </m:sSub>
                      </m:oMath>
                    </m:oMathPara>
                  </a14:m>
                  <a:endParaRPr lang="zh-TW" altLang="en-US" dirty="0"/>
                </a:p>
              </p:txBody>
            </p:sp>
          </mc:Choice>
          <mc:Fallback xmlns="">
            <p:sp>
              <p:nvSpPr>
                <p:cNvPr id="25" name="矩形 24"/>
                <p:cNvSpPr>
                  <a:spLocks noRot="1" noChangeAspect="1" noMove="1" noResize="1" noEditPoints="1" noAdjustHandles="1" noChangeArrowheads="1" noChangeShapeType="1" noTextEdit="1"/>
                </p:cNvSpPr>
                <p:nvPr/>
              </p:nvSpPr>
              <p:spPr>
                <a:xfrm>
                  <a:off x="7871390" y="866970"/>
                  <a:ext cx="497186" cy="369332"/>
                </a:xfrm>
                <a:prstGeom prst="rect">
                  <a:avLst/>
                </a:prstGeom>
                <a:blipFill rotWithShape="0">
                  <a:blip r:embed="rId8"/>
                  <a:stretch>
                    <a:fillRect b="-15385"/>
                  </a:stretch>
                </a:blipFill>
              </p:spPr>
              <p:txBody>
                <a:bodyPr/>
                <a:lstStyle/>
                <a:p>
                  <a:r>
                    <a:rPr lang="zh-TW" altLang="en-US">
                      <a:noFill/>
                    </a:rPr>
                    <a:t> </a:t>
                  </a:r>
                </a:p>
              </p:txBody>
            </p:sp>
          </mc:Fallback>
        </mc:AlternateContent>
      </p:grpSp>
      <p:sp>
        <p:nvSpPr>
          <p:cNvPr id="26" name="Text Box 9"/>
          <p:cNvSpPr txBox="1">
            <a:spLocks noChangeArrowheads="1"/>
          </p:cNvSpPr>
          <p:nvPr/>
        </p:nvSpPr>
        <p:spPr bwMode="auto">
          <a:xfrm>
            <a:off x="4350968" y="2047715"/>
            <a:ext cx="1952063"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2400" dirty="0" smtClean="0">
                <a:latin typeface="微軟正黑體" panose="020B0604030504040204" pitchFamily="34" charset="-120"/>
                <a:ea typeface="微軟正黑體" panose="020B0604030504040204" pitchFamily="34" charset="-120"/>
                <a:cs typeface="Times New Roman" panose="02020603050405020304" pitchFamily="18" charset="0"/>
              </a:rPr>
              <a:t>破</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產</a:t>
            </a:r>
            <a:endPar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400" dirty="0" smtClean="0">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2400" dirty="0" smtClean="0">
                <a:latin typeface="微軟正黑體" panose="020B0604030504040204" pitchFamily="34" charset="-120"/>
                <a:ea typeface="微軟正黑體" panose="020B0604030504040204" pitchFamily="34" charset="-120"/>
                <a:cs typeface="Times New Roman" panose="02020603050405020304" pitchFamily="18" charset="0"/>
              </a:rPr>
              <a:t>未轉換</a:t>
            </a:r>
            <a:endPar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400" dirty="0" smtClean="0">
                <a:latin typeface="微軟正黑體" panose="020B0604030504040204" pitchFamily="34" charset="-120"/>
                <a:ea typeface="微軟正黑體" panose="020B0604030504040204" pitchFamily="34" charset="-120"/>
                <a:cs typeface="Times New Roman" panose="02020603050405020304" pitchFamily="18" charset="0"/>
              </a:rPr>
              <a:t>SB</a:t>
            </a:r>
            <a:r>
              <a:rPr lang="zh-TW" altLang="en-US" sz="2400" dirty="0" smtClean="0">
                <a:latin typeface="微軟正黑體" panose="020B0604030504040204" pitchFamily="34" charset="-120"/>
                <a:ea typeface="微軟正黑體" panose="020B0604030504040204" pitchFamily="34" charset="-120"/>
                <a:cs typeface="Times New Roman" panose="02020603050405020304" pitchFamily="18" charset="0"/>
              </a:rPr>
              <a:t>拿部分</a:t>
            </a:r>
            <a:endParaRPr lang="en-US" altLang="zh-TW" sz="2400" dirty="0" smtClean="0">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CC</a:t>
            </a:r>
            <a:r>
              <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分不到</a:t>
            </a:r>
            <a:endPar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27" name="Text Box 17"/>
          <p:cNvSpPr txBox="1">
            <a:spLocks noChangeArrowheads="1"/>
          </p:cNvSpPr>
          <p:nvPr/>
        </p:nvSpPr>
        <p:spPr bwMode="auto">
          <a:xfrm>
            <a:off x="3652352" y="4539410"/>
            <a:ext cx="1937696"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破 產 </a:t>
            </a:r>
            <a:endParaRPr kumimoji="0" lang="zh-TW"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400" dirty="0" smtClean="0">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2400" dirty="0" smtClean="0">
                <a:latin typeface="微軟正黑體" panose="020B0604030504040204" pitchFamily="34" charset="-120"/>
                <a:ea typeface="微軟正黑體" panose="020B0604030504040204" pitchFamily="34" charset="-120"/>
                <a:cs typeface="Times New Roman" panose="02020603050405020304" pitchFamily="18" charset="0"/>
              </a:rPr>
              <a:t>已轉換</a:t>
            </a:r>
            <a:endParaRPr kumimoji="0" lang="zh-TW"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SB</a:t>
            </a:r>
            <a:r>
              <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拿部分</a:t>
            </a:r>
            <a:endParaRPr kumimoji="0" lang="zh-TW" altLang="en-US"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30" name="矩形 29"/>
          <p:cNvSpPr/>
          <p:nvPr/>
        </p:nvSpPr>
        <p:spPr>
          <a:xfrm>
            <a:off x="6605489" y="1919862"/>
            <a:ext cx="4447523" cy="2226257"/>
          </a:xfrm>
          <a:prstGeom prst="rect">
            <a:avLst/>
          </a:prstGeom>
          <a:solidFill>
            <a:srgbClr val="51DF7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矩形 30"/>
          <p:cNvSpPr/>
          <p:nvPr/>
        </p:nvSpPr>
        <p:spPr>
          <a:xfrm>
            <a:off x="9429015" y="4143150"/>
            <a:ext cx="1614078" cy="2243682"/>
          </a:xfrm>
          <a:prstGeom prst="rect">
            <a:avLst/>
          </a:prstGeom>
          <a:solidFill>
            <a:srgbClr val="51DF7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Text Box 9"/>
          <p:cNvSpPr txBox="1">
            <a:spLocks noChangeArrowheads="1"/>
          </p:cNvSpPr>
          <p:nvPr/>
        </p:nvSpPr>
        <p:spPr bwMode="auto">
          <a:xfrm>
            <a:off x="8843303" y="2198814"/>
            <a:ext cx="1952063"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2800" dirty="0" smtClean="0">
                <a:latin typeface="微軟正黑體" panose="020B0604030504040204" pitchFamily="34" charset="-120"/>
                <a:ea typeface="微軟正黑體" panose="020B0604030504040204" pitchFamily="34" charset="-120"/>
                <a:cs typeface="Times New Roman" panose="02020603050405020304" pitchFamily="18" charset="0"/>
              </a:rPr>
              <a:t>存活</a:t>
            </a:r>
            <a:endParaRPr lang="en-US" altLang="zh-TW" sz="2800" dirty="0" smtClean="0">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CC</a:t>
            </a:r>
            <a:r>
              <a:rPr kumimoji="0" lang="zh-TW" altLang="en-US"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未轉換</a:t>
            </a:r>
            <a:endParaRPr kumimoji="0" lang="zh-TW" altLang="en-US"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mc:AlternateContent xmlns:mc="http://schemas.openxmlformats.org/markup-compatibility/2006" xmlns:a14="http://schemas.microsoft.com/office/drawing/2010/main">
        <mc:Choice Requires="a14">
          <p:sp>
            <p:nvSpPr>
              <p:cNvPr id="33" name="文字方塊 32"/>
              <p:cNvSpPr txBox="1"/>
              <p:nvPr/>
            </p:nvSpPr>
            <p:spPr>
              <a:xfrm>
                <a:off x="1178011" y="1130910"/>
                <a:ext cx="3532762" cy="523220"/>
              </a:xfrm>
              <a:prstGeom prst="rect">
                <a:avLst/>
              </a:prstGeom>
              <a:noFill/>
            </p:spPr>
            <p:txBody>
              <a:bodyPr wrap="none" rtlCol="0">
                <a:spAutoFit/>
              </a:bodyPr>
              <a:lstStyle/>
              <a:p>
                <a:r>
                  <a:rPr lang="en-US" altLang="zh-TW" sz="2800" dirty="0" smtClean="0"/>
                  <a:t>Case 3 : </a:t>
                </a:r>
                <a14:m>
                  <m:oMath xmlns:m="http://schemas.openxmlformats.org/officeDocument/2006/math">
                    <m:sSub>
                      <m:sSubPr>
                        <m:ctrlPr>
                          <a:rPr lang="en-US" altLang="zh-TW" sz="2800" i="1">
                            <a:latin typeface="Cambria Math" panose="02040503050406030204" pitchFamily="18" charset="0"/>
                            <a:ea typeface="微軟正黑體" panose="020B0604030504040204" pitchFamily="34" charset="-120"/>
                          </a:rPr>
                        </m:ctrlPr>
                      </m:sSubPr>
                      <m:e>
                        <m:r>
                          <a:rPr lang="zh-TW" altLang="en-US" sz="2800" i="1">
                            <a:latin typeface="Cambria Math" panose="02040503050406030204" pitchFamily="18" charset="0"/>
                            <a:ea typeface="微軟正黑體" panose="020B0604030504040204" pitchFamily="34" charset="-120"/>
                          </a:rPr>
                          <m:t>𝒹</m:t>
                        </m:r>
                      </m:e>
                      <m:sub>
                        <m:r>
                          <a:rPr lang="en-US" altLang="zh-TW" sz="2800" b="0" i="1" smtClean="0">
                            <a:latin typeface="Cambria Math" panose="02040503050406030204" pitchFamily="18" charset="0"/>
                            <a:ea typeface="微軟正黑體" panose="020B0604030504040204" pitchFamily="34" charset="-120"/>
                          </a:rPr>
                          <m:t>2</m:t>
                        </m:r>
                      </m:sub>
                    </m:sSub>
                    <m:r>
                      <a:rPr lang="en-US" altLang="zh-TW" sz="2800" b="0" i="1" smtClean="0">
                        <a:latin typeface="Cambria Math" panose="02040503050406030204" pitchFamily="18" charset="0"/>
                        <a:ea typeface="微軟正黑體" panose="020B0604030504040204" pitchFamily="34" charset="-120"/>
                      </a:rPr>
                      <m:t>&lt;</m:t>
                    </m:r>
                    <m:sSub>
                      <m:sSubPr>
                        <m:ctrlPr>
                          <a:rPr lang="en-US" altLang="zh-TW" sz="2800" i="1">
                            <a:latin typeface="Cambria Math" panose="02040503050406030204" pitchFamily="18" charset="0"/>
                            <a:ea typeface="微軟正黑體" panose="020B0604030504040204" pitchFamily="34" charset="-120"/>
                          </a:rPr>
                        </m:ctrlPr>
                      </m:sSubPr>
                      <m:e>
                        <m:r>
                          <a:rPr lang="zh-TW" altLang="en-US" sz="2800" i="1">
                            <a:latin typeface="Cambria Math" panose="02040503050406030204" pitchFamily="18" charset="0"/>
                            <a:ea typeface="微軟正黑體" panose="020B0604030504040204" pitchFamily="34" charset="-120"/>
                          </a:rPr>
                          <m:t>𝒹</m:t>
                        </m:r>
                      </m:e>
                      <m:sub>
                        <m:r>
                          <a:rPr lang="en-US" altLang="zh-TW" sz="2800" b="0" i="1" smtClean="0">
                            <a:latin typeface="Cambria Math" panose="02040503050406030204" pitchFamily="18" charset="0"/>
                            <a:ea typeface="微軟正黑體" panose="020B0604030504040204" pitchFamily="34" charset="-120"/>
                          </a:rPr>
                          <m:t>4</m:t>
                        </m:r>
                      </m:sub>
                    </m:sSub>
                    <m:r>
                      <a:rPr lang="en-US" altLang="zh-TW" sz="2800" b="0" i="1" smtClean="0">
                        <a:latin typeface="Cambria Math" panose="02040503050406030204" pitchFamily="18" charset="0"/>
                        <a:ea typeface="微軟正黑體" panose="020B0604030504040204" pitchFamily="34" charset="-120"/>
                      </a:rPr>
                      <m:t>&lt;</m:t>
                    </m:r>
                    <m:sSub>
                      <m:sSubPr>
                        <m:ctrlPr>
                          <a:rPr lang="en-US" altLang="zh-TW" sz="2800" i="1">
                            <a:latin typeface="Cambria Math" panose="02040503050406030204" pitchFamily="18" charset="0"/>
                            <a:ea typeface="微軟正黑體" panose="020B0604030504040204" pitchFamily="34" charset="-120"/>
                          </a:rPr>
                        </m:ctrlPr>
                      </m:sSubPr>
                      <m:e>
                        <m:r>
                          <a:rPr lang="zh-TW" altLang="en-US" sz="2800" i="1">
                            <a:latin typeface="Cambria Math" panose="02040503050406030204" pitchFamily="18" charset="0"/>
                            <a:ea typeface="微軟正黑體" panose="020B0604030504040204" pitchFamily="34" charset="-120"/>
                          </a:rPr>
                          <m:t>𝒹</m:t>
                        </m:r>
                      </m:e>
                      <m:sub>
                        <m:r>
                          <a:rPr lang="en-US" altLang="zh-TW" sz="2800" b="0" i="1" smtClean="0">
                            <a:latin typeface="Cambria Math" panose="02040503050406030204" pitchFamily="18" charset="0"/>
                            <a:ea typeface="微軟正黑體" panose="020B0604030504040204" pitchFamily="34" charset="-120"/>
                          </a:rPr>
                          <m:t>1</m:t>
                        </m:r>
                      </m:sub>
                    </m:sSub>
                  </m:oMath>
                </a14:m>
                <a:endParaRPr lang="zh-TW" altLang="en-US" sz="2800" dirty="0"/>
              </a:p>
            </p:txBody>
          </p:sp>
        </mc:Choice>
        <mc:Fallback xmlns="">
          <p:sp>
            <p:nvSpPr>
              <p:cNvPr id="33" name="文字方塊 32"/>
              <p:cNvSpPr txBox="1">
                <a:spLocks noRot="1" noChangeAspect="1" noMove="1" noResize="1" noEditPoints="1" noAdjustHandles="1" noChangeArrowheads="1" noChangeShapeType="1" noTextEdit="1"/>
              </p:cNvSpPr>
              <p:nvPr/>
            </p:nvSpPr>
            <p:spPr>
              <a:xfrm>
                <a:off x="1178011" y="1130910"/>
                <a:ext cx="3532762" cy="523220"/>
              </a:xfrm>
              <a:prstGeom prst="rect">
                <a:avLst/>
              </a:prstGeom>
              <a:blipFill rotWithShape="0">
                <a:blip r:embed="rId9"/>
                <a:stretch>
                  <a:fillRect l="-3448" t="-11765" b="-34118"/>
                </a:stretch>
              </a:blipFill>
            </p:spPr>
            <p:txBody>
              <a:bodyPr/>
              <a:lstStyle/>
              <a:p>
                <a:r>
                  <a:rPr lang="zh-TW" altLang="en-US">
                    <a:noFill/>
                  </a:rPr>
                  <a:t> </a:t>
                </a:r>
              </a:p>
            </p:txBody>
          </p:sp>
        </mc:Fallback>
      </mc:AlternateContent>
      <p:sp>
        <p:nvSpPr>
          <p:cNvPr id="34" name="矩形 33"/>
          <p:cNvSpPr/>
          <p:nvPr/>
        </p:nvSpPr>
        <p:spPr>
          <a:xfrm>
            <a:off x="3916853" y="4144565"/>
            <a:ext cx="1361803" cy="2206147"/>
          </a:xfrm>
          <a:prstGeom prst="rect">
            <a:avLst/>
          </a:pr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55081258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7714394" y="1909664"/>
            <a:ext cx="3295237" cy="4467521"/>
          </a:xfrm>
          <a:prstGeom prst="rect">
            <a:avLst/>
          </a:prstGeom>
          <a:solidFill>
            <a:srgbClr val="51DF7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20"/>
          <p:cNvSpPr/>
          <p:nvPr/>
        </p:nvSpPr>
        <p:spPr>
          <a:xfrm>
            <a:off x="3911990" y="1908736"/>
            <a:ext cx="2693500" cy="2251839"/>
          </a:xfrm>
          <a:prstGeom prst="rect">
            <a:avLst/>
          </a:pr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標題 1"/>
          <p:cNvSpPr txBox="1">
            <a:spLocks/>
          </p:cNvSpPr>
          <p:nvPr/>
        </p:nvSpPr>
        <p:spPr>
          <a:xfrm>
            <a:off x="347730" y="283333"/>
            <a:ext cx="11844270" cy="79252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TW" altLang="en-US" sz="4800" dirty="0" smtClean="0">
                <a:latin typeface="微軟正黑體" panose="020B0604030504040204" pitchFamily="34" charset="-120"/>
                <a:ea typeface="微軟正黑體" panose="020B0604030504040204" pitchFamily="34" charset="-120"/>
                <a:cs typeface="Arial" pitchFamily="34" charset="0"/>
              </a:rPr>
              <a:t>積分範圍</a:t>
            </a:r>
            <a:r>
              <a:rPr lang="en-US" altLang="zh-TW" sz="4800" dirty="0" smtClean="0">
                <a:latin typeface="微軟正黑體" panose="020B0604030504040204" pitchFamily="34" charset="-120"/>
                <a:ea typeface="微軟正黑體" panose="020B0604030504040204" pitchFamily="34" charset="-120"/>
                <a:cs typeface="Arial" pitchFamily="34" charset="0"/>
              </a:rPr>
              <a:t>(4/4)</a:t>
            </a:r>
            <a:endParaRPr lang="zh-TW" altLang="en-US" sz="4800" dirty="0">
              <a:latin typeface="微軟正黑體" panose="020B0604030504040204" pitchFamily="34" charset="-120"/>
              <a:ea typeface="微軟正黑體" panose="020B0604030504040204" pitchFamily="34" charset="-120"/>
            </a:endParaRPr>
          </a:p>
        </p:txBody>
      </p:sp>
      <p:grpSp>
        <p:nvGrpSpPr>
          <p:cNvPr id="2" name="群組 1"/>
          <p:cNvGrpSpPr/>
          <p:nvPr/>
        </p:nvGrpSpPr>
        <p:grpSpPr>
          <a:xfrm>
            <a:off x="2255803" y="1501557"/>
            <a:ext cx="8271480" cy="5166437"/>
            <a:chOff x="1555585" y="828367"/>
            <a:chExt cx="9628411" cy="6013987"/>
          </a:xfrm>
        </p:grpSpPr>
        <p:cxnSp>
          <p:nvCxnSpPr>
            <p:cNvPr id="4" name="直線單箭頭接點 3"/>
            <p:cNvCxnSpPr/>
            <p:nvPr/>
          </p:nvCxnSpPr>
          <p:spPr>
            <a:xfrm flipV="1">
              <a:off x="3489130" y="1320845"/>
              <a:ext cx="0" cy="534473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線單箭頭接點 4"/>
            <p:cNvCxnSpPr/>
            <p:nvPr/>
          </p:nvCxnSpPr>
          <p:spPr>
            <a:xfrm>
              <a:off x="1996224" y="3915181"/>
              <a:ext cx="864172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矩形 5"/>
                <p:cNvSpPr/>
                <p:nvPr/>
              </p:nvSpPr>
              <p:spPr>
                <a:xfrm>
                  <a:off x="2904655" y="879512"/>
                  <a:ext cx="55316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solidFill>
                                  <a:prstClr val="black"/>
                                </a:solidFill>
                                <a:latin typeface="Cambria Math" panose="02040503050406030204" pitchFamily="18" charset="0"/>
                              </a:rPr>
                            </m:ctrlPr>
                          </m:sSubPr>
                          <m:e>
                            <m:r>
                              <a:rPr lang="en-US" altLang="zh-TW" sz="2400" i="1">
                                <a:solidFill>
                                  <a:prstClr val="black"/>
                                </a:solidFill>
                                <a:latin typeface="Cambria Math" panose="02040503050406030204" pitchFamily="18" charset="0"/>
                              </a:rPr>
                              <m:t>𝑏</m:t>
                            </m:r>
                          </m:e>
                          <m:sub>
                            <m:r>
                              <a:rPr lang="en-US" altLang="zh-TW" sz="2400" i="1">
                                <a:solidFill>
                                  <a:prstClr val="black"/>
                                </a:solidFill>
                                <a:latin typeface="Cambria Math" panose="02040503050406030204" pitchFamily="18" charset="0"/>
                              </a:rPr>
                              <m:t>2</m:t>
                            </m:r>
                          </m:sub>
                        </m:sSub>
                      </m:oMath>
                    </m:oMathPara>
                  </a14:m>
                  <a:endParaRPr lang="zh-TW" altLang="en-US" sz="2400" dirty="0"/>
                </a:p>
              </p:txBody>
            </p:sp>
          </mc:Choice>
          <mc:Fallback xmlns="">
            <p:sp>
              <p:nvSpPr>
                <p:cNvPr id="6" name="矩形 5"/>
                <p:cNvSpPr>
                  <a:spLocks noRot="1" noChangeAspect="1" noMove="1" noResize="1" noEditPoints="1" noAdjustHandles="1" noChangeArrowheads="1" noChangeShapeType="1" noTextEdit="1"/>
                </p:cNvSpPr>
                <p:nvPr/>
              </p:nvSpPr>
              <p:spPr>
                <a:xfrm>
                  <a:off x="2904655" y="879512"/>
                  <a:ext cx="553164" cy="461665"/>
                </a:xfrm>
                <a:prstGeom prst="rect">
                  <a:avLst/>
                </a:prstGeom>
                <a:blipFill rotWithShape="0">
                  <a:blip r:embed="rId2"/>
                  <a:stretch>
                    <a:fillRect b="-13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10637949" y="4094344"/>
                  <a:ext cx="54604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solidFill>
                                  <a:prstClr val="black"/>
                                </a:solidFill>
                                <a:latin typeface="Cambria Math" panose="02040503050406030204" pitchFamily="18" charset="0"/>
                              </a:rPr>
                            </m:ctrlPr>
                          </m:sSubPr>
                          <m:e>
                            <m:r>
                              <a:rPr lang="en-US" altLang="zh-TW" sz="2400" i="1">
                                <a:solidFill>
                                  <a:prstClr val="black"/>
                                </a:solidFill>
                                <a:latin typeface="Cambria Math" panose="02040503050406030204" pitchFamily="18" charset="0"/>
                              </a:rPr>
                              <m:t>𝑏</m:t>
                            </m:r>
                          </m:e>
                          <m:sub>
                            <m:r>
                              <a:rPr lang="en-US" altLang="zh-TW" sz="2400" i="1">
                                <a:solidFill>
                                  <a:prstClr val="black"/>
                                </a:solidFill>
                                <a:latin typeface="Cambria Math" panose="02040503050406030204" pitchFamily="18" charset="0"/>
                              </a:rPr>
                              <m:t>1</m:t>
                            </m:r>
                          </m:sub>
                        </m:sSub>
                      </m:oMath>
                    </m:oMathPara>
                  </a14:m>
                  <a:endParaRPr lang="zh-TW" altLang="en-US" sz="2400" dirty="0"/>
                </a:p>
              </p:txBody>
            </p:sp>
          </mc:Choice>
          <mc:Fallback xmlns="">
            <p:sp>
              <p:nvSpPr>
                <p:cNvPr id="7" name="矩形 6"/>
                <p:cNvSpPr>
                  <a:spLocks noRot="1" noChangeAspect="1" noMove="1" noResize="1" noEditPoints="1" noAdjustHandles="1" noChangeArrowheads="1" noChangeShapeType="1" noTextEdit="1"/>
                </p:cNvSpPr>
                <p:nvPr/>
              </p:nvSpPr>
              <p:spPr>
                <a:xfrm>
                  <a:off x="10637949" y="4094344"/>
                  <a:ext cx="546047" cy="461665"/>
                </a:xfrm>
                <a:prstGeom prst="rect">
                  <a:avLst/>
                </a:prstGeom>
                <a:blipFill rotWithShape="0">
                  <a:blip r:embed="rId3"/>
                  <a:stretch>
                    <a:fillRect b="-1333"/>
                  </a:stretch>
                </a:blipFill>
              </p:spPr>
              <p:txBody>
                <a:bodyPr/>
                <a:lstStyle/>
                <a:p>
                  <a:r>
                    <a:rPr lang="zh-TW" altLang="en-US">
                      <a:noFill/>
                    </a:rPr>
                    <a:t> </a:t>
                  </a:r>
                </a:p>
              </p:txBody>
            </p:sp>
          </mc:Fallback>
        </mc:AlternateContent>
        <p:cxnSp>
          <p:nvCxnSpPr>
            <p:cNvPr id="9" name="直線接點 8"/>
            <p:cNvCxnSpPr/>
            <p:nvPr/>
          </p:nvCxnSpPr>
          <p:spPr>
            <a:xfrm>
              <a:off x="1996224" y="3915181"/>
              <a:ext cx="8641725" cy="0"/>
            </a:xfrm>
            <a:prstGeom prst="line">
              <a:avLst/>
            </a:prstGeom>
            <a:ln w="57150">
              <a:solidFill>
                <a:srgbClr val="00B05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矩形 9"/>
                <p:cNvSpPr/>
                <p:nvPr/>
              </p:nvSpPr>
              <p:spPr>
                <a:xfrm>
                  <a:off x="1555585" y="3445102"/>
                  <a:ext cx="59978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ea typeface="微軟正黑體" panose="020B0604030504040204" pitchFamily="34" charset="-120"/>
                              </a:rPr>
                            </m:ctrlPr>
                          </m:sSubPr>
                          <m:e>
                            <m:r>
                              <a:rPr lang="zh-TW" altLang="en-US" sz="2400" i="1">
                                <a:latin typeface="Cambria Math" panose="02040503050406030204" pitchFamily="18" charset="0"/>
                                <a:ea typeface="微軟正黑體" panose="020B0604030504040204" pitchFamily="34" charset="-120"/>
                              </a:rPr>
                              <m:t>𝒹</m:t>
                            </m:r>
                          </m:e>
                          <m:sub>
                            <m:r>
                              <a:rPr lang="en-US" altLang="zh-TW" sz="2400" i="1">
                                <a:latin typeface="Cambria Math" panose="02040503050406030204" pitchFamily="18" charset="0"/>
                                <a:ea typeface="微軟正黑體" panose="020B0604030504040204" pitchFamily="34" charset="-120"/>
                              </a:rPr>
                              <m:t>5</m:t>
                            </m:r>
                          </m:sub>
                        </m:sSub>
                      </m:oMath>
                    </m:oMathPara>
                  </a14:m>
                  <a:endParaRPr lang="zh-TW"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1555585" y="3445102"/>
                  <a:ext cx="599780" cy="461665"/>
                </a:xfrm>
                <a:prstGeom prst="rect">
                  <a:avLst/>
                </a:prstGeom>
                <a:blipFill rotWithShape="0">
                  <a:blip r:embed="rId4"/>
                  <a:stretch>
                    <a:fillRect b="-13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7906626" y="6420717"/>
                  <a:ext cx="49667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ea typeface="微軟正黑體" panose="020B0604030504040204" pitchFamily="34" charset="-120"/>
                              </a:rPr>
                            </m:ctrlPr>
                          </m:sSubPr>
                          <m:e>
                            <m:r>
                              <a:rPr lang="zh-TW" altLang="en-US" i="1">
                                <a:latin typeface="Cambria Math" panose="02040503050406030204" pitchFamily="18" charset="0"/>
                                <a:ea typeface="微軟正黑體" panose="020B0604030504040204" pitchFamily="34" charset="-120"/>
                              </a:rPr>
                              <m:t>𝒹</m:t>
                            </m:r>
                          </m:e>
                          <m:sub>
                            <m:r>
                              <a:rPr lang="en-US" altLang="zh-TW" i="1">
                                <a:latin typeface="Cambria Math" panose="02040503050406030204" pitchFamily="18" charset="0"/>
                                <a:ea typeface="微軟正黑體" panose="020B0604030504040204" pitchFamily="34" charset="-120"/>
                              </a:rPr>
                              <m:t>1</m:t>
                            </m:r>
                          </m:sub>
                        </m:sSub>
                      </m:oMath>
                    </m:oMathPara>
                  </a14:m>
                  <a:endParaRPr lang="en-US" altLang="zh-TW" dirty="0">
                    <a:latin typeface="微軟正黑體" panose="020B0604030504040204" pitchFamily="34" charset="-120"/>
                    <a:ea typeface="微軟正黑體" panose="020B0604030504040204" pitchFamily="34" charset="-120"/>
                  </a:endParaRPr>
                </a:p>
              </p:txBody>
            </p:sp>
          </mc:Choice>
          <mc:Fallback xmlns="">
            <p:sp>
              <p:nvSpPr>
                <p:cNvPr id="11" name="矩形 10"/>
                <p:cNvSpPr>
                  <a:spLocks noRot="1" noChangeAspect="1" noMove="1" noResize="1" noEditPoints="1" noAdjustHandles="1" noChangeArrowheads="1" noChangeShapeType="1" noTextEdit="1"/>
                </p:cNvSpPr>
                <p:nvPr/>
              </p:nvSpPr>
              <p:spPr>
                <a:xfrm>
                  <a:off x="7906626" y="6420717"/>
                  <a:ext cx="496674" cy="369332"/>
                </a:xfrm>
                <a:prstGeom prst="rect">
                  <a:avLst/>
                </a:prstGeom>
                <a:blipFill rotWithShape="0">
                  <a:blip r:embed="rId5"/>
                  <a:stretch>
                    <a:fillRect b="-17308"/>
                  </a:stretch>
                </a:blipFill>
              </p:spPr>
              <p:txBody>
                <a:bodyPr/>
                <a:lstStyle/>
                <a:p>
                  <a:r>
                    <a:rPr lang="zh-TW" altLang="en-US">
                      <a:noFill/>
                    </a:rPr>
                    <a:t> </a:t>
                  </a:r>
                </a:p>
              </p:txBody>
            </p:sp>
          </mc:Fallback>
        </mc:AlternateContent>
        <p:cxnSp>
          <p:nvCxnSpPr>
            <p:cNvPr id="13" name="直線接點 12"/>
            <p:cNvCxnSpPr/>
            <p:nvPr/>
          </p:nvCxnSpPr>
          <p:spPr>
            <a:xfrm>
              <a:off x="7884015" y="3915181"/>
              <a:ext cx="0" cy="2658614"/>
            </a:xfrm>
            <a:prstGeom prst="line">
              <a:avLst/>
            </a:prstGeom>
            <a:ln w="38100">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6618834" y="1256567"/>
              <a:ext cx="0" cy="2658614"/>
            </a:xfrm>
            <a:prstGeom prst="line">
              <a:avLst/>
            </a:prstGeom>
            <a:ln w="38100">
              <a:solidFill>
                <a:schemeClr val="tx1"/>
              </a:solidFill>
              <a:prstDash val="soli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矩形 18"/>
                <p:cNvSpPr/>
                <p:nvPr/>
              </p:nvSpPr>
              <p:spPr>
                <a:xfrm>
                  <a:off x="6315624" y="863056"/>
                  <a:ext cx="49718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ea typeface="微軟正黑體" panose="020B0604030504040204" pitchFamily="34" charset="-120"/>
                              </a:rPr>
                            </m:ctrlPr>
                          </m:sSubPr>
                          <m:e>
                            <m:r>
                              <a:rPr lang="zh-TW" altLang="en-US" i="1">
                                <a:latin typeface="Cambria Math" panose="02040503050406030204" pitchFamily="18" charset="0"/>
                                <a:ea typeface="微軟正黑體" panose="020B0604030504040204" pitchFamily="34" charset="-120"/>
                              </a:rPr>
                              <m:t>𝒹</m:t>
                            </m:r>
                          </m:e>
                          <m:sub>
                            <m:r>
                              <a:rPr lang="en-US" altLang="zh-TW" i="1">
                                <a:latin typeface="Cambria Math" panose="02040503050406030204" pitchFamily="18" charset="0"/>
                                <a:ea typeface="微軟正黑體" panose="020B0604030504040204" pitchFamily="34" charset="-120"/>
                              </a:rPr>
                              <m:t>2</m:t>
                            </m:r>
                          </m:sub>
                        </m:sSub>
                      </m:oMath>
                    </m:oMathPara>
                  </a14:m>
                  <a:endParaRPr lang="zh-TW" altLang="en-US" dirty="0"/>
                </a:p>
              </p:txBody>
            </p:sp>
          </mc:Choice>
          <mc:Fallback xmlns="">
            <p:sp>
              <p:nvSpPr>
                <p:cNvPr id="19" name="矩形 18"/>
                <p:cNvSpPr>
                  <a:spLocks noRot="1" noChangeAspect="1" noMove="1" noResize="1" noEditPoints="1" noAdjustHandles="1" noChangeArrowheads="1" noChangeShapeType="1" noTextEdit="1"/>
                </p:cNvSpPr>
                <p:nvPr/>
              </p:nvSpPr>
              <p:spPr>
                <a:xfrm>
                  <a:off x="6315624" y="863056"/>
                  <a:ext cx="497186" cy="369332"/>
                </a:xfrm>
                <a:prstGeom prst="rect">
                  <a:avLst/>
                </a:prstGeom>
                <a:blipFill rotWithShape="0">
                  <a:blip r:embed="rId6"/>
                  <a:stretch>
                    <a:fillRect b="-1538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4697262" y="6473022"/>
                  <a:ext cx="49718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ea typeface="微軟正黑體" panose="020B0604030504040204" pitchFamily="34" charset="-120"/>
                              </a:rPr>
                            </m:ctrlPr>
                          </m:sSubPr>
                          <m:e>
                            <m:r>
                              <a:rPr lang="zh-TW" altLang="en-US" i="1">
                                <a:latin typeface="Cambria Math" panose="02040503050406030204" pitchFamily="18" charset="0"/>
                                <a:ea typeface="微軟正黑體" panose="020B0604030504040204" pitchFamily="34" charset="-120"/>
                              </a:rPr>
                              <m:t>𝒹</m:t>
                            </m:r>
                          </m:e>
                          <m:sub>
                            <m:r>
                              <a:rPr lang="en-US" altLang="zh-TW" i="1">
                                <a:latin typeface="Cambria Math" panose="02040503050406030204" pitchFamily="18" charset="0"/>
                                <a:ea typeface="微軟正黑體" panose="020B0604030504040204" pitchFamily="34" charset="-120"/>
                              </a:rPr>
                              <m:t>3</m:t>
                            </m:r>
                          </m:sub>
                        </m:sSub>
                      </m:oMath>
                    </m:oMathPara>
                  </a14:m>
                  <a:endParaRPr lang="zh-TW" altLang="en-US" dirty="0"/>
                </a:p>
              </p:txBody>
            </p:sp>
          </mc:Choice>
          <mc:Fallback xmlns="">
            <p:sp>
              <p:nvSpPr>
                <p:cNvPr id="20" name="矩形 19"/>
                <p:cNvSpPr>
                  <a:spLocks noRot="1" noChangeAspect="1" noMove="1" noResize="1" noEditPoints="1" noAdjustHandles="1" noChangeArrowheads="1" noChangeShapeType="1" noTextEdit="1"/>
                </p:cNvSpPr>
                <p:nvPr/>
              </p:nvSpPr>
              <p:spPr>
                <a:xfrm>
                  <a:off x="4697262" y="6473022"/>
                  <a:ext cx="497186" cy="369332"/>
                </a:xfrm>
                <a:prstGeom prst="rect">
                  <a:avLst/>
                </a:prstGeom>
                <a:blipFill rotWithShape="0">
                  <a:blip r:embed="rId7"/>
                  <a:stretch>
                    <a:fillRect b="-15385"/>
                  </a:stretch>
                </a:blipFill>
              </p:spPr>
              <p:txBody>
                <a:bodyPr/>
                <a:lstStyle/>
                <a:p>
                  <a:r>
                    <a:rPr lang="zh-TW" altLang="en-US">
                      <a:noFill/>
                    </a:rPr>
                    <a:t> </a:t>
                  </a:r>
                </a:p>
              </p:txBody>
            </p:sp>
          </mc:Fallback>
        </mc:AlternateContent>
        <p:cxnSp>
          <p:nvCxnSpPr>
            <p:cNvPr id="22" name="直線接點 21"/>
            <p:cNvCxnSpPr/>
            <p:nvPr/>
          </p:nvCxnSpPr>
          <p:spPr>
            <a:xfrm>
              <a:off x="5659279" y="3915181"/>
              <a:ext cx="0" cy="2658614"/>
            </a:xfrm>
            <a:prstGeom prst="line">
              <a:avLst/>
            </a:prstGeom>
            <a:ln w="38100">
              <a:solidFill>
                <a:srgbClr val="7030A0"/>
              </a:solidFill>
              <a:prstDash val="solid"/>
            </a:ln>
          </p:spPr>
          <p:style>
            <a:lnRef idx="1">
              <a:schemeClr val="accent1"/>
            </a:lnRef>
            <a:fillRef idx="0">
              <a:schemeClr val="accent1"/>
            </a:fillRef>
            <a:effectRef idx="0">
              <a:schemeClr val="accent1"/>
            </a:effectRef>
            <a:fontRef idx="minor">
              <a:schemeClr val="tx1"/>
            </a:fontRef>
          </p:style>
        </p:cxnSp>
        <p:cxnSp>
          <p:nvCxnSpPr>
            <p:cNvPr id="23" name="直線接點 22"/>
            <p:cNvCxnSpPr/>
            <p:nvPr/>
          </p:nvCxnSpPr>
          <p:spPr>
            <a:xfrm>
              <a:off x="9843996" y="1248153"/>
              <a:ext cx="0" cy="2658614"/>
            </a:xfrm>
            <a:prstGeom prst="line">
              <a:avLst/>
            </a:prstGeom>
            <a:ln w="381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24" name="直線接點 23"/>
            <p:cNvCxnSpPr/>
            <p:nvPr/>
          </p:nvCxnSpPr>
          <p:spPr>
            <a:xfrm>
              <a:off x="9840960" y="3915181"/>
              <a:ext cx="0" cy="2658614"/>
            </a:xfrm>
            <a:prstGeom prst="line">
              <a:avLst/>
            </a:prstGeom>
            <a:ln w="38100">
              <a:solidFill>
                <a:srgbClr val="00B0F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矩形 24"/>
                <p:cNvSpPr/>
                <p:nvPr/>
              </p:nvSpPr>
              <p:spPr>
                <a:xfrm>
                  <a:off x="9812301" y="828367"/>
                  <a:ext cx="49718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ea typeface="微軟正黑體" panose="020B0604030504040204" pitchFamily="34" charset="-120"/>
                              </a:rPr>
                            </m:ctrlPr>
                          </m:sSubPr>
                          <m:e>
                            <m:r>
                              <a:rPr lang="zh-TW" altLang="en-US" i="1">
                                <a:latin typeface="Cambria Math" panose="02040503050406030204" pitchFamily="18" charset="0"/>
                                <a:ea typeface="微軟正黑體" panose="020B0604030504040204" pitchFamily="34" charset="-120"/>
                              </a:rPr>
                              <m:t>𝒹</m:t>
                            </m:r>
                          </m:e>
                          <m:sub>
                            <m:r>
                              <a:rPr lang="en-US" altLang="zh-TW" i="1">
                                <a:latin typeface="Cambria Math" panose="02040503050406030204" pitchFamily="18" charset="0"/>
                                <a:ea typeface="微軟正黑體" panose="020B0604030504040204" pitchFamily="34" charset="-120"/>
                              </a:rPr>
                              <m:t>4</m:t>
                            </m:r>
                          </m:sub>
                        </m:sSub>
                      </m:oMath>
                    </m:oMathPara>
                  </a14:m>
                  <a:endParaRPr lang="zh-TW" altLang="en-US" dirty="0"/>
                </a:p>
              </p:txBody>
            </p:sp>
          </mc:Choice>
          <mc:Fallback xmlns="">
            <p:sp>
              <p:nvSpPr>
                <p:cNvPr id="25" name="矩形 24"/>
                <p:cNvSpPr>
                  <a:spLocks noRot="1" noChangeAspect="1" noMove="1" noResize="1" noEditPoints="1" noAdjustHandles="1" noChangeArrowheads="1" noChangeShapeType="1" noTextEdit="1"/>
                </p:cNvSpPr>
                <p:nvPr/>
              </p:nvSpPr>
              <p:spPr>
                <a:xfrm>
                  <a:off x="9812301" y="828367"/>
                  <a:ext cx="497186" cy="369332"/>
                </a:xfrm>
                <a:prstGeom prst="rect">
                  <a:avLst/>
                </a:prstGeom>
                <a:blipFill rotWithShape="0">
                  <a:blip r:embed="rId8"/>
                  <a:stretch>
                    <a:fillRect b="-15385"/>
                  </a:stretch>
                </a:blipFill>
              </p:spPr>
              <p:txBody>
                <a:bodyPr/>
                <a:lstStyle/>
                <a:p>
                  <a:r>
                    <a:rPr lang="zh-TW" altLang="en-US">
                      <a:noFill/>
                    </a:rPr>
                    <a:t> </a:t>
                  </a:r>
                </a:p>
              </p:txBody>
            </p:sp>
          </mc:Fallback>
        </mc:AlternateContent>
      </p:grpSp>
      <p:sp>
        <p:nvSpPr>
          <p:cNvPr id="26" name="Text Box 9"/>
          <p:cNvSpPr txBox="1">
            <a:spLocks noChangeArrowheads="1"/>
          </p:cNvSpPr>
          <p:nvPr/>
        </p:nvSpPr>
        <p:spPr bwMode="auto">
          <a:xfrm>
            <a:off x="3889956" y="2047267"/>
            <a:ext cx="1952063"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2400" dirty="0" smtClean="0">
                <a:latin typeface="微軟正黑體" panose="020B0604030504040204" pitchFamily="34" charset="-120"/>
                <a:ea typeface="微軟正黑體" panose="020B0604030504040204" pitchFamily="34" charset="-120"/>
                <a:cs typeface="Times New Roman" panose="02020603050405020304" pitchFamily="18" charset="0"/>
              </a:rPr>
              <a:t>破</a:t>
            </a:r>
            <a:r>
              <a:rPr lang="zh-TW" altLang="en-US" sz="2400" dirty="0">
                <a:latin typeface="微軟正黑體" panose="020B0604030504040204" pitchFamily="34" charset="-120"/>
                <a:ea typeface="微軟正黑體" panose="020B0604030504040204" pitchFamily="34" charset="-120"/>
                <a:cs typeface="Times New Roman" panose="02020603050405020304" pitchFamily="18" charset="0"/>
              </a:rPr>
              <a:t>產</a:t>
            </a:r>
            <a:endPar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400" dirty="0" smtClean="0">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2400" dirty="0" smtClean="0">
                <a:latin typeface="微軟正黑體" panose="020B0604030504040204" pitchFamily="34" charset="-120"/>
                <a:ea typeface="微軟正黑體" panose="020B0604030504040204" pitchFamily="34" charset="-120"/>
                <a:cs typeface="Times New Roman" panose="02020603050405020304" pitchFamily="18" charset="0"/>
              </a:rPr>
              <a:t>未轉換</a:t>
            </a:r>
            <a:endPar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400" dirty="0" smtClean="0">
                <a:latin typeface="微軟正黑體" panose="020B0604030504040204" pitchFamily="34" charset="-120"/>
                <a:ea typeface="微軟正黑體" panose="020B0604030504040204" pitchFamily="34" charset="-120"/>
                <a:cs typeface="Times New Roman" panose="02020603050405020304" pitchFamily="18" charset="0"/>
              </a:rPr>
              <a:t>SB</a:t>
            </a:r>
            <a:r>
              <a:rPr lang="zh-TW" altLang="en-US" sz="2400" dirty="0" smtClean="0">
                <a:latin typeface="微軟正黑體" panose="020B0604030504040204" pitchFamily="34" charset="-120"/>
                <a:ea typeface="微軟正黑體" panose="020B0604030504040204" pitchFamily="34" charset="-120"/>
                <a:cs typeface="Times New Roman" panose="02020603050405020304" pitchFamily="18" charset="0"/>
              </a:rPr>
              <a:t>拿部分</a:t>
            </a:r>
            <a:endParaRPr lang="en-US" altLang="zh-TW" sz="2400" dirty="0" smtClean="0">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CC</a:t>
            </a:r>
            <a:r>
              <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分不到</a:t>
            </a:r>
            <a:endPar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27" name="Text Box 17"/>
          <p:cNvSpPr txBox="1">
            <a:spLocks noChangeArrowheads="1"/>
          </p:cNvSpPr>
          <p:nvPr/>
        </p:nvSpPr>
        <p:spPr bwMode="auto">
          <a:xfrm>
            <a:off x="3936278" y="4559575"/>
            <a:ext cx="1937696"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破 產 </a:t>
            </a:r>
            <a:endParaRPr kumimoji="0" lang="zh-TW"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400" dirty="0" smtClean="0">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2400" dirty="0" smtClean="0">
                <a:latin typeface="微軟正黑體" panose="020B0604030504040204" pitchFamily="34" charset="-120"/>
                <a:ea typeface="微軟正黑體" panose="020B0604030504040204" pitchFamily="34" charset="-120"/>
                <a:cs typeface="Times New Roman" panose="02020603050405020304" pitchFamily="18" charset="0"/>
              </a:rPr>
              <a:t>已轉換</a:t>
            </a:r>
            <a:endParaRPr kumimoji="0" lang="zh-TW"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SB</a:t>
            </a:r>
            <a:r>
              <a:rPr kumimoji="0" lang="zh-TW" altLang="en-US" sz="24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拿部分</a:t>
            </a:r>
            <a:endParaRPr kumimoji="0" lang="zh-TW" altLang="en-US"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mc:AlternateContent xmlns:mc="http://schemas.openxmlformats.org/markup-compatibility/2006" xmlns:a14="http://schemas.microsoft.com/office/drawing/2010/main">
        <mc:Choice Requires="a14">
          <p:sp>
            <p:nvSpPr>
              <p:cNvPr id="33" name="文字方塊 32"/>
              <p:cNvSpPr txBox="1"/>
              <p:nvPr/>
            </p:nvSpPr>
            <p:spPr>
              <a:xfrm>
                <a:off x="1178011" y="1130910"/>
                <a:ext cx="2659511" cy="523220"/>
              </a:xfrm>
              <a:prstGeom prst="rect">
                <a:avLst/>
              </a:prstGeom>
              <a:noFill/>
            </p:spPr>
            <p:txBody>
              <a:bodyPr wrap="none" rtlCol="0">
                <a:spAutoFit/>
              </a:bodyPr>
              <a:lstStyle/>
              <a:p>
                <a:r>
                  <a:rPr lang="en-US" altLang="zh-TW" sz="2800" dirty="0" smtClean="0"/>
                  <a:t>Case 3 : </a:t>
                </a:r>
                <a14:m>
                  <m:oMath xmlns:m="http://schemas.openxmlformats.org/officeDocument/2006/math">
                    <m:sSub>
                      <m:sSubPr>
                        <m:ctrlPr>
                          <a:rPr lang="en-US" altLang="zh-TW" sz="2800" i="1">
                            <a:latin typeface="Cambria Math" panose="02040503050406030204" pitchFamily="18" charset="0"/>
                            <a:ea typeface="微軟正黑體" panose="020B0604030504040204" pitchFamily="34" charset="-120"/>
                          </a:rPr>
                        </m:ctrlPr>
                      </m:sSubPr>
                      <m:e>
                        <m:r>
                          <a:rPr lang="zh-TW" altLang="en-US" sz="2800" i="1">
                            <a:latin typeface="Cambria Math" panose="02040503050406030204" pitchFamily="18" charset="0"/>
                            <a:ea typeface="微軟正黑體" panose="020B0604030504040204" pitchFamily="34" charset="-120"/>
                          </a:rPr>
                          <m:t>𝒹</m:t>
                        </m:r>
                      </m:e>
                      <m:sub>
                        <m:r>
                          <a:rPr lang="en-US" altLang="zh-TW" sz="2800" b="0" i="1" smtClean="0">
                            <a:latin typeface="Cambria Math" panose="02040503050406030204" pitchFamily="18" charset="0"/>
                            <a:ea typeface="微軟正黑體" panose="020B0604030504040204" pitchFamily="34" charset="-120"/>
                          </a:rPr>
                          <m:t>1</m:t>
                        </m:r>
                      </m:sub>
                    </m:sSub>
                    <m:r>
                      <a:rPr lang="en-US" altLang="zh-TW" sz="2800" b="0" i="1" smtClean="0">
                        <a:latin typeface="Cambria Math" panose="02040503050406030204" pitchFamily="18" charset="0"/>
                        <a:ea typeface="微軟正黑體" panose="020B0604030504040204" pitchFamily="34" charset="-120"/>
                      </a:rPr>
                      <m:t>&lt;</m:t>
                    </m:r>
                    <m:sSub>
                      <m:sSubPr>
                        <m:ctrlPr>
                          <a:rPr lang="en-US" altLang="zh-TW" sz="2800" i="1">
                            <a:latin typeface="Cambria Math" panose="02040503050406030204" pitchFamily="18" charset="0"/>
                            <a:ea typeface="微軟正黑體" panose="020B0604030504040204" pitchFamily="34" charset="-120"/>
                          </a:rPr>
                        </m:ctrlPr>
                      </m:sSubPr>
                      <m:e>
                        <m:r>
                          <a:rPr lang="zh-TW" altLang="en-US" sz="2800" i="1">
                            <a:latin typeface="Cambria Math" panose="02040503050406030204" pitchFamily="18" charset="0"/>
                            <a:ea typeface="微軟正黑體" panose="020B0604030504040204" pitchFamily="34" charset="-120"/>
                          </a:rPr>
                          <m:t>𝒹</m:t>
                        </m:r>
                      </m:e>
                      <m:sub>
                        <m:r>
                          <a:rPr lang="en-US" altLang="zh-TW" sz="2800" b="0" i="1" smtClean="0">
                            <a:latin typeface="Cambria Math" panose="02040503050406030204" pitchFamily="18" charset="0"/>
                            <a:ea typeface="微軟正黑體" panose="020B0604030504040204" pitchFamily="34" charset="-120"/>
                          </a:rPr>
                          <m:t>4</m:t>
                        </m:r>
                      </m:sub>
                    </m:sSub>
                  </m:oMath>
                </a14:m>
                <a:endParaRPr lang="zh-TW" altLang="en-US" dirty="0"/>
              </a:p>
            </p:txBody>
          </p:sp>
        </mc:Choice>
        <mc:Fallback xmlns="">
          <p:sp>
            <p:nvSpPr>
              <p:cNvPr id="33" name="文字方塊 32"/>
              <p:cNvSpPr txBox="1">
                <a:spLocks noRot="1" noChangeAspect="1" noMove="1" noResize="1" noEditPoints="1" noAdjustHandles="1" noChangeArrowheads="1" noChangeShapeType="1" noTextEdit="1"/>
              </p:cNvSpPr>
              <p:nvPr/>
            </p:nvSpPr>
            <p:spPr>
              <a:xfrm>
                <a:off x="1178011" y="1130910"/>
                <a:ext cx="2659511" cy="523220"/>
              </a:xfrm>
              <a:prstGeom prst="rect">
                <a:avLst/>
              </a:prstGeom>
              <a:blipFill rotWithShape="0">
                <a:blip r:embed="rId9"/>
                <a:stretch>
                  <a:fillRect l="-4577" t="-11765" b="-34118"/>
                </a:stretch>
              </a:blipFill>
            </p:spPr>
            <p:txBody>
              <a:bodyPr/>
              <a:lstStyle/>
              <a:p>
                <a:r>
                  <a:rPr lang="zh-TW" altLang="en-US">
                    <a:noFill/>
                  </a:rPr>
                  <a:t> </a:t>
                </a:r>
              </a:p>
            </p:txBody>
          </p:sp>
        </mc:Fallback>
      </mc:AlternateContent>
      <p:sp>
        <p:nvSpPr>
          <p:cNvPr id="34" name="Text Box 9"/>
          <p:cNvSpPr txBox="1">
            <a:spLocks noChangeArrowheads="1"/>
          </p:cNvSpPr>
          <p:nvPr/>
        </p:nvSpPr>
        <p:spPr bwMode="auto">
          <a:xfrm>
            <a:off x="8216928" y="2355289"/>
            <a:ext cx="1952063"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2800" dirty="0" smtClean="0">
                <a:latin typeface="微軟正黑體" panose="020B0604030504040204" pitchFamily="34" charset="-120"/>
                <a:ea typeface="微軟正黑體" panose="020B0604030504040204" pitchFamily="34" charset="-120"/>
                <a:cs typeface="Times New Roman" panose="02020603050405020304" pitchFamily="18" charset="0"/>
              </a:rPr>
              <a:t>存活</a:t>
            </a:r>
            <a:endParaRPr lang="en-US" altLang="zh-TW" sz="2800" dirty="0" smtClean="0">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CC</a:t>
            </a:r>
            <a:r>
              <a:rPr kumimoji="0" lang="zh-TW" altLang="en-US"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未轉換</a:t>
            </a:r>
            <a:endParaRPr kumimoji="0" lang="zh-TW" altLang="en-US"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28" name="矩形 27"/>
          <p:cNvSpPr/>
          <p:nvPr/>
        </p:nvSpPr>
        <p:spPr>
          <a:xfrm>
            <a:off x="3911989" y="4160819"/>
            <a:ext cx="1869175" cy="2251839"/>
          </a:xfrm>
          <a:prstGeom prst="rect">
            <a:avLst/>
          </a:pr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p:cNvSpPr/>
          <p:nvPr/>
        </p:nvSpPr>
        <p:spPr>
          <a:xfrm>
            <a:off x="6632389" y="1906413"/>
            <a:ext cx="1079404" cy="2239463"/>
          </a:xfrm>
          <a:prstGeom prst="rect">
            <a:avLst/>
          </a:prstGeom>
          <a:solidFill>
            <a:srgbClr val="51DF7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p:cNvSpPr/>
          <p:nvPr/>
        </p:nvSpPr>
        <p:spPr>
          <a:xfrm>
            <a:off x="5778563" y="4140732"/>
            <a:ext cx="1913805" cy="2246100"/>
          </a:xfrm>
          <a:prstGeom prst="rect">
            <a:avLst/>
          </a:prstGeom>
          <a:solidFill>
            <a:srgbClr val="00B0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Text Box 9"/>
          <p:cNvSpPr txBox="1">
            <a:spLocks noChangeArrowheads="1"/>
          </p:cNvSpPr>
          <p:nvPr/>
        </p:nvSpPr>
        <p:spPr bwMode="auto">
          <a:xfrm>
            <a:off x="5786028" y="4620842"/>
            <a:ext cx="1952063" cy="1913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zh-TW" altLang="en-US" sz="2800" dirty="0" smtClean="0">
                <a:latin typeface="微軟正黑體" panose="020B0604030504040204" pitchFamily="34" charset="-120"/>
                <a:ea typeface="微軟正黑體" panose="020B0604030504040204" pitchFamily="34" charset="-120"/>
                <a:cs typeface="Times New Roman" panose="02020603050405020304" pitchFamily="18" charset="0"/>
              </a:rPr>
              <a:t>存活</a:t>
            </a:r>
            <a:endParaRPr lang="en-US" altLang="zh-TW" sz="2800" dirty="0" smtClean="0">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且</a:t>
            </a:r>
            <a:endParaRPr kumimoji="0" lang="en-US" alt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zh-TW" sz="2800" dirty="0" smtClean="0">
                <a:latin typeface="微軟正黑體" panose="020B0604030504040204" pitchFamily="34" charset="-120"/>
                <a:ea typeface="微軟正黑體" panose="020B0604030504040204" pitchFamily="34" charset="-120"/>
                <a:cs typeface="Times New Roman" panose="02020603050405020304" pitchFamily="18" charset="0"/>
              </a:rPr>
              <a:t>CC</a:t>
            </a:r>
            <a:r>
              <a:rPr lang="zh-TW" altLang="en-US" sz="2800" dirty="0" smtClean="0">
                <a:latin typeface="微軟正黑體" panose="020B0604030504040204" pitchFamily="34" charset="-120"/>
                <a:ea typeface="微軟正黑體" panose="020B0604030504040204" pitchFamily="34" charset="-120"/>
                <a:cs typeface="Times New Roman" panose="02020603050405020304" pitchFamily="18" charset="0"/>
              </a:rPr>
              <a:t>已轉換</a:t>
            </a:r>
            <a:endParaRPr kumimoji="0" lang="zh-TW" sz="2800" b="0" i="0" u="none" strike="noStrike" cap="none" normalizeH="0" baseline="0" dirty="0" smtClean="0">
              <a:ln>
                <a:noFill/>
              </a:ln>
              <a:solidFill>
                <a:schemeClr val="tx1"/>
              </a:solidFill>
              <a:effectLst/>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10120356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296666" y="4970077"/>
            <a:ext cx="4310448" cy="1325563"/>
          </a:xfrm>
        </p:spPr>
        <p:txBody>
          <a:bodyPr>
            <a:noAutofit/>
          </a:bodyPr>
          <a:lstStyle/>
          <a:p>
            <a:r>
              <a:rPr lang="en-US" altLang="zh-TW" sz="9600" dirty="0" smtClean="0"/>
              <a:t>The End</a:t>
            </a:r>
            <a:endParaRPr lang="zh-TW" altLang="en-US" sz="9600" dirty="0"/>
          </a:p>
        </p:txBody>
      </p:sp>
    </p:spTree>
    <p:extLst>
      <p:ext uri="{BB962C8B-B14F-4D97-AF65-F5344CB8AC3E}">
        <p14:creationId xmlns:p14="http://schemas.microsoft.com/office/powerpoint/2010/main" val="31711953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txBox="1">
            <a:spLocks/>
          </p:cNvSpPr>
          <p:nvPr/>
        </p:nvSpPr>
        <p:spPr>
          <a:xfrm>
            <a:off x="4853828" y="3224241"/>
            <a:ext cx="2486539" cy="79252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TW" altLang="en-US" sz="8800" dirty="0" smtClean="0">
                <a:latin typeface="微軟正黑體" panose="020B0604030504040204" pitchFamily="34" charset="-120"/>
                <a:ea typeface="微軟正黑體" panose="020B0604030504040204" pitchFamily="34" charset="-120"/>
                <a:cs typeface="Arial" pitchFamily="34" charset="0"/>
              </a:rPr>
              <a:t>附錄</a:t>
            </a:r>
            <a:endParaRPr lang="zh-TW" altLang="en-US" sz="88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19772470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7" name="標題 1"/>
              <p:cNvSpPr txBox="1">
                <a:spLocks/>
              </p:cNvSpPr>
              <p:nvPr/>
            </p:nvSpPr>
            <p:spPr>
              <a:xfrm>
                <a:off x="347730" y="347728"/>
                <a:ext cx="11844270" cy="79252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14:m>
                  <m:oMath xmlns:m="http://schemas.openxmlformats.org/officeDocument/2006/math">
                    <m:sSub>
                      <m:sSubPr>
                        <m:ctrlPr>
                          <a:rPr lang="en-US" altLang="zh-TW" i="1" dirty="0" smtClean="0">
                            <a:latin typeface="Cambria Math" panose="02040503050406030204" pitchFamily="18" charset="0"/>
                            <a:ea typeface="微軟正黑體" panose="020B0604030504040204" pitchFamily="34" charset="-120"/>
                          </a:rPr>
                        </m:ctrlPr>
                      </m:sSubPr>
                      <m:e>
                        <m:r>
                          <a:rPr lang="en-US" altLang="zh-TW" i="1" dirty="0">
                            <a:latin typeface="Cambria Math" panose="02040503050406030204" pitchFamily="18" charset="0"/>
                            <a:ea typeface="微軟正黑體" panose="020B0604030504040204" pitchFamily="34" charset="-120"/>
                          </a:rPr>
                          <m:t>𝑂</m:t>
                        </m:r>
                      </m:e>
                      <m:sub>
                        <m:r>
                          <a:rPr lang="en-US" altLang="zh-TW" i="1" dirty="0">
                            <a:latin typeface="Cambria Math" panose="02040503050406030204" pitchFamily="18" charset="0"/>
                            <a:ea typeface="微軟正黑體" panose="020B0604030504040204" pitchFamily="34" charset="-120"/>
                          </a:rPr>
                          <m:t>𝐶𝐶</m:t>
                        </m:r>
                      </m:sub>
                    </m:sSub>
                  </m:oMath>
                </a14:m>
                <a:r>
                  <a:rPr lang="zh-TW" altLang="en-US" dirty="0" smtClean="0">
                    <a:latin typeface="微軟正黑體" panose="020B0604030504040204" pitchFamily="34" charset="-120"/>
                    <a:ea typeface="微軟正黑體" panose="020B0604030504040204" pitchFamily="34" charset="-120"/>
                  </a:rPr>
                  <a:t> </a:t>
                </a:r>
                <a:r>
                  <a:rPr lang="en-US" altLang="zh-TW" dirty="0" smtClean="0">
                    <a:latin typeface="微軟正黑體" panose="020B0604030504040204" pitchFamily="34" charset="-120"/>
                    <a:ea typeface="微軟正黑體" panose="020B0604030504040204" pitchFamily="34" charset="-120"/>
                  </a:rPr>
                  <a:t>(m)</a:t>
                </a:r>
                <a:r>
                  <a:rPr lang="zh-TW" altLang="en-US" dirty="0" smtClean="0">
                    <a:latin typeface="微軟正黑體" panose="020B0604030504040204" pitchFamily="34" charset="-120"/>
                    <a:ea typeface="微軟正黑體" panose="020B0604030504040204" pitchFamily="34" charset="-120"/>
                  </a:rPr>
                  <a:t>推導</a:t>
                </a:r>
                <a:r>
                  <a:rPr lang="en-US" altLang="zh-TW" dirty="0" smtClean="0">
                    <a:latin typeface="微軟正黑體" panose="020B0604030504040204" pitchFamily="34" charset="-120"/>
                    <a:ea typeface="微軟正黑體" panose="020B0604030504040204" pitchFamily="34" charset="-120"/>
                  </a:rPr>
                  <a:t>(1/2)</a:t>
                </a:r>
                <a:endParaRPr lang="zh-TW" altLang="en-US" dirty="0">
                  <a:latin typeface="微軟正黑體" panose="020B0604030504040204" pitchFamily="34" charset="-120"/>
                  <a:ea typeface="微軟正黑體" panose="020B0604030504040204" pitchFamily="34" charset="-120"/>
                </a:endParaRPr>
              </a:p>
            </p:txBody>
          </p:sp>
        </mc:Choice>
        <mc:Fallback xmlns="">
          <p:sp>
            <p:nvSpPr>
              <p:cNvPr id="17" name="標題 1"/>
              <p:cNvSpPr txBox="1">
                <a:spLocks noRot="1" noChangeAspect="1" noMove="1" noResize="1" noEditPoints="1" noAdjustHandles="1" noChangeArrowheads="1" noChangeShapeType="1" noTextEdit="1"/>
              </p:cNvSpPr>
              <p:nvPr/>
            </p:nvSpPr>
            <p:spPr>
              <a:xfrm>
                <a:off x="347730" y="347728"/>
                <a:ext cx="11844270" cy="792520"/>
              </a:xfrm>
              <a:prstGeom prst="rect">
                <a:avLst/>
              </a:prstGeom>
              <a:blipFill rotWithShape="0">
                <a:blip r:embed="rId2"/>
                <a:stretch>
                  <a:fillRect t="-50000" b="-5230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8" name="表格 7"/>
              <p:cNvGraphicFramePr>
                <a:graphicFrameLocks noGrp="1"/>
              </p:cNvGraphicFramePr>
              <p:nvPr>
                <p:extLst>
                  <p:ext uri="{D42A27DB-BD31-4B8C-83A1-F6EECF244321}">
                    <p14:modId xmlns:p14="http://schemas.microsoft.com/office/powerpoint/2010/main" val="3309136912"/>
                  </p:ext>
                </p:extLst>
              </p:nvPr>
            </p:nvGraphicFramePr>
            <p:xfrm>
              <a:off x="1392450" y="1478168"/>
              <a:ext cx="10585365" cy="3247962"/>
            </p:xfrm>
            <a:graphic>
              <a:graphicData uri="http://schemas.openxmlformats.org/drawingml/2006/table">
                <a:tbl>
                  <a:tblPr firstRow="1" bandRow="1">
                    <a:tableStyleId>{5C22544A-7EE6-4342-B048-85BDC9FD1C3A}</a:tableStyleId>
                  </a:tblPr>
                  <a:tblGrid>
                    <a:gridCol w="6919528"/>
                    <a:gridCol w="3665837"/>
                  </a:tblGrid>
                  <a:tr h="411342">
                    <a:tc>
                      <a:txBody>
                        <a:bodyPr/>
                        <a:lstStyle/>
                        <a:p>
                          <a:pPr/>
                          <a14:m>
                            <m:oMathPara xmlns:m="http://schemas.openxmlformats.org/officeDocument/2006/math">
                              <m:oMathParaPr>
                                <m:jc m:val="centerGroup"/>
                              </m:oMathParaPr>
                              <m:oMath xmlns:m="http://schemas.openxmlformats.org/officeDocument/2006/math">
                                <m:sSub>
                                  <m:sSubPr>
                                    <m:ctrlPr>
                                      <a:rPr lang="en-US" altLang="zh-TW" sz="2400" i="1" dirty="0" smtClean="0">
                                        <a:latin typeface="Cambria Math" panose="02040503050406030204" pitchFamily="18" charset="0"/>
                                        <a:ea typeface="微軟正黑體" panose="020B0604030504040204" pitchFamily="34" charset="-120"/>
                                      </a:rPr>
                                    </m:ctrlPr>
                                  </m:sSubPr>
                                  <m:e>
                                    <m:r>
                                      <a:rPr lang="en-US" altLang="zh-TW" sz="2400" i="1" dirty="0">
                                        <a:latin typeface="Cambria Math" panose="02040503050406030204" pitchFamily="18" charset="0"/>
                                        <a:ea typeface="微軟正黑體" panose="020B0604030504040204" pitchFamily="34" charset="-120"/>
                                      </a:rPr>
                                      <m:t>𝑂</m:t>
                                    </m:r>
                                  </m:e>
                                  <m:sub>
                                    <m:r>
                                      <a:rPr lang="en-US" altLang="zh-TW" sz="2400" i="1" dirty="0">
                                        <a:latin typeface="Cambria Math" panose="02040503050406030204" pitchFamily="18" charset="0"/>
                                        <a:ea typeface="微軟正黑體" panose="020B0604030504040204" pitchFamily="34" charset="-120"/>
                                      </a:rPr>
                                      <m:t>𝐶𝐶</m:t>
                                    </m:r>
                                  </m:sub>
                                </m:sSub>
                              </m:oMath>
                            </m:oMathPara>
                          </a14:m>
                          <a:endParaRPr lang="zh-TW" altLang="en-US" sz="2400" dirty="0">
                            <a:latin typeface="微軟正黑體" panose="020B0604030504040204" pitchFamily="34" charset="-120"/>
                            <a:ea typeface="微軟正黑體" panose="020B0604030504040204" pitchFamily="34" charset="-120"/>
                          </a:endParaRPr>
                        </a:p>
                      </a:txBody>
                      <a:tcPr/>
                    </a:tc>
                    <a:tc>
                      <a:txBody>
                        <a:bodyPr/>
                        <a:lstStyle/>
                        <a:p>
                          <a:r>
                            <a:rPr lang="en-US" altLang="zh-TW" sz="2400" dirty="0" smtClean="0">
                              <a:latin typeface="微軟正黑體" panose="020B0604030504040204" pitchFamily="34" charset="-120"/>
                              <a:ea typeface="微軟正黑體" panose="020B0604030504040204" pitchFamily="34" charset="-120"/>
                            </a:rPr>
                            <a:t>CC</a:t>
                          </a:r>
                          <a:r>
                            <a:rPr lang="zh-TW" altLang="en-US" sz="2400" dirty="0" smtClean="0">
                              <a:latin typeface="微軟正黑體" panose="020B0604030504040204" pitchFamily="34" charset="-120"/>
                              <a:ea typeface="微軟正黑體" panose="020B0604030504040204" pitchFamily="34" charset="-120"/>
                            </a:rPr>
                            <a:t>轉換比例</a:t>
                          </a:r>
                          <a:endParaRPr lang="en-US" altLang="zh-TW" sz="2400" dirty="0" smtClean="0">
                            <a:latin typeface="微軟正黑體" panose="020B0604030504040204" pitchFamily="34" charset="-120"/>
                            <a:ea typeface="微軟正黑體" panose="020B0604030504040204" pitchFamily="34" charset="-120"/>
                          </a:endParaRPr>
                        </a:p>
                      </a:txBody>
                      <a:tcPr/>
                    </a:tc>
                  </a:tr>
                  <a:tr h="41134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2400" i="1" dirty="0" smtClean="0">
                                    <a:latin typeface="Cambria Math" panose="02040503050406030204" pitchFamily="18" charset="0"/>
                                    <a:ea typeface="微軟正黑體" panose="020B0604030504040204" pitchFamily="34" charset="-120"/>
                                  </a:rPr>
                                  <m:t>𝑂</m:t>
                                </m:r>
                              </m:oMath>
                            </m:oMathPara>
                          </a14:m>
                          <a:endParaRPr lang="zh-TW" altLang="en-US" sz="2400" dirty="0">
                            <a:latin typeface="微軟正黑體" panose="020B0604030504040204" pitchFamily="34" charset="-120"/>
                            <a:ea typeface="微軟正黑體" panose="020B0604030504040204" pitchFamily="34" charset="-120"/>
                          </a:endParaRPr>
                        </a:p>
                      </a:txBody>
                      <a:tcPr/>
                    </a:tc>
                    <a:tc>
                      <a:txBody>
                        <a:bodyPr/>
                        <a:lstStyle/>
                        <a:p>
                          <a:r>
                            <a:rPr lang="zh-TW" altLang="en-US" sz="2400" dirty="0" smtClean="0">
                              <a:latin typeface="微軟正黑體" panose="020B0604030504040204" pitchFamily="34" charset="-120"/>
                              <a:ea typeface="微軟正黑體" panose="020B0604030504040204" pitchFamily="34" charset="-120"/>
                            </a:rPr>
                            <a:t>期初流通在外股數</a:t>
                          </a:r>
                          <a:endParaRPr lang="zh-TW" altLang="en-US" sz="2400" dirty="0">
                            <a:latin typeface="微軟正黑體" panose="020B0604030504040204" pitchFamily="34" charset="-120"/>
                            <a:ea typeface="微軟正黑體" panose="020B0604030504040204" pitchFamily="34" charset="-120"/>
                          </a:endParaRPr>
                        </a:p>
                      </a:txBody>
                      <a:tcPr/>
                    </a:tc>
                  </a:tr>
                  <a:tr h="41134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2400" i="1" dirty="0" smtClean="0">
                                    <a:latin typeface="Cambria Math" panose="02040503050406030204" pitchFamily="18" charset="0"/>
                                    <a:ea typeface="Cambria Math" panose="02040503050406030204" pitchFamily="18" charset="0"/>
                                  </a:rPr>
                                  <m:t>𝑉</m:t>
                                </m:r>
                                <m:r>
                                  <a:rPr lang="en-US" altLang="zh-TW" sz="2400" i="1" dirty="0" smtClean="0">
                                    <a:latin typeface="Cambria Math" panose="02040503050406030204" pitchFamily="18" charset="0"/>
                                    <a:ea typeface="Cambria Math" panose="02040503050406030204" pitchFamily="18" charset="0"/>
                                  </a:rPr>
                                  <m:t>(</m:t>
                                </m:r>
                                <m:r>
                                  <a:rPr lang="en-US" altLang="zh-TW" sz="2400" i="1" dirty="0" smtClean="0">
                                    <a:latin typeface="Cambria Math" panose="02040503050406030204" pitchFamily="18" charset="0"/>
                                    <a:ea typeface="Cambria Math" panose="02040503050406030204" pitchFamily="18" charset="0"/>
                                  </a:rPr>
                                  <m:t>𝑇</m:t>
                                </m:r>
                                <m:r>
                                  <a:rPr lang="en-US" altLang="zh-TW" sz="2400" i="1" dirty="0" smtClean="0">
                                    <a:latin typeface="Cambria Math" panose="02040503050406030204" pitchFamily="18" charset="0"/>
                                    <a:ea typeface="Cambria Math" panose="02040503050406030204" pitchFamily="18" charset="0"/>
                                  </a:rPr>
                                  <m:t>)</m:t>
                                </m:r>
                                <m:r>
                                  <m:rPr>
                                    <m:nor/>
                                  </m:rPr>
                                  <a:rPr lang="zh-TW" altLang="en-US" sz="2400" i="1" dirty="0" smtClean="0">
                                    <a:latin typeface="微軟正黑體" panose="020B0604030504040204" pitchFamily="34" charset="-120"/>
                                    <a:ea typeface="微軟正黑體" panose="020B0604030504040204" pitchFamily="34" charset="-120"/>
                                  </a:rPr>
                                  <m:t> </m:t>
                                </m:r>
                              </m:oMath>
                            </m:oMathPara>
                          </a14:m>
                          <a:endParaRPr lang="zh-TW" altLang="en-US" sz="2400" dirty="0">
                            <a:latin typeface="微軟正黑體" panose="020B0604030504040204" pitchFamily="34" charset="-120"/>
                            <a:ea typeface="微軟正黑體" panose="020B0604030504040204" pitchFamily="34" charset="-120"/>
                          </a:endParaRPr>
                        </a:p>
                      </a:txBody>
                      <a:tcPr/>
                    </a:tc>
                    <a:tc>
                      <a:txBody>
                        <a:bodyPr/>
                        <a:lstStyle/>
                        <a:p>
                          <a:r>
                            <a:rPr lang="zh-TW" altLang="en-US" sz="2400" dirty="0" smtClean="0">
                              <a:latin typeface="微軟正黑體" panose="020B0604030504040204" pitchFamily="34" charset="-120"/>
                              <a:ea typeface="微軟正黑體" panose="020B0604030504040204" pitchFamily="34" charset="-120"/>
                            </a:rPr>
                            <a:t>到期日公司資產價值</a:t>
                          </a:r>
                          <a:endParaRPr lang="zh-TW" altLang="en-US" sz="2400" dirty="0">
                            <a:latin typeface="微軟正黑體" panose="020B0604030504040204" pitchFamily="34" charset="-120"/>
                            <a:ea typeface="微軟正黑體" panose="020B0604030504040204" pitchFamily="34" charset="-120"/>
                          </a:endParaRPr>
                        </a:p>
                      </a:txBody>
                      <a:tcPr/>
                    </a:tc>
                  </a:tr>
                  <a:tr h="412117">
                    <a:tc>
                      <a:txBody>
                        <a:bodyPr/>
                        <a:lstStyle/>
                        <a:p>
                          <a:pPr/>
                          <a14:m>
                            <m:oMathPara xmlns:m="http://schemas.openxmlformats.org/officeDocument/2006/math">
                              <m:oMathParaPr>
                                <m:jc m:val="centerGroup"/>
                              </m:oMathParaPr>
                              <m:oMath xmlns:m="http://schemas.openxmlformats.org/officeDocument/2006/math">
                                <m:sSubSup>
                                  <m:sSubSupPr>
                                    <m:ctrlPr>
                                      <a:rPr lang="en-US" altLang="zh-TW" sz="2000" i="1" dirty="0" smtClean="0">
                                        <a:latin typeface="Cambria Math" panose="02040503050406030204" pitchFamily="18" charset="0"/>
                                        <a:ea typeface="微軟正黑體" panose="020B0604030504040204" pitchFamily="34" charset="-120"/>
                                      </a:rPr>
                                    </m:ctrlPr>
                                  </m:sSubSupPr>
                                  <m:e>
                                    <m:r>
                                      <a:rPr lang="en-US" altLang="zh-TW" sz="2000" i="1" dirty="0">
                                        <a:latin typeface="Cambria Math" panose="02040503050406030204" pitchFamily="18" charset="0"/>
                                        <a:ea typeface="微軟正黑體" panose="020B0604030504040204" pitchFamily="34" charset="-120"/>
                                      </a:rPr>
                                      <m:t>𝑆</m:t>
                                    </m:r>
                                  </m:e>
                                  <m:sub>
                                    <m:r>
                                      <a:rPr lang="en-US" altLang="zh-TW" sz="2000" i="1" dirty="0">
                                        <a:latin typeface="Cambria Math" panose="02040503050406030204" pitchFamily="18" charset="0"/>
                                        <a:ea typeface="微軟正黑體" panose="020B0604030504040204" pitchFamily="34" charset="-120"/>
                                      </a:rPr>
                                      <m:t>𝑇</m:t>
                                    </m:r>
                                  </m:sub>
                                  <m:sup>
                                    <m:r>
                                      <a:rPr lang="en-US" altLang="zh-TW" sz="2000" i="1" dirty="0">
                                        <a:latin typeface="Cambria Math" panose="02040503050406030204" pitchFamily="18" charset="0"/>
                                        <a:ea typeface="微軟正黑體" panose="020B0604030504040204" pitchFamily="34" charset="-120"/>
                                      </a:rPr>
                                      <m:t>𝑈</m:t>
                                    </m:r>
                                  </m:sup>
                                </m:sSubSup>
                                <m:r>
                                  <a:rPr lang="en-US" altLang="zh-TW" sz="2000" b="0" i="1" dirty="0" smtClean="0">
                                    <a:latin typeface="Cambria Math" panose="02040503050406030204" pitchFamily="18" charset="0"/>
                                    <a:ea typeface="微軟正黑體" panose="020B0604030504040204" pitchFamily="34" charset="-120"/>
                                  </a:rPr>
                                  <m:t>=</m:t>
                                </m:r>
                                <m:f>
                                  <m:fPr>
                                    <m:ctrlPr>
                                      <a:rPr lang="en-US" altLang="zh-TW" sz="2000" b="0" i="1" dirty="0" smtClean="0">
                                        <a:latin typeface="Cambria Math" panose="02040503050406030204" pitchFamily="18" charset="0"/>
                                        <a:ea typeface="微軟正黑體" panose="020B0604030504040204" pitchFamily="34" charset="-120"/>
                                      </a:rPr>
                                    </m:ctrlPr>
                                  </m:fPr>
                                  <m:num>
                                    <m:r>
                                      <a:rPr lang="en-US" altLang="zh-TW" sz="2000" i="1" dirty="0">
                                        <a:latin typeface="Cambria Math" panose="02040503050406030204" pitchFamily="18" charset="0"/>
                                        <a:ea typeface="Cambria Math" panose="02040503050406030204" pitchFamily="18" charset="0"/>
                                      </a:rPr>
                                      <m:t>𝑉</m:t>
                                    </m:r>
                                    <m:d>
                                      <m:dPr>
                                        <m:ctrlPr>
                                          <a:rPr lang="en-US" altLang="zh-TW" sz="2000" b="0" i="1" dirty="0" smtClean="0">
                                            <a:latin typeface="Cambria Math" panose="02040503050406030204" pitchFamily="18" charset="0"/>
                                            <a:ea typeface="Cambria Math" panose="02040503050406030204" pitchFamily="18" charset="0"/>
                                          </a:rPr>
                                        </m:ctrlPr>
                                      </m:dPr>
                                      <m:e>
                                        <m:r>
                                          <a:rPr lang="en-US" altLang="zh-TW" sz="2000" b="0" i="1" dirty="0" smtClean="0">
                                            <a:latin typeface="Cambria Math" panose="02040503050406030204" pitchFamily="18" charset="0"/>
                                            <a:ea typeface="Cambria Math" panose="02040503050406030204" pitchFamily="18" charset="0"/>
                                          </a:rPr>
                                          <m:t>𝑇</m:t>
                                        </m:r>
                                      </m:e>
                                    </m:d>
                                    <m:r>
                                      <a:rPr lang="en-US" altLang="zh-TW" sz="2000" i="1" dirty="0">
                                        <a:latin typeface="Cambria Math" panose="02040503050406030204" pitchFamily="18" charset="0"/>
                                        <a:ea typeface="Cambria Math" panose="02040503050406030204" pitchFamily="18" charset="0"/>
                                      </a:rPr>
                                      <m:t>−</m:t>
                                    </m:r>
                                    <m:d>
                                      <m:dPr>
                                        <m:begChr m:val="["/>
                                        <m:endChr m:val="]"/>
                                        <m:ctrlPr>
                                          <a:rPr lang="en-US" altLang="zh-TW" sz="2000" b="0" i="1" dirty="0">
                                            <a:latin typeface="Cambria Math" panose="02040503050406030204" pitchFamily="18" charset="0"/>
                                            <a:ea typeface="Cambria Math" panose="02040503050406030204" pitchFamily="18" charset="0"/>
                                          </a:rPr>
                                        </m:ctrlPr>
                                      </m:dPr>
                                      <m:e>
                                        <m:sSub>
                                          <m:sSubPr>
                                            <m:ctrlPr>
                                              <a:rPr lang="en-US" altLang="zh-TW" sz="2000" i="1">
                                                <a:solidFill>
                                                  <a:schemeClr val="tx1"/>
                                                </a:solidFill>
                                                <a:latin typeface="Cambria Math" panose="02040503050406030204" pitchFamily="18" charset="0"/>
                                              </a:rPr>
                                            </m:ctrlPr>
                                          </m:sSubPr>
                                          <m:e>
                                            <m:r>
                                              <a:rPr lang="en-US" altLang="zh-TW" sz="2000" i="1">
                                                <a:solidFill>
                                                  <a:schemeClr val="tx1"/>
                                                </a:solidFill>
                                                <a:latin typeface="Cambria Math"/>
                                              </a:rPr>
                                              <m:t>𝐷</m:t>
                                            </m:r>
                                          </m:e>
                                          <m:sub>
                                            <m:r>
                                              <a:rPr lang="en-US" altLang="zh-TW" sz="2000" i="1">
                                                <a:solidFill>
                                                  <a:schemeClr val="tx1"/>
                                                </a:solidFill>
                                                <a:latin typeface="Cambria Math"/>
                                              </a:rPr>
                                              <m:t>1</m:t>
                                            </m:r>
                                          </m:sub>
                                        </m:sSub>
                                        <m:r>
                                          <a:rPr lang="en-US" altLang="zh-TW" sz="2000" i="1">
                                            <a:solidFill>
                                              <a:schemeClr val="tx1"/>
                                            </a:solidFill>
                                            <a:latin typeface="Cambria Math"/>
                                          </a:rPr>
                                          <m:t>+</m:t>
                                        </m:r>
                                        <m:sSub>
                                          <m:sSubPr>
                                            <m:ctrlPr>
                                              <a:rPr lang="en-US" altLang="zh-TW" sz="2000" i="1" smtClean="0">
                                                <a:solidFill>
                                                  <a:schemeClr val="tx1"/>
                                                </a:solidFill>
                                                <a:latin typeface="Cambria Math" panose="02040503050406030204" pitchFamily="18" charset="0"/>
                                              </a:rPr>
                                            </m:ctrlPr>
                                          </m:sSubPr>
                                          <m:e>
                                            <m:r>
                                              <a:rPr lang="en-US" altLang="zh-TW" sz="2000" i="1">
                                                <a:solidFill>
                                                  <a:schemeClr val="tx1"/>
                                                </a:solidFill>
                                                <a:latin typeface="Cambria Math"/>
                                              </a:rPr>
                                              <m:t>𝐷</m:t>
                                            </m:r>
                                          </m:e>
                                          <m:sub>
                                            <m:r>
                                              <a:rPr lang="en-US" altLang="zh-TW" sz="2000" b="0" i="1" smtClean="0">
                                                <a:solidFill>
                                                  <a:schemeClr val="tx1"/>
                                                </a:solidFill>
                                                <a:latin typeface="Cambria Math" panose="02040503050406030204" pitchFamily="18" charset="0"/>
                                              </a:rPr>
                                              <m:t>2</m:t>
                                            </m:r>
                                          </m:sub>
                                        </m:sSub>
                                        <m:r>
                                          <a:rPr lang="en-US" altLang="zh-TW" sz="2000" b="0" i="1" smtClean="0">
                                            <a:solidFill>
                                              <a:schemeClr val="tx1"/>
                                            </a:solidFill>
                                            <a:latin typeface="Cambria Math" panose="02040503050406030204" pitchFamily="18" charset="0"/>
                                          </a:rPr>
                                          <m:t>+</m:t>
                                        </m:r>
                                        <m:d>
                                          <m:dPr>
                                            <m:ctrlPr>
                                              <a:rPr lang="en-US" altLang="zh-TW" sz="2000" i="1">
                                                <a:solidFill>
                                                  <a:schemeClr val="tx1"/>
                                                </a:solidFill>
                                                <a:latin typeface="Cambria Math" panose="02040503050406030204" pitchFamily="18" charset="0"/>
                                              </a:rPr>
                                            </m:ctrlPr>
                                          </m:dPr>
                                          <m:e>
                                            <m:r>
                                              <a:rPr lang="en-US" altLang="zh-TW" sz="2000" i="1">
                                                <a:solidFill>
                                                  <a:schemeClr val="tx1"/>
                                                </a:solidFill>
                                                <a:latin typeface="Cambria Math"/>
                                              </a:rPr>
                                              <m:t>1−</m:t>
                                            </m:r>
                                            <m:r>
                                              <a:rPr lang="en-US" altLang="zh-TW" sz="2000" i="1">
                                                <a:solidFill>
                                                  <a:schemeClr val="tx1"/>
                                                </a:solidFill>
                                                <a:latin typeface="Cambria Math"/>
                                              </a:rPr>
                                              <m:t>𝑡𝑎𝑥</m:t>
                                            </m:r>
                                          </m:e>
                                        </m:d>
                                        <m:d>
                                          <m:dPr>
                                            <m:ctrlPr>
                                              <a:rPr lang="en-US" altLang="zh-TW" sz="2000" i="1">
                                                <a:solidFill>
                                                  <a:schemeClr val="tx1"/>
                                                </a:solidFill>
                                                <a:latin typeface="Cambria Math" panose="02040503050406030204" pitchFamily="18" charset="0"/>
                                              </a:rPr>
                                            </m:ctrlPr>
                                          </m:dPr>
                                          <m:e>
                                            <m:sSub>
                                              <m:sSubPr>
                                                <m:ctrlPr>
                                                  <a:rPr lang="en-US" altLang="zh-TW" sz="2000" i="1">
                                                    <a:solidFill>
                                                      <a:schemeClr val="tx1"/>
                                                    </a:solidFill>
                                                    <a:latin typeface="Cambria Math" panose="02040503050406030204" pitchFamily="18" charset="0"/>
                                                  </a:rPr>
                                                </m:ctrlPr>
                                              </m:sSubPr>
                                              <m:e>
                                                <m:r>
                                                  <a:rPr lang="en-US" altLang="zh-TW" sz="2000" i="1">
                                                    <a:solidFill>
                                                      <a:schemeClr val="tx1"/>
                                                    </a:solidFill>
                                                    <a:latin typeface="Cambria Math"/>
                                                  </a:rPr>
                                                  <m:t>𝐶</m:t>
                                                </m:r>
                                              </m:e>
                                              <m:sub>
                                                <m:r>
                                                  <a:rPr lang="en-US" altLang="zh-TW" sz="2000" i="1">
                                                    <a:solidFill>
                                                      <a:schemeClr val="tx1"/>
                                                    </a:solidFill>
                                                    <a:latin typeface="Cambria Math"/>
                                                  </a:rPr>
                                                  <m:t>1</m:t>
                                                </m:r>
                                              </m:sub>
                                            </m:sSub>
                                            <m:sSub>
                                              <m:sSubPr>
                                                <m:ctrlPr>
                                                  <a:rPr lang="en-US" altLang="zh-TW" sz="2000" i="1">
                                                    <a:solidFill>
                                                      <a:schemeClr val="tx1"/>
                                                    </a:solidFill>
                                                    <a:latin typeface="Cambria Math" panose="02040503050406030204" pitchFamily="18" charset="0"/>
                                                  </a:rPr>
                                                </m:ctrlPr>
                                              </m:sSubPr>
                                              <m:e>
                                                <m:r>
                                                  <a:rPr lang="en-US" altLang="zh-TW" sz="2000" i="1">
                                                    <a:solidFill>
                                                      <a:schemeClr val="tx1"/>
                                                    </a:solidFill>
                                                    <a:latin typeface="Cambria Math"/>
                                                  </a:rPr>
                                                  <m:t>𝐷</m:t>
                                                </m:r>
                                              </m:e>
                                              <m:sub>
                                                <m:r>
                                                  <a:rPr lang="en-US" altLang="zh-TW" sz="2000" i="1">
                                                    <a:solidFill>
                                                      <a:schemeClr val="tx1"/>
                                                    </a:solidFill>
                                                    <a:latin typeface="Cambria Math"/>
                                                  </a:rPr>
                                                  <m:t>1</m:t>
                                                </m:r>
                                              </m:sub>
                                            </m:sSub>
                                            <m:r>
                                              <a:rPr lang="en-US" altLang="zh-TW" sz="2000" i="1">
                                                <a:solidFill>
                                                  <a:schemeClr val="tx1"/>
                                                </a:solidFill>
                                                <a:latin typeface="Cambria Math"/>
                                              </a:rPr>
                                              <m:t>𝑇</m:t>
                                            </m:r>
                                            <m:r>
                                              <a:rPr lang="en-US" altLang="zh-TW" sz="2000" i="1">
                                                <a:solidFill>
                                                  <a:schemeClr val="tx1"/>
                                                </a:solidFill>
                                                <a:latin typeface="Cambria Math"/>
                                              </a:rPr>
                                              <m:t>+</m:t>
                                            </m:r>
                                            <m:sSub>
                                              <m:sSubPr>
                                                <m:ctrlPr>
                                                  <a:rPr lang="en-US" altLang="zh-TW" sz="2000" i="1">
                                                    <a:solidFill>
                                                      <a:schemeClr val="tx1"/>
                                                    </a:solidFill>
                                                    <a:latin typeface="Cambria Math" panose="02040503050406030204" pitchFamily="18" charset="0"/>
                                                  </a:rPr>
                                                </m:ctrlPr>
                                              </m:sSubPr>
                                              <m:e>
                                                <m:r>
                                                  <a:rPr lang="en-US" altLang="zh-TW" sz="2000" i="1">
                                                    <a:solidFill>
                                                      <a:schemeClr val="tx1"/>
                                                    </a:solidFill>
                                                    <a:latin typeface="Cambria Math"/>
                                                  </a:rPr>
                                                  <m:t>𝐶</m:t>
                                                </m:r>
                                              </m:e>
                                              <m:sub>
                                                <m:r>
                                                  <a:rPr lang="en-US" altLang="zh-TW" sz="2000" i="1">
                                                    <a:solidFill>
                                                      <a:schemeClr val="tx1"/>
                                                    </a:solidFill>
                                                    <a:latin typeface="Cambria Math"/>
                                                  </a:rPr>
                                                  <m:t>2</m:t>
                                                </m:r>
                                              </m:sub>
                                            </m:sSub>
                                            <m:sSub>
                                              <m:sSubPr>
                                                <m:ctrlPr>
                                                  <a:rPr lang="en-US" altLang="zh-TW" sz="2000" i="1">
                                                    <a:solidFill>
                                                      <a:schemeClr val="tx1"/>
                                                    </a:solidFill>
                                                    <a:latin typeface="Cambria Math" panose="02040503050406030204" pitchFamily="18" charset="0"/>
                                                  </a:rPr>
                                                </m:ctrlPr>
                                              </m:sSubPr>
                                              <m:e>
                                                <m:r>
                                                  <a:rPr lang="en-US" altLang="zh-TW" sz="2000" i="1">
                                                    <a:solidFill>
                                                      <a:schemeClr val="tx1"/>
                                                    </a:solidFill>
                                                    <a:latin typeface="Cambria Math"/>
                                                  </a:rPr>
                                                  <m:t>𝐷</m:t>
                                                </m:r>
                                              </m:e>
                                              <m:sub>
                                                <m:r>
                                                  <a:rPr lang="en-US" altLang="zh-TW" sz="2000" i="1">
                                                    <a:solidFill>
                                                      <a:schemeClr val="tx1"/>
                                                    </a:solidFill>
                                                    <a:latin typeface="Cambria Math"/>
                                                  </a:rPr>
                                                  <m:t>2</m:t>
                                                </m:r>
                                              </m:sub>
                                            </m:sSub>
                                            <m:r>
                                              <a:rPr lang="en-US" altLang="zh-TW" sz="2000" i="1">
                                                <a:solidFill>
                                                  <a:schemeClr val="tx1"/>
                                                </a:solidFill>
                                                <a:latin typeface="Cambria Math"/>
                                              </a:rPr>
                                              <m:t>𝑇</m:t>
                                            </m:r>
                                          </m:e>
                                        </m:d>
                                      </m:e>
                                    </m:d>
                                  </m:num>
                                  <m:den>
                                    <m:r>
                                      <a:rPr lang="en-US" altLang="zh-TW" sz="2000" b="0" i="1" dirty="0" smtClean="0">
                                        <a:solidFill>
                                          <a:schemeClr val="tx1"/>
                                        </a:solidFill>
                                        <a:latin typeface="Cambria Math" panose="02040503050406030204" pitchFamily="18" charset="0"/>
                                        <a:ea typeface="微軟正黑體" panose="020B0604030504040204" pitchFamily="34" charset="-120"/>
                                      </a:rPr>
                                      <m:t>𝑂</m:t>
                                    </m:r>
                                  </m:den>
                                </m:f>
                              </m:oMath>
                            </m:oMathPara>
                          </a14:m>
                          <a:endParaRPr lang="zh-TW" altLang="en-US" sz="2000" dirty="0">
                            <a:latin typeface="微軟正黑體" panose="020B0604030504040204" pitchFamily="34" charset="-120"/>
                            <a:ea typeface="微軟正黑體" panose="020B0604030504040204" pitchFamily="34" charset="-120"/>
                          </a:endParaRPr>
                        </a:p>
                      </a:txBody>
                      <a:tcPr/>
                    </a:tc>
                    <a:tc>
                      <a:txBody>
                        <a:bodyPr/>
                        <a:lstStyle/>
                        <a:p>
                          <a:r>
                            <a:rPr lang="en-US" altLang="zh-TW" sz="2400" i="0" u="none" dirty="0" smtClean="0">
                              <a:latin typeface="微軟正黑體" panose="020B0604030504040204" pitchFamily="34" charset="-120"/>
                              <a:ea typeface="微軟正黑體" panose="020B0604030504040204" pitchFamily="34" charset="-120"/>
                            </a:rPr>
                            <a:t>CC</a:t>
                          </a:r>
                          <a:r>
                            <a:rPr lang="zh-TW" altLang="en-US" sz="2400" dirty="0" smtClean="0">
                              <a:latin typeface="微軟正黑體" panose="020B0604030504040204" pitchFamily="34" charset="-120"/>
                              <a:ea typeface="微軟正黑體" panose="020B0604030504040204" pitchFamily="34" charset="-120"/>
                            </a:rPr>
                            <a:t>未轉換時股價</a:t>
                          </a:r>
                          <a:endParaRPr lang="zh-TW" altLang="en-US" sz="2400" dirty="0">
                            <a:latin typeface="微軟正黑體" panose="020B0604030504040204" pitchFamily="34" charset="-120"/>
                            <a:ea typeface="微軟正黑體" panose="020B0604030504040204" pitchFamily="34" charset="-120"/>
                          </a:endParaRPr>
                        </a:p>
                      </a:txBody>
                      <a:tcPr/>
                    </a:tc>
                  </a:tr>
                  <a:tr h="413808">
                    <a:tc>
                      <a:txBody>
                        <a:bodyPr/>
                        <a:lstStyle/>
                        <a:p>
                          <a:pPr/>
                          <a14:m>
                            <m:oMathPara xmlns:m="http://schemas.openxmlformats.org/officeDocument/2006/math">
                              <m:oMathParaPr>
                                <m:jc m:val="centerGroup"/>
                              </m:oMathParaPr>
                              <m:oMath xmlns:m="http://schemas.openxmlformats.org/officeDocument/2006/math">
                                <m:sSubSup>
                                  <m:sSubSupPr>
                                    <m:ctrlPr>
                                      <a:rPr lang="en-US" altLang="zh-TW" sz="2000" b="0" i="1" dirty="0" smtClean="0">
                                        <a:latin typeface="Cambria Math" panose="02040503050406030204" pitchFamily="18" charset="0"/>
                                        <a:ea typeface="微軟正黑體" panose="020B0604030504040204" pitchFamily="34" charset="-120"/>
                                      </a:rPr>
                                    </m:ctrlPr>
                                  </m:sSubSupPr>
                                  <m:e>
                                    <m:r>
                                      <a:rPr lang="en-US" altLang="zh-TW" sz="2000" b="0" i="1" dirty="0" smtClean="0">
                                        <a:latin typeface="Cambria Math" panose="02040503050406030204" pitchFamily="18" charset="0"/>
                                        <a:ea typeface="微軟正黑體" panose="020B0604030504040204" pitchFamily="34" charset="-120"/>
                                      </a:rPr>
                                      <m:t>𝑆</m:t>
                                    </m:r>
                                  </m:e>
                                  <m:sub>
                                    <m:r>
                                      <a:rPr lang="en-US" altLang="zh-TW" sz="2000" b="0" i="1" dirty="0" smtClean="0">
                                        <a:latin typeface="Cambria Math" panose="02040503050406030204" pitchFamily="18" charset="0"/>
                                        <a:ea typeface="微軟正黑體" panose="020B0604030504040204" pitchFamily="34" charset="-120"/>
                                      </a:rPr>
                                      <m:t>𝑇</m:t>
                                    </m:r>
                                  </m:sub>
                                  <m:sup>
                                    <m:r>
                                      <a:rPr lang="en-US" altLang="zh-TW" sz="2000" b="0" i="1" dirty="0" smtClean="0">
                                        <a:latin typeface="Cambria Math" panose="02040503050406030204" pitchFamily="18" charset="0"/>
                                        <a:ea typeface="微軟正黑體" panose="020B0604030504040204" pitchFamily="34" charset="-120"/>
                                      </a:rPr>
                                      <m:t>𝐶</m:t>
                                    </m:r>
                                  </m:sup>
                                </m:sSubSup>
                                <m:r>
                                  <a:rPr lang="en-US" altLang="zh-TW" sz="2000" b="0" i="1" dirty="0" smtClean="0">
                                    <a:latin typeface="Cambria Math" panose="02040503050406030204" pitchFamily="18" charset="0"/>
                                    <a:ea typeface="微軟正黑體" panose="020B0604030504040204" pitchFamily="34" charset="-120"/>
                                  </a:rPr>
                                  <m:t>=</m:t>
                                </m:r>
                                <m:f>
                                  <m:fPr>
                                    <m:ctrlPr>
                                      <a:rPr lang="en-US" altLang="zh-TW" sz="2000" b="0" i="1" dirty="0" smtClean="0">
                                        <a:latin typeface="Cambria Math" panose="02040503050406030204" pitchFamily="18" charset="0"/>
                                        <a:ea typeface="微軟正黑體" panose="020B0604030504040204" pitchFamily="34" charset="-120"/>
                                      </a:rPr>
                                    </m:ctrlPr>
                                  </m:fPr>
                                  <m:num>
                                    <m:r>
                                      <a:rPr lang="en-US" altLang="zh-TW" sz="2000" i="1" dirty="0">
                                        <a:latin typeface="Cambria Math" panose="02040503050406030204" pitchFamily="18" charset="0"/>
                                        <a:ea typeface="Cambria Math" panose="02040503050406030204" pitchFamily="18" charset="0"/>
                                      </a:rPr>
                                      <m:t>𝑉</m:t>
                                    </m:r>
                                    <m:d>
                                      <m:dPr>
                                        <m:ctrlPr>
                                          <a:rPr lang="en-US" altLang="zh-TW" sz="2000" b="0" i="1" dirty="0" smtClean="0">
                                            <a:latin typeface="Cambria Math" panose="02040503050406030204" pitchFamily="18" charset="0"/>
                                            <a:ea typeface="Cambria Math" panose="02040503050406030204" pitchFamily="18" charset="0"/>
                                          </a:rPr>
                                        </m:ctrlPr>
                                      </m:dPr>
                                      <m:e>
                                        <m:r>
                                          <a:rPr lang="en-US" altLang="zh-TW" sz="2000" b="0" i="1" dirty="0" smtClean="0">
                                            <a:latin typeface="Cambria Math" panose="02040503050406030204" pitchFamily="18" charset="0"/>
                                            <a:ea typeface="Cambria Math" panose="02040503050406030204" pitchFamily="18" charset="0"/>
                                          </a:rPr>
                                          <m:t>𝑇</m:t>
                                        </m:r>
                                      </m:e>
                                    </m:d>
                                    <m:r>
                                      <a:rPr lang="en-US" altLang="zh-TW" sz="2000" i="1" dirty="0">
                                        <a:latin typeface="Cambria Math" panose="02040503050406030204" pitchFamily="18" charset="0"/>
                                        <a:ea typeface="Cambria Math" panose="02040503050406030204" pitchFamily="18" charset="0"/>
                                      </a:rPr>
                                      <m:t>−</m:t>
                                    </m:r>
                                    <m:d>
                                      <m:dPr>
                                        <m:begChr m:val="["/>
                                        <m:endChr m:val="]"/>
                                        <m:ctrlPr>
                                          <a:rPr lang="en-US" altLang="zh-TW" sz="2000" b="0" i="1" dirty="0">
                                            <a:latin typeface="Cambria Math" panose="02040503050406030204" pitchFamily="18" charset="0"/>
                                            <a:ea typeface="Cambria Math" panose="02040503050406030204" pitchFamily="18" charset="0"/>
                                          </a:rPr>
                                        </m:ctrlPr>
                                      </m:dPr>
                                      <m:e>
                                        <m:sSub>
                                          <m:sSubPr>
                                            <m:ctrlPr>
                                              <a:rPr lang="en-US" altLang="zh-TW" sz="2000" i="1">
                                                <a:solidFill>
                                                  <a:schemeClr val="tx1"/>
                                                </a:solidFill>
                                                <a:latin typeface="Cambria Math" panose="02040503050406030204" pitchFamily="18" charset="0"/>
                                              </a:rPr>
                                            </m:ctrlPr>
                                          </m:sSubPr>
                                          <m:e>
                                            <m:r>
                                              <a:rPr lang="en-US" altLang="zh-TW" sz="2000" i="1">
                                                <a:solidFill>
                                                  <a:schemeClr val="tx1"/>
                                                </a:solidFill>
                                                <a:latin typeface="Cambria Math"/>
                                              </a:rPr>
                                              <m:t>𝐷</m:t>
                                            </m:r>
                                          </m:e>
                                          <m:sub>
                                            <m:r>
                                              <a:rPr lang="en-US" altLang="zh-TW" sz="2000" i="1">
                                                <a:solidFill>
                                                  <a:schemeClr val="tx1"/>
                                                </a:solidFill>
                                                <a:latin typeface="Cambria Math"/>
                                              </a:rPr>
                                              <m:t>1</m:t>
                                            </m:r>
                                          </m:sub>
                                        </m:sSub>
                                        <m:r>
                                          <a:rPr lang="en-US" altLang="zh-TW" sz="2000" i="1">
                                            <a:solidFill>
                                              <a:schemeClr val="tx1"/>
                                            </a:solidFill>
                                            <a:latin typeface="Cambria Math"/>
                                          </a:rPr>
                                          <m:t>+</m:t>
                                        </m:r>
                                        <m:d>
                                          <m:dPr>
                                            <m:ctrlPr>
                                              <a:rPr lang="en-US" altLang="zh-TW" sz="2000" i="1">
                                                <a:solidFill>
                                                  <a:schemeClr val="tx1"/>
                                                </a:solidFill>
                                                <a:latin typeface="Cambria Math" panose="02040503050406030204" pitchFamily="18" charset="0"/>
                                              </a:rPr>
                                            </m:ctrlPr>
                                          </m:dPr>
                                          <m:e>
                                            <m:r>
                                              <a:rPr lang="en-US" altLang="zh-TW" sz="2000" i="1">
                                                <a:solidFill>
                                                  <a:schemeClr val="tx1"/>
                                                </a:solidFill>
                                                <a:latin typeface="Cambria Math"/>
                                              </a:rPr>
                                              <m:t>1−</m:t>
                                            </m:r>
                                            <m:r>
                                              <a:rPr lang="en-US" altLang="zh-TW" sz="2000" i="1">
                                                <a:solidFill>
                                                  <a:schemeClr val="tx1"/>
                                                </a:solidFill>
                                                <a:latin typeface="Cambria Math"/>
                                              </a:rPr>
                                              <m:t>𝑡𝑎𝑥</m:t>
                                            </m:r>
                                          </m:e>
                                        </m:d>
                                        <m:d>
                                          <m:dPr>
                                            <m:ctrlPr>
                                              <a:rPr lang="en-US" altLang="zh-TW" sz="2000" i="1">
                                                <a:solidFill>
                                                  <a:schemeClr val="tx1"/>
                                                </a:solidFill>
                                                <a:latin typeface="Cambria Math" panose="02040503050406030204" pitchFamily="18" charset="0"/>
                                              </a:rPr>
                                            </m:ctrlPr>
                                          </m:dPr>
                                          <m:e>
                                            <m:sSub>
                                              <m:sSubPr>
                                                <m:ctrlPr>
                                                  <a:rPr lang="en-US" altLang="zh-TW" sz="2000" i="1">
                                                    <a:solidFill>
                                                      <a:schemeClr val="tx1"/>
                                                    </a:solidFill>
                                                    <a:latin typeface="Cambria Math" panose="02040503050406030204" pitchFamily="18" charset="0"/>
                                                  </a:rPr>
                                                </m:ctrlPr>
                                              </m:sSubPr>
                                              <m:e>
                                                <m:r>
                                                  <a:rPr lang="en-US" altLang="zh-TW" sz="2000" i="1">
                                                    <a:solidFill>
                                                      <a:schemeClr val="tx1"/>
                                                    </a:solidFill>
                                                    <a:latin typeface="Cambria Math"/>
                                                  </a:rPr>
                                                  <m:t>𝐶</m:t>
                                                </m:r>
                                              </m:e>
                                              <m:sub>
                                                <m:r>
                                                  <a:rPr lang="en-US" altLang="zh-TW" sz="2000" i="1">
                                                    <a:solidFill>
                                                      <a:schemeClr val="tx1"/>
                                                    </a:solidFill>
                                                    <a:latin typeface="Cambria Math"/>
                                                  </a:rPr>
                                                  <m:t>1</m:t>
                                                </m:r>
                                              </m:sub>
                                            </m:sSub>
                                            <m:sSub>
                                              <m:sSubPr>
                                                <m:ctrlPr>
                                                  <a:rPr lang="en-US" altLang="zh-TW" sz="2000" i="1">
                                                    <a:solidFill>
                                                      <a:schemeClr val="tx1"/>
                                                    </a:solidFill>
                                                    <a:latin typeface="Cambria Math" panose="02040503050406030204" pitchFamily="18" charset="0"/>
                                                  </a:rPr>
                                                </m:ctrlPr>
                                              </m:sSubPr>
                                              <m:e>
                                                <m:r>
                                                  <a:rPr lang="en-US" altLang="zh-TW" sz="2000" i="1">
                                                    <a:solidFill>
                                                      <a:schemeClr val="tx1"/>
                                                    </a:solidFill>
                                                    <a:latin typeface="Cambria Math"/>
                                                  </a:rPr>
                                                  <m:t>𝐷</m:t>
                                                </m:r>
                                              </m:e>
                                              <m:sub>
                                                <m:r>
                                                  <a:rPr lang="en-US" altLang="zh-TW" sz="2000" i="1">
                                                    <a:solidFill>
                                                      <a:schemeClr val="tx1"/>
                                                    </a:solidFill>
                                                    <a:latin typeface="Cambria Math"/>
                                                  </a:rPr>
                                                  <m:t>1</m:t>
                                                </m:r>
                                              </m:sub>
                                            </m:sSub>
                                            <m:r>
                                              <a:rPr lang="en-US" altLang="zh-TW" sz="2000" i="1">
                                                <a:solidFill>
                                                  <a:schemeClr val="tx1"/>
                                                </a:solidFill>
                                                <a:latin typeface="Cambria Math"/>
                                              </a:rPr>
                                              <m:t>𝑇</m:t>
                                            </m:r>
                                            <m:r>
                                              <a:rPr lang="en-US" altLang="zh-TW" sz="2000" i="1">
                                                <a:solidFill>
                                                  <a:schemeClr val="tx1"/>
                                                </a:solidFill>
                                                <a:latin typeface="Cambria Math"/>
                                              </a:rPr>
                                              <m:t>+</m:t>
                                            </m:r>
                                            <m:sSub>
                                              <m:sSubPr>
                                                <m:ctrlPr>
                                                  <a:rPr lang="en-US" altLang="zh-TW" sz="2000" i="1">
                                                    <a:solidFill>
                                                      <a:schemeClr val="tx1"/>
                                                    </a:solidFill>
                                                    <a:latin typeface="Cambria Math" panose="02040503050406030204" pitchFamily="18" charset="0"/>
                                                  </a:rPr>
                                                </m:ctrlPr>
                                              </m:sSubPr>
                                              <m:e>
                                                <m:r>
                                                  <a:rPr lang="en-US" altLang="zh-TW" sz="2000" i="1">
                                                    <a:solidFill>
                                                      <a:schemeClr val="tx1"/>
                                                    </a:solidFill>
                                                    <a:latin typeface="Cambria Math"/>
                                                  </a:rPr>
                                                  <m:t>𝐶</m:t>
                                                </m:r>
                                              </m:e>
                                              <m:sub>
                                                <m:r>
                                                  <a:rPr lang="en-US" altLang="zh-TW" sz="2000" i="1">
                                                    <a:solidFill>
                                                      <a:schemeClr val="tx1"/>
                                                    </a:solidFill>
                                                    <a:latin typeface="Cambria Math"/>
                                                  </a:rPr>
                                                  <m:t>2</m:t>
                                                </m:r>
                                              </m:sub>
                                            </m:sSub>
                                            <m:sSub>
                                              <m:sSubPr>
                                                <m:ctrlPr>
                                                  <a:rPr lang="en-US" altLang="zh-TW" sz="2000" i="1">
                                                    <a:solidFill>
                                                      <a:schemeClr val="tx1"/>
                                                    </a:solidFill>
                                                    <a:latin typeface="Cambria Math" panose="02040503050406030204" pitchFamily="18" charset="0"/>
                                                  </a:rPr>
                                                </m:ctrlPr>
                                              </m:sSubPr>
                                              <m:e>
                                                <m:r>
                                                  <a:rPr lang="en-US" altLang="zh-TW" sz="2000" i="1">
                                                    <a:solidFill>
                                                      <a:schemeClr val="tx1"/>
                                                    </a:solidFill>
                                                    <a:latin typeface="Cambria Math"/>
                                                  </a:rPr>
                                                  <m:t>𝐷</m:t>
                                                </m:r>
                                              </m:e>
                                              <m:sub>
                                                <m:r>
                                                  <a:rPr lang="en-US" altLang="zh-TW" sz="2000" i="1">
                                                    <a:solidFill>
                                                      <a:schemeClr val="tx1"/>
                                                    </a:solidFill>
                                                    <a:latin typeface="Cambria Math"/>
                                                  </a:rPr>
                                                  <m:t>2</m:t>
                                                </m:r>
                                              </m:sub>
                                            </m:sSub>
                                            <m:r>
                                              <a:rPr lang="en-US" altLang="zh-TW" sz="2000" i="1">
                                                <a:solidFill>
                                                  <a:schemeClr val="tx1"/>
                                                </a:solidFill>
                                                <a:latin typeface="Cambria Math"/>
                                              </a:rPr>
                                              <m:t>𝑇</m:t>
                                            </m:r>
                                          </m:e>
                                        </m:d>
                                      </m:e>
                                    </m:d>
                                  </m:num>
                                  <m:den>
                                    <m:r>
                                      <a:rPr lang="en-US" altLang="zh-TW" sz="2000" b="0" i="1" dirty="0" smtClean="0">
                                        <a:solidFill>
                                          <a:schemeClr val="tx1"/>
                                        </a:solidFill>
                                        <a:latin typeface="Cambria Math" panose="02040503050406030204" pitchFamily="18" charset="0"/>
                                        <a:ea typeface="微軟正黑體" panose="020B0604030504040204" pitchFamily="34" charset="-120"/>
                                      </a:rPr>
                                      <m:t>𝑂</m:t>
                                    </m:r>
                                    <m:r>
                                      <a:rPr lang="en-US" altLang="zh-TW" sz="2000" b="0" i="1" dirty="0" smtClean="0">
                                        <a:solidFill>
                                          <a:schemeClr val="tx1"/>
                                        </a:solidFill>
                                        <a:latin typeface="Cambria Math" panose="02040503050406030204" pitchFamily="18" charset="0"/>
                                        <a:ea typeface="微軟正黑體" panose="020B0604030504040204" pitchFamily="34" charset="-120"/>
                                      </a:rPr>
                                      <m:t>+</m:t>
                                    </m:r>
                                    <m:sSub>
                                      <m:sSubPr>
                                        <m:ctrlPr>
                                          <a:rPr lang="en-US" altLang="zh-TW" sz="2000" b="0" i="1" dirty="0" smtClean="0">
                                            <a:solidFill>
                                              <a:schemeClr val="tx1"/>
                                            </a:solidFill>
                                            <a:latin typeface="Cambria Math" panose="02040503050406030204" pitchFamily="18" charset="0"/>
                                            <a:ea typeface="微軟正黑體" panose="020B0604030504040204" pitchFamily="34" charset="-120"/>
                                          </a:rPr>
                                        </m:ctrlPr>
                                      </m:sSubPr>
                                      <m:e>
                                        <m:r>
                                          <a:rPr lang="en-US" altLang="zh-TW" sz="2000" b="0" i="1" dirty="0" smtClean="0">
                                            <a:solidFill>
                                              <a:schemeClr val="tx1"/>
                                            </a:solidFill>
                                            <a:latin typeface="Cambria Math" panose="02040503050406030204" pitchFamily="18" charset="0"/>
                                            <a:ea typeface="微軟正黑體" panose="020B0604030504040204" pitchFamily="34" charset="-120"/>
                                          </a:rPr>
                                          <m:t>𝑂</m:t>
                                        </m:r>
                                      </m:e>
                                      <m:sub>
                                        <m:r>
                                          <a:rPr lang="en-US" altLang="zh-TW" sz="2000" b="0" i="1" dirty="0" smtClean="0">
                                            <a:solidFill>
                                              <a:schemeClr val="tx1"/>
                                            </a:solidFill>
                                            <a:latin typeface="Cambria Math" panose="02040503050406030204" pitchFamily="18" charset="0"/>
                                            <a:ea typeface="微軟正黑體" panose="020B0604030504040204" pitchFamily="34" charset="-120"/>
                                          </a:rPr>
                                          <m:t>𝐶𝐶</m:t>
                                        </m:r>
                                      </m:sub>
                                    </m:sSub>
                                  </m:den>
                                </m:f>
                              </m:oMath>
                            </m:oMathPara>
                          </a14:m>
                          <a:endParaRPr lang="zh-TW" altLang="en-US" sz="2000" dirty="0">
                            <a:latin typeface="微軟正黑體" panose="020B0604030504040204" pitchFamily="34" charset="-120"/>
                            <a:ea typeface="微軟正黑體" panose="020B0604030504040204" pitchFamily="34" charset="-120"/>
                          </a:endParaRPr>
                        </a:p>
                      </a:txBody>
                      <a:tcPr/>
                    </a:tc>
                    <a:tc>
                      <a:txBody>
                        <a:bodyPr/>
                        <a:lstStyle/>
                        <a:p>
                          <a:r>
                            <a:rPr lang="en-US" altLang="zh-TW" sz="2000" dirty="0" smtClean="0">
                              <a:latin typeface="微軟正黑體" panose="020B0604030504040204" pitchFamily="34" charset="-120"/>
                              <a:ea typeface="微軟正黑體" panose="020B0604030504040204" pitchFamily="34" charset="-120"/>
                            </a:rPr>
                            <a:t>CC</a:t>
                          </a:r>
                          <a:r>
                            <a:rPr lang="zh-TW" altLang="en-US" sz="2000" dirty="0" smtClean="0">
                              <a:latin typeface="微軟正黑體" panose="020B0604030504040204" pitchFamily="34" charset="-120"/>
                              <a:ea typeface="微軟正黑體" panose="020B0604030504040204" pitchFamily="34" charset="-120"/>
                            </a:rPr>
                            <a:t>轉換後股價</a:t>
                          </a:r>
                          <a:endParaRPr lang="zh-TW" altLang="en-US" sz="2000" dirty="0">
                            <a:latin typeface="微軟正黑體" panose="020B0604030504040204" pitchFamily="34" charset="-120"/>
                            <a:ea typeface="微軟正黑體" panose="020B0604030504040204" pitchFamily="34" charset="-120"/>
                          </a:endParaRPr>
                        </a:p>
                      </a:txBody>
                      <a:tcPr/>
                    </a:tc>
                  </a:tr>
                  <a:tr h="0">
                    <a:tc>
                      <a:txBody>
                        <a:bodyPr/>
                        <a:lstStyle/>
                        <a:p>
                          <a:pPr/>
                          <a14:m>
                            <m:oMathPara xmlns:m="http://schemas.openxmlformats.org/officeDocument/2006/math">
                              <m:oMathParaPr>
                                <m:jc m:val="centerGroup"/>
                              </m:oMathParaPr>
                              <m:oMath xmlns:m="http://schemas.openxmlformats.org/officeDocument/2006/math">
                                <m:r>
                                  <a:rPr lang="en-US" altLang="zh-TW" sz="2400" b="0" i="1" dirty="0" smtClean="0">
                                    <a:latin typeface="Cambria Math" panose="02040503050406030204" pitchFamily="18" charset="0"/>
                                  </a:rPr>
                                  <m:t>𝑉</m:t>
                                </m:r>
                                <m:r>
                                  <a:rPr lang="en-US" altLang="zh-TW" sz="2400" b="0" i="1" dirty="0" smtClean="0">
                                    <a:latin typeface="Cambria Math" panose="02040503050406030204" pitchFamily="18" charset="0"/>
                                  </a:rPr>
                                  <m:t>"</m:t>
                                </m:r>
                              </m:oMath>
                            </m:oMathPara>
                          </a14:m>
                          <a:endParaRPr lang="zh-TW" altLang="en-US" sz="2400" dirty="0">
                            <a:latin typeface="微軟正黑體" panose="020B0604030504040204" pitchFamily="34" charset="-120"/>
                            <a:ea typeface="微軟正黑體" panose="020B0604030504040204" pitchFamily="34" charset="-120"/>
                          </a:endParaRPr>
                        </a:p>
                      </a:txBody>
                      <a:tcPr/>
                    </a:tc>
                    <a:tc>
                      <a:txBody>
                        <a:bodyPr/>
                        <a:lstStyle/>
                        <a:p>
                          <a:r>
                            <a:rPr lang="zh-TW" altLang="en-US" sz="2400" dirty="0" smtClean="0">
                              <a:latin typeface="微軟正黑體" panose="020B0604030504040204" pitchFamily="34" charset="-120"/>
                              <a:ea typeface="微軟正黑體" panose="020B0604030504040204" pitchFamily="34" charset="-120"/>
                            </a:rPr>
                            <a:t>最佳轉換邊界</a:t>
                          </a:r>
                          <a:endParaRPr lang="zh-TW" altLang="en-US" sz="2400" dirty="0">
                            <a:latin typeface="微軟正黑體" panose="020B0604030504040204" pitchFamily="34" charset="-120"/>
                            <a:ea typeface="微軟正黑體" panose="020B0604030504040204" pitchFamily="34" charset="-120"/>
                          </a:endParaRPr>
                        </a:p>
                      </a:txBody>
                      <a:tcPr/>
                    </a:tc>
                  </a:tr>
                </a:tbl>
              </a:graphicData>
            </a:graphic>
          </p:graphicFrame>
        </mc:Choice>
        <mc:Fallback xmlns="">
          <p:graphicFrame>
            <p:nvGraphicFramePr>
              <p:cNvPr id="8" name="表格 7"/>
              <p:cNvGraphicFramePr>
                <a:graphicFrameLocks noGrp="1"/>
              </p:cNvGraphicFramePr>
              <p:nvPr>
                <p:extLst>
                  <p:ext uri="{D42A27DB-BD31-4B8C-83A1-F6EECF244321}">
                    <p14:modId xmlns:p14="http://schemas.microsoft.com/office/powerpoint/2010/main" val="3309136912"/>
                  </p:ext>
                </p:extLst>
              </p:nvPr>
            </p:nvGraphicFramePr>
            <p:xfrm>
              <a:off x="1392450" y="1478168"/>
              <a:ext cx="10585365" cy="3247962"/>
            </p:xfrm>
            <a:graphic>
              <a:graphicData uri="http://schemas.openxmlformats.org/drawingml/2006/table">
                <a:tbl>
                  <a:tblPr firstRow="1" bandRow="1">
                    <a:tableStyleId>{5C22544A-7EE6-4342-B048-85BDC9FD1C3A}</a:tableStyleId>
                  </a:tblPr>
                  <a:tblGrid>
                    <a:gridCol w="6919528"/>
                    <a:gridCol w="3665837"/>
                  </a:tblGrid>
                  <a:tr h="457200">
                    <a:tc>
                      <a:txBody>
                        <a:bodyPr/>
                        <a:lstStyle/>
                        <a:p>
                          <a:endParaRPr lang="zh-TW"/>
                        </a:p>
                      </a:txBody>
                      <a:tcPr>
                        <a:blipFill rotWithShape="0">
                          <a:blip r:embed="rId3"/>
                          <a:stretch>
                            <a:fillRect l="-88" t="-9333" r="-53480" b="-642667"/>
                          </a:stretch>
                        </a:blipFill>
                      </a:tcPr>
                    </a:tc>
                    <a:tc>
                      <a:txBody>
                        <a:bodyPr/>
                        <a:lstStyle/>
                        <a:p>
                          <a:r>
                            <a:rPr lang="en-US" altLang="zh-TW" sz="2400" dirty="0" smtClean="0">
                              <a:latin typeface="微軟正黑體" panose="020B0604030504040204" pitchFamily="34" charset="-120"/>
                              <a:ea typeface="微軟正黑體" panose="020B0604030504040204" pitchFamily="34" charset="-120"/>
                            </a:rPr>
                            <a:t>CC</a:t>
                          </a:r>
                          <a:r>
                            <a:rPr lang="zh-TW" altLang="en-US" sz="2400" dirty="0" smtClean="0">
                              <a:latin typeface="微軟正黑體" panose="020B0604030504040204" pitchFamily="34" charset="-120"/>
                              <a:ea typeface="微軟正黑體" panose="020B0604030504040204" pitchFamily="34" charset="-120"/>
                            </a:rPr>
                            <a:t>轉換比例</a:t>
                          </a:r>
                          <a:endParaRPr lang="en-US" altLang="zh-TW" sz="2400" dirty="0" smtClean="0">
                            <a:latin typeface="微軟正黑體" panose="020B0604030504040204" pitchFamily="34" charset="-120"/>
                            <a:ea typeface="微軟正黑體" panose="020B0604030504040204" pitchFamily="34" charset="-120"/>
                          </a:endParaRPr>
                        </a:p>
                      </a:txBody>
                      <a:tcPr/>
                    </a:tc>
                  </a:tr>
                  <a:tr h="457200">
                    <a:tc>
                      <a:txBody>
                        <a:bodyPr/>
                        <a:lstStyle/>
                        <a:p>
                          <a:endParaRPr lang="zh-TW"/>
                        </a:p>
                      </a:txBody>
                      <a:tcPr>
                        <a:blipFill rotWithShape="0">
                          <a:blip r:embed="rId3"/>
                          <a:stretch>
                            <a:fillRect l="-88" t="-109333" r="-53480" b="-542667"/>
                          </a:stretch>
                        </a:blipFill>
                      </a:tcPr>
                    </a:tc>
                    <a:tc>
                      <a:txBody>
                        <a:bodyPr/>
                        <a:lstStyle/>
                        <a:p>
                          <a:r>
                            <a:rPr lang="zh-TW" altLang="en-US" sz="2400" dirty="0" smtClean="0">
                              <a:latin typeface="微軟正黑體" panose="020B0604030504040204" pitchFamily="34" charset="-120"/>
                              <a:ea typeface="微軟正黑體" panose="020B0604030504040204" pitchFamily="34" charset="-120"/>
                            </a:rPr>
                            <a:t>期初流通在外股數</a:t>
                          </a:r>
                          <a:endParaRPr lang="zh-TW" altLang="en-US" sz="2400" dirty="0">
                            <a:latin typeface="微軟正黑體" panose="020B0604030504040204" pitchFamily="34" charset="-120"/>
                            <a:ea typeface="微軟正黑體" panose="020B0604030504040204" pitchFamily="34" charset="-120"/>
                          </a:endParaRPr>
                        </a:p>
                      </a:txBody>
                      <a:tcPr/>
                    </a:tc>
                  </a:tr>
                  <a:tr h="457200">
                    <a:tc>
                      <a:txBody>
                        <a:bodyPr/>
                        <a:lstStyle/>
                        <a:p>
                          <a:endParaRPr lang="zh-TW"/>
                        </a:p>
                      </a:txBody>
                      <a:tcPr>
                        <a:blipFill rotWithShape="0">
                          <a:blip r:embed="rId3"/>
                          <a:stretch>
                            <a:fillRect l="-88" t="-206579" r="-53480" b="-435526"/>
                          </a:stretch>
                        </a:blipFill>
                      </a:tcPr>
                    </a:tc>
                    <a:tc>
                      <a:txBody>
                        <a:bodyPr/>
                        <a:lstStyle/>
                        <a:p>
                          <a:r>
                            <a:rPr lang="zh-TW" altLang="en-US" sz="2400" dirty="0" smtClean="0">
                              <a:latin typeface="微軟正黑體" panose="020B0604030504040204" pitchFamily="34" charset="-120"/>
                              <a:ea typeface="微軟正黑體" panose="020B0604030504040204" pitchFamily="34" charset="-120"/>
                            </a:rPr>
                            <a:t>到期日公司資產價值</a:t>
                          </a:r>
                          <a:endParaRPr lang="zh-TW" altLang="en-US" sz="2400" dirty="0">
                            <a:latin typeface="微軟正黑體" panose="020B0604030504040204" pitchFamily="34" charset="-120"/>
                            <a:ea typeface="微軟正黑體" panose="020B0604030504040204" pitchFamily="34" charset="-120"/>
                          </a:endParaRPr>
                        </a:p>
                      </a:txBody>
                      <a:tcPr/>
                    </a:tc>
                  </a:tr>
                  <a:tr h="683705">
                    <a:tc>
                      <a:txBody>
                        <a:bodyPr/>
                        <a:lstStyle/>
                        <a:p>
                          <a:endParaRPr lang="zh-TW"/>
                        </a:p>
                      </a:txBody>
                      <a:tcPr>
                        <a:blipFill rotWithShape="0">
                          <a:blip r:embed="rId3"/>
                          <a:stretch>
                            <a:fillRect l="-88" t="-208036" r="-53480" b="-195536"/>
                          </a:stretch>
                        </a:blipFill>
                      </a:tcPr>
                    </a:tc>
                    <a:tc>
                      <a:txBody>
                        <a:bodyPr/>
                        <a:lstStyle/>
                        <a:p>
                          <a:r>
                            <a:rPr lang="en-US" altLang="zh-TW" sz="2400" i="0" u="none" dirty="0" smtClean="0">
                              <a:latin typeface="微軟正黑體" panose="020B0604030504040204" pitchFamily="34" charset="-120"/>
                              <a:ea typeface="微軟正黑體" panose="020B0604030504040204" pitchFamily="34" charset="-120"/>
                            </a:rPr>
                            <a:t>CC</a:t>
                          </a:r>
                          <a:r>
                            <a:rPr lang="zh-TW" altLang="en-US" sz="2400" dirty="0" smtClean="0">
                              <a:latin typeface="微軟正黑體" panose="020B0604030504040204" pitchFamily="34" charset="-120"/>
                              <a:ea typeface="微軟正黑體" panose="020B0604030504040204" pitchFamily="34" charset="-120"/>
                            </a:rPr>
                            <a:t>未轉換時股價</a:t>
                          </a:r>
                          <a:endParaRPr lang="zh-TW" altLang="en-US" sz="2400" dirty="0">
                            <a:latin typeface="微軟正黑體" panose="020B0604030504040204" pitchFamily="34" charset="-120"/>
                            <a:ea typeface="微軟正黑體" panose="020B0604030504040204" pitchFamily="34" charset="-120"/>
                          </a:endParaRPr>
                        </a:p>
                      </a:txBody>
                      <a:tcPr/>
                    </a:tc>
                  </a:tr>
                  <a:tr h="735457">
                    <a:tc>
                      <a:txBody>
                        <a:bodyPr/>
                        <a:lstStyle/>
                        <a:p>
                          <a:endParaRPr lang="zh-TW"/>
                        </a:p>
                      </a:txBody>
                      <a:tcPr>
                        <a:blipFill rotWithShape="0">
                          <a:blip r:embed="rId3"/>
                          <a:stretch>
                            <a:fillRect l="-88" t="-285124" r="-53480" b="-80992"/>
                          </a:stretch>
                        </a:blipFill>
                      </a:tcPr>
                    </a:tc>
                    <a:tc>
                      <a:txBody>
                        <a:bodyPr/>
                        <a:lstStyle/>
                        <a:p>
                          <a:r>
                            <a:rPr lang="en-US" altLang="zh-TW" sz="2000" dirty="0" smtClean="0">
                              <a:latin typeface="微軟正黑體" panose="020B0604030504040204" pitchFamily="34" charset="-120"/>
                              <a:ea typeface="微軟正黑體" panose="020B0604030504040204" pitchFamily="34" charset="-120"/>
                            </a:rPr>
                            <a:t>CC</a:t>
                          </a:r>
                          <a:r>
                            <a:rPr lang="zh-TW" altLang="en-US" sz="2000" dirty="0" smtClean="0">
                              <a:latin typeface="微軟正黑體" panose="020B0604030504040204" pitchFamily="34" charset="-120"/>
                              <a:ea typeface="微軟正黑體" panose="020B0604030504040204" pitchFamily="34" charset="-120"/>
                            </a:rPr>
                            <a:t>轉換後股價</a:t>
                          </a:r>
                          <a:endParaRPr lang="zh-TW" altLang="en-US" sz="2000" dirty="0">
                            <a:latin typeface="微軟正黑體" panose="020B0604030504040204" pitchFamily="34" charset="-120"/>
                            <a:ea typeface="微軟正黑體" panose="020B0604030504040204" pitchFamily="34" charset="-120"/>
                          </a:endParaRPr>
                        </a:p>
                      </a:txBody>
                      <a:tcPr/>
                    </a:tc>
                  </a:tr>
                  <a:tr h="457200">
                    <a:tc>
                      <a:txBody>
                        <a:bodyPr/>
                        <a:lstStyle/>
                        <a:p>
                          <a:endParaRPr lang="zh-TW"/>
                        </a:p>
                      </a:txBody>
                      <a:tcPr>
                        <a:blipFill rotWithShape="0">
                          <a:blip r:embed="rId3"/>
                          <a:stretch>
                            <a:fillRect l="-88" t="-621333" r="-53480" b="-30667"/>
                          </a:stretch>
                        </a:blipFill>
                      </a:tcPr>
                    </a:tc>
                    <a:tc>
                      <a:txBody>
                        <a:bodyPr/>
                        <a:lstStyle/>
                        <a:p>
                          <a:r>
                            <a:rPr lang="zh-TW" altLang="en-US" sz="2400" dirty="0" smtClean="0">
                              <a:latin typeface="微軟正黑體" panose="020B0604030504040204" pitchFamily="34" charset="-120"/>
                              <a:ea typeface="微軟正黑體" panose="020B0604030504040204" pitchFamily="34" charset="-120"/>
                            </a:rPr>
                            <a:t>最佳轉換邊界</a:t>
                          </a:r>
                          <a:endParaRPr lang="zh-TW" altLang="en-US" sz="2400" dirty="0">
                            <a:latin typeface="微軟正黑體" panose="020B0604030504040204" pitchFamily="34" charset="-120"/>
                            <a:ea typeface="微軟正黑體" panose="020B0604030504040204" pitchFamily="34" charset="-120"/>
                          </a:endParaRPr>
                        </a:p>
                      </a:txBody>
                      <a:tcPr/>
                    </a:tc>
                  </a:tr>
                </a:tbl>
              </a:graphicData>
            </a:graphic>
          </p:graphicFrame>
        </mc:Fallback>
      </mc:AlternateContent>
      <p:sp>
        <p:nvSpPr>
          <p:cNvPr id="10" name="文字方塊 9"/>
          <p:cNvSpPr txBox="1"/>
          <p:nvPr/>
        </p:nvSpPr>
        <p:spPr>
          <a:xfrm>
            <a:off x="6269865" y="5173363"/>
            <a:ext cx="3877985" cy="584775"/>
          </a:xfrm>
          <a:prstGeom prst="rect">
            <a:avLst/>
          </a:prstGeom>
          <a:noFill/>
        </p:spPr>
        <p:txBody>
          <a:bodyPr wrap="none" rtlCol="0">
            <a:spAutoFit/>
          </a:bodyPr>
          <a:lstStyle/>
          <a:p>
            <a:r>
              <a:rPr lang="zh-TW" altLang="en-US" sz="3200" dirty="0" smtClean="0">
                <a:latin typeface="微軟正黑體" panose="020B0604030504040204" pitchFamily="34" charset="-120"/>
                <a:ea typeface="微軟正黑體" panose="020B0604030504040204" pitchFamily="34" charset="-120"/>
              </a:rPr>
              <a:t>加入債息與稅盾效果</a:t>
            </a:r>
            <a:endParaRPr lang="zh-TW" altLang="en-US" sz="32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69530947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矩形 3"/>
              <p:cNvSpPr/>
              <p:nvPr/>
            </p:nvSpPr>
            <p:spPr>
              <a:xfrm>
                <a:off x="786659" y="1328481"/>
                <a:ext cx="7484870" cy="28575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TW" b="0" i="1" dirty="0" smtClean="0">
                              <a:latin typeface="Cambria Math" panose="02040503050406030204" pitchFamily="18" charset="0"/>
                              <a:ea typeface="微軟正黑體" panose="020B0604030504040204" pitchFamily="34" charset="-120"/>
                            </a:rPr>
                          </m:ctrlPr>
                        </m:sSubSupPr>
                        <m:e>
                          <m:r>
                            <a:rPr lang="en-US" altLang="zh-TW" b="0" i="1" dirty="0" smtClean="0">
                              <a:latin typeface="Cambria Math" panose="02040503050406030204" pitchFamily="18" charset="0"/>
                              <a:ea typeface="微軟正黑體" panose="020B0604030504040204" pitchFamily="34" charset="-120"/>
                            </a:rPr>
                            <m:t>𝑆</m:t>
                          </m:r>
                        </m:e>
                        <m:sub>
                          <m:r>
                            <a:rPr lang="en-US" altLang="zh-TW" b="0" i="1" dirty="0" smtClean="0">
                              <a:latin typeface="Cambria Math" panose="02040503050406030204" pitchFamily="18" charset="0"/>
                              <a:ea typeface="微軟正黑體" panose="020B0604030504040204" pitchFamily="34" charset="-120"/>
                            </a:rPr>
                            <m:t>𝑇</m:t>
                          </m:r>
                        </m:sub>
                        <m:sup>
                          <m:r>
                            <a:rPr lang="en-US" altLang="zh-TW" b="0" i="1" dirty="0" smtClean="0">
                              <a:latin typeface="Cambria Math" panose="02040503050406030204" pitchFamily="18" charset="0"/>
                              <a:ea typeface="微軟正黑體" panose="020B0604030504040204" pitchFamily="34" charset="-120"/>
                            </a:rPr>
                            <m:t>𝑈</m:t>
                          </m:r>
                        </m:sup>
                      </m:sSubSup>
                      <m:r>
                        <a:rPr lang="en-US" altLang="zh-TW" b="0" i="0" dirty="0" smtClean="0">
                          <a:latin typeface="Cambria Math" panose="02040503050406030204" pitchFamily="18" charset="0"/>
                          <a:ea typeface="微軟正黑體" panose="020B0604030504040204" pitchFamily="34" charset="-120"/>
                        </a:rPr>
                        <m:t>=</m:t>
                      </m:r>
                      <m:f>
                        <m:fPr>
                          <m:ctrlPr>
                            <a:rPr lang="en-US" altLang="zh-TW" i="1" dirty="0" smtClean="0">
                              <a:latin typeface="Cambria Math" panose="02040503050406030204" pitchFamily="18" charset="0"/>
                              <a:ea typeface="微軟正黑體" panose="020B0604030504040204" pitchFamily="34" charset="-120"/>
                            </a:rPr>
                          </m:ctrlPr>
                        </m:fPr>
                        <m:num>
                          <m:r>
                            <a:rPr lang="en-US" altLang="zh-TW" i="1" dirty="0">
                              <a:latin typeface="Cambria Math" panose="02040503050406030204" pitchFamily="18" charset="0"/>
                              <a:ea typeface="Cambria Math" panose="02040503050406030204" pitchFamily="18" charset="0"/>
                            </a:rPr>
                            <m:t>𝑉</m:t>
                          </m:r>
                          <m:r>
                            <a:rPr lang="en-US" altLang="zh-TW" b="0" i="1" dirty="0" smtClean="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𝑇</m:t>
                          </m:r>
                          <m:r>
                            <a:rPr lang="en-US" altLang="zh-TW" b="0" i="1" dirty="0" smtClean="0">
                              <a:latin typeface="Cambria Math" panose="02040503050406030204" pitchFamily="18" charset="0"/>
                              <a:ea typeface="Cambria Math" panose="02040503050406030204" pitchFamily="18" charset="0"/>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𝐷</m:t>
                              </m:r>
                            </m:e>
                            <m:sub>
                              <m:r>
                                <a:rPr lang="en-US" altLang="zh-TW" i="1">
                                  <a:solidFill>
                                    <a:schemeClr val="tx1"/>
                                  </a:solidFill>
                                  <a:latin typeface="Cambria Math"/>
                                </a:rPr>
                                <m:t>1</m:t>
                              </m:r>
                            </m:sub>
                          </m:sSub>
                          <m:r>
                            <a:rPr lang="en-US" altLang="zh-TW" i="1">
                              <a:solidFill>
                                <a:schemeClr val="tx1"/>
                              </a:solidFill>
                              <a:latin typeface="Cambria Math"/>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𝐷</m:t>
                              </m:r>
                            </m:e>
                            <m:sub>
                              <m:r>
                                <a:rPr lang="en-US" altLang="zh-TW" i="1">
                                  <a:solidFill>
                                    <a:schemeClr val="tx1"/>
                                  </a:solidFill>
                                  <a:latin typeface="Cambria Math"/>
                                </a:rPr>
                                <m:t>2</m:t>
                              </m:r>
                            </m:sub>
                          </m:sSub>
                          <m:r>
                            <a:rPr lang="en-US" altLang="zh-TW" i="1">
                              <a:solidFill>
                                <a:schemeClr val="tx1"/>
                              </a:solidFill>
                              <a:latin typeface="Cambria Math"/>
                            </a:rPr>
                            <m:t>+(1−</m:t>
                          </m:r>
                          <m:r>
                            <a:rPr lang="en-US" altLang="zh-TW" i="1">
                              <a:solidFill>
                                <a:schemeClr val="tx1"/>
                              </a:solidFill>
                              <a:latin typeface="Cambria Math"/>
                            </a:rPr>
                            <m:t>𝑡𝑎𝑥</m:t>
                          </m:r>
                          <m:r>
                            <a:rPr lang="en-US" altLang="zh-TW" i="1">
                              <a:solidFill>
                                <a:schemeClr val="tx1"/>
                              </a:solidFill>
                              <a:latin typeface="Cambria Math"/>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𝐶</m:t>
                              </m:r>
                            </m:e>
                            <m:sub>
                              <m:r>
                                <a:rPr lang="en-US" altLang="zh-TW" i="1">
                                  <a:solidFill>
                                    <a:schemeClr val="tx1"/>
                                  </a:solidFill>
                                  <a:latin typeface="Cambria Math"/>
                                </a:rPr>
                                <m:t>1</m:t>
                              </m:r>
                            </m:sub>
                          </m:sSub>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𝐷</m:t>
                              </m:r>
                            </m:e>
                            <m:sub>
                              <m:r>
                                <a:rPr lang="en-US" altLang="zh-TW" i="1">
                                  <a:solidFill>
                                    <a:schemeClr val="tx1"/>
                                  </a:solidFill>
                                  <a:latin typeface="Cambria Math"/>
                                </a:rPr>
                                <m:t>1</m:t>
                              </m:r>
                            </m:sub>
                          </m:sSub>
                          <m:r>
                            <a:rPr lang="en-US" altLang="zh-TW" i="1">
                              <a:solidFill>
                                <a:schemeClr val="tx1"/>
                              </a:solidFill>
                              <a:latin typeface="Cambria Math"/>
                            </a:rPr>
                            <m:t>𝑇</m:t>
                          </m:r>
                          <m:r>
                            <a:rPr lang="en-US" altLang="zh-TW" i="1">
                              <a:solidFill>
                                <a:schemeClr val="tx1"/>
                              </a:solidFill>
                              <a:latin typeface="Cambria Math"/>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𝐶</m:t>
                              </m:r>
                            </m:e>
                            <m:sub>
                              <m:r>
                                <a:rPr lang="en-US" altLang="zh-TW" i="1">
                                  <a:solidFill>
                                    <a:schemeClr val="tx1"/>
                                  </a:solidFill>
                                  <a:latin typeface="Cambria Math"/>
                                </a:rPr>
                                <m:t>2</m:t>
                              </m:r>
                            </m:sub>
                          </m:sSub>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𝐷</m:t>
                              </m:r>
                            </m:e>
                            <m:sub>
                              <m:r>
                                <a:rPr lang="en-US" altLang="zh-TW" i="1">
                                  <a:solidFill>
                                    <a:schemeClr val="tx1"/>
                                  </a:solidFill>
                                  <a:latin typeface="Cambria Math"/>
                                </a:rPr>
                                <m:t>2</m:t>
                              </m:r>
                            </m:sub>
                          </m:sSub>
                          <m:r>
                            <a:rPr lang="en-US" altLang="zh-TW" i="1">
                              <a:solidFill>
                                <a:schemeClr val="tx1"/>
                              </a:solidFill>
                              <a:latin typeface="Cambria Math"/>
                            </a:rPr>
                            <m:t>𝑇</m:t>
                          </m:r>
                          <m:r>
                            <a:rPr lang="en-US" altLang="zh-TW" i="1">
                              <a:solidFill>
                                <a:schemeClr val="tx1"/>
                              </a:solidFill>
                              <a:latin typeface="Cambria Math"/>
                            </a:rPr>
                            <m:t>)]</m:t>
                          </m:r>
                        </m:num>
                        <m:den>
                          <m:r>
                            <a:rPr lang="en-US" altLang="zh-TW" b="0" i="1" dirty="0" smtClean="0">
                              <a:solidFill>
                                <a:schemeClr val="tx1"/>
                              </a:solidFill>
                              <a:latin typeface="Cambria Math" panose="02040503050406030204" pitchFamily="18" charset="0"/>
                              <a:ea typeface="微軟正黑體" panose="020B0604030504040204" pitchFamily="34" charset="-120"/>
                            </a:rPr>
                            <m:t>𝑂</m:t>
                          </m:r>
                        </m:den>
                      </m:f>
                      <m:r>
                        <a:rPr lang="en-US" altLang="zh-TW" b="0" i="1" dirty="0" smtClean="0">
                          <a:solidFill>
                            <a:schemeClr val="tx1"/>
                          </a:solidFill>
                          <a:latin typeface="Cambria Math" panose="02040503050406030204" pitchFamily="18" charset="0"/>
                          <a:ea typeface="微軟正黑體" panose="020B0604030504040204" pitchFamily="34" charset="-120"/>
                        </a:rPr>
                        <m:t>&gt;</m:t>
                      </m:r>
                      <m:r>
                        <a:rPr lang="en-US" altLang="zh-TW" b="0" i="1" dirty="0" smtClean="0">
                          <a:solidFill>
                            <a:schemeClr val="tx1"/>
                          </a:solidFill>
                          <a:latin typeface="Cambria Math" panose="02040503050406030204" pitchFamily="18" charset="0"/>
                          <a:ea typeface="微軟正黑體" panose="020B0604030504040204" pitchFamily="34" charset="-120"/>
                        </a:rPr>
                        <m:t>𝑆</m:t>
                      </m:r>
                      <m:r>
                        <a:rPr lang="en-US" altLang="zh-TW" i="1" dirty="0">
                          <a:latin typeface="Cambria Math" panose="02040503050406030204" pitchFamily="18" charset="0"/>
                          <a:ea typeface="微軟正黑體" panose="020B0604030504040204" pitchFamily="34" charset="-120"/>
                        </a:rPr>
                        <m:t>"</m:t>
                      </m:r>
                      <m:r>
                        <a:rPr lang="en-US" altLang="zh-TW" b="0" i="1" dirty="0" smtClean="0">
                          <a:solidFill>
                            <a:schemeClr val="tx1"/>
                          </a:solidFill>
                          <a:latin typeface="Cambria Math" panose="02040503050406030204" pitchFamily="18" charset="0"/>
                          <a:ea typeface="微軟正黑體" panose="020B0604030504040204" pitchFamily="34" charset="-120"/>
                        </a:rPr>
                        <m:t> ,</m:t>
                      </m:r>
                      <m:r>
                        <a:rPr lang="en-US" altLang="zh-TW" b="0" i="1" dirty="0" smtClean="0">
                          <a:solidFill>
                            <a:schemeClr val="tx1"/>
                          </a:solidFill>
                          <a:latin typeface="Cambria Math" panose="02040503050406030204" pitchFamily="18" charset="0"/>
                          <a:ea typeface="微軟正黑體" panose="020B0604030504040204" pitchFamily="34" charset="-120"/>
                        </a:rPr>
                        <m:t>𝐼</m:t>
                      </m:r>
                      <m:d>
                        <m:dPr>
                          <m:ctrlPr>
                            <a:rPr lang="en-US" altLang="zh-TW" b="0" i="1" dirty="0" smtClean="0">
                              <a:solidFill>
                                <a:schemeClr val="tx1"/>
                              </a:solidFill>
                              <a:latin typeface="Cambria Math" panose="02040503050406030204" pitchFamily="18" charset="0"/>
                              <a:ea typeface="微軟正黑體" panose="020B0604030504040204" pitchFamily="34" charset="-120"/>
                            </a:rPr>
                          </m:ctrlPr>
                        </m:dPr>
                        <m:e>
                          <m:r>
                            <a:rPr lang="en-US" altLang="zh-TW" b="0" i="1" dirty="0" smtClean="0">
                              <a:solidFill>
                                <a:schemeClr val="tx1"/>
                              </a:solidFill>
                              <a:latin typeface="Cambria Math" panose="02040503050406030204" pitchFamily="18" charset="0"/>
                              <a:ea typeface="微軟正黑體" panose="020B0604030504040204" pitchFamily="34" charset="-120"/>
                            </a:rPr>
                            <m:t>𝑇</m:t>
                          </m:r>
                        </m:e>
                      </m:d>
                      <m:r>
                        <a:rPr lang="en-US" altLang="zh-TW" i="1" dirty="0">
                          <a:latin typeface="Cambria Math" panose="02040503050406030204" pitchFamily="18" charset="0"/>
                          <a:ea typeface="微軟正黑體" panose="020B0604030504040204" pitchFamily="34" charset="-120"/>
                        </a:rPr>
                        <m:t>≤</m:t>
                      </m:r>
                      <m:r>
                        <a:rPr lang="en-US" altLang="zh-TW" b="0" i="1" dirty="0" smtClean="0">
                          <a:solidFill>
                            <a:schemeClr val="tx1"/>
                          </a:solidFill>
                          <a:latin typeface="Cambria Math" panose="02040503050406030204" pitchFamily="18" charset="0"/>
                          <a:ea typeface="微軟正黑體" panose="020B0604030504040204" pitchFamily="34" charset="-120"/>
                        </a:rPr>
                        <m:t>𝐼</m:t>
                      </m:r>
                      <m:r>
                        <a:rPr lang="en-US" altLang="zh-TW" b="0" i="1" dirty="0" smtClean="0">
                          <a:solidFill>
                            <a:schemeClr val="tx1"/>
                          </a:solidFill>
                          <a:latin typeface="Cambria Math" panose="02040503050406030204" pitchFamily="18" charset="0"/>
                          <a:ea typeface="微軟正黑體" panose="020B0604030504040204" pitchFamily="34" charset="-120"/>
                        </a:rPr>
                        <m:t>(0)</m:t>
                      </m:r>
                    </m:oMath>
                  </m:oMathPara>
                </a14:m>
                <a:endParaRPr lang="en-US" altLang="zh-TW" dirty="0" smtClean="0"/>
              </a:p>
              <a:p>
                <a:endParaRPr lang="en-US" altLang="zh-TW" dirty="0"/>
              </a:p>
              <a:p>
                <a:pPr/>
                <a14:m>
                  <m:oMathPara xmlns:m="http://schemas.openxmlformats.org/officeDocument/2006/math">
                    <m:oMathParaPr>
                      <m:jc m:val="left"/>
                    </m:oMathParaPr>
                    <m:oMath xmlns:m="http://schemas.openxmlformats.org/officeDocument/2006/math">
                      <m:r>
                        <a:rPr lang="zh-TW" altLang="en-US" i="1" smtClean="0">
                          <a:latin typeface="Cambria Math" panose="02040503050406030204" pitchFamily="18" charset="0"/>
                        </a:rPr>
                        <m:t>⟹</m:t>
                      </m:r>
                      <m:r>
                        <a:rPr lang="en-US" altLang="zh-TW" b="0" i="1" smtClean="0">
                          <a:latin typeface="Cambria Math" panose="02040503050406030204" pitchFamily="18" charset="0"/>
                        </a:rPr>
                        <m:t> </m:t>
                      </m:r>
                      <m:r>
                        <a:rPr lang="en-US" altLang="zh-TW" i="1" dirty="0" smtClean="0">
                          <a:latin typeface="Cambria Math" panose="02040503050406030204" pitchFamily="18" charset="0"/>
                          <a:ea typeface="Cambria Math" panose="02040503050406030204" pitchFamily="18" charset="0"/>
                        </a:rPr>
                        <m:t>𝑉</m:t>
                      </m:r>
                      <m:d>
                        <m:dPr>
                          <m:ctrlPr>
                            <a:rPr lang="en-US" altLang="zh-TW" b="0" i="1" dirty="0" smtClean="0">
                              <a:latin typeface="Cambria Math" panose="02040503050406030204" pitchFamily="18" charset="0"/>
                              <a:ea typeface="Cambria Math" panose="02040503050406030204" pitchFamily="18" charset="0"/>
                            </a:rPr>
                          </m:ctrlPr>
                        </m:dPr>
                        <m:e>
                          <m:r>
                            <a:rPr lang="en-US" altLang="zh-TW" b="0" i="1" dirty="0" smtClean="0">
                              <a:latin typeface="Cambria Math" panose="02040503050406030204" pitchFamily="18" charset="0"/>
                              <a:ea typeface="Cambria Math" panose="02040503050406030204" pitchFamily="18" charset="0"/>
                            </a:rPr>
                            <m:t>𝑇</m:t>
                          </m:r>
                        </m:e>
                      </m:d>
                      <m:r>
                        <a:rPr lang="en-US" altLang="zh-TW" b="0" i="1" dirty="0" smtClean="0">
                          <a:latin typeface="Cambria Math" panose="02040503050406030204" pitchFamily="18" charset="0"/>
                          <a:ea typeface="Cambria Math" panose="02040503050406030204" pitchFamily="18" charset="0"/>
                        </a:rPr>
                        <m:t>&gt;</m:t>
                      </m:r>
                      <m:r>
                        <a:rPr lang="en-US" altLang="zh-TW" b="0" i="1" dirty="0" smtClean="0">
                          <a:latin typeface="Cambria Math" panose="02040503050406030204" pitchFamily="18" charset="0"/>
                          <a:ea typeface="Cambria Math" panose="02040503050406030204" pitchFamily="18" charset="0"/>
                        </a:rPr>
                        <m:t>𝑂𝑆</m:t>
                      </m:r>
                      <m:r>
                        <a:rPr lang="en-US" altLang="zh-TW" i="1" dirty="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微軟正黑體" panose="020B0604030504040204" pitchFamily="34" charset="-120"/>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𝐷</m:t>
                          </m:r>
                        </m:e>
                        <m:sub>
                          <m:r>
                            <a:rPr lang="en-US" altLang="zh-TW" i="1">
                              <a:solidFill>
                                <a:schemeClr val="tx1"/>
                              </a:solidFill>
                              <a:latin typeface="Cambria Math"/>
                            </a:rPr>
                            <m:t>1</m:t>
                          </m:r>
                        </m:sub>
                      </m:sSub>
                      <m:r>
                        <a:rPr lang="en-US" altLang="zh-TW" i="1">
                          <a:solidFill>
                            <a:schemeClr val="tx1"/>
                          </a:solidFill>
                          <a:latin typeface="Cambria Math"/>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𝐷</m:t>
                          </m:r>
                        </m:e>
                        <m:sub>
                          <m:r>
                            <a:rPr lang="en-US" altLang="zh-TW" i="1">
                              <a:solidFill>
                                <a:schemeClr val="tx1"/>
                              </a:solidFill>
                              <a:latin typeface="Cambria Math"/>
                            </a:rPr>
                            <m:t>2</m:t>
                          </m:r>
                        </m:sub>
                      </m:sSub>
                      <m:r>
                        <a:rPr lang="en-US" altLang="zh-TW" i="1">
                          <a:solidFill>
                            <a:schemeClr val="tx1"/>
                          </a:solidFill>
                          <a:latin typeface="Cambria Math"/>
                        </a:rPr>
                        <m:t>+(1−</m:t>
                      </m:r>
                      <m:r>
                        <a:rPr lang="en-US" altLang="zh-TW" i="1">
                          <a:solidFill>
                            <a:schemeClr val="tx1"/>
                          </a:solidFill>
                          <a:latin typeface="Cambria Math"/>
                        </a:rPr>
                        <m:t>𝑡𝑎𝑥</m:t>
                      </m:r>
                      <m:r>
                        <a:rPr lang="en-US" altLang="zh-TW" i="1">
                          <a:solidFill>
                            <a:schemeClr val="tx1"/>
                          </a:solidFill>
                          <a:latin typeface="Cambria Math"/>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𝐶</m:t>
                          </m:r>
                        </m:e>
                        <m:sub>
                          <m:r>
                            <a:rPr lang="en-US" altLang="zh-TW" i="1">
                              <a:solidFill>
                                <a:schemeClr val="tx1"/>
                              </a:solidFill>
                              <a:latin typeface="Cambria Math"/>
                            </a:rPr>
                            <m:t>1</m:t>
                          </m:r>
                        </m:sub>
                      </m:sSub>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𝐷</m:t>
                          </m:r>
                        </m:e>
                        <m:sub>
                          <m:r>
                            <a:rPr lang="en-US" altLang="zh-TW" i="1">
                              <a:solidFill>
                                <a:schemeClr val="tx1"/>
                              </a:solidFill>
                              <a:latin typeface="Cambria Math"/>
                            </a:rPr>
                            <m:t>1</m:t>
                          </m:r>
                        </m:sub>
                      </m:sSub>
                      <m:r>
                        <a:rPr lang="en-US" altLang="zh-TW" i="1">
                          <a:solidFill>
                            <a:schemeClr val="tx1"/>
                          </a:solidFill>
                          <a:latin typeface="Cambria Math"/>
                        </a:rPr>
                        <m:t>𝑇</m:t>
                      </m:r>
                      <m:r>
                        <a:rPr lang="en-US" altLang="zh-TW" i="1">
                          <a:solidFill>
                            <a:schemeClr val="tx1"/>
                          </a:solidFill>
                          <a:latin typeface="Cambria Math"/>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𝐶</m:t>
                          </m:r>
                        </m:e>
                        <m:sub>
                          <m:r>
                            <a:rPr lang="en-US" altLang="zh-TW" i="1">
                              <a:solidFill>
                                <a:schemeClr val="tx1"/>
                              </a:solidFill>
                              <a:latin typeface="Cambria Math"/>
                            </a:rPr>
                            <m:t>2</m:t>
                          </m:r>
                        </m:sub>
                      </m:sSub>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𝐷</m:t>
                          </m:r>
                        </m:e>
                        <m:sub>
                          <m:r>
                            <a:rPr lang="en-US" altLang="zh-TW" i="1">
                              <a:solidFill>
                                <a:schemeClr val="tx1"/>
                              </a:solidFill>
                              <a:latin typeface="Cambria Math"/>
                            </a:rPr>
                            <m:t>2</m:t>
                          </m:r>
                        </m:sub>
                      </m:sSub>
                      <m:r>
                        <a:rPr lang="en-US" altLang="zh-TW" i="1">
                          <a:solidFill>
                            <a:schemeClr val="tx1"/>
                          </a:solidFill>
                          <a:latin typeface="Cambria Math"/>
                        </a:rPr>
                        <m:t>𝑇</m:t>
                      </m:r>
                      <m:r>
                        <a:rPr lang="en-US" altLang="zh-TW" i="1">
                          <a:solidFill>
                            <a:schemeClr val="tx1"/>
                          </a:solidFill>
                          <a:latin typeface="Cambria Math"/>
                        </a:rPr>
                        <m:t>)]</m:t>
                      </m:r>
                    </m:oMath>
                  </m:oMathPara>
                </a14:m>
                <a:endParaRPr lang="en-US" altLang="zh-TW" dirty="0" smtClean="0"/>
              </a:p>
              <a:p>
                <a:endParaRPr lang="en-US" altLang="zh-TW" dirty="0"/>
              </a:p>
              <a:p>
                <a:endParaRPr lang="en-US" altLang="zh-TW" dirty="0" smtClean="0"/>
              </a:p>
              <a:p>
                <a:pPr/>
                <a14:m>
                  <m:oMathPara xmlns:m="http://schemas.openxmlformats.org/officeDocument/2006/math">
                    <m:oMathParaPr>
                      <m:jc m:val="left"/>
                    </m:oMathParaPr>
                    <m:oMath xmlns:m="http://schemas.openxmlformats.org/officeDocument/2006/math">
                      <m:sSubSup>
                        <m:sSubSupPr>
                          <m:ctrlPr>
                            <a:rPr lang="en-US" altLang="zh-TW" b="0" i="1" dirty="0" smtClean="0">
                              <a:latin typeface="Cambria Math" panose="02040503050406030204" pitchFamily="18" charset="0"/>
                              <a:ea typeface="微軟正黑體" panose="020B0604030504040204" pitchFamily="34" charset="-120"/>
                            </a:rPr>
                          </m:ctrlPr>
                        </m:sSubSupPr>
                        <m:e>
                          <m:r>
                            <a:rPr lang="en-US" altLang="zh-TW" b="0" i="1" dirty="0" smtClean="0">
                              <a:latin typeface="Cambria Math" panose="02040503050406030204" pitchFamily="18" charset="0"/>
                              <a:ea typeface="微軟正黑體" panose="020B0604030504040204" pitchFamily="34" charset="-120"/>
                            </a:rPr>
                            <m:t>𝑆</m:t>
                          </m:r>
                        </m:e>
                        <m:sub>
                          <m:r>
                            <a:rPr lang="en-US" altLang="zh-TW" b="0" i="1" dirty="0" smtClean="0">
                              <a:latin typeface="Cambria Math" panose="02040503050406030204" pitchFamily="18" charset="0"/>
                              <a:ea typeface="微軟正黑體" panose="020B0604030504040204" pitchFamily="34" charset="-120"/>
                            </a:rPr>
                            <m:t>𝑇</m:t>
                          </m:r>
                        </m:sub>
                        <m:sup>
                          <m:r>
                            <a:rPr lang="en-US" altLang="zh-TW" b="0" i="1" dirty="0" smtClean="0">
                              <a:latin typeface="Cambria Math" panose="02040503050406030204" pitchFamily="18" charset="0"/>
                              <a:ea typeface="微軟正黑體" panose="020B0604030504040204" pitchFamily="34" charset="-120"/>
                            </a:rPr>
                            <m:t>𝐶</m:t>
                          </m:r>
                        </m:sup>
                      </m:sSubSup>
                      <m:r>
                        <a:rPr lang="en-US" altLang="zh-TW" b="0" i="1" dirty="0" smtClean="0">
                          <a:latin typeface="Cambria Math" panose="02040503050406030204" pitchFamily="18" charset="0"/>
                          <a:ea typeface="微軟正黑體" panose="020B0604030504040204" pitchFamily="34" charset="-120"/>
                        </a:rPr>
                        <m:t>=</m:t>
                      </m:r>
                      <m:f>
                        <m:fPr>
                          <m:ctrlPr>
                            <a:rPr lang="en-US" altLang="zh-TW" b="0" i="1" dirty="0" smtClean="0">
                              <a:latin typeface="Cambria Math" panose="02040503050406030204" pitchFamily="18" charset="0"/>
                              <a:ea typeface="微軟正黑體" panose="020B0604030504040204" pitchFamily="34" charset="-120"/>
                            </a:rPr>
                          </m:ctrlPr>
                        </m:fPr>
                        <m:num>
                          <m:r>
                            <a:rPr lang="en-US" altLang="zh-TW" i="1" dirty="0">
                              <a:latin typeface="Cambria Math" panose="02040503050406030204" pitchFamily="18" charset="0"/>
                              <a:ea typeface="Cambria Math" panose="02040503050406030204" pitchFamily="18" charset="0"/>
                            </a:rPr>
                            <m:t>𝑉</m:t>
                          </m:r>
                          <m:r>
                            <a:rPr lang="en-US" altLang="zh-TW" b="0" i="1" dirty="0" smtClean="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𝑇</m:t>
                          </m:r>
                          <m:r>
                            <a:rPr lang="en-US" altLang="zh-TW" b="0" i="1" dirty="0" smtClean="0">
                              <a:latin typeface="Cambria Math" panose="02040503050406030204" pitchFamily="18" charset="0"/>
                              <a:ea typeface="Cambria Math" panose="02040503050406030204" pitchFamily="18" charset="0"/>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𝐷</m:t>
                              </m:r>
                            </m:e>
                            <m:sub>
                              <m:r>
                                <a:rPr lang="en-US" altLang="zh-TW" i="1">
                                  <a:solidFill>
                                    <a:schemeClr val="tx1"/>
                                  </a:solidFill>
                                  <a:latin typeface="Cambria Math"/>
                                </a:rPr>
                                <m:t>1</m:t>
                              </m:r>
                            </m:sub>
                          </m:sSub>
                          <m:r>
                            <a:rPr lang="en-US" altLang="zh-TW" i="1">
                              <a:solidFill>
                                <a:schemeClr val="tx1"/>
                              </a:solidFill>
                              <a:latin typeface="Cambria Math"/>
                            </a:rPr>
                            <m:t>+(1−</m:t>
                          </m:r>
                          <m:r>
                            <a:rPr lang="en-US" altLang="zh-TW" i="1">
                              <a:solidFill>
                                <a:schemeClr val="tx1"/>
                              </a:solidFill>
                              <a:latin typeface="Cambria Math"/>
                            </a:rPr>
                            <m:t>𝑡𝑎𝑥</m:t>
                          </m:r>
                          <m:r>
                            <a:rPr lang="en-US" altLang="zh-TW" i="1">
                              <a:solidFill>
                                <a:schemeClr val="tx1"/>
                              </a:solidFill>
                              <a:latin typeface="Cambria Math"/>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𝐶</m:t>
                              </m:r>
                            </m:e>
                            <m:sub>
                              <m:r>
                                <a:rPr lang="en-US" altLang="zh-TW" i="1">
                                  <a:solidFill>
                                    <a:schemeClr val="tx1"/>
                                  </a:solidFill>
                                  <a:latin typeface="Cambria Math"/>
                                </a:rPr>
                                <m:t>1</m:t>
                              </m:r>
                            </m:sub>
                          </m:sSub>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𝐷</m:t>
                              </m:r>
                            </m:e>
                            <m:sub>
                              <m:r>
                                <a:rPr lang="en-US" altLang="zh-TW" i="1">
                                  <a:solidFill>
                                    <a:schemeClr val="tx1"/>
                                  </a:solidFill>
                                  <a:latin typeface="Cambria Math"/>
                                </a:rPr>
                                <m:t>1</m:t>
                              </m:r>
                            </m:sub>
                          </m:sSub>
                          <m:r>
                            <a:rPr lang="en-US" altLang="zh-TW" i="1">
                              <a:solidFill>
                                <a:schemeClr val="tx1"/>
                              </a:solidFill>
                              <a:latin typeface="Cambria Math"/>
                            </a:rPr>
                            <m:t>𝑇</m:t>
                          </m:r>
                          <m:r>
                            <a:rPr lang="en-US" altLang="zh-TW" i="1">
                              <a:solidFill>
                                <a:schemeClr val="tx1"/>
                              </a:solidFill>
                              <a:latin typeface="Cambria Math"/>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𝐶</m:t>
                              </m:r>
                            </m:e>
                            <m:sub>
                              <m:r>
                                <a:rPr lang="en-US" altLang="zh-TW" i="1">
                                  <a:solidFill>
                                    <a:schemeClr val="tx1"/>
                                  </a:solidFill>
                                  <a:latin typeface="Cambria Math"/>
                                </a:rPr>
                                <m:t>2</m:t>
                              </m:r>
                            </m:sub>
                          </m:sSub>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𝐷</m:t>
                              </m:r>
                            </m:e>
                            <m:sub>
                              <m:r>
                                <a:rPr lang="en-US" altLang="zh-TW" i="1">
                                  <a:solidFill>
                                    <a:schemeClr val="tx1"/>
                                  </a:solidFill>
                                  <a:latin typeface="Cambria Math"/>
                                </a:rPr>
                                <m:t>2</m:t>
                              </m:r>
                            </m:sub>
                          </m:sSub>
                          <m:r>
                            <a:rPr lang="en-US" altLang="zh-TW" i="1">
                              <a:solidFill>
                                <a:schemeClr val="tx1"/>
                              </a:solidFill>
                              <a:latin typeface="Cambria Math"/>
                            </a:rPr>
                            <m:t>𝑇</m:t>
                          </m:r>
                          <m:r>
                            <a:rPr lang="en-US" altLang="zh-TW" i="1">
                              <a:solidFill>
                                <a:schemeClr val="tx1"/>
                              </a:solidFill>
                              <a:latin typeface="Cambria Math"/>
                            </a:rPr>
                            <m:t>)]</m:t>
                          </m:r>
                        </m:num>
                        <m:den>
                          <m:r>
                            <a:rPr lang="en-US" altLang="zh-TW" b="0" i="1" dirty="0" smtClean="0">
                              <a:solidFill>
                                <a:schemeClr val="tx1"/>
                              </a:solidFill>
                              <a:latin typeface="Cambria Math" panose="02040503050406030204" pitchFamily="18" charset="0"/>
                              <a:ea typeface="微軟正黑體" panose="020B0604030504040204" pitchFamily="34" charset="-120"/>
                            </a:rPr>
                            <m:t>𝑂</m:t>
                          </m:r>
                          <m:r>
                            <a:rPr lang="en-US" altLang="zh-TW" b="0" i="1" dirty="0" smtClean="0">
                              <a:solidFill>
                                <a:schemeClr val="tx1"/>
                              </a:solidFill>
                              <a:latin typeface="Cambria Math" panose="02040503050406030204" pitchFamily="18" charset="0"/>
                              <a:ea typeface="微軟正黑體" panose="020B0604030504040204" pitchFamily="34" charset="-120"/>
                            </a:rPr>
                            <m:t>+</m:t>
                          </m:r>
                          <m:sSub>
                            <m:sSubPr>
                              <m:ctrlPr>
                                <a:rPr lang="en-US" altLang="zh-TW" b="0" i="1" dirty="0" smtClean="0">
                                  <a:solidFill>
                                    <a:schemeClr val="tx1"/>
                                  </a:solidFill>
                                  <a:latin typeface="Cambria Math" panose="02040503050406030204" pitchFamily="18" charset="0"/>
                                  <a:ea typeface="微軟正黑體" panose="020B0604030504040204" pitchFamily="34" charset="-120"/>
                                </a:rPr>
                              </m:ctrlPr>
                            </m:sSubPr>
                            <m:e>
                              <m:r>
                                <a:rPr lang="en-US" altLang="zh-TW" b="0" i="1" dirty="0" smtClean="0">
                                  <a:solidFill>
                                    <a:schemeClr val="tx1"/>
                                  </a:solidFill>
                                  <a:latin typeface="Cambria Math" panose="02040503050406030204" pitchFamily="18" charset="0"/>
                                  <a:ea typeface="微軟正黑體" panose="020B0604030504040204" pitchFamily="34" charset="-120"/>
                                </a:rPr>
                                <m:t>𝑂</m:t>
                              </m:r>
                            </m:e>
                            <m:sub>
                              <m:r>
                                <a:rPr lang="en-US" altLang="zh-TW" b="0" i="1" dirty="0" smtClean="0">
                                  <a:solidFill>
                                    <a:schemeClr val="tx1"/>
                                  </a:solidFill>
                                  <a:latin typeface="Cambria Math" panose="02040503050406030204" pitchFamily="18" charset="0"/>
                                  <a:ea typeface="微軟正黑體" panose="020B0604030504040204" pitchFamily="34" charset="-120"/>
                                </a:rPr>
                                <m:t>𝐶𝐶</m:t>
                              </m:r>
                            </m:sub>
                          </m:sSub>
                        </m:den>
                      </m:f>
                      <m:r>
                        <a:rPr lang="en-US" altLang="zh-TW" b="0" i="1" dirty="0" smtClean="0">
                          <a:solidFill>
                            <a:schemeClr val="tx1"/>
                          </a:solidFill>
                          <a:latin typeface="Cambria Math" panose="02040503050406030204" pitchFamily="18" charset="0"/>
                          <a:ea typeface="Cambria Math" panose="02040503050406030204" pitchFamily="18" charset="0"/>
                        </a:rPr>
                        <m:t>≤</m:t>
                      </m:r>
                      <m:r>
                        <a:rPr lang="en-US" altLang="zh-TW" b="0" i="1" dirty="0" smtClean="0">
                          <a:solidFill>
                            <a:schemeClr val="tx1"/>
                          </a:solidFill>
                          <a:latin typeface="Cambria Math" panose="02040503050406030204" pitchFamily="18" charset="0"/>
                          <a:ea typeface="微軟正黑體" panose="020B0604030504040204" pitchFamily="34" charset="-120"/>
                        </a:rPr>
                        <m:t>𝑆</m:t>
                      </m:r>
                      <m:r>
                        <a:rPr lang="en-US" altLang="zh-TW" i="1" dirty="0">
                          <a:latin typeface="Cambria Math" panose="02040503050406030204" pitchFamily="18" charset="0"/>
                          <a:ea typeface="微軟正黑體" panose="020B0604030504040204" pitchFamily="34" charset="-120"/>
                        </a:rPr>
                        <m:t>"</m:t>
                      </m:r>
                      <m:r>
                        <a:rPr lang="en-US" altLang="zh-TW" b="0" i="1" dirty="0" smtClean="0">
                          <a:solidFill>
                            <a:schemeClr val="tx1"/>
                          </a:solidFill>
                          <a:latin typeface="Cambria Math" panose="02040503050406030204" pitchFamily="18" charset="0"/>
                          <a:ea typeface="微軟正黑體" panose="020B0604030504040204" pitchFamily="34" charset="-120"/>
                        </a:rPr>
                        <m:t> ,</m:t>
                      </m:r>
                      <m:r>
                        <a:rPr lang="en-US" altLang="zh-TW" b="0" i="1" dirty="0" smtClean="0">
                          <a:solidFill>
                            <a:schemeClr val="tx1"/>
                          </a:solidFill>
                          <a:latin typeface="Cambria Math" panose="02040503050406030204" pitchFamily="18" charset="0"/>
                          <a:ea typeface="微軟正黑體" panose="020B0604030504040204" pitchFamily="34" charset="-120"/>
                        </a:rPr>
                        <m:t>𝐼</m:t>
                      </m:r>
                      <m:d>
                        <m:dPr>
                          <m:ctrlPr>
                            <a:rPr lang="en-US" altLang="zh-TW" b="0" i="1" dirty="0" smtClean="0">
                              <a:solidFill>
                                <a:schemeClr val="tx1"/>
                              </a:solidFill>
                              <a:latin typeface="Cambria Math" panose="02040503050406030204" pitchFamily="18" charset="0"/>
                              <a:ea typeface="微軟正黑體" panose="020B0604030504040204" pitchFamily="34" charset="-120"/>
                            </a:rPr>
                          </m:ctrlPr>
                        </m:dPr>
                        <m:e>
                          <m:r>
                            <a:rPr lang="en-US" altLang="zh-TW" b="0" i="1" dirty="0" smtClean="0">
                              <a:solidFill>
                                <a:schemeClr val="tx1"/>
                              </a:solidFill>
                              <a:latin typeface="Cambria Math" panose="02040503050406030204" pitchFamily="18" charset="0"/>
                              <a:ea typeface="微軟正黑體" panose="020B0604030504040204" pitchFamily="34" charset="-120"/>
                            </a:rPr>
                            <m:t>𝑇</m:t>
                          </m:r>
                        </m:e>
                      </m:d>
                      <m:r>
                        <a:rPr lang="en-US" altLang="zh-TW" i="1" dirty="0">
                          <a:latin typeface="Cambria Math" panose="02040503050406030204" pitchFamily="18" charset="0"/>
                          <a:ea typeface="微軟正黑體" panose="020B0604030504040204" pitchFamily="34" charset="-120"/>
                        </a:rPr>
                        <m:t>≤</m:t>
                      </m:r>
                      <m:r>
                        <a:rPr lang="en-US" altLang="zh-TW" b="0" i="1" dirty="0" smtClean="0">
                          <a:solidFill>
                            <a:schemeClr val="tx1"/>
                          </a:solidFill>
                          <a:latin typeface="Cambria Math" panose="02040503050406030204" pitchFamily="18" charset="0"/>
                          <a:ea typeface="微軟正黑體" panose="020B0604030504040204" pitchFamily="34" charset="-120"/>
                        </a:rPr>
                        <m:t>𝐼</m:t>
                      </m:r>
                      <m:r>
                        <a:rPr lang="en-US" altLang="zh-TW" b="0" i="1" dirty="0" smtClean="0">
                          <a:solidFill>
                            <a:schemeClr val="tx1"/>
                          </a:solidFill>
                          <a:latin typeface="Cambria Math" panose="02040503050406030204" pitchFamily="18" charset="0"/>
                          <a:ea typeface="微軟正黑體" panose="020B0604030504040204" pitchFamily="34" charset="-120"/>
                        </a:rPr>
                        <m:t>(0)</m:t>
                      </m:r>
                    </m:oMath>
                  </m:oMathPara>
                </a14:m>
                <a:endParaRPr lang="en-US" altLang="zh-TW" dirty="0" smtClean="0"/>
              </a:p>
              <a:p>
                <a:endParaRPr lang="en-US" altLang="zh-TW" dirty="0" smtClean="0"/>
              </a:p>
              <a:p>
                <a:pPr/>
                <a14:m>
                  <m:oMathPara xmlns:m="http://schemas.openxmlformats.org/officeDocument/2006/math">
                    <m:oMathParaPr>
                      <m:jc m:val="left"/>
                    </m:oMathParaPr>
                    <m:oMath xmlns:m="http://schemas.openxmlformats.org/officeDocument/2006/math">
                      <m:r>
                        <a:rPr lang="zh-TW" altLang="en-US" i="1" smtClean="0">
                          <a:latin typeface="Cambria Math" panose="02040503050406030204" pitchFamily="18" charset="0"/>
                        </a:rPr>
                        <m:t>⟹</m:t>
                      </m:r>
                      <m:r>
                        <a:rPr lang="en-US" altLang="zh-TW" b="0" i="1" smtClean="0">
                          <a:latin typeface="Cambria Math" panose="02040503050406030204" pitchFamily="18" charset="0"/>
                        </a:rPr>
                        <m:t> </m:t>
                      </m:r>
                      <m:r>
                        <a:rPr lang="en-US" altLang="zh-TW" i="1" dirty="0" smtClean="0">
                          <a:latin typeface="Cambria Math" panose="02040503050406030204" pitchFamily="18" charset="0"/>
                          <a:ea typeface="Cambria Math" panose="02040503050406030204" pitchFamily="18" charset="0"/>
                        </a:rPr>
                        <m:t>𝑉</m:t>
                      </m:r>
                      <m:d>
                        <m:dPr>
                          <m:ctrlPr>
                            <a:rPr lang="en-US" altLang="zh-TW" b="0" i="1" dirty="0" smtClean="0">
                              <a:latin typeface="Cambria Math" panose="02040503050406030204" pitchFamily="18" charset="0"/>
                              <a:ea typeface="Cambria Math" panose="02040503050406030204" pitchFamily="18" charset="0"/>
                            </a:rPr>
                          </m:ctrlPr>
                        </m:dPr>
                        <m:e>
                          <m:r>
                            <a:rPr lang="en-US" altLang="zh-TW" b="0" i="1" dirty="0" smtClean="0">
                              <a:latin typeface="Cambria Math" panose="02040503050406030204" pitchFamily="18" charset="0"/>
                              <a:ea typeface="Cambria Math" panose="02040503050406030204" pitchFamily="18" charset="0"/>
                            </a:rPr>
                            <m:t>𝑇</m:t>
                          </m:r>
                        </m:e>
                      </m:d>
                      <m:r>
                        <a:rPr lang="en-US" altLang="zh-TW" b="0" i="1" dirty="0" smtClean="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𝑂𝑆</m:t>
                      </m:r>
                      <m:r>
                        <a:rPr lang="en-US" altLang="zh-TW" i="1" dirty="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微軟正黑體" panose="020B0604030504040204" pitchFamily="34" charset="-120"/>
                        </a:rPr>
                        <m:t>+</m:t>
                      </m:r>
                      <m:sSub>
                        <m:sSubPr>
                          <m:ctrlPr>
                            <a:rPr lang="en-US" altLang="zh-TW" b="0" i="1" dirty="0" smtClean="0">
                              <a:solidFill>
                                <a:schemeClr val="tx1"/>
                              </a:solidFill>
                              <a:latin typeface="Cambria Math" panose="02040503050406030204" pitchFamily="18" charset="0"/>
                              <a:ea typeface="微軟正黑體" panose="020B0604030504040204" pitchFamily="34" charset="-120"/>
                            </a:rPr>
                          </m:ctrlPr>
                        </m:sSubPr>
                        <m:e>
                          <m:r>
                            <a:rPr lang="en-US" altLang="zh-TW" b="0" i="1" dirty="0" smtClean="0">
                              <a:solidFill>
                                <a:schemeClr val="tx1"/>
                              </a:solidFill>
                              <a:latin typeface="Cambria Math" panose="02040503050406030204" pitchFamily="18" charset="0"/>
                              <a:ea typeface="微軟正黑體" panose="020B0604030504040204" pitchFamily="34" charset="-120"/>
                            </a:rPr>
                            <m:t>𝑂</m:t>
                          </m:r>
                        </m:e>
                        <m:sub>
                          <m:r>
                            <a:rPr lang="en-US" altLang="zh-TW" b="0" i="1" dirty="0" smtClean="0">
                              <a:solidFill>
                                <a:schemeClr val="tx1"/>
                              </a:solidFill>
                              <a:latin typeface="Cambria Math" panose="02040503050406030204" pitchFamily="18" charset="0"/>
                              <a:ea typeface="微軟正黑體" panose="020B0604030504040204" pitchFamily="34" charset="-120"/>
                            </a:rPr>
                            <m:t>𝐶𝐶</m:t>
                          </m:r>
                        </m:sub>
                      </m:sSub>
                      <m:r>
                        <a:rPr lang="en-US" altLang="zh-TW" b="0" i="1" dirty="0" smtClean="0">
                          <a:solidFill>
                            <a:schemeClr val="tx1"/>
                          </a:solidFill>
                          <a:latin typeface="Cambria Math" panose="02040503050406030204" pitchFamily="18" charset="0"/>
                          <a:ea typeface="微軟正黑體" panose="020B0604030504040204" pitchFamily="34" charset="-120"/>
                        </a:rPr>
                        <m:t>𝑆</m:t>
                      </m:r>
                      <m:r>
                        <a:rPr lang="en-US" altLang="zh-TW" i="1" dirty="0">
                          <a:latin typeface="Cambria Math" panose="02040503050406030204" pitchFamily="18" charset="0"/>
                          <a:ea typeface="微軟正黑體" panose="020B0604030504040204" pitchFamily="34" charset="-120"/>
                        </a:rPr>
                        <m:t>"</m:t>
                      </m:r>
                      <m:r>
                        <a:rPr lang="en-US" altLang="zh-TW" b="0" i="1" dirty="0" smtClean="0">
                          <a:solidFill>
                            <a:schemeClr val="tx1"/>
                          </a:solidFill>
                          <a:latin typeface="Cambria Math" panose="02040503050406030204" pitchFamily="18" charset="0"/>
                          <a:ea typeface="微軟正黑體" panose="020B0604030504040204" pitchFamily="34" charset="-120"/>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𝐷</m:t>
                          </m:r>
                        </m:e>
                        <m:sub>
                          <m:r>
                            <a:rPr lang="en-US" altLang="zh-TW" i="1">
                              <a:solidFill>
                                <a:schemeClr val="tx1"/>
                              </a:solidFill>
                              <a:latin typeface="Cambria Math"/>
                            </a:rPr>
                            <m:t>1</m:t>
                          </m:r>
                        </m:sub>
                      </m:sSub>
                      <m:r>
                        <a:rPr lang="en-US" altLang="zh-TW" i="1">
                          <a:solidFill>
                            <a:schemeClr val="tx1"/>
                          </a:solidFill>
                          <a:latin typeface="Cambria Math"/>
                        </a:rPr>
                        <m:t>+(1−</m:t>
                      </m:r>
                      <m:r>
                        <a:rPr lang="en-US" altLang="zh-TW" i="1">
                          <a:solidFill>
                            <a:schemeClr val="tx1"/>
                          </a:solidFill>
                          <a:latin typeface="Cambria Math"/>
                        </a:rPr>
                        <m:t>𝑡𝑎𝑥</m:t>
                      </m:r>
                      <m:r>
                        <a:rPr lang="en-US" altLang="zh-TW" i="1">
                          <a:solidFill>
                            <a:schemeClr val="tx1"/>
                          </a:solidFill>
                          <a:latin typeface="Cambria Math"/>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𝐶</m:t>
                          </m:r>
                        </m:e>
                        <m:sub>
                          <m:r>
                            <a:rPr lang="en-US" altLang="zh-TW" i="1">
                              <a:solidFill>
                                <a:schemeClr val="tx1"/>
                              </a:solidFill>
                              <a:latin typeface="Cambria Math"/>
                            </a:rPr>
                            <m:t>1</m:t>
                          </m:r>
                        </m:sub>
                      </m:sSub>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𝐷</m:t>
                          </m:r>
                        </m:e>
                        <m:sub>
                          <m:r>
                            <a:rPr lang="en-US" altLang="zh-TW" i="1">
                              <a:solidFill>
                                <a:schemeClr val="tx1"/>
                              </a:solidFill>
                              <a:latin typeface="Cambria Math"/>
                            </a:rPr>
                            <m:t>1</m:t>
                          </m:r>
                        </m:sub>
                      </m:sSub>
                      <m:r>
                        <a:rPr lang="en-US" altLang="zh-TW" i="1">
                          <a:solidFill>
                            <a:schemeClr val="tx1"/>
                          </a:solidFill>
                          <a:latin typeface="Cambria Math"/>
                        </a:rPr>
                        <m:t>𝑇</m:t>
                      </m:r>
                      <m:r>
                        <a:rPr lang="en-US" altLang="zh-TW" i="1">
                          <a:solidFill>
                            <a:schemeClr val="tx1"/>
                          </a:solidFill>
                          <a:latin typeface="Cambria Math"/>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𝐶</m:t>
                          </m:r>
                        </m:e>
                        <m:sub>
                          <m:r>
                            <a:rPr lang="en-US" altLang="zh-TW" i="1">
                              <a:solidFill>
                                <a:schemeClr val="tx1"/>
                              </a:solidFill>
                              <a:latin typeface="Cambria Math"/>
                            </a:rPr>
                            <m:t>2</m:t>
                          </m:r>
                        </m:sub>
                      </m:sSub>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𝐷</m:t>
                          </m:r>
                        </m:e>
                        <m:sub>
                          <m:r>
                            <a:rPr lang="en-US" altLang="zh-TW" i="1">
                              <a:solidFill>
                                <a:schemeClr val="tx1"/>
                              </a:solidFill>
                              <a:latin typeface="Cambria Math"/>
                            </a:rPr>
                            <m:t>2</m:t>
                          </m:r>
                        </m:sub>
                      </m:sSub>
                      <m:r>
                        <a:rPr lang="en-US" altLang="zh-TW" i="1">
                          <a:solidFill>
                            <a:schemeClr val="tx1"/>
                          </a:solidFill>
                          <a:latin typeface="Cambria Math"/>
                        </a:rPr>
                        <m:t>𝑇</m:t>
                      </m:r>
                      <m:r>
                        <a:rPr lang="en-US" altLang="zh-TW" i="1">
                          <a:solidFill>
                            <a:schemeClr val="tx1"/>
                          </a:solidFill>
                          <a:latin typeface="Cambria Math"/>
                        </a:rPr>
                        <m:t>)]</m:t>
                      </m:r>
                    </m:oMath>
                  </m:oMathPara>
                </a14:m>
                <a:endParaRPr lang="en-US" altLang="zh-TW" dirty="0" smtClean="0"/>
              </a:p>
            </p:txBody>
          </p:sp>
        </mc:Choice>
        <mc:Fallback xmlns="">
          <p:sp>
            <p:nvSpPr>
              <p:cNvPr id="4" name="矩形 3"/>
              <p:cNvSpPr>
                <a:spLocks noRot="1" noChangeAspect="1" noMove="1" noResize="1" noEditPoints="1" noAdjustHandles="1" noChangeArrowheads="1" noChangeShapeType="1" noTextEdit="1"/>
              </p:cNvSpPr>
              <p:nvPr/>
            </p:nvSpPr>
            <p:spPr>
              <a:xfrm>
                <a:off x="786659" y="1328481"/>
                <a:ext cx="7484870" cy="2857577"/>
              </a:xfrm>
              <a:prstGeom prst="rect">
                <a:avLst/>
              </a:prstGeom>
              <a:blipFill rotWithShape="0">
                <a:blip r:embed="rId2"/>
                <a:stretch>
                  <a:fillRect b="-106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p:cNvSpPr txBox="1"/>
              <p:nvPr/>
            </p:nvSpPr>
            <p:spPr>
              <a:xfrm>
                <a:off x="786659" y="4267200"/>
                <a:ext cx="6510052" cy="15577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i="1" smtClean="0">
                              <a:latin typeface="Cambria Math" panose="02040503050406030204" pitchFamily="18" charset="0"/>
                            </a:rPr>
                          </m:ctrlPr>
                        </m:dPr>
                        <m:e>
                          <m:eqArr>
                            <m:eqArrPr>
                              <m:ctrlPr>
                                <a:rPr lang="en-US" altLang="zh-TW" i="1" smtClean="0">
                                  <a:latin typeface="Cambria Math" panose="02040503050406030204" pitchFamily="18" charset="0"/>
                                </a:rPr>
                              </m:ctrlPr>
                            </m:eqArrPr>
                            <m:e>
                              <m:r>
                                <a:rPr lang="en-US" altLang="zh-TW" i="1" dirty="0" smtClean="0">
                                  <a:latin typeface="Cambria Math" panose="02040503050406030204" pitchFamily="18" charset="0"/>
                                  <a:ea typeface="Cambria Math" panose="02040503050406030204" pitchFamily="18" charset="0"/>
                                </a:rPr>
                                <m:t>𝑉</m:t>
                              </m:r>
                              <m:d>
                                <m:dPr>
                                  <m:ctrlPr>
                                    <a:rPr lang="en-US" altLang="zh-TW" b="0" i="1" dirty="0" smtClean="0">
                                      <a:latin typeface="Cambria Math" panose="02040503050406030204" pitchFamily="18" charset="0"/>
                                      <a:ea typeface="Cambria Math" panose="02040503050406030204" pitchFamily="18" charset="0"/>
                                    </a:rPr>
                                  </m:ctrlPr>
                                </m:dPr>
                                <m:e>
                                  <m:r>
                                    <a:rPr lang="en-US" altLang="zh-TW" b="0" i="1" dirty="0" smtClean="0">
                                      <a:latin typeface="Cambria Math" panose="02040503050406030204" pitchFamily="18" charset="0"/>
                                      <a:ea typeface="Cambria Math" panose="02040503050406030204" pitchFamily="18" charset="0"/>
                                    </a:rPr>
                                    <m:t>𝑇</m:t>
                                  </m:r>
                                </m:e>
                              </m:d>
                              <m:r>
                                <a:rPr lang="en-US" altLang="zh-TW" b="0" i="1" dirty="0" smtClean="0">
                                  <a:latin typeface="Cambria Math" panose="02040503050406030204" pitchFamily="18" charset="0"/>
                                  <a:ea typeface="Cambria Math" panose="02040503050406030204" pitchFamily="18" charset="0"/>
                                </a:rPr>
                                <m:t>&gt;</m:t>
                              </m:r>
                              <m:r>
                                <a:rPr lang="en-US" altLang="zh-TW" b="0" i="1" dirty="0" smtClean="0">
                                  <a:latin typeface="Cambria Math" panose="02040503050406030204" pitchFamily="18" charset="0"/>
                                  <a:ea typeface="Cambria Math" panose="02040503050406030204" pitchFamily="18" charset="0"/>
                                </a:rPr>
                                <m:t>𝑂𝑆</m:t>
                              </m:r>
                              <m:r>
                                <a:rPr lang="en-US" altLang="zh-TW" i="1" dirty="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微軟正黑體" panose="020B0604030504040204" pitchFamily="34" charset="-120"/>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𝐷</m:t>
                                  </m:r>
                                </m:e>
                                <m:sub>
                                  <m:r>
                                    <a:rPr lang="en-US" altLang="zh-TW" i="1">
                                      <a:solidFill>
                                        <a:schemeClr val="tx1"/>
                                      </a:solidFill>
                                      <a:latin typeface="Cambria Math"/>
                                    </a:rPr>
                                    <m:t>1</m:t>
                                  </m:r>
                                </m:sub>
                              </m:sSub>
                              <m:r>
                                <a:rPr lang="en-US" altLang="zh-TW" i="1">
                                  <a:solidFill>
                                    <a:schemeClr val="tx1"/>
                                  </a:solidFill>
                                  <a:latin typeface="Cambria Math"/>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𝐷</m:t>
                                  </m:r>
                                </m:e>
                                <m:sub>
                                  <m:r>
                                    <a:rPr lang="en-US" altLang="zh-TW" i="1">
                                      <a:solidFill>
                                        <a:schemeClr val="tx1"/>
                                      </a:solidFill>
                                      <a:latin typeface="Cambria Math"/>
                                    </a:rPr>
                                    <m:t>2</m:t>
                                  </m:r>
                                </m:sub>
                              </m:sSub>
                              <m:r>
                                <a:rPr lang="en-US" altLang="zh-TW" i="1">
                                  <a:solidFill>
                                    <a:schemeClr val="tx1"/>
                                  </a:solidFill>
                                  <a:latin typeface="Cambria Math"/>
                                </a:rPr>
                                <m:t>+(1−</m:t>
                              </m:r>
                              <m:r>
                                <a:rPr lang="en-US" altLang="zh-TW" i="1">
                                  <a:solidFill>
                                    <a:schemeClr val="tx1"/>
                                  </a:solidFill>
                                  <a:latin typeface="Cambria Math"/>
                                </a:rPr>
                                <m:t>𝑡𝑎𝑥</m:t>
                              </m:r>
                              <m:r>
                                <a:rPr lang="en-US" altLang="zh-TW" i="1">
                                  <a:solidFill>
                                    <a:schemeClr val="tx1"/>
                                  </a:solidFill>
                                  <a:latin typeface="Cambria Math"/>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𝐶</m:t>
                                  </m:r>
                                </m:e>
                                <m:sub>
                                  <m:r>
                                    <a:rPr lang="en-US" altLang="zh-TW" i="1">
                                      <a:solidFill>
                                        <a:schemeClr val="tx1"/>
                                      </a:solidFill>
                                      <a:latin typeface="Cambria Math"/>
                                    </a:rPr>
                                    <m:t>1</m:t>
                                  </m:r>
                                </m:sub>
                              </m:sSub>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𝐷</m:t>
                                  </m:r>
                                </m:e>
                                <m:sub>
                                  <m:r>
                                    <a:rPr lang="en-US" altLang="zh-TW" i="1">
                                      <a:solidFill>
                                        <a:schemeClr val="tx1"/>
                                      </a:solidFill>
                                      <a:latin typeface="Cambria Math"/>
                                    </a:rPr>
                                    <m:t>1</m:t>
                                  </m:r>
                                </m:sub>
                              </m:sSub>
                              <m:r>
                                <a:rPr lang="en-US" altLang="zh-TW" i="1">
                                  <a:solidFill>
                                    <a:schemeClr val="tx1"/>
                                  </a:solidFill>
                                  <a:latin typeface="Cambria Math"/>
                                </a:rPr>
                                <m:t>𝑇</m:t>
                              </m:r>
                              <m:r>
                                <a:rPr lang="en-US" altLang="zh-TW" i="1">
                                  <a:solidFill>
                                    <a:schemeClr val="tx1"/>
                                  </a:solidFill>
                                  <a:latin typeface="Cambria Math"/>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𝐶</m:t>
                                  </m:r>
                                </m:e>
                                <m:sub>
                                  <m:r>
                                    <a:rPr lang="en-US" altLang="zh-TW" i="1">
                                      <a:solidFill>
                                        <a:schemeClr val="tx1"/>
                                      </a:solidFill>
                                      <a:latin typeface="Cambria Math"/>
                                    </a:rPr>
                                    <m:t>2</m:t>
                                  </m:r>
                                </m:sub>
                              </m:sSub>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𝐷</m:t>
                                  </m:r>
                                </m:e>
                                <m:sub>
                                  <m:r>
                                    <a:rPr lang="en-US" altLang="zh-TW" i="1">
                                      <a:solidFill>
                                        <a:schemeClr val="tx1"/>
                                      </a:solidFill>
                                      <a:latin typeface="Cambria Math"/>
                                    </a:rPr>
                                    <m:t>2</m:t>
                                  </m:r>
                                </m:sub>
                              </m:sSub>
                              <m:r>
                                <a:rPr lang="en-US" altLang="zh-TW" i="1">
                                  <a:solidFill>
                                    <a:schemeClr val="tx1"/>
                                  </a:solidFill>
                                  <a:latin typeface="Cambria Math"/>
                                </a:rPr>
                                <m:t>𝑇</m:t>
                              </m:r>
                              <m:r>
                                <a:rPr lang="en-US" altLang="zh-TW" i="1">
                                  <a:solidFill>
                                    <a:schemeClr val="tx1"/>
                                  </a:solidFill>
                                  <a:latin typeface="Cambria Math"/>
                                </a:rPr>
                                <m:t>)]=</m:t>
                              </m:r>
                              <m:sSubSup>
                                <m:sSubSupPr>
                                  <m:ctrlPr>
                                    <a:rPr lang="en-US" altLang="zh-TW" b="0" i="1" dirty="0" smtClean="0">
                                      <a:latin typeface="Cambria Math" panose="02040503050406030204" pitchFamily="18" charset="0"/>
                                    </a:rPr>
                                  </m:ctrlPr>
                                </m:sSubSupPr>
                                <m:e>
                                  <m:r>
                                    <a:rPr lang="en-US" altLang="zh-TW" b="0" i="1" dirty="0" smtClean="0">
                                      <a:latin typeface="Cambria Math" panose="02040503050406030204" pitchFamily="18" charset="0"/>
                                    </a:rPr>
                                    <m:t>𝑉</m:t>
                                  </m:r>
                                </m:e>
                                <m:sub>
                                  <m:r>
                                    <a:rPr lang="en-US" altLang="zh-TW" b="0" i="1" dirty="0" smtClean="0">
                                      <a:latin typeface="Cambria Math" panose="02040503050406030204" pitchFamily="18" charset="0"/>
                                    </a:rPr>
                                    <m:t>𝑇</m:t>
                                  </m:r>
                                </m:sub>
                                <m:sup>
                                  <m:r>
                                    <a:rPr lang="en-US" altLang="zh-TW" b="0" i="1" dirty="0" smtClean="0">
                                      <a:latin typeface="Cambria Math" panose="02040503050406030204" pitchFamily="18" charset="0"/>
                                    </a:rPr>
                                    <m:t>𝑈</m:t>
                                  </m:r>
                                </m:sup>
                              </m:sSubSup>
                            </m:e>
                            <m:e>
                              <m:r>
                                <a:rPr lang="en-US" altLang="zh-TW" i="1" dirty="0" smtClean="0">
                                  <a:latin typeface="Cambria Math" panose="02040503050406030204" pitchFamily="18" charset="0"/>
                                  <a:ea typeface="Cambria Math" panose="02040503050406030204" pitchFamily="18" charset="0"/>
                                </a:rPr>
                                <m:t>𝑉</m:t>
                              </m:r>
                              <m:d>
                                <m:dPr>
                                  <m:ctrlPr>
                                    <a:rPr lang="en-US" altLang="zh-TW" b="0" i="1" dirty="0" smtClean="0">
                                      <a:latin typeface="Cambria Math" panose="02040503050406030204" pitchFamily="18" charset="0"/>
                                      <a:ea typeface="Cambria Math" panose="02040503050406030204" pitchFamily="18" charset="0"/>
                                    </a:rPr>
                                  </m:ctrlPr>
                                </m:dPr>
                                <m:e>
                                  <m:r>
                                    <a:rPr lang="en-US" altLang="zh-TW" b="0" i="1" dirty="0" smtClean="0">
                                      <a:latin typeface="Cambria Math" panose="02040503050406030204" pitchFamily="18" charset="0"/>
                                      <a:ea typeface="Cambria Math" panose="02040503050406030204" pitchFamily="18" charset="0"/>
                                    </a:rPr>
                                    <m:t>𝑇</m:t>
                                  </m:r>
                                </m:e>
                              </m:d>
                              <m:r>
                                <a:rPr lang="en-US" altLang="zh-TW" b="0" i="1" dirty="0" smtClean="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𝑂𝑆</m:t>
                              </m:r>
                              <m:r>
                                <a:rPr lang="en-US" altLang="zh-TW" i="1" dirty="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微軟正黑體" panose="020B0604030504040204" pitchFamily="34" charset="-120"/>
                                </a:rPr>
                                <m:t>+</m:t>
                              </m:r>
                              <m:sSub>
                                <m:sSubPr>
                                  <m:ctrlPr>
                                    <a:rPr lang="en-US" altLang="zh-TW" b="0" i="1" dirty="0" smtClean="0">
                                      <a:solidFill>
                                        <a:schemeClr val="tx1"/>
                                      </a:solidFill>
                                      <a:latin typeface="Cambria Math" panose="02040503050406030204" pitchFamily="18" charset="0"/>
                                      <a:ea typeface="微軟正黑體" panose="020B0604030504040204" pitchFamily="34" charset="-120"/>
                                    </a:rPr>
                                  </m:ctrlPr>
                                </m:sSubPr>
                                <m:e>
                                  <m:r>
                                    <a:rPr lang="en-US" altLang="zh-TW" b="0" i="1" dirty="0" smtClean="0">
                                      <a:solidFill>
                                        <a:schemeClr val="tx1"/>
                                      </a:solidFill>
                                      <a:latin typeface="Cambria Math" panose="02040503050406030204" pitchFamily="18" charset="0"/>
                                      <a:ea typeface="微軟正黑體" panose="020B0604030504040204" pitchFamily="34" charset="-120"/>
                                    </a:rPr>
                                    <m:t>𝑂</m:t>
                                  </m:r>
                                </m:e>
                                <m:sub>
                                  <m:r>
                                    <a:rPr lang="en-US" altLang="zh-TW" b="0" i="1" dirty="0" smtClean="0">
                                      <a:solidFill>
                                        <a:schemeClr val="tx1"/>
                                      </a:solidFill>
                                      <a:latin typeface="Cambria Math" panose="02040503050406030204" pitchFamily="18" charset="0"/>
                                      <a:ea typeface="微軟正黑體" panose="020B0604030504040204" pitchFamily="34" charset="-120"/>
                                    </a:rPr>
                                    <m:t>𝐶𝐶</m:t>
                                  </m:r>
                                </m:sub>
                              </m:sSub>
                              <m:r>
                                <a:rPr lang="en-US" altLang="zh-TW" b="0" i="1" dirty="0" smtClean="0">
                                  <a:solidFill>
                                    <a:schemeClr val="tx1"/>
                                  </a:solidFill>
                                  <a:latin typeface="Cambria Math" panose="02040503050406030204" pitchFamily="18" charset="0"/>
                                  <a:ea typeface="微軟正黑體" panose="020B0604030504040204" pitchFamily="34" charset="-120"/>
                                </a:rPr>
                                <m:t>𝑆</m:t>
                              </m:r>
                              <m:r>
                                <a:rPr lang="en-US" altLang="zh-TW" i="1" dirty="0">
                                  <a:latin typeface="Cambria Math" panose="02040503050406030204" pitchFamily="18" charset="0"/>
                                  <a:ea typeface="微軟正黑體" panose="020B0604030504040204" pitchFamily="34" charset="-120"/>
                                </a:rPr>
                                <m:t>"</m:t>
                              </m:r>
                              <m:r>
                                <a:rPr lang="en-US" altLang="zh-TW" b="0" i="1" dirty="0" smtClean="0">
                                  <a:solidFill>
                                    <a:schemeClr val="tx1"/>
                                  </a:solidFill>
                                  <a:latin typeface="Cambria Math" panose="02040503050406030204" pitchFamily="18" charset="0"/>
                                  <a:ea typeface="微軟正黑體" panose="020B0604030504040204" pitchFamily="34" charset="-120"/>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𝐷</m:t>
                                  </m:r>
                                </m:e>
                                <m:sub>
                                  <m:r>
                                    <a:rPr lang="en-US" altLang="zh-TW" i="1">
                                      <a:solidFill>
                                        <a:schemeClr val="tx1"/>
                                      </a:solidFill>
                                      <a:latin typeface="Cambria Math"/>
                                    </a:rPr>
                                    <m:t>1</m:t>
                                  </m:r>
                                </m:sub>
                              </m:sSub>
                              <m:r>
                                <a:rPr lang="en-US" altLang="zh-TW" i="1">
                                  <a:solidFill>
                                    <a:schemeClr val="tx1"/>
                                  </a:solidFill>
                                  <a:latin typeface="Cambria Math"/>
                                </a:rPr>
                                <m:t>+(1−</m:t>
                              </m:r>
                              <m:r>
                                <a:rPr lang="en-US" altLang="zh-TW" i="1">
                                  <a:solidFill>
                                    <a:schemeClr val="tx1"/>
                                  </a:solidFill>
                                  <a:latin typeface="Cambria Math"/>
                                </a:rPr>
                                <m:t>𝑡𝑎𝑥</m:t>
                              </m:r>
                              <m:r>
                                <a:rPr lang="en-US" altLang="zh-TW" i="1">
                                  <a:solidFill>
                                    <a:schemeClr val="tx1"/>
                                  </a:solidFill>
                                  <a:latin typeface="Cambria Math"/>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𝐶</m:t>
                                  </m:r>
                                </m:e>
                                <m:sub>
                                  <m:r>
                                    <a:rPr lang="en-US" altLang="zh-TW" i="1">
                                      <a:solidFill>
                                        <a:schemeClr val="tx1"/>
                                      </a:solidFill>
                                      <a:latin typeface="Cambria Math"/>
                                    </a:rPr>
                                    <m:t>1</m:t>
                                  </m:r>
                                </m:sub>
                              </m:sSub>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𝐷</m:t>
                                  </m:r>
                                </m:e>
                                <m:sub>
                                  <m:r>
                                    <a:rPr lang="en-US" altLang="zh-TW" i="1">
                                      <a:solidFill>
                                        <a:schemeClr val="tx1"/>
                                      </a:solidFill>
                                      <a:latin typeface="Cambria Math"/>
                                    </a:rPr>
                                    <m:t>1</m:t>
                                  </m:r>
                                </m:sub>
                              </m:sSub>
                              <m:r>
                                <a:rPr lang="en-US" altLang="zh-TW" i="1">
                                  <a:solidFill>
                                    <a:schemeClr val="tx1"/>
                                  </a:solidFill>
                                  <a:latin typeface="Cambria Math"/>
                                </a:rPr>
                                <m:t>𝑇</m:t>
                              </m:r>
                              <m:r>
                                <a:rPr lang="en-US" altLang="zh-TW" i="1">
                                  <a:solidFill>
                                    <a:schemeClr val="tx1"/>
                                  </a:solidFill>
                                  <a:latin typeface="Cambria Math"/>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𝐶</m:t>
                                  </m:r>
                                </m:e>
                                <m:sub>
                                  <m:r>
                                    <a:rPr lang="en-US" altLang="zh-TW" i="1">
                                      <a:solidFill>
                                        <a:schemeClr val="tx1"/>
                                      </a:solidFill>
                                      <a:latin typeface="Cambria Math"/>
                                    </a:rPr>
                                    <m:t>2</m:t>
                                  </m:r>
                                </m:sub>
                              </m:sSub>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𝐷</m:t>
                                  </m:r>
                                </m:e>
                                <m:sub>
                                  <m:r>
                                    <a:rPr lang="en-US" altLang="zh-TW" i="1">
                                      <a:solidFill>
                                        <a:schemeClr val="tx1"/>
                                      </a:solidFill>
                                      <a:latin typeface="Cambria Math"/>
                                    </a:rPr>
                                    <m:t>2</m:t>
                                  </m:r>
                                </m:sub>
                              </m:sSub>
                              <m:r>
                                <a:rPr lang="en-US" altLang="zh-TW" i="1">
                                  <a:solidFill>
                                    <a:schemeClr val="tx1"/>
                                  </a:solidFill>
                                  <a:latin typeface="Cambria Math"/>
                                </a:rPr>
                                <m:t>𝑇</m:t>
                              </m:r>
                              <m:r>
                                <a:rPr lang="en-US" altLang="zh-TW" i="1">
                                  <a:solidFill>
                                    <a:schemeClr val="tx1"/>
                                  </a:solidFill>
                                  <a:latin typeface="Cambria Math"/>
                                </a:rPr>
                                <m:t>)]</m:t>
                              </m:r>
                              <m:r>
                                <m:rPr>
                                  <m:nor/>
                                </m:rPr>
                                <a:rPr lang="en-US" altLang="zh-TW" dirty="0" smtClean="0"/>
                                <m:t> </m:t>
                              </m:r>
                              <m:r>
                                <a:rPr lang="en-US" altLang="zh-TW" b="0" i="1" dirty="0" smtClean="0">
                                  <a:latin typeface="Cambria Math" panose="02040503050406030204" pitchFamily="18" charset="0"/>
                                </a:rPr>
                                <m:t>=</m:t>
                              </m:r>
                              <m:sSubSup>
                                <m:sSubSupPr>
                                  <m:ctrlPr>
                                    <a:rPr lang="en-US" altLang="zh-TW" b="0" i="1" dirty="0" smtClean="0">
                                      <a:latin typeface="Cambria Math" panose="02040503050406030204" pitchFamily="18" charset="0"/>
                                    </a:rPr>
                                  </m:ctrlPr>
                                </m:sSubSupPr>
                                <m:e>
                                  <m:r>
                                    <a:rPr lang="en-US" altLang="zh-TW" b="0" i="1" dirty="0" smtClean="0">
                                      <a:latin typeface="Cambria Math" panose="02040503050406030204" pitchFamily="18" charset="0"/>
                                    </a:rPr>
                                    <m:t>𝑉</m:t>
                                  </m:r>
                                </m:e>
                                <m:sub>
                                  <m:r>
                                    <a:rPr lang="en-US" altLang="zh-TW" b="0" i="1" dirty="0" smtClean="0">
                                      <a:latin typeface="Cambria Math" panose="02040503050406030204" pitchFamily="18" charset="0"/>
                                    </a:rPr>
                                    <m:t>𝑇</m:t>
                                  </m:r>
                                </m:sub>
                                <m:sup>
                                  <m:r>
                                    <a:rPr lang="en-US" altLang="zh-TW" b="0" i="1" dirty="0" smtClean="0">
                                      <a:latin typeface="Cambria Math" panose="02040503050406030204" pitchFamily="18" charset="0"/>
                                    </a:rPr>
                                    <m:t>𝐶</m:t>
                                  </m:r>
                                </m:sup>
                              </m:sSubSup>
                            </m:e>
                          </m:eqArr>
                        </m:e>
                      </m:d>
                    </m:oMath>
                  </m:oMathPara>
                </a14:m>
                <a:endParaRPr lang="en-US" altLang="zh-TW" b="0" dirty="0" smtClean="0"/>
              </a:p>
              <a:p>
                <a:endParaRPr lang="en-US" altLang="zh-TW" dirty="0" smtClean="0"/>
              </a:p>
              <a:p>
                <a:r>
                  <a:rPr lang="en-US" altLang="zh-TW" dirty="0" smtClean="0"/>
                  <a:t>Let</a:t>
                </a:r>
                <a14:m>
                  <m:oMath xmlns:m="http://schemas.openxmlformats.org/officeDocument/2006/math">
                    <m:sSubSup>
                      <m:sSubSupPr>
                        <m:ctrlPr>
                          <a:rPr lang="en-US" altLang="zh-TW" i="1" dirty="0">
                            <a:latin typeface="Cambria Math" panose="02040503050406030204" pitchFamily="18" charset="0"/>
                          </a:rPr>
                        </m:ctrlPr>
                      </m:sSubSupPr>
                      <m:e>
                        <m:r>
                          <a:rPr lang="en-US" altLang="zh-TW" b="0" i="1" dirty="0" smtClean="0">
                            <a:latin typeface="Cambria Math" panose="02040503050406030204" pitchFamily="18" charset="0"/>
                          </a:rPr>
                          <m:t>   </m:t>
                        </m:r>
                        <m:r>
                          <a:rPr lang="en-US" altLang="zh-TW" i="1" dirty="0">
                            <a:latin typeface="Cambria Math" panose="02040503050406030204" pitchFamily="18" charset="0"/>
                          </a:rPr>
                          <m:t>𝑉</m:t>
                        </m:r>
                      </m:e>
                      <m:sub>
                        <m:r>
                          <a:rPr lang="en-US" altLang="zh-TW" i="1" dirty="0">
                            <a:latin typeface="Cambria Math" panose="02040503050406030204" pitchFamily="18" charset="0"/>
                          </a:rPr>
                          <m:t>𝑇</m:t>
                        </m:r>
                      </m:sub>
                      <m:sup>
                        <m:r>
                          <a:rPr lang="en-US" altLang="zh-TW" i="1" dirty="0">
                            <a:latin typeface="Cambria Math" panose="02040503050406030204" pitchFamily="18" charset="0"/>
                          </a:rPr>
                          <m:t>𝐶</m:t>
                        </m:r>
                      </m:sup>
                    </m:sSubSup>
                    <m:r>
                      <a:rPr lang="zh-TW" altLang="en-US" i="1" dirty="0">
                        <a:latin typeface="Cambria Math" panose="02040503050406030204" pitchFamily="18" charset="0"/>
                      </a:rPr>
                      <m:t>  </m:t>
                    </m:r>
                    <m:r>
                      <a:rPr lang="en-US" altLang="zh-TW" i="1" dirty="0">
                        <a:latin typeface="Cambria Math" panose="02040503050406030204" pitchFamily="18" charset="0"/>
                      </a:rPr>
                      <m:t>=</m:t>
                    </m:r>
                    <m:r>
                      <a:rPr lang="en-US" altLang="zh-TW" b="0" i="1" dirty="0" smtClean="0">
                        <a:latin typeface="Cambria Math" panose="02040503050406030204" pitchFamily="18" charset="0"/>
                      </a:rPr>
                      <m:t>  </m:t>
                    </m:r>
                    <m:sSubSup>
                      <m:sSubSupPr>
                        <m:ctrlPr>
                          <a:rPr lang="en-US" altLang="zh-TW" i="1" dirty="0">
                            <a:latin typeface="Cambria Math" panose="02040503050406030204" pitchFamily="18" charset="0"/>
                          </a:rPr>
                        </m:ctrlPr>
                      </m:sSubSupPr>
                      <m:e>
                        <m:r>
                          <a:rPr lang="en-US" altLang="zh-TW" i="1" dirty="0">
                            <a:latin typeface="Cambria Math" panose="02040503050406030204" pitchFamily="18" charset="0"/>
                          </a:rPr>
                          <m:t>𝑉</m:t>
                        </m:r>
                      </m:e>
                      <m:sub>
                        <m:r>
                          <a:rPr lang="en-US" altLang="zh-TW" i="1" dirty="0">
                            <a:latin typeface="Cambria Math" panose="02040503050406030204" pitchFamily="18" charset="0"/>
                          </a:rPr>
                          <m:t>𝑇</m:t>
                        </m:r>
                      </m:sub>
                      <m:sup>
                        <m:r>
                          <a:rPr lang="en-US" altLang="zh-TW" i="1" dirty="0">
                            <a:latin typeface="Cambria Math" panose="02040503050406030204" pitchFamily="18" charset="0"/>
                          </a:rPr>
                          <m:t>𝑈</m:t>
                        </m:r>
                      </m:sup>
                    </m:sSubSup>
                    <m:r>
                      <a:rPr lang="en-US" altLang="zh-TW" b="0" i="1" dirty="0" smtClean="0">
                        <a:latin typeface="Cambria Math" panose="02040503050406030204" pitchFamily="18" charset="0"/>
                      </a:rPr>
                      <m:t> =</m:t>
                    </m:r>
                    <m:r>
                      <a:rPr lang="en-US" altLang="zh-TW" b="0" i="1" dirty="0" smtClean="0">
                        <a:latin typeface="Cambria Math" panose="02040503050406030204" pitchFamily="18" charset="0"/>
                      </a:rPr>
                      <m:t>𝑉</m:t>
                    </m:r>
                    <m:r>
                      <a:rPr lang="en-US" altLang="zh-TW" b="0" i="1" dirty="0" smtClean="0">
                        <a:latin typeface="Cambria Math" panose="02040503050406030204" pitchFamily="18" charset="0"/>
                      </a:rPr>
                      <m:t>"</m:t>
                    </m:r>
                  </m:oMath>
                </a14:m>
                <a:r>
                  <a:rPr lang="zh-TW" altLang="en-US" dirty="0" smtClean="0"/>
                  <a:t> </a:t>
                </a:r>
                <a:r>
                  <a:rPr lang="en-US" altLang="zh-TW" dirty="0" smtClean="0"/>
                  <a:t> </a:t>
                </a:r>
                <a:endParaRPr lang="zh-TW" altLang="en-US" dirty="0"/>
              </a:p>
              <a:p>
                <a:endParaRPr lang="zh-TW" altLang="en-US"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786659" y="4267200"/>
                <a:ext cx="6510052" cy="1557799"/>
              </a:xfrm>
              <a:prstGeom prst="rect">
                <a:avLst/>
              </a:prstGeom>
              <a:blipFill rotWithShape="0">
                <a:blip r:embed="rId3"/>
                <a:stretch>
                  <a:fillRect l="-2154"/>
                </a:stretch>
              </a:blipFill>
            </p:spPr>
            <p:txBody>
              <a:bodyPr/>
              <a:lstStyle/>
              <a:p>
                <a:r>
                  <a:rPr lang="zh-TW" altLang="en-US">
                    <a:noFill/>
                  </a:rPr>
                  <a:t> </a:t>
                </a:r>
              </a:p>
            </p:txBody>
          </p:sp>
        </mc:Fallback>
      </mc:AlternateContent>
      <p:cxnSp>
        <p:nvCxnSpPr>
          <p:cNvPr id="7" name="直線接點 6"/>
          <p:cNvCxnSpPr/>
          <p:nvPr/>
        </p:nvCxnSpPr>
        <p:spPr>
          <a:xfrm>
            <a:off x="8015416" y="5445211"/>
            <a:ext cx="34351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線接點 8"/>
          <p:cNvCxnSpPr/>
          <p:nvPr/>
        </p:nvCxnSpPr>
        <p:spPr>
          <a:xfrm>
            <a:off x="8979243" y="5420498"/>
            <a:ext cx="0" cy="8237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線接點 10"/>
          <p:cNvCxnSpPr/>
          <p:nvPr/>
        </p:nvCxnSpPr>
        <p:spPr>
          <a:xfrm>
            <a:off x="10404389" y="5404022"/>
            <a:ext cx="0" cy="82378"/>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矩形 13"/>
              <p:cNvSpPr/>
              <p:nvPr/>
            </p:nvSpPr>
            <p:spPr>
              <a:xfrm>
                <a:off x="10213425" y="4952482"/>
                <a:ext cx="530210" cy="37516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TW" b="0" i="1" dirty="0" smtClean="0">
                              <a:latin typeface="Cambria Math" panose="02040503050406030204" pitchFamily="18" charset="0"/>
                            </a:rPr>
                          </m:ctrlPr>
                        </m:sSubSupPr>
                        <m:e>
                          <m:r>
                            <a:rPr lang="en-US" altLang="zh-TW" b="0" i="1" dirty="0" smtClean="0">
                              <a:latin typeface="Cambria Math" panose="02040503050406030204" pitchFamily="18" charset="0"/>
                            </a:rPr>
                            <m:t>𝑉</m:t>
                          </m:r>
                        </m:e>
                        <m:sub>
                          <m:r>
                            <a:rPr lang="en-US" altLang="zh-TW" b="0" i="1" dirty="0" smtClean="0">
                              <a:latin typeface="Cambria Math" panose="02040503050406030204" pitchFamily="18" charset="0"/>
                            </a:rPr>
                            <m:t>𝑇</m:t>
                          </m:r>
                        </m:sub>
                        <m:sup>
                          <m:r>
                            <a:rPr lang="en-US" altLang="zh-TW" b="0" i="1" dirty="0" smtClean="0">
                              <a:latin typeface="Cambria Math" panose="02040503050406030204" pitchFamily="18" charset="0"/>
                            </a:rPr>
                            <m:t>𝑈</m:t>
                          </m:r>
                        </m:sup>
                      </m:sSubSup>
                    </m:oMath>
                  </m:oMathPara>
                </a14:m>
                <a:endParaRPr lang="zh-TW" altLang="en-US" dirty="0"/>
              </a:p>
            </p:txBody>
          </p:sp>
        </mc:Choice>
        <mc:Fallback xmlns="">
          <p:sp>
            <p:nvSpPr>
              <p:cNvPr id="14" name="矩形 13"/>
              <p:cNvSpPr>
                <a:spLocks noRot="1" noChangeAspect="1" noMove="1" noResize="1" noEditPoints="1" noAdjustHandles="1" noChangeArrowheads="1" noChangeShapeType="1" noTextEdit="1"/>
              </p:cNvSpPr>
              <p:nvPr/>
            </p:nvSpPr>
            <p:spPr>
              <a:xfrm>
                <a:off x="10213425" y="4952482"/>
                <a:ext cx="530210" cy="375167"/>
              </a:xfrm>
              <a:prstGeom prst="rect">
                <a:avLst/>
              </a:prstGeom>
              <a:blipFill rotWithShape="0">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8776908" y="4958411"/>
                <a:ext cx="1161665" cy="37670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TW" b="0" i="1" dirty="0" smtClean="0">
                              <a:latin typeface="Cambria Math" panose="02040503050406030204" pitchFamily="18" charset="0"/>
                            </a:rPr>
                          </m:ctrlPr>
                        </m:sSubSupPr>
                        <m:e>
                          <m:r>
                            <a:rPr lang="en-US" altLang="zh-TW" b="0" i="1" dirty="0" smtClean="0">
                              <a:latin typeface="Cambria Math" panose="02040503050406030204" pitchFamily="18" charset="0"/>
                            </a:rPr>
                            <m:t>𝑉</m:t>
                          </m:r>
                        </m:e>
                        <m:sub>
                          <m:r>
                            <a:rPr lang="en-US" altLang="zh-TW" b="0" i="1" dirty="0" smtClean="0">
                              <a:latin typeface="Cambria Math" panose="02040503050406030204" pitchFamily="18" charset="0"/>
                            </a:rPr>
                            <m:t>𝑇</m:t>
                          </m:r>
                        </m:sub>
                        <m:sup>
                          <m:r>
                            <a:rPr lang="en-US" altLang="zh-TW" b="0" i="1" dirty="0" smtClean="0">
                              <a:latin typeface="Cambria Math" panose="02040503050406030204" pitchFamily="18" charset="0"/>
                            </a:rPr>
                            <m:t>𝐶</m:t>
                          </m:r>
                        </m:sup>
                      </m:sSubSup>
                      <m:r>
                        <a:rPr lang="zh-TW" altLang="en-US" i="1" dirty="0">
                          <a:latin typeface="Cambria Math" panose="02040503050406030204" pitchFamily="18" charset="0"/>
                        </a:rPr>
                        <m:t> </m:t>
                      </m:r>
                      <m:r>
                        <a:rPr lang="zh-TW" altLang="en-US" i="1" dirty="0" smtClean="0">
                          <a:latin typeface="Cambria Math" panose="02040503050406030204" pitchFamily="18" charset="0"/>
                        </a:rPr>
                        <m:t> </m:t>
                      </m:r>
                      <m:r>
                        <a:rPr lang="zh-TW" altLang="en-US" i="1" dirty="0">
                          <a:latin typeface="Cambria Math" panose="02040503050406030204" pitchFamily="18" charset="0"/>
                        </a:rPr>
                        <m:t> </m:t>
                      </m:r>
                      <m:r>
                        <a:rPr lang="zh-TW" altLang="en-US" i="1" dirty="0" smtClean="0">
                          <a:latin typeface="Cambria Math" panose="02040503050406030204" pitchFamily="18" charset="0"/>
                        </a:rPr>
                        <m:t> </m:t>
                      </m:r>
                      <m:r>
                        <a:rPr lang="zh-TW" altLang="en-US" i="1" dirty="0">
                          <a:latin typeface="Cambria Math" panose="02040503050406030204" pitchFamily="18" charset="0"/>
                        </a:rPr>
                        <m:t> </m:t>
                      </m:r>
                      <m:r>
                        <a:rPr lang="zh-TW" altLang="en-US" i="1" dirty="0" smtClean="0">
                          <a:latin typeface="Cambria Math" panose="02040503050406030204" pitchFamily="18" charset="0"/>
                        </a:rPr>
                        <m:t> </m:t>
                      </m:r>
                      <m:r>
                        <a:rPr lang="zh-TW" altLang="en-US" i="1" dirty="0">
                          <a:latin typeface="Cambria Math" panose="02040503050406030204" pitchFamily="18" charset="0"/>
                        </a:rPr>
                        <m:t> </m:t>
                      </m:r>
                      <m:r>
                        <a:rPr lang="zh-TW" altLang="en-US" i="1" dirty="0" smtClean="0">
                          <a:latin typeface="Cambria Math" panose="02040503050406030204" pitchFamily="18" charset="0"/>
                        </a:rPr>
                        <m:t> </m:t>
                      </m:r>
                      <m:r>
                        <a:rPr lang="en-US" altLang="zh-TW" i="1" dirty="0">
                          <a:latin typeface="Cambria Math" panose="02040503050406030204" pitchFamily="18" charset="0"/>
                        </a:rPr>
                        <m:t>=</m:t>
                      </m:r>
                    </m:oMath>
                  </m:oMathPara>
                </a14:m>
                <a:endParaRPr lang="zh-TW" altLang="en-US" dirty="0"/>
              </a:p>
            </p:txBody>
          </p:sp>
        </mc:Choice>
        <mc:Fallback xmlns="">
          <p:sp>
            <p:nvSpPr>
              <p:cNvPr id="15" name="矩形 14"/>
              <p:cNvSpPr>
                <a:spLocks noRot="1" noChangeAspect="1" noMove="1" noResize="1" noEditPoints="1" noAdjustHandles="1" noChangeArrowheads="1" noChangeShapeType="1" noTextEdit="1"/>
              </p:cNvSpPr>
              <p:nvPr/>
            </p:nvSpPr>
            <p:spPr>
              <a:xfrm>
                <a:off x="8776908" y="4958411"/>
                <a:ext cx="1161665" cy="376706"/>
              </a:xfrm>
              <a:prstGeom prst="rect">
                <a:avLst/>
              </a:prstGeom>
              <a:blipFill rotWithShape="0">
                <a:blip r:embed="rId5"/>
                <a:stretch>
                  <a:fillRect b="-161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1153725" y="5567722"/>
                <a:ext cx="6408609" cy="1072538"/>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zh-TW" altLang="en-US" i="1" smtClean="0">
                          <a:latin typeface="Cambria Math" panose="02040503050406030204" pitchFamily="18" charset="0"/>
                        </a:rPr>
                        <m:t>⟹</m:t>
                      </m:r>
                      <m:r>
                        <a:rPr lang="en-US" altLang="zh-TW" b="0" i="1" smtClean="0">
                          <a:latin typeface="Cambria Math" panose="02040503050406030204" pitchFamily="18" charset="0"/>
                        </a:rPr>
                        <m:t> </m:t>
                      </m:r>
                      <m:sSub>
                        <m:sSubPr>
                          <m:ctrlPr>
                            <a:rPr lang="en-US" altLang="zh-TW" i="1" dirty="0" smtClean="0">
                              <a:solidFill>
                                <a:schemeClr val="tx1"/>
                              </a:solidFill>
                              <a:latin typeface="Cambria Math" panose="02040503050406030204" pitchFamily="18" charset="0"/>
                              <a:ea typeface="微軟正黑體" panose="020B0604030504040204" pitchFamily="34" charset="-120"/>
                            </a:rPr>
                          </m:ctrlPr>
                        </m:sSubPr>
                        <m:e>
                          <m:r>
                            <a:rPr lang="en-US" altLang="zh-TW" i="1" dirty="0">
                              <a:solidFill>
                                <a:schemeClr val="tx1"/>
                              </a:solidFill>
                              <a:latin typeface="Cambria Math" panose="02040503050406030204" pitchFamily="18" charset="0"/>
                              <a:ea typeface="微軟正黑體" panose="020B0604030504040204" pitchFamily="34" charset="-120"/>
                            </a:rPr>
                            <m:t>𝑂</m:t>
                          </m:r>
                        </m:e>
                        <m:sub>
                          <m:r>
                            <a:rPr lang="en-US" altLang="zh-TW" i="1" dirty="0">
                              <a:solidFill>
                                <a:schemeClr val="tx1"/>
                              </a:solidFill>
                              <a:latin typeface="Cambria Math" panose="02040503050406030204" pitchFamily="18" charset="0"/>
                              <a:ea typeface="微軟正黑體" panose="020B0604030504040204" pitchFamily="34" charset="-120"/>
                            </a:rPr>
                            <m:t>𝐶𝐶</m:t>
                          </m:r>
                        </m:sub>
                      </m:sSub>
                      <m:r>
                        <a:rPr lang="en-US" altLang="zh-TW" i="1" dirty="0">
                          <a:solidFill>
                            <a:schemeClr val="tx1"/>
                          </a:solidFill>
                          <a:latin typeface="Cambria Math" panose="02040503050406030204" pitchFamily="18" charset="0"/>
                          <a:ea typeface="微軟正黑體" panose="020B0604030504040204" pitchFamily="34" charset="-120"/>
                        </a:rPr>
                        <m:t>=</m:t>
                      </m:r>
                      <m:f>
                        <m:fPr>
                          <m:ctrlPr>
                            <a:rPr lang="en-US" altLang="zh-TW" i="1" dirty="0">
                              <a:solidFill>
                                <a:schemeClr val="tx1"/>
                              </a:solidFill>
                              <a:latin typeface="Cambria Math" panose="02040503050406030204" pitchFamily="18" charset="0"/>
                              <a:ea typeface="微軟正黑體" panose="020B0604030504040204" pitchFamily="34" charset="-120"/>
                            </a:rPr>
                          </m:ctrlPr>
                        </m:fPr>
                        <m:num>
                          <m:sSub>
                            <m:sSubPr>
                              <m:ctrlPr>
                                <a:rPr lang="en-US" altLang="zh-TW" i="1" dirty="0">
                                  <a:solidFill>
                                    <a:schemeClr val="tx1"/>
                                  </a:solidFill>
                                  <a:latin typeface="Cambria Math" panose="02040503050406030204" pitchFamily="18" charset="0"/>
                                </a:rPr>
                              </m:ctrlPr>
                            </m:sSubPr>
                            <m:e>
                              <m:r>
                                <a:rPr lang="en-US" altLang="zh-TW" i="1" dirty="0">
                                  <a:solidFill>
                                    <a:schemeClr val="tx1"/>
                                  </a:solidFill>
                                  <a:latin typeface="Cambria Math" panose="02040503050406030204" pitchFamily="18" charset="0"/>
                                </a:rPr>
                                <m:t>𝐷</m:t>
                              </m:r>
                            </m:e>
                            <m:sub>
                              <m:r>
                                <a:rPr lang="en-US" altLang="zh-TW" i="1" dirty="0">
                                  <a:solidFill>
                                    <a:schemeClr val="tx1"/>
                                  </a:solidFill>
                                  <a:latin typeface="Cambria Math" panose="02040503050406030204" pitchFamily="18" charset="0"/>
                                </a:rPr>
                                <m:t>2</m:t>
                              </m:r>
                            </m:sub>
                          </m:sSub>
                        </m:num>
                        <m:den>
                          <m:r>
                            <a:rPr lang="en-US" altLang="zh-TW" i="1" dirty="0">
                              <a:solidFill>
                                <a:schemeClr val="tx1"/>
                              </a:solidFill>
                              <a:latin typeface="Cambria Math" panose="02040503050406030204" pitchFamily="18" charset="0"/>
                              <a:ea typeface="微軟正黑體" panose="020B0604030504040204" pitchFamily="34" charset="-120"/>
                            </a:rPr>
                            <m:t>𝑆</m:t>
                          </m:r>
                          <m:r>
                            <a:rPr lang="en-US" altLang="zh-TW" i="1" dirty="0">
                              <a:latin typeface="Cambria Math" panose="02040503050406030204" pitchFamily="18" charset="0"/>
                              <a:ea typeface="微軟正黑體" panose="020B0604030504040204" pitchFamily="34" charset="-120"/>
                            </a:rPr>
                            <m:t>"</m:t>
                          </m:r>
                        </m:den>
                      </m:f>
                    </m:oMath>
                  </m:oMathPara>
                </a14:m>
                <a:endParaRPr lang="en-US" altLang="zh-TW" dirty="0" smtClean="0">
                  <a:solidFill>
                    <a:schemeClr val="tx1"/>
                  </a:solidFill>
                  <a:ea typeface="微軟正黑體" panose="020B0604030504040204" pitchFamily="34" charset="-120"/>
                </a:endParaRPr>
              </a:p>
              <a:p>
                <a:r>
                  <a:rPr lang="zh-TW" altLang="en-US" dirty="0" smtClean="0"/>
                  <a:t> </a:t>
                </a:r>
                <a14:m>
                  <m:oMath xmlns:m="http://schemas.openxmlformats.org/officeDocument/2006/math">
                    <m:r>
                      <a:rPr lang="zh-TW" altLang="en-US" i="1" smtClean="0">
                        <a:latin typeface="Cambria Math" panose="02040503050406030204" pitchFamily="18" charset="0"/>
                      </a:rPr>
                      <m:t>⟹</m:t>
                    </m:r>
                    <m:r>
                      <a:rPr lang="en-US" altLang="zh-TW" i="1" dirty="0">
                        <a:latin typeface="Cambria Math" panose="02040503050406030204" pitchFamily="18" charset="0"/>
                      </a:rPr>
                      <m:t>𝑉</m:t>
                    </m:r>
                    <m:r>
                      <a:rPr lang="en-US" altLang="zh-TW" i="1" dirty="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a:rPr>
                          <m:t>𝐷</m:t>
                        </m:r>
                      </m:e>
                      <m:sub>
                        <m:r>
                          <a:rPr lang="en-US" altLang="zh-TW" i="1">
                            <a:latin typeface="Cambria Math"/>
                          </a:rPr>
                          <m:t>1</m:t>
                        </m:r>
                      </m:sub>
                    </m:sSub>
                    <m:r>
                      <a:rPr lang="en-US" altLang="zh-TW" i="1">
                        <a:latin typeface="Cambria Math"/>
                      </a:rPr>
                      <m:t>+</m:t>
                    </m:r>
                    <m:r>
                      <a:rPr lang="en-US" altLang="zh-TW" b="0" i="1" smtClean="0">
                        <a:latin typeface="Cambria Math" panose="02040503050406030204" pitchFamily="18" charset="0"/>
                      </a:rPr>
                      <m:t>(1+</m:t>
                    </m:r>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𝑂</m:t>
                        </m:r>
                      </m:num>
                      <m:den>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𝑂</m:t>
                            </m:r>
                          </m:e>
                          <m:sub>
                            <m:r>
                              <a:rPr lang="en-US" altLang="zh-TW" b="0" i="1" smtClean="0">
                                <a:latin typeface="Cambria Math" panose="02040503050406030204" pitchFamily="18" charset="0"/>
                              </a:rPr>
                              <m:t>𝐶𝐶</m:t>
                            </m:r>
                          </m:sub>
                        </m:sSub>
                      </m:den>
                    </m:f>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a:rPr>
                          <m:t>𝐷</m:t>
                        </m:r>
                      </m:e>
                      <m:sub>
                        <m:r>
                          <a:rPr lang="en-US" altLang="zh-TW" i="1">
                            <a:latin typeface="Cambria Math"/>
                          </a:rPr>
                          <m:t>2</m:t>
                        </m:r>
                      </m:sub>
                    </m:sSub>
                    <m:r>
                      <a:rPr lang="en-US" altLang="zh-TW" i="1">
                        <a:latin typeface="Cambria Math"/>
                      </a:rPr>
                      <m:t>+(1−</m:t>
                    </m:r>
                    <m:r>
                      <a:rPr lang="en-US" altLang="zh-TW" i="1">
                        <a:latin typeface="Cambria Math"/>
                      </a:rPr>
                      <m:t>𝑡𝑎𝑥</m:t>
                    </m:r>
                    <m:r>
                      <a:rPr lang="en-US" altLang="zh-TW" i="1">
                        <a:latin typeface="Cambria Math"/>
                      </a:rPr>
                      <m:t>)(</m:t>
                    </m:r>
                    <m:sSub>
                      <m:sSubPr>
                        <m:ctrlPr>
                          <a:rPr lang="en-US" altLang="zh-TW" i="1">
                            <a:latin typeface="Cambria Math" panose="02040503050406030204" pitchFamily="18" charset="0"/>
                          </a:rPr>
                        </m:ctrlPr>
                      </m:sSubPr>
                      <m:e>
                        <m:r>
                          <a:rPr lang="en-US" altLang="zh-TW" i="1">
                            <a:latin typeface="Cambria Math"/>
                          </a:rPr>
                          <m:t>𝐶</m:t>
                        </m:r>
                      </m:e>
                      <m:sub>
                        <m:r>
                          <a:rPr lang="en-US" altLang="zh-TW" i="1">
                            <a:latin typeface="Cambria Math"/>
                          </a:rPr>
                          <m:t>1</m:t>
                        </m:r>
                      </m:sub>
                    </m:sSub>
                    <m:sSub>
                      <m:sSubPr>
                        <m:ctrlPr>
                          <a:rPr lang="en-US" altLang="zh-TW" i="1">
                            <a:latin typeface="Cambria Math" panose="02040503050406030204" pitchFamily="18" charset="0"/>
                          </a:rPr>
                        </m:ctrlPr>
                      </m:sSubPr>
                      <m:e>
                        <m:r>
                          <a:rPr lang="en-US" altLang="zh-TW" i="1">
                            <a:latin typeface="Cambria Math"/>
                          </a:rPr>
                          <m:t>𝐷</m:t>
                        </m:r>
                      </m:e>
                      <m:sub>
                        <m:r>
                          <a:rPr lang="en-US" altLang="zh-TW" i="1">
                            <a:latin typeface="Cambria Math"/>
                          </a:rPr>
                          <m:t>1</m:t>
                        </m:r>
                      </m:sub>
                    </m:sSub>
                    <m:r>
                      <a:rPr lang="en-US" altLang="zh-TW" i="1">
                        <a:latin typeface="Cambria Math"/>
                      </a:rPr>
                      <m:t>𝑇</m:t>
                    </m:r>
                    <m:r>
                      <a:rPr lang="en-US" altLang="zh-TW" i="1">
                        <a:latin typeface="Cambria Math"/>
                      </a:rPr>
                      <m:t>+</m:t>
                    </m:r>
                    <m:sSub>
                      <m:sSubPr>
                        <m:ctrlPr>
                          <a:rPr lang="en-US" altLang="zh-TW" i="1">
                            <a:latin typeface="Cambria Math" panose="02040503050406030204" pitchFamily="18" charset="0"/>
                          </a:rPr>
                        </m:ctrlPr>
                      </m:sSubPr>
                      <m:e>
                        <m:r>
                          <a:rPr lang="en-US" altLang="zh-TW" i="1">
                            <a:latin typeface="Cambria Math"/>
                          </a:rPr>
                          <m:t>𝐶</m:t>
                        </m:r>
                      </m:e>
                      <m:sub>
                        <m:r>
                          <a:rPr lang="en-US" altLang="zh-TW" i="1">
                            <a:latin typeface="Cambria Math"/>
                          </a:rPr>
                          <m:t>2</m:t>
                        </m:r>
                      </m:sub>
                    </m:sSub>
                    <m:sSub>
                      <m:sSubPr>
                        <m:ctrlPr>
                          <a:rPr lang="en-US" altLang="zh-TW" i="1">
                            <a:latin typeface="Cambria Math" panose="02040503050406030204" pitchFamily="18" charset="0"/>
                          </a:rPr>
                        </m:ctrlPr>
                      </m:sSubPr>
                      <m:e>
                        <m:r>
                          <a:rPr lang="en-US" altLang="zh-TW" i="1">
                            <a:latin typeface="Cambria Math"/>
                          </a:rPr>
                          <m:t>𝐷</m:t>
                        </m:r>
                      </m:e>
                      <m:sub>
                        <m:r>
                          <a:rPr lang="en-US" altLang="zh-TW" i="1">
                            <a:latin typeface="Cambria Math"/>
                          </a:rPr>
                          <m:t>2</m:t>
                        </m:r>
                      </m:sub>
                    </m:sSub>
                    <m:r>
                      <a:rPr lang="en-US" altLang="zh-TW" i="1">
                        <a:latin typeface="Cambria Math"/>
                      </a:rPr>
                      <m:t>𝑇</m:t>
                    </m:r>
                    <m:r>
                      <a:rPr lang="en-US" altLang="zh-TW" i="1">
                        <a:latin typeface="Cambria Math"/>
                      </a:rPr>
                      <m:t>)</m:t>
                    </m:r>
                  </m:oMath>
                </a14:m>
                <a:endParaRPr lang="en-US" altLang="zh-TW" dirty="0" smtClean="0"/>
              </a:p>
            </p:txBody>
          </p:sp>
        </mc:Choice>
        <mc:Fallback xmlns="">
          <p:sp>
            <p:nvSpPr>
              <p:cNvPr id="16" name="矩形 15"/>
              <p:cNvSpPr>
                <a:spLocks noRot="1" noChangeAspect="1" noMove="1" noResize="1" noEditPoints="1" noAdjustHandles="1" noChangeArrowheads="1" noChangeShapeType="1" noTextEdit="1"/>
              </p:cNvSpPr>
              <p:nvPr/>
            </p:nvSpPr>
            <p:spPr>
              <a:xfrm>
                <a:off x="1153725" y="5567722"/>
                <a:ext cx="6408609" cy="1072538"/>
              </a:xfrm>
              <a:prstGeom prst="rect">
                <a:avLst/>
              </a:prstGeom>
              <a:blipFill rotWithShape="0">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標題 1"/>
              <p:cNvSpPr txBox="1">
                <a:spLocks/>
              </p:cNvSpPr>
              <p:nvPr/>
            </p:nvSpPr>
            <p:spPr>
              <a:xfrm>
                <a:off x="347730" y="347728"/>
                <a:ext cx="11844270" cy="79252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14:m>
                  <m:oMath xmlns:m="http://schemas.openxmlformats.org/officeDocument/2006/math">
                    <m:sSub>
                      <m:sSubPr>
                        <m:ctrlPr>
                          <a:rPr lang="en-US" altLang="zh-TW" i="1" dirty="0" smtClean="0">
                            <a:latin typeface="Cambria Math" panose="02040503050406030204" pitchFamily="18" charset="0"/>
                            <a:ea typeface="微軟正黑體" panose="020B0604030504040204" pitchFamily="34" charset="-120"/>
                          </a:rPr>
                        </m:ctrlPr>
                      </m:sSubPr>
                      <m:e>
                        <m:r>
                          <a:rPr lang="en-US" altLang="zh-TW" i="1" dirty="0">
                            <a:latin typeface="Cambria Math" panose="02040503050406030204" pitchFamily="18" charset="0"/>
                            <a:ea typeface="微軟正黑體" panose="020B0604030504040204" pitchFamily="34" charset="-120"/>
                          </a:rPr>
                          <m:t>𝑂</m:t>
                        </m:r>
                      </m:e>
                      <m:sub>
                        <m:r>
                          <a:rPr lang="en-US" altLang="zh-TW" i="1" dirty="0">
                            <a:latin typeface="Cambria Math" panose="02040503050406030204" pitchFamily="18" charset="0"/>
                            <a:ea typeface="微軟正黑體" panose="020B0604030504040204" pitchFamily="34" charset="-120"/>
                          </a:rPr>
                          <m:t>𝐶𝐶</m:t>
                        </m:r>
                      </m:sub>
                    </m:sSub>
                  </m:oMath>
                </a14:m>
                <a:r>
                  <a:rPr lang="zh-TW" altLang="en-US" dirty="0" smtClean="0">
                    <a:latin typeface="微軟正黑體" panose="020B0604030504040204" pitchFamily="34" charset="-120"/>
                    <a:ea typeface="微軟正黑體" panose="020B0604030504040204" pitchFamily="34" charset="-120"/>
                  </a:rPr>
                  <a:t> </a:t>
                </a:r>
                <a:r>
                  <a:rPr lang="en-US" altLang="zh-TW" dirty="0" smtClean="0">
                    <a:latin typeface="微軟正黑體" panose="020B0604030504040204" pitchFamily="34" charset="-120"/>
                    <a:ea typeface="微軟正黑體" panose="020B0604030504040204" pitchFamily="34" charset="-120"/>
                  </a:rPr>
                  <a:t>(m)</a:t>
                </a:r>
                <a:r>
                  <a:rPr lang="zh-TW" altLang="en-US" dirty="0" smtClean="0">
                    <a:latin typeface="微軟正黑體" panose="020B0604030504040204" pitchFamily="34" charset="-120"/>
                    <a:ea typeface="微軟正黑體" panose="020B0604030504040204" pitchFamily="34" charset="-120"/>
                  </a:rPr>
                  <a:t>推導</a:t>
                </a:r>
                <a:r>
                  <a:rPr lang="en-US" altLang="zh-TW" dirty="0" smtClean="0">
                    <a:latin typeface="微軟正黑體" panose="020B0604030504040204" pitchFamily="34" charset="-120"/>
                    <a:ea typeface="微軟正黑體" panose="020B0604030504040204" pitchFamily="34" charset="-120"/>
                  </a:rPr>
                  <a:t>(2/2)</a:t>
                </a:r>
                <a:endParaRPr lang="zh-TW" altLang="en-US" dirty="0">
                  <a:latin typeface="微軟正黑體" panose="020B0604030504040204" pitchFamily="34" charset="-120"/>
                  <a:ea typeface="微軟正黑體" panose="020B0604030504040204" pitchFamily="34" charset="-120"/>
                </a:endParaRPr>
              </a:p>
            </p:txBody>
          </p:sp>
        </mc:Choice>
        <mc:Fallback xmlns="">
          <p:sp>
            <p:nvSpPr>
              <p:cNvPr id="17" name="標題 1"/>
              <p:cNvSpPr txBox="1">
                <a:spLocks noRot="1" noChangeAspect="1" noMove="1" noResize="1" noEditPoints="1" noAdjustHandles="1" noChangeArrowheads="1" noChangeShapeType="1" noTextEdit="1"/>
              </p:cNvSpPr>
              <p:nvPr/>
            </p:nvSpPr>
            <p:spPr>
              <a:xfrm>
                <a:off x="347730" y="347728"/>
                <a:ext cx="11844270" cy="792520"/>
              </a:xfrm>
              <a:prstGeom prst="rect">
                <a:avLst/>
              </a:prstGeom>
              <a:blipFill rotWithShape="0">
                <a:blip r:embed="rId7"/>
                <a:stretch>
                  <a:fillRect t="-50000" b="-52308"/>
                </a:stretch>
              </a:blipFill>
            </p:spPr>
            <p:txBody>
              <a:bodyPr/>
              <a:lstStyle/>
              <a:p>
                <a:r>
                  <a:rPr lang="zh-TW" altLang="en-US">
                    <a:noFill/>
                  </a:rPr>
                  <a:t> </a:t>
                </a:r>
              </a:p>
            </p:txBody>
          </p:sp>
        </mc:Fallback>
      </mc:AlternateContent>
      <p:sp>
        <p:nvSpPr>
          <p:cNvPr id="12" name="橢圓 11">
            <a:hlinkClick r:id="rId8" action="ppaction://hlinksldjump"/>
          </p:cNvPr>
          <p:cNvSpPr/>
          <p:nvPr/>
        </p:nvSpPr>
        <p:spPr>
          <a:xfrm>
            <a:off x="11211697" y="6038898"/>
            <a:ext cx="601362" cy="601362"/>
          </a:xfrm>
          <a:prstGeom prst="ellipse">
            <a:avLst/>
          </a:prstGeom>
          <a:solidFill>
            <a:srgbClr val="EAEAEA">
              <a:alpha val="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08350542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ctrTitle"/>
          </p:nvPr>
        </p:nvSpPr>
        <p:spPr>
          <a:xfrm>
            <a:off x="2174616" y="542867"/>
            <a:ext cx="7772400" cy="1872208"/>
          </a:xfrm>
        </p:spPr>
        <p:txBody>
          <a:bodyPr>
            <a:normAutofit fontScale="90000"/>
          </a:bodyPr>
          <a:lstStyle/>
          <a:p>
            <a:r>
              <a:rPr lang="en-US" altLang="zh-TW" dirty="0"/>
              <a:t>The pricing restriction at the maturity of bank’s bonds, t = T</a:t>
            </a:r>
            <a:endParaRPr lang="zh-TW" altLang="en-US" dirty="0"/>
          </a:p>
        </p:txBody>
      </p:sp>
      <p:sp>
        <p:nvSpPr>
          <p:cNvPr id="6" name="文字方塊 5"/>
          <p:cNvSpPr txBox="1"/>
          <p:nvPr/>
        </p:nvSpPr>
        <p:spPr>
          <a:xfrm>
            <a:off x="4223792" y="6237312"/>
            <a:ext cx="3456384" cy="369332"/>
          </a:xfrm>
          <a:prstGeom prst="rect">
            <a:avLst/>
          </a:prstGeom>
          <a:noFill/>
        </p:spPr>
        <p:txBody>
          <a:bodyPr wrap="square" rtlCol="0">
            <a:spAutoFit/>
          </a:bodyPr>
          <a:lstStyle/>
          <a:p>
            <a:r>
              <a:rPr lang="en-US" altLang="zh-TW" dirty="0"/>
              <a:t>consider the situation at time T</a:t>
            </a:r>
            <a:endParaRPr lang="zh-TW" altLang="en-US" dirty="0"/>
          </a:p>
        </p:txBody>
      </p:sp>
      <mc:AlternateContent xmlns:mc="http://schemas.openxmlformats.org/markup-compatibility/2006" xmlns:a14="http://schemas.microsoft.com/office/drawing/2010/main">
        <mc:Choice Requires="a14">
          <p:sp>
            <p:nvSpPr>
              <p:cNvPr id="7" name="文字方塊 6"/>
              <p:cNvSpPr txBox="1"/>
              <p:nvPr/>
            </p:nvSpPr>
            <p:spPr>
              <a:xfrm>
                <a:off x="1991544" y="2708921"/>
                <a:ext cx="8352928" cy="2094291"/>
              </a:xfrm>
              <a:prstGeom prst="rect">
                <a:avLst/>
              </a:prstGeom>
              <a:noFill/>
            </p:spPr>
            <p:txBody>
              <a:bodyPr wrap="square" rtlCol="0">
                <a:spAutoFit/>
              </a:bodyPr>
              <a:lstStyle/>
              <a:p>
                <a:pPr algn="ctr"/>
                <a:r>
                  <a:rPr lang="en-US" altLang="zh-TW" sz="2800" dirty="0"/>
                  <a:t>The bank asset at time T is </a:t>
                </a:r>
                <a14:m>
                  <m:oMath xmlns:m="http://schemas.openxmlformats.org/officeDocument/2006/math">
                    <m:sSub>
                      <m:sSubPr>
                        <m:ctrlPr>
                          <a:rPr lang="en-US" altLang="zh-TW" sz="2800" b="1" i="1">
                            <a:latin typeface="Cambria Math" panose="02040503050406030204" pitchFamily="18" charset="0"/>
                          </a:rPr>
                        </m:ctrlPr>
                      </m:sSubPr>
                      <m:e>
                        <m:r>
                          <a:rPr lang="en-US" altLang="zh-TW" sz="2800" b="1" i="1">
                            <a:latin typeface="Cambria Math"/>
                          </a:rPr>
                          <m:t>𝑨</m:t>
                        </m:r>
                      </m:e>
                      <m:sub>
                        <m:r>
                          <a:rPr lang="en-US" altLang="zh-TW" sz="2800" b="1" i="1">
                            <a:latin typeface="Cambria Math"/>
                          </a:rPr>
                          <m:t>𝑻</m:t>
                        </m:r>
                      </m:sub>
                    </m:sSub>
                  </m:oMath>
                </a14:m>
                <a:endParaRPr lang="en-US" altLang="zh-TW" sz="2800" b="1" dirty="0"/>
              </a:p>
              <a:p>
                <a:pPr algn="ctr"/>
                <a:r>
                  <a:rPr lang="en-US" altLang="zh-TW" sz="2800" dirty="0"/>
                  <a:t>The face value of the senior bond is </a:t>
                </a:r>
                <a14:m>
                  <m:oMath xmlns:m="http://schemas.openxmlformats.org/officeDocument/2006/math">
                    <m:acc>
                      <m:accPr>
                        <m:chr m:val="̅"/>
                        <m:ctrlPr>
                          <a:rPr lang="en-US" altLang="zh-TW" sz="2800" b="1" i="1">
                            <a:latin typeface="Cambria Math" panose="02040503050406030204" pitchFamily="18" charset="0"/>
                          </a:rPr>
                        </m:ctrlPr>
                      </m:accPr>
                      <m:e>
                        <m:r>
                          <a:rPr lang="en-US" altLang="zh-TW" sz="2800" b="1" i="1">
                            <a:latin typeface="Cambria Math"/>
                          </a:rPr>
                          <m:t>𝑩</m:t>
                        </m:r>
                      </m:e>
                    </m:acc>
                  </m:oMath>
                </a14:m>
                <a:endParaRPr lang="en-US" altLang="zh-TW" sz="2800" b="1" dirty="0"/>
              </a:p>
              <a:p>
                <a:pPr algn="ctr"/>
                <a:r>
                  <a:rPr lang="en-US" altLang="zh-TW" sz="2800" dirty="0"/>
                  <a:t>The face value of the CC is </a:t>
                </a:r>
                <a14:m>
                  <m:oMath xmlns:m="http://schemas.openxmlformats.org/officeDocument/2006/math">
                    <m:acc>
                      <m:accPr>
                        <m:chr m:val="̅"/>
                        <m:ctrlPr>
                          <a:rPr lang="en-US" altLang="zh-TW" sz="2800" b="1" i="1">
                            <a:latin typeface="Cambria Math" panose="02040503050406030204" pitchFamily="18" charset="0"/>
                          </a:rPr>
                        </m:ctrlPr>
                      </m:accPr>
                      <m:e>
                        <m:r>
                          <a:rPr lang="en-US" altLang="zh-TW" sz="2800" b="1" i="1">
                            <a:latin typeface="Cambria Math"/>
                          </a:rPr>
                          <m:t>𝑪</m:t>
                        </m:r>
                      </m:e>
                    </m:acc>
                    <m:r>
                      <a:rPr lang="en-US" altLang="zh-TW" sz="2800" b="1" i="1">
                        <a:latin typeface="Cambria Math"/>
                      </a:rPr>
                      <m:t>  (</m:t>
                    </m:r>
                    <m:r>
                      <m:rPr>
                        <m:nor/>
                      </m:rPr>
                      <a:rPr lang="en-US" altLang="zh-TW" sz="2800" dirty="0"/>
                      <m:t> </m:t>
                    </m:r>
                    <m:sSubSup>
                      <m:sSubSupPr>
                        <m:ctrlPr>
                          <a:rPr lang="en-US" altLang="zh-TW" sz="2800" b="1" i="1" dirty="0">
                            <a:latin typeface="Cambria Math" panose="02040503050406030204" pitchFamily="18" charset="0"/>
                          </a:rPr>
                        </m:ctrlPr>
                      </m:sSubSupPr>
                      <m:e>
                        <m:r>
                          <a:rPr lang="en-US" altLang="zh-TW" sz="2800" b="1" i="1" dirty="0">
                            <a:latin typeface="Cambria Math"/>
                          </a:rPr>
                          <m:t>𝑪</m:t>
                        </m:r>
                      </m:e>
                      <m:sub>
                        <m:r>
                          <a:rPr lang="en-US" altLang="zh-TW" sz="2800" b="1" i="1" dirty="0">
                            <a:latin typeface="Cambria Math"/>
                          </a:rPr>
                          <m:t>𝑻</m:t>
                        </m:r>
                      </m:sub>
                      <m:sup>
                        <m:r>
                          <a:rPr lang="en-US" altLang="zh-TW" sz="2800" b="1" i="1" dirty="0">
                            <a:latin typeface="Cambria Math"/>
                          </a:rPr>
                          <m:t>𝒖</m:t>
                        </m:r>
                      </m:sup>
                    </m:sSubSup>
                    <m:r>
                      <a:rPr lang="en-US" altLang="zh-TW" sz="2800" i="1" dirty="0">
                        <a:latin typeface="Cambria Math"/>
                      </a:rPr>
                      <m:t>=</m:t>
                    </m:r>
                    <m:acc>
                      <m:accPr>
                        <m:chr m:val="̅"/>
                        <m:ctrlPr>
                          <a:rPr lang="en-US" altLang="zh-TW" sz="2800" b="1" i="1">
                            <a:latin typeface="Cambria Math" panose="02040503050406030204" pitchFamily="18" charset="0"/>
                          </a:rPr>
                        </m:ctrlPr>
                      </m:accPr>
                      <m:e>
                        <m:r>
                          <a:rPr lang="en-US" altLang="zh-TW" sz="2800" b="1" i="1">
                            <a:latin typeface="Cambria Math"/>
                          </a:rPr>
                          <m:t>𝑪</m:t>
                        </m:r>
                      </m:e>
                    </m:acc>
                    <m:r>
                      <a:rPr lang="en-US" altLang="zh-TW" sz="2800" b="1" i="1">
                        <a:latin typeface="Cambria Math"/>
                      </a:rPr>
                      <m:t>)</m:t>
                    </m:r>
                  </m:oMath>
                </a14:m>
                <a:endParaRPr lang="en-US" altLang="zh-TW" sz="2800" b="1" dirty="0"/>
              </a:p>
              <a:p>
                <a:pPr algn="ctr"/>
                <a:r>
                  <a:rPr lang="en-US" altLang="zh-TW" sz="2800" dirty="0"/>
                  <a:t>The stock price at time T is </a:t>
                </a:r>
                <a14:m>
                  <m:oMath xmlns:m="http://schemas.openxmlformats.org/officeDocument/2006/math">
                    <m:sSub>
                      <m:sSubPr>
                        <m:ctrlPr>
                          <a:rPr lang="en-US" altLang="zh-TW" sz="2800" b="1" i="1">
                            <a:latin typeface="Cambria Math" panose="02040503050406030204" pitchFamily="18" charset="0"/>
                          </a:rPr>
                        </m:ctrlPr>
                      </m:sSubPr>
                      <m:e>
                        <m:r>
                          <a:rPr lang="en-US" altLang="zh-TW" sz="2800" b="1" i="1">
                            <a:latin typeface="Cambria Math"/>
                          </a:rPr>
                          <m:t>𝑺</m:t>
                        </m:r>
                      </m:e>
                      <m:sub>
                        <m:r>
                          <a:rPr lang="en-US" altLang="zh-TW" sz="2800" b="1" i="1">
                            <a:latin typeface="Cambria Math"/>
                          </a:rPr>
                          <m:t>𝑻</m:t>
                        </m:r>
                      </m:sub>
                    </m:sSub>
                  </m:oMath>
                </a14:m>
                <a:r>
                  <a:rPr lang="zh-TW" altLang="en-US" sz="2800" dirty="0"/>
                  <a:t> </a:t>
                </a:r>
                <a:r>
                  <a:rPr lang="en-US" altLang="zh-TW" sz="2800" dirty="0"/>
                  <a:t>with </a:t>
                </a:r>
                <a:r>
                  <a:rPr lang="en-US" altLang="zh-TW" sz="2800" i="1" dirty="0"/>
                  <a:t>n</a:t>
                </a:r>
                <a:r>
                  <a:rPr lang="en-US" altLang="zh-TW" sz="2800" dirty="0"/>
                  <a:t> outstanding shares</a:t>
                </a:r>
              </a:p>
              <a:p>
                <a:endParaRPr lang="zh-TW" altLang="en-US"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467544" y="2708920"/>
                <a:ext cx="8352928" cy="2094291"/>
              </a:xfrm>
              <a:prstGeom prst="rect">
                <a:avLst/>
              </a:prstGeom>
              <a:blipFill rotWithShape="1">
                <a:blip r:embed="rId2"/>
                <a:stretch>
                  <a:fillRect l="-1095" t="-2616" r="-94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42553745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1703512" y="260648"/>
                <a:ext cx="8712968" cy="6480720"/>
              </a:xfrm>
            </p:spPr>
            <p:txBody>
              <a:bodyPr>
                <a:normAutofit/>
              </a:bodyPr>
              <a:lstStyle/>
              <a:p>
                <a:r>
                  <a:rPr lang="en-US" altLang="zh-TW" dirty="0"/>
                  <a:t> Consider the conversion trigger at time T is </a:t>
                </a:r>
                <a:r>
                  <a:rPr lang="en-US" altLang="zh-TW" b="1" i="1" dirty="0"/>
                  <a:t>K </a:t>
                </a:r>
                <a:r>
                  <a:rPr lang="en-US" altLang="zh-TW" dirty="0"/>
                  <a:t>;</a:t>
                </a:r>
              </a:p>
              <a:p>
                <a:pPr marL="0" indent="0">
                  <a:buNone/>
                </a:pPr>
                <a:r>
                  <a:rPr lang="en-US" altLang="zh-TW" b="1" i="1" dirty="0"/>
                  <a:t>      </a:t>
                </a:r>
                <a:r>
                  <a:rPr lang="en-US" altLang="zh-TW" dirty="0"/>
                  <a:t>The conversion ratio is </a:t>
                </a:r>
                <a:r>
                  <a:rPr lang="en-US" altLang="zh-TW" b="1" i="1" dirty="0"/>
                  <a:t>m</a:t>
                </a:r>
                <a:r>
                  <a:rPr lang="en-US" altLang="zh-TW" dirty="0"/>
                  <a:t>.</a:t>
                </a:r>
                <a:r>
                  <a:rPr lang="en-US" altLang="zh-TW" b="1" i="1" dirty="0"/>
                  <a:t> </a:t>
                </a:r>
                <a:endParaRPr lang="en-US" altLang="zh-TW" dirty="0"/>
              </a:p>
              <a:p>
                <a:pPr marL="0" indent="0">
                  <a:buNone/>
                </a:pPr>
                <a:r>
                  <a:rPr lang="en-US" altLang="zh-TW" b="1" i="1" dirty="0"/>
                  <a:t>      </a:t>
                </a:r>
                <a:r>
                  <a:rPr lang="en-US" altLang="zh-TW" dirty="0"/>
                  <a:t>Then at time T (maturity), </a:t>
                </a:r>
              </a:p>
              <a:p>
                <a:pPr marL="0" indent="0">
                  <a:buNone/>
                </a:pPr>
                <a:r>
                  <a:rPr lang="en-US" altLang="zh-TW" dirty="0"/>
                  <a:t>      the stock price as the CC is unconverted</a:t>
                </a:r>
                <a:endParaRPr lang="en-US" altLang="zh-TW" b="1" i="1" dirty="0"/>
              </a:p>
              <a:p>
                <a:pPr marL="0" indent="0">
                  <a:buNone/>
                </a:pPr>
                <a:endParaRPr lang="en-US" altLang="zh-TW" b="1" i="1" dirty="0">
                  <a:latin typeface="Cambria Math"/>
                </a:endParaRPr>
              </a:p>
              <a:p>
                <a:pPr marL="0" indent="0">
                  <a:buNone/>
                </a:pPr>
                <a:r>
                  <a:rPr lang="en-US" altLang="zh-TW" b="1" i="1" dirty="0">
                    <a:latin typeface="Cambria Math"/>
                  </a:rPr>
                  <a:t>                                      </a:t>
                </a:r>
                <a14:m>
                  <m:oMath xmlns:m="http://schemas.openxmlformats.org/officeDocument/2006/math">
                    <m:sSubSup>
                      <m:sSubSupPr>
                        <m:ctrlPr>
                          <a:rPr lang="en-US" altLang="zh-TW" b="1" i="1" smtClean="0">
                            <a:latin typeface="Cambria Math" panose="02040503050406030204" pitchFamily="18" charset="0"/>
                          </a:rPr>
                        </m:ctrlPr>
                      </m:sSubSupPr>
                      <m:e>
                        <m:r>
                          <a:rPr lang="en-US" altLang="zh-TW" b="1" i="1" smtClean="0">
                            <a:latin typeface="Cambria Math"/>
                          </a:rPr>
                          <m:t>𝑺</m:t>
                        </m:r>
                      </m:e>
                      <m:sub>
                        <m:r>
                          <a:rPr lang="en-US" altLang="zh-TW" b="1" i="1" smtClean="0">
                            <a:latin typeface="Cambria Math"/>
                          </a:rPr>
                          <m:t>𝑻</m:t>
                        </m:r>
                      </m:sub>
                      <m:sup>
                        <m:r>
                          <a:rPr lang="en-US" altLang="zh-TW" b="1" i="1" smtClean="0">
                            <a:latin typeface="Cambria Math"/>
                          </a:rPr>
                          <m:t>𝒖</m:t>
                        </m:r>
                      </m:sup>
                    </m:sSubSup>
                    <m:r>
                      <a:rPr lang="en-US" altLang="zh-TW" b="1" i="1" smtClean="0">
                        <a:latin typeface="Cambria Math"/>
                      </a:rPr>
                      <m:t>= </m:t>
                    </m:r>
                    <m:f>
                      <m:fPr>
                        <m:ctrlPr>
                          <a:rPr lang="en-US" altLang="zh-TW" b="1" i="1" smtClean="0">
                            <a:latin typeface="Cambria Math" panose="02040503050406030204" pitchFamily="18" charset="0"/>
                          </a:rPr>
                        </m:ctrlPr>
                      </m:fPr>
                      <m:num>
                        <m:sSub>
                          <m:sSubPr>
                            <m:ctrlPr>
                              <a:rPr lang="en-US" altLang="zh-TW" b="1" i="1" smtClean="0">
                                <a:latin typeface="Cambria Math" panose="02040503050406030204" pitchFamily="18" charset="0"/>
                              </a:rPr>
                            </m:ctrlPr>
                          </m:sSubPr>
                          <m:e>
                            <m:r>
                              <a:rPr lang="en-US" altLang="zh-TW" b="1" i="1" smtClean="0">
                                <a:latin typeface="Cambria Math"/>
                              </a:rPr>
                              <m:t>𝑨</m:t>
                            </m:r>
                          </m:e>
                          <m:sub>
                            <m:r>
                              <a:rPr lang="en-US" altLang="zh-TW" b="1" i="1" smtClean="0">
                                <a:latin typeface="Cambria Math"/>
                              </a:rPr>
                              <m:t>𝑻</m:t>
                            </m:r>
                          </m:sub>
                        </m:sSub>
                        <m:r>
                          <a:rPr lang="en-US" altLang="zh-TW" b="1" i="1" smtClean="0">
                            <a:latin typeface="Cambria Math"/>
                          </a:rPr>
                          <m:t>−</m:t>
                        </m:r>
                        <m:acc>
                          <m:accPr>
                            <m:chr m:val="̅"/>
                            <m:ctrlPr>
                              <a:rPr lang="en-US" altLang="zh-TW" b="1" i="1">
                                <a:latin typeface="Cambria Math" panose="02040503050406030204" pitchFamily="18" charset="0"/>
                              </a:rPr>
                            </m:ctrlPr>
                          </m:accPr>
                          <m:e>
                            <m:r>
                              <a:rPr lang="en-US" altLang="zh-TW" b="1" i="1">
                                <a:latin typeface="Cambria Math"/>
                              </a:rPr>
                              <m:t>𝑩</m:t>
                            </m:r>
                          </m:e>
                        </m:acc>
                        <m:r>
                          <a:rPr lang="en-US" altLang="zh-TW" b="1" i="1" smtClean="0">
                            <a:latin typeface="Cambria Math"/>
                          </a:rPr>
                          <m:t>−</m:t>
                        </m:r>
                        <m:acc>
                          <m:accPr>
                            <m:chr m:val="̅"/>
                            <m:ctrlPr>
                              <a:rPr lang="en-US" altLang="zh-TW" b="1" i="1">
                                <a:latin typeface="Cambria Math" panose="02040503050406030204" pitchFamily="18" charset="0"/>
                              </a:rPr>
                            </m:ctrlPr>
                          </m:accPr>
                          <m:e>
                            <m:r>
                              <a:rPr lang="en-US" altLang="zh-TW" b="1" i="1" smtClean="0">
                                <a:latin typeface="Cambria Math"/>
                              </a:rPr>
                              <m:t>𝑪</m:t>
                            </m:r>
                          </m:e>
                        </m:acc>
                      </m:num>
                      <m:den>
                        <m:r>
                          <a:rPr lang="en-US" altLang="zh-TW" b="1" i="1" smtClean="0">
                            <a:latin typeface="Cambria Math"/>
                          </a:rPr>
                          <m:t>𝒏</m:t>
                        </m:r>
                      </m:den>
                    </m:f>
                  </m:oMath>
                </a14:m>
                <a:r>
                  <a:rPr lang="en-US" altLang="zh-TW" b="1" i="1" dirty="0" smtClean="0"/>
                  <a:t>   ;</a:t>
                </a:r>
                <a:endParaRPr lang="en-US" altLang="zh-TW" b="1" i="1" dirty="0"/>
              </a:p>
              <a:p>
                <a:pPr marL="0" indent="0">
                  <a:buNone/>
                </a:pPr>
                <a:r>
                  <a:rPr lang="en-US" altLang="zh-TW" b="1" i="1" dirty="0"/>
                  <a:t> </a:t>
                </a:r>
              </a:p>
              <a:p>
                <a:pPr marL="0" indent="0">
                  <a:buNone/>
                </a:pPr>
                <a:r>
                  <a:rPr lang="en-US" altLang="zh-TW" b="1" i="1" dirty="0"/>
                  <a:t>      </a:t>
                </a:r>
                <a:r>
                  <a:rPr lang="en-US" altLang="zh-TW" dirty="0"/>
                  <a:t>the stock price as the CC is converted</a:t>
                </a:r>
              </a:p>
              <a:p>
                <a:pPr marL="0" indent="0">
                  <a:buNone/>
                </a:pPr>
                <a:endParaRPr lang="en-US" altLang="zh-TW" dirty="0"/>
              </a:p>
              <a:p>
                <a:pPr marL="0" indent="0">
                  <a:buNone/>
                </a:pPr>
                <a:r>
                  <a:rPr lang="en-US" altLang="zh-TW" dirty="0" smtClean="0"/>
                  <a:t>                                </a:t>
                </a:r>
                <a14:m>
                  <m:oMath xmlns:m="http://schemas.openxmlformats.org/officeDocument/2006/math">
                    <m:sSubSup>
                      <m:sSubSupPr>
                        <m:ctrlPr>
                          <a:rPr lang="en-US" altLang="zh-TW" b="1" i="1">
                            <a:latin typeface="Cambria Math" panose="02040503050406030204" pitchFamily="18" charset="0"/>
                          </a:rPr>
                        </m:ctrlPr>
                      </m:sSubSupPr>
                      <m:e>
                        <m:r>
                          <a:rPr lang="en-US" altLang="zh-TW" b="1" i="1">
                            <a:latin typeface="Cambria Math"/>
                          </a:rPr>
                          <m:t>𝑺</m:t>
                        </m:r>
                      </m:e>
                      <m:sub>
                        <m:r>
                          <a:rPr lang="en-US" altLang="zh-TW" b="1" i="1">
                            <a:latin typeface="Cambria Math"/>
                          </a:rPr>
                          <m:t>𝑻</m:t>
                        </m:r>
                      </m:sub>
                      <m:sup>
                        <m:r>
                          <a:rPr lang="en-US" altLang="zh-TW" b="1" i="1" smtClean="0">
                            <a:latin typeface="Cambria Math"/>
                          </a:rPr>
                          <m:t>𝒄</m:t>
                        </m:r>
                      </m:sup>
                    </m:sSubSup>
                    <m:r>
                      <a:rPr lang="en-US" altLang="zh-TW" b="1" i="1">
                        <a:latin typeface="Cambria Math"/>
                      </a:rPr>
                      <m:t>= </m:t>
                    </m:r>
                    <m:f>
                      <m:fPr>
                        <m:ctrlPr>
                          <a:rPr lang="en-US" altLang="zh-TW" b="1" i="1">
                            <a:latin typeface="Cambria Math" panose="02040503050406030204" pitchFamily="18" charset="0"/>
                          </a:rPr>
                        </m:ctrlPr>
                      </m:fPr>
                      <m:num>
                        <m:sSub>
                          <m:sSubPr>
                            <m:ctrlPr>
                              <a:rPr lang="en-US" altLang="zh-TW" b="1" i="1">
                                <a:latin typeface="Cambria Math" panose="02040503050406030204" pitchFamily="18" charset="0"/>
                              </a:rPr>
                            </m:ctrlPr>
                          </m:sSubPr>
                          <m:e>
                            <m:r>
                              <a:rPr lang="en-US" altLang="zh-TW" b="1" i="1">
                                <a:latin typeface="Cambria Math"/>
                              </a:rPr>
                              <m:t>𝑨</m:t>
                            </m:r>
                          </m:e>
                          <m:sub>
                            <m:r>
                              <a:rPr lang="en-US" altLang="zh-TW" b="1" i="1">
                                <a:latin typeface="Cambria Math"/>
                              </a:rPr>
                              <m:t>𝑻</m:t>
                            </m:r>
                          </m:sub>
                        </m:sSub>
                        <m:r>
                          <a:rPr lang="en-US" altLang="zh-TW" b="1" i="1">
                            <a:latin typeface="Cambria Math"/>
                          </a:rPr>
                          <m:t>−</m:t>
                        </m:r>
                        <m:acc>
                          <m:accPr>
                            <m:chr m:val="̅"/>
                            <m:ctrlPr>
                              <a:rPr lang="en-US" altLang="zh-TW" b="1" i="1">
                                <a:latin typeface="Cambria Math" panose="02040503050406030204" pitchFamily="18" charset="0"/>
                              </a:rPr>
                            </m:ctrlPr>
                          </m:accPr>
                          <m:e>
                            <m:r>
                              <a:rPr lang="en-US" altLang="zh-TW" b="1" i="1">
                                <a:latin typeface="Cambria Math"/>
                              </a:rPr>
                              <m:t>𝑩</m:t>
                            </m:r>
                          </m:e>
                        </m:acc>
                      </m:num>
                      <m:den>
                        <m:r>
                          <a:rPr lang="en-US" altLang="zh-TW" b="1" i="1">
                            <a:latin typeface="Cambria Math"/>
                          </a:rPr>
                          <m:t>𝒏</m:t>
                        </m:r>
                        <m:r>
                          <a:rPr lang="en-US" altLang="zh-TW" b="1" i="1" smtClean="0">
                            <a:latin typeface="Cambria Math"/>
                          </a:rPr>
                          <m:t>+</m:t>
                        </m:r>
                        <m:r>
                          <a:rPr lang="en-US" altLang="zh-TW" b="1" i="1" smtClean="0">
                            <a:latin typeface="Cambria Math"/>
                          </a:rPr>
                          <m:t>𝒎</m:t>
                        </m:r>
                      </m:den>
                    </m:f>
                  </m:oMath>
                </a14:m>
                <a:r>
                  <a:rPr lang="en-US" altLang="zh-TW" b="1" i="1" dirty="0" smtClean="0"/>
                  <a:t>  .                       </a:t>
                </a:r>
                <a:endParaRPr lang="zh-TW" altLang="en-US" b="1" i="1"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179512" y="260648"/>
                <a:ext cx="8712968" cy="6480720"/>
              </a:xfrm>
              <a:blipFill rotWithShape="1">
                <a:blip r:embed="rId2"/>
                <a:stretch>
                  <a:fillRect l="-1189" t="-84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50622637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1703512" y="260648"/>
                <a:ext cx="8784976" cy="6597352"/>
              </a:xfrm>
            </p:spPr>
            <p:txBody>
              <a:bodyPr>
                <a:normAutofit/>
              </a:bodyPr>
              <a:lstStyle/>
              <a:p>
                <a:r>
                  <a:rPr lang="en-US" altLang="zh-TW" dirty="0"/>
                  <a:t>Since the CC stays unconverted at time T if and only if</a:t>
                </a:r>
              </a:p>
              <a:p>
                <a:pPr marL="0" indent="0">
                  <a:buNone/>
                </a:pPr>
                <a:r>
                  <a:rPr lang="en-US" altLang="zh-TW" dirty="0"/>
                  <a:t>                </a:t>
                </a:r>
              </a:p>
              <a:p>
                <a:pPr marL="0" indent="0">
                  <a:buNone/>
                </a:pPr>
                <a:r>
                  <a:rPr lang="en-US" altLang="zh-TW" dirty="0"/>
                  <a:t>                                           </a:t>
                </a:r>
                <a14:m>
                  <m:oMath xmlns:m="http://schemas.openxmlformats.org/officeDocument/2006/math">
                    <m:r>
                      <a:rPr lang="en-US" altLang="zh-TW" b="1" i="1">
                        <a:latin typeface="Cambria Math"/>
                      </a:rPr>
                      <m:t>𝒏</m:t>
                    </m:r>
                    <m:sSubSup>
                      <m:sSubSupPr>
                        <m:ctrlPr>
                          <a:rPr lang="en-US" altLang="zh-TW" b="1" i="1">
                            <a:latin typeface="Cambria Math" panose="02040503050406030204" pitchFamily="18" charset="0"/>
                          </a:rPr>
                        </m:ctrlPr>
                      </m:sSubSupPr>
                      <m:e>
                        <m:r>
                          <a:rPr lang="en-US" altLang="zh-TW" b="1" i="1">
                            <a:latin typeface="Cambria Math"/>
                          </a:rPr>
                          <m:t>𝑺</m:t>
                        </m:r>
                      </m:e>
                      <m:sub>
                        <m:r>
                          <a:rPr lang="en-US" altLang="zh-TW" b="1" i="1">
                            <a:latin typeface="Cambria Math"/>
                          </a:rPr>
                          <m:t>𝑻</m:t>
                        </m:r>
                      </m:sub>
                      <m:sup>
                        <m:r>
                          <a:rPr lang="en-US" altLang="zh-TW" b="1" i="1">
                            <a:latin typeface="Cambria Math"/>
                          </a:rPr>
                          <m:t>𝒖</m:t>
                        </m:r>
                      </m:sup>
                    </m:sSubSup>
                    <m:r>
                      <a:rPr lang="en-US" altLang="zh-TW" b="1" i="1">
                        <a:latin typeface="Cambria Math"/>
                      </a:rPr>
                      <m:t>&gt;</m:t>
                    </m:r>
                    <m:r>
                      <a:rPr lang="en-US" altLang="zh-TW" b="1" i="1">
                        <a:latin typeface="Cambria Math"/>
                      </a:rPr>
                      <m:t>𝑲</m:t>
                    </m:r>
                  </m:oMath>
                </a14:m>
                <a:endParaRPr lang="en-US" altLang="zh-TW" dirty="0"/>
              </a:p>
              <a:p>
                <a:pPr marL="0" indent="0">
                  <a:buNone/>
                </a:pPr>
                <a:endParaRPr lang="en-US" altLang="zh-TW" dirty="0"/>
              </a:p>
              <a:p>
                <a:pPr marL="0" indent="0">
                  <a:buNone/>
                </a:pPr>
                <a:r>
                  <a:rPr lang="en-US" altLang="zh-TW" dirty="0"/>
                  <a:t>     That implies, given</a:t>
                </a:r>
              </a:p>
              <a:p>
                <a:pPr marL="0" indent="0">
                  <a:buNone/>
                </a:pPr>
                <a:r>
                  <a:rPr lang="en-US" altLang="zh-TW" dirty="0"/>
                  <a:t>                 </a:t>
                </a:r>
              </a:p>
              <a:p>
                <a:pPr marL="0" indent="0">
                  <a:buNone/>
                </a:pPr>
                <a:r>
                  <a:rPr lang="en-US" altLang="zh-TW" dirty="0"/>
                  <a:t>                      </a:t>
                </a:r>
                <a:r>
                  <a:rPr lang="en-US" altLang="zh-TW" sz="2400" b="1" i="1" dirty="0">
                    <a:latin typeface="Cambria Math"/>
                  </a:rPr>
                  <a:t>                     </a:t>
                </a:r>
                <a14:m>
                  <m:oMath xmlns:m="http://schemas.openxmlformats.org/officeDocument/2006/math">
                    <m:sSubSup>
                      <m:sSubSupPr>
                        <m:ctrlPr>
                          <a:rPr lang="en-US" altLang="zh-TW" b="1" i="1">
                            <a:latin typeface="Cambria Math" panose="02040503050406030204" pitchFamily="18" charset="0"/>
                          </a:rPr>
                        </m:ctrlPr>
                      </m:sSubSupPr>
                      <m:e>
                        <m:r>
                          <a:rPr lang="en-US" altLang="zh-TW" b="1" i="1">
                            <a:latin typeface="Cambria Math"/>
                          </a:rPr>
                          <m:t>𝑺</m:t>
                        </m:r>
                      </m:e>
                      <m:sub>
                        <m:r>
                          <a:rPr lang="en-US" altLang="zh-TW" b="1" i="1">
                            <a:latin typeface="Cambria Math"/>
                          </a:rPr>
                          <m:t>𝑻</m:t>
                        </m:r>
                      </m:sub>
                      <m:sup>
                        <m:r>
                          <a:rPr lang="en-US" altLang="zh-TW" b="1" i="1">
                            <a:latin typeface="Cambria Math"/>
                          </a:rPr>
                          <m:t>𝒖</m:t>
                        </m:r>
                      </m:sup>
                    </m:sSubSup>
                    <m:r>
                      <a:rPr lang="en-US" altLang="zh-TW" b="1" i="1">
                        <a:latin typeface="Cambria Math"/>
                      </a:rPr>
                      <m:t>= </m:t>
                    </m:r>
                    <m:f>
                      <m:fPr>
                        <m:ctrlPr>
                          <a:rPr lang="en-US" altLang="zh-TW" b="1" i="1">
                            <a:latin typeface="Cambria Math" panose="02040503050406030204" pitchFamily="18" charset="0"/>
                          </a:rPr>
                        </m:ctrlPr>
                      </m:fPr>
                      <m:num>
                        <m:sSub>
                          <m:sSubPr>
                            <m:ctrlPr>
                              <a:rPr lang="en-US" altLang="zh-TW" b="1" i="1">
                                <a:latin typeface="Cambria Math" panose="02040503050406030204" pitchFamily="18" charset="0"/>
                              </a:rPr>
                            </m:ctrlPr>
                          </m:sSubPr>
                          <m:e>
                            <m:r>
                              <a:rPr lang="en-US" altLang="zh-TW" b="1" i="1">
                                <a:latin typeface="Cambria Math"/>
                              </a:rPr>
                              <m:t>𝑨</m:t>
                            </m:r>
                          </m:e>
                          <m:sub>
                            <m:r>
                              <a:rPr lang="en-US" altLang="zh-TW" b="1" i="1">
                                <a:latin typeface="Cambria Math"/>
                              </a:rPr>
                              <m:t>𝑻</m:t>
                            </m:r>
                          </m:sub>
                        </m:sSub>
                        <m:r>
                          <a:rPr lang="en-US" altLang="zh-TW" b="1" i="1">
                            <a:latin typeface="Cambria Math"/>
                          </a:rPr>
                          <m:t>−</m:t>
                        </m:r>
                        <m:acc>
                          <m:accPr>
                            <m:chr m:val="̅"/>
                            <m:ctrlPr>
                              <a:rPr lang="en-US" altLang="zh-TW" b="1" i="1">
                                <a:latin typeface="Cambria Math" panose="02040503050406030204" pitchFamily="18" charset="0"/>
                              </a:rPr>
                            </m:ctrlPr>
                          </m:accPr>
                          <m:e>
                            <m:r>
                              <a:rPr lang="en-US" altLang="zh-TW" b="1" i="1">
                                <a:latin typeface="Cambria Math"/>
                              </a:rPr>
                              <m:t>𝑩</m:t>
                            </m:r>
                          </m:e>
                        </m:acc>
                        <m:r>
                          <a:rPr lang="en-US" altLang="zh-TW" b="1" i="1">
                            <a:latin typeface="Cambria Math"/>
                          </a:rPr>
                          <m:t>−</m:t>
                        </m:r>
                        <m:acc>
                          <m:accPr>
                            <m:chr m:val="̅"/>
                            <m:ctrlPr>
                              <a:rPr lang="en-US" altLang="zh-TW" b="1" i="1">
                                <a:latin typeface="Cambria Math" panose="02040503050406030204" pitchFamily="18" charset="0"/>
                              </a:rPr>
                            </m:ctrlPr>
                          </m:accPr>
                          <m:e>
                            <m:r>
                              <a:rPr lang="en-US" altLang="zh-TW" b="1" i="1">
                                <a:latin typeface="Cambria Math"/>
                              </a:rPr>
                              <m:t>𝑪</m:t>
                            </m:r>
                          </m:e>
                        </m:acc>
                      </m:num>
                      <m:den>
                        <m:r>
                          <a:rPr lang="en-US" altLang="zh-TW" b="1" i="1">
                            <a:latin typeface="Cambria Math"/>
                          </a:rPr>
                          <m:t>𝒏</m:t>
                        </m:r>
                      </m:den>
                    </m:f>
                  </m:oMath>
                </a14:m>
                <a:endParaRPr lang="en-US" altLang="zh-TW" dirty="0"/>
              </a:p>
              <a:p>
                <a:pPr marL="0" indent="0">
                  <a:buNone/>
                </a:pPr>
                <a:r>
                  <a:rPr lang="en-US" altLang="zh-TW" dirty="0"/>
                  <a:t>                                  </a:t>
                </a:r>
                <a14:m>
                  <m:oMath xmlns:m="http://schemas.openxmlformats.org/officeDocument/2006/math">
                    <m:r>
                      <a:rPr lang="en-US" altLang="zh-TW" b="1" i="1">
                        <a:latin typeface="Cambria Math"/>
                        <a:ea typeface="Cambria Math"/>
                      </a:rPr>
                      <m:t>→  </m:t>
                    </m:r>
                    <m:sSub>
                      <m:sSubPr>
                        <m:ctrlPr>
                          <a:rPr lang="en-US" altLang="zh-TW" b="1" i="1">
                            <a:latin typeface="Cambria Math" panose="02040503050406030204" pitchFamily="18" charset="0"/>
                            <a:ea typeface="Cambria Math"/>
                          </a:rPr>
                        </m:ctrlPr>
                      </m:sSubPr>
                      <m:e>
                        <m:r>
                          <a:rPr lang="en-US" altLang="zh-TW" b="1" i="1">
                            <a:latin typeface="Cambria Math"/>
                            <a:ea typeface="Cambria Math"/>
                          </a:rPr>
                          <m:t>𝑨</m:t>
                        </m:r>
                      </m:e>
                      <m:sub>
                        <m:r>
                          <a:rPr lang="en-US" altLang="zh-TW" b="1" i="1">
                            <a:latin typeface="Cambria Math"/>
                            <a:ea typeface="Cambria Math"/>
                          </a:rPr>
                          <m:t>𝑻</m:t>
                        </m:r>
                      </m:sub>
                    </m:sSub>
                    <m:r>
                      <a:rPr lang="en-US" altLang="zh-TW" b="1" i="1">
                        <a:latin typeface="Cambria Math"/>
                        <a:ea typeface="Cambria Math"/>
                      </a:rPr>
                      <m:t>=</m:t>
                    </m:r>
                    <m:r>
                      <a:rPr lang="en-US" altLang="zh-TW" b="1" i="1">
                        <a:latin typeface="Cambria Math"/>
                        <a:ea typeface="Cambria Math"/>
                      </a:rPr>
                      <m:t>𝒏</m:t>
                    </m:r>
                    <m:sSubSup>
                      <m:sSubSupPr>
                        <m:ctrlPr>
                          <a:rPr lang="en-US" altLang="zh-TW" b="1" i="1">
                            <a:latin typeface="Cambria Math" panose="02040503050406030204" pitchFamily="18" charset="0"/>
                          </a:rPr>
                        </m:ctrlPr>
                      </m:sSubSupPr>
                      <m:e>
                        <m:r>
                          <a:rPr lang="en-US" altLang="zh-TW" b="1" i="1">
                            <a:latin typeface="Cambria Math"/>
                          </a:rPr>
                          <m:t>𝑺</m:t>
                        </m:r>
                      </m:e>
                      <m:sub>
                        <m:r>
                          <a:rPr lang="en-US" altLang="zh-TW" b="1" i="1">
                            <a:latin typeface="Cambria Math"/>
                          </a:rPr>
                          <m:t>𝑻</m:t>
                        </m:r>
                      </m:sub>
                      <m:sup>
                        <m:r>
                          <a:rPr lang="en-US" altLang="zh-TW" b="1" i="1">
                            <a:latin typeface="Cambria Math"/>
                          </a:rPr>
                          <m:t>𝒖</m:t>
                        </m:r>
                      </m:sup>
                    </m:sSubSup>
                    <m:r>
                      <a:rPr lang="en-US" altLang="zh-TW" b="1" i="1">
                        <a:latin typeface="Cambria Math"/>
                        <a:ea typeface="Cambria Math"/>
                      </a:rPr>
                      <m:t>+</m:t>
                    </m:r>
                    <m:acc>
                      <m:accPr>
                        <m:chr m:val="̅"/>
                        <m:ctrlPr>
                          <a:rPr lang="en-US" altLang="zh-TW" b="1" i="1">
                            <a:latin typeface="Cambria Math" panose="02040503050406030204" pitchFamily="18" charset="0"/>
                          </a:rPr>
                        </m:ctrlPr>
                      </m:accPr>
                      <m:e>
                        <m:r>
                          <a:rPr lang="en-US" altLang="zh-TW" b="1" i="1">
                            <a:latin typeface="Cambria Math"/>
                          </a:rPr>
                          <m:t>𝑩</m:t>
                        </m:r>
                      </m:e>
                    </m:acc>
                    <m:r>
                      <a:rPr lang="en-US" altLang="zh-TW" b="1" i="1">
                        <a:latin typeface="Cambria Math"/>
                      </a:rPr>
                      <m:t>+</m:t>
                    </m:r>
                    <m:acc>
                      <m:accPr>
                        <m:chr m:val="̅"/>
                        <m:ctrlPr>
                          <a:rPr lang="en-US" altLang="zh-TW" b="1" i="1">
                            <a:latin typeface="Cambria Math" panose="02040503050406030204" pitchFamily="18" charset="0"/>
                          </a:rPr>
                        </m:ctrlPr>
                      </m:accPr>
                      <m:e>
                        <m:r>
                          <a:rPr lang="en-US" altLang="zh-TW" b="1" i="1">
                            <a:latin typeface="Cambria Math"/>
                          </a:rPr>
                          <m:t>𝑪</m:t>
                        </m:r>
                      </m:e>
                    </m:acc>
                  </m:oMath>
                </a14:m>
                <a:r>
                  <a:rPr lang="en-US" altLang="zh-TW" dirty="0"/>
                  <a:t>,  </a:t>
                </a:r>
              </a:p>
              <a:p>
                <a:pPr marL="0" indent="0">
                  <a:buNone/>
                </a:pPr>
                <a:endParaRPr lang="en-US" altLang="zh-TW" dirty="0"/>
              </a:p>
              <a:p>
                <a:pPr marL="0" indent="0">
                  <a:buNone/>
                </a:pPr>
                <a:r>
                  <a:rPr lang="en-US" altLang="zh-TW" dirty="0"/>
                  <a:t>       </a:t>
                </a:r>
                <a14:m>
                  <m:oMath xmlns:m="http://schemas.openxmlformats.org/officeDocument/2006/math">
                    <m:sSub>
                      <m:sSubPr>
                        <m:ctrlPr>
                          <a:rPr lang="en-US" altLang="zh-TW" b="1" i="1">
                            <a:latin typeface="Cambria Math" panose="02040503050406030204" pitchFamily="18" charset="0"/>
                            <a:ea typeface="Cambria Math"/>
                          </a:rPr>
                        </m:ctrlPr>
                      </m:sSubPr>
                      <m:e>
                        <m:r>
                          <a:rPr lang="en-US" altLang="zh-TW" b="1" i="1">
                            <a:latin typeface="Cambria Math"/>
                            <a:ea typeface="Cambria Math"/>
                          </a:rPr>
                          <m:t>𝑨</m:t>
                        </m:r>
                      </m:e>
                      <m:sub>
                        <m:r>
                          <a:rPr lang="en-US" altLang="zh-TW" b="1" i="1">
                            <a:latin typeface="Cambria Math"/>
                            <a:ea typeface="Cambria Math"/>
                          </a:rPr>
                          <m:t>𝑻</m:t>
                        </m:r>
                      </m:sub>
                    </m:sSub>
                    <m:r>
                      <a:rPr lang="en-US" altLang="zh-TW" b="1" i="1">
                        <a:latin typeface="Cambria Math"/>
                        <a:ea typeface="Cambria Math"/>
                      </a:rPr>
                      <m:t>&gt;</m:t>
                    </m:r>
                    <m:r>
                      <a:rPr lang="en-US" altLang="zh-TW" b="1" i="1">
                        <a:latin typeface="Cambria Math"/>
                        <a:ea typeface="Cambria Math"/>
                      </a:rPr>
                      <m:t>𝑲</m:t>
                    </m:r>
                    <m:r>
                      <a:rPr lang="en-US" altLang="zh-TW" b="1" i="1">
                        <a:latin typeface="Cambria Math"/>
                        <a:ea typeface="Cambria Math"/>
                      </a:rPr>
                      <m:t>+</m:t>
                    </m:r>
                    <m:acc>
                      <m:accPr>
                        <m:chr m:val="̅"/>
                        <m:ctrlPr>
                          <a:rPr lang="en-US" altLang="zh-TW" b="1" i="1">
                            <a:latin typeface="Cambria Math" panose="02040503050406030204" pitchFamily="18" charset="0"/>
                          </a:rPr>
                        </m:ctrlPr>
                      </m:accPr>
                      <m:e>
                        <m:r>
                          <a:rPr lang="en-US" altLang="zh-TW" b="1" i="1">
                            <a:latin typeface="Cambria Math"/>
                          </a:rPr>
                          <m:t>𝑩</m:t>
                        </m:r>
                      </m:e>
                    </m:acc>
                    <m:r>
                      <a:rPr lang="en-US" altLang="zh-TW" b="1" i="1">
                        <a:latin typeface="Cambria Math"/>
                      </a:rPr>
                      <m:t>+</m:t>
                    </m:r>
                    <m:acc>
                      <m:accPr>
                        <m:chr m:val="̅"/>
                        <m:ctrlPr>
                          <a:rPr lang="en-US" altLang="zh-TW" b="1" i="1">
                            <a:latin typeface="Cambria Math" panose="02040503050406030204" pitchFamily="18" charset="0"/>
                          </a:rPr>
                        </m:ctrlPr>
                      </m:accPr>
                      <m:e>
                        <m:r>
                          <a:rPr lang="en-US" altLang="zh-TW" b="1" i="1">
                            <a:latin typeface="Cambria Math"/>
                          </a:rPr>
                          <m:t>𝑪</m:t>
                        </m:r>
                      </m:e>
                    </m:acc>
                  </m:oMath>
                </a14:m>
                <a:r>
                  <a:rPr lang="zh-TW" altLang="en-US" dirty="0"/>
                  <a:t>  </a:t>
                </a:r>
                <a:r>
                  <a:rPr lang="en-US" altLang="zh-TW" dirty="0"/>
                  <a:t>if CC is unconverted at time T</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179512" y="260648"/>
                <a:ext cx="8784976" cy="6597352"/>
              </a:xfrm>
              <a:blipFill rotWithShape="1">
                <a:blip r:embed="rId2"/>
                <a:stretch>
                  <a:fillRect l="-1179" t="-83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2568575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1703512" y="188640"/>
                <a:ext cx="8784976" cy="6480720"/>
              </a:xfrm>
            </p:spPr>
            <p:txBody>
              <a:bodyPr>
                <a:normAutofit/>
              </a:bodyPr>
              <a:lstStyle/>
              <a:p>
                <a:r>
                  <a:rPr lang="en-US" altLang="zh-TW" dirty="0"/>
                  <a:t>As the same token, since the CC should be converted at time T if and only if</a:t>
                </a:r>
              </a:p>
              <a:p>
                <a:pPr marL="0" indent="0">
                  <a:buNone/>
                </a:pPr>
                <a:r>
                  <a:rPr lang="en-US" altLang="zh-TW" dirty="0"/>
                  <a:t> </a:t>
                </a:r>
              </a:p>
              <a:p>
                <a:pPr marL="0" indent="0">
                  <a:buNone/>
                </a:pPr>
                <a:r>
                  <a:rPr lang="en-US" altLang="zh-TW" dirty="0"/>
                  <a:t>                                          </a:t>
                </a:r>
                <a14:m>
                  <m:oMath xmlns:m="http://schemas.openxmlformats.org/officeDocument/2006/math">
                    <m:r>
                      <a:rPr lang="en-US" altLang="zh-TW" b="1" i="1">
                        <a:latin typeface="Cambria Math"/>
                      </a:rPr>
                      <m:t>𝒏</m:t>
                    </m:r>
                    <m:sSubSup>
                      <m:sSubSupPr>
                        <m:ctrlPr>
                          <a:rPr lang="en-US" altLang="zh-TW" b="1" i="1">
                            <a:latin typeface="Cambria Math" panose="02040503050406030204" pitchFamily="18" charset="0"/>
                          </a:rPr>
                        </m:ctrlPr>
                      </m:sSubSupPr>
                      <m:e>
                        <m:r>
                          <a:rPr lang="en-US" altLang="zh-TW" b="1" i="1">
                            <a:latin typeface="Cambria Math"/>
                          </a:rPr>
                          <m:t>𝑺</m:t>
                        </m:r>
                      </m:e>
                      <m:sub>
                        <m:r>
                          <a:rPr lang="en-US" altLang="zh-TW" b="1" i="1">
                            <a:latin typeface="Cambria Math"/>
                          </a:rPr>
                          <m:t>𝑻</m:t>
                        </m:r>
                      </m:sub>
                      <m:sup>
                        <m:r>
                          <a:rPr lang="en-US" altLang="zh-TW" b="1" i="1">
                            <a:latin typeface="Cambria Math"/>
                          </a:rPr>
                          <m:t>𝒄</m:t>
                        </m:r>
                      </m:sup>
                    </m:sSubSup>
                    <m:r>
                      <a:rPr lang="en-US" altLang="zh-TW" b="1" i="1">
                        <a:latin typeface="Cambria Math"/>
                        <a:ea typeface="Cambria Math"/>
                      </a:rPr>
                      <m:t>≤</m:t>
                    </m:r>
                    <m:r>
                      <a:rPr lang="en-US" altLang="zh-TW" b="1" i="1">
                        <a:latin typeface="Cambria Math"/>
                      </a:rPr>
                      <m:t>𝑲</m:t>
                    </m:r>
                  </m:oMath>
                </a14:m>
                <a:r>
                  <a:rPr lang="en-US" altLang="zh-TW" dirty="0"/>
                  <a:t>,                (</a:t>
                </a:r>
                <a14:m>
                  <m:oMath xmlns:m="http://schemas.openxmlformats.org/officeDocument/2006/math">
                    <m:sSubSup>
                      <m:sSubSupPr>
                        <m:ctrlPr>
                          <a:rPr lang="en-US" altLang="zh-TW" b="1" i="1">
                            <a:latin typeface="Cambria Math" panose="02040503050406030204" pitchFamily="18" charset="0"/>
                          </a:rPr>
                        </m:ctrlPr>
                      </m:sSubSupPr>
                      <m:e>
                        <m:r>
                          <a:rPr lang="en-US" altLang="zh-TW" b="1" i="1">
                            <a:latin typeface="Cambria Math"/>
                          </a:rPr>
                          <m:t>𝑺</m:t>
                        </m:r>
                      </m:e>
                      <m:sub>
                        <m:r>
                          <a:rPr lang="en-US" altLang="zh-TW" b="1" i="1">
                            <a:latin typeface="Cambria Math"/>
                          </a:rPr>
                          <m:t>𝑻</m:t>
                        </m:r>
                      </m:sub>
                      <m:sup>
                        <m:r>
                          <a:rPr lang="en-US" altLang="zh-TW" b="1" i="1">
                            <a:latin typeface="Cambria Math"/>
                          </a:rPr>
                          <m:t>𝒄</m:t>
                        </m:r>
                      </m:sup>
                    </m:sSubSup>
                    <m:r>
                      <a:rPr lang="en-US" altLang="zh-TW" b="1" i="1">
                        <a:latin typeface="Cambria Math"/>
                        <a:ea typeface="Cambria Math"/>
                      </a:rPr>
                      <m:t>≤</m:t>
                    </m:r>
                    <m:f>
                      <m:fPr>
                        <m:ctrlPr>
                          <a:rPr lang="en-US" altLang="zh-TW" b="1" i="1">
                            <a:latin typeface="Cambria Math" panose="02040503050406030204" pitchFamily="18" charset="0"/>
                            <a:ea typeface="Cambria Math"/>
                          </a:rPr>
                        </m:ctrlPr>
                      </m:fPr>
                      <m:num>
                        <m:r>
                          <a:rPr lang="en-US" altLang="zh-TW" b="1" i="1">
                            <a:latin typeface="Cambria Math"/>
                            <a:ea typeface="Cambria Math"/>
                          </a:rPr>
                          <m:t>𝑲</m:t>
                        </m:r>
                      </m:num>
                      <m:den>
                        <m:r>
                          <a:rPr lang="en-US" altLang="zh-TW" b="1" i="1">
                            <a:latin typeface="Cambria Math"/>
                            <a:ea typeface="Cambria Math"/>
                          </a:rPr>
                          <m:t>𝒏</m:t>
                        </m:r>
                      </m:den>
                    </m:f>
                  </m:oMath>
                </a14:m>
                <a:r>
                  <a:rPr lang="en-US" altLang="zh-TW" dirty="0"/>
                  <a:t>)</a:t>
                </a:r>
              </a:p>
              <a:p>
                <a:pPr marL="0" indent="0">
                  <a:buNone/>
                </a:pPr>
                <a:endParaRPr lang="en-US" altLang="zh-TW" dirty="0"/>
              </a:p>
              <a:p>
                <a:pPr marL="0" indent="0">
                  <a:buNone/>
                </a:pPr>
                <a:r>
                  <a:rPr lang="en-US" altLang="zh-TW" dirty="0"/>
                  <a:t>      That implies, given</a:t>
                </a:r>
              </a:p>
              <a:p>
                <a:pPr marL="0" indent="0">
                  <a:buNone/>
                </a:pPr>
                <a:endParaRPr lang="en-US" altLang="zh-TW" dirty="0"/>
              </a:p>
              <a:p>
                <a:pPr marL="0" indent="0">
                  <a:buNone/>
                </a:pPr>
                <a:r>
                  <a:rPr lang="zh-TW" altLang="en-US" dirty="0"/>
                  <a:t>                                        </a:t>
                </a:r>
                <a:r>
                  <a:rPr lang="en-US" altLang="zh-TW" dirty="0"/>
                  <a:t> </a:t>
                </a:r>
                <a14:m>
                  <m:oMath xmlns:m="http://schemas.openxmlformats.org/officeDocument/2006/math">
                    <m:sSubSup>
                      <m:sSubSupPr>
                        <m:ctrlPr>
                          <a:rPr lang="en-US" altLang="zh-TW" b="1" i="1">
                            <a:latin typeface="Cambria Math" panose="02040503050406030204" pitchFamily="18" charset="0"/>
                          </a:rPr>
                        </m:ctrlPr>
                      </m:sSubSupPr>
                      <m:e>
                        <m:r>
                          <a:rPr lang="en-US" altLang="zh-TW" b="1" i="1">
                            <a:latin typeface="Cambria Math"/>
                          </a:rPr>
                          <m:t>𝑺</m:t>
                        </m:r>
                      </m:e>
                      <m:sub>
                        <m:r>
                          <a:rPr lang="en-US" altLang="zh-TW" b="1" i="1">
                            <a:latin typeface="Cambria Math"/>
                          </a:rPr>
                          <m:t>𝑻</m:t>
                        </m:r>
                      </m:sub>
                      <m:sup>
                        <m:r>
                          <a:rPr lang="en-US" altLang="zh-TW" b="1" i="1">
                            <a:latin typeface="Cambria Math"/>
                          </a:rPr>
                          <m:t>𝒄</m:t>
                        </m:r>
                      </m:sup>
                    </m:sSubSup>
                    <m:r>
                      <a:rPr lang="en-US" altLang="zh-TW" b="1" i="1">
                        <a:latin typeface="Cambria Math"/>
                      </a:rPr>
                      <m:t>= </m:t>
                    </m:r>
                    <m:f>
                      <m:fPr>
                        <m:ctrlPr>
                          <a:rPr lang="en-US" altLang="zh-TW" b="1" i="1">
                            <a:latin typeface="Cambria Math" panose="02040503050406030204" pitchFamily="18" charset="0"/>
                          </a:rPr>
                        </m:ctrlPr>
                      </m:fPr>
                      <m:num>
                        <m:sSub>
                          <m:sSubPr>
                            <m:ctrlPr>
                              <a:rPr lang="en-US" altLang="zh-TW" b="1" i="1">
                                <a:latin typeface="Cambria Math" panose="02040503050406030204" pitchFamily="18" charset="0"/>
                              </a:rPr>
                            </m:ctrlPr>
                          </m:sSubPr>
                          <m:e>
                            <m:r>
                              <a:rPr lang="en-US" altLang="zh-TW" b="1" i="1">
                                <a:latin typeface="Cambria Math"/>
                              </a:rPr>
                              <m:t>𝑨</m:t>
                            </m:r>
                          </m:e>
                          <m:sub>
                            <m:r>
                              <a:rPr lang="en-US" altLang="zh-TW" b="1" i="1">
                                <a:latin typeface="Cambria Math"/>
                              </a:rPr>
                              <m:t>𝑻</m:t>
                            </m:r>
                          </m:sub>
                        </m:sSub>
                        <m:r>
                          <a:rPr lang="en-US" altLang="zh-TW" b="1" i="1">
                            <a:latin typeface="Cambria Math"/>
                          </a:rPr>
                          <m:t>−</m:t>
                        </m:r>
                        <m:acc>
                          <m:accPr>
                            <m:chr m:val="̅"/>
                            <m:ctrlPr>
                              <a:rPr lang="en-US" altLang="zh-TW" b="1" i="1">
                                <a:latin typeface="Cambria Math" panose="02040503050406030204" pitchFamily="18" charset="0"/>
                              </a:rPr>
                            </m:ctrlPr>
                          </m:accPr>
                          <m:e>
                            <m:r>
                              <a:rPr lang="en-US" altLang="zh-TW" b="1" i="1">
                                <a:latin typeface="Cambria Math"/>
                              </a:rPr>
                              <m:t>𝑩</m:t>
                            </m:r>
                          </m:e>
                        </m:acc>
                      </m:num>
                      <m:den>
                        <m:r>
                          <a:rPr lang="en-US" altLang="zh-TW" b="1" i="1">
                            <a:latin typeface="Cambria Math"/>
                          </a:rPr>
                          <m:t>𝒏</m:t>
                        </m:r>
                        <m:r>
                          <a:rPr lang="en-US" altLang="zh-TW" b="1" i="1">
                            <a:latin typeface="Cambria Math"/>
                          </a:rPr>
                          <m:t>+</m:t>
                        </m:r>
                        <m:r>
                          <a:rPr lang="en-US" altLang="zh-TW" b="1" i="1">
                            <a:latin typeface="Cambria Math"/>
                          </a:rPr>
                          <m:t>𝒎</m:t>
                        </m:r>
                      </m:den>
                    </m:f>
                  </m:oMath>
                </a14:m>
                <a:endParaRPr lang="en-US" altLang="zh-TW" dirty="0"/>
              </a:p>
              <a:p>
                <a:pPr marL="0" indent="0">
                  <a:buNone/>
                </a:pPr>
                <a:r>
                  <a:rPr lang="zh-TW" altLang="en-US" dirty="0"/>
                  <a:t>                                  </a:t>
                </a:r>
                <a14:m>
                  <m:oMath xmlns:m="http://schemas.openxmlformats.org/officeDocument/2006/math">
                    <m:r>
                      <a:rPr lang="en-US" altLang="zh-TW" b="1" i="1">
                        <a:latin typeface="Cambria Math"/>
                        <a:ea typeface="Cambria Math"/>
                      </a:rPr>
                      <m:t>→  </m:t>
                    </m:r>
                    <m:sSub>
                      <m:sSubPr>
                        <m:ctrlPr>
                          <a:rPr lang="en-US" altLang="zh-TW" b="1" i="1">
                            <a:latin typeface="Cambria Math" panose="02040503050406030204" pitchFamily="18" charset="0"/>
                            <a:ea typeface="Cambria Math"/>
                          </a:rPr>
                        </m:ctrlPr>
                      </m:sSubPr>
                      <m:e>
                        <m:r>
                          <a:rPr lang="en-US" altLang="zh-TW" b="1" i="1">
                            <a:latin typeface="Cambria Math"/>
                            <a:ea typeface="Cambria Math"/>
                          </a:rPr>
                          <m:t>𝑨</m:t>
                        </m:r>
                      </m:e>
                      <m:sub>
                        <m:r>
                          <a:rPr lang="en-US" altLang="zh-TW" b="1" i="1">
                            <a:latin typeface="Cambria Math"/>
                            <a:ea typeface="Cambria Math"/>
                          </a:rPr>
                          <m:t>𝑻</m:t>
                        </m:r>
                      </m:sub>
                    </m:sSub>
                    <m:r>
                      <a:rPr lang="en-US" altLang="zh-TW" b="1" i="1">
                        <a:latin typeface="Cambria Math"/>
                        <a:ea typeface="Cambria Math"/>
                      </a:rPr>
                      <m:t>=</m:t>
                    </m:r>
                    <m:r>
                      <a:rPr lang="en-US" altLang="zh-TW" b="1" i="1">
                        <a:latin typeface="Cambria Math"/>
                        <a:ea typeface="Cambria Math"/>
                      </a:rPr>
                      <m:t>𝒏</m:t>
                    </m:r>
                    <m:sSubSup>
                      <m:sSubSupPr>
                        <m:ctrlPr>
                          <a:rPr lang="en-US" altLang="zh-TW" b="1" i="1">
                            <a:latin typeface="Cambria Math" panose="02040503050406030204" pitchFamily="18" charset="0"/>
                          </a:rPr>
                        </m:ctrlPr>
                      </m:sSubSupPr>
                      <m:e>
                        <m:r>
                          <a:rPr lang="en-US" altLang="zh-TW" b="1" i="1">
                            <a:latin typeface="Cambria Math"/>
                          </a:rPr>
                          <m:t>𝑺</m:t>
                        </m:r>
                      </m:e>
                      <m:sub>
                        <m:r>
                          <a:rPr lang="en-US" altLang="zh-TW" b="1" i="1">
                            <a:latin typeface="Cambria Math"/>
                          </a:rPr>
                          <m:t>𝑻</m:t>
                        </m:r>
                      </m:sub>
                      <m:sup>
                        <m:r>
                          <a:rPr lang="en-US" altLang="zh-TW" b="1" i="1">
                            <a:latin typeface="Cambria Math"/>
                          </a:rPr>
                          <m:t>𝒄</m:t>
                        </m:r>
                      </m:sup>
                    </m:sSubSup>
                    <m:r>
                      <a:rPr lang="en-US" altLang="zh-TW" b="1" i="1">
                        <a:latin typeface="Cambria Math"/>
                      </a:rPr>
                      <m:t>+</m:t>
                    </m:r>
                    <m:r>
                      <a:rPr lang="en-US" altLang="zh-TW" b="1" i="1">
                        <a:latin typeface="Cambria Math"/>
                      </a:rPr>
                      <m:t>𝒎</m:t>
                    </m:r>
                    <m:sSubSup>
                      <m:sSubSupPr>
                        <m:ctrlPr>
                          <a:rPr lang="en-US" altLang="zh-TW" b="1" i="1">
                            <a:latin typeface="Cambria Math" panose="02040503050406030204" pitchFamily="18" charset="0"/>
                          </a:rPr>
                        </m:ctrlPr>
                      </m:sSubSupPr>
                      <m:e>
                        <m:r>
                          <a:rPr lang="en-US" altLang="zh-TW" b="1" i="1">
                            <a:latin typeface="Cambria Math"/>
                          </a:rPr>
                          <m:t>𝑺</m:t>
                        </m:r>
                      </m:e>
                      <m:sub>
                        <m:r>
                          <a:rPr lang="en-US" altLang="zh-TW" b="1" i="1">
                            <a:latin typeface="Cambria Math"/>
                          </a:rPr>
                          <m:t>𝑻</m:t>
                        </m:r>
                      </m:sub>
                      <m:sup>
                        <m:r>
                          <a:rPr lang="en-US" altLang="zh-TW" b="1" i="1">
                            <a:latin typeface="Cambria Math"/>
                          </a:rPr>
                          <m:t>𝒄</m:t>
                        </m:r>
                      </m:sup>
                    </m:sSubSup>
                    <m:r>
                      <a:rPr lang="en-US" altLang="zh-TW" b="1" i="1">
                        <a:latin typeface="Cambria Math"/>
                      </a:rPr>
                      <m:t>+</m:t>
                    </m:r>
                    <m:acc>
                      <m:accPr>
                        <m:chr m:val="̅"/>
                        <m:ctrlPr>
                          <a:rPr lang="en-US" altLang="zh-TW" b="1" i="1">
                            <a:latin typeface="Cambria Math" panose="02040503050406030204" pitchFamily="18" charset="0"/>
                          </a:rPr>
                        </m:ctrlPr>
                      </m:accPr>
                      <m:e>
                        <m:r>
                          <a:rPr lang="en-US" altLang="zh-TW" b="1" i="1">
                            <a:latin typeface="Cambria Math"/>
                          </a:rPr>
                          <m:t>𝑩</m:t>
                        </m:r>
                      </m:e>
                    </m:acc>
                  </m:oMath>
                </a14:m>
                <a:r>
                  <a:rPr lang="zh-TW" altLang="en-US" dirty="0"/>
                  <a:t> </a:t>
                </a:r>
                <a:r>
                  <a:rPr lang="en-US" altLang="zh-TW" dirty="0"/>
                  <a:t>,</a:t>
                </a:r>
              </a:p>
              <a:p>
                <a:pPr marL="0" indent="0">
                  <a:buNone/>
                </a:pPr>
                <a:r>
                  <a:rPr lang="en-US" altLang="zh-TW" dirty="0"/>
                  <a:t>      </a:t>
                </a:r>
              </a:p>
              <a:p>
                <a:pPr marL="0" indent="0">
                  <a:buNone/>
                </a:pPr>
                <a:r>
                  <a:rPr lang="en-US" altLang="zh-TW" dirty="0"/>
                  <a:t>       </a:t>
                </a:r>
                <a14:m>
                  <m:oMath xmlns:m="http://schemas.openxmlformats.org/officeDocument/2006/math">
                    <m:sSub>
                      <m:sSubPr>
                        <m:ctrlPr>
                          <a:rPr lang="en-US" altLang="zh-TW" b="1" i="1">
                            <a:latin typeface="Cambria Math" panose="02040503050406030204" pitchFamily="18" charset="0"/>
                          </a:rPr>
                        </m:ctrlPr>
                      </m:sSubPr>
                      <m:e>
                        <m:r>
                          <a:rPr lang="en-US" altLang="zh-TW" b="1" i="1">
                            <a:latin typeface="Cambria Math"/>
                          </a:rPr>
                          <m:t>𝑨</m:t>
                        </m:r>
                      </m:e>
                      <m:sub>
                        <m:r>
                          <a:rPr lang="en-US" altLang="zh-TW" b="1" i="1">
                            <a:latin typeface="Cambria Math"/>
                          </a:rPr>
                          <m:t>𝑻</m:t>
                        </m:r>
                      </m:sub>
                    </m:sSub>
                    <m:r>
                      <a:rPr lang="en-US" altLang="zh-TW" b="1" i="1">
                        <a:latin typeface="Cambria Math"/>
                      </a:rPr>
                      <m:t> </m:t>
                    </m:r>
                    <m:r>
                      <a:rPr lang="en-US" altLang="zh-TW" b="1" i="1">
                        <a:latin typeface="Cambria Math"/>
                        <a:ea typeface="Cambria Math"/>
                      </a:rPr>
                      <m:t>≤</m:t>
                    </m:r>
                    <m:r>
                      <a:rPr lang="en-US" altLang="zh-TW" b="1" i="1">
                        <a:latin typeface="Cambria Math"/>
                        <a:ea typeface="Cambria Math"/>
                      </a:rPr>
                      <m:t>𝑲</m:t>
                    </m:r>
                    <m:r>
                      <a:rPr lang="en-US" altLang="zh-TW" b="1" i="1">
                        <a:latin typeface="Cambria Math"/>
                        <a:ea typeface="Cambria Math"/>
                      </a:rPr>
                      <m:t>+ </m:t>
                    </m:r>
                    <m:f>
                      <m:fPr>
                        <m:ctrlPr>
                          <a:rPr lang="en-US" altLang="zh-TW" b="1" i="1">
                            <a:latin typeface="Cambria Math" panose="02040503050406030204" pitchFamily="18" charset="0"/>
                            <a:ea typeface="Cambria Math"/>
                          </a:rPr>
                        </m:ctrlPr>
                      </m:fPr>
                      <m:num>
                        <m:r>
                          <a:rPr lang="en-US" altLang="zh-TW" b="1" i="1">
                            <a:latin typeface="Cambria Math"/>
                            <a:ea typeface="Cambria Math"/>
                          </a:rPr>
                          <m:t>𝒎</m:t>
                        </m:r>
                      </m:num>
                      <m:den>
                        <m:r>
                          <a:rPr lang="en-US" altLang="zh-TW" b="1" i="1">
                            <a:latin typeface="Cambria Math"/>
                            <a:ea typeface="Cambria Math"/>
                          </a:rPr>
                          <m:t>𝒏</m:t>
                        </m:r>
                      </m:den>
                    </m:f>
                    <m:r>
                      <a:rPr lang="en-US" altLang="zh-TW" b="1" i="1">
                        <a:latin typeface="Cambria Math"/>
                        <a:ea typeface="Cambria Math"/>
                      </a:rPr>
                      <m:t>𝑲</m:t>
                    </m:r>
                    <m:r>
                      <a:rPr lang="en-US" altLang="zh-TW" b="1" i="1">
                        <a:latin typeface="Cambria Math"/>
                        <a:ea typeface="Cambria Math"/>
                      </a:rPr>
                      <m:t>+</m:t>
                    </m:r>
                    <m:acc>
                      <m:accPr>
                        <m:chr m:val="̅"/>
                        <m:ctrlPr>
                          <a:rPr lang="en-US" altLang="zh-TW" b="1" i="1">
                            <a:latin typeface="Cambria Math" panose="02040503050406030204" pitchFamily="18" charset="0"/>
                          </a:rPr>
                        </m:ctrlPr>
                      </m:accPr>
                      <m:e>
                        <m:r>
                          <a:rPr lang="en-US" altLang="zh-TW" b="1" i="1">
                            <a:latin typeface="Cambria Math"/>
                          </a:rPr>
                          <m:t>𝑩</m:t>
                        </m:r>
                      </m:e>
                    </m:acc>
                  </m:oMath>
                </a14:m>
                <a:r>
                  <a:rPr lang="zh-TW" altLang="en-US" b="1" dirty="0"/>
                  <a:t> </a:t>
                </a:r>
                <a:r>
                  <a:rPr lang="en-US" altLang="zh-TW" b="1" dirty="0"/>
                  <a:t>, </a:t>
                </a:r>
                <a:r>
                  <a:rPr lang="en-US" altLang="zh-TW" dirty="0"/>
                  <a:t>if CC is converted at time T</a:t>
                </a:r>
                <a:endParaRPr lang="zh-TW" altLang="en-US" dirty="0"/>
              </a:p>
              <a:p>
                <a:pPr marL="0" indent="0">
                  <a:buNone/>
                </a:pPr>
                <a:endParaRPr lang="zh-TW" altLang="en-US" b="1"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179512" y="188640"/>
                <a:ext cx="8784976" cy="6480720"/>
              </a:xfrm>
              <a:blipFill rotWithShape="1">
                <a:blip r:embed="rId2"/>
                <a:stretch>
                  <a:fillRect l="-1179" t="-84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8429899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1524000" y="0"/>
                <a:ext cx="9144000" cy="6669360"/>
              </a:xfrm>
            </p:spPr>
            <p:txBody>
              <a:bodyPr>
                <a:normAutofit/>
              </a:bodyPr>
              <a:lstStyle/>
              <a:p>
                <a:r>
                  <a:rPr lang="en-US" altLang="zh-TW" dirty="0"/>
                  <a:t>Given  </a:t>
                </a:r>
                <a14:m>
                  <m:oMath xmlns:m="http://schemas.openxmlformats.org/officeDocument/2006/math">
                    <m:sSub>
                      <m:sSubPr>
                        <m:ctrlPr>
                          <a:rPr lang="en-US" altLang="zh-TW" b="1" i="1">
                            <a:latin typeface="Cambria Math" panose="02040503050406030204" pitchFamily="18" charset="0"/>
                            <a:ea typeface="Cambria Math"/>
                          </a:rPr>
                        </m:ctrlPr>
                      </m:sSubPr>
                      <m:e>
                        <m:r>
                          <a:rPr lang="en-US" altLang="zh-TW" b="1" i="1">
                            <a:latin typeface="Cambria Math"/>
                            <a:ea typeface="Cambria Math"/>
                          </a:rPr>
                          <m:t>𝑨</m:t>
                        </m:r>
                      </m:e>
                      <m:sub>
                        <m:r>
                          <a:rPr lang="en-US" altLang="zh-TW" b="1" i="1">
                            <a:latin typeface="Cambria Math"/>
                            <a:ea typeface="Cambria Math"/>
                          </a:rPr>
                          <m:t>𝑻</m:t>
                        </m:r>
                      </m:sub>
                    </m:sSub>
                    <m:r>
                      <a:rPr lang="en-US" altLang="zh-TW" b="1" i="1">
                        <a:latin typeface="Cambria Math"/>
                        <a:ea typeface="Cambria Math"/>
                      </a:rPr>
                      <m:t>&gt;</m:t>
                    </m:r>
                    <m:r>
                      <a:rPr lang="en-US" altLang="zh-TW" b="1" i="1">
                        <a:latin typeface="Cambria Math"/>
                        <a:ea typeface="Cambria Math"/>
                      </a:rPr>
                      <m:t>𝑲</m:t>
                    </m:r>
                    <m:r>
                      <a:rPr lang="en-US" altLang="zh-TW" b="1" i="1">
                        <a:latin typeface="Cambria Math"/>
                        <a:ea typeface="Cambria Math"/>
                      </a:rPr>
                      <m:t>+</m:t>
                    </m:r>
                    <m:acc>
                      <m:accPr>
                        <m:chr m:val="̅"/>
                        <m:ctrlPr>
                          <a:rPr lang="en-US" altLang="zh-TW" b="1" i="1">
                            <a:latin typeface="Cambria Math" panose="02040503050406030204" pitchFamily="18" charset="0"/>
                          </a:rPr>
                        </m:ctrlPr>
                      </m:accPr>
                      <m:e>
                        <m:r>
                          <a:rPr lang="en-US" altLang="zh-TW" b="1" i="1">
                            <a:latin typeface="Cambria Math"/>
                          </a:rPr>
                          <m:t>𝑩</m:t>
                        </m:r>
                      </m:e>
                    </m:acc>
                    <m:r>
                      <a:rPr lang="en-US" altLang="zh-TW" b="1" i="1">
                        <a:latin typeface="Cambria Math"/>
                      </a:rPr>
                      <m:t>+</m:t>
                    </m:r>
                    <m:acc>
                      <m:accPr>
                        <m:chr m:val="̅"/>
                        <m:ctrlPr>
                          <a:rPr lang="en-US" altLang="zh-TW" b="1" i="1">
                            <a:latin typeface="Cambria Math" panose="02040503050406030204" pitchFamily="18" charset="0"/>
                          </a:rPr>
                        </m:ctrlPr>
                      </m:accPr>
                      <m:e>
                        <m:r>
                          <a:rPr lang="en-US" altLang="zh-TW" b="1" i="1">
                            <a:latin typeface="Cambria Math"/>
                          </a:rPr>
                          <m:t>𝑪</m:t>
                        </m:r>
                      </m:e>
                    </m:acc>
                  </m:oMath>
                </a14:m>
                <a:r>
                  <a:rPr lang="en-US" altLang="zh-TW" dirty="0"/>
                  <a:t>  for the CC is unconverted at T</a:t>
                </a:r>
              </a:p>
              <a:p>
                <a:pPr marL="0" indent="0">
                  <a:buNone/>
                </a:pPr>
                <a:r>
                  <a:rPr lang="en-US" altLang="zh-TW" dirty="0"/>
                  <a:t>                </a:t>
                </a:r>
                <a14:m>
                  <m:oMath xmlns:m="http://schemas.openxmlformats.org/officeDocument/2006/math">
                    <m:sSub>
                      <m:sSubPr>
                        <m:ctrlPr>
                          <a:rPr lang="en-US" altLang="zh-TW" b="1" i="1">
                            <a:latin typeface="Cambria Math" panose="02040503050406030204" pitchFamily="18" charset="0"/>
                          </a:rPr>
                        </m:ctrlPr>
                      </m:sSubPr>
                      <m:e>
                        <m:r>
                          <a:rPr lang="en-US" altLang="zh-TW" b="1" i="1">
                            <a:latin typeface="Cambria Math"/>
                          </a:rPr>
                          <m:t>𝑨</m:t>
                        </m:r>
                      </m:e>
                      <m:sub>
                        <m:r>
                          <a:rPr lang="en-US" altLang="zh-TW" b="1" i="1">
                            <a:latin typeface="Cambria Math"/>
                          </a:rPr>
                          <m:t>𝑻</m:t>
                        </m:r>
                      </m:sub>
                    </m:sSub>
                    <m:r>
                      <a:rPr lang="en-US" altLang="zh-TW" b="1" i="1">
                        <a:latin typeface="Cambria Math"/>
                      </a:rPr>
                      <m:t> </m:t>
                    </m:r>
                    <m:r>
                      <a:rPr lang="en-US" altLang="zh-TW" b="1" i="1">
                        <a:latin typeface="Cambria Math"/>
                        <a:ea typeface="Cambria Math"/>
                      </a:rPr>
                      <m:t>≤</m:t>
                    </m:r>
                    <m:r>
                      <a:rPr lang="en-US" altLang="zh-TW" b="1" i="1">
                        <a:latin typeface="Cambria Math"/>
                        <a:ea typeface="Cambria Math"/>
                      </a:rPr>
                      <m:t>𝑲</m:t>
                    </m:r>
                    <m:r>
                      <a:rPr lang="en-US" altLang="zh-TW" b="1" i="1">
                        <a:latin typeface="Cambria Math"/>
                        <a:ea typeface="Cambria Math"/>
                      </a:rPr>
                      <m:t>+</m:t>
                    </m:r>
                    <m:acc>
                      <m:accPr>
                        <m:chr m:val="̅"/>
                        <m:ctrlPr>
                          <a:rPr lang="en-US" altLang="zh-TW" b="1" i="1">
                            <a:latin typeface="Cambria Math" panose="02040503050406030204" pitchFamily="18" charset="0"/>
                          </a:rPr>
                        </m:ctrlPr>
                      </m:accPr>
                      <m:e>
                        <m:r>
                          <a:rPr lang="en-US" altLang="zh-TW" b="1" i="1">
                            <a:latin typeface="Cambria Math"/>
                          </a:rPr>
                          <m:t>𝑩</m:t>
                        </m:r>
                      </m:e>
                    </m:acc>
                    <m:r>
                      <a:rPr lang="en-US" altLang="zh-TW" b="1" i="1">
                        <a:latin typeface="Cambria Math"/>
                      </a:rPr>
                      <m:t>+</m:t>
                    </m:r>
                    <m:f>
                      <m:fPr>
                        <m:ctrlPr>
                          <a:rPr lang="en-US" altLang="zh-TW" b="1" i="1">
                            <a:latin typeface="Cambria Math" panose="02040503050406030204" pitchFamily="18" charset="0"/>
                            <a:ea typeface="Cambria Math"/>
                          </a:rPr>
                        </m:ctrlPr>
                      </m:fPr>
                      <m:num>
                        <m:r>
                          <a:rPr lang="en-US" altLang="zh-TW" b="1" i="1">
                            <a:latin typeface="Cambria Math"/>
                            <a:ea typeface="Cambria Math"/>
                          </a:rPr>
                          <m:t>𝒎</m:t>
                        </m:r>
                      </m:num>
                      <m:den>
                        <m:r>
                          <a:rPr lang="en-US" altLang="zh-TW" b="1" i="1">
                            <a:latin typeface="Cambria Math"/>
                            <a:ea typeface="Cambria Math"/>
                          </a:rPr>
                          <m:t>𝒏</m:t>
                        </m:r>
                      </m:den>
                    </m:f>
                    <m:r>
                      <a:rPr lang="en-US" altLang="zh-TW" b="1" i="1">
                        <a:latin typeface="Cambria Math"/>
                        <a:ea typeface="Cambria Math"/>
                      </a:rPr>
                      <m:t>𝑲</m:t>
                    </m:r>
                  </m:oMath>
                </a14:m>
                <a:r>
                  <a:rPr lang="en-US" altLang="zh-TW" dirty="0"/>
                  <a:t>  for the CC is converted at T</a:t>
                </a:r>
              </a:p>
              <a:p>
                <a:pPr marL="0" indent="0">
                  <a:buNone/>
                </a:pPr>
                <a:endParaRPr lang="en-US" altLang="zh-TW" dirty="0"/>
              </a:p>
              <a:p>
                <a:pPr marL="0" indent="0">
                  <a:buNone/>
                </a:pPr>
                <a:r>
                  <a:rPr lang="en-US" altLang="zh-TW" dirty="0"/>
                  <a:t>     If  </a:t>
                </a:r>
                <a14:m>
                  <m:oMath xmlns:m="http://schemas.openxmlformats.org/officeDocument/2006/math">
                    <m:acc>
                      <m:accPr>
                        <m:chr m:val="̅"/>
                        <m:ctrlPr>
                          <a:rPr lang="en-US" altLang="zh-TW" b="1" i="1">
                            <a:latin typeface="Cambria Math" panose="02040503050406030204" pitchFamily="18" charset="0"/>
                          </a:rPr>
                        </m:ctrlPr>
                      </m:accPr>
                      <m:e>
                        <m:r>
                          <a:rPr lang="en-US" altLang="zh-TW" b="1" i="1">
                            <a:latin typeface="Cambria Math"/>
                          </a:rPr>
                          <m:t>𝑪</m:t>
                        </m:r>
                      </m:e>
                    </m:acc>
                    <m:r>
                      <a:rPr lang="en-US" altLang="zh-TW" b="1" i="1">
                        <a:latin typeface="Cambria Math"/>
                      </a:rPr>
                      <m:t>&lt;</m:t>
                    </m:r>
                  </m:oMath>
                </a14:m>
                <a:r>
                  <a:rPr lang="zh-TW" altLang="en-US" dirty="0"/>
                  <a:t>  </a:t>
                </a:r>
                <a14:m>
                  <m:oMath xmlns:m="http://schemas.openxmlformats.org/officeDocument/2006/math">
                    <m:f>
                      <m:fPr>
                        <m:ctrlPr>
                          <a:rPr lang="en-US" altLang="zh-TW" b="1" i="1">
                            <a:latin typeface="Cambria Math" panose="02040503050406030204" pitchFamily="18" charset="0"/>
                            <a:ea typeface="Cambria Math"/>
                          </a:rPr>
                        </m:ctrlPr>
                      </m:fPr>
                      <m:num>
                        <m:r>
                          <a:rPr lang="en-US" altLang="zh-TW" b="1" i="1">
                            <a:latin typeface="Cambria Math"/>
                            <a:ea typeface="Cambria Math"/>
                          </a:rPr>
                          <m:t>𝒎</m:t>
                        </m:r>
                      </m:num>
                      <m:den>
                        <m:r>
                          <a:rPr lang="en-US" altLang="zh-TW" b="1" i="1">
                            <a:latin typeface="Cambria Math"/>
                            <a:ea typeface="Cambria Math"/>
                          </a:rPr>
                          <m:t>𝒏</m:t>
                        </m:r>
                      </m:den>
                    </m:f>
                    <m:r>
                      <a:rPr lang="en-US" altLang="zh-TW" b="1" i="1">
                        <a:latin typeface="Cambria Math"/>
                        <a:ea typeface="Cambria Math"/>
                      </a:rPr>
                      <m:t>𝑲</m:t>
                    </m:r>
                  </m:oMath>
                </a14:m>
                <a:r>
                  <a:rPr lang="en-US" altLang="zh-TW" dirty="0"/>
                  <a:t> </a:t>
                </a:r>
              </a:p>
              <a:p>
                <a:pPr marL="0" indent="0">
                  <a:buNone/>
                </a:pPr>
                <a:r>
                  <a:rPr lang="en-US" altLang="zh-TW" dirty="0"/>
                  <a:t>     Then</a:t>
                </a:r>
              </a:p>
              <a:p>
                <a:pPr marL="0" indent="0">
                  <a:buNone/>
                </a:pPr>
                <a:r>
                  <a:rPr lang="en-US" altLang="zh-TW" dirty="0"/>
                  <a:t>                 </a:t>
                </a:r>
                <a14:m>
                  <m:oMath xmlns:m="http://schemas.openxmlformats.org/officeDocument/2006/math">
                    <m:sSub>
                      <m:sSubPr>
                        <m:ctrlPr>
                          <a:rPr lang="en-US" altLang="zh-TW" b="1" i="1">
                            <a:latin typeface="Cambria Math" panose="02040503050406030204" pitchFamily="18" charset="0"/>
                          </a:rPr>
                        </m:ctrlPr>
                      </m:sSubPr>
                      <m:e>
                        <m:r>
                          <a:rPr lang="en-US" altLang="zh-TW" b="1" i="1">
                            <a:latin typeface="Cambria Math"/>
                          </a:rPr>
                          <m:t>𝑨</m:t>
                        </m:r>
                      </m:e>
                      <m:sub>
                        <m:r>
                          <a:rPr lang="en-US" altLang="zh-TW" b="1" i="1">
                            <a:latin typeface="Cambria Math"/>
                          </a:rPr>
                          <m:t>𝑻</m:t>
                        </m:r>
                      </m:sub>
                    </m:sSub>
                    <m:r>
                      <a:rPr lang="en-US" altLang="zh-TW" b="1" i="1">
                        <a:latin typeface="Cambria Math"/>
                      </a:rPr>
                      <m:t> </m:t>
                    </m:r>
                    <m:r>
                      <a:rPr lang="en-US" altLang="zh-TW" i="1">
                        <a:latin typeface="Cambria Math"/>
                        <a:ea typeface="Cambria Math"/>
                      </a:rPr>
                      <m:t>∈(</m:t>
                    </m:r>
                    <m:r>
                      <a:rPr lang="en-US" altLang="zh-TW" b="1" i="1">
                        <a:latin typeface="Cambria Math"/>
                        <a:ea typeface="Cambria Math"/>
                      </a:rPr>
                      <m:t>𝑲</m:t>
                    </m:r>
                    <m:r>
                      <a:rPr lang="en-US" altLang="zh-TW" b="1" i="1">
                        <a:latin typeface="Cambria Math"/>
                        <a:ea typeface="Cambria Math"/>
                      </a:rPr>
                      <m:t>+</m:t>
                    </m:r>
                    <m:acc>
                      <m:accPr>
                        <m:chr m:val="̅"/>
                        <m:ctrlPr>
                          <a:rPr lang="en-US" altLang="zh-TW" b="1" i="1">
                            <a:latin typeface="Cambria Math" panose="02040503050406030204" pitchFamily="18" charset="0"/>
                          </a:rPr>
                        </m:ctrlPr>
                      </m:accPr>
                      <m:e>
                        <m:r>
                          <a:rPr lang="en-US" altLang="zh-TW" b="1" i="1">
                            <a:latin typeface="Cambria Math"/>
                          </a:rPr>
                          <m:t>𝑩</m:t>
                        </m:r>
                      </m:e>
                    </m:acc>
                    <m:r>
                      <a:rPr lang="en-US" altLang="zh-TW" b="1" i="1">
                        <a:latin typeface="Cambria Math"/>
                      </a:rPr>
                      <m:t>+</m:t>
                    </m:r>
                    <m:acc>
                      <m:accPr>
                        <m:chr m:val="̅"/>
                        <m:ctrlPr>
                          <a:rPr lang="en-US" altLang="zh-TW" b="1" i="1">
                            <a:latin typeface="Cambria Math" panose="02040503050406030204" pitchFamily="18" charset="0"/>
                          </a:rPr>
                        </m:ctrlPr>
                      </m:accPr>
                      <m:e>
                        <m:r>
                          <a:rPr lang="en-US" altLang="zh-TW" b="1" i="1">
                            <a:latin typeface="Cambria Math"/>
                          </a:rPr>
                          <m:t>𝑪</m:t>
                        </m:r>
                      </m:e>
                    </m:acc>
                  </m:oMath>
                </a14:m>
                <a:r>
                  <a:rPr lang="en-US" altLang="zh-TW" dirty="0"/>
                  <a:t>, </a:t>
                </a:r>
                <a14:m>
                  <m:oMath xmlns:m="http://schemas.openxmlformats.org/officeDocument/2006/math">
                    <m:r>
                      <a:rPr lang="en-US" altLang="zh-TW" b="1" i="1">
                        <a:latin typeface="Cambria Math"/>
                        <a:ea typeface="Cambria Math"/>
                      </a:rPr>
                      <m:t>𝑲</m:t>
                    </m:r>
                    <m:r>
                      <a:rPr lang="en-US" altLang="zh-TW" b="1" i="1">
                        <a:latin typeface="Cambria Math"/>
                        <a:ea typeface="Cambria Math"/>
                      </a:rPr>
                      <m:t>+</m:t>
                    </m:r>
                    <m:acc>
                      <m:accPr>
                        <m:chr m:val="̅"/>
                        <m:ctrlPr>
                          <a:rPr lang="en-US" altLang="zh-TW" b="1" i="1">
                            <a:latin typeface="Cambria Math" panose="02040503050406030204" pitchFamily="18" charset="0"/>
                          </a:rPr>
                        </m:ctrlPr>
                      </m:accPr>
                      <m:e>
                        <m:r>
                          <a:rPr lang="en-US" altLang="zh-TW" b="1" i="1">
                            <a:latin typeface="Cambria Math"/>
                          </a:rPr>
                          <m:t>𝑩</m:t>
                        </m:r>
                      </m:e>
                    </m:acc>
                    <m:r>
                      <a:rPr lang="en-US" altLang="zh-TW" b="1" i="1">
                        <a:latin typeface="Cambria Math"/>
                      </a:rPr>
                      <m:t>+</m:t>
                    </m:r>
                    <m:f>
                      <m:fPr>
                        <m:ctrlPr>
                          <a:rPr lang="en-US" altLang="zh-TW" b="1" i="1">
                            <a:latin typeface="Cambria Math" panose="02040503050406030204" pitchFamily="18" charset="0"/>
                            <a:ea typeface="Cambria Math"/>
                          </a:rPr>
                        </m:ctrlPr>
                      </m:fPr>
                      <m:num>
                        <m:r>
                          <a:rPr lang="en-US" altLang="zh-TW" b="1" i="1">
                            <a:latin typeface="Cambria Math"/>
                            <a:ea typeface="Cambria Math"/>
                          </a:rPr>
                          <m:t>𝒎</m:t>
                        </m:r>
                      </m:num>
                      <m:den>
                        <m:r>
                          <a:rPr lang="en-US" altLang="zh-TW" b="1" i="1">
                            <a:latin typeface="Cambria Math"/>
                            <a:ea typeface="Cambria Math"/>
                          </a:rPr>
                          <m:t>𝒏</m:t>
                        </m:r>
                      </m:den>
                    </m:f>
                    <m:r>
                      <a:rPr lang="en-US" altLang="zh-TW" b="1" i="1">
                        <a:latin typeface="Cambria Math"/>
                        <a:ea typeface="Cambria Math"/>
                      </a:rPr>
                      <m:t>𝑲</m:t>
                    </m:r>
                  </m:oMath>
                </a14:m>
                <a:r>
                  <a:rPr lang="en-US" altLang="zh-TW" dirty="0"/>
                  <a:t> ]</a:t>
                </a:r>
              </a:p>
              <a:p>
                <a:pPr marL="0" indent="0">
                  <a:buNone/>
                </a:pPr>
                <a:endParaRPr lang="en-US" altLang="zh-TW" dirty="0"/>
              </a:p>
              <a:p>
                <a:pPr marL="0" indent="0">
                  <a:buNone/>
                </a:pPr>
                <a:r>
                  <a:rPr lang="en-US" altLang="zh-TW" dirty="0"/>
                  <a:t>                                     </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0" y="0"/>
                <a:ext cx="9144000" cy="6669360"/>
              </a:xfrm>
              <a:blipFill rotWithShape="1">
                <a:blip r:embed="rId2"/>
                <a:stretch>
                  <a:fillRect l="-1133" t="-823"/>
                </a:stretch>
              </a:blipFill>
            </p:spPr>
            <p:txBody>
              <a:bodyPr/>
              <a:lstStyle/>
              <a:p>
                <a:r>
                  <a:rPr lang="zh-TW" altLang="en-US">
                    <a:noFill/>
                  </a:rPr>
                  <a:t> </a:t>
                </a:r>
              </a:p>
            </p:txBody>
          </p:sp>
        </mc:Fallback>
      </mc:AlternateContent>
      <p:cxnSp>
        <p:nvCxnSpPr>
          <p:cNvPr id="5" name="直線接點 4"/>
          <p:cNvCxnSpPr/>
          <p:nvPr/>
        </p:nvCxnSpPr>
        <p:spPr>
          <a:xfrm>
            <a:off x="6023992" y="4221088"/>
            <a:ext cx="0" cy="230425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直線接點 8"/>
          <p:cNvCxnSpPr/>
          <p:nvPr/>
        </p:nvCxnSpPr>
        <p:spPr>
          <a:xfrm>
            <a:off x="5824419" y="4581128"/>
            <a:ext cx="36004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5" name="手繪多邊形 14"/>
          <p:cNvSpPr/>
          <p:nvPr/>
        </p:nvSpPr>
        <p:spPr>
          <a:xfrm>
            <a:off x="5817032" y="6183824"/>
            <a:ext cx="419787" cy="109274"/>
          </a:xfrm>
          <a:custGeom>
            <a:avLst/>
            <a:gdLst>
              <a:gd name="connsiteX0" fmla="*/ 0 w 419787"/>
              <a:gd name="connsiteY0" fmla="*/ 0 h 109274"/>
              <a:gd name="connsiteX1" fmla="*/ 201477 w 419787"/>
              <a:gd name="connsiteY1" fmla="*/ 108488 h 109274"/>
              <a:gd name="connsiteX2" fmla="*/ 387457 w 419787"/>
              <a:gd name="connsiteY2" fmla="*/ 46495 h 109274"/>
              <a:gd name="connsiteX3" fmla="*/ 418454 w 419787"/>
              <a:gd name="connsiteY3" fmla="*/ 0 h 109274"/>
            </a:gdLst>
            <a:ahLst/>
            <a:cxnLst>
              <a:cxn ang="0">
                <a:pos x="connsiteX0" y="connsiteY0"/>
              </a:cxn>
              <a:cxn ang="0">
                <a:pos x="connsiteX1" y="connsiteY1"/>
              </a:cxn>
              <a:cxn ang="0">
                <a:pos x="connsiteX2" y="connsiteY2"/>
              </a:cxn>
              <a:cxn ang="0">
                <a:pos x="connsiteX3" y="connsiteY3"/>
              </a:cxn>
            </a:cxnLst>
            <a:rect l="l" t="t" r="r" b="b"/>
            <a:pathLst>
              <a:path w="419787" h="109274">
                <a:moveTo>
                  <a:pt x="0" y="0"/>
                </a:moveTo>
                <a:cubicBezTo>
                  <a:pt x="68450" y="50369"/>
                  <a:pt x="136901" y="100739"/>
                  <a:pt x="201477" y="108488"/>
                </a:cubicBezTo>
                <a:cubicBezTo>
                  <a:pt x="266053" y="116237"/>
                  <a:pt x="351294" y="64576"/>
                  <a:pt x="387457" y="46495"/>
                </a:cubicBezTo>
                <a:cubicBezTo>
                  <a:pt x="423620" y="28414"/>
                  <a:pt x="421037" y="14207"/>
                  <a:pt x="418454"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6" name="文字方塊 15"/>
              <p:cNvSpPr txBox="1"/>
              <p:nvPr/>
            </p:nvSpPr>
            <p:spPr>
              <a:xfrm>
                <a:off x="5392371" y="4036422"/>
                <a:ext cx="792088" cy="369332"/>
              </a:xfrm>
              <a:prstGeom prst="rect">
                <a:avLst/>
              </a:prstGeom>
              <a:noFill/>
            </p:spPr>
            <p:txBody>
              <a:bodyPr wrap="square" rtlCol="0">
                <a:spAutoFit/>
              </a:bodyPr>
              <a:lstStyle/>
              <a:p>
                <a:r>
                  <a:rPr lang="en-US" altLang="zh-TW" dirty="0"/>
                  <a:t> </a:t>
                </a:r>
                <a14:m>
                  <m:oMath xmlns:m="http://schemas.openxmlformats.org/officeDocument/2006/math">
                    <m:sSub>
                      <m:sSubPr>
                        <m:ctrlPr>
                          <a:rPr lang="en-US" altLang="zh-TW" b="1" i="1">
                            <a:latin typeface="Cambria Math" panose="02040503050406030204" pitchFamily="18" charset="0"/>
                          </a:rPr>
                        </m:ctrlPr>
                      </m:sSubPr>
                      <m:e>
                        <m:r>
                          <a:rPr lang="en-US" altLang="zh-TW" b="1" i="1">
                            <a:latin typeface="Cambria Math"/>
                          </a:rPr>
                          <m:t>𝑨</m:t>
                        </m:r>
                      </m:e>
                      <m:sub>
                        <m:r>
                          <a:rPr lang="en-US" altLang="zh-TW" b="1" i="1">
                            <a:latin typeface="Cambria Math"/>
                          </a:rPr>
                          <m:t>𝑻</m:t>
                        </m:r>
                      </m:sub>
                    </m:sSub>
                  </m:oMath>
                </a14:m>
                <a:endParaRPr lang="zh-TW" altLang="en-US" dirty="0"/>
              </a:p>
            </p:txBody>
          </p:sp>
        </mc:Choice>
        <mc:Fallback xmlns="">
          <p:sp>
            <p:nvSpPr>
              <p:cNvPr id="16" name="文字方塊 15"/>
              <p:cNvSpPr txBox="1">
                <a:spLocks noRot="1" noChangeAspect="1" noMove="1" noResize="1" noEditPoints="1" noAdjustHandles="1" noChangeArrowheads="1" noChangeShapeType="1" noTextEdit="1"/>
              </p:cNvSpPr>
              <p:nvPr/>
            </p:nvSpPr>
            <p:spPr>
              <a:xfrm>
                <a:off x="3868371" y="4036422"/>
                <a:ext cx="792088" cy="369332"/>
              </a:xfrm>
              <a:prstGeom prst="rect">
                <a:avLst/>
              </a:prstGeom>
              <a:blipFill rotWithShape="1">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p:cNvSpPr txBox="1"/>
              <p:nvPr/>
            </p:nvSpPr>
            <p:spPr>
              <a:xfrm>
                <a:off x="6456040" y="6108144"/>
                <a:ext cx="1800200" cy="36990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b="1" i="1">
                          <a:latin typeface="Cambria Math"/>
                          <a:ea typeface="Cambria Math"/>
                        </a:rPr>
                        <m:t>𝑲</m:t>
                      </m:r>
                      <m:r>
                        <a:rPr lang="en-US" altLang="zh-TW" b="1" i="1">
                          <a:latin typeface="Cambria Math"/>
                          <a:ea typeface="Cambria Math"/>
                        </a:rPr>
                        <m:t>+</m:t>
                      </m:r>
                      <m:acc>
                        <m:accPr>
                          <m:chr m:val="̅"/>
                          <m:ctrlPr>
                            <a:rPr lang="en-US" altLang="zh-TW" b="1" i="1">
                              <a:latin typeface="Cambria Math" panose="02040503050406030204" pitchFamily="18" charset="0"/>
                            </a:rPr>
                          </m:ctrlPr>
                        </m:accPr>
                        <m:e>
                          <m:r>
                            <a:rPr lang="en-US" altLang="zh-TW" b="1" i="1">
                              <a:latin typeface="Cambria Math"/>
                            </a:rPr>
                            <m:t>𝑩</m:t>
                          </m:r>
                        </m:e>
                      </m:acc>
                      <m:r>
                        <a:rPr lang="en-US" altLang="zh-TW" b="1" i="1">
                          <a:latin typeface="Cambria Math"/>
                        </a:rPr>
                        <m:t>+</m:t>
                      </m:r>
                      <m:acc>
                        <m:accPr>
                          <m:chr m:val="̅"/>
                          <m:ctrlPr>
                            <a:rPr lang="en-US" altLang="zh-TW" b="1" i="1">
                              <a:latin typeface="Cambria Math" panose="02040503050406030204" pitchFamily="18" charset="0"/>
                            </a:rPr>
                          </m:ctrlPr>
                        </m:accPr>
                        <m:e>
                          <m:r>
                            <a:rPr lang="en-US" altLang="zh-TW" b="1" i="1">
                              <a:latin typeface="Cambria Math"/>
                            </a:rPr>
                            <m:t>𝑪</m:t>
                          </m:r>
                        </m:e>
                      </m:acc>
                    </m:oMath>
                  </m:oMathPara>
                </a14:m>
                <a:endParaRPr lang="zh-TW" altLang="en-US" dirty="0"/>
              </a:p>
            </p:txBody>
          </p:sp>
        </mc:Choice>
        <mc:Fallback xmlns="">
          <p:sp>
            <p:nvSpPr>
              <p:cNvPr id="17" name="文字方塊 16"/>
              <p:cNvSpPr txBox="1">
                <a:spLocks noRot="1" noChangeAspect="1" noMove="1" noResize="1" noEditPoints="1" noAdjustHandles="1" noChangeArrowheads="1" noChangeShapeType="1" noTextEdit="1"/>
              </p:cNvSpPr>
              <p:nvPr/>
            </p:nvSpPr>
            <p:spPr>
              <a:xfrm>
                <a:off x="4932040" y="6108143"/>
                <a:ext cx="1800200" cy="369909"/>
              </a:xfrm>
              <a:prstGeom prst="rect">
                <a:avLst/>
              </a:prstGeom>
              <a:blipFill rotWithShape="1">
                <a:blip r:embed="rId4"/>
                <a:stretch>
                  <a:fillRect r="-237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文字方塊 17"/>
              <p:cNvSpPr txBox="1"/>
              <p:nvPr/>
            </p:nvSpPr>
            <p:spPr>
              <a:xfrm>
                <a:off x="6486434" y="4405755"/>
                <a:ext cx="1944216" cy="461729"/>
              </a:xfrm>
              <a:prstGeom prst="rect">
                <a:avLst/>
              </a:prstGeom>
              <a:noFill/>
            </p:spPr>
            <p:txBody>
              <a:bodyPr wrap="square" rtlCol="0">
                <a:spAutoFit/>
              </a:bodyPr>
              <a:lstStyle/>
              <a:p>
                <a14:m>
                  <m:oMath xmlns:m="http://schemas.openxmlformats.org/officeDocument/2006/math">
                    <m:r>
                      <a:rPr lang="en-US" altLang="zh-TW" b="1" i="1">
                        <a:latin typeface="Cambria Math"/>
                        <a:ea typeface="Cambria Math"/>
                      </a:rPr>
                      <m:t>𝑲</m:t>
                    </m:r>
                    <m:r>
                      <a:rPr lang="en-US" altLang="zh-TW" b="1" i="1">
                        <a:latin typeface="Cambria Math"/>
                        <a:ea typeface="Cambria Math"/>
                      </a:rPr>
                      <m:t>+</m:t>
                    </m:r>
                    <m:acc>
                      <m:accPr>
                        <m:chr m:val="̅"/>
                        <m:ctrlPr>
                          <a:rPr lang="en-US" altLang="zh-TW" b="1" i="1">
                            <a:latin typeface="Cambria Math" panose="02040503050406030204" pitchFamily="18" charset="0"/>
                          </a:rPr>
                        </m:ctrlPr>
                      </m:accPr>
                      <m:e>
                        <m:r>
                          <a:rPr lang="en-US" altLang="zh-TW" b="1" i="1">
                            <a:latin typeface="Cambria Math"/>
                          </a:rPr>
                          <m:t>𝑩</m:t>
                        </m:r>
                      </m:e>
                    </m:acc>
                    <m:r>
                      <a:rPr lang="en-US" altLang="zh-TW" b="1" i="1">
                        <a:latin typeface="Cambria Math"/>
                      </a:rPr>
                      <m:t>+</m:t>
                    </m:r>
                    <m:f>
                      <m:fPr>
                        <m:ctrlPr>
                          <a:rPr lang="en-US" altLang="zh-TW" b="1" i="1">
                            <a:latin typeface="Cambria Math" panose="02040503050406030204" pitchFamily="18" charset="0"/>
                            <a:ea typeface="Cambria Math"/>
                          </a:rPr>
                        </m:ctrlPr>
                      </m:fPr>
                      <m:num>
                        <m:r>
                          <a:rPr lang="en-US" altLang="zh-TW" b="1" i="1">
                            <a:latin typeface="Cambria Math"/>
                            <a:ea typeface="Cambria Math"/>
                          </a:rPr>
                          <m:t>𝒎</m:t>
                        </m:r>
                      </m:num>
                      <m:den>
                        <m:r>
                          <a:rPr lang="en-US" altLang="zh-TW" b="1" i="1">
                            <a:latin typeface="Cambria Math"/>
                            <a:ea typeface="Cambria Math"/>
                          </a:rPr>
                          <m:t>𝒏</m:t>
                        </m:r>
                      </m:den>
                    </m:f>
                    <m:r>
                      <a:rPr lang="en-US" altLang="zh-TW" b="1" i="1">
                        <a:latin typeface="Cambria Math"/>
                        <a:ea typeface="Cambria Math"/>
                      </a:rPr>
                      <m:t>𝑲</m:t>
                    </m:r>
                  </m:oMath>
                </a14:m>
                <a:r>
                  <a:rPr lang="en-US" altLang="zh-TW" dirty="0"/>
                  <a:t> </a:t>
                </a:r>
                <a:endParaRPr lang="zh-TW" altLang="en-US" dirty="0"/>
              </a:p>
            </p:txBody>
          </p:sp>
        </mc:Choice>
        <mc:Fallback xmlns="">
          <p:sp>
            <p:nvSpPr>
              <p:cNvPr id="18" name="文字方塊 17"/>
              <p:cNvSpPr txBox="1">
                <a:spLocks noRot="1" noChangeAspect="1" noMove="1" noResize="1" noEditPoints="1" noAdjustHandles="1" noChangeArrowheads="1" noChangeShapeType="1" noTextEdit="1"/>
              </p:cNvSpPr>
              <p:nvPr/>
            </p:nvSpPr>
            <p:spPr>
              <a:xfrm>
                <a:off x="4962434" y="4405754"/>
                <a:ext cx="1944216" cy="461729"/>
              </a:xfrm>
              <a:prstGeom prst="rect">
                <a:avLst/>
              </a:prstGeom>
              <a:blipFill rotWithShape="1">
                <a:blip r:embed="rId5"/>
                <a:stretch>
                  <a:fillRect/>
                </a:stretch>
              </a:blipFill>
            </p:spPr>
            <p:txBody>
              <a:bodyPr/>
              <a:lstStyle/>
              <a:p>
                <a:r>
                  <a:rPr lang="zh-TW" altLang="en-US">
                    <a:noFill/>
                  </a:rPr>
                  <a:t> </a:t>
                </a:r>
              </a:p>
            </p:txBody>
          </p:sp>
        </mc:Fallback>
      </mc:AlternateContent>
      <p:cxnSp>
        <p:nvCxnSpPr>
          <p:cNvPr id="20" name="直線單箭頭接點 19"/>
          <p:cNvCxnSpPr/>
          <p:nvPr/>
        </p:nvCxnSpPr>
        <p:spPr>
          <a:xfrm>
            <a:off x="4079777" y="5373216"/>
            <a:ext cx="1708639" cy="0"/>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文字方塊 20"/>
          <p:cNvSpPr txBox="1"/>
          <p:nvPr/>
        </p:nvSpPr>
        <p:spPr>
          <a:xfrm>
            <a:off x="2213666" y="5537494"/>
            <a:ext cx="2874223" cy="646331"/>
          </a:xfrm>
          <a:prstGeom prst="rect">
            <a:avLst/>
          </a:prstGeom>
          <a:noFill/>
        </p:spPr>
        <p:txBody>
          <a:bodyPr wrap="square" rtlCol="0">
            <a:spAutoFit/>
          </a:bodyPr>
          <a:lstStyle/>
          <a:p>
            <a:r>
              <a:rPr lang="en-US" altLang="zh-TW" dirty="0"/>
              <a:t>Both converted and </a:t>
            </a:r>
          </a:p>
          <a:p>
            <a:r>
              <a:rPr lang="en-US" altLang="zh-TW" dirty="0"/>
              <a:t>unconverted are met</a:t>
            </a:r>
            <a:endParaRPr lang="zh-TW" altLang="en-US" dirty="0"/>
          </a:p>
        </p:txBody>
      </p:sp>
      <p:cxnSp>
        <p:nvCxnSpPr>
          <p:cNvPr id="22" name="直線單箭頭接點 21"/>
          <p:cNvCxnSpPr/>
          <p:nvPr/>
        </p:nvCxnSpPr>
        <p:spPr>
          <a:xfrm>
            <a:off x="6456041" y="4367478"/>
            <a:ext cx="1708639" cy="0"/>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文字方塊 23"/>
          <p:cNvSpPr txBox="1"/>
          <p:nvPr/>
        </p:nvSpPr>
        <p:spPr>
          <a:xfrm>
            <a:off x="8279357" y="4182812"/>
            <a:ext cx="2874223" cy="369332"/>
          </a:xfrm>
          <a:prstGeom prst="rect">
            <a:avLst/>
          </a:prstGeom>
          <a:noFill/>
        </p:spPr>
        <p:txBody>
          <a:bodyPr wrap="square" rtlCol="0">
            <a:spAutoFit/>
          </a:bodyPr>
          <a:lstStyle/>
          <a:p>
            <a:r>
              <a:rPr lang="en-US" altLang="zh-TW" dirty="0"/>
              <a:t>unconverted</a:t>
            </a:r>
            <a:endParaRPr lang="zh-TW" altLang="en-US" dirty="0"/>
          </a:p>
        </p:txBody>
      </p:sp>
      <p:cxnSp>
        <p:nvCxnSpPr>
          <p:cNvPr id="25" name="直線單箭頭接點 24"/>
          <p:cNvCxnSpPr/>
          <p:nvPr/>
        </p:nvCxnSpPr>
        <p:spPr>
          <a:xfrm>
            <a:off x="6501821" y="6525344"/>
            <a:ext cx="1708639" cy="0"/>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文字方塊 25"/>
          <p:cNvSpPr txBox="1"/>
          <p:nvPr/>
        </p:nvSpPr>
        <p:spPr>
          <a:xfrm>
            <a:off x="8291308" y="6300028"/>
            <a:ext cx="2874223" cy="369332"/>
          </a:xfrm>
          <a:prstGeom prst="rect">
            <a:avLst/>
          </a:prstGeom>
          <a:noFill/>
        </p:spPr>
        <p:txBody>
          <a:bodyPr wrap="square" rtlCol="0">
            <a:spAutoFit/>
          </a:bodyPr>
          <a:lstStyle/>
          <a:p>
            <a:r>
              <a:rPr lang="en-US" altLang="zh-TW" dirty="0"/>
              <a:t>converted</a:t>
            </a:r>
            <a:endParaRPr lang="zh-TW" altLang="en-US" dirty="0"/>
          </a:p>
        </p:txBody>
      </p:sp>
    </p:spTree>
    <p:extLst>
      <p:ext uri="{BB962C8B-B14F-4D97-AF65-F5344CB8AC3E}">
        <p14:creationId xmlns:p14="http://schemas.microsoft.com/office/powerpoint/2010/main" val="239631888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1631504" y="116632"/>
                <a:ext cx="8856984" cy="6552728"/>
              </a:xfrm>
            </p:spPr>
            <p:txBody>
              <a:bodyPr>
                <a:normAutofit/>
              </a:bodyPr>
              <a:lstStyle/>
              <a:p>
                <a:pPr marL="0" indent="0">
                  <a:buNone/>
                </a:pPr>
                <a:r>
                  <a:rPr lang="en-US" altLang="zh-TW" dirty="0"/>
                  <a:t>If  </a:t>
                </a:r>
                <a14:m>
                  <m:oMath xmlns:m="http://schemas.openxmlformats.org/officeDocument/2006/math">
                    <m:acc>
                      <m:accPr>
                        <m:chr m:val="̅"/>
                        <m:ctrlPr>
                          <a:rPr lang="en-US" altLang="zh-TW" b="1" i="1">
                            <a:latin typeface="Cambria Math" panose="02040503050406030204" pitchFamily="18" charset="0"/>
                          </a:rPr>
                        </m:ctrlPr>
                      </m:accPr>
                      <m:e>
                        <m:r>
                          <a:rPr lang="en-US" altLang="zh-TW" b="1" i="1">
                            <a:latin typeface="Cambria Math"/>
                          </a:rPr>
                          <m:t>𝑪</m:t>
                        </m:r>
                      </m:e>
                    </m:acc>
                    <m:r>
                      <a:rPr lang="en-US" altLang="zh-TW">
                        <a:latin typeface="Cambria Math"/>
                      </a:rPr>
                      <m:t>&gt;</m:t>
                    </m:r>
                  </m:oMath>
                </a14:m>
                <a:r>
                  <a:rPr lang="zh-TW" altLang="en-US" dirty="0"/>
                  <a:t> </a:t>
                </a:r>
                <a14:m>
                  <m:oMath xmlns:m="http://schemas.openxmlformats.org/officeDocument/2006/math">
                    <m:f>
                      <m:fPr>
                        <m:ctrlPr>
                          <a:rPr lang="en-US" altLang="zh-TW" b="1" i="1">
                            <a:latin typeface="Cambria Math" panose="02040503050406030204" pitchFamily="18" charset="0"/>
                            <a:ea typeface="Cambria Math"/>
                          </a:rPr>
                        </m:ctrlPr>
                      </m:fPr>
                      <m:num>
                        <m:r>
                          <a:rPr lang="en-US" altLang="zh-TW" b="1" i="1">
                            <a:latin typeface="Cambria Math"/>
                            <a:ea typeface="Cambria Math"/>
                          </a:rPr>
                          <m:t>𝒎</m:t>
                        </m:r>
                      </m:num>
                      <m:den>
                        <m:r>
                          <a:rPr lang="en-US" altLang="zh-TW" b="1" i="1">
                            <a:latin typeface="Cambria Math"/>
                            <a:ea typeface="Cambria Math"/>
                          </a:rPr>
                          <m:t>𝒏</m:t>
                        </m:r>
                      </m:den>
                    </m:f>
                    <m:r>
                      <a:rPr lang="en-US" altLang="zh-TW" b="1" i="1">
                        <a:latin typeface="Cambria Math"/>
                        <a:ea typeface="Cambria Math"/>
                      </a:rPr>
                      <m:t>𝑲</m:t>
                    </m:r>
                  </m:oMath>
                </a14:m>
                <a:r>
                  <a:rPr lang="en-US" altLang="zh-TW" dirty="0"/>
                  <a:t> </a:t>
                </a:r>
              </a:p>
              <a:p>
                <a:pPr marL="0" indent="0">
                  <a:buNone/>
                </a:pPr>
                <a:r>
                  <a:rPr lang="en-US" altLang="zh-TW" dirty="0"/>
                  <a:t>Then</a:t>
                </a:r>
              </a:p>
              <a:p>
                <a:pPr marL="0" indent="0">
                  <a:buNone/>
                </a:pPr>
                <a:r>
                  <a:rPr lang="en-US" altLang="zh-TW" dirty="0"/>
                  <a:t>                 </a:t>
                </a:r>
                <a14:m>
                  <m:oMath xmlns:m="http://schemas.openxmlformats.org/officeDocument/2006/math">
                    <m:sSub>
                      <m:sSubPr>
                        <m:ctrlPr>
                          <a:rPr lang="en-US" altLang="zh-TW" b="1" i="1">
                            <a:latin typeface="Cambria Math" panose="02040503050406030204" pitchFamily="18" charset="0"/>
                          </a:rPr>
                        </m:ctrlPr>
                      </m:sSubPr>
                      <m:e>
                        <m:r>
                          <a:rPr lang="en-US" altLang="zh-TW" b="1" i="1">
                            <a:latin typeface="Cambria Math"/>
                          </a:rPr>
                          <m:t>𝑨</m:t>
                        </m:r>
                      </m:e>
                      <m:sub>
                        <m:r>
                          <a:rPr lang="en-US" altLang="zh-TW" b="1" i="1">
                            <a:latin typeface="Cambria Math"/>
                          </a:rPr>
                          <m:t>𝑻</m:t>
                        </m:r>
                      </m:sub>
                    </m:sSub>
                    <m:r>
                      <a:rPr lang="en-US" altLang="zh-TW" b="1" i="1">
                        <a:latin typeface="Cambria Math"/>
                      </a:rPr>
                      <m:t> </m:t>
                    </m:r>
                    <m:r>
                      <a:rPr lang="en-US" altLang="zh-TW" i="1">
                        <a:latin typeface="Cambria Math"/>
                        <a:ea typeface="Cambria Math"/>
                      </a:rPr>
                      <m:t>∈(</m:t>
                    </m:r>
                    <m:r>
                      <a:rPr lang="en-US" altLang="zh-TW" b="1" i="1">
                        <a:latin typeface="Cambria Math"/>
                        <a:ea typeface="Cambria Math"/>
                      </a:rPr>
                      <m:t>𝑲</m:t>
                    </m:r>
                    <m:r>
                      <a:rPr lang="en-US" altLang="zh-TW" b="1" i="1">
                        <a:latin typeface="Cambria Math"/>
                        <a:ea typeface="Cambria Math"/>
                      </a:rPr>
                      <m:t>+</m:t>
                    </m:r>
                    <m:acc>
                      <m:accPr>
                        <m:chr m:val="̅"/>
                        <m:ctrlPr>
                          <a:rPr lang="en-US" altLang="zh-TW" b="1" i="1">
                            <a:latin typeface="Cambria Math" panose="02040503050406030204" pitchFamily="18" charset="0"/>
                          </a:rPr>
                        </m:ctrlPr>
                      </m:accPr>
                      <m:e>
                        <m:r>
                          <a:rPr lang="en-US" altLang="zh-TW" b="1" i="1">
                            <a:latin typeface="Cambria Math"/>
                          </a:rPr>
                          <m:t>𝑩</m:t>
                        </m:r>
                      </m:e>
                    </m:acc>
                    <m:r>
                      <a:rPr lang="en-US" altLang="zh-TW" b="1" i="1">
                        <a:latin typeface="Cambria Math"/>
                      </a:rPr>
                      <m:t>+</m:t>
                    </m:r>
                    <m:f>
                      <m:fPr>
                        <m:ctrlPr>
                          <a:rPr lang="en-US" altLang="zh-TW" b="1" i="1">
                            <a:latin typeface="Cambria Math" panose="02040503050406030204" pitchFamily="18" charset="0"/>
                            <a:ea typeface="Cambria Math"/>
                          </a:rPr>
                        </m:ctrlPr>
                      </m:fPr>
                      <m:num>
                        <m:r>
                          <a:rPr lang="en-US" altLang="zh-TW" b="1" i="1">
                            <a:latin typeface="Cambria Math"/>
                            <a:ea typeface="Cambria Math"/>
                          </a:rPr>
                          <m:t>𝒎</m:t>
                        </m:r>
                      </m:num>
                      <m:den>
                        <m:r>
                          <a:rPr lang="en-US" altLang="zh-TW" b="1" i="1">
                            <a:latin typeface="Cambria Math"/>
                            <a:ea typeface="Cambria Math"/>
                          </a:rPr>
                          <m:t>𝒏</m:t>
                        </m:r>
                      </m:den>
                    </m:f>
                    <m:r>
                      <a:rPr lang="en-US" altLang="zh-TW" b="1" i="1">
                        <a:latin typeface="Cambria Math"/>
                        <a:ea typeface="Cambria Math"/>
                      </a:rPr>
                      <m:t>𝑲</m:t>
                    </m:r>
                  </m:oMath>
                </a14:m>
                <a:r>
                  <a:rPr lang="en-US" altLang="zh-TW" dirty="0"/>
                  <a:t>, </a:t>
                </a:r>
                <a14:m>
                  <m:oMath xmlns:m="http://schemas.openxmlformats.org/officeDocument/2006/math">
                    <m:r>
                      <a:rPr lang="en-US" altLang="zh-TW" b="1" i="1">
                        <a:latin typeface="Cambria Math"/>
                        <a:ea typeface="Cambria Math"/>
                      </a:rPr>
                      <m:t>𝑲</m:t>
                    </m:r>
                    <m:r>
                      <a:rPr lang="en-US" altLang="zh-TW" b="1" i="1">
                        <a:latin typeface="Cambria Math"/>
                        <a:ea typeface="Cambria Math"/>
                      </a:rPr>
                      <m:t>+</m:t>
                    </m:r>
                    <m:acc>
                      <m:accPr>
                        <m:chr m:val="̅"/>
                        <m:ctrlPr>
                          <a:rPr lang="en-US" altLang="zh-TW" b="1" i="1">
                            <a:latin typeface="Cambria Math" panose="02040503050406030204" pitchFamily="18" charset="0"/>
                          </a:rPr>
                        </m:ctrlPr>
                      </m:accPr>
                      <m:e>
                        <m:r>
                          <a:rPr lang="en-US" altLang="zh-TW" b="1" i="1">
                            <a:latin typeface="Cambria Math"/>
                          </a:rPr>
                          <m:t>𝑩</m:t>
                        </m:r>
                      </m:e>
                    </m:acc>
                    <m:r>
                      <a:rPr lang="en-US" altLang="zh-TW" b="1" i="1">
                        <a:latin typeface="Cambria Math"/>
                      </a:rPr>
                      <m:t>+</m:t>
                    </m:r>
                    <m:acc>
                      <m:accPr>
                        <m:chr m:val="̅"/>
                        <m:ctrlPr>
                          <a:rPr lang="en-US" altLang="zh-TW" b="1" i="1">
                            <a:latin typeface="Cambria Math" panose="02040503050406030204" pitchFamily="18" charset="0"/>
                          </a:rPr>
                        </m:ctrlPr>
                      </m:accPr>
                      <m:e>
                        <m:r>
                          <a:rPr lang="en-US" altLang="zh-TW" b="1" i="1">
                            <a:latin typeface="Cambria Math"/>
                          </a:rPr>
                          <m:t>𝑪</m:t>
                        </m:r>
                      </m:e>
                    </m:acc>
                    <m:r>
                      <a:rPr lang="en-US" altLang="zh-TW">
                        <a:latin typeface="Cambria Math"/>
                      </a:rPr>
                      <m:t> )</m:t>
                    </m:r>
                  </m:oMath>
                </a14:m>
                <a:endParaRPr lang="en-US" altLang="zh-TW" dirty="0"/>
              </a:p>
              <a:p>
                <a:pPr marL="0" indent="0">
                  <a:buNone/>
                </a:pPr>
                <a:endParaRPr lang="en-US" altLang="zh-TW" dirty="0"/>
              </a:p>
              <a:p>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107504" y="116632"/>
                <a:ext cx="8856984" cy="6552728"/>
              </a:xfrm>
              <a:blipFill rotWithShape="1">
                <a:blip r:embed="rId2"/>
                <a:stretch>
                  <a:fillRect l="-144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文字方塊 3"/>
              <p:cNvSpPr txBox="1"/>
              <p:nvPr/>
            </p:nvSpPr>
            <p:spPr>
              <a:xfrm>
                <a:off x="4331804" y="3232710"/>
                <a:ext cx="792088" cy="369332"/>
              </a:xfrm>
              <a:prstGeom prst="rect">
                <a:avLst/>
              </a:prstGeom>
              <a:noFill/>
            </p:spPr>
            <p:txBody>
              <a:bodyPr wrap="square" rtlCol="0">
                <a:spAutoFit/>
              </a:bodyPr>
              <a:lstStyle/>
              <a:p>
                <a:r>
                  <a:rPr lang="en-US" altLang="zh-TW" dirty="0"/>
                  <a:t> </a:t>
                </a:r>
                <a14:m>
                  <m:oMath xmlns:m="http://schemas.openxmlformats.org/officeDocument/2006/math">
                    <m:sSub>
                      <m:sSubPr>
                        <m:ctrlPr>
                          <a:rPr lang="en-US" altLang="zh-TW" b="1" i="1">
                            <a:latin typeface="Cambria Math" panose="02040503050406030204" pitchFamily="18" charset="0"/>
                          </a:rPr>
                        </m:ctrlPr>
                      </m:sSubPr>
                      <m:e>
                        <m:r>
                          <a:rPr lang="en-US" altLang="zh-TW" b="1" i="1">
                            <a:latin typeface="Cambria Math"/>
                          </a:rPr>
                          <m:t>𝑨</m:t>
                        </m:r>
                      </m:e>
                      <m:sub>
                        <m:r>
                          <a:rPr lang="en-US" altLang="zh-TW" b="1" i="1">
                            <a:latin typeface="Cambria Math"/>
                          </a:rPr>
                          <m:t>𝑻</m:t>
                        </m:r>
                      </m:sub>
                    </m:sSub>
                  </m:oMath>
                </a14:m>
                <a:endParaRPr lang="zh-TW" altLang="en-US" dirty="0"/>
              </a:p>
            </p:txBody>
          </p:sp>
        </mc:Choice>
        <mc:Fallback xmlns="">
          <p:sp>
            <p:nvSpPr>
              <p:cNvPr id="4" name="文字方塊 3"/>
              <p:cNvSpPr txBox="1">
                <a:spLocks noRot="1" noChangeAspect="1" noMove="1" noResize="1" noEditPoints="1" noAdjustHandles="1" noChangeArrowheads="1" noChangeShapeType="1" noTextEdit="1"/>
              </p:cNvSpPr>
              <p:nvPr/>
            </p:nvSpPr>
            <p:spPr>
              <a:xfrm>
                <a:off x="2807804" y="3232710"/>
                <a:ext cx="792088" cy="369332"/>
              </a:xfrm>
              <a:prstGeom prst="rect">
                <a:avLst/>
              </a:prstGeom>
              <a:blipFill rotWithShape="1">
                <a:blip r:embed="rId3"/>
                <a:stretch>
                  <a:fillRect/>
                </a:stretch>
              </a:blipFill>
            </p:spPr>
            <p:txBody>
              <a:bodyPr/>
              <a:lstStyle/>
              <a:p>
                <a:r>
                  <a:rPr lang="zh-TW" altLang="en-US">
                    <a:noFill/>
                  </a:rPr>
                  <a:t> </a:t>
                </a:r>
              </a:p>
            </p:txBody>
          </p:sp>
        </mc:Fallback>
      </mc:AlternateContent>
      <p:cxnSp>
        <p:nvCxnSpPr>
          <p:cNvPr id="5" name="直線接點 4"/>
          <p:cNvCxnSpPr/>
          <p:nvPr/>
        </p:nvCxnSpPr>
        <p:spPr>
          <a:xfrm>
            <a:off x="5447928" y="3798332"/>
            <a:ext cx="0" cy="230425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手繪多邊形 5"/>
          <p:cNvSpPr/>
          <p:nvPr/>
        </p:nvSpPr>
        <p:spPr>
          <a:xfrm>
            <a:off x="5218216" y="5517232"/>
            <a:ext cx="419787" cy="109274"/>
          </a:xfrm>
          <a:custGeom>
            <a:avLst/>
            <a:gdLst>
              <a:gd name="connsiteX0" fmla="*/ 0 w 419787"/>
              <a:gd name="connsiteY0" fmla="*/ 0 h 109274"/>
              <a:gd name="connsiteX1" fmla="*/ 201477 w 419787"/>
              <a:gd name="connsiteY1" fmla="*/ 108488 h 109274"/>
              <a:gd name="connsiteX2" fmla="*/ 387457 w 419787"/>
              <a:gd name="connsiteY2" fmla="*/ 46495 h 109274"/>
              <a:gd name="connsiteX3" fmla="*/ 418454 w 419787"/>
              <a:gd name="connsiteY3" fmla="*/ 0 h 109274"/>
            </a:gdLst>
            <a:ahLst/>
            <a:cxnLst>
              <a:cxn ang="0">
                <a:pos x="connsiteX0" y="connsiteY0"/>
              </a:cxn>
              <a:cxn ang="0">
                <a:pos x="connsiteX1" y="connsiteY1"/>
              </a:cxn>
              <a:cxn ang="0">
                <a:pos x="connsiteX2" y="connsiteY2"/>
              </a:cxn>
              <a:cxn ang="0">
                <a:pos x="connsiteX3" y="connsiteY3"/>
              </a:cxn>
            </a:cxnLst>
            <a:rect l="l" t="t" r="r" b="b"/>
            <a:pathLst>
              <a:path w="419787" h="109274">
                <a:moveTo>
                  <a:pt x="0" y="0"/>
                </a:moveTo>
                <a:cubicBezTo>
                  <a:pt x="68450" y="50369"/>
                  <a:pt x="136901" y="100739"/>
                  <a:pt x="201477" y="108488"/>
                </a:cubicBezTo>
                <a:cubicBezTo>
                  <a:pt x="266053" y="116237"/>
                  <a:pt x="351294" y="64576"/>
                  <a:pt x="387457" y="46495"/>
                </a:cubicBezTo>
                <a:cubicBezTo>
                  <a:pt x="423620" y="28414"/>
                  <a:pt x="421037" y="14207"/>
                  <a:pt x="418454"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手繪多邊形 6"/>
          <p:cNvSpPr/>
          <p:nvPr/>
        </p:nvSpPr>
        <p:spPr>
          <a:xfrm>
            <a:off x="5243593" y="4292914"/>
            <a:ext cx="402956" cy="93107"/>
          </a:xfrm>
          <a:custGeom>
            <a:avLst/>
            <a:gdLst>
              <a:gd name="connsiteX0" fmla="*/ 0 w 402956"/>
              <a:gd name="connsiteY0" fmla="*/ 77609 h 93107"/>
              <a:gd name="connsiteX1" fmla="*/ 201478 w 402956"/>
              <a:gd name="connsiteY1" fmla="*/ 118 h 93107"/>
              <a:gd name="connsiteX2" fmla="*/ 402956 w 402956"/>
              <a:gd name="connsiteY2" fmla="*/ 93107 h 93107"/>
            </a:gdLst>
            <a:ahLst/>
            <a:cxnLst>
              <a:cxn ang="0">
                <a:pos x="connsiteX0" y="connsiteY0"/>
              </a:cxn>
              <a:cxn ang="0">
                <a:pos x="connsiteX1" y="connsiteY1"/>
              </a:cxn>
              <a:cxn ang="0">
                <a:pos x="connsiteX2" y="connsiteY2"/>
              </a:cxn>
            </a:cxnLst>
            <a:rect l="l" t="t" r="r" b="b"/>
            <a:pathLst>
              <a:path w="402956" h="93107">
                <a:moveTo>
                  <a:pt x="0" y="77609"/>
                </a:moveTo>
                <a:cubicBezTo>
                  <a:pt x="67159" y="37572"/>
                  <a:pt x="134319" y="-2465"/>
                  <a:pt x="201478" y="118"/>
                </a:cubicBezTo>
                <a:cubicBezTo>
                  <a:pt x="268637" y="2701"/>
                  <a:pt x="335796" y="47904"/>
                  <a:pt x="402956" y="9310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8" name="文字方塊 7"/>
              <p:cNvSpPr txBox="1"/>
              <p:nvPr/>
            </p:nvSpPr>
            <p:spPr>
              <a:xfrm>
                <a:off x="5951984" y="5341005"/>
                <a:ext cx="1944216" cy="461729"/>
              </a:xfrm>
              <a:prstGeom prst="rect">
                <a:avLst/>
              </a:prstGeom>
              <a:noFill/>
            </p:spPr>
            <p:txBody>
              <a:bodyPr wrap="square" rtlCol="0">
                <a:spAutoFit/>
              </a:bodyPr>
              <a:lstStyle/>
              <a:p>
                <a14:m>
                  <m:oMath xmlns:m="http://schemas.openxmlformats.org/officeDocument/2006/math">
                    <m:r>
                      <a:rPr lang="en-US" altLang="zh-TW" b="1" i="1">
                        <a:latin typeface="Cambria Math"/>
                        <a:ea typeface="Cambria Math"/>
                      </a:rPr>
                      <m:t>𝑲</m:t>
                    </m:r>
                    <m:r>
                      <a:rPr lang="en-US" altLang="zh-TW" b="1" i="1">
                        <a:latin typeface="Cambria Math"/>
                        <a:ea typeface="Cambria Math"/>
                      </a:rPr>
                      <m:t>+</m:t>
                    </m:r>
                    <m:acc>
                      <m:accPr>
                        <m:chr m:val="̅"/>
                        <m:ctrlPr>
                          <a:rPr lang="en-US" altLang="zh-TW" b="1" i="1">
                            <a:latin typeface="Cambria Math" panose="02040503050406030204" pitchFamily="18" charset="0"/>
                          </a:rPr>
                        </m:ctrlPr>
                      </m:accPr>
                      <m:e>
                        <m:r>
                          <a:rPr lang="en-US" altLang="zh-TW" b="1" i="1">
                            <a:latin typeface="Cambria Math"/>
                          </a:rPr>
                          <m:t>𝑩</m:t>
                        </m:r>
                      </m:e>
                    </m:acc>
                    <m:r>
                      <a:rPr lang="en-US" altLang="zh-TW" b="1" i="1">
                        <a:latin typeface="Cambria Math"/>
                      </a:rPr>
                      <m:t>+</m:t>
                    </m:r>
                    <m:f>
                      <m:fPr>
                        <m:ctrlPr>
                          <a:rPr lang="en-US" altLang="zh-TW" b="1" i="1">
                            <a:latin typeface="Cambria Math" panose="02040503050406030204" pitchFamily="18" charset="0"/>
                            <a:ea typeface="Cambria Math"/>
                          </a:rPr>
                        </m:ctrlPr>
                      </m:fPr>
                      <m:num>
                        <m:r>
                          <a:rPr lang="en-US" altLang="zh-TW" b="1" i="1">
                            <a:latin typeface="Cambria Math"/>
                            <a:ea typeface="Cambria Math"/>
                          </a:rPr>
                          <m:t>𝒎</m:t>
                        </m:r>
                      </m:num>
                      <m:den>
                        <m:r>
                          <a:rPr lang="en-US" altLang="zh-TW" b="1" i="1">
                            <a:latin typeface="Cambria Math"/>
                            <a:ea typeface="Cambria Math"/>
                          </a:rPr>
                          <m:t>𝒏</m:t>
                        </m:r>
                      </m:den>
                    </m:f>
                    <m:r>
                      <a:rPr lang="en-US" altLang="zh-TW" b="1" i="1">
                        <a:latin typeface="Cambria Math"/>
                        <a:ea typeface="Cambria Math"/>
                      </a:rPr>
                      <m:t>𝑲</m:t>
                    </m:r>
                  </m:oMath>
                </a14:m>
                <a:r>
                  <a:rPr lang="en-US" altLang="zh-TW" dirty="0"/>
                  <a:t> </a:t>
                </a:r>
                <a:endParaRPr lang="zh-TW" altLang="en-US"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4427984" y="5341004"/>
                <a:ext cx="1944216" cy="461729"/>
              </a:xfrm>
              <a:prstGeom prst="rect">
                <a:avLst/>
              </a:prstGeom>
              <a:blipFill rotWithShape="1">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p:cNvSpPr txBox="1"/>
              <p:nvPr/>
            </p:nvSpPr>
            <p:spPr>
              <a:xfrm>
                <a:off x="5667816" y="4201066"/>
                <a:ext cx="1800200" cy="36990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b="1" i="1">
                          <a:latin typeface="Cambria Math"/>
                          <a:ea typeface="Cambria Math"/>
                        </a:rPr>
                        <m:t>𝑲</m:t>
                      </m:r>
                      <m:r>
                        <a:rPr lang="en-US" altLang="zh-TW" b="1" i="1">
                          <a:latin typeface="Cambria Math"/>
                          <a:ea typeface="Cambria Math"/>
                        </a:rPr>
                        <m:t>+</m:t>
                      </m:r>
                      <m:acc>
                        <m:accPr>
                          <m:chr m:val="̅"/>
                          <m:ctrlPr>
                            <a:rPr lang="en-US" altLang="zh-TW" b="1" i="1">
                              <a:latin typeface="Cambria Math" panose="02040503050406030204" pitchFamily="18" charset="0"/>
                            </a:rPr>
                          </m:ctrlPr>
                        </m:accPr>
                        <m:e>
                          <m:r>
                            <a:rPr lang="en-US" altLang="zh-TW" b="1" i="1">
                              <a:latin typeface="Cambria Math"/>
                            </a:rPr>
                            <m:t>𝑩</m:t>
                          </m:r>
                        </m:e>
                      </m:acc>
                      <m:r>
                        <a:rPr lang="en-US" altLang="zh-TW" b="1" i="1">
                          <a:latin typeface="Cambria Math"/>
                        </a:rPr>
                        <m:t>+</m:t>
                      </m:r>
                      <m:acc>
                        <m:accPr>
                          <m:chr m:val="̅"/>
                          <m:ctrlPr>
                            <a:rPr lang="en-US" altLang="zh-TW" b="1" i="1">
                              <a:latin typeface="Cambria Math" panose="02040503050406030204" pitchFamily="18" charset="0"/>
                            </a:rPr>
                          </m:ctrlPr>
                        </m:accPr>
                        <m:e>
                          <m:r>
                            <a:rPr lang="en-US" altLang="zh-TW" b="1" i="1">
                              <a:latin typeface="Cambria Math"/>
                            </a:rPr>
                            <m:t>𝑪</m:t>
                          </m:r>
                        </m:e>
                      </m:acc>
                    </m:oMath>
                  </m:oMathPara>
                </a14:m>
                <a:endParaRPr lang="zh-TW" altLang="en-US" dirty="0"/>
              </a:p>
            </p:txBody>
          </p:sp>
        </mc:Choice>
        <mc:Fallback xmlns="">
          <p:sp>
            <p:nvSpPr>
              <p:cNvPr id="9" name="文字方塊 8"/>
              <p:cNvSpPr txBox="1">
                <a:spLocks noRot="1" noChangeAspect="1" noMove="1" noResize="1" noEditPoints="1" noAdjustHandles="1" noChangeArrowheads="1" noChangeShapeType="1" noTextEdit="1"/>
              </p:cNvSpPr>
              <p:nvPr/>
            </p:nvSpPr>
            <p:spPr>
              <a:xfrm>
                <a:off x="4143816" y="4201065"/>
                <a:ext cx="1800200" cy="369909"/>
              </a:xfrm>
              <a:prstGeom prst="rect">
                <a:avLst/>
              </a:prstGeom>
              <a:blipFill rotWithShape="1">
                <a:blip r:embed="rId5"/>
                <a:stretch>
                  <a:fillRect r="-2034"/>
                </a:stretch>
              </a:blipFill>
            </p:spPr>
            <p:txBody>
              <a:bodyPr/>
              <a:lstStyle/>
              <a:p>
                <a:r>
                  <a:rPr lang="zh-TW" altLang="en-US">
                    <a:noFill/>
                  </a:rPr>
                  <a:t> </a:t>
                </a:r>
              </a:p>
            </p:txBody>
          </p:sp>
        </mc:Fallback>
      </mc:AlternateContent>
      <p:cxnSp>
        <p:nvCxnSpPr>
          <p:cNvPr id="10" name="直線單箭頭接點 9"/>
          <p:cNvCxnSpPr/>
          <p:nvPr/>
        </p:nvCxnSpPr>
        <p:spPr>
          <a:xfrm>
            <a:off x="3477485" y="4961262"/>
            <a:ext cx="1708639" cy="0"/>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 name="文字方塊 10"/>
          <p:cNvSpPr txBox="1"/>
          <p:nvPr/>
        </p:nvSpPr>
        <p:spPr>
          <a:xfrm>
            <a:off x="2200778" y="5145503"/>
            <a:ext cx="2874223" cy="646331"/>
          </a:xfrm>
          <a:prstGeom prst="rect">
            <a:avLst/>
          </a:prstGeom>
          <a:noFill/>
        </p:spPr>
        <p:txBody>
          <a:bodyPr wrap="square" rtlCol="0">
            <a:spAutoFit/>
          </a:bodyPr>
          <a:lstStyle/>
          <a:p>
            <a:r>
              <a:rPr lang="en-US" altLang="zh-TW" dirty="0"/>
              <a:t>Neither converted nor </a:t>
            </a:r>
          </a:p>
          <a:p>
            <a:r>
              <a:rPr lang="en-US" altLang="zh-TW" dirty="0"/>
              <a:t>unconverted is met</a:t>
            </a:r>
            <a:endParaRPr lang="zh-TW" altLang="en-US" dirty="0"/>
          </a:p>
        </p:txBody>
      </p:sp>
      <p:cxnSp>
        <p:nvCxnSpPr>
          <p:cNvPr id="12" name="直線單箭頭接點 11"/>
          <p:cNvCxnSpPr/>
          <p:nvPr/>
        </p:nvCxnSpPr>
        <p:spPr>
          <a:xfrm>
            <a:off x="5759378" y="6102588"/>
            <a:ext cx="1708639" cy="0"/>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文字方塊 12"/>
          <p:cNvSpPr txBox="1"/>
          <p:nvPr/>
        </p:nvSpPr>
        <p:spPr>
          <a:xfrm>
            <a:off x="7487356" y="5917922"/>
            <a:ext cx="2874223" cy="369332"/>
          </a:xfrm>
          <a:prstGeom prst="rect">
            <a:avLst/>
          </a:prstGeom>
          <a:noFill/>
        </p:spPr>
        <p:txBody>
          <a:bodyPr wrap="square" rtlCol="0">
            <a:spAutoFit/>
          </a:bodyPr>
          <a:lstStyle/>
          <a:p>
            <a:r>
              <a:rPr lang="en-US" altLang="zh-TW" dirty="0"/>
              <a:t>converted</a:t>
            </a:r>
            <a:endParaRPr lang="zh-TW" altLang="en-US" dirty="0"/>
          </a:p>
        </p:txBody>
      </p:sp>
      <p:cxnSp>
        <p:nvCxnSpPr>
          <p:cNvPr id="14" name="直線單箭頭接點 13"/>
          <p:cNvCxnSpPr/>
          <p:nvPr/>
        </p:nvCxnSpPr>
        <p:spPr>
          <a:xfrm>
            <a:off x="5778717" y="4005064"/>
            <a:ext cx="1708639" cy="0"/>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文字方塊 14"/>
          <p:cNvSpPr txBox="1"/>
          <p:nvPr/>
        </p:nvSpPr>
        <p:spPr>
          <a:xfrm>
            <a:off x="7518056" y="3812100"/>
            <a:ext cx="2874223" cy="369332"/>
          </a:xfrm>
          <a:prstGeom prst="rect">
            <a:avLst/>
          </a:prstGeom>
          <a:noFill/>
        </p:spPr>
        <p:txBody>
          <a:bodyPr wrap="square" rtlCol="0">
            <a:spAutoFit/>
          </a:bodyPr>
          <a:lstStyle/>
          <a:p>
            <a:r>
              <a:rPr lang="en-US" altLang="zh-TW" dirty="0"/>
              <a:t>unconverted</a:t>
            </a:r>
            <a:endParaRPr lang="zh-TW" altLang="en-US" dirty="0"/>
          </a:p>
        </p:txBody>
      </p:sp>
    </p:spTree>
    <p:extLst>
      <p:ext uri="{BB962C8B-B14F-4D97-AF65-F5344CB8AC3E}">
        <p14:creationId xmlns:p14="http://schemas.microsoft.com/office/powerpoint/2010/main" val="132648048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1847528" y="188640"/>
                <a:ext cx="8640960" cy="6480720"/>
              </a:xfrm>
            </p:spPr>
            <p:txBody>
              <a:bodyPr>
                <a:normAutofit/>
              </a:bodyPr>
              <a:lstStyle/>
              <a:p>
                <a:r>
                  <a:rPr lang="en-US" altLang="zh-TW" dirty="0"/>
                  <a:t>If  </a:t>
                </a:r>
                <a14:m>
                  <m:oMath xmlns:m="http://schemas.openxmlformats.org/officeDocument/2006/math">
                    <m:acc>
                      <m:accPr>
                        <m:chr m:val="̅"/>
                        <m:ctrlPr>
                          <a:rPr lang="en-US" altLang="zh-TW" b="1" i="1">
                            <a:latin typeface="Cambria Math" panose="02040503050406030204" pitchFamily="18" charset="0"/>
                          </a:rPr>
                        </m:ctrlPr>
                      </m:accPr>
                      <m:e>
                        <m:r>
                          <a:rPr lang="en-US" altLang="zh-TW" b="1" i="1">
                            <a:latin typeface="Cambria Math"/>
                          </a:rPr>
                          <m:t>𝑪</m:t>
                        </m:r>
                      </m:e>
                    </m:acc>
                    <m:r>
                      <a:rPr lang="en-US" altLang="zh-TW" b="1" i="1">
                        <a:latin typeface="Cambria Math"/>
                      </a:rPr>
                      <m:t>=</m:t>
                    </m:r>
                  </m:oMath>
                </a14:m>
                <a:r>
                  <a:rPr lang="zh-TW" altLang="en-US" dirty="0"/>
                  <a:t>  </a:t>
                </a:r>
                <a14:m>
                  <m:oMath xmlns:m="http://schemas.openxmlformats.org/officeDocument/2006/math">
                    <m:f>
                      <m:fPr>
                        <m:ctrlPr>
                          <a:rPr lang="en-US" altLang="zh-TW" b="1" i="1">
                            <a:latin typeface="Cambria Math" panose="02040503050406030204" pitchFamily="18" charset="0"/>
                            <a:ea typeface="Cambria Math"/>
                          </a:rPr>
                        </m:ctrlPr>
                      </m:fPr>
                      <m:num>
                        <m:r>
                          <a:rPr lang="en-US" altLang="zh-TW" b="1" i="1">
                            <a:latin typeface="Cambria Math"/>
                            <a:ea typeface="Cambria Math"/>
                          </a:rPr>
                          <m:t>𝒎</m:t>
                        </m:r>
                      </m:num>
                      <m:den>
                        <m:r>
                          <a:rPr lang="en-US" altLang="zh-TW" b="1" i="1">
                            <a:latin typeface="Cambria Math"/>
                            <a:ea typeface="Cambria Math"/>
                          </a:rPr>
                          <m:t>𝒏</m:t>
                        </m:r>
                      </m:den>
                    </m:f>
                    <m:r>
                      <a:rPr lang="en-US" altLang="zh-TW" b="1" i="1">
                        <a:latin typeface="Cambria Math"/>
                        <a:ea typeface="Cambria Math"/>
                      </a:rPr>
                      <m:t>𝑲</m:t>
                    </m:r>
                  </m:oMath>
                </a14:m>
                <a:r>
                  <a:rPr lang="en-US" altLang="zh-TW" dirty="0"/>
                  <a:t> , we will have either</a:t>
                </a:r>
              </a:p>
              <a:p>
                <a:pPr marL="0" indent="0">
                  <a:buNone/>
                </a:pPr>
                <a:endParaRPr lang="en-US" altLang="zh-TW" dirty="0"/>
              </a:p>
              <a:p>
                <a:pPr marL="0" indent="0">
                  <a:buNone/>
                </a:pPr>
                <a:r>
                  <a:rPr lang="en-US" altLang="zh-TW" dirty="0"/>
                  <a:t>            or</a:t>
                </a:r>
              </a:p>
              <a:p>
                <a:pPr marL="0" indent="0">
                  <a:buNone/>
                </a:pPr>
                <a:r>
                  <a:rPr lang="en-US" altLang="zh-TW" b="1" i="1" dirty="0">
                    <a:latin typeface="Cambria Math"/>
                  </a:rPr>
                  <a:t>                             </a:t>
                </a:r>
                <a14:m>
                  <m:oMath xmlns:m="http://schemas.openxmlformats.org/officeDocument/2006/math">
                    <m:sSub>
                      <m:sSubPr>
                        <m:ctrlPr>
                          <a:rPr lang="en-US" altLang="zh-TW" b="1" i="1">
                            <a:latin typeface="Cambria Math" panose="02040503050406030204" pitchFamily="18" charset="0"/>
                          </a:rPr>
                        </m:ctrlPr>
                      </m:sSubPr>
                      <m:e>
                        <m:r>
                          <a:rPr lang="en-US" altLang="zh-TW" b="1" i="1">
                            <a:latin typeface="Cambria Math"/>
                          </a:rPr>
                          <m:t>𝑨</m:t>
                        </m:r>
                      </m:e>
                      <m:sub>
                        <m:r>
                          <a:rPr lang="en-US" altLang="zh-TW" b="1" i="1">
                            <a:latin typeface="Cambria Math"/>
                          </a:rPr>
                          <m:t>𝑻</m:t>
                        </m:r>
                      </m:sub>
                    </m:sSub>
                    <m:r>
                      <a:rPr lang="en-US" altLang="zh-TW" b="1" i="1">
                        <a:latin typeface="Cambria Math"/>
                      </a:rPr>
                      <m:t> </m:t>
                    </m:r>
                    <m:r>
                      <a:rPr lang="en-US" altLang="zh-TW" b="1" i="1">
                        <a:latin typeface="Cambria Math"/>
                        <a:ea typeface="Cambria Math"/>
                      </a:rPr>
                      <m:t>≤</m:t>
                    </m:r>
                    <m:r>
                      <a:rPr lang="en-US" altLang="zh-TW" b="1" i="1">
                        <a:latin typeface="Cambria Math"/>
                        <a:ea typeface="Cambria Math"/>
                      </a:rPr>
                      <m:t>𝑲</m:t>
                    </m:r>
                    <m:r>
                      <a:rPr lang="en-US" altLang="zh-TW" b="1" i="1">
                        <a:latin typeface="Cambria Math"/>
                        <a:ea typeface="Cambria Math"/>
                      </a:rPr>
                      <m:t>+</m:t>
                    </m:r>
                    <m:acc>
                      <m:accPr>
                        <m:chr m:val="̅"/>
                        <m:ctrlPr>
                          <a:rPr lang="en-US" altLang="zh-TW" b="1" i="1">
                            <a:latin typeface="Cambria Math" panose="02040503050406030204" pitchFamily="18" charset="0"/>
                          </a:rPr>
                        </m:ctrlPr>
                      </m:accPr>
                      <m:e>
                        <m:r>
                          <a:rPr lang="en-US" altLang="zh-TW" b="1" i="1">
                            <a:latin typeface="Cambria Math"/>
                          </a:rPr>
                          <m:t>𝑩</m:t>
                        </m:r>
                      </m:e>
                    </m:acc>
                    <m:r>
                      <a:rPr lang="en-US" altLang="zh-TW" b="1" i="1">
                        <a:latin typeface="Cambria Math"/>
                      </a:rPr>
                      <m:t>+</m:t>
                    </m:r>
                    <m:f>
                      <m:fPr>
                        <m:ctrlPr>
                          <a:rPr lang="en-US" altLang="zh-TW" b="1" i="1">
                            <a:latin typeface="Cambria Math" panose="02040503050406030204" pitchFamily="18" charset="0"/>
                            <a:ea typeface="Cambria Math"/>
                          </a:rPr>
                        </m:ctrlPr>
                      </m:fPr>
                      <m:num>
                        <m:r>
                          <a:rPr lang="en-US" altLang="zh-TW" b="1" i="1">
                            <a:latin typeface="Cambria Math"/>
                            <a:ea typeface="Cambria Math"/>
                          </a:rPr>
                          <m:t>𝒎</m:t>
                        </m:r>
                      </m:num>
                      <m:den>
                        <m:r>
                          <a:rPr lang="en-US" altLang="zh-TW" b="1" i="1">
                            <a:latin typeface="Cambria Math"/>
                            <a:ea typeface="Cambria Math"/>
                          </a:rPr>
                          <m:t>𝒏</m:t>
                        </m:r>
                      </m:den>
                    </m:f>
                    <m:r>
                      <a:rPr lang="en-US" altLang="zh-TW" b="1" i="1">
                        <a:latin typeface="Cambria Math"/>
                        <a:ea typeface="Cambria Math"/>
                      </a:rPr>
                      <m:t>𝑲</m:t>
                    </m:r>
                  </m:oMath>
                </a14:m>
                <a:endParaRPr lang="en-US" altLang="zh-TW" dirty="0"/>
              </a:p>
              <a:p>
                <a:pPr marL="0" indent="0">
                  <a:buNone/>
                </a:pPr>
                <a:endParaRPr lang="en-US" altLang="zh-TW" dirty="0"/>
              </a:p>
              <a:p>
                <a:pPr marL="0" indent="0">
                  <a:buNone/>
                </a:pPr>
                <a:endParaRPr lang="en-US" altLang="zh-TW" dirty="0"/>
              </a:p>
              <a:p>
                <a:pPr marL="0" indent="0">
                  <a:buNone/>
                </a:pPr>
                <a:endParaRPr lang="en-US" altLang="zh-TW" dirty="0"/>
              </a:p>
              <a:p>
                <a:pPr marL="0" indent="0">
                  <a:buNone/>
                </a:pPr>
                <a:endParaRPr lang="en-US" altLang="zh-TW" dirty="0"/>
              </a:p>
              <a:p>
                <a:pPr marL="0" indent="0">
                  <a:buNone/>
                </a:pPr>
                <a:endParaRPr lang="en-US" altLang="zh-TW" dirty="0"/>
              </a:p>
              <a:p>
                <a:pPr marL="0" indent="0">
                  <a:buNone/>
                </a:pPr>
                <a:r>
                  <a:rPr lang="en-US" altLang="zh-TW" dirty="0"/>
                  <a:t>That implies that the conversion ratio is restricted as </a:t>
                </a:r>
              </a:p>
              <a:p>
                <a:pPr marL="0" indent="0">
                  <a:buNone/>
                </a:pPr>
                <a:r>
                  <a:rPr lang="en-US" altLang="zh-TW" i="1" dirty="0">
                    <a:ea typeface="Cambria Math"/>
                  </a:rPr>
                  <a:t> m</a:t>
                </a:r>
                <a14:m>
                  <m:oMath xmlns:m="http://schemas.openxmlformats.org/officeDocument/2006/math">
                    <m:r>
                      <a:rPr lang="en-US" altLang="zh-TW" i="1">
                        <a:latin typeface="Cambria Math"/>
                        <a:ea typeface="Cambria Math"/>
                      </a:rPr>
                      <m:t>=</m:t>
                    </m:r>
                    <m:f>
                      <m:fPr>
                        <m:ctrlPr>
                          <a:rPr lang="en-US" altLang="zh-TW" i="1">
                            <a:latin typeface="Cambria Math" panose="02040503050406030204" pitchFamily="18" charset="0"/>
                            <a:ea typeface="Cambria Math"/>
                          </a:rPr>
                        </m:ctrlPr>
                      </m:fPr>
                      <m:num>
                        <m:r>
                          <a:rPr lang="en-US" altLang="zh-TW" i="1">
                            <a:latin typeface="Cambria Math"/>
                            <a:ea typeface="Cambria Math"/>
                          </a:rPr>
                          <m:t>𝑛</m:t>
                        </m:r>
                        <m:acc>
                          <m:accPr>
                            <m:chr m:val="̅"/>
                            <m:ctrlPr>
                              <a:rPr lang="en-US" altLang="zh-TW" i="1">
                                <a:latin typeface="Cambria Math" panose="02040503050406030204" pitchFamily="18" charset="0"/>
                                <a:ea typeface="Cambria Math"/>
                              </a:rPr>
                            </m:ctrlPr>
                          </m:accPr>
                          <m:e>
                            <m:r>
                              <a:rPr lang="en-US" altLang="zh-TW" i="1">
                                <a:latin typeface="Cambria Math"/>
                                <a:ea typeface="Cambria Math"/>
                              </a:rPr>
                              <m:t>𝐶</m:t>
                            </m:r>
                          </m:e>
                        </m:acc>
                      </m:num>
                      <m:den>
                        <m:r>
                          <a:rPr lang="en-US" altLang="zh-TW" i="1">
                            <a:latin typeface="Cambria Math"/>
                            <a:ea typeface="Cambria Math"/>
                          </a:rPr>
                          <m:t>𝐾</m:t>
                        </m:r>
                      </m:den>
                    </m:f>
                  </m:oMath>
                </a14:m>
                <a:r>
                  <a:rPr lang="zh-TW" altLang="en-US" dirty="0"/>
                  <a:t>  </a:t>
                </a:r>
                <a:r>
                  <a:rPr lang="en-US" altLang="zh-TW" dirty="0"/>
                  <a:t>to assure a unique equilibrium </a:t>
                </a:r>
                <a:endParaRPr lang="zh-TW" altLang="en-US" dirty="0"/>
              </a:p>
              <a:p>
                <a:pPr marL="0" indent="0">
                  <a:buNone/>
                </a:pPr>
                <a:endParaRPr lang="en-US" altLang="zh-TW" b="1" i="1" dirty="0">
                  <a:latin typeface="Cambria Math"/>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323528" y="188640"/>
                <a:ext cx="8640960" cy="6480720"/>
              </a:xfrm>
              <a:blipFill rotWithShape="1">
                <a:blip r:embed="rId2"/>
                <a:stretch>
                  <a:fillRect l="-141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4079776" y="980728"/>
                <a:ext cx="4752528" cy="524118"/>
              </a:xfrm>
              <a:prstGeom prst="rect">
                <a:avLst/>
              </a:prstGeom>
            </p:spPr>
            <p:txBody>
              <a:bodyPr wrap="square">
                <a:spAutoFit/>
              </a:bodyPr>
              <a:lstStyle/>
              <a:p>
                <a14:m>
                  <m:oMath xmlns:m="http://schemas.openxmlformats.org/officeDocument/2006/math">
                    <m:sSub>
                      <m:sSubPr>
                        <m:ctrlPr>
                          <a:rPr lang="en-US" altLang="zh-TW" sz="2800" b="1" i="1">
                            <a:latin typeface="Cambria Math" panose="02040503050406030204" pitchFamily="18" charset="0"/>
                            <a:ea typeface="Cambria Math"/>
                          </a:rPr>
                        </m:ctrlPr>
                      </m:sSubPr>
                      <m:e>
                        <m:r>
                          <a:rPr lang="en-US" altLang="zh-TW" sz="2800" b="1" i="1">
                            <a:latin typeface="Cambria Math"/>
                            <a:ea typeface="Cambria Math"/>
                          </a:rPr>
                          <m:t>𝑨</m:t>
                        </m:r>
                      </m:e>
                      <m:sub>
                        <m:r>
                          <a:rPr lang="en-US" altLang="zh-TW" sz="2800" b="1" i="1">
                            <a:latin typeface="Cambria Math"/>
                            <a:ea typeface="Cambria Math"/>
                          </a:rPr>
                          <m:t>𝑻</m:t>
                        </m:r>
                      </m:sub>
                    </m:sSub>
                    <m:r>
                      <a:rPr lang="en-US" altLang="zh-TW" sz="2800" b="1" i="1">
                        <a:latin typeface="Cambria Math"/>
                        <a:ea typeface="Cambria Math"/>
                      </a:rPr>
                      <m:t>&gt;</m:t>
                    </m:r>
                    <m:r>
                      <a:rPr lang="en-US" altLang="zh-TW" sz="2800" b="1" i="1">
                        <a:latin typeface="Cambria Math"/>
                        <a:ea typeface="Cambria Math"/>
                      </a:rPr>
                      <m:t>𝑲</m:t>
                    </m:r>
                    <m:r>
                      <a:rPr lang="en-US" altLang="zh-TW" sz="2800" b="1" i="1">
                        <a:latin typeface="Cambria Math"/>
                        <a:ea typeface="Cambria Math"/>
                      </a:rPr>
                      <m:t>+</m:t>
                    </m:r>
                    <m:acc>
                      <m:accPr>
                        <m:chr m:val="̅"/>
                        <m:ctrlPr>
                          <a:rPr lang="en-US" altLang="zh-TW" sz="2800" b="1" i="1">
                            <a:latin typeface="Cambria Math" panose="02040503050406030204" pitchFamily="18" charset="0"/>
                          </a:rPr>
                        </m:ctrlPr>
                      </m:accPr>
                      <m:e>
                        <m:r>
                          <a:rPr lang="en-US" altLang="zh-TW" sz="2800" b="1" i="1">
                            <a:latin typeface="Cambria Math"/>
                          </a:rPr>
                          <m:t>𝑩</m:t>
                        </m:r>
                      </m:e>
                    </m:acc>
                    <m:r>
                      <a:rPr lang="en-US" altLang="zh-TW" sz="2800" b="1" i="1">
                        <a:latin typeface="Cambria Math"/>
                      </a:rPr>
                      <m:t>+</m:t>
                    </m:r>
                    <m:acc>
                      <m:accPr>
                        <m:chr m:val="̅"/>
                        <m:ctrlPr>
                          <a:rPr lang="en-US" altLang="zh-TW" sz="2800" b="1" i="1">
                            <a:latin typeface="Cambria Math" panose="02040503050406030204" pitchFamily="18" charset="0"/>
                          </a:rPr>
                        </m:ctrlPr>
                      </m:accPr>
                      <m:e>
                        <m:r>
                          <a:rPr lang="en-US" altLang="zh-TW" sz="2800" b="1" i="1">
                            <a:latin typeface="Cambria Math"/>
                          </a:rPr>
                          <m:t>𝑪</m:t>
                        </m:r>
                      </m:e>
                    </m:acc>
                  </m:oMath>
                </a14:m>
                <a:r>
                  <a:rPr lang="zh-TW" altLang="en-US" sz="2800" dirty="0"/>
                  <a:t> </a:t>
                </a:r>
                <a:r>
                  <a:rPr lang="en-US" altLang="zh-TW" sz="2800" dirty="0"/>
                  <a:t>,</a:t>
                </a:r>
                <a:endParaRPr lang="zh-TW" altLang="en-US" sz="2800" dirty="0"/>
              </a:p>
            </p:txBody>
          </p:sp>
        </mc:Choice>
        <mc:Fallback xmlns="">
          <p:sp>
            <p:nvSpPr>
              <p:cNvPr id="4" name="矩形 3"/>
              <p:cNvSpPr>
                <a:spLocks noRot="1" noChangeAspect="1" noMove="1" noResize="1" noEditPoints="1" noAdjustHandles="1" noChangeArrowheads="1" noChangeShapeType="1" noTextEdit="1"/>
              </p:cNvSpPr>
              <p:nvPr/>
            </p:nvSpPr>
            <p:spPr>
              <a:xfrm>
                <a:off x="2555776" y="980728"/>
                <a:ext cx="4752528" cy="524118"/>
              </a:xfrm>
              <a:prstGeom prst="rect">
                <a:avLst/>
              </a:prstGeom>
              <a:blipFill rotWithShape="1">
                <a:blip r:embed="rId3"/>
                <a:stretch>
                  <a:fillRect t="-10465" b="-32558"/>
                </a:stretch>
              </a:blipFill>
            </p:spPr>
            <p:txBody>
              <a:bodyPr/>
              <a:lstStyle/>
              <a:p>
                <a:r>
                  <a:rPr lang="zh-TW" altLang="en-US">
                    <a:noFill/>
                  </a:rPr>
                  <a:t> </a:t>
                </a:r>
              </a:p>
            </p:txBody>
          </p:sp>
        </mc:Fallback>
      </mc:AlternateContent>
      <p:cxnSp>
        <p:nvCxnSpPr>
          <p:cNvPr id="5" name="直線接點 4"/>
          <p:cNvCxnSpPr/>
          <p:nvPr/>
        </p:nvCxnSpPr>
        <p:spPr>
          <a:xfrm>
            <a:off x="5591944" y="2810183"/>
            <a:ext cx="0" cy="230425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直線接點 5"/>
          <p:cNvCxnSpPr/>
          <p:nvPr/>
        </p:nvCxnSpPr>
        <p:spPr>
          <a:xfrm>
            <a:off x="5411924" y="3962311"/>
            <a:ext cx="360040"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文字方塊 6"/>
              <p:cNvSpPr txBox="1"/>
              <p:nvPr/>
            </p:nvSpPr>
            <p:spPr>
              <a:xfrm>
                <a:off x="6019001" y="3741758"/>
                <a:ext cx="3816424" cy="738728"/>
              </a:xfrm>
              <a:prstGeom prst="rect">
                <a:avLst/>
              </a:prstGeom>
              <a:noFill/>
            </p:spPr>
            <p:txBody>
              <a:bodyPr wrap="square" rtlCol="0">
                <a:spAutoFit/>
              </a:bodyPr>
              <a:lstStyle/>
              <a:p>
                <a14:m>
                  <m:oMath xmlns:m="http://schemas.openxmlformats.org/officeDocument/2006/math">
                    <m:r>
                      <a:rPr lang="en-US" altLang="zh-TW" b="1" i="1">
                        <a:latin typeface="Cambria Math"/>
                        <a:ea typeface="Cambria Math"/>
                      </a:rPr>
                      <m:t>𝑲</m:t>
                    </m:r>
                    <m:r>
                      <a:rPr lang="en-US" altLang="zh-TW" b="1" i="1">
                        <a:latin typeface="Cambria Math"/>
                        <a:ea typeface="Cambria Math"/>
                      </a:rPr>
                      <m:t>+</m:t>
                    </m:r>
                    <m:acc>
                      <m:accPr>
                        <m:chr m:val="̅"/>
                        <m:ctrlPr>
                          <a:rPr lang="en-US" altLang="zh-TW" b="1" i="1">
                            <a:latin typeface="Cambria Math" panose="02040503050406030204" pitchFamily="18" charset="0"/>
                          </a:rPr>
                        </m:ctrlPr>
                      </m:accPr>
                      <m:e>
                        <m:r>
                          <a:rPr lang="en-US" altLang="zh-TW" b="1" i="1">
                            <a:latin typeface="Cambria Math"/>
                          </a:rPr>
                          <m:t>𝑩</m:t>
                        </m:r>
                      </m:e>
                    </m:acc>
                    <m:r>
                      <a:rPr lang="en-US" altLang="zh-TW" b="1" i="1">
                        <a:latin typeface="Cambria Math"/>
                      </a:rPr>
                      <m:t>+</m:t>
                    </m:r>
                    <m:acc>
                      <m:accPr>
                        <m:chr m:val="̅"/>
                        <m:ctrlPr>
                          <a:rPr lang="en-US" altLang="zh-TW" b="1" i="1">
                            <a:latin typeface="Cambria Math" panose="02040503050406030204" pitchFamily="18" charset="0"/>
                          </a:rPr>
                        </m:ctrlPr>
                      </m:accPr>
                      <m:e>
                        <m:r>
                          <a:rPr lang="en-US" altLang="zh-TW" b="1" i="1">
                            <a:latin typeface="Cambria Math"/>
                          </a:rPr>
                          <m:t>𝑪</m:t>
                        </m:r>
                      </m:e>
                    </m:acc>
                  </m:oMath>
                </a14:m>
                <a:r>
                  <a:rPr lang="zh-TW" altLang="en-US" dirty="0"/>
                  <a:t> </a:t>
                </a:r>
                <a:r>
                  <a:rPr lang="en-US" altLang="zh-TW" dirty="0"/>
                  <a:t>= </a:t>
                </a:r>
                <a14:m>
                  <m:oMath xmlns:m="http://schemas.openxmlformats.org/officeDocument/2006/math">
                    <m:r>
                      <a:rPr lang="en-US" altLang="zh-TW" b="1" i="1">
                        <a:latin typeface="Cambria Math"/>
                        <a:ea typeface="Cambria Math"/>
                      </a:rPr>
                      <m:t>𝑲</m:t>
                    </m:r>
                    <m:r>
                      <a:rPr lang="en-US" altLang="zh-TW" b="1" i="1">
                        <a:latin typeface="Cambria Math"/>
                        <a:ea typeface="Cambria Math"/>
                      </a:rPr>
                      <m:t>+</m:t>
                    </m:r>
                    <m:acc>
                      <m:accPr>
                        <m:chr m:val="̅"/>
                        <m:ctrlPr>
                          <a:rPr lang="en-US" altLang="zh-TW" b="1" i="1">
                            <a:latin typeface="Cambria Math" panose="02040503050406030204" pitchFamily="18" charset="0"/>
                          </a:rPr>
                        </m:ctrlPr>
                      </m:accPr>
                      <m:e>
                        <m:r>
                          <a:rPr lang="en-US" altLang="zh-TW" b="1" i="1">
                            <a:latin typeface="Cambria Math"/>
                          </a:rPr>
                          <m:t>𝑩</m:t>
                        </m:r>
                      </m:e>
                    </m:acc>
                    <m:r>
                      <a:rPr lang="en-US" altLang="zh-TW" b="1" i="1">
                        <a:latin typeface="Cambria Math"/>
                      </a:rPr>
                      <m:t>+</m:t>
                    </m:r>
                    <m:f>
                      <m:fPr>
                        <m:ctrlPr>
                          <a:rPr lang="en-US" altLang="zh-TW" b="1" i="1">
                            <a:latin typeface="Cambria Math" panose="02040503050406030204" pitchFamily="18" charset="0"/>
                            <a:ea typeface="Cambria Math"/>
                          </a:rPr>
                        </m:ctrlPr>
                      </m:fPr>
                      <m:num>
                        <m:r>
                          <a:rPr lang="en-US" altLang="zh-TW" b="1" i="1">
                            <a:latin typeface="Cambria Math"/>
                            <a:ea typeface="Cambria Math"/>
                          </a:rPr>
                          <m:t>𝒎</m:t>
                        </m:r>
                      </m:num>
                      <m:den>
                        <m:r>
                          <a:rPr lang="en-US" altLang="zh-TW" b="1" i="1">
                            <a:latin typeface="Cambria Math"/>
                            <a:ea typeface="Cambria Math"/>
                          </a:rPr>
                          <m:t>𝒏</m:t>
                        </m:r>
                      </m:den>
                    </m:f>
                    <m:r>
                      <a:rPr lang="en-US" altLang="zh-TW" b="1" i="1">
                        <a:latin typeface="Cambria Math"/>
                        <a:ea typeface="Cambria Math"/>
                      </a:rPr>
                      <m:t>𝑲</m:t>
                    </m:r>
                  </m:oMath>
                </a14:m>
                <a:r>
                  <a:rPr lang="en-US" altLang="zh-TW" dirty="0"/>
                  <a:t> </a:t>
                </a:r>
                <a:endParaRPr lang="zh-TW" altLang="en-US" dirty="0"/>
              </a:p>
              <a:p>
                <a:r>
                  <a:rPr lang="en-US" altLang="zh-TW" dirty="0"/>
                  <a:t> </a:t>
                </a:r>
                <a:endParaRPr lang="zh-TW" altLang="en-US"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4495001" y="3741758"/>
                <a:ext cx="3816424" cy="738728"/>
              </a:xfrm>
              <a:prstGeom prst="rect">
                <a:avLst/>
              </a:prstGeom>
              <a:blipFill rotWithShape="1">
                <a:blip r:embed="rId4"/>
                <a:stretch>
                  <a:fillRect/>
                </a:stretch>
              </a:blipFill>
            </p:spPr>
            <p:txBody>
              <a:bodyPr/>
              <a:lstStyle/>
              <a:p>
                <a:r>
                  <a:rPr lang="zh-TW" altLang="en-US">
                    <a:noFill/>
                  </a:rPr>
                  <a:t> </a:t>
                </a:r>
              </a:p>
            </p:txBody>
          </p:sp>
        </mc:Fallback>
      </mc:AlternateContent>
      <p:cxnSp>
        <p:nvCxnSpPr>
          <p:cNvPr id="8" name="直線單箭頭接點 7"/>
          <p:cNvCxnSpPr/>
          <p:nvPr/>
        </p:nvCxnSpPr>
        <p:spPr>
          <a:xfrm>
            <a:off x="5771964" y="3212976"/>
            <a:ext cx="1708639" cy="0"/>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文字方塊 8"/>
          <p:cNvSpPr txBox="1"/>
          <p:nvPr/>
        </p:nvSpPr>
        <p:spPr>
          <a:xfrm>
            <a:off x="7482068" y="3028310"/>
            <a:ext cx="2874223" cy="369332"/>
          </a:xfrm>
          <a:prstGeom prst="rect">
            <a:avLst/>
          </a:prstGeom>
          <a:noFill/>
        </p:spPr>
        <p:txBody>
          <a:bodyPr wrap="square" rtlCol="0">
            <a:spAutoFit/>
          </a:bodyPr>
          <a:lstStyle/>
          <a:p>
            <a:r>
              <a:rPr lang="en-US" altLang="zh-TW" dirty="0"/>
              <a:t>unconverted</a:t>
            </a:r>
            <a:endParaRPr lang="zh-TW" altLang="en-US" dirty="0"/>
          </a:p>
        </p:txBody>
      </p:sp>
      <p:cxnSp>
        <p:nvCxnSpPr>
          <p:cNvPr id="10" name="直線單箭頭接點 9"/>
          <p:cNvCxnSpPr/>
          <p:nvPr/>
        </p:nvCxnSpPr>
        <p:spPr>
          <a:xfrm>
            <a:off x="5809417" y="4725144"/>
            <a:ext cx="1708639" cy="0"/>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文字方塊 10"/>
          <p:cNvSpPr txBox="1"/>
          <p:nvPr/>
        </p:nvSpPr>
        <p:spPr>
          <a:xfrm>
            <a:off x="7518056" y="4540478"/>
            <a:ext cx="2874223" cy="369332"/>
          </a:xfrm>
          <a:prstGeom prst="rect">
            <a:avLst/>
          </a:prstGeom>
          <a:noFill/>
        </p:spPr>
        <p:txBody>
          <a:bodyPr wrap="square" rtlCol="0">
            <a:spAutoFit/>
          </a:bodyPr>
          <a:lstStyle/>
          <a:p>
            <a:r>
              <a:rPr lang="en-US" altLang="zh-TW" dirty="0"/>
              <a:t> converted</a:t>
            </a:r>
            <a:endParaRPr lang="zh-TW" altLang="en-US" dirty="0"/>
          </a:p>
        </p:txBody>
      </p:sp>
    </p:spTree>
    <p:extLst>
      <p:ext uri="{BB962C8B-B14F-4D97-AF65-F5344CB8AC3E}">
        <p14:creationId xmlns:p14="http://schemas.microsoft.com/office/powerpoint/2010/main" val="337836793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969703" y="2521095"/>
            <a:ext cx="6795082" cy="1325563"/>
          </a:xfrm>
        </p:spPr>
        <p:txBody>
          <a:bodyPr>
            <a:noAutofit/>
          </a:bodyPr>
          <a:lstStyle/>
          <a:p>
            <a:r>
              <a:rPr lang="en-US" altLang="zh-TW" sz="13800" dirty="0" smtClean="0"/>
              <a:t>Question</a:t>
            </a:r>
            <a:endParaRPr lang="zh-TW" altLang="en-US" sz="13800" dirty="0"/>
          </a:p>
        </p:txBody>
      </p:sp>
    </p:spTree>
    <p:extLst>
      <p:ext uri="{BB962C8B-B14F-4D97-AF65-F5344CB8AC3E}">
        <p14:creationId xmlns:p14="http://schemas.microsoft.com/office/powerpoint/2010/main" val="355007630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直排文字版面配置區 2"/>
              <p:cNvSpPr>
                <a:spLocks noGrp="1"/>
              </p:cNvSpPr>
              <p:nvPr>
                <p:ph type="body" orient="vert" idx="1"/>
              </p:nvPr>
            </p:nvSpPr>
            <p:spPr>
              <a:xfrm>
                <a:off x="1596008" y="692696"/>
                <a:ext cx="9252520" cy="5976870"/>
              </a:xfrm>
            </p:spPr>
            <p:txBody>
              <a:bodyPr vert="horz">
                <a:noAutofit/>
              </a:bodyPr>
              <a:lstStyle/>
              <a:p>
                <a:pPr marL="0" indent="0">
                  <a:lnSpc>
                    <a:spcPct val="150000"/>
                  </a:lnSpc>
                  <a:buNone/>
                </a:pPr>
                <a14:m>
                  <m:oMathPara xmlns:m="http://schemas.openxmlformats.org/officeDocument/2006/math">
                    <m:oMathParaPr>
                      <m:jc m:val="left"/>
                    </m:oMathParaPr>
                    <m:oMath xmlns:m="http://schemas.openxmlformats.org/officeDocument/2006/math">
                      <m:r>
                        <a:rPr lang="en-US" altLang="zh-TW" sz="2400" i="1">
                          <a:latin typeface="Cambria Math"/>
                        </a:rPr>
                        <m:t>𝐷𝑒𝑏𝑡</m:t>
                      </m:r>
                    </m:oMath>
                  </m:oMathPara>
                </a14:m>
                <a:endParaRPr lang="en-US" altLang="zh-TW" sz="2400" i="1" dirty="0">
                  <a:latin typeface="Cambria Math"/>
                </a:endParaRPr>
              </a:p>
              <a:p>
                <a:pPr marL="0" indent="0">
                  <a:lnSpc>
                    <a:spcPct val="150000"/>
                  </a:lnSpc>
                  <a:buNone/>
                </a:pPr>
                <a14:m>
                  <m:oMathPara xmlns:m="http://schemas.openxmlformats.org/officeDocument/2006/math">
                    <m:oMathParaPr>
                      <m:jc m:val="left"/>
                    </m:oMathParaPr>
                    <m:oMath xmlns:m="http://schemas.openxmlformats.org/officeDocument/2006/math">
                      <m:r>
                        <a:rPr lang="en-US" altLang="zh-TW" sz="1600" i="1">
                          <a:latin typeface="Cambria Math"/>
                        </a:rPr>
                        <m:t>=</m:t>
                      </m:r>
                      <m:acc>
                        <m:accPr>
                          <m:chr m:val="̃"/>
                          <m:ctrlPr>
                            <a:rPr lang="en-US" altLang="zh-TW" sz="1600" i="1">
                              <a:solidFill>
                                <a:srgbClr val="0070C0"/>
                              </a:solidFill>
                              <a:latin typeface="Cambria Math" panose="02040503050406030204" pitchFamily="18" charset="0"/>
                            </a:rPr>
                          </m:ctrlPr>
                        </m:accPr>
                        <m:e>
                          <m:r>
                            <a:rPr lang="en-US" altLang="zh-TW" sz="1600" i="1">
                              <a:solidFill>
                                <a:srgbClr val="0070C0"/>
                              </a:solidFill>
                              <a:latin typeface="Cambria Math"/>
                            </a:rPr>
                            <m:t>𝐸</m:t>
                          </m:r>
                        </m:e>
                      </m:acc>
                      <m:r>
                        <a:rPr lang="en-US" altLang="zh-TW" sz="1600" i="1">
                          <a:solidFill>
                            <a:srgbClr val="0070C0"/>
                          </a:solidFill>
                          <a:latin typeface="Cambria Math"/>
                        </a:rPr>
                        <m:t>{ [</m:t>
                      </m:r>
                      <m:sSub>
                        <m:sSubPr>
                          <m:ctrlPr>
                            <a:rPr lang="en-US" altLang="zh-TW" sz="1600" i="1">
                              <a:solidFill>
                                <a:srgbClr val="0070C0"/>
                              </a:solidFill>
                              <a:latin typeface="Cambria Math" panose="02040503050406030204" pitchFamily="18" charset="0"/>
                            </a:rPr>
                          </m:ctrlPr>
                        </m:sSubPr>
                        <m:e>
                          <m:r>
                            <a:rPr lang="en-US" altLang="zh-TW" sz="1600" i="1">
                              <a:solidFill>
                                <a:srgbClr val="0070C0"/>
                              </a:solidFill>
                              <a:latin typeface="Cambria Math"/>
                            </a:rPr>
                            <m:t>𝐷</m:t>
                          </m:r>
                        </m:e>
                        <m:sub>
                          <m:r>
                            <a:rPr lang="en-US" altLang="zh-TW" sz="1600" i="1">
                              <a:solidFill>
                                <a:srgbClr val="0070C0"/>
                              </a:solidFill>
                              <a:latin typeface="Cambria Math"/>
                            </a:rPr>
                            <m:t>1</m:t>
                          </m:r>
                        </m:sub>
                      </m:sSub>
                      <m:r>
                        <a:rPr lang="en-US" altLang="zh-TW" sz="1600" i="1">
                          <a:solidFill>
                            <a:srgbClr val="0070C0"/>
                          </a:solidFill>
                          <a:latin typeface="Cambria Math"/>
                        </a:rPr>
                        <m:t>+</m:t>
                      </m:r>
                      <m:sSub>
                        <m:sSubPr>
                          <m:ctrlPr>
                            <a:rPr lang="en-US" altLang="zh-TW" sz="1600" i="1">
                              <a:solidFill>
                                <a:srgbClr val="0070C0"/>
                              </a:solidFill>
                              <a:latin typeface="Cambria Math" panose="02040503050406030204" pitchFamily="18" charset="0"/>
                            </a:rPr>
                          </m:ctrlPr>
                        </m:sSubPr>
                        <m:e>
                          <m:r>
                            <a:rPr lang="en-US" altLang="zh-TW" sz="1600" i="1">
                              <a:solidFill>
                                <a:srgbClr val="0070C0"/>
                              </a:solidFill>
                              <a:latin typeface="Cambria Math"/>
                            </a:rPr>
                            <m:t>𝐷</m:t>
                          </m:r>
                        </m:e>
                        <m:sub>
                          <m:r>
                            <a:rPr lang="en-US" altLang="zh-TW" sz="1600" i="1">
                              <a:solidFill>
                                <a:srgbClr val="0070C0"/>
                              </a:solidFill>
                              <a:latin typeface="Cambria Math"/>
                            </a:rPr>
                            <m:t>2</m:t>
                          </m:r>
                        </m:sub>
                      </m:sSub>
                      <m:r>
                        <a:rPr lang="en-US" altLang="zh-TW" sz="1600" i="1">
                          <a:solidFill>
                            <a:srgbClr val="0070C0"/>
                          </a:solidFill>
                          <a:latin typeface="Cambria Math"/>
                        </a:rPr>
                        <m:t>+</m:t>
                      </m:r>
                      <m:sSub>
                        <m:sSubPr>
                          <m:ctrlPr>
                            <a:rPr lang="en-US" altLang="zh-TW" sz="1600" i="1">
                              <a:solidFill>
                                <a:srgbClr val="0070C0"/>
                              </a:solidFill>
                              <a:latin typeface="Cambria Math" panose="02040503050406030204" pitchFamily="18" charset="0"/>
                            </a:rPr>
                          </m:ctrlPr>
                        </m:sSubPr>
                        <m:e>
                          <m:r>
                            <a:rPr lang="en-US" altLang="zh-TW" sz="1600" i="1">
                              <a:solidFill>
                                <a:srgbClr val="0070C0"/>
                              </a:solidFill>
                              <a:latin typeface="Cambria Math"/>
                            </a:rPr>
                            <m:t>𝐶</m:t>
                          </m:r>
                        </m:e>
                        <m:sub>
                          <m:r>
                            <a:rPr lang="en-US" altLang="zh-TW" sz="1600" i="1">
                              <a:solidFill>
                                <a:srgbClr val="0070C0"/>
                              </a:solidFill>
                              <a:latin typeface="Cambria Math"/>
                            </a:rPr>
                            <m:t>1</m:t>
                          </m:r>
                        </m:sub>
                      </m:sSub>
                      <m:sSub>
                        <m:sSubPr>
                          <m:ctrlPr>
                            <a:rPr lang="en-US" altLang="zh-TW" sz="1600" i="1">
                              <a:solidFill>
                                <a:srgbClr val="0070C0"/>
                              </a:solidFill>
                              <a:latin typeface="Cambria Math" panose="02040503050406030204" pitchFamily="18" charset="0"/>
                            </a:rPr>
                          </m:ctrlPr>
                        </m:sSubPr>
                        <m:e>
                          <m:r>
                            <a:rPr lang="en-US" altLang="zh-TW" sz="1600" i="1">
                              <a:solidFill>
                                <a:srgbClr val="0070C0"/>
                              </a:solidFill>
                              <a:latin typeface="Cambria Math"/>
                            </a:rPr>
                            <m:t>𝐷</m:t>
                          </m:r>
                        </m:e>
                        <m:sub>
                          <m:r>
                            <a:rPr lang="en-US" altLang="zh-TW" sz="1600" i="1">
                              <a:solidFill>
                                <a:srgbClr val="0070C0"/>
                              </a:solidFill>
                              <a:latin typeface="Cambria Math"/>
                            </a:rPr>
                            <m:t>1</m:t>
                          </m:r>
                        </m:sub>
                      </m:sSub>
                      <m:r>
                        <a:rPr lang="en-US" altLang="zh-TW" sz="1600" i="1">
                          <a:solidFill>
                            <a:srgbClr val="0070C0"/>
                          </a:solidFill>
                          <a:latin typeface="Cambria Math"/>
                        </a:rPr>
                        <m:t>𝑇</m:t>
                      </m:r>
                      <m:r>
                        <a:rPr lang="en-US" altLang="zh-TW" sz="1600" i="1">
                          <a:solidFill>
                            <a:srgbClr val="0070C0"/>
                          </a:solidFill>
                          <a:latin typeface="Cambria Math"/>
                        </a:rPr>
                        <m:t>+</m:t>
                      </m:r>
                      <m:sSub>
                        <m:sSubPr>
                          <m:ctrlPr>
                            <a:rPr lang="en-US" altLang="zh-TW" sz="1600" i="1">
                              <a:solidFill>
                                <a:srgbClr val="0070C0"/>
                              </a:solidFill>
                              <a:latin typeface="Cambria Math" panose="02040503050406030204" pitchFamily="18" charset="0"/>
                            </a:rPr>
                          </m:ctrlPr>
                        </m:sSubPr>
                        <m:e>
                          <m:r>
                            <a:rPr lang="en-US" altLang="zh-TW" sz="1600" i="1">
                              <a:solidFill>
                                <a:srgbClr val="0070C0"/>
                              </a:solidFill>
                              <a:latin typeface="Cambria Math"/>
                            </a:rPr>
                            <m:t>𝐶</m:t>
                          </m:r>
                        </m:e>
                        <m:sub>
                          <m:r>
                            <a:rPr lang="en-US" altLang="zh-TW" sz="1600" i="1">
                              <a:solidFill>
                                <a:srgbClr val="0070C0"/>
                              </a:solidFill>
                              <a:latin typeface="Cambria Math"/>
                            </a:rPr>
                            <m:t>2</m:t>
                          </m:r>
                        </m:sub>
                      </m:sSub>
                      <m:sSub>
                        <m:sSubPr>
                          <m:ctrlPr>
                            <a:rPr lang="en-US" altLang="zh-TW" sz="1600" i="1">
                              <a:solidFill>
                                <a:srgbClr val="0070C0"/>
                              </a:solidFill>
                              <a:latin typeface="Cambria Math" panose="02040503050406030204" pitchFamily="18" charset="0"/>
                            </a:rPr>
                          </m:ctrlPr>
                        </m:sSubPr>
                        <m:e>
                          <m:r>
                            <a:rPr lang="en-US" altLang="zh-TW" sz="1600" i="1">
                              <a:solidFill>
                                <a:srgbClr val="0070C0"/>
                              </a:solidFill>
                              <a:latin typeface="Cambria Math"/>
                            </a:rPr>
                            <m:t>𝐷</m:t>
                          </m:r>
                        </m:e>
                        <m:sub>
                          <m:r>
                            <a:rPr lang="en-US" altLang="zh-TW" sz="1600" i="1">
                              <a:solidFill>
                                <a:srgbClr val="0070C0"/>
                              </a:solidFill>
                              <a:latin typeface="Cambria Math"/>
                            </a:rPr>
                            <m:t>2</m:t>
                          </m:r>
                        </m:sub>
                      </m:sSub>
                      <m:r>
                        <a:rPr lang="en-US" altLang="zh-TW" sz="1600" i="1">
                          <a:solidFill>
                            <a:srgbClr val="0070C0"/>
                          </a:solidFill>
                          <a:latin typeface="Cambria Math"/>
                        </a:rPr>
                        <m:t>𝑇</m:t>
                      </m:r>
                      <m:r>
                        <a:rPr lang="en-US" altLang="zh-TW" sz="1600" i="1">
                          <a:solidFill>
                            <a:srgbClr val="0070C0"/>
                          </a:solidFill>
                          <a:latin typeface="Cambria Math"/>
                        </a:rPr>
                        <m:t>]</m:t>
                      </m:r>
                      <m:sSup>
                        <m:sSupPr>
                          <m:ctrlPr>
                            <a:rPr lang="en-US" altLang="zh-TW" sz="1600" i="1">
                              <a:solidFill>
                                <a:srgbClr val="0070C0"/>
                              </a:solidFill>
                              <a:latin typeface="Cambria Math" panose="02040503050406030204" pitchFamily="18" charset="0"/>
                            </a:rPr>
                          </m:ctrlPr>
                        </m:sSupPr>
                        <m:e>
                          <m:r>
                            <a:rPr lang="en-US" altLang="zh-TW" sz="1600" i="1">
                              <a:solidFill>
                                <a:srgbClr val="0070C0"/>
                              </a:solidFill>
                              <a:latin typeface="Cambria Math"/>
                            </a:rPr>
                            <m:t>  </m:t>
                          </m:r>
                          <m:r>
                            <a:rPr lang="en-US" altLang="zh-TW" sz="1600" i="1">
                              <a:solidFill>
                                <a:srgbClr val="0070C0"/>
                              </a:solidFill>
                              <a:latin typeface="Cambria Math"/>
                            </a:rPr>
                            <m:t>𝑒</m:t>
                          </m:r>
                        </m:e>
                        <m:sup>
                          <m:r>
                            <a:rPr lang="en-US" altLang="zh-TW" sz="1600" i="1">
                              <a:solidFill>
                                <a:srgbClr val="0070C0"/>
                              </a:solidFill>
                              <a:latin typeface="Cambria Math"/>
                            </a:rPr>
                            <m:t>−</m:t>
                          </m:r>
                          <m:r>
                            <a:rPr lang="en-US" altLang="zh-TW" sz="1600" i="1">
                              <a:solidFill>
                                <a:srgbClr val="0070C0"/>
                              </a:solidFill>
                              <a:latin typeface="Cambria Math"/>
                            </a:rPr>
                            <m:t>𝑟𝑇</m:t>
                          </m:r>
                        </m:sup>
                      </m:sSup>
                      <m:sSub>
                        <m:sSubPr>
                          <m:ctrlPr>
                            <a:rPr lang="en-US" altLang="zh-TW" sz="1600" i="1">
                              <a:solidFill>
                                <a:srgbClr val="0070C0"/>
                              </a:solidFill>
                              <a:latin typeface="Cambria Math" panose="02040503050406030204" pitchFamily="18" charset="0"/>
                            </a:rPr>
                          </m:ctrlPr>
                        </m:sSubPr>
                        <m:e>
                          <m:r>
                            <a:rPr lang="en-US" altLang="zh-TW" sz="1600" i="1">
                              <a:solidFill>
                                <a:srgbClr val="0070C0"/>
                              </a:solidFill>
                              <a:latin typeface="Cambria Math"/>
                            </a:rPr>
                            <m:t>𝐼</m:t>
                          </m:r>
                        </m:e>
                        <m:sub>
                          <m:d>
                            <m:dPr>
                              <m:begChr m:val="{"/>
                              <m:endChr m:val="}"/>
                              <m:ctrlPr>
                                <a:rPr lang="en-US" altLang="zh-TW" sz="1600" i="1">
                                  <a:solidFill>
                                    <a:srgbClr val="0070C0"/>
                                  </a:solidFill>
                                  <a:latin typeface="Cambria Math" panose="02040503050406030204" pitchFamily="18" charset="0"/>
                                </a:rPr>
                              </m:ctrlPr>
                            </m:dPr>
                            <m:e>
                              <m:r>
                                <a:rPr lang="zh-TW" altLang="en-US" sz="1600" i="1">
                                  <a:solidFill>
                                    <a:srgbClr val="0070C0"/>
                                  </a:solidFill>
                                  <a:latin typeface="Cambria Math"/>
                                </a:rPr>
                                <m:t>存活，</m:t>
                              </m:r>
                              <m:r>
                                <a:rPr lang="en-US" altLang="zh-TW" sz="1600" i="1">
                                  <a:solidFill>
                                    <a:srgbClr val="0070C0"/>
                                  </a:solidFill>
                                  <a:latin typeface="Cambria Math"/>
                                </a:rPr>
                                <m:t>𝑅𝐶</m:t>
                              </m:r>
                              <m:r>
                                <a:rPr lang="zh-TW" altLang="en-US" sz="1600" i="1">
                                  <a:solidFill>
                                    <a:srgbClr val="0070C0"/>
                                  </a:solidFill>
                                  <a:latin typeface="Cambria Math"/>
                                </a:rPr>
                                <m:t>未轉換</m:t>
                              </m:r>
                            </m:e>
                          </m:d>
                          <m:r>
                            <a:rPr lang="en-US" altLang="zh-TW" sz="1600" i="1">
                              <a:solidFill>
                                <a:srgbClr val="0070C0"/>
                              </a:solidFill>
                              <a:latin typeface="Cambria Math"/>
                            </a:rPr>
                            <m:t>  </m:t>
                          </m:r>
                        </m:sub>
                      </m:sSub>
                      <m:r>
                        <a:rPr lang="en-US" altLang="zh-TW" sz="1600" i="1">
                          <a:solidFill>
                            <a:srgbClr val="0070C0"/>
                          </a:solidFill>
                          <a:latin typeface="Cambria Math"/>
                        </a:rPr>
                        <m:t>}</m:t>
                      </m:r>
                    </m:oMath>
                  </m:oMathPara>
                </a14:m>
                <a:endParaRPr lang="en-US" altLang="zh-TW" sz="1600" dirty="0">
                  <a:solidFill>
                    <a:srgbClr val="0070C0"/>
                  </a:solidFill>
                  <a:latin typeface="標楷體" pitchFamily="65" charset="-120"/>
                  <a:ea typeface="標楷體" pitchFamily="65" charset="-120"/>
                </a:endParaRPr>
              </a:p>
              <a:p>
                <a:pPr marL="0" indent="0">
                  <a:lnSpc>
                    <a:spcPct val="150000"/>
                  </a:lnSpc>
                  <a:buNone/>
                </a:pPr>
                <a14:m>
                  <m:oMathPara xmlns:m="http://schemas.openxmlformats.org/officeDocument/2006/math">
                    <m:oMathParaPr>
                      <m:jc m:val="left"/>
                    </m:oMathParaPr>
                    <m:oMath xmlns:m="http://schemas.openxmlformats.org/officeDocument/2006/math">
                      <m:r>
                        <a:rPr lang="en-US" altLang="zh-TW" sz="1600" i="1">
                          <a:solidFill>
                            <a:srgbClr val="0070C0"/>
                          </a:solidFill>
                          <a:latin typeface="Cambria Math"/>
                        </a:rPr>
                        <m:t>+ </m:t>
                      </m:r>
                      <m:acc>
                        <m:accPr>
                          <m:chr m:val="̃"/>
                          <m:ctrlPr>
                            <a:rPr lang="en-US" altLang="zh-TW" sz="1600" i="1">
                              <a:solidFill>
                                <a:srgbClr val="0070C0"/>
                              </a:solidFill>
                              <a:latin typeface="Cambria Math" panose="02040503050406030204" pitchFamily="18" charset="0"/>
                            </a:rPr>
                          </m:ctrlPr>
                        </m:accPr>
                        <m:e>
                          <m:r>
                            <a:rPr lang="en-US" altLang="zh-TW" sz="1600" i="1">
                              <a:solidFill>
                                <a:srgbClr val="0070C0"/>
                              </a:solidFill>
                              <a:latin typeface="Cambria Math"/>
                            </a:rPr>
                            <m:t>𝐸</m:t>
                          </m:r>
                        </m:e>
                      </m:acc>
                      <m:r>
                        <a:rPr lang="en-US" altLang="zh-TW" sz="1600" i="1">
                          <a:solidFill>
                            <a:srgbClr val="0070C0"/>
                          </a:solidFill>
                          <a:latin typeface="Cambria Math"/>
                        </a:rPr>
                        <m:t>{ [</m:t>
                      </m:r>
                      <m:sSub>
                        <m:sSubPr>
                          <m:ctrlPr>
                            <a:rPr lang="en-US" altLang="zh-TW" sz="1600" i="1">
                              <a:solidFill>
                                <a:srgbClr val="0070C0"/>
                              </a:solidFill>
                              <a:latin typeface="Cambria Math" panose="02040503050406030204" pitchFamily="18" charset="0"/>
                            </a:rPr>
                          </m:ctrlPr>
                        </m:sSubPr>
                        <m:e>
                          <m:r>
                            <a:rPr lang="en-US" altLang="zh-TW" sz="1600" i="1">
                              <a:solidFill>
                                <a:srgbClr val="0070C0"/>
                              </a:solidFill>
                              <a:latin typeface="Cambria Math"/>
                            </a:rPr>
                            <m:t>𝐷</m:t>
                          </m:r>
                        </m:e>
                        <m:sub>
                          <m:r>
                            <a:rPr lang="en-US" altLang="zh-TW" sz="1600" i="1">
                              <a:solidFill>
                                <a:srgbClr val="0070C0"/>
                              </a:solidFill>
                              <a:latin typeface="Cambria Math"/>
                            </a:rPr>
                            <m:t>1</m:t>
                          </m:r>
                        </m:sub>
                      </m:sSub>
                      <m:r>
                        <a:rPr lang="en-US" altLang="zh-TW" sz="1600" i="1">
                          <a:solidFill>
                            <a:srgbClr val="0070C0"/>
                          </a:solidFill>
                          <a:latin typeface="Cambria Math"/>
                        </a:rPr>
                        <m:t>+</m:t>
                      </m:r>
                      <m:f>
                        <m:fPr>
                          <m:ctrlPr>
                            <a:rPr lang="en-US" altLang="zh-TW" sz="1600" i="1">
                              <a:solidFill>
                                <a:srgbClr val="0070C0"/>
                              </a:solidFill>
                              <a:latin typeface="Cambria Math" panose="02040503050406030204" pitchFamily="18" charset="0"/>
                            </a:rPr>
                          </m:ctrlPr>
                        </m:fPr>
                        <m:num>
                          <m:r>
                            <a:rPr lang="en-US" altLang="zh-TW" sz="1600" i="1">
                              <a:solidFill>
                                <a:srgbClr val="0070C0"/>
                              </a:solidFill>
                              <a:latin typeface="Cambria Math"/>
                            </a:rPr>
                            <m:t>𝑆</m:t>
                          </m:r>
                          <m:d>
                            <m:dPr>
                              <m:ctrlPr>
                                <a:rPr lang="en-US" altLang="zh-TW" sz="1600" i="1">
                                  <a:solidFill>
                                    <a:srgbClr val="0070C0"/>
                                  </a:solidFill>
                                  <a:latin typeface="Cambria Math" panose="02040503050406030204" pitchFamily="18" charset="0"/>
                                </a:rPr>
                              </m:ctrlPr>
                            </m:dPr>
                            <m:e>
                              <m:r>
                                <a:rPr lang="en-US" altLang="zh-TW" sz="1600" i="1">
                                  <a:solidFill>
                                    <a:srgbClr val="0070C0"/>
                                  </a:solidFill>
                                  <a:latin typeface="Cambria Math"/>
                                </a:rPr>
                                <m:t>𝑇</m:t>
                              </m:r>
                            </m:e>
                          </m:d>
                        </m:num>
                        <m:den>
                          <m:r>
                            <a:rPr lang="en-US" altLang="zh-TW" sz="1600" i="1">
                              <a:solidFill>
                                <a:srgbClr val="0070C0"/>
                              </a:solidFill>
                              <a:latin typeface="Cambria Math"/>
                            </a:rPr>
                            <m:t>𝑆</m:t>
                          </m:r>
                          <m:d>
                            <m:dPr>
                              <m:ctrlPr>
                                <a:rPr lang="en-US" altLang="zh-TW" sz="1600" i="1">
                                  <a:solidFill>
                                    <a:srgbClr val="0070C0"/>
                                  </a:solidFill>
                                  <a:latin typeface="Cambria Math" panose="02040503050406030204" pitchFamily="18" charset="0"/>
                                </a:rPr>
                              </m:ctrlPr>
                            </m:dPr>
                            <m:e>
                              <m:r>
                                <a:rPr lang="en-US" altLang="zh-TW" sz="1600" i="1">
                                  <a:solidFill>
                                    <a:srgbClr val="0070C0"/>
                                  </a:solidFill>
                                  <a:latin typeface="Cambria Math"/>
                                </a:rPr>
                                <m:t>0</m:t>
                              </m:r>
                            </m:e>
                          </m:d>
                        </m:den>
                      </m:f>
                      <m:sSub>
                        <m:sSubPr>
                          <m:ctrlPr>
                            <a:rPr lang="en-US" altLang="zh-TW" sz="1600" i="1">
                              <a:solidFill>
                                <a:srgbClr val="0070C0"/>
                              </a:solidFill>
                              <a:latin typeface="Cambria Math" panose="02040503050406030204" pitchFamily="18" charset="0"/>
                            </a:rPr>
                          </m:ctrlPr>
                        </m:sSubPr>
                        <m:e>
                          <m:r>
                            <a:rPr lang="en-US" altLang="zh-TW" sz="1600" i="1">
                              <a:solidFill>
                                <a:srgbClr val="0070C0"/>
                              </a:solidFill>
                              <a:latin typeface="Cambria Math"/>
                            </a:rPr>
                            <m:t>𝐷</m:t>
                          </m:r>
                        </m:e>
                        <m:sub>
                          <m:r>
                            <a:rPr lang="en-US" altLang="zh-TW" sz="1600" i="1">
                              <a:solidFill>
                                <a:srgbClr val="0070C0"/>
                              </a:solidFill>
                              <a:latin typeface="Cambria Math"/>
                            </a:rPr>
                            <m:t>2</m:t>
                          </m:r>
                        </m:sub>
                      </m:sSub>
                      <m:r>
                        <a:rPr lang="en-US" altLang="zh-TW" sz="1600" i="1">
                          <a:solidFill>
                            <a:srgbClr val="0070C0"/>
                          </a:solidFill>
                          <a:latin typeface="Cambria Math"/>
                        </a:rPr>
                        <m:t>+</m:t>
                      </m:r>
                      <m:sSub>
                        <m:sSubPr>
                          <m:ctrlPr>
                            <a:rPr lang="en-US" altLang="zh-TW" sz="1600" i="1">
                              <a:solidFill>
                                <a:srgbClr val="0070C0"/>
                              </a:solidFill>
                              <a:latin typeface="Cambria Math" panose="02040503050406030204" pitchFamily="18" charset="0"/>
                            </a:rPr>
                          </m:ctrlPr>
                        </m:sSubPr>
                        <m:e>
                          <m:r>
                            <a:rPr lang="en-US" altLang="zh-TW" sz="1600" i="1">
                              <a:solidFill>
                                <a:srgbClr val="0070C0"/>
                              </a:solidFill>
                              <a:latin typeface="Cambria Math"/>
                            </a:rPr>
                            <m:t>𝐶</m:t>
                          </m:r>
                        </m:e>
                        <m:sub>
                          <m:r>
                            <a:rPr lang="en-US" altLang="zh-TW" sz="1600" i="1">
                              <a:solidFill>
                                <a:srgbClr val="0070C0"/>
                              </a:solidFill>
                              <a:latin typeface="Cambria Math"/>
                            </a:rPr>
                            <m:t>1</m:t>
                          </m:r>
                        </m:sub>
                      </m:sSub>
                      <m:sSub>
                        <m:sSubPr>
                          <m:ctrlPr>
                            <a:rPr lang="en-US" altLang="zh-TW" sz="1600" i="1">
                              <a:solidFill>
                                <a:srgbClr val="0070C0"/>
                              </a:solidFill>
                              <a:latin typeface="Cambria Math" panose="02040503050406030204" pitchFamily="18" charset="0"/>
                            </a:rPr>
                          </m:ctrlPr>
                        </m:sSubPr>
                        <m:e>
                          <m:r>
                            <a:rPr lang="en-US" altLang="zh-TW" sz="1600" i="1">
                              <a:solidFill>
                                <a:srgbClr val="0070C0"/>
                              </a:solidFill>
                              <a:latin typeface="Cambria Math"/>
                            </a:rPr>
                            <m:t>𝐷</m:t>
                          </m:r>
                        </m:e>
                        <m:sub>
                          <m:r>
                            <a:rPr lang="en-US" altLang="zh-TW" sz="1600" i="1">
                              <a:solidFill>
                                <a:srgbClr val="0070C0"/>
                              </a:solidFill>
                              <a:latin typeface="Cambria Math"/>
                            </a:rPr>
                            <m:t>1</m:t>
                          </m:r>
                        </m:sub>
                      </m:sSub>
                      <m:r>
                        <a:rPr lang="en-US" altLang="zh-TW" sz="1600" i="1">
                          <a:solidFill>
                            <a:srgbClr val="0070C0"/>
                          </a:solidFill>
                          <a:latin typeface="Cambria Math"/>
                        </a:rPr>
                        <m:t>𝑇</m:t>
                      </m:r>
                      <m:r>
                        <a:rPr lang="en-US" altLang="zh-TW" sz="1600" i="1">
                          <a:solidFill>
                            <a:srgbClr val="0070C0"/>
                          </a:solidFill>
                          <a:latin typeface="Cambria Math"/>
                        </a:rPr>
                        <m:t>+</m:t>
                      </m:r>
                      <m:sSub>
                        <m:sSubPr>
                          <m:ctrlPr>
                            <a:rPr lang="en-US" altLang="zh-TW" sz="1600" i="1">
                              <a:solidFill>
                                <a:srgbClr val="0070C0"/>
                              </a:solidFill>
                              <a:latin typeface="Cambria Math" panose="02040503050406030204" pitchFamily="18" charset="0"/>
                            </a:rPr>
                          </m:ctrlPr>
                        </m:sSubPr>
                        <m:e>
                          <m:r>
                            <a:rPr lang="en-US" altLang="zh-TW" sz="1600" i="1">
                              <a:solidFill>
                                <a:srgbClr val="0070C0"/>
                              </a:solidFill>
                              <a:latin typeface="Cambria Math"/>
                            </a:rPr>
                            <m:t>𝐶</m:t>
                          </m:r>
                        </m:e>
                        <m:sub>
                          <m:r>
                            <a:rPr lang="en-US" altLang="zh-TW" sz="1600" i="1">
                              <a:solidFill>
                                <a:srgbClr val="0070C0"/>
                              </a:solidFill>
                              <a:latin typeface="Cambria Math"/>
                            </a:rPr>
                            <m:t>2</m:t>
                          </m:r>
                        </m:sub>
                      </m:sSub>
                      <m:sSub>
                        <m:sSubPr>
                          <m:ctrlPr>
                            <a:rPr lang="en-US" altLang="zh-TW" sz="1600" i="1">
                              <a:solidFill>
                                <a:srgbClr val="0070C0"/>
                              </a:solidFill>
                              <a:latin typeface="Cambria Math" panose="02040503050406030204" pitchFamily="18" charset="0"/>
                            </a:rPr>
                          </m:ctrlPr>
                        </m:sSubPr>
                        <m:e>
                          <m:r>
                            <a:rPr lang="en-US" altLang="zh-TW" sz="1600" i="1">
                              <a:solidFill>
                                <a:srgbClr val="0070C0"/>
                              </a:solidFill>
                              <a:latin typeface="Cambria Math"/>
                            </a:rPr>
                            <m:t>𝐷</m:t>
                          </m:r>
                        </m:e>
                        <m:sub>
                          <m:r>
                            <a:rPr lang="en-US" altLang="zh-TW" sz="1600" i="1">
                              <a:solidFill>
                                <a:srgbClr val="0070C0"/>
                              </a:solidFill>
                              <a:latin typeface="Cambria Math"/>
                            </a:rPr>
                            <m:t>2</m:t>
                          </m:r>
                        </m:sub>
                      </m:sSub>
                      <m:r>
                        <a:rPr lang="en-US" altLang="zh-TW" sz="1600" i="1">
                          <a:solidFill>
                            <a:srgbClr val="0070C0"/>
                          </a:solidFill>
                          <a:latin typeface="Cambria Math"/>
                        </a:rPr>
                        <m:t>𝑇</m:t>
                      </m:r>
                      <m:r>
                        <a:rPr lang="en-US" altLang="zh-TW" sz="1600" i="1">
                          <a:solidFill>
                            <a:srgbClr val="0070C0"/>
                          </a:solidFill>
                          <a:latin typeface="Cambria Math"/>
                        </a:rPr>
                        <m:t>]</m:t>
                      </m:r>
                      <m:sSup>
                        <m:sSupPr>
                          <m:ctrlPr>
                            <a:rPr lang="en-US" altLang="zh-TW" sz="1600" i="1">
                              <a:solidFill>
                                <a:srgbClr val="0070C0"/>
                              </a:solidFill>
                              <a:latin typeface="Cambria Math" panose="02040503050406030204" pitchFamily="18" charset="0"/>
                            </a:rPr>
                          </m:ctrlPr>
                        </m:sSupPr>
                        <m:e>
                          <m:r>
                            <a:rPr lang="en-US" altLang="zh-TW" sz="1600" i="1">
                              <a:solidFill>
                                <a:srgbClr val="0070C0"/>
                              </a:solidFill>
                              <a:latin typeface="Cambria Math"/>
                            </a:rPr>
                            <m:t>  </m:t>
                          </m:r>
                          <m:r>
                            <a:rPr lang="en-US" altLang="zh-TW" sz="1600" i="1">
                              <a:solidFill>
                                <a:srgbClr val="0070C0"/>
                              </a:solidFill>
                              <a:latin typeface="Cambria Math"/>
                            </a:rPr>
                            <m:t>𝑒</m:t>
                          </m:r>
                        </m:e>
                        <m:sup>
                          <m:r>
                            <a:rPr lang="en-US" altLang="zh-TW" sz="1600" i="1">
                              <a:solidFill>
                                <a:srgbClr val="0070C0"/>
                              </a:solidFill>
                              <a:latin typeface="Cambria Math"/>
                            </a:rPr>
                            <m:t>−</m:t>
                          </m:r>
                          <m:r>
                            <a:rPr lang="en-US" altLang="zh-TW" sz="1600" i="1">
                              <a:solidFill>
                                <a:srgbClr val="0070C0"/>
                              </a:solidFill>
                              <a:latin typeface="Cambria Math"/>
                            </a:rPr>
                            <m:t>𝑟𝑇</m:t>
                          </m:r>
                        </m:sup>
                      </m:sSup>
                      <m:sSub>
                        <m:sSubPr>
                          <m:ctrlPr>
                            <a:rPr lang="en-US" altLang="zh-TW" sz="1600" i="1">
                              <a:solidFill>
                                <a:srgbClr val="0070C0"/>
                              </a:solidFill>
                              <a:latin typeface="Cambria Math" panose="02040503050406030204" pitchFamily="18" charset="0"/>
                            </a:rPr>
                          </m:ctrlPr>
                        </m:sSubPr>
                        <m:e>
                          <m:r>
                            <a:rPr lang="en-US" altLang="zh-TW" sz="1600" i="1">
                              <a:solidFill>
                                <a:srgbClr val="0070C0"/>
                              </a:solidFill>
                              <a:latin typeface="Cambria Math"/>
                            </a:rPr>
                            <m:t>𝐼</m:t>
                          </m:r>
                        </m:e>
                        <m:sub>
                          <m:d>
                            <m:dPr>
                              <m:begChr m:val="{"/>
                              <m:endChr m:val="}"/>
                              <m:ctrlPr>
                                <a:rPr lang="en-US" altLang="zh-TW" sz="1600" i="1">
                                  <a:solidFill>
                                    <a:srgbClr val="0070C0"/>
                                  </a:solidFill>
                                  <a:latin typeface="Cambria Math" panose="02040503050406030204" pitchFamily="18" charset="0"/>
                                </a:rPr>
                              </m:ctrlPr>
                            </m:dPr>
                            <m:e>
                              <m:r>
                                <a:rPr lang="zh-TW" altLang="en-US" sz="1600" i="1">
                                  <a:solidFill>
                                    <a:srgbClr val="0070C0"/>
                                  </a:solidFill>
                                  <a:latin typeface="Cambria Math"/>
                                </a:rPr>
                                <m:t>存活，</m:t>
                              </m:r>
                              <m:r>
                                <a:rPr lang="en-US" altLang="zh-TW" sz="1600" i="1">
                                  <a:solidFill>
                                    <a:srgbClr val="0070C0"/>
                                  </a:solidFill>
                                  <a:latin typeface="Cambria Math"/>
                                </a:rPr>
                                <m:t>𝑅𝐶</m:t>
                              </m:r>
                              <m:r>
                                <a:rPr lang="zh-TW" altLang="en-US" sz="1600" i="1">
                                  <a:solidFill>
                                    <a:srgbClr val="0070C0"/>
                                  </a:solidFill>
                                  <a:latin typeface="Cambria Math"/>
                                </a:rPr>
                                <m:t>已轉換</m:t>
                              </m:r>
                            </m:e>
                          </m:d>
                          <m:r>
                            <a:rPr lang="en-US" altLang="zh-TW" sz="1600" i="1">
                              <a:solidFill>
                                <a:srgbClr val="0070C0"/>
                              </a:solidFill>
                              <a:latin typeface="Cambria Math"/>
                            </a:rPr>
                            <m:t>  </m:t>
                          </m:r>
                        </m:sub>
                      </m:sSub>
                      <m:r>
                        <a:rPr lang="en-US" altLang="zh-TW" sz="1600" i="1">
                          <a:solidFill>
                            <a:srgbClr val="0070C0"/>
                          </a:solidFill>
                          <a:latin typeface="Cambria Math"/>
                        </a:rPr>
                        <m:t>}</m:t>
                      </m:r>
                    </m:oMath>
                  </m:oMathPara>
                </a14:m>
                <a:endParaRPr lang="en-US" altLang="zh-TW" sz="1600" dirty="0">
                  <a:solidFill>
                    <a:srgbClr val="0070C0"/>
                  </a:solidFill>
                  <a:latin typeface="標楷體" pitchFamily="65" charset="-120"/>
                  <a:ea typeface="標楷體" pitchFamily="65" charset="-120"/>
                </a:endParaRPr>
              </a:p>
              <a:p>
                <a:pPr marL="0" indent="0">
                  <a:lnSpc>
                    <a:spcPct val="150000"/>
                  </a:lnSpc>
                  <a:buNone/>
                </a:pPr>
                <a14:m>
                  <m:oMathPara xmlns:m="http://schemas.openxmlformats.org/officeDocument/2006/math">
                    <m:oMathParaPr>
                      <m:jc m:val="left"/>
                    </m:oMathParaPr>
                    <m:oMath xmlns:m="http://schemas.openxmlformats.org/officeDocument/2006/math">
                      <m:r>
                        <a:rPr lang="en-US" altLang="zh-TW" sz="1600" i="1">
                          <a:latin typeface="Cambria Math"/>
                        </a:rPr>
                        <m:t>+</m:t>
                      </m:r>
                      <m:r>
                        <a:rPr lang="zh-TW" altLang="en-US" sz="1600" i="1">
                          <a:latin typeface="Cambria Math"/>
                        </a:rPr>
                        <m:t> </m:t>
                      </m:r>
                      <m:acc>
                        <m:accPr>
                          <m:chr m:val="̃"/>
                          <m:ctrlPr>
                            <a:rPr lang="en-US" altLang="zh-TW" sz="1600" i="1">
                              <a:latin typeface="Cambria Math" panose="02040503050406030204" pitchFamily="18" charset="0"/>
                            </a:rPr>
                          </m:ctrlPr>
                        </m:accPr>
                        <m:e>
                          <m:r>
                            <a:rPr lang="en-US" altLang="zh-TW" sz="1600" i="1">
                              <a:latin typeface="Cambria Math"/>
                            </a:rPr>
                            <m:t>𝐸</m:t>
                          </m:r>
                        </m:e>
                      </m:acc>
                      <m:r>
                        <a:rPr lang="en-US" altLang="zh-TW" sz="1600" i="1">
                          <a:latin typeface="Cambria Math"/>
                        </a:rPr>
                        <m:t>{</m:t>
                      </m:r>
                      <m:r>
                        <m:rPr>
                          <m:sty m:val="p"/>
                        </m:rPr>
                        <a:rPr lang="en-US" altLang="zh-TW" sz="1600">
                          <a:latin typeface="Cambria Math"/>
                        </a:rPr>
                        <m:t>max</m:t>
                      </m:r>
                      <m:r>
                        <a:rPr lang="en-US" altLang="zh-TW" sz="1600" i="1">
                          <a:latin typeface="Cambria Math"/>
                        </a:rPr>
                        <m:t>⁡[</m:t>
                      </m:r>
                      <m:d>
                        <m:dPr>
                          <m:ctrlPr>
                            <a:rPr lang="en-US" altLang="zh-TW" sz="1600" i="1">
                              <a:latin typeface="Cambria Math" panose="02040503050406030204" pitchFamily="18" charset="0"/>
                            </a:rPr>
                          </m:ctrlPr>
                        </m:dPr>
                        <m:e>
                          <m:r>
                            <a:rPr lang="en-US" altLang="zh-TW" sz="1600" i="1">
                              <a:latin typeface="Cambria Math"/>
                            </a:rPr>
                            <m:t>1−</m:t>
                          </m:r>
                          <m:r>
                            <a:rPr lang="zh-TW" altLang="en-US" sz="1600" i="1">
                              <a:latin typeface="Cambria Math"/>
                            </a:rPr>
                            <m:t>𝛼</m:t>
                          </m:r>
                        </m:e>
                      </m:d>
                      <m:r>
                        <a:rPr lang="en-US" altLang="zh-TW" sz="1600" i="1">
                          <a:latin typeface="Cambria Math"/>
                        </a:rPr>
                        <m:t>𝑉</m:t>
                      </m:r>
                      <m:d>
                        <m:dPr>
                          <m:ctrlPr>
                            <a:rPr lang="en-US" altLang="zh-TW" sz="1600" i="1">
                              <a:latin typeface="Cambria Math" panose="02040503050406030204" pitchFamily="18" charset="0"/>
                            </a:rPr>
                          </m:ctrlPr>
                        </m:dPr>
                        <m:e>
                          <m:r>
                            <a:rPr lang="en-US" altLang="zh-TW" sz="1600" i="1">
                              <a:latin typeface="Cambria Math"/>
                            </a:rPr>
                            <m:t>𝑇</m:t>
                          </m:r>
                        </m:e>
                      </m:d>
                      <m:r>
                        <a:rPr lang="en-US" altLang="zh-TW" sz="1600" i="1">
                          <a:latin typeface="Cambria Math"/>
                        </a:rPr>
                        <m:t>,0]</m:t>
                      </m:r>
                      <m:sSup>
                        <m:sSupPr>
                          <m:ctrlPr>
                            <a:rPr lang="en-US" altLang="zh-TW" sz="1600" i="1">
                              <a:latin typeface="Cambria Math" panose="02040503050406030204" pitchFamily="18" charset="0"/>
                            </a:rPr>
                          </m:ctrlPr>
                        </m:sSupPr>
                        <m:e>
                          <m:r>
                            <a:rPr lang="en-US" altLang="zh-TW" sz="1600" i="1">
                              <a:latin typeface="Cambria Math"/>
                            </a:rPr>
                            <m:t>  </m:t>
                          </m:r>
                          <m:r>
                            <a:rPr lang="en-US" altLang="zh-TW" sz="1600" i="1">
                              <a:latin typeface="Cambria Math"/>
                            </a:rPr>
                            <m:t>𝑒</m:t>
                          </m:r>
                        </m:e>
                        <m:sup>
                          <m:r>
                            <a:rPr lang="en-US" altLang="zh-TW" sz="1600" i="1">
                              <a:latin typeface="Cambria Math"/>
                            </a:rPr>
                            <m:t>−</m:t>
                          </m:r>
                          <m:r>
                            <a:rPr lang="en-US" altLang="zh-TW" sz="1600" i="1">
                              <a:latin typeface="Cambria Math"/>
                            </a:rPr>
                            <m:t>𝑟𝑇</m:t>
                          </m:r>
                        </m:sup>
                      </m:sSup>
                      <m:sSub>
                        <m:sSubPr>
                          <m:ctrlPr>
                            <a:rPr lang="en-US" altLang="zh-TW" sz="1600" i="1">
                              <a:latin typeface="Cambria Math" panose="02040503050406030204" pitchFamily="18" charset="0"/>
                            </a:rPr>
                          </m:ctrlPr>
                        </m:sSubPr>
                        <m:e>
                          <m:r>
                            <a:rPr lang="en-US" altLang="zh-TW" sz="1600" i="1">
                              <a:latin typeface="Cambria Math"/>
                            </a:rPr>
                            <m:t>𝐼</m:t>
                          </m:r>
                        </m:e>
                        <m:sub>
                          <m:r>
                            <a:rPr lang="en-US" altLang="zh-TW" sz="1600" i="1">
                              <a:latin typeface="Cambria Math"/>
                            </a:rPr>
                            <m:t>{</m:t>
                          </m:r>
                          <m:r>
                            <a:rPr lang="zh-TW" altLang="en-US" sz="1600" i="1">
                              <a:latin typeface="Cambria Math"/>
                            </a:rPr>
                            <m:t>破產</m:t>
                          </m:r>
                          <m:r>
                            <a:rPr lang="en-US" altLang="zh-TW" sz="1600" i="1">
                              <a:latin typeface="Cambria Math"/>
                            </a:rPr>
                            <m:t>}</m:t>
                          </m:r>
                        </m:sub>
                      </m:sSub>
                      <m:r>
                        <a:rPr lang="en-US" altLang="zh-TW" sz="1600" i="1">
                          <a:latin typeface="Cambria Math"/>
                        </a:rPr>
                        <m:t>}</m:t>
                      </m:r>
                    </m:oMath>
                  </m:oMathPara>
                </a14:m>
                <a:endParaRPr lang="en-US" altLang="zh-TW" sz="1600" dirty="0">
                  <a:latin typeface="標楷體" pitchFamily="65" charset="-120"/>
                  <a:ea typeface="標楷體" pitchFamily="65" charset="-120"/>
                </a:endParaRPr>
              </a:p>
              <a:p>
                <a:pPr marL="0" indent="0">
                  <a:lnSpc>
                    <a:spcPct val="150000"/>
                  </a:lnSpc>
                  <a:buNone/>
                </a:pPr>
                <a:endParaRPr lang="en-US" altLang="zh-TW" sz="1600" dirty="0">
                  <a:latin typeface="標楷體" pitchFamily="65" charset="-120"/>
                  <a:ea typeface="標楷體" pitchFamily="65" charset="-120"/>
                </a:endParaRPr>
              </a:p>
              <a:p>
                <a:pPr marL="0" indent="0">
                  <a:lnSpc>
                    <a:spcPct val="150000"/>
                  </a:lnSpc>
                  <a:buNone/>
                </a:pPr>
                <a:r>
                  <a:rPr lang="en-US" altLang="zh-TW" sz="2400" dirty="0">
                    <a:latin typeface="Arial" panose="020B0604020202020204" pitchFamily="34" charset="0"/>
                    <a:ea typeface="標楷體" panose="03000509000000000000" pitchFamily="65" charset="-120"/>
                    <a:cs typeface="Arial" panose="020B0604020202020204" pitchFamily="34" charset="0"/>
                  </a:rPr>
                  <a:t>{</a:t>
                </a:r>
                <a:r>
                  <a:rPr lang="zh-TW" altLang="en-US" sz="2400" dirty="0">
                    <a:latin typeface="Arial" panose="020B0604020202020204" pitchFamily="34" charset="0"/>
                    <a:ea typeface="標楷體" panose="03000509000000000000" pitchFamily="65" charset="-120"/>
                    <a:cs typeface="Arial" panose="020B0604020202020204" pitchFamily="34" charset="0"/>
                  </a:rPr>
                  <a:t>存活</a:t>
                </a:r>
                <a:r>
                  <a:rPr lang="en-US" altLang="zh-TW" sz="2400" dirty="0">
                    <a:latin typeface="Arial" panose="020B0604020202020204" pitchFamily="34" charset="0"/>
                    <a:ea typeface="標楷體" panose="03000509000000000000" pitchFamily="65" charset="-120"/>
                    <a:cs typeface="Arial" panose="020B0604020202020204" pitchFamily="34" charset="0"/>
                  </a:rPr>
                  <a:t>} = { V(T) &gt; </a:t>
                </a:r>
                <a14:m>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a:rPr>
                          <m:t>𝐷</m:t>
                        </m:r>
                      </m:e>
                      <m:sub>
                        <m:r>
                          <a:rPr lang="en-US" altLang="zh-TW" sz="2400" i="1">
                            <a:latin typeface="Cambria Math"/>
                          </a:rPr>
                          <m:t>1</m:t>
                        </m:r>
                      </m:sub>
                    </m:sSub>
                    <m:r>
                      <a:rPr lang="en-US" altLang="zh-TW" sz="2400" i="1">
                        <a:latin typeface="Cambria Math"/>
                      </a:rPr>
                      <m:t>+</m:t>
                    </m:r>
                    <m:sSub>
                      <m:sSubPr>
                        <m:ctrlPr>
                          <a:rPr lang="en-US" altLang="zh-TW" sz="2400" i="1">
                            <a:latin typeface="Cambria Math" panose="02040503050406030204" pitchFamily="18" charset="0"/>
                          </a:rPr>
                        </m:ctrlPr>
                      </m:sSubPr>
                      <m:e>
                        <m:r>
                          <a:rPr lang="en-US" altLang="zh-TW" sz="2400" i="1">
                            <a:latin typeface="Cambria Math"/>
                          </a:rPr>
                          <m:t>𝐷</m:t>
                        </m:r>
                      </m:e>
                      <m:sub>
                        <m:r>
                          <a:rPr lang="en-US" altLang="zh-TW" sz="2400" i="1">
                            <a:latin typeface="Cambria Math"/>
                          </a:rPr>
                          <m:t>2</m:t>
                        </m:r>
                      </m:sub>
                    </m:sSub>
                    <m:r>
                      <a:rPr lang="en-US" altLang="zh-TW" sz="2400" i="1">
                        <a:latin typeface="Cambria Math"/>
                      </a:rPr>
                      <m:t>+</m:t>
                    </m:r>
                    <m:sSub>
                      <m:sSubPr>
                        <m:ctrlPr>
                          <a:rPr lang="en-US" altLang="zh-TW" sz="2400" i="1">
                            <a:latin typeface="Cambria Math" panose="02040503050406030204" pitchFamily="18" charset="0"/>
                          </a:rPr>
                        </m:ctrlPr>
                      </m:sSubPr>
                      <m:e>
                        <m:r>
                          <a:rPr lang="en-US" altLang="zh-TW" sz="2400" i="1">
                            <a:latin typeface="Cambria Math"/>
                          </a:rPr>
                          <m:t>𝐶</m:t>
                        </m:r>
                      </m:e>
                      <m:sub>
                        <m:r>
                          <a:rPr lang="en-US" altLang="zh-TW" sz="2400" i="1">
                            <a:latin typeface="Cambria Math"/>
                          </a:rPr>
                          <m:t>1</m:t>
                        </m:r>
                      </m:sub>
                    </m:sSub>
                    <m:sSub>
                      <m:sSubPr>
                        <m:ctrlPr>
                          <a:rPr lang="en-US" altLang="zh-TW" sz="2400" i="1">
                            <a:latin typeface="Cambria Math" panose="02040503050406030204" pitchFamily="18" charset="0"/>
                          </a:rPr>
                        </m:ctrlPr>
                      </m:sSubPr>
                      <m:e>
                        <m:r>
                          <a:rPr lang="en-US" altLang="zh-TW" sz="2400" i="1">
                            <a:latin typeface="Cambria Math"/>
                          </a:rPr>
                          <m:t>𝐷</m:t>
                        </m:r>
                      </m:e>
                      <m:sub>
                        <m:r>
                          <a:rPr lang="en-US" altLang="zh-TW" sz="2400" i="1">
                            <a:latin typeface="Cambria Math"/>
                          </a:rPr>
                          <m:t>1</m:t>
                        </m:r>
                      </m:sub>
                    </m:sSub>
                    <m:r>
                      <a:rPr lang="en-US" altLang="zh-TW" sz="2400" i="1">
                        <a:latin typeface="Cambria Math"/>
                      </a:rPr>
                      <m:t>𝑇</m:t>
                    </m:r>
                    <m:r>
                      <a:rPr lang="en-US" altLang="zh-TW" sz="2400" i="1">
                        <a:latin typeface="Cambria Math"/>
                      </a:rPr>
                      <m:t>+</m:t>
                    </m:r>
                    <m:sSub>
                      <m:sSubPr>
                        <m:ctrlPr>
                          <a:rPr lang="en-US" altLang="zh-TW" sz="2400" i="1">
                            <a:latin typeface="Cambria Math" panose="02040503050406030204" pitchFamily="18" charset="0"/>
                          </a:rPr>
                        </m:ctrlPr>
                      </m:sSubPr>
                      <m:e>
                        <m:r>
                          <a:rPr lang="en-US" altLang="zh-TW" sz="2400" i="1">
                            <a:latin typeface="Cambria Math"/>
                          </a:rPr>
                          <m:t>𝐶</m:t>
                        </m:r>
                      </m:e>
                      <m:sub>
                        <m:r>
                          <a:rPr lang="en-US" altLang="zh-TW" sz="2400" i="1">
                            <a:latin typeface="Cambria Math"/>
                          </a:rPr>
                          <m:t>2</m:t>
                        </m:r>
                      </m:sub>
                    </m:sSub>
                    <m:sSub>
                      <m:sSubPr>
                        <m:ctrlPr>
                          <a:rPr lang="en-US" altLang="zh-TW" sz="2400" i="1">
                            <a:latin typeface="Cambria Math" panose="02040503050406030204" pitchFamily="18" charset="0"/>
                          </a:rPr>
                        </m:ctrlPr>
                      </m:sSubPr>
                      <m:e>
                        <m:r>
                          <a:rPr lang="en-US" altLang="zh-TW" sz="2400" i="1">
                            <a:latin typeface="Cambria Math"/>
                          </a:rPr>
                          <m:t>𝐷</m:t>
                        </m:r>
                      </m:e>
                      <m:sub>
                        <m:r>
                          <a:rPr lang="en-US" altLang="zh-TW" sz="2400" i="1">
                            <a:latin typeface="Cambria Math"/>
                          </a:rPr>
                          <m:t>2</m:t>
                        </m:r>
                      </m:sub>
                    </m:sSub>
                    <m:r>
                      <a:rPr lang="en-US" altLang="zh-TW" sz="2400" i="1">
                        <a:latin typeface="Cambria Math"/>
                      </a:rPr>
                      <m:t>𝑇</m:t>
                    </m:r>
                    <m:r>
                      <a:rPr lang="en-US" altLang="zh-TW" sz="2400" i="1">
                        <a:latin typeface="Cambria Math"/>
                      </a:rPr>
                      <m:t> }</m:t>
                    </m:r>
                  </m:oMath>
                </a14:m>
                <a:endParaRPr lang="en-US" altLang="zh-TW" sz="2400" dirty="0">
                  <a:latin typeface="Arial" panose="020B0604020202020204" pitchFamily="34" charset="0"/>
                  <a:ea typeface="標楷體" panose="03000509000000000000" pitchFamily="65" charset="-120"/>
                  <a:cs typeface="Arial" panose="020B0604020202020204" pitchFamily="34" charset="0"/>
                </a:endParaRPr>
              </a:p>
              <a:p>
                <a:pPr marL="0" indent="0">
                  <a:lnSpc>
                    <a:spcPct val="150000"/>
                  </a:lnSpc>
                  <a:buNone/>
                </a:pPr>
                <a:r>
                  <a:rPr lang="en-US" altLang="zh-TW" sz="2400" dirty="0">
                    <a:latin typeface="Arial" panose="020B0604020202020204" pitchFamily="34" charset="0"/>
                    <a:ea typeface="標楷體" panose="03000509000000000000" pitchFamily="65" charset="-120"/>
                    <a:cs typeface="Arial" panose="020B0604020202020204" pitchFamily="34" charset="0"/>
                  </a:rPr>
                  <a:t>{</a:t>
                </a:r>
                <a:r>
                  <a:rPr lang="zh-TW" altLang="en-US" sz="2400" dirty="0">
                    <a:latin typeface="Arial" panose="020B0604020202020204" pitchFamily="34" charset="0"/>
                    <a:ea typeface="標楷體" panose="03000509000000000000" pitchFamily="65" charset="-120"/>
                    <a:cs typeface="Arial" panose="020B0604020202020204" pitchFamily="34" charset="0"/>
                  </a:rPr>
                  <a:t>破產</a:t>
                </a:r>
                <a:r>
                  <a:rPr lang="en-US" altLang="zh-TW" sz="2400" dirty="0">
                    <a:latin typeface="Arial" panose="020B0604020202020204" pitchFamily="34" charset="0"/>
                    <a:ea typeface="標楷體" panose="03000509000000000000" pitchFamily="65" charset="-120"/>
                    <a:cs typeface="Arial" panose="020B0604020202020204" pitchFamily="34" charset="0"/>
                  </a:rPr>
                  <a:t>}</a:t>
                </a:r>
                <a:r>
                  <a:rPr lang="zh-TW" altLang="en-US" sz="2400" dirty="0">
                    <a:latin typeface="Arial" panose="020B0604020202020204" pitchFamily="34" charset="0"/>
                    <a:ea typeface="標楷體" panose="03000509000000000000" pitchFamily="65" charset="-120"/>
                    <a:cs typeface="Arial" panose="020B0604020202020204" pitchFamily="34" charset="0"/>
                  </a:rPr>
                  <a:t> </a:t>
                </a:r>
                <a:r>
                  <a:rPr lang="en-US" altLang="zh-TW" sz="2400" dirty="0">
                    <a:latin typeface="Arial" panose="020B0604020202020204" pitchFamily="34" charset="0"/>
                    <a:ea typeface="標楷體" panose="03000509000000000000" pitchFamily="65" charset="-120"/>
                    <a:cs typeface="Arial" panose="020B0604020202020204" pitchFamily="34" charset="0"/>
                  </a:rPr>
                  <a:t>=</a:t>
                </a:r>
                <a:r>
                  <a:rPr lang="zh-TW" altLang="en-US" sz="2400" dirty="0">
                    <a:latin typeface="Arial" panose="020B0604020202020204" pitchFamily="34" charset="0"/>
                    <a:ea typeface="標楷體" panose="03000509000000000000" pitchFamily="65" charset="-120"/>
                    <a:cs typeface="Arial" panose="020B0604020202020204" pitchFamily="34" charset="0"/>
                  </a:rPr>
                  <a:t> </a:t>
                </a:r>
                <a:r>
                  <a:rPr lang="en-US" altLang="zh-TW" sz="2400" dirty="0">
                    <a:latin typeface="Arial" panose="020B0604020202020204" pitchFamily="34" charset="0"/>
                    <a:ea typeface="標楷體" panose="03000509000000000000" pitchFamily="65" charset="-120"/>
                    <a:cs typeface="Arial" panose="020B0604020202020204" pitchFamily="34" charset="0"/>
                  </a:rPr>
                  <a:t>{ V(T) </a:t>
                </a:r>
                <a14:m>
                  <m:oMath xmlns:m="http://schemas.openxmlformats.org/officeDocument/2006/math">
                    <m:r>
                      <a:rPr lang="en-US" altLang="zh-TW" sz="2400" b="1" i="1">
                        <a:latin typeface="Cambria Math"/>
                        <a:ea typeface="Cambria Math"/>
                        <a:cs typeface="Arial" panose="020B0604020202020204" pitchFamily="34" charset="0"/>
                      </a:rPr>
                      <m:t>≤</m:t>
                    </m:r>
                  </m:oMath>
                </a14:m>
                <a:r>
                  <a:rPr lang="en-US" altLang="zh-TW" sz="2400" dirty="0">
                    <a:latin typeface="Arial" panose="020B0604020202020204" pitchFamily="34" charset="0"/>
                    <a:ea typeface="標楷體" panose="03000509000000000000" pitchFamily="65" charset="-120"/>
                    <a:cs typeface="Arial" panose="020B0604020202020204" pitchFamily="34" charset="0"/>
                  </a:rPr>
                  <a:t> </a:t>
                </a:r>
                <a14:m>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a:rPr>
                          <m:t>𝐷</m:t>
                        </m:r>
                      </m:e>
                      <m:sub>
                        <m:r>
                          <a:rPr lang="en-US" altLang="zh-TW" sz="2400" i="1">
                            <a:latin typeface="Cambria Math"/>
                          </a:rPr>
                          <m:t>1</m:t>
                        </m:r>
                      </m:sub>
                    </m:sSub>
                    <m:r>
                      <a:rPr lang="en-US" altLang="zh-TW" sz="2400" i="1">
                        <a:latin typeface="Cambria Math"/>
                      </a:rPr>
                      <m:t>+</m:t>
                    </m:r>
                    <m:sSub>
                      <m:sSubPr>
                        <m:ctrlPr>
                          <a:rPr lang="en-US" altLang="zh-TW" sz="2400" i="1">
                            <a:latin typeface="Cambria Math" panose="02040503050406030204" pitchFamily="18" charset="0"/>
                          </a:rPr>
                        </m:ctrlPr>
                      </m:sSubPr>
                      <m:e>
                        <m:r>
                          <a:rPr lang="en-US" altLang="zh-TW" sz="2400" i="1">
                            <a:latin typeface="Cambria Math"/>
                          </a:rPr>
                          <m:t>𝐷</m:t>
                        </m:r>
                      </m:e>
                      <m:sub>
                        <m:r>
                          <a:rPr lang="en-US" altLang="zh-TW" sz="2400" i="1">
                            <a:latin typeface="Cambria Math"/>
                          </a:rPr>
                          <m:t>2</m:t>
                        </m:r>
                      </m:sub>
                    </m:sSub>
                    <m:r>
                      <a:rPr lang="en-US" altLang="zh-TW" sz="2400" i="1">
                        <a:latin typeface="Cambria Math"/>
                      </a:rPr>
                      <m:t>+</m:t>
                    </m:r>
                    <m:sSub>
                      <m:sSubPr>
                        <m:ctrlPr>
                          <a:rPr lang="en-US" altLang="zh-TW" sz="2400" i="1">
                            <a:latin typeface="Cambria Math" panose="02040503050406030204" pitchFamily="18" charset="0"/>
                          </a:rPr>
                        </m:ctrlPr>
                      </m:sSubPr>
                      <m:e>
                        <m:r>
                          <a:rPr lang="en-US" altLang="zh-TW" sz="2400" i="1">
                            <a:latin typeface="Cambria Math"/>
                          </a:rPr>
                          <m:t>𝐶</m:t>
                        </m:r>
                      </m:e>
                      <m:sub>
                        <m:r>
                          <a:rPr lang="en-US" altLang="zh-TW" sz="2400" i="1">
                            <a:latin typeface="Cambria Math"/>
                          </a:rPr>
                          <m:t>1</m:t>
                        </m:r>
                      </m:sub>
                    </m:sSub>
                    <m:sSub>
                      <m:sSubPr>
                        <m:ctrlPr>
                          <a:rPr lang="en-US" altLang="zh-TW" sz="2400" i="1">
                            <a:latin typeface="Cambria Math" panose="02040503050406030204" pitchFamily="18" charset="0"/>
                          </a:rPr>
                        </m:ctrlPr>
                      </m:sSubPr>
                      <m:e>
                        <m:r>
                          <a:rPr lang="en-US" altLang="zh-TW" sz="2400" i="1">
                            <a:latin typeface="Cambria Math"/>
                          </a:rPr>
                          <m:t>𝐷</m:t>
                        </m:r>
                      </m:e>
                      <m:sub>
                        <m:r>
                          <a:rPr lang="en-US" altLang="zh-TW" sz="2400" i="1">
                            <a:latin typeface="Cambria Math"/>
                          </a:rPr>
                          <m:t>1</m:t>
                        </m:r>
                      </m:sub>
                    </m:sSub>
                    <m:r>
                      <a:rPr lang="en-US" altLang="zh-TW" sz="2400" i="1">
                        <a:latin typeface="Cambria Math"/>
                      </a:rPr>
                      <m:t>𝑇</m:t>
                    </m:r>
                    <m:r>
                      <a:rPr lang="en-US" altLang="zh-TW" sz="2400" i="1">
                        <a:latin typeface="Cambria Math"/>
                      </a:rPr>
                      <m:t>+</m:t>
                    </m:r>
                    <m:sSub>
                      <m:sSubPr>
                        <m:ctrlPr>
                          <a:rPr lang="en-US" altLang="zh-TW" sz="2400" i="1">
                            <a:latin typeface="Cambria Math" panose="02040503050406030204" pitchFamily="18" charset="0"/>
                          </a:rPr>
                        </m:ctrlPr>
                      </m:sSubPr>
                      <m:e>
                        <m:r>
                          <a:rPr lang="en-US" altLang="zh-TW" sz="2400" i="1">
                            <a:latin typeface="Cambria Math"/>
                          </a:rPr>
                          <m:t>𝐶</m:t>
                        </m:r>
                      </m:e>
                      <m:sub>
                        <m:r>
                          <a:rPr lang="en-US" altLang="zh-TW" sz="2400" i="1">
                            <a:latin typeface="Cambria Math"/>
                          </a:rPr>
                          <m:t>2</m:t>
                        </m:r>
                      </m:sub>
                    </m:sSub>
                    <m:sSub>
                      <m:sSubPr>
                        <m:ctrlPr>
                          <a:rPr lang="en-US" altLang="zh-TW" sz="2400" i="1">
                            <a:latin typeface="Cambria Math" panose="02040503050406030204" pitchFamily="18" charset="0"/>
                          </a:rPr>
                        </m:ctrlPr>
                      </m:sSubPr>
                      <m:e>
                        <m:r>
                          <a:rPr lang="en-US" altLang="zh-TW" sz="2400" i="1">
                            <a:latin typeface="Cambria Math"/>
                          </a:rPr>
                          <m:t>𝐷</m:t>
                        </m:r>
                      </m:e>
                      <m:sub>
                        <m:r>
                          <a:rPr lang="en-US" altLang="zh-TW" sz="2400" i="1">
                            <a:latin typeface="Cambria Math"/>
                          </a:rPr>
                          <m:t>2</m:t>
                        </m:r>
                      </m:sub>
                    </m:sSub>
                    <m:r>
                      <a:rPr lang="en-US" altLang="zh-TW" sz="2400" i="1">
                        <a:latin typeface="Cambria Math"/>
                      </a:rPr>
                      <m:t>𝑇</m:t>
                    </m:r>
                    <m:r>
                      <a:rPr lang="en-US" altLang="zh-TW" sz="2400" i="1">
                        <a:latin typeface="Cambria Math"/>
                      </a:rPr>
                      <m:t> }</m:t>
                    </m:r>
                  </m:oMath>
                </a14:m>
                <a:endParaRPr lang="en-US" altLang="zh-TW" sz="2400" dirty="0">
                  <a:latin typeface="Arial" panose="020B0604020202020204" pitchFamily="34" charset="0"/>
                  <a:ea typeface="標楷體" panose="03000509000000000000" pitchFamily="65" charset="-120"/>
                  <a:cs typeface="Arial" panose="020B0604020202020204" pitchFamily="34" charset="0"/>
                </a:endParaRPr>
              </a:p>
              <a:p>
                <a:pPr marL="0" indent="0">
                  <a:lnSpc>
                    <a:spcPct val="150000"/>
                  </a:lnSpc>
                  <a:buNone/>
                </a:pPr>
                <a:r>
                  <a:rPr lang="en-US" altLang="zh-TW" sz="2400" dirty="0">
                    <a:latin typeface="Arial" panose="020B0604020202020204" pitchFamily="34" charset="0"/>
                    <a:ea typeface="標楷體" panose="03000509000000000000" pitchFamily="65" charset="-120"/>
                    <a:cs typeface="Arial" panose="020B0604020202020204" pitchFamily="34" charset="0"/>
                  </a:rPr>
                  <a:t>{RC</a:t>
                </a:r>
                <a:r>
                  <a:rPr lang="zh-TW" altLang="en-US" sz="2400" dirty="0">
                    <a:latin typeface="Arial" panose="020B0604020202020204" pitchFamily="34" charset="0"/>
                    <a:ea typeface="標楷體" panose="03000509000000000000" pitchFamily="65" charset="-120"/>
                    <a:cs typeface="Arial" panose="020B0604020202020204" pitchFamily="34" charset="0"/>
                  </a:rPr>
                  <a:t>未轉換</a:t>
                </a:r>
                <a:r>
                  <a:rPr lang="en-US" altLang="zh-TW" sz="2400" dirty="0">
                    <a:latin typeface="Arial" panose="020B0604020202020204" pitchFamily="34" charset="0"/>
                    <a:ea typeface="標楷體" panose="03000509000000000000" pitchFamily="65" charset="-120"/>
                    <a:cs typeface="Arial" panose="020B0604020202020204" pitchFamily="34" charset="0"/>
                  </a:rPr>
                  <a:t>}</a:t>
                </a:r>
                <a:r>
                  <a:rPr lang="zh-TW" altLang="en-US" sz="2400" dirty="0">
                    <a:latin typeface="Arial" panose="020B0604020202020204" pitchFamily="34" charset="0"/>
                    <a:ea typeface="標楷體" panose="03000509000000000000" pitchFamily="65" charset="-120"/>
                    <a:cs typeface="Arial" panose="020B0604020202020204" pitchFamily="34" charset="0"/>
                  </a:rPr>
                  <a:t> </a:t>
                </a:r>
                <a:r>
                  <a:rPr lang="en-US" altLang="zh-TW" sz="2400" dirty="0">
                    <a:latin typeface="Arial" panose="020B0604020202020204" pitchFamily="34" charset="0"/>
                    <a:ea typeface="標楷體" panose="03000509000000000000" pitchFamily="65" charset="-120"/>
                    <a:cs typeface="Arial" panose="020B0604020202020204" pitchFamily="34" charset="0"/>
                  </a:rPr>
                  <a:t>=</a:t>
                </a:r>
                <a:r>
                  <a:rPr lang="zh-TW" altLang="en-US" sz="2400" dirty="0">
                    <a:latin typeface="Arial" panose="020B0604020202020204" pitchFamily="34" charset="0"/>
                    <a:ea typeface="標楷體" panose="03000509000000000000" pitchFamily="65" charset="-120"/>
                    <a:cs typeface="Arial" panose="020B0604020202020204" pitchFamily="34" charset="0"/>
                  </a:rPr>
                  <a:t> </a:t>
                </a:r>
                <a:r>
                  <a:rPr lang="en-US" altLang="zh-TW" sz="2400" dirty="0">
                    <a:latin typeface="Arial" panose="020B0604020202020204" pitchFamily="34" charset="0"/>
                    <a:ea typeface="標楷體" panose="03000509000000000000" pitchFamily="65" charset="-120"/>
                    <a:cs typeface="Arial" panose="020B0604020202020204" pitchFamily="34" charset="0"/>
                  </a:rPr>
                  <a:t>{ </a:t>
                </a:r>
                <a14:m>
                  <m:oMath xmlns:m="http://schemas.openxmlformats.org/officeDocument/2006/math">
                    <m:r>
                      <m:rPr>
                        <m:sty m:val="p"/>
                      </m:rPr>
                      <a:rPr lang="en-US" altLang="zh-TW" sz="2400">
                        <a:latin typeface="Cambria Math"/>
                      </a:rPr>
                      <m:t>S</m:t>
                    </m:r>
                    <m:d>
                      <m:dPr>
                        <m:ctrlPr>
                          <a:rPr lang="en-US" altLang="zh-TW" sz="2400" i="1">
                            <a:latin typeface="Cambria Math" panose="02040503050406030204" pitchFamily="18" charset="0"/>
                          </a:rPr>
                        </m:ctrlPr>
                      </m:dPr>
                      <m:e>
                        <m:r>
                          <a:rPr lang="en-US" altLang="zh-TW" sz="2400" i="1">
                            <a:latin typeface="Cambria Math"/>
                          </a:rPr>
                          <m:t>𝑇</m:t>
                        </m:r>
                      </m:e>
                    </m:d>
                    <m:r>
                      <a:rPr lang="en-US" altLang="zh-TW" sz="2400" i="1">
                        <a:latin typeface="Cambria Math"/>
                      </a:rPr>
                      <m:t>&gt;</m:t>
                    </m:r>
                    <m:r>
                      <a:rPr lang="en-US" altLang="zh-TW" sz="2400" i="1">
                        <a:latin typeface="Cambria Math"/>
                      </a:rPr>
                      <m:t>𝑆</m:t>
                    </m:r>
                    <m:d>
                      <m:dPr>
                        <m:ctrlPr>
                          <a:rPr lang="en-US" altLang="zh-TW" sz="2400" i="1">
                            <a:latin typeface="Cambria Math" panose="02040503050406030204" pitchFamily="18" charset="0"/>
                          </a:rPr>
                        </m:ctrlPr>
                      </m:dPr>
                      <m:e>
                        <m:r>
                          <a:rPr lang="en-US" altLang="zh-TW" sz="2400" i="1">
                            <a:latin typeface="Cambria Math"/>
                          </a:rPr>
                          <m:t>0</m:t>
                        </m:r>
                      </m:e>
                    </m:d>
                    <m:r>
                      <a:rPr lang="zh-TW" altLang="en-US" sz="2400" i="1">
                        <a:latin typeface="Cambria Math"/>
                      </a:rPr>
                      <m:t> </m:t>
                    </m:r>
                    <m:r>
                      <a:rPr lang="en-US" altLang="zh-TW" sz="2400" i="1">
                        <a:latin typeface="Cambria Math"/>
                      </a:rPr>
                      <m:t>}</m:t>
                    </m:r>
                    <m:r>
                      <a:rPr lang="zh-TW" altLang="en-US" sz="2400" i="1">
                        <a:latin typeface="Cambria Math"/>
                      </a:rPr>
                      <m:t> </m:t>
                    </m:r>
                  </m:oMath>
                </a14:m>
                <a:endParaRPr lang="en-US" altLang="zh-TW" sz="2400" dirty="0">
                  <a:latin typeface="Arial" panose="020B0604020202020204" pitchFamily="34" charset="0"/>
                  <a:ea typeface="標楷體" panose="03000509000000000000" pitchFamily="65" charset="-120"/>
                  <a:cs typeface="Arial" panose="020B0604020202020204" pitchFamily="34" charset="0"/>
                </a:endParaRPr>
              </a:p>
              <a:p>
                <a:pPr marL="0" indent="0">
                  <a:lnSpc>
                    <a:spcPct val="150000"/>
                  </a:lnSpc>
                  <a:buNone/>
                </a:pPr>
                <a:r>
                  <a:rPr lang="en-US" altLang="zh-TW" sz="2400" dirty="0">
                    <a:latin typeface="Arial" panose="020B0604020202020204" pitchFamily="34" charset="0"/>
                    <a:ea typeface="標楷體" panose="03000509000000000000" pitchFamily="65" charset="-120"/>
                    <a:cs typeface="Arial" panose="020B0604020202020204" pitchFamily="34" charset="0"/>
                  </a:rPr>
                  <a:t>{RC</a:t>
                </a:r>
                <a:r>
                  <a:rPr lang="zh-TW" altLang="en-US" sz="2400" dirty="0">
                    <a:latin typeface="Arial" panose="020B0604020202020204" pitchFamily="34" charset="0"/>
                    <a:ea typeface="標楷體" panose="03000509000000000000" pitchFamily="65" charset="-120"/>
                    <a:cs typeface="Arial" panose="020B0604020202020204" pitchFamily="34" charset="0"/>
                  </a:rPr>
                  <a:t>已轉換</a:t>
                </a:r>
                <a:r>
                  <a:rPr lang="en-US" altLang="zh-TW" sz="2400" dirty="0">
                    <a:latin typeface="Arial" panose="020B0604020202020204" pitchFamily="34" charset="0"/>
                    <a:ea typeface="標楷體" panose="03000509000000000000" pitchFamily="65" charset="-120"/>
                    <a:cs typeface="Arial" panose="020B0604020202020204" pitchFamily="34" charset="0"/>
                  </a:rPr>
                  <a:t>} =</a:t>
                </a:r>
                <a:r>
                  <a:rPr lang="zh-TW" altLang="en-US" sz="2400" dirty="0">
                    <a:latin typeface="Arial" panose="020B0604020202020204" pitchFamily="34" charset="0"/>
                    <a:ea typeface="標楷體" panose="03000509000000000000" pitchFamily="65" charset="-120"/>
                    <a:cs typeface="Arial" panose="020B0604020202020204" pitchFamily="34" charset="0"/>
                  </a:rPr>
                  <a:t> </a:t>
                </a:r>
                <a:r>
                  <a:rPr lang="en-US" altLang="zh-TW" sz="2400" dirty="0">
                    <a:latin typeface="Arial" panose="020B0604020202020204" pitchFamily="34" charset="0"/>
                    <a:ea typeface="標楷體" panose="03000509000000000000" pitchFamily="65" charset="-120"/>
                    <a:cs typeface="Arial" panose="020B0604020202020204" pitchFamily="34" charset="0"/>
                  </a:rPr>
                  <a:t>{ </a:t>
                </a:r>
                <a14:m>
                  <m:oMath xmlns:m="http://schemas.openxmlformats.org/officeDocument/2006/math">
                    <m:r>
                      <m:rPr>
                        <m:sty m:val="p"/>
                      </m:rPr>
                      <a:rPr lang="en-US" altLang="zh-TW" sz="2400">
                        <a:latin typeface="Cambria Math"/>
                      </a:rPr>
                      <m:t>S</m:t>
                    </m:r>
                    <m:d>
                      <m:dPr>
                        <m:ctrlPr>
                          <a:rPr lang="en-US" altLang="zh-TW" sz="2400" i="1">
                            <a:latin typeface="Cambria Math" panose="02040503050406030204" pitchFamily="18" charset="0"/>
                          </a:rPr>
                        </m:ctrlPr>
                      </m:dPr>
                      <m:e>
                        <m:r>
                          <a:rPr lang="en-US" altLang="zh-TW" sz="2400" i="1">
                            <a:latin typeface="Cambria Math"/>
                          </a:rPr>
                          <m:t>𝑇</m:t>
                        </m:r>
                      </m:e>
                    </m:d>
                    <m:r>
                      <a:rPr lang="en-US" altLang="zh-TW" sz="2400" b="1" i="1">
                        <a:latin typeface="Cambria Math"/>
                        <a:ea typeface="Cambria Math"/>
                        <a:cs typeface="Arial" panose="020B0604020202020204" pitchFamily="34" charset="0"/>
                      </a:rPr>
                      <m:t>≤</m:t>
                    </m:r>
                    <m:r>
                      <a:rPr lang="en-US" altLang="zh-TW" sz="2400" i="1">
                        <a:latin typeface="Cambria Math"/>
                      </a:rPr>
                      <m:t>𝑆</m:t>
                    </m:r>
                    <m:d>
                      <m:dPr>
                        <m:ctrlPr>
                          <a:rPr lang="en-US" altLang="zh-TW" sz="2400" i="1">
                            <a:latin typeface="Cambria Math" panose="02040503050406030204" pitchFamily="18" charset="0"/>
                          </a:rPr>
                        </m:ctrlPr>
                      </m:dPr>
                      <m:e>
                        <m:r>
                          <a:rPr lang="en-US" altLang="zh-TW" sz="2400" i="1">
                            <a:latin typeface="Cambria Math"/>
                          </a:rPr>
                          <m:t>0</m:t>
                        </m:r>
                      </m:e>
                    </m:d>
                    <m:r>
                      <a:rPr lang="zh-TW" altLang="en-US" sz="2400" i="1">
                        <a:latin typeface="Cambria Math"/>
                      </a:rPr>
                      <m:t> </m:t>
                    </m:r>
                    <m:r>
                      <a:rPr lang="en-US" altLang="zh-TW" sz="2400" i="1">
                        <a:latin typeface="Cambria Math"/>
                      </a:rPr>
                      <m:t>}</m:t>
                    </m:r>
                    <m:r>
                      <a:rPr lang="zh-TW" altLang="en-US" sz="2400" i="1">
                        <a:latin typeface="Cambria Math"/>
                      </a:rPr>
                      <m:t> </m:t>
                    </m:r>
                  </m:oMath>
                </a14:m>
                <a:endParaRPr lang="en-US" altLang="zh-TW" sz="2400" dirty="0">
                  <a:latin typeface="Arial" panose="020B0604020202020204" pitchFamily="34" charset="0"/>
                  <a:ea typeface="標楷體" panose="03000509000000000000" pitchFamily="65" charset="-120"/>
                  <a:cs typeface="Arial" panose="020B0604020202020204" pitchFamily="34" charset="0"/>
                </a:endParaRPr>
              </a:p>
              <a:p>
                <a:pPr marL="0" indent="0">
                  <a:lnSpc>
                    <a:spcPct val="150000"/>
                  </a:lnSpc>
                  <a:buNone/>
                </a:pPr>
                <a:endParaRPr lang="en-US" altLang="zh-TW" sz="2400" dirty="0">
                  <a:latin typeface="Arial" panose="020B0604020202020204" pitchFamily="34" charset="0"/>
                  <a:ea typeface="標楷體" panose="03000509000000000000" pitchFamily="65" charset="-120"/>
                  <a:cs typeface="Arial" panose="020B0604020202020204" pitchFamily="34" charset="0"/>
                </a:endParaRPr>
              </a:p>
              <a:p>
                <a:pPr marL="0" indent="0">
                  <a:lnSpc>
                    <a:spcPct val="150000"/>
                  </a:lnSpc>
                  <a:buNone/>
                </a:pPr>
                <a:endParaRPr lang="en-US" altLang="zh-TW" sz="2400" dirty="0">
                  <a:latin typeface="Arial" panose="020B0604020202020204" pitchFamily="34" charset="0"/>
                  <a:ea typeface="標楷體" panose="03000509000000000000" pitchFamily="65" charset="-120"/>
                  <a:cs typeface="Arial" panose="020B0604020202020204" pitchFamily="34" charset="0"/>
                </a:endParaRPr>
              </a:p>
              <a:p>
                <a:pPr marL="0" indent="0">
                  <a:lnSpc>
                    <a:spcPct val="150000"/>
                  </a:lnSpc>
                  <a:buNone/>
                </a:pPr>
                <a:endParaRPr lang="en-US" altLang="zh-TW" sz="1600" dirty="0">
                  <a:latin typeface="標楷體" pitchFamily="65" charset="-120"/>
                  <a:ea typeface="標楷體" pitchFamily="65" charset="-120"/>
                </a:endParaRPr>
              </a:p>
              <a:p>
                <a:pPr marL="0" indent="0">
                  <a:lnSpc>
                    <a:spcPct val="150000"/>
                  </a:lnSpc>
                  <a:buNone/>
                </a:pPr>
                <a:endParaRPr lang="en-US" altLang="zh-TW" sz="1600" dirty="0">
                  <a:latin typeface="標楷體" pitchFamily="65" charset="-120"/>
                  <a:ea typeface="標楷體" pitchFamily="65" charset="-120"/>
                </a:endParaRPr>
              </a:p>
              <a:p>
                <a:pPr marL="0" indent="0">
                  <a:lnSpc>
                    <a:spcPct val="150000"/>
                  </a:lnSpc>
                  <a:buNone/>
                </a:pPr>
                <a:r>
                  <a:rPr lang="zh-TW" altLang="en-US" sz="1600" dirty="0">
                    <a:latin typeface="標楷體" pitchFamily="65" charset="-120"/>
                    <a:ea typeface="標楷體" pitchFamily="65" charset="-120"/>
                  </a:rPr>
                  <a:t>　　　</a:t>
                </a:r>
                <a:endParaRPr lang="en-US" altLang="zh-TW" sz="1600" dirty="0">
                  <a:latin typeface="標楷體" pitchFamily="65" charset="-120"/>
                  <a:ea typeface="標楷體" pitchFamily="65" charset="-120"/>
                </a:endParaRPr>
              </a:p>
              <a:p>
                <a:pPr marL="0" indent="0">
                  <a:lnSpc>
                    <a:spcPct val="150000"/>
                  </a:lnSpc>
                  <a:buNone/>
                </a:pPr>
                <a:endParaRPr lang="en-US" altLang="zh-TW" sz="1600" dirty="0">
                  <a:latin typeface="標楷體" pitchFamily="65" charset="-120"/>
                  <a:ea typeface="標楷體" pitchFamily="65" charset="-120"/>
                </a:endParaRPr>
              </a:p>
              <a:p>
                <a:pPr marL="0" indent="0">
                  <a:lnSpc>
                    <a:spcPct val="150000"/>
                  </a:lnSpc>
                  <a:buNone/>
                </a:pPr>
                <a:endParaRPr lang="en-US" altLang="zh-TW" sz="1600" dirty="0">
                  <a:latin typeface="標楷體" pitchFamily="65" charset="-120"/>
                  <a:ea typeface="標楷體" pitchFamily="65" charset="-120"/>
                </a:endParaRPr>
              </a:p>
              <a:p>
                <a:pPr marL="0" indent="0">
                  <a:lnSpc>
                    <a:spcPct val="150000"/>
                  </a:lnSpc>
                  <a:buNone/>
                </a:pPr>
                <a:endParaRPr lang="zh-TW" altLang="en-US" sz="1600" dirty="0">
                  <a:latin typeface="標楷體" pitchFamily="65" charset="-120"/>
                  <a:ea typeface="標楷體" pitchFamily="65" charset="-120"/>
                </a:endParaRPr>
              </a:p>
              <a:p>
                <a:pPr marL="0" indent="0">
                  <a:lnSpc>
                    <a:spcPct val="150000"/>
                  </a:lnSpc>
                  <a:buNone/>
                </a:pPr>
                <a:endParaRPr lang="en-US" altLang="zh-TW" sz="1600" i="1" dirty="0">
                  <a:latin typeface="標楷體" pitchFamily="65" charset="-120"/>
                  <a:ea typeface="標楷體" pitchFamily="65" charset="-120"/>
                </a:endParaRPr>
              </a:p>
              <a:p>
                <a:pPr marL="0" indent="0">
                  <a:lnSpc>
                    <a:spcPct val="150000"/>
                  </a:lnSpc>
                  <a:buNone/>
                </a:pPr>
                <a:endParaRPr lang="en-US" altLang="zh-TW" sz="1600" i="1" dirty="0">
                  <a:latin typeface="標楷體" pitchFamily="65" charset="-120"/>
                  <a:ea typeface="標楷體" pitchFamily="65" charset="-120"/>
                </a:endParaRPr>
              </a:p>
            </p:txBody>
          </p:sp>
        </mc:Choice>
        <mc:Fallback xmlns="">
          <p:sp>
            <p:nvSpPr>
              <p:cNvPr id="3" name="直排文字版面配置區 2"/>
              <p:cNvSpPr>
                <a:spLocks noGrp="1" noRot="1" noChangeAspect="1" noMove="1" noResize="1" noEditPoints="1" noAdjustHandles="1" noChangeArrowheads="1" noChangeShapeType="1" noTextEdit="1"/>
              </p:cNvSpPr>
              <p:nvPr>
                <p:ph type="body" orient="vert" idx="1"/>
              </p:nvPr>
            </p:nvSpPr>
            <p:spPr>
              <a:xfrm>
                <a:off x="72008" y="692696"/>
                <a:ext cx="9252520" cy="5976870"/>
              </a:xfrm>
              <a:blipFill rotWithShape="1">
                <a:blip r:embed="rId2"/>
                <a:stretch>
                  <a:fillRect l="-1054"/>
                </a:stretch>
              </a:blipFill>
            </p:spPr>
            <p:txBody>
              <a:bodyPr/>
              <a:lstStyle/>
              <a:p>
                <a:r>
                  <a:rPr lang="zh-TW" altLang="en-US">
                    <a:noFill/>
                  </a:rPr>
                  <a:t> </a:t>
                </a:r>
              </a:p>
            </p:txBody>
          </p:sp>
        </mc:Fallback>
      </mc:AlternateContent>
      <p:grpSp>
        <p:nvGrpSpPr>
          <p:cNvPr id="4" name="Group 32"/>
          <p:cNvGrpSpPr>
            <a:grpSpLocks/>
          </p:cNvGrpSpPr>
          <p:nvPr/>
        </p:nvGrpSpPr>
        <p:grpSpPr bwMode="auto">
          <a:xfrm>
            <a:off x="1719263" y="596900"/>
            <a:ext cx="8801100" cy="82550"/>
            <a:chOff x="123" y="376"/>
            <a:chExt cx="5022" cy="52"/>
          </a:xfrm>
        </p:grpSpPr>
        <p:sp>
          <p:nvSpPr>
            <p:cNvPr id="5" name="Line 33"/>
            <p:cNvSpPr>
              <a:spLocks noChangeShapeType="1"/>
            </p:cNvSpPr>
            <p:nvPr/>
          </p:nvSpPr>
          <p:spPr bwMode="auto">
            <a:xfrm>
              <a:off x="123" y="376"/>
              <a:ext cx="4954" cy="0"/>
            </a:xfrm>
            <a:prstGeom prst="line">
              <a:avLst/>
            </a:prstGeom>
            <a:noFill/>
            <a:ln w="50800">
              <a:solidFill>
                <a:srgbClr val="000066"/>
              </a:solidFill>
              <a:round/>
              <a:headEnd type="diamond"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a:latin typeface="Arial" pitchFamily="34" charset="0"/>
                <a:ea typeface="標楷體" pitchFamily="65" charset="-120"/>
                <a:cs typeface="Arial" pitchFamily="34" charset="0"/>
              </a:endParaRPr>
            </a:p>
          </p:txBody>
        </p:sp>
        <p:sp>
          <p:nvSpPr>
            <p:cNvPr id="6" name="Line 34"/>
            <p:cNvSpPr>
              <a:spLocks noChangeShapeType="1"/>
            </p:cNvSpPr>
            <p:nvPr/>
          </p:nvSpPr>
          <p:spPr bwMode="auto">
            <a:xfrm>
              <a:off x="191" y="428"/>
              <a:ext cx="4954" cy="0"/>
            </a:xfrm>
            <a:prstGeom prst="line">
              <a:avLst/>
            </a:prstGeom>
            <a:noFill/>
            <a:ln w="2540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a:latin typeface="Arial" pitchFamily="34" charset="0"/>
                <a:ea typeface="標楷體" pitchFamily="65" charset="-120"/>
                <a:cs typeface="Arial" pitchFamily="34" charset="0"/>
              </a:endParaRPr>
            </a:p>
          </p:txBody>
        </p:sp>
      </p:grpSp>
      <mc:AlternateContent xmlns:mc="http://schemas.openxmlformats.org/markup-compatibility/2006" xmlns:a14="http://schemas.microsoft.com/office/drawing/2010/main">
        <mc:Choice Requires="a14">
          <p:sp>
            <p:nvSpPr>
              <p:cNvPr id="21" name="標題 1"/>
              <p:cNvSpPr txBox="1">
                <a:spLocks/>
              </p:cNvSpPr>
              <p:nvPr/>
            </p:nvSpPr>
            <p:spPr>
              <a:xfrm>
                <a:off x="1703512" y="44624"/>
                <a:ext cx="7704856" cy="50405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TW" altLang="en-US" sz="3200" dirty="0">
                    <a:latin typeface="Arial" pitchFamily="34" charset="0"/>
                    <a:ea typeface="標楷體" pitchFamily="65" charset="-120"/>
                    <a:cs typeface="Arial" pitchFamily="34" charset="0"/>
                  </a:rPr>
                  <a:t>鄭</a:t>
                </a:r>
                <a:r>
                  <a:rPr lang="en-US" altLang="zh-TW" sz="3200" dirty="0">
                    <a:latin typeface="Arial" pitchFamily="34" charset="0"/>
                    <a:ea typeface="標楷體" pitchFamily="65" charset="-120"/>
                    <a:cs typeface="Arial" pitchFamily="34" charset="0"/>
                  </a:rPr>
                  <a:t>&amp;</a:t>
                </a:r>
                <a:r>
                  <a:rPr lang="zh-TW" altLang="en-US" sz="3200" dirty="0">
                    <a:latin typeface="Arial" pitchFamily="34" charset="0"/>
                    <a:ea typeface="標楷體" pitchFamily="65" charset="-120"/>
                    <a:cs typeface="Arial" pitchFamily="34" charset="0"/>
                  </a:rPr>
                  <a:t>張</a:t>
                </a:r>
                <a:r>
                  <a:rPr lang="en-US" altLang="zh-TW" sz="3200" dirty="0">
                    <a:latin typeface="Arial" pitchFamily="34" charset="0"/>
                    <a:ea typeface="標楷體" pitchFamily="65" charset="-120"/>
                    <a:cs typeface="Arial" pitchFamily="34" charset="0"/>
                  </a:rPr>
                  <a:t>paper</a:t>
                </a:r>
                <a:r>
                  <a:rPr lang="zh-TW" altLang="en-US" sz="3200" dirty="0">
                    <a:latin typeface="Arial" pitchFamily="34" charset="0"/>
                    <a:ea typeface="標楷體" pitchFamily="65" charset="-120"/>
                    <a:cs typeface="Arial" pitchFamily="34" charset="0"/>
                  </a:rPr>
                  <a:t>公式推導－以</a:t>
                </a:r>
                <a14:m>
                  <m:oMath xmlns:m="http://schemas.openxmlformats.org/officeDocument/2006/math">
                    <m:r>
                      <a:rPr lang="en-US" altLang="zh-TW" sz="3200" i="1" dirty="0">
                        <a:latin typeface="Cambria Math"/>
                        <a:ea typeface="標楷體" pitchFamily="65" charset="-120"/>
                        <a:cs typeface="Arial" pitchFamily="34" charset="0"/>
                      </a:rPr>
                      <m:t>𝐷𝑒𝑏𝑡</m:t>
                    </m:r>
                  </m:oMath>
                </a14:m>
                <a:r>
                  <a:rPr lang="zh-TW" altLang="en-US" sz="3200" dirty="0">
                    <a:latin typeface="Arial" pitchFamily="34" charset="0"/>
                    <a:ea typeface="標楷體" pitchFamily="65" charset="-120"/>
                    <a:cs typeface="Arial" pitchFamily="34" charset="0"/>
                  </a:rPr>
                  <a:t>為例</a:t>
                </a:r>
                <a:r>
                  <a:rPr lang="zh-TW" altLang="en-US" sz="3200" i="1" dirty="0">
                    <a:latin typeface="Arial" pitchFamily="34" charset="0"/>
                    <a:ea typeface="標楷體" pitchFamily="65" charset="-120"/>
                    <a:cs typeface="Arial" pitchFamily="34" charset="0"/>
                  </a:rPr>
                  <a:t> </a:t>
                </a:r>
                <a:endParaRPr lang="en-US" altLang="zh-TW" sz="2400" dirty="0">
                  <a:latin typeface="Arial" pitchFamily="34" charset="0"/>
                  <a:ea typeface="標楷體" pitchFamily="65" charset="-120"/>
                  <a:cs typeface="Arial" pitchFamily="34" charset="0"/>
                </a:endParaRPr>
              </a:p>
            </p:txBody>
          </p:sp>
        </mc:Choice>
        <mc:Fallback xmlns="">
          <p:sp>
            <p:nvSpPr>
              <p:cNvPr id="21" name="標題 1"/>
              <p:cNvSpPr txBox="1">
                <a:spLocks noRot="1" noChangeAspect="1" noMove="1" noResize="1" noEditPoints="1" noAdjustHandles="1" noChangeArrowheads="1" noChangeShapeType="1" noTextEdit="1"/>
              </p:cNvSpPr>
              <p:nvPr/>
            </p:nvSpPr>
            <p:spPr>
              <a:xfrm>
                <a:off x="179512" y="44624"/>
                <a:ext cx="7704856" cy="504056"/>
              </a:xfrm>
              <a:prstGeom prst="rect">
                <a:avLst/>
              </a:prstGeom>
              <a:blipFill rotWithShape="1">
                <a:blip r:embed="rId3"/>
                <a:stretch>
                  <a:fillRect l="-1978" t="-24096" b="-46988"/>
                </a:stretch>
              </a:blipFill>
            </p:spPr>
            <p:txBody>
              <a:bodyPr/>
              <a:lstStyle/>
              <a:p>
                <a:r>
                  <a:rPr lang="zh-TW" altLang="en-US">
                    <a:noFill/>
                  </a:rPr>
                  <a:t> </a:t>
                </a:r>
              </a:p>
            </p:txBody>
          </p:sp>
        </mc:Fallback>
      </mc:AlternateContent>
      <p:pic>
        <p:nvPicPr>
          <p:cNvPr id="7" name="Picture 6" descr="004255-3d-glossy-blue-orb-icon-arrows-arrow-styled-left">
            <a:hlinkClick r:id="" action="ppaction://noaction"/>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12425" y="-8353"/>
            <a:ext cx="631825" cy="629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橢圓 1"/>
          <p:cNvSpPr/>
          <p:nvPr/>
        </p:nvSpPr>
        <p:spPr>
          <a:xfrm>
            <a:off x="2516697" y="1921079"/>
            <a:ext cx="872455" cy="72145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p:cNvSpPr txBox="1"/>
          <p:nvPr/>
        </p:nvSpPr>
        <p:spPr>
          <a:xfrm>
            <a:off x="3389152" y="1758586"/>
            <a:ext cx="351378" cy="523220"/>
          </a:xfrm>
          <a:prstGeom prst="rect">
            <a:avLst/>
          </a:prstGeom>
          <a:noFill/>
        </p:spPr>
        <p:txBody>
          <a:bodyPr wrap="none" rtlCol="0">
            <a:spAutoFit/>
          </a:bodyPr>
          <a:lstStyle/>
          <a:p>
            <a:r>
              <a:rPr lang="en-US" altLang="zh-TW" sz="2800" dirty="0" smtClean="0">
                <a:solidFill>
                  <a:srgbClr val="FF0000"/>
                </a:solidFill>
              </a:rPr>
              <a:t>?</a:t>
            </a:r>
            <a:endParaRPr lang="zh-TW" altLang="en-US" sz="2800" dirty="0">
              <a:solidFill>
                <a:srgbClr val="FF0000"/>
              </a:solidFill>
            </a:endParaRPr>
          </a:p>
        </p:txBody>
      </p:sp>
    </p:spTree>
    <p:extLst>
      <p:ext uri="{BB962C8B-B14F-4D97-AF65-F5344CB8AC3E}">
        <p14:creationId xmlns:p14="http://schemas.microsoft.com/office/powerpoint/2010/main" val="197503409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1432</TotalTime>
  <Words>1254</Words>
  <Application>Microsoft Office PowerPoint</Application>
  <PresentationFormat>寬螢幕</PresentationFormat>
  <Paragraphs>518</Paragraphs>
  <Slides>37</Slides>
  <Notes>1</Notes>
  <HiddenSlides>0</HiddenSlides>
  <MMClips>0</MMClips>
  <ScaleCrop>false</ScaleCrop>
  <HeadingPairs>
    <vt:vector size="8" baseType="variant">
      <vt:variant>
        <vt:lpstr>使用字型</vt:lpstr>
      </vt:variant>
      <vt:variant>
        <vt:i4>8</vt:i4>
      </vt:variant>
      <vt:variant>
        <vt:lpstr>佈景主題</vt:lpstr>
      </vt:variant>
      <vt:variant>
        <vt:i4>1</vt:i4>
      </vt:variant>
      <vt:variant>
        <vt:lpstr>內嵌 OLE 伺服程式</vt:lpstr>
      </vt:variant>
      <vt:variant>
        <vt:i4>1</vt:i4>
      </vt:variant>
      <vt:variant>
        <vt:lpstr>投影片標題</vt:lpstr>
      </vt:variant>
      <vt:variant>
        <vt:i4>37</vt:i4>
      </vt:variant>
    </vt:vector>
  </HeadingPairs>
  <TitlesOfParts>
    <vt:vector size="47" baseType="lpstr">
      <vt:lpstr>微軟正黑體</vt:lpstr>
      <vt:lpstr>新細明體</vt:lpstr>
      <vt:lpstr>標楷體</vt:lpstr>
      <vt:lpstr>Arial</vt:lpstr>
      <vt:lpstr>Calibri</vt:lpstr>
      <vt:lpstr>Calibri Light</vt:lpstr>
      <vt:lpstr>Cambria Math</vt:lpstr>
      <vt:lpstr>Times New Roman</vt:lpstr>
      <vt:lpstr>Office 佈景主題</vt:lpstr>
      <vt:lpstr>Equation.DSMT4</vt:lpstr>
      <vt:lpstr>Contingent convertible bond 模型設計 </vt:lpstr>
      <vt:lpstr>背景</vt:lpstr>
      <vt:lpstr>面臨問題</vt:lpstr>
      <vt:lpstr>或有轉換債     (Contingent convertible bond ,CC)</vt:lpstr>
      <vt:lpstr>文獻回顧(1/2)</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The End</vt:lpstr>
      <vt:lpstr>PowerPoint 簡報</vt:lpstr>
      <vt:lpstr>PowerPoint 簡報</vt:lpstr>
      <vt:lpstr>PowerPoint 簡報</vt:lpstr>
      <vt:lpstr>The pricing restriction at the maturity of bank’s bonds, t = T</vt:lpstr>
      <vt:lpstr>PowerPoint 簡報</vt:lpstr>
      <vt:lpstr>PowerPoint 簡報</vt:lpstr>
      <vt:lpstr>PowerPoint 簡報</vt:lpstr>
      <vt:lpstr>PowerPoint 簡報</vt:lpstr>
      <vt:lpstr>PowerPoint 簡報</vt:lpstr>
      <vt:lpstr>PowerPoint 簡報</vt:lpstr>
      <vt:lpstr>Question</vt:lpstr>
      <vt:lpstr>PowerPoint 簡報</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Feng-shang Ku</dc:creator>
  <cp:lastModifiedBy>Feng-shang Ku</cp:lastModifiedBy>
  <cp:revision>76</cp:revision>
  <dcterms:created xsi:type="dcterms:W3CDTF">2015-03-25T13:39:15Z</dcterms:created>
  <dcterms:modified xsi:type="dcterms:W3CDTF">2015-04-14T12:46:02Z</dcterms:modified>
</cp:coreProperties>
</file>