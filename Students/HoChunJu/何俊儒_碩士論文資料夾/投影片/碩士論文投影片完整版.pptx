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drawings/drawing2.xml" ContentType="application/vnd.openxmlformats-officedocument.drawingml.chartshapes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charts/chart3.xml" ContentType="application/vnd.openxmlformats-officedocument.drawingml.char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bin" ContentType="application/vnd.openxmlformats-officedocument.oleObject"/>
  <Default Extension="png" ContentType="image/png"/>
  <Override PartName="/ppt/drawings/drawing3.xml" ContentType="application/vnd.openxmlformats-officedocument.drawingml.chartshape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rawings/drawing1.xml" ContentType="application/vnd.openxmlformats-officedocument.drawingml.chartshapes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charts/chart4.xml" ContentType="application/vnd.openxmlformats-officedocument.drawingml.chart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charts/chart2.xml" ContentType="application/vnd.openxmlformats-officedocument.drawingml.chart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  <Override PartName="/ppt/drawings/drawing4.xml" ContentType="application/vnd.openxmlformats-officedocument.drawingml.chartshap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020" r:id="rId1"/>
  </p:sldMasterIdLst>
  <p:notesMasterIdLst>
    <p:notesMasterId r:id="rId66"/>
  </p:notesMasterIdLst>
  <p:sldIdLst>
    <p:sldId id="256" r:id="rId2"/>
    <p:sldId id="257" r:id="rId3"/>
    <p:sldId id="258" r:id="rId4"/>
    <p:sldId id="272" r:id="rId5"/>
    <p:sldId id="262" r:id="rId6"/>
    <p:sldId id="263" r:id="rId7"/>
    <p:sldId id="265" r:id="rId8"/>
    <p:sldId id="259" r:id="rId9"/>
    <p:sldId id="266" r:id="rId10"/>
    <p:sldId id="267" r:id="rId11"/>
    <p:sldId id="268" r:id="rId12"/>
    <p:sldId id="269" r:id="rId13"/>
    <p:sldId id="271" r:id="rId14"/>
    <p:sldId id="273" r:id="rId15"/>
    <p:sldId id="270" r:id="rId16"/>
    <p:sldId id="260" r:id="rId17"/>
    <p:sldId id="274" r:id="rId18"/>
    <p:sldId id="275" r:id="rId19"/>
    <p:sldId id="277" r:id="rId20"/>
    <p:sldId id="335" r:id="rId21"/>
    <p:sldId id="278" r:id="rId22"/>
    <p:sldId id="279" r:id="rId23"/>
    <p:sldId id="280" r:id="rId24"/>
    <p:sldId id="281" r:id="rId25"/>
    <p:sldId id="282" r:id="rId26"/>
    <p:sldId id="284" r:id="rId27"/>
    <p:sldId id="283" r:id="rId28"/>
    <p:sldId id="286" r:id="rId29"/>
    <p:sldId id="294" r:id="rId30"/>
    <p:sldId id="336" r:id="rId31"/>
    <p:sldId id="295" r:id="rId32"/>
    <p:sldId id="296" r:id="rId33"/>
    <p:sldId id="297" r:id="rId34"/>
    <p:sldId id="298" r:id="rId35"/>
    <p:sldId id="299" r:id="rId36"/>
    <p:sldId id="300" r:id="rId37"/>
    <p:sldId id="337" r:id="rId38"/>
    <p:sldId id="307" r:id="rId39"/>
    <p:sldId id="301" r:id="rId40"/>
    <p:sldId id="302" r:id="rId41"/>
    <p:sldId id="303" r:id="rId42"/>
    <p:sldId id="304" r:id="rId43"/>
    <p:sldId id="334" r:id="rId44"/>
    <p:sldId id="310" r:id="rId45"/>
    <p:sldId id="320" r:id="rId46"/>
    <p:sldId id="321" r:id="rId47"/>
    <p:sldId id="322" r:id="rId48"/>
    <p:sldId id="323" r:id="rId49"/>
    <p:sldId id="324" r:id="rId50"/>
    <p:sldId id="325" r:id="rId51"/>
    <p:sldId id="311" r:id="rId52"/>
    <p:sldId id="312" r:id="rId53"/>
    <p:sldId id="313" r:id="rId54"/>
    <p:sldId id="314" r:id="rId55"/>
    <p:sldId id="315" r:id="rId56"/>
    <p:sldId id="328" r:id="rId57"/>
    <p:sldId id="329" r:id="rId58"/>
    <p:sldId id="330" r:id="rId59"/>
    <p:sldId id="326" r:id="rId60"/>
    <p:sldId id="331" r:id="rId61"/>
    <p:sldId id="317" r:id="rId62"/>
    <p:sldId id="333" r:id="rId63"/>
    <p:sldId id="339" r:id="rId64"/>
    <p:sldId id="338" r:id="rId65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PMingLiU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PMingLiU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PMingLiU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PMingLiU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PMingLiU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PMingLiU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PMingLiU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PMingLiU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PMingLiU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7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file:///F:\&#35413;&#20729;&#32080;&#26524;\Embedded%20bond%20option%20&amp;%20caplet.xls" TargetMode="Externa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.xml"/><Relationship Id="rId1" Type="http://schemas.openxmlformats.org/officeDocument/2006/relationships/oleObject" Target="file:///F:\&#35413;&#20729;&#32080;&#26524;\Embedded%20bond%20option%20&amp;%20caplet.xlsx" TargetMode="Externa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3.xml"/><Relationship Id="rId1" Type="http://schemas.openxmlformats.org/officeDocument/2006/relationships/oleObject" Target="file:///F:\&#35413;&#20729;&#32080;&#26524;\Embedded%20bond%20option%20&amp;%20caplet.xlsx" TargetMode="External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4.xml"/><Relationship Id="rId1" Type="http://schemas.openxmlformats.org/officeDocument/2006/relationships/oleObject" Target="file:///F:\&#35413;&#20729;&#32080;&#26524;\Embedded%20bond%20option%20&amp;%20caplet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TW"/>
  <c:chart>
    <c:title/>
    <c:plotArea>
      <c:layout>
        <c:manualLayout>
          <c:layoutTarget val="inner"/>
          <c:xMode val="edge"/>
          <c:yMode val="edge"/>
          <c:x val="0.15006590796681504"/>
          <c:y val="0.15938469339059891"/>
          <c:w val="0.72518302584058902"/>
          <c:h val="0.56220323311858855"/>
        </c:manualLayout>
      </c:layout>
      <c:lineChart>
        <c:grouping val="standard"/>
        <c:ser>
          <c:idx val="0"/>
          <c:order val="0"/>
          <c:tx>
            <c:strRef>
              <c:f>'option value vs. strike price'!$B$1</c:f>
              <c:strCache>
                <c:ptCount val="1"/>
                <c:pt idx="0">
                  <c:v>Embedded Option Value</c:v>
                </c:pt>
              </c:strCache>
            </c:strRef>
          </c:tx>
          <c:cat>
            <c:numRef>
              <c:f>'option value vs. strike price'!$A$2:$A$36</c:f>
              <c:numCache>
                <c:formatCode>General</c:formatCode>
                <c:ptCount val="35"/>
                <c:pt idx="0">
                  <c:v>0.952380952380952</c:v>
                </c:pt>
                <c:pt idx="1">
                  <c:v>0.95248095238095198</c:v>
                </c:pt>
                <c:pt idx="2">
                  <c:v>0.95258095238095197</c:v>
                </c:pt>
                <c:pt idx="3">
                  <c:v>0.9526809523809523</c:v>
                </c:pt>
                <c:pt idx="4">
                  <c:v>0.95278095238095195</c:v>
                </c:pt>
                <c:pt idx="5">
                  <c:v>0.95288095238095205</c:v>
                </c:pt>
                <c:pt idx="6">
                  <c:v>0.95298095238095204</c:v>
                </c:pt>
                <c:pt idx="7">
                  <c:v>0.95308095238095203</c:v>
                </c:pt>
                <c:pt idx="8">
                  <c:v>0.95318095238095202</c:v>
                </c:pt>
                <c:pt idx="9">
                  <c:v>0.95328095238095201</c:v>
                </c:pt>
                <c:pt idx="10">
                  <c:v>0.953380952380952</c:v>
                </c:pt>
                <c:pt idx="11">
                  <c:v>0.95348095238095198</c:v>
                </c:pt>
                <c:pt idx="12">
                  <c:v>0.95358095238095197</c:v>
                </c:pt>
                <c:pt idx="13">
                  <c:v>0.9536809523809523</c:v>
                </c:pt>
                <c:pt idx="14">
                  <c:v>0.95378095238095195</c:v>
                </c:pt>
                <c:pt idx="15">
                  <c:v>0.95388095238095205</c:v>
                </c:pt>
                <c:pt idx="16">
                  <c:v>0.95398095238095204</c:v>
                </c:pt>
                <c:pt idx="17">
                  <c:v>0.95408095238095203</c:v>
                </c:pt>
                <c:pt idx="18">
                  <c:v>0.95418095238095202</c:v>
                </c:pt>
                <c:pt idx="19">
                  <c:v>0.95428095238095201</c:v>
                </c:pt>
                <c:pt idx="20">
                  <c:v>0.954380952380952</c:v>
                </c:pt>
                <c:pt idx="21">
                  <c:v>0.95448095238095199</c:v>
                </c:pt>
                <c:pt idx="22">
                  <c:v>0.95458095238095197</c:v>
                </c:pt>
                <c:pt idx="23">
                  <c:v>0.9546809523809523</c:v>
                </c:pt>
                <c:pt idx="24">
                  <c:v>0.95478095238095195</c:v>
                </c:pt>
                <c:pt idx="25">
                  <c:v>0.95488095238095205</c:v>
                </c:pt>
                <c:pt idx="26">
                  <c:v>0.95498095238095204</c:v>
                </c:pt>
                <c:pt idx="27">
                  <c:v>0.95508095238095203</c:v>
                </c:pt>
                <c:pt idx="28">
                  <c:v>0.95518095238095202</c:v>
                </c:pt>
                <c:pt idx="29">
                  <c:v>0.95528095238095201</c:v>
                </c:pt>
                <c:pt idx="30">
                  <c:v>0.955380952380952</c:v>
                </c:pt>
                <c:pt idx="31">
                  <c:v>0.95548095238095199</c:v>
                </c:pt>
                <c:pt idx="32">
                  <c:v>0.95558095238095198</c:v>
                </c:pt>
                <c:pt idx="33">
                  <c:v>0.9556809523809523</c:v>
                </c:pt>
                <c:pt idx="34">
                  <c:v>0.95578095238095195</c:v>
                </c:pt>
              </c:numCache>
            </c:numRef>
          </c:cat>
          <c:val>
            <c:numRef>
              <c:f>'option value vs. strike price'!$B$2:$B$36</c:f>
              <c:numCache>
                <c:formatCode>0.000000000000_ </c:formatCode>
                <c:ptCount val="35"/>
                <c:pt idx="0">
                  <c:v>2.3422636849789987E-3</c:v>
                </c:pt>
                <c:pt idx="1">
                  <c:v>2.291820366491002E-3</c:v>
                </c:pt>
                <c:pt idx="2">
                  <c:v>2.2413770480030027E-3</c:v>
                </c:pt>
                <c:pt idx="3">
                  <c:v>2.1909337295160014E-3</c:v>
                </c:pt>
                <c:pt idx="4">
                  <c:v>2.1404904110280012E-3</c:v>
                </c:pt>
                <c:pt idx="5">
                  <c:v>2.094992428414E-3</c:v>
                </c:pt>
                <c:pt idx="6">
                  <c:v>2.0547327990560011E-3</c:v>
                </c:pt>
                <c:pt idx="7">
                  <c:v>2.0144731696979997E-3</c:v>
                </c:pt>
                <c:pt idx="8">
                  <c:v>1.9742135403410018E-3</c:v>
                </c:pt>
                <c:pt idx="9">
                  <c:v>1.9339539109830017E-3</c:v>
                </c:pt>
                <c:pt idx="10">
                  <c:v>1.893694281625E-3</c:v>
                </c:pt>
                <c:pt idx="11">
                  <c:v>1.8534346522669999E-3</c:v>
                </c:pt>
                <c:pt idx="12">
                  <c:v>1.8131750229090013E-3</c:v>
                </c:pt>
                <c:pt idx="13">
                  <c:v>1.7729153935510007E-3</c:v>
                </c:pt>
                <c:pt idx="14">
                  <c:v>1.7326557641930017E-3</c:v>
                </c:pt>
                <c:pt idx="15">
                  <c:v>1.6923961348360023E-3</c:v>
                </c:pt>
                <c:pt idx="16">
                  <c:v>1.6521365054780013E-3</c:v>
                </c:pt>
                <c:pt idx="17">
                  <c:v>1.6118768761200007E-3</c:v>
                </c:pt>
                <c:pt idx="18">
                  <c:v>1.5716172467620012E-3</c:v>
                </c:pt>
                <c:pt idx="19">
                  <c:v>1.531357617404E-3</c:v>
                </c:pt>
                <c:pt idx="20">
                  <c:v>1.4910979880460007E-3</c:v>
                </c:pt>
                <c:pt idx="21">
                  <c:v>1.450838358688E-3</c:v>
                </c:pt>
                <c:pt idx="22">
                  <c:v>1.4105787293310005E-3</c:v>
                </c:pt>
                <c:pt idx="23">
                  <c:v>1.3784526075340006E-3</c:v>
                </c:pt>
                <c:pt idx="24">
                  <c:v>1.3479849869549999E-3</c:v>
                </c:pt>
                <c:pt idx="25">
                  <c:v>1.3175173663760016E-3</c:v>
                </c:pt>
                <c:pt idx="26">
                  <c:v>1.2870497457970001E-3</c:v>
                </c:pt>
                <c:pt idx="27">
                  <c:v>1.2565821252180013E-3</c:v>
                </c:pt>
                <c:pt idx="28">
                  <c:v>1.2261145046390007E-3</c:v>
                </c:pt>
                <c:pt idx="29">
                  <c:v>1.1956468840600006E-3</c:v>
                </c:pt>
                <c:pt idx="30">
                  <c:v>1.165179263481001E-3</c:v>
                </c:pt>
                <c:pt idx="31">
                  <c:v>1.1347116429020001E-3</c:v>
                </c:pt>
                <c:pt idx="32">
                  <c:v>1.1042440223230008E-3</c:v>
                </c:pt>
                <c:pt idx="33">
                  <c:v>1.0737764017440001E-3</c:v>
                </c:pt>
                <c:pt idx="34">
                  <c:v>1.043308781165E-3</c:v>
                </c:pt>
              </c:numCache>
            </c:numRef>
          </c:val>
        </c:ser>
        <c:marker val="1"/>
        <c:axId val="159759744"/>
        <c:axId val="160980992"/>
      </c:lineChart>
      <c:catAx>
        <c:axId val="159759744"/>
        <c:scaling>
          <c:orientation val="minMax"/>
        </c:scaling>
        <c:axPos val="b"/>
        <c:numFmt formatCode="General" sourceLinked="1"/>
        <c:tickLblPos val="nextTo"/>
        <c:txPr>
          <a:bodyPr/>
          <a:lstStyle/>
          <a:p>
            <a:pPr>
              <a:defRPr sz="1800"/>
            </a:pPr>
            <a:endParaRPr lang="zh-TW"/>
          </a:p>
        </c:txPr>
        <c:crossAx val="160980992"/>
        <c:crosses val="autoZero"/>
        <c:lblAlgn val="ctr"/>
        <c:lblOffset val="100"/>
      </c:catAx>
      <c:valAx>
        <c:axId val="160980992"/>
        <c:scaling>
          <c:orientation val="minMax"/>
        </c:scaling>
        <c:axPos val="l"/>
        <c:majorGridlines/>
        <c:numFmt formatCode="0.000000000000_ " sourceLinked="1"/>
        <c:tickLblPos val="nextTo"/>
        <c:txPr>
          <a:bodyPr/>
          <a:lstStyle/>
          <a:p>
            <a:pPr>
              <a:defRPr sz="1800"/>
            </a:pPr>
            <a:endParaRPr lang="zh-TW"/>
          </a:p>
        </c:txPr>
        <c:crossAx val="15975974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84907635525443981"/>
          <c:y val="0.52441690527320395"/>
          <c:w val="0.1390718758457217"/>
          <c:h val="0.14425345979479853"/>
        </c:manualLayout>
      </c:layout>
    </c:legend>
    <c:plotVisOnly val="1"/>
  </c:chart>
  <c:externalData r:id="rId1"/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TW"/>
  <c:chart>
    <c:title/>
    <c:plotArea>
      <c:layout>
        <c:manualLayout>
          <c:layoutTarget val="inner"/>
          <c:xMode val="edge"/>
          <c:yMode val="edge"/>
          <c:x val="0.22231483625979553"/>
          <c:y val="0.13891991544472457"/>
          <c:w val="0.69112401525390965"/>
          <c:h val="0.72412614252364182"/>
        </c:manualLayout>
      </c:layout>
      <c:lineChart>
        <c:grouping val="standard"/>
        <c:ser>
          <c:idx val="0"/>
          <c:order val="0"/>
          <c:tx>
            <c:strRef>
              <c:f>'embedded bond option'!$B$53</c:f>
              <c:strCache>
                <c:ptCount val="1"/>
                <c:pt idx="0">
                  <c:v>Embedded Option Value</c:v>
                </c:pt>
              </c:strCache>
            </c:strRef>
          </c:tx>
          <c:spPr>
            <a:ln>
              <a:solidFill>
                <a:srgbClr val="00B050"/>
              </a:solidFill>
            </a:ln>
          </c:spPr>
          <c:marker>
            <c:spPr>
              <a:ln>
                <a:solidFill>
                  <a:srgbClr val="00B050"/>
                </a:solidFill>
              </a:ln>
            </c:spPr>
          </c:marker>
          <c:cat>
            <c:numRef>
              <c:f>'embedded bond option'!$A$54:$A$74</c:f>
              <c:numCache>
                <c:formatCode>0.00_ </c:formatCode>
                <c:ptCount val="21"/>
                <c:pt idx="0">
                  <c:v>0.1</c:v>
                </c:pt>
                <c:pt idx="1">
                  <c:v>0.11</c:v>
                </c:pt>
                <c:pt idx="2">
                  <c:v>0.12000000000000002</c:v>
                </c:pt>
                <c:pt idx="3">
                  <c:v>0.13</c:v>
                </c:pt>
                <c:pt idx="4">
                  <c:v>0.14000000000000001</c:v>
                </c:pt>
                <c:pt idx="5">
                  <c:v>0.15000000000000008</c:v>
                </c:pt>
                <c:pt idx="6">
                  <c:v>0.16</c:v>
                </c:pt>
                <c:pt idx="7">
                  <c:v>0.17</c:v>
                </c:pt>
                <c:pt idx="8">
                  <c:v>0.18000000000000008</c:v>
                </c:pt>
                <c:pt idx="9">
                  <c:v>0.19</c:v>
                </c:pt>
                <c:pt idx="10">
                  <c:v>0.2</c:v>
                </c:pt>
                <c:pt idx="11">
                  <c:v>0.21000000000000008</c:v>
                </c:pt>
                <c:pt idx="12">
                  <c:v>0.22</c:v>
                </c:pt>
                <c:pt idx="13">
                  <c:v>0.23</c:v>
                </c:pt>
                <c:pt idx="14">
                  <c:v>0.24000000000000007</c:v>
                </c:pt>
                <c:pt idx="15">
                  <c:v>0.25</c:v>
                </c:pt>
                <c:pt idx="16">
                  <c:v>0.26</c:v>
                </c:pt>
                <c:pt idx="17">
                  <c:v>0.27</c:v>
                </c:pt>
                <c:pt idx="18">
                  <c:v>0.28000000000000008</c:v>
                </c:pt>
                <c:pt idx="19">
                  <c:v>0.29000000000000015</c:v>
                </c:pt>
                <c:pt idx="20">
                  <c:v>0.30000000000000016</c:v>
                </c:pt>
              </c:numCache>
            </c:numRef>
          </c:cat>
          <c:val>
            <c:numRef>
              <c:f>'embedded bond option'!$B$54:$B$74</c:f>
              <c:numCache>
                <c:formatCode>0.000000000000_ </c:formatCode>
                <c:ptCount val="21"/>
                <c:pt idx="0">
                  <c:v>2.3422636849789987E-3</c:v>
                </c:pt>
                <c:pt idx="1">
                  <c:v>2.5789654540249998E-3</c:v>
                </c:pt>
                <c:pt idx="2">
                  <c:v>2.8158897956199998E-3</c:v>
                </c:pt>
                <c:pt idx="3">
                  <c:v>3.052980629918E-3</c:v>
                </c:pt>
                <c:pt idx="4">
                  <c:v>3.2901821779220027E-3</c:v>
                </c:pt>
                <c:pt idx="5">
                  <c:v>3.5274389818110027E-3</c:v>
                </c:pt>
                <c:pt idx="6">
                  <c:v>3.7646959253310013E-3</c:v>
                </c:pt>
                <c:pt idx="7">
                  <c:v>4.0018982542400026E-3</c:v>
                </c:pt>
                <c:pt idx="8">
                  <c:v>4.238991596752003E-3</c:v>
                </c:pt>
                <c:pt idx="9">
                  <c:v>4.4759219840000055E-3</c:v>
                </c:pt>
                <c:pt idx="10">
                  <c:v>4.7126358704599972E-3</c:v>
                </c:pt>
                <c:pt idx="11">
                  <c:v>4.9490801543330054E-3</c:v>
                </c:pt>
                <c:pt idx="12">
                  <c:v>5.1852021978530055E-3</c:v>
                </c:pt>
                <c:pt idx="13">
                  <c:v>5.4209498475000003E-3</c:v>
                </c:pt>
                <c:pt idx="14">
                  <c:v>5.6562714541000033E-3</c:v>
                </c:pt>
                <c:pt idx="15">
                  <c:v>5.8911158927730002E-3</c:v>
                </c:pt>
                <c:pt idx="16">
                  <c:v>6.1254325827299998E-3</c:v>
                </c:pt>
                <c:pt idx="17">
                  <c:v>6.359171506867E-3</c:v>
                </c:pt>
                <c:pt idx="18">
                  <c:v>6.5922832311589999E-3</c:v>
                </c:pt>
                <c:pt idx="19">
                  <c:v>6.8247189238119996E-3</c:v>
                </c:pt>
                <c:pt idx="20">
                  <c:v>7.0564303741629999E-3</c:v>
                </c:pt>
              </c:numCache>
            </c:numRef>
          </c:val>
        </c:ser>
        <c:marker val="1"/>
        <c:axId val="160997760"/>
        <c:axId val="160999680"/>
      </c:lineChart>
      <c:catAx>
        <c:axId val="160997760"/>
        <c:scaling>
          <c:orientation val="minMax"/>
        </c:scaling>
        <c:axPos val="b"/>
        <c:numFmt formatCode="0.00_ " sourceLinked="1"/>
        <c:tickLblPos val="nextTo"/>
        <c:txPr>
          <a:bodyPr/>
          <a:lstStyle/>
          <a:p>
            <a:pPr>
              <a:defRPr sz="1800"/>
            </a:pPr>
            <a:endParaRPr lang="zh-TW"/>
          </a:p>
        </c:txPr>
        <c:crossAx val="160999680"/>
        <c:crosses val="autoZero"/>
        <c:auto val="1"/>
        <c:lblAlgn val="ctr"/>
        <c:lblOffset val="100"/>
      </c:catAx>
      <c:valAx>
        <c:axId val="160999680"/>
        <c:scaling>
          <c:orientation val="minMax"/>
        </c:scaling>
        <c:axPos val="l"/>
        <c:majorGridlines/>
        <c:numFmt formatCode="0.000000000000_ " sourceLinked="1"/>
        <c:tickLblPos val="nextTo"/>
        <c:txPr>
          <a:bodyPr/>
          <a:lstStyle/>
          <a:p>
            <a:pPr>
              <a:defRPr sz="1800">
                <a:latin typeface="Times New Roman" pitchFamily="18" charset="0"/>
                <a:cs typeface="Times New Roman" pitchFamily="18" charset="0"/>
              </a:defRPr>
            </a:pPr>
            <a:endParaRPr lang="zh-TW"/>
          </a:p>
        </c:txPr>
        <c:crossAx val="160997760"/>
        <c:crosses val="autoZero"/>
        <c:crossBetween val="between"/>
      </c:valAx>
      <c:spPr>
        <a:ln>
          <a:solidFill>
            <a:srgbClr val="00B050"/>
          </a:solidFill>
        </a:ln>
      </c:spPr>
    </c:plotArea>
    <c:legend>
      <c:legendPos val="r"/>
      <c:layout>
        <c:manualLayout>
          <c:xMode val="edge"/>
          <c:yMode val="edge"/>
          <c:x val="0.83825969413918477"/>
          <c:y val="0.5215948508948951"/>
          <c:w val="0.15135069688779423"/>
          <c:h val="0.10748044685369111"/>
        </c:manualLayout>
      </c:layout>
    </c:legend>
    <c:plotVisOnly val="1"/>
  </c:chart>
  <c:externalData r:id="rId1"/>
  <c:userShapes r:id="rId2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TW"/>
  <c:chart>
    <c:title>
      <c:tx>
        <c:rich>
          <a:bodyPr/>
          <a:lstStyle/>
          <a:p>
            <a:pPr>
              <a:defRPr/>
            </a:pPr>
            <a:r>
              <a:rPr lang="en-US" altLang="en-US" dirty="0"/>
              <a:t>RMSE with 10% Volatility</a:t>
            </a:r>
          </a:p>
        </c:rich>
      </c:tx>
      <c:layout/>
    </c:title>
    <c:plotArea>
      <c:layout>
        <c:manualLayout>
          <c:layoutTarget val="inner"/>
          <c:xMode val="edge"/>
          <c:yMode val="edge"/>
          <c:x val="0.21094675339495628"/>
          <c:y val="0.15041129242222798"/>
          <c:w val="0.6697257103731622"/>
          <c:h val="0.73348194746434181"/>
        </c:manualLayout>
      </c:layout>
      <c:lineChart>
        <c:grouping val="standard"/>
        <c:ser>
          <c:idx val="1"/>
          <c:order val="0"/>
          <c:tx>
            <c:strRef>
              <c:f>'stage vs. RMSE'!$B$2</c:f>
              <c:strCache>
                <c:ptCount val="1"/>
                <c:pt idx="0">
                  <c:v>RMSE</c:v>
                </c:pt>
              </c:strCache>
            </c:strRef>
          </c:tx>
          <c:spPr>
            <a:ln>
              <a:solidFill>
                <a:srgbClr val="FF0000"/>
              </a:solidFill>
            </a:ln>
          </c:spPr>
          <c:marker>
            <c:spPr>
              <a:ln>
                <a:solidFill>
                  <a:srgbClr val="FF0000"/>
                </a:solidFill>
              </a:ln>
            </c:spPr>
          </c:marker>
          <c:cat>
            <c:numRef>
              <c:f>'stage vs. RMSE'!$A$3:$A$28</c:f>
              <c:numCache>
                <c:formatCode>General</c:formatCode>
                <c:ptCount val="26"/>
                <c:pt idx="0">
                  <c:v>25</c:v>
                </c:pt>
                <c:pt idx="1">
                  <c:v>26</c:v>
                </c:pt>
                <c:pt idx="2">
                  <c:v>27</c:v>
                </c:pt>
                <c:pt idx="3">
                  <c:v>28</c:v>
                </c:pt>
                <c:pt idx="4">
                  <c:v>29</c:v>
                </c:pt>
                <c:pt idx="5">
                  <c:v>30</c:v>
                </c:pt>
                <c:pt idx="6">
                  <c:v>31</c:v>
                </c:pt>
                <c:pt idx="7">
                  <c:v>32</c:v>
                </c:pt>
                <c:pt idx="8">
                  <c:v>33</c:v>
                </c:pt>
                <c:pt idx="9">
                  <c:v>34</c:v>
                </c:pt>
                <c:pt idx="10">
                  <c:v>35</c:v>
                </c:pt>
                <c:pt idx="11">
                  <c:v>36</c:v>
                </c:pt>
                <c:pt idx="12">
                  <c:v>37</c:v>
                </c:pt>
                <c:pt idx="13">
                  <c:v>38</c:v>
                </c:pt>
                <c:pt idx="14">
                  <c:v>39</c:v>
                </c:pt>
                <c:pt idx="15">
                  <c:v>40</c:v>
                </c:pt>
                <c:pt idx="16">
                  <c:v>41</c:v>
                </c:pt>
                <c:pt idx="17">
                  <c:v>42</c:v>
                </c:pt>
                <c:pt idx="18">
                  <c:v>43</c:v>
                </c:pt>
                <c:pt idx="19">
                  <c:v>44</c:v>
                </c:pt>
                <c:pt idx="20">
                  <c:v>45</c:v>
                </c:pt>
                <c:pt idx="21">
                  <c:v>46</c:v>
                </c:pt>
                <c:pt idx="22">
                  <c:v>47</c:v>
                </c:pt>
                <c:pt idx="23">
                  <c:v>48</c:v>
                </c:pt>
                <c:pt idx="24">
                  <c:v>49</c:v>
                </c:pt>
                <c:pt idx="25">
                  <c:v>50</c:v>
                </c:pt>
              </c:numCache>
            </c:numRef>
          </c:cat>
          <c:val>
            <c:numRef>
              <c:f>'stage vs. RMSE'!$B$3:$B$28</c:f>
              <c:numCache>
                <c:formatCode>0.000000000000_);[Red]\(0.000000000000\)</c:formatCode>
                <c:ptCount val="26"/>
                <c:pt idx="0">
                  <c:v>6.367122654011273E-6</c:v>
                </c:pt>
                <c:pt idx="1">
                  <c:v>4.5602110683367505E-6</c:v>
                </c:pt>
                <c:pt idx="2">
                  <c:v>5.8209748656704304E-6</c:v>
                </c:pt>
                <c:pt idx="3">
                  <c:v>4.2251333388011424E-6</c:v>
                </c:pt>
                <c:pt idx="4">
                  <c:v>5.3951569801935054E-6</c:v>
                </c:pt>
                <c:pt idx="5">
                  <c:v>4.002792501289924E-6</c:v>
                </c:pt>
                <c:pt idx="6">
                  <c:v>5.0586253185540052E-6</c:v>
                </c:pt>
                <c:pt idx="7">
                  <c:v>3.8593805615430955E-6</c:v>
                </c:pt>
                <c:pt idx="8">
                  <c:v>4.7901505769866398E-6</c:v>
                </c:pt>
                <c:pt idx="9">
                  <c:v>3.6449543812056044E-6</c:v>
                </c:pt>
                <c:pt idx="10">
                  <c:v>4.5752453915305491E-6</c:v>
                </c:pt>
                <c:pt idx="11">
                  <c:v>3.4321203303688011E-6</c:v>
                </c:pt>
                <c:pt idx="12">
                  <c:v>4.4038860988861274E-6</c:v>
                </c:pt>
                <c:pt idx="13">
                  <c:v>3.2705679933495535E-6</c:v>
                </c:pt>
                <c:pt idx="14">
                  <c:v>4.2689906269497228E-6</c:v>
                </c:pt>
                <c:pt idx="15">
                  <c:v>3.1476493253524744E-6</c:v>
                </c:pt>
                <c:pt idx="16">
                  <c:v>4.1654005455309234E-6</c:v>
                </c:pt>
                <c:pt idx="17">
                  <c:v>3.0544820161115527E-6</c:v>
                </c:pt>
                <c:pt idx="18">
                  <c:v>4.0892027570864248E-6</c:v>
                </c:pt>
                <c:pt idx="19">
                  <c:v>2.9848978818369353E-6</c:v>
                </c:pt>
                <c:pt idx="20">
                  <c:v>3.9569096218616733E-6</c:v>
                </c:pt>
                <c:pt idx="21">
                  <c:v>2.8377297870089444E-6</c:v>
                </c:pt>
                <c:pt idx="22">
                  <c:v>3.6535193161798344E-6</c:v>
                </c:pt>
                <c:pt idx="23">
                  <c:v>2.6907536438347923E-6</c:v>
                </c:pt>
                <c:pt idx="24">
                  <c:v>3.3935895738654438E-6</c:v>
                </c:pt>
                <c:pt idx="25">
                  <c:v>2.5690186101798402E-6</c:v>
                </c:pt>
              </c:numCache>
            </c:numRef>
          </c:val>
        </c:ser>
        <c:marker val="1"/>
        <c:axId val="160642176"/>
        <c:axId val="160644096"/>
      </c:lineChart>
      <c:catAx>
        <c:axId val="160642176"/>
        <c:scaling>
          <c:orientation val="minMax"/>
        </c:scaling>
        <c:axPos val="b"/>
        <c:numFmt formatCode="General" sourceLinked="1"/>
        <c:tickLblPos val="nextTo"/>
        <c:txPr>
          <a:bodyPr/>
          <a:lstStyle/>
          <a:p>
            <a:pPr>
              <a:defRPr sz="1800">
                <a:latin typeface="Times New Roman" pitchFamily="18" charset="0"/>
                <a:cs typeface="Times New Roman" pitchFamily="18" charset="0"/>
              </a:defRPr>
            </a:pPr>
            <a:endParaRPr lang="zh-TW"/>
          </a:p>
        </c:txPr>
        <c:crossAx val="160644096"/>
        <c:crosses val="autoZero"/>
        <c:auto val="1"/>
        <c:lblAlgn val="ctr"/>
        <c:lblOffset val="100"/>
      </c:catAx>
      <c:valAx>
        <c:axId val="160644096"/>
        <c:scaling>
          <c:orientation val="minMax"/>
        </c:scaling>
        <c:axPos val="l"/>
        <c:majorGridlines/>
        <c:numFmt formatCode="0.000000000000_);[Red]\(0.000000000000\)" sourceLinked="1"/>
        <c:tickLblPos val="nextTo"/>
        <c:txPr>
          <a:bodyPr/>
          <a:lstStyle/>
          <a:p>
            <a:pPr>
              <a:defRPr sz="1800">
                <a:latin typeface="Times New Roman" pitchFamily="18" charset="0"/>
                <a:cs typeface="Times New Roman" pitchFamily="18" charset="0"/>
              </a:defRPr>
            </a:pPr>
            <a:endParaRPr lang="zh-TW"/>
          </a:p>
        </c:txPr>
        <c:crossAx val="160642176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87139710144927562"/>
          <c:y val="0.52304208622715731"/>
          <c:w val="0.11468985507246364"/>
          <c:h val="6.4639547402419201E-2"/>
        </c:manualLayout>
      </c:layout>
    </c:legend>
    <c:plotVisOnly val="1"/>
  </c:chart>
  <c:externalData r:id="rId1"/>
  <c:userShapes r:id="rId2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TW"/>
  <c:chart>
    <c:title>
      <c:tx>
        <c:rich>
          <a:bodyPr/>
          <a:lstStyle/>
          <a:p>
            <a:pPr>
              <a:defRPr/>
            </a:pPr>
            <a:r>
              <a:rPr lang="en-US" altLang="en-US" dirty="0" smtClean="0"/>
              <a:t>RMSE </a:t>
            </a:r>
            <a:r>
              <a:rPr lang="en-US" sz="1800" b="1" i="0" u="none" strike="noStrike" baseline="0" dirty="0" smtClean="0"/>
              <a:t>with 20% Volatility</a:t>
            </a:r>
            <a:endParaRPr lang="en-US" altLang="en-US" dirty="0"/>
          </a:p>
        </c:rich>
      </c:tx>
      <c:layout/>
    </c:title>
    <c:plotArea>
      <c:layout>
        <c:manualLayout>
          <c:layoutTarget val="inner"/>
          <c:xMode val="edge"/>
          <c:yMode val="edge"/>
          <c:x val="0.21131443935361741"/>
          <c:y val="0.1416752830138657"/>
          <c:w val="0.65753573486241068"/>
          <c:h val="0.74896153132373666"/>
        </c:manualLayout>
      </c:layout>
      <c:lineChart>
        <c:grouping val="standard"/>
        <c:ser>
          <c:idx val="0"/>
          <c:order val="0"/>
          <c:tx>
            <c:strRef>
              <c:f>'stage vs. RMSE'!$B$30</c:f>
              <c:strCache>
                <c:ptCount val="1"/>
                <c:pt idx="0">
                  <c:v>RMSE</c:v>
                </c:pt>
              </c:strCache>
            </c:strRef>
          </c:tx>
          <c:cat>
            <c:numRef>
              <c:f>'stage vs. RMSE'!$A$31:$A$56</c:f>
              <c:numCache>
                <c:formatCode>General</c:formatCode>
                <c:ptCount val="26"/>
                <c:pt idx="0">
                  <c:v>25</c:v>
                </c:pt>
                <c:pt idx="1">
                  <c:v>26</c:v>
                </c:pt>
                <c:pt idx="2">
                  <c:v>27</c:v>
                </c:pt>
                <c:pt idx="3">
                  <c:v>28</c:v>
                </c:pt>
                <c:pt idx="4">
                  <c:v>29</c:v>
                </c:pt>
                <c:pt idx="5">
                  <c:v>30</c:v>
                </c:pt>
                <c:pt idx="6">
                  <c:v>31</c:v>
                </c:pt>
                <c:pt idx="7">
                  <c:v>32</c:v>
                </c:pt>
                <c:pt idx="8">
                  <c:v>33</c:v>
                </c:pt>
                <c:pt idx="9">
                  <c:v>34</c:v>
                </c:pt>
                <c:pt idx="10">
                  <c:v>35</c:v>
                </c:pt>
                <c:pt idx="11">
                  <c:v>36</c:v>
                </c:pt>
                <c:pt idx="12">
                  <c:v>37</c:v>
                </c:pt>
                <c:pt idx="13">
                  <c:v>38</c:v>
                </c:pt>
                <c:pt idx="14">
                  <c:v>39</c:v>
                </c:pt>
                <c:pt idx="15">
                  <c:v>40</c:v>
                </c:pt>
                <c:pt idx="16">
                  <c:v>41</c:v>
                </c:pt>
                <c:pt idx="17">
                  <c:v>42</c:v>
                </c:pt>
                <c:pt idx="18">
                  <c:v>43</c:v>
                </c:pt>
                <c:pt idx="19">
                  <c:v>44</c:v>
                </c:pt>
                <c:pt idx="20">
                  <c:v>45</c:v>
                </c:pt>
                <c:pt idx="21">
                  <c:v>46</c:v>
                </c:pt>
                <c:pt idx="22">
                  <c:v>47</c:v>
                </c:pt>
                <c:pt idx="23">
                  <c:v>48</c:v>
                </c:pt>
                <c:pt idx="24">
                  <c:v>49</c:v>
                </c:pt>
                <c:pt idx="25">
                  <c:v>50</c:v>
                </c:pt>
              </c:numCache>
            </c:numRef>
          </c:cat>
          <c:val>
            <c:numRef>
              <c:f>'stage vs. RMSE'!$B$31:$B$56</c:f>
              <c:numCache>
                <c:formatCode>0.000000000000_);[Red]\(0.000000000000\)</c:formatCode>
                <c:ptCount val="26"/>
                <c:pt idx="0">
                  <c:v>1.2004535510570609E-5</c:v>
                </c:pt>
                <c:pt idx="1">
                  <c:v>1.11316479348802E-5</c:v>
                </c:pt>
                <c:pt idx="2">
                  <c:v>1.0156422044186407E-5</c:v>
                </c:pt>
                <c:pt idx="3">
                  <c:v>9.8687362144710184E-6</c:v>
                </c:pt>
                <c:pt idx="4">
                  <c:v>9.0015442442699199E-6</c:v>
                </c:pt>
                <c:pt idx="5">
                  <c:v>9.1289273406275003E-6</c:v>
                </c:pt>
                <c:pt idx="6">
                  <c:v>8.4096553118107108E-6</c:v>
                </c:pt>
                <c:pt idx="7">
                  <c:v>8.7949602580129055E-6</c:v>
                </c:pt>
                <c:pt idx="8">
                  <c:v>7.7013364201077102E-6</c:v>
                </c:pt>
                <c:pt idx="9">
                  <c:v>8.339911078934507E-6</c:v>
                </c:pt>
                <c:pt idx="10">
                  <c:v>7.4862452871844093E-6</c:v>
                </c:pt>
                <c:pt idx="11">
                  <c:v>8.0395913201208055E-6</c:v>
                </c:pt>
                <c:pt idx="12">
                  <c:v>7.0140971148063074E-6</c:v>
                </c:pt>
                <c:pt idx="13">
                  <c:v>7.623741950945904E-6</c:v>
                </c:pt>
                <c:pt idx="14">
                  <c:v>6.2679617453499055E-6</c:v>
                </c:pt>
                <c:pt idx="15">
                  <c:v>7.4991520353710105E-6</c:v>
                </c:pt>
                <c:pt idx="16">
                  <c:v>5.825887705701706E-6</c:v>
                </c:pt>
                <c:pt idx="17">
                  <c:v>7.5810194415164076E-6</c:v>
                </c:pt>
                <c:pt idx="18">
                  <c:v>5.607479580236103E-6</c:v>
                </c:pt>
                <c:pt idx="19">
                  <c:v>7.8144329344764022E-6</c:v>
                </c:pt>
                <c:pt idx="20">
                  <c:v>5.4045366066962023E-6</c:v>
                </c:pt>
                <c:pt idx="21">
                  <c:v>7.2303898448939089E-6</c:v>
                </c:pt>
                <c:pt idx="22">
                  <c:v>4.9549304137633053E-6</c:v>
                </c:pt>
                <c:pt idx="23">
                  <c:v>6.5738482965336108E-6</c:v>
                </c:pt>
                <c:pt idx="24">
                  <c:v>4.6830225818045063E-6</c:v>
                </c:pt>
                <c:pt idx="25">
                  <c:v>6.0911019588033054E-6</c:v>
                </c:pt>
              </c:numCache>
            </c:numRef>
          </c:val>
        </c:ser>
        <c:marker val="1"/>
        <c:axId val="161006720"/>
        <c:axId val="160662272"/>
      </c:lineChart>
      <c:catAx>
        <c:axId val="161006720"/>
        <c:scaling>
          <c:orientation val="minMax"/>
        </c:scaling>
        <c:axPos val="b"/>
        <c:numFmt formatCode="General" sourceLinked="1"/>
        <c:tickLblPos val="nextTo"/>
        <c:txPr>
          <a:bodyPr/>
          <a:lstStyle/>
          <a:p>
            <a:pPr>
              <a:defRPr sz="1800">
                <a:latin typeface="Times New Roman" pitchFamily="18" charset="0"/>
                <a:cs typeface="Times New Roman" pitchFamily="18" charset="0"/>
              </a:defRPr>
            </a:pPr>
            <a:endParaRPr lang="zh-TW"/>
          </a:p>
        </c:txPr>
        <c:crossAx val="160662272"/>
        <c:crosses val="autoZero"/>
        <c:auto val="1"/>
        <c:lblAlgn val="ctr"/>
        <c:lblOffset val="100"/>
      </c:catAx>
      <c:valAx>
        <c:axId val="160662272"/>
        <c:scaling>
          <c:orientation val="minMax"/>
        </c:scaling>
        <c:axPos val="l"/>
        <c:majorGridlines/>
        <c:numFmt formatCode="0.000000000000_);[Red]\(0.000000000000\)" sourceLinked="1"/>
        <c:tickLblPos val="nextTo"/>
        <c:txPr>
          <a:bodyPr/>
          <a:lstStyle/>
          <a:p>
            <a:pPr>
              <a:defRPr sz="1800">
                <a:latin typeface="Times New Roman" pitchFamily="18" charset="0"/>
                <a:cs typeface="Times New Roman" pitchFamily="18" charset="0"/>
              </a:defRPr>
            </a:pPr>
            <a:endParaRPr lang="zh-TW"/>
          </a:p>
        </c:txPr>
        <c:crossAx val="161006720"/>
        <c:crosses val="autoZero"/>
        <c:crossBetween val="between"/>
      </c:valAx>
    </c:plotArea>
    <c:legend>
      <c:legendPos val="r"/>
      <c:layout/>
    </c:legend>
    <c:plotVisOnly val="1"/>
  </c:chart>
  <c:externalData r:id="rId1"/>
  <c:userShapes r:id="rId2"/>
</c:chartSpace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5" Type="http://schemas.openxmlformats.org/officeDocument/2006/relationships/image" Target="../media/image16.wmf"/><Relationship Id="rId4" Type="http://schemas.openxmlformats.org/officeDocument/2006/relationships/image" Target="../media/image15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image" Target="../media/image21.wmf"/><Relationship Id="rId7" Type="http://schemas.openxmlformats.org/officeDocument/2006/relationships/image" Target="../media/image25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6" Type="http://schemas.openxmlformats.org/officeDocument/2006/relationships/image" Target="../media/image24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6" Type="http://schemas.openxmlformats.org/officeDocument/2006/relationships/image" Target="../media/image32.wmf"/><Relationship Id="rId5" Type="http://schemas.openxmlformats.org/officeDocument/2006/relationships/image" Target="../media/image31.wmf"/><Relationship Id="rId4" Type="http://schemas.openxmlformats.org/officeDocument/2006/relationships/image" Target="../media/image30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7" Type="http://schemas.openxmlformats.org/officeDocument/2006/relationships/image" Target="../media/image42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Relationship Id="rId6" Type="http://schemas.openxmlformats.org/officeDocument/2006/relationships/image" Target="../media/image41.wmf"/><Relationship Id="rId5" Type="http://schemas.openxmlformats.org/officeDocument/2006/relationships/image" Target="../media/image40.wmf"/><Relationship Id="rId4" Type="http://schemas.openxmlformats.org/officeDocument/2006/relationships/image" Target="../media/image39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3" Type="http://schemas.openxmlformats.org/officeDocument/2006/relationships/image" Target="../media/image56.wmf"/><Relationship Id="rId7" Type="http://schemas.openxmlformats.org/officeDocument/2006/relationships/image" Target="../media/image60.wmf"/><Relationship Id="rId2" Type="http://schemas.openxmlformats.org/officeDocument/2006/relationships/image" Target="../media/image55.wmf"/><Relationship Id="rId1" Type="http://schemas.openxmlformats.org/officeDocument/2006/relationships/image" Target="../media/image54.wmf"/><Relationship Id="rId6" Type="http://schemas.openxmlformats.org/officeDocument/2006/relationships/image" Target="../media/image59.wmf"/><Relationship Id="rId5" Type="http://schemas.openxmlformats.org/officeDocument/2006/relationships/image" Target="../media/image58.wmf"/><Relationship Id="rId4" Type="http://schemas.openxmlformats.org/officeDocument/2006/relationships/image" Target="../media/image57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63.wmf"/><Relationship Id="rId1" Type="http://schemas.openxmlformats.org/officeDocument/2006/relationships/image" Target="../media/image62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65.wmf"/><Relationship Id="rId1" Type="http://schemas.openxmlformats.org/officeDocument/2006/relationships/image" Target="../media/image64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73.wmf"/><Relationship Id="rId3" Type="http://schemas.openxmlformats.org/officeDocument/2006/relationships/image" Target="../media/image68.wmf"/><Relationship Id="rId7" Type="http://schemas.openxmlformats.org/officeDocument/2006/relationships/image" Target="../media/image72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Relationship Id="rId6" Type="http://schemas.openxmlformats.org/officeDocument/2006/relationships/image" Target="../media/image71.wmf"/><Relationship Id="rId5" Type="http://schemas.openxmlformats.org/officeDocument/2006/relationships/image" Target="../media/image70.wmf"/><Relationship Id="rId4" Type="http://schemas.openxmlformats.org/officeDocument/2006/relationships/image" Target="../media/image69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6.wmf"/><Relationship Id="rId2" Type="http://schemas.openxmlformats.org/officeDocument/2006/relationships/image" Target="../media/image75.wmf"/><Relationship Id="rId1" Type="http://schemas.openxmlformats.org/officeDocument/2006/relationships/image" Target="../media/image74.wmf"/><Relationship Id="rId6" Type="http://schemas.openxmlformats.org/officeDocument/2006/relationships/image" Target="../media/image79.wmf"/><Relationship Id="rId5" Type="http://schemas.openxmlformats.org/officeDocument/2006/relationships/image" Target="../media/image78.wmf"/><Relationship Id="rId4" Type="http://schemas.openxmlformats.org/officeDocument/2006/relationships/image" Target="../media/image77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3.wmf"/><Relationship Id="rId2" Type="http://schemas.openxmlformats.org/officeDocument/2006/relationships/image" Target="../media/image82.wmf"/><Relationship Id="rId1" Type="http://schemas.openxmlformats.org/officeDocument/2006/relationships/image" Target="../media/image81.wmf"/><Relationship Id="rId4" Type="http://schemas.openxmlformats.org/officeDocument/2006/relationships/image" Target="../media/image84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7.wmf"/><Relationship Id="rId2" Type="http://schemas.openxmlformats.org/officeDocument/2006/relationships/image" Target="../media/image86.wmf"/><Relationship Id="rId1" Type="http://schemas.openxmlformats.org/officeDocument/2006/relationships/image" Target="../media/image85.wmf"/><Relationship Id="rId6" Type="http://schemas.openxmlformats.org/officeDocument/2006/relationships/image" Target="../media/image90.wmf"/><Relationship Id="rId5" Type="http://schemas.openxmlformats.org/officeDocument/2006/relationships/image" Target="../media/image89.wmf"/><Relationship Id="rId4" Type="http://schemas.openxmlformats.org/officeDocument/2006/relationships/image" Target="../media/image88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98.wmf"/><Relationship Id="rId3" Type="http://schemas.openxmlformats.org/officeDocument/2006/relationships/image" Target="../media/image93.wmf"/><Relationship Id="rId7" Type="http://schemas.openxmlformats.org/officeDocument/2006/relationships/image" Target="../media/image97.wmf"/><Relationship Id="rId2" Type="http://schemas.openxmlformats.org/officeDocument/2006/relationships/image" Target="../media/image92.wmf"/><Relationship Id="rId1" Type="http://schemas.openxmlformats.org/officeDocument/2006/relationships/image" Target="../media/image91.wmf"/><Relationship Id="rId6" Type="http://schemas.openxmlformats.org/officeDocument/2006/relationships/image" Target="../media/image96.wmf"/><Relationship Id="rId5" Type="http://schemas.openxmlformats.org/officeDocument/2006/relationships/image" Target="../media/image95.wmf"/><Relationship Id="rId4" Type="http://schemas.openxmlformats.org/officeDocument/2006/relationships/image" Target="../media/image94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wmf"/><Relationship Id="rId2" Type="http://schemas.openxmlformats.org/officeDocument/2006/relationships/image" Target="../media/image101.wmf"/><Relationship Id="rId1" Type="http://schemas.openxmlformats.org/officeDocument/2006/relationships/image" Target="../media/image100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3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wmf"/><Relationship Id="rId13" Type="http://schemas.openxmlformats.org/officeDocument/2006/relationships/image" Target="../media/image116.wmf"/><Relationship Id="rId3" Type="http://schemas.openxmlformats.org/officeDocument/2006/relationships/image" Target="../media/image106.wmf"/><Relationship Id="rId7" Type="http://schemas.openxmlformats.org/officeDocument/2006/relationships/image" Target="../media/image110.wmf"/><Relationship Id="rId12" Type="http://schemas.openxmlformats.org/officeDocument/2006/relationships/image" Target="../media/image115.wmf"/><Relationship Id="rId2" Type="http://schemas.openxmlformats.org/officeDocument/2006/relationships/image" Target="../media/image105.wmf"/><Relationship Id="rId1" Type="http://schemas.openxmlformats.org/officeDocument/2006/relationships/image" Target="../media/image104.wmf"/><Relationship Id="rId6" Type="http://schemas.openxmlformats.org/officeDocument/2006/relationships/image" Target="../media/image109.wmf"/><Relationship Id="rId11" Type="http://schemas.openxmlformats.org/officeDocument/2006/relationships/image" Target="../media/image114.wmf"/><Relationship Id="rId5" Type="http://schemas.openxmlformats.org/officeDocument/2006/relationships/image" Target="../media/image108.wmf"/><Relationship Id="rId10" Type="http://schemas.openxmlformats.org/officeDocument/2006/relationships/image" Target="../media/image113.wmf"/><Relationship Id="rId4" Type="http://schemas.openxmlformats.org/officeDocument/2006/relationships/image" Target="../media/image107.wmf"/><Relationship Id="rId9" Type="http://schemas.openxmlformats.org/officeDocument/2006/relationships/image" Target="../media/image112.wmf"/><Relationship Id="rId14" Type="http://schemas.openxmlformats.org/officeDocument/2006/relationships/image" Target="../media/image117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wmf"/><Relationship Id="rId7" Type="http://schemas.openxmlformats.org/officeDocument/2006/relationships/image" Target="../media/image125.wmf"/><Relationship Id="rId2" Type="http://schemas.openxmlformats.org/officeDocument/2006/relationships/image" Target="../media/image120.wmf"/><Relationship Id="rId1" Type="http://schemas.openxmlformats.org/officeDocument/2006/relationships/image" Target="../media/image119.wmf"/><Relationship Id="rId6" Type="http://schemas.openxmlformats.org/officeDocument/2006/relationships/image" Target="../media/image124.wmf"/><Relationship Id="rId5" Type="http://schemas.openxmlformats.org/officeDocument/2006/relationships/image" Target="../media/image123.wmf"/><Relationship Id="rId4" Type="http://schemas.openxmlformats.org/officeDocument/2006/relationships/image" Target="../media/image122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wmf"/><Relationship Id="rId2" Type="http://schemas.openxmlformats.org/officeDocument/2006/relationships/image" Target="../media/image127.wmf"/><Relationship Id="rId1" Type="http://schemas.openxmlformats.org/officeDocument/2006/relationships/image" Target="../media/image126.wmf"/><Relationship Id="rId4" Type="http://schemas.openxmlformats.org/officeDocument/2006/relationships/image" Target="../media/image129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wmf"/><Relationship Id="rId2" Type="http://schemas.openxmlformats.org/officeDocument/2006/relationships/image" Target="../media/image131.wmf"/><Relationship Id="rId1" Type="http://schemas.openxmlformats.org/officeDocument/2006/relationships/image" Target="../media/image130.w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3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wmf"/><Relationship Id="rId2" Type="http://schemas.openxmlformats.org/officeDocument/2006/relationships/image" Target="../media/image135.wmf"/><Relationship Id="rId1" Type="http://schemas.openxmlformats.org/officeDocument/2006/relationships/image" Target="../media/image134.wmf"/><Relationship Id="rId5" Type="http://schemas.openxmlformats.org/officeDocument/2006/relationships/image" Target="../media/image138.wmf"/><Relationship Id="rId4" Type="http://schemas.openxmlformats.org/officeDocument/2006/relationships/image" Target="../media/image137.w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9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wmf"/><Relationship Id="rId2" Type="http://schemas.openxmlformats.org/officeDocument/2006/relationships/image" Target="../media/image141.wmf"/><Relationship Id="rId1" Type="http://schemas.openxmlformats.org/officeDocument/2006/relationships/image" Target="../media/image140.wmf"/><Relationship Id="rId4" Type="http://schemas.openxmlformats.org/officeDocument/2006/relationships/image" Target="../media/image143.wmf"/></Relationships>
</file>

<file path=ppt/drawings/_rels/vmlDrawing3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wmf"/><Relationship Id="rId1" Type="http://schemas.openxmlformats.org/officeDocument/2006/relationships/image" Target="../media/image144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wmf"/><Relationship Id="rId7" Type="http://schemas.openxmlformats.org/officeDocument/2006/relationships/image" Target="../media/image152.wmf"/><Relationship Id="rId2" Type="http://schemas.openxmlformats.org/officeDocument/2006/relationships/image" Target="../media/image147.wmf"/><Relationship Id="rId1" Type="http://schemas.openxmlformats.org/officeDocument/2006/relationships/image" Target="../media/image146.wmf"/><Relationship Id="rId6" Type="http://schemas.openxmlformats.org/officeDocument/2006/relationships/image" Target="../media/image151.wmf"/><Relationship Id="rId5" Type="http://schemas.openxmlformats.org/officeDocument/2006/relationships/image" Target="../media/image150.wmf"/><Relationship Id="rId4" Type="http://schemas.openxmlformats.org/officeDocument/2006/relationships/image" Target="../media/image149.wmf"/></Relationships>
</file>

<file path=ppt/drawings/_rels/vmlDrawing3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3.wmf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0.55833</cdr:x>
      <cdr:y>0.96552</cdr:y>
    </cdr:from>
    <cdr:to>
      <cdr:x>0.69774</cdr:x>
      <cdr:y>1</cdr:y>
    </cdr:to>
    <cdr:sp macro="" textlink="">
      <cdr:nvSpPr>
        <cdr:cNvPr id="2" name="文字方塊 1"/>
        <cdr:cNvSpPr txBox="1"/>
      </cdr:nvSpPr>
      <cdr:spPr>
        <a:xfrm xmlns:a="http://schemas.openxmlformats.org/drawingml/2006/main">
          <a:off x="4786346" y="6000792"/>
          <a:ext cx="1195100" cy="21431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r>
            <a:rPr lang="en-US" altLang="zh-TW" sz="1600" dirty="0" smtClean="0">
              <a:latin typeface="Times New Roman" pitchFamily="18" charset="0"/>
              <a:cs typeface="Times New Roman" pitchFamily="18" charset="0"/>
            </a:rPr>
            <a:t>strike price</a:t>
          </a:r>
          <a:endParaRPr lang="en-US" altLang="zh-TW" sz="1600" dirty="0">
            <a:latin typeface="Times New Roman" pitchFamily="18" charset="0"/>
            <a:cs typeface="Times New Roman" pitchFamily="18" charset="0"/>
          </a:endParaRP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0.90083</cdr:x>
      <cdr:y>0.91708</cdr:y>
    </cdr:from>
    <cdr:to>
      <cdr:x>1</cdr:x>
      <cdr:y>1</cdr:y>
    </cdr:to>
    <cdr:sp macro="" textlink="">
      <cdr:nvSpPr>
        <cdr:cNvPr id="2" name="文字方塊 1"/>
        <cdr:cNvSpPr txBox="1"/>
      </cdr:nvSpPr>
      <cdr:spPr>
        <a:xfrm xmlns:a="http://schemas.openxmlformats.org/drawingml/2006/main">
          <a:off x="7786742" y="5699749"/>
          <a:ext cx="857256" cy="515357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r>
            <a:rPr lang="en-US" altLang="zh-TW" sz="1400" dirty="0">
              <a:latin typeface="Times New Roman" pitchFamily="18" charset="0"/>
              <a:cs typeface="Times New Roman" pitchFamily="18" charset="0"/>
            </a:rPr>
            <a:t>volatility</a:t>
          </a:r>
          <a:endParaRPr lang="zh-TW" altLang="en-US" sz="1400" dirty="0">
            <a:latin typeface="Times New Roman" pitchFamily="18" charset="0"/>
            <a:cs typeface="Times New Roman" pitchFamily="18" charset="0"/>
          </a:endParaRPr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0.89043</cdr:x>
      <cdr:y>0.89812</cdr:y>
    </cdr:from>
    <cdr:to>
      <cdr:x>0.98435</cdr:x>
      <cdr:y>0.95442</cdr:y>
    </cdr:to>
    <cdr:sp macro="" textlink="">
      <cdr:nvSpPr>
        <cdr:cNvPr id="2" name="文字方塊 1"/>
        <cdr:cNvSpPr txBox="1"/>
      </cdr:nvSpPr>
      <cdr:spPr>
        <a:xfrm xmlns:a="http://schemas.openxmlformats.org/drawingml/2006/main">
          <a:off x="4876801" y="3190876"/>
          <a:ext cx="514350" cy="20002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r>
            <a:rPr lang="en-US" altLang="zh-TW" sz="1800" dirty="0">
              <a:latin typeface="Times New Roman" pitchFamily="18" charset="0"/>
              <a:cs typeface="Times New Roman" pitchFamily="18" charset="0"/>
            </a:rPr>
            <a:t>stage</a:t>
          </a:r>
          <a:endParaRPr lang="zh-TW" altLang="en-US" sz="1800" dirty="0">
            <a:latin typeface="Times New Roman" pitchFamily="18" charset="0"/>
            <a:cs typeface="Times New Roman" pitchFamily="18" charset="0"/>
          </a:endParaRPr>
        </a:p>
      </cdr:txBody>
    </cdr: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0.88153</cdr:x>
      <cdr:y>0.90152</cdr:y>
    </cdr:from>
    <cdr:to>
      <cdr:x>0.98258</cdr:x>
      <cdr:y>0.97475</cdr:y>
    </cdr:to>
    <cdr:sp macro="" textlink="">
      <cdr:nvSpPr>
        <cdr:cNvPr id="2" name="文字方塊 1"/>
        <cdr:cNvSpPr txBox="1"/>
      </cdr:nvSpPr>
      <cdr:spPr>
        <a:xfrm xmlns:a="http://schemas.openxmlformats.org/drawingml/2006/main">
          <a:off x="4819650" y="3400425"/>
          <a:ext cx="552450" cy="27622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r>
            <a:rPr lang="en-US" altLang="zh-TW" sz="1200">
              <a:latin typeface="Times New Roman" pitchFamily="18" charset="0"/>
              <a:cs typeface="Times New Roman" pitchFamily="18" charset="0"/>
            </a:rPr>
            <a:t>stage</a:t>
          </a:r>
          <a:endParaRPr lang="zh-TW" altLang="en-US" sz="1200">
            <a:latin typeface="Times New Roman" pitchFamily="18" charset="0"/>
            <a:cs typeface="Times New Roman" pitchFamily="18" charset="0"/>
          </a:endParaRP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E0827EB-EC5E-4D9A-A65D-22E8D92BE71F}" type="datetimeFigureOut">
              <a:rPr lang="zh-TW" altLang="en-US"/>
              <a:pPr>
                <a:defRPr/>
              </a:pPr>
              <a:t>2008/7/31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 smtClean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3858653-2FDA-43C7-BBB4-A7929FF2EEBE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PMingLiU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PMingLiU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PMingLiU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PMingLiU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PMingLiU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9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TW" altLang="en-US" smtClean="0"/>
          </a:p>
        </p:txBody>
      </p:sp>
      <p:sp>
        <p:nvSpPr>
          <p:cNvPr id="65540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F6999DF-B425-45F1-81C3-EFCFDC7C94BA}" type="slidenum">
              <a:rPr lang="zh-TW" altLang="en-US" smtClean="0"/>
              <a:pPr/>
              <a:t>1</a:t>
            </a:fld>
            <a:endParaRPr lang="zh-TW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直線接點 3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kumimoji="0" lang="en-US" altLang="zh-TW">
              <a:latin typeface="Franklin Gothic Book" pitchFamily="34" charset="0"/>
            </a:endParaRPr>
          </a:p>
        </p:txBody>
      </p:sp>
      <p:sp>
        <p:nvSpPr>
          <p:cNvPr id="29" name="標題 28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TW" altLang="en-US" smtClean="0"/>
              <a:t>按一下以編輯母片副標題樣式</a:t>
            </a:r>
            <a:endParaRPr lang="en-US"/>
          </a:p>
        </p:txBody>
      </p:sp>
      <p:sp>
        <p:nvSpPr>
          <p:cNvPr id="5" name="日期版面配置區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0BAF63-E101-4753-BDF4-98CFAE9FDB11}" type="datetime1">
              <a:rPr lang="zh-TW" altLang="en-US"/>
              <a:pPr>
                <a:defRPr/>
              </a:pPr>
              <a:t>2008/7/31</a:t>
            </a:fld>
            <a:endParaRPr lang="zh-TW" altLang="en-US"/>
          </a:p>
        </p:txBody>
      </p:sp>
      <p:sp>
        <p:nvSpPr>
          <p:cNvPr id="6" name="頁尾版面配置區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14"/>
          <p:cNvSpPr>
            <a:spLocks noGrp="1"/>
          </p:cNvSpPr>
          <p:nvPr>
            <p:ph type="sldNum" sz="quarter" idx="12"/>
          </p:nvPr>
        </p:nvSpPr>
        <p:spPr>
          <a:xfrm>
            <a:off x="8229600" y="6473825"/>
            <a:ext cx="758825" cy="2476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76F660-F7BC-4DB7-990B-301E38B2263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標題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27" name="內容版面配置區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2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EBAE5-257C-4BF9-B768-F616AFFF55E2}" type="datetime1">
              <a:rPr lang="zh-TW" altLang="en-US"/>
              <a:pPr>
                <a:defRPr/>
              </a:pPr>
              <a:t>2008/7/31</a:t>
            </a:fld>
            <a:endParaRPr lang="zh-TW" altLang="en-US"/>
          </a:p>
        </p:txBody>
      </p:sp>
      <p:sp>
        <p:nvSpPr>
          <p:cNvPr id="5" name="頁尾版面配置區 18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15"/>
          <p:cNvSpPr>
            <a:spLocks noGrp="1"/>
          </p:cNvSpPr>
          <p:nvPr>
            <p:ph type="sldNum" sz="quarter" idx="12"/>
          </p:nvPr>
        </p:nvSpPr>
        <p:spPr>
          <a:xfrm>
            <a:off x="8229600" y="6473825"/>
            <a:ext cx="758825" cy="2476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8BB2C4-95FC-4B4A-B67D-2F899AC561B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直線接點 3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kumimoji="0" lang="en-US" altLang="zh-TW">
              <a:latin typeface="Franklin Gothic Book" pitchFamily="34" charset="0"/>
            </a:endParaRPr>
          </a:p>
        </p:txBody>
      </p:sp>
      <p:sp>
        <p:nvSpPr>
          <p:cNvPr id="6" name="文字版面配置區 5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8" name="標題 7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5" name="日期版面配置區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4967DE-DA86-4CB8-BF42-AADCE375DC4E}" type="datetime1">
              <a:rPr lang="zh-TW" altLang="en-US"/>
              <a:pPr>
                <a:defRPr/>
              </a:pPr>
              <a:t>2008/7/31</a:t>
            </a:fld>
            <a:endParaRPr lang="zh-TW" altLang="en-US"/>
          </a:p>
        </p:txBody>
      </p:sp>
      <p:sp>
        <p:nvSpPr>
          <p:cNvPr id="7" name="頁尾版面配置區 10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B7A638-C2CA-44F2-B40F-720E036B222C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標題 1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14" name="內容版面配置區 13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13" name="內容版面配置區 1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日期版面配置區 10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CACA9E-D36F-4FA9-8A9F-2E371F381F3B}" type="datetime1">
              <a:rPr lang="zh-TW" altLang="en-US"/>
              <a:pPr>
                <a:defRPr/>
              </a:pPr>
              <a:t>2008/7/31</a:t>
            </a:fld>
            <a:endParaRPr lang="zh-TW" altLang="en-US"/>
          </a:p>
        </p:txBody>
      </p:sp>
      <p:sp>
        <p:nvSpPr>
          <p:cNvPr id="6" name="頁尾版面配置區 2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6D1241-E7B5-4578-8B73-5B1AA170715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線接點 6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kumimoji="0" lang="en-US" altLang="zh-TW">
              <a:latin typeface="Franklin Gothic Book" pitchFamily="34" charset="0"/>
            </a:endParaRPr>
          </a:p>
        </p:txBody>
      </p:sp>
      <p:sp>
        <p:nvSpPr>
          <p:cNvPr id="29" name="標題 28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25" name="文字版面配置區 24"/>
          <p:cNvSpPr>
            <a:spLocks noGrp="1"/>
          </p:cNvSpPr>
          <p:nvPr>
            <p:ph type="body" sz="half" idx="3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28" name="內容版面配置區 27"/>
          <p:cNvSpPr>
            <a:spLocks noGrp="1"/>
          </p:cNvSpPr>
          <p:nvPr>
            <p:ph sz="quarter" idx="4"/>
          </p:nvPr>
        </p:nvSpPr>
        <p:spPr>
          <a:xfrm>
            <a:off x="4648730" y="1316037"/>
            <a:ext cx="428853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8" name="日期版面配置區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36BF6A-0DB3-41BD-B42C-78B0AB2773FA}" type="datetime1">
              <a:rPr lang="zh-TW" altLang="en-US"/>
              <a:pPr>
                <a:defRPr/>
              </a:pPr>
              <a:t>2008/7/31</a:t>
            </a:fld>
            <a:endParaRPr lang="zh-TW" altLang="en-US"/>
          </a:p>
        </p:txBody>
      </p:sp>
      <p:sp>
        <p:nvSpPr>
          <p:cNvPr id="9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10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76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E2E200-C6A6-4144-A997-EC93C502651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標題 2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日期版面配置區 10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D09F21-44A8-4385-87E6-45D70DD53371}" type="datetime1">
              <a:rPr lang="zh-TW" altLang="en-US"/>
              <a:pPr>
                <a:defRPr/>
              </a:pPr>
              <a:t>2008/7/31</a:t>
            </a:fld>
            <a:endParaRPr lang="zh-TW" altLang="en-US"/>
          </a:p>
        </p:txBody>
      </p:sp>
      <p:sp>
        <p:nvSpPr>
          <p:cNvPr id="4" name="頁尾版面配置區 2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779323-F4A0-4AA6-8678-796B0793F18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F93B2B-DDC2-4F86-9113-12386C6C9C42}" type="datetime1">
              <a:rPr lang="zh-TW" altLang="en-US"/>
              <a:pPr>
                <a:defRPr/>
              </a:pPr>
              <a:t>2008/7/31</a:t>
            </a:fld>
            <a:endParaRPr lang="zh-TW" altLang="en-US"/>
          </a:p>
        </p:txBody>
      </p:sp>
      <p:sp>
        <p:nvSpPr>
          <p:cNvPr id="3" name="頁尾版面配置區 2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F4B5DD-57F7-4678-9499-93AC5AEC1E4F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直線接點 4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kumimoji="0" lang="en-US" altLang="zh-TW">
              <a:latin typeface="Franklin Gothic Book" pitchFamily="34" charset="0"/>
            </a:endParaRPr>
          </a:p>
        </p:txBody>
      </p:sp>
      <p:sp>
        <p:nvSpPr>
          <p:cNvPr id="12" name="標題 11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/>
          <a:lstStyle>
            <a:lvl1pPr algn="l">
              <a:buNone/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26" name="文字版面配置區 25"/>
          <p:cNvSpPr>
            <a:spLocks noGrp="1"/>
          </p:cNvSpPr>
          <p:nvPr>
            <p:ph type="body" idx="2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14" name="內容版面配置區 13"/>
          <p:cNvSpPr>
            <a:spLocks noGrp="1"/>
          </p:cNvSpPr>
          <p:nvPr>
            <p:ph sz="half" idx="1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6" name="日期版面配置區 2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245279-3CA3-473E-8CC3-225D927CB1FB}" type="datetime1">
              <a:rPr lang="zh-TW" altLang="en-US"/>
              <a:pPr>
                <a:defRPr/>
              </a:pPr>
              <a:t>2008/7/31</a:t>
            </a:fld>
            <a:endParaRPr lang="zh-TW" altLang="en-US"/>
          </a:p>
        </p:txBody>
      </p:sp>
      <p:sp>
        <p:nvSpPr>
          <p:cNvPr id="7" name="頁尾版面配置區 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8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092BD8-5E95-4DAF-9F54-7C655A87A4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圖片版面配置區 12"/>
          <p:cNvSpPr>
            <a:spLocks noGrp="1"/>
          </p:cNvSpPr>
          <p:nvPr>
            <p:ph type="pic" idx="1"/>
          </p:nvPr>
        </p:nvSpPr>
        <p:spPr>
          <a:xfrm>
            <a:off x="3505200" y="616634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TW" altLang="en-US" noProof="0" smtClean="0"/>
              <a:t>按一下圖示以新增圖片</a:t>
            </a:r>
            <a:endParaRPr lang="en-US" noProof="0" dirty="0"/>
          </a:p>
        </p:txBody>
      </p:sp>
      <p:sp>
        <p:nvSpPr>
          <p:cNvPr id="17" name="標題 16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/>
          <a:lstStyle>
            <a:lvl1pPr algn="l">
              <a:buNone/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26" name="文字版面配置區 25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CE2910-50E1-4B54-865E-83D41BAE7341}" type="datetime1">
              <a:rPr lang="zh-TW" altLang="en-US"/>
              <a:pPr>
                <a:defRPr/>
              </a:pPr>
              <a:t>2008/7/31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BEC34B-EFC7-4F68-A4FF-15FC360FD77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10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7F0AF9-64CE-45C7-A1CA-F1C17F976FFD}" type="datetime1">
              <a:rPr lang="zh-TW" altLang="en-US"/>
              <a:pPr>
                <a:defRPr/>
              </a:pPr>
              <a:t>2008/7/31</a:t>
            </a:fld>
            <a:endParaRPr lang="zh-TW" altLang="en-US"/>
          </a:p>
        </p:txBody>
      </p:sp>
      <p:sp>
        <p:nvSpPr>
          <p:cNvPr id="5" name="頁尾版面配置區 2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226C99-64E4-4AC9-9E39-9BCBE07B140F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58000" y="549276"/>
            <a:ext cx="18288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549276"/>
            <a:ext cx="62484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7E4D25-C9CC-47C5-BEE3-A55FCC566E54}" type="datetime1">
              <a:rPr lang="zh-TW" altLang="en-US"/>
              <a:pPr>
                <a:defRPr/>
              </a:pPr>
              <a:t>2008/7/31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425912-9C02-4FA6-B952-E22D4FBC5E6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線接點 6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kumimoji="0" lang="en-US" altLang="zh-TW">
              <a:latin typeface="Franklin Gothic Book" pitchFamily="34" charset="0"/>
            </a:endParaRPr>
          </a:p>
        </p:txBody>
      </p:sp>
      <p:sp>
        <p:nvSpPr>
          <p:cNvPr id="37893" name="文字版面配置區 7"/>
          <p:cNvSpPr>
            <a:spLocks noGrp="1"/>
          </p:cNvSpPr>
          <p:nvPr>
            <p:ph type="body" idx="1"/>
          </p:nvPr>
        </p:nvSpPr>
        <p:spPr bwMode="auto">
          <a:xfrm>
            <a:off x="304800" y="1554163"/>
            <a:ext cx="8686800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smtClean="0"/>
          </a:p>
        </p:txBody>
      </p:sp>
      <p:sp>
        <p:nvSpPr>
          <p:cNvPr id="11" name="日期版面配置區 10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accent1">
                    <a:shade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D8D0F410-09F4-4DD7-BBCE-473AEDEAB982}" type="datetime1">
              <a:rPr lang="zh-TW" altLang="en-US"/>
              <a:pPr>
                <a:defRPr/>
              </a:pPr>
              <a:t>2008/7/31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accent1">
                    <a:shade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accent1">
                    <a:shade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BF32853-80BD-4D79-81E9-41D71848ED9C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sp>
        <p:nvSpPr>
          <p:cNvPr id="10" name="標題版面配置區 9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9" name="直線接點 8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kumimoji="0" lang="en-US" altLang="zh-TW">
              <a:latin typeface="Franklin Gothic Book" pitchFamily="34" charset="0"/>
            </a:endParaRPr>
          </a:p>
        </p:txBody>
      </p:sp>
      <p:sp>
        <p:nvSpPr>
          <p:cNvPr id="12" name="直線接點 11"/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kumimoji="0" lang="en-US" altLang="zh-TW">
              <a:latin typeface="Franklin Gothic Book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7" r:id="rId1"/>
    <p:sldLayoutId id="2147484158" r:id="rId2"/>
    <p:sldLayoutId id="2147484159" r:id="rId3"/>
    <p:sldLayoutId id="2147484154" r:id="rId4"/>
    <p:sldLayoutId id="2147484160" r:id="rId5"/>
    <p:sldLayoutId id="2147484155" r:id="rId6"/>
    <p:sldLayoutId id="2147484161" r:id="rId7"/>
    <p:sldLayoutId id="2147484162" r:id="rId8"/>
    <p:sldLayoutId id="2147484163" r:id="rId9"/>
    <p:sldLayoutId id="2147484156" r:id="rId10"/>
    <p:sldLayoutId id="2147484164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 cap="all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itchFamily="34" charset="0"/>
          <a:ea typeface="微軟正黑體" pitchFamily="34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itchFamily="34" charset="0"/>
          <a:ea typeface="微軟正黑體" pitchFamily="34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itchFamily="34" charset="0"/>
          <a:ea typeface="微軟正黑體" pitchFamily="34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itchFamily="34" charset="0"/>
          <a:ea typeface="微軟正黑體" pitchFamily="34" charset="-12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itchFamily="34" charset="0"/>
          <a:ea typeface="微軟正黑體" pitchFamily="34" charset="-12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itchFamily="34" charset="0"/>
          <a:ea typeface="微軟正黑體" pitchFamily="34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itchFamily="34" charset="0"/>
          <a:ea typeface="微軟正黑體" pitchFamily="34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itchFamily="34" charset="0"/>
          <a:ea typeface="微軟正黑體" pitchFamily="34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"/>
        <a:defRPr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"/>
        <a:defRPr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"/>
        <a:defRPr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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 2" pitchFamily="18" charset="2"/>
        <a:buChar char=""/>
        <a:defRPr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4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oleObject" Target="../embeddings/oleObject6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oleObject" Target="../embeddings/oleObject9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3.bin"/><Relationship Id="rId5" Type="http://schemas.openxmlformats.org/officeDocument/2006/relationships/oleObject" Target="../embeddings/oleObject12.bin"/><Relationship Id="rId4" Type="http://schemas.openxmlformats.org/officeDocument/2006/relationships/oleObject" Target="../embeddings/oleObject11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oleObject" Target="../embeddings/oleObject16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20.bin"/><Relationship Id="rId5" Type="http://schemas.openxmlformats.org/officeDocument/2006/relationships/oleObject" Target="../embeddings/oleObject19.bin"/><Relationship Id="rId10" Type="http://schemas.openxmlformats.org/officeDocument/2006/relationships/oleObject" Target="../embeddings/oleObject24.bin"/><Relationship Id="rId4" Type="http://schemas.openxmlformats.org/officeDocument/2006/relationships/oleObject" Target="../embeddings/oleObject18.bin"/><Relationship Id="rId9" Type="http://schemas.openxmlformats.org/officeDocument/2006/relationships/oleObject" Target="../embeddings/oleObject23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28.bin"/><Relationship Id="rId5" Type="http://schemas.openxmlformats.org/officeDocument/2006/relationships/oleObject" Target="../embeddings/oleObject27.bin"/><Relationship Id="rId4" Type="http://schemas.openxmlformats.org/officeDocument/2006/relationships/oleObject" Target="../embeddings/oleObject26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oleObject" Target="../embeddings/oleObject32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36.bin"/><Relationship Id="rId5" Type="http://schemas.openxmlformats.org/officeDocument/2006/relationships/oleObject" Target="../embeddings/oleObject35.bin"/><Relationship Id="rId4" Type="http://schemas.openxmlformats.org/officeDocument/2006/relationships/oleObject" Target="../embeddings/oleObject34.bin"/><Relationship Id="rId9" Type="http://schemas.openxmlformats.org/officeDocument/2006/relationships/oleObject" Target="../embeddings/oleObject39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5" Type="http://schemas.openxmlformats.org/officeDocument/2006/relationships/oleObject" Target="../embeddings/oleObject42.bin"/><Relationship Id="rId4" Type="http://schemas.openxmlformats.org/officeDocument/2006/relationships/oleObject" Target="../embeddings/oleObject41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oleObject" Target="../embeddings/oleObject44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5" Type="http://schemas.openxmlformats.org/officeDocument/2006/relationships/oleObject" Target="../embeddings/oleObject48.bin"/><Relationship Id="rId4" Type="http://schemas.openxmlformats.org/officeDocument/2006/relationships/oleObject" Target="../embeddings/oleObject47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4" Type="http://schemas.openxmlformats.org/officeDocument/2006/relationships/oleObject" Target="../embeddings/oleObject50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6.bin"/><Relationship Id="rId3" Type="http://schemas.openxmlformats.org/officeDocument/2006/relationships/oleObject" Target="../embeddings/oleObject51.bin"/><Relationship Id="rId7" Type="http://schemas.openxmlformats.org/officeDocument/2006/relationships/oleObject" Target="../embeddings/oleObject5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54.bin"/><Relationship Id="rId5" Type="http://schemas.openxmlformats.org/officeDocument/2006/relationships/oleObject" Target="../embeddings/oleObject53.bin"/><Relationship Id="rId10" Type="http://schemas.openxmlformats.org/officeDocument/2006/relationships/oleObject" Target="../embeddings/oleObject58.bin"/><Relationship Id="rId4" Type="http://schemas.openxmlformats.org/officeDocument/2006/relationships/oleObject" Target="../embeddings/oleObject52.bin"/><Relationship Id="rId9" Type="http://schemas.openxmlformats.org/officeDocument/2006/relationships/oleObject" Target="../embeddings/oleObject57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4" Type="http://schemas.openxmlformats.org/officeDocument/2006/relationships/oleObject" Target="../embeddings/oleObject60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4" Type="http://schemas.openxmlformats.org/officeDocument/2006/relationships/oleObject" Target="../embeddings/oleObject62.bin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8.bin"/><Relationship Id="rId3" Type="http://schemas.openxmlformats.org/officeDocument/2006/relationships/oleObject" Target="../embeddings/oleObject63.bin"/><Relationship Id="rId7" Type="http://schemas.openxmlformats.org/officeDocument/2006/relationships/oleObject" Target="../embeddings/oleObject6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66.bin"/><Relationship Id="rId5" Type="http://schemas.openxmlformats.org/officeDocument/2006/relationships/oleObject" Target="../embeddings/oleObject65.bin"/><Relationship Id="rId10" Type="http://schemas.openxmlformats.org/officeDocument/2006/relationships/oleObject" Target="../embeddings/oleObject70.bin"/><Relationship Id="rId4" Type="http://schemas.openxmlformats.org/officeDocument/2006/relationships/oleObject" Target="../embeddings/oleObject64.bin"/><Relationship Id="rId9" Type="http://schemas.openxmlformats.org/officeDocument/2006/relationships/oleObject" Target="../embeddings/oleObject69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5.bin"/><Relationship Id="rId3" Type="http://schemas.openxmlformats.org/officeDocument/2006/relationships/image" Target="../media/image80.png"/><Relationship Id="rId7" Type="http://schemas.openxmlformats.org/officeDocument/2006/relationships/oleObject" Target="../embeddings/oleObject7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73.bin"/><Relationship Id="rId5" Type="http://schemas.openxmlformats.org/officeDocument/2006/relationships/oleObject" Target="../embeddings/oleObject72.bin"/><Relationship Id="rId4" Type="http://schemas.openxmlformats.org/officeDocument/2006/relationships/oleObject" Target="../embeddings/oleObject71.bin"/><Relationship Id="rId9" Type="http://schemas.openxmlformats.org/officeDocument/2006/relationships/oleObject" Target="../embeddings/oleObject76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80.bin"/><Relationship Id="rId5" Type="http://schemas.openxmlformats.org/officeDocument/2006/relationships/oleObject" Target="../embeddings/oleObject79.bin"/><Relationship Id="rId4" Type="http://schemas.openxmlformats.org/officeDocument/2006/relationships/oleObject" Target="../embeddings/oleObject78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6.bin"/><Relationship Id="rId3" Type="http://schemas.openxmlformats.org/officeDocument/2006/relationships/oleObject" Target="../embeddings/oleObject81.bin"/><Relationship Id="rId7" Type="http://schemas.openxmlformats.org/officeDocument/2006/relationships/oleObject" Target="../embeddings/oleObject8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84.bin"/><Relationship Id="rId5" Type="http://schemas.openxmlformats.org/officeDocument/2006/relationships/oleObject" Target="../embeddings/oleObject83.bin"/><Relationship Id="rId4" Type="http://schemas.openxmlformats.org/officeDocument/2006/relationships/oleObject" Target="../embeddings/oleObject82.bin"/><Relationship Id="rId9" Type="http://schemas.openxmlformats.org/officeDocument/2006/relationships/oleObject" Target="../embeddings/oleObject87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3.bin"/><Relationship Id="rId3" Type="http://schemas.openxmlformats.org/officeDocument/2006/relationships/oleObject" Target="../embeddings/oleObject88.bin"/><Relationship Id="rId7" Type="http://schemas.openxmlformats.org/officeDocument/2006/relationships/oleObject" Target="../embeddings/oleObject9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91.bin"/><Relationship Id="rId5" Type="http://schemas.openxmlformats.org/officeDocument/2006/relationships/oleObject" Target="../embeddings/oleObject90.bin"/><Relationship Id="rId10" Type="http://schemas.openxmlformats.org/officeDocument/2006/relationships/oleObject" Target="../embeddings/oleObject95.bin"/><Relationship Id="rId4" Type="http://schemas.openxmlformats.org/officeDocument/2006/relationships/oleObject" Target="../embeddings/oleObject89.bin"/><Relationship Id="rId9" Type="http://schemas.openxmlformats.org/officeDocument/2006/relationships/oleObject" Target="../embeddings/oleObject94.bin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5" Type="http://schemas.openxmlformats.org/officeDocument/2006/relationships/oleObject" Target="../embeddings/oleObject98.bin"/><Relationship Id="rId4" Type="http://schemas.openxmlformats.org/officeDocument/2006/relationships/oleObject" Target="../embeddings/oleObject97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9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6.v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5.bin"/><Relationship Id="rId13" Type="http://schemas.openxmlformats.org/officeDocument/2006/relationships/oleObject" Target="../embeddings/oleObject109.bin"/><Relationship Id="rId3" Type="http://schemas.openxmlformats.org/officeDocument/2006/relationships/oleObject" Target="../embeddings/oleObject100.bin"/><Relationship Id="rId7" Type="http://schemas.openxmlformats.org/officeDocument/2006/relationships/oleObject" Target="../embeddings/oleObject104.bin"/><Relationship Id="rId12" Type="http://schemas.openxmlformats.org/officeDocument/2006/relationships/image" Target="../media/image118.png"/><Relationship Id="rId17" Type="http://schemas.openxmlformats.org/officeDocument/2006/relationships/oleObject" Target="../embeddings/oleObject113.bin"/><Relationship Id="rId2" Type="http://schemas.openxmlformats.org/officeDocument/2006/relationships/slideLayout" Target="../slideLayouts/slideLayout4.xml"/><Relationship Id="rId16" Type="http://schemas.openxmlformats.org/officeDocument/2006/relationships/oleObject" Target="../embeddings/oleObject112.bin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103.bin"/><Relationship Id="rId11" Type="http://schemas.openxmlformats.org/officeDocument/2006/relationships/oleObject" Target="../embeddings/oleObject108.bin"/><Relationship Id="rId5" Type="http://schemas.openxmlformats.org/officeDocument/2006/relationships/oleObject" Target="../embeddings/oleObject102.bin"/><Relationship Id="rId15" Type="http://schemas.openxmlformats.org/officeDocument/2006/relationships/oleObject" Target="../embeddings/oleObject111.bin"/><Relationship Id="rId10" Type="http://schemas.openxmlformats.org/officeDocument/2006/relationships/oleObject" Target="../embeddings/oleObject107.bin"/><Relationship Id="rId4" Type="http://schemas.openxmlformats.org/officeDocument/2006/relationships/oleObject" Target="../embeddings/oleObject101.bin"/><Relationship Id="rId9" Type="http://schemas.openxmlformats.org/officeDocument/2006/relationships/oleObject" Target="../embeddings/oleObject106.bin"/><Relationship Id="rId14" Type="http://schemas.openxmlformats.org/officeDocument/2006/relationships/oleObject" Target="../embeddings/oleObject110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9.bin"/><Relationship Id="rId3" Type="http://schemas.openxmlformats.org/officeDocument/2006/relationships/oleObject" Target="../embeddings/oleObject114.bin"/><Relationship Id="rId7" Type="http://schemas.openxmlformats.org/officeDocument/2006/relationships/oleObject" Target="../embeddings/oleObject1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117.bin"/><Relationship Id="rId5" Type="http://schemas.openxmlformats.org/officeDocument/2006/relationships/oleObject" Target="../embeddings/oleObject116.bin"/><Relationship Id="rId4" Type="http://schemas.openxmlformats.org/officeDocument/2006/relationships/oleObject" Target="../embeddings/oleObject115.bin"/><Relationship Id="rId9" Type="http://schemas.openxmlformats.org/officeDocument/2006/relationships/oleObject" Target="../embeddings/oleObject120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124.bin"/><Relationship Id="rId5" Type="http://schemas.openxmlformats.org/officeDocument/2006/relationships/oleObject" Target="../embeddings/oleObject123.bin"/><Relationship Id="rId4" Type="http://schemas.openxmlformats.org/officeDocument/2006/relationships/oleObject" Target="../embeddings/oleObject122.bin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Relationship Id="rId5" Type="http://schemas.openxmlformats.org/officeDocument/2006/relationships/oleObject" Target="../embeddings/oleObject127.bin"/><Relationship Id="rId4" Type="http://schemas.openxmlformats.org/officeDocument/2006/relationships/oleObject" Target="../embeddings/oleObject126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1.v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9.bin"/><Relationship Id="rId7" Type="http://schemas.openxmlformats.org/officeDocument/2006/relationships/oleObject" Target="../embeddings/oleObject13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2.vml"/><Relationship Id="rId6" Type="http://schemas.openxmlformats.org/officeDocument/2006/relationships/oleObject" Target="../embeddings/oleObject132.bin"/><Relationship Id="rId5" Type="http://schemas.openxmlformats.org/officeDocument/2006/relationships/oleObject" Target="../embeddings/oleObject131.bin"/><Relationship Id="rId4" Type="http://schemas.openxmlformats.org/officeDocument/2006/relationships/oleObject" Target="../embeddings/oleObject130.bin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3.v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4.vml"/><Relationship Id="rId6" Type="http://schemas.openxmlformats.org/officeDocument/2006/relationships/oleObject" Target="../embeddings/oleObject138.bin"/><Relationship Id="rId5" Type="http://schemas.openxmlformats.org/officeDocument/2006/relationships/oleObject" Target="../embeddings/oleObject137.bin"/><Relationship Id="rId4" Type="http://schemas.openxmlformats.org/officeDocument/2006/relationships/oleObject" Target="../embeddings/oleObject136.bin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5.vml"/><Relationship Id="rId4" Type="http://schemas.openxmlformats.org/officeDocument/2006/relationships/oleObject" Target="../embeddings/oleObject140.bin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6.bin"/><Relationship Id="rId3" Type="http://schemas.openxmlformats.org/officeDocument/2006/relationships/oleObject" Target="../embeddings/oleObject141.bin"/><Relationship Id="rId7" Type="http://schemas.openxmlformats.org/officeDocument/2006/relationships/oleObject" Target="../embeddings/oleObject14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6.vml"/><Relationship Id="rId6" Type="http://schemas.openxmlformats.org/officeDocument/2006/relationships/oleObject" Target="../embeddings/oleObject144.bin"/><Relationship Id="rId5" Type="http://schemas.openxmlformats.org/officeDocument/2006/relationships/oleObject" Target="../embeddings/oleObject143.bin"/><Relationship Id="rId4" Type="http://schemas.openxmlformats.org/officeDocument/2006/relationships/oleObject" Target="../embeddings/oleObject142.bin"/><Relationship Id="rId9" Type="http://schemas.openxmlformats.org/officeDocument/2006/relationships/oleObject" Target="../embeddings/oleObject147.bin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7.v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256938" y="4135902"/>
            <a:ext cx="8619776" cy="73152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何俊儒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57188" y="571500"/>
            <a:ext cx="8458200" cy="2928938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altLang="zh-TW" sz="3800" dirty="0" smtClean="0">
                <a:latin typeface="Times New Roman" pitchFamily="18" charset="0"/>
                <a:cs typeface="Times New Roman" pitchFamily="18" charset="0"/>
              </a:rPr>
              <a:t>Using The LIBOR Market Model to Price The Interest Rate Derivatives: A Recombining Binomial Tree Methodology</a:t>
            </a:r>
            <a:endParaRPr lang="zh-TW" altLang="en-US" sz="38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108" name="文字方塊 3"/>
          <p:cNvSpPr txBox="1">
            <a:spLocks noChangeArrowheads="1"/>
          </p:cNvSpPr>
          <p:nvPr/>
        </p:nvSpPr>
        <p:spPr bwMode="auto">
          <a:xfrm>
            <a:off x="7372350" y="4457700"/>
            <a:ext cx="16875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en-US" altLang="zh-TW" sz="2400" dirty="0" smtClean="0">
                <a:latin typeface="Times New Roman" pitchFamily="18" charset="0"/>
                <a:ea typeface="微軟正黑體" pitchFamily="34" charset="-120"/>
                <a:cs typeface="Times New Roman" pitchFamily="18" charset="0"/>
              </a:rPr>
              <a:t>2008/06/25</a:t>
            </a:r>
            <a:endParaRPr kumimoji="0" lang="zh-TW" altLang="en-US" sz="2400" dirty="0">
              <a:latin typeface="Times New Roman" pitchFamily="18" charset="0"/>
              <a:ea typeface="微軟正黑體" pitchFamily="34" charset="-12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sz="4000" dirty="0" smtClean="0">
                <a:latin typeface="Times New Roman" pitchFamily="18" charset="0"/>
                <a:cs typeface="Times New Roman" pitchFamily="18" charset="0"/>
              </a:rPr>
              <a:t>Agenda</a:t>
            </a:r>
            <a:endParaRPr lang="zh-TW" alt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 eaLnBrk="1" fontAlgn="auto" hangingPunct="1">
              <a:spcAft>
                <a:spcPts val="0"/>
              </a:spcAft>
              <a:buFont typeface="Wingdings 2"/>
              <a:buChar char=""/>
              <a:defRPr/>
            </a:pPr>
            <a:r>
              <a:rPr lang="en-US" altLang="zh-TW" sz="3500" dirty="0" smtClean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pPr marL="514350" indent="-514350" eaLnBrk="1" fontAlgn="auto" hangingPunct="1">
              <a:spcAft>
                <a:spcPts val="0"/>
              </a:spcAft>
              <a:buFont typeface="Wingdings 2"/>
              <a:buChar char=""/>
              <a:defRPr/>
            </a:pPr>
            <a:r>
              <a:rPr lang="en-US" altLang="zh-TW" sz="3500" dirty="0" smtClean="0">
                <a:latin typeface="Times New Roman" pitchFamily="18" charset="0"/>
                <a:cs typeface="Times New Roman" pitchFamily="18" charset="0"/>
              </a:rPr>
              <a:t>Review of interest rate models</a:t>
            </a:r>
            <a:endParaRPr lang="zh-TW" altLang="en-US" sz="3500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 eaLnBrk="1" fontAlgn="auto" hangingPunct="1">
              <a:spcAft>
                <a:spcPts val="0"/>
              </a:spcAft>
              <a:buFont typeface="Wingdings 2"/>
              <a:buChar char=""/>
              <a:defRPr/>
            </a:pPr>
            <a:r>
              <a:rPr lang="en-US" sz="3500" dirty="0" smtClean="0">
                <a:latin typeface="Times New Roman" pitchFamily="18" charset="0"/>
                <a:cs typeface="Times New Roman" pitchFamily="18" charset="0"/>
              </a:rPr>
              <a:t>Market conventions of  LMM and the discrete-time version of  LMM</a:t>
            </a:r>
          </a:p>
          <a:p>
            <a:pPr marL="514350" indent="-514350" eaLnBrk="1" fontAlgn="auto" hangingPunct="1">
              <a:spcAft>
                <a:spcPts val="0"/>
              </a:spcAft>
              <a:buFont typeface="Wingdings 2"/>
              <a:buChar char=""/>
              <a:defRPr/>
            </a:pPr>
            <a:r>
              <a:rPr lang="en-US" altLang="zh-TW" sz="3500" dirty="0" smtClean="0">
                <a:latin typeface="Times New Roman" pitchFamily="18" charset="0"/>
                <a:cs typeface="Times New Roman" pitchFamily="18" charset="0"/>
              </a:rPr>
              <a:t>Introducing the HSS recombining node methodology and applying to the LIBOR market model</a:t>
            </a:r>
            <a:endParaRPr lang="zh-TW" altLang="en-US" sz="3500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 eaLnBrk="1" fontAlgn="auto" hangingPunct="1">
              <a:spcAft>
                <a:spcPts val="0"/>
              </a:spcAft>
              <a:buFont typeface="Wingdings 2"/>
              <a:buChar char=""/>
              <a:defRPr/>
            </a:pPr>
            <a:r>
              <a:rPr lang="en-US" altLang="zh-TW" sz="3500" dirty="0" smtClean="0">
                <a:latin typeface="Times New Roman" pitchFamily="18" charset="0"/>
                <a:cs typeface="Times New Roman" pitchFamily="18" charset="0"/>
              </a:rPr>
              <a:t>The pricing of the interest rate derivatives in LMM</a:t>
            </a:r>
            <a:endParaRPr lang="zh-TW" altLang="en-US" sz="3500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 eaLnBrk="1" fontAlgn="auto" hangingPunct="1">
              <a:spcAft>
                <a:spcPts val="0"/>
              </a:spcAft>
              <a:buFont typeface="Wingdings 2"/>
              <a:buChar char=""/>
              <a:defRPr/>
            </a:pPr>
            <a:r>
              <a:rPr lang="en-US" altLang="zh-TW" sz="3500" dirty="0" smtClean="0">
                <a:latin typeface="Times New Roman" pitchFamily="18" charset="0"/>
                <a:cs typeface="Times New Roman" pitchFamily="18" charset="0"/>
              </a:rPr>
              <a:t>Conclusions</a:t>
            </a:r>
          </a:p>
          <a:p>
            <a:pPr marL="514350" indent="-514350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9E5F26-FD4C-4AD7-8FC0-46C4CA0D0922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Introduction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 eaLnBrk="1" fontAlgn="auto" hangingPunct="1">
              <a:spcAft>
                <a:spcPts val="0"/>
              </a:spcAft>
              <a:buFont typeface="Wingdings 2"/>
              <a:buChar char=""/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Because we can’t observe the instantaneous short rate and instantaneous forward rate in the traditional interest rate models</a:t>
            </a:r>
          </a:p>
          <a:p>
            <a:pPr algn="just" eaLnBrk="1" fontAlgn="auto" hangingPunct="1">
              <a:spcAft>
                <a:spcPts val="0"/>
              </a:spcAft>
              <a:buFont typeface="Wingdings 2"/>
              <a:buChar char=""/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We adapt LIBOR market model which is based on the forward  LIBOR rate that we can observe from the daily market</a:t>
            </a:r>
          </a:p>
          <a:p>
            <a:pPr algn="just" eaLnBrk="1" fontAlgn="auto" hangingPunct="1">
              <a:spcAft>
                <a:spcPts val="0"/>
              </a:spcAft>
              <a:buFont typeface="Wingdings 2"/>
              <a:buChar char=""/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However, when implementing LMM in lattice method we will face the explosive tree that result from the non-Markov property 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  <a:p>
            <a:pPr eaLnBrk="1" fontAlgn="auto" hangingPunct="1">
              <a:spcAft>
                <a:spcPts val="0"/>
              </a:spcAft>
              <a:buFont typeface="Wingdings 2"/>
              <a:buChar char=""/>
              <a:defRPr/>
            </a:pP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8A590E-4C11-4B5A-A4FD-903B207A94F8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0179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The nonrecombining tree will make our pricing procedure inefficient and don’t satisfy the market requirement</a:t>
            </a:r>
          </a:p>
          <a:p>
            <a:pPr algn="just"/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Therefore, we apply the HSS methodology into the  LMM that make the nodes combine and make the pricing the derivatives feasible</a:t>
            </a:r>
          </a:p>
          <a:p>
            <a:pPr algn="just"/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The method we proposed make our valuation more efficient and more accurate comparing with  Monte Carlo simulation method</a:t>
            </a:r>
            <a:endParaRPr lang="zh-TW" altLang="en-US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BFDB7F-76B7-4B29-BF6A-42E9E4F870E5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Review of Interest Rate Models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20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Font typeface="Arial" charset="0"/>
              <a:buChar char="•"/>
            </a:pPr>
            <a:r>
              <a:rPr lang="en-US" altLang="zh-TW" sz="3600" smtClean="0">
                <a:latin typeface="Times New Roman" pitchFamily="18" charset="0"/>
                <a:cs typeface="Times New Roman" pitchFamily="18" charset="0"/>
              </a:rPr>
              <a:t>Equilibrium models</a:t>
            </a:r>
          </a:p>
          <a:p>
            <a:pPr marL="342900" lvl="1" indent="-342900">
              <a:buFont typeface="Arial" charset="0"/>
              <a:buChar char="•"/>
            </a:pPr>
            <a:r>
              <a:rPr lang="en-US" altLang="zh-TW" sz="3600" smtClean="0">
                <a:latin typeface="Times New Roman" pitchFamily="18" charset="0"/>
                <a:cs typeface="Times New Roman" pitchFamily="18" charset="0"/>
              </a:rPr>
              <a:t>No-arbitrage models</a:t>
            </a:r>
          </a:p>
          <a:p>
            <a:pPr marL="742950" lvl="2" indent="-342900"/>
            <a:r>
              <a:rPr lang="en-US" altLang="zh-TW" sz="3200" smtClean="0">
                <a:latin typeface="Times New Roman" pitchFamily="18" charset="0"/>
                <a:cs typeface="Times New Roman" pitchFamily="18" charset="0"/>
              </a:rPr>
              <a:t>Instantaneous short rate models</a:t>
            </a:r>
          </a:p>
          <a:p>
            <a:pPr marL="742950" lvl="2" indent="-342900"/>
            <a:r>
              <a:rPr lang="en-US" altLang="zh-TW" sz="3200" smtClean="0">
                <a:latin typeface="Times New Roman" pitchFamily="18" charset="0"/>
                <a:cs typeface="Times New Roman" pitchFamily="18" charset="0"/>
              </a:rPr>
              <a:t>Instantaneous forward rate model</a:t>
            </a:r>
          </a:p>
          <a:p>
            <a:pPr marL="742950" lvl="2" indent="-342900"/>
            <a:r>
              <a:rPr lang="en-US" altLang="zh-TW" sz="3200" smtClean="0">
                <a:latin typeface="Times New Roman" pitchFamily="18" charset="0"/>
                <a:cs typeface="Times New Roman" pitchFamily="18" charset="0"/>
              </a:rPr>
              <a:t>Forward rate model</a:t>
            </a:r>
            <a:endParaRPr lang="zh-TW" altLang="en-US" sz="320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 2" pitchFamily="18" charset="2"/>
              <a:buNone/>
            </a:pPr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199DC6-6716-4A45-88CD-04871E801602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>
              <a:defRPr/>
            </a:pPr>
            <a:r>
              <a:rPr lang="zh-TW" alt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Equilibrium model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9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Vasicek Model (1977)</a:t>
            </a:r>
          </a:p>
          <a:p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 2" pitchFamily="18" charset="2"/>
              <a:buNone/>
            </a:pPr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 2" pitchFamily="18" charset="2"/>
              <a:buNone/>
            </a:pPr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Cox, Ingersoll and Ross (CIR) Model (1985)</a:t>
            </a:r>
            <a:endParaRPr lang="zh-TW" altLang="en-US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1000125" y="2500313"/>
          <a:ext cx="6067425" cy="642937"/>
        </p:xfrm>
        <a:graphic>
          <a:graphicData uri="http://schemas.openxmlformats.org/presentationml/2006/ole">
            <p:oleObj spid="_x0000_s1026" name="Equation" r:id="rId3" imgW="1917360" imgH="203040" progId="Equation.DSMT4">
              <p:embed/>
            </p:oleObj>
          </a:graphicData>
        </a:graphic>
      </p:graphicFrame>
      <p:graphicFrame>
        <p:nvGraphicFramePr>
          <p:cNvPr id="1027" name="Object 3"/>
          <p:cNvGraphicFramePr>
            <a:graphicFrameLocks noChangeAspect="1"/>
          </p:cNvGraphicFramePr>
          <p:nvPr/>
        </p:nvGraphicFramePr>
        <p:xfrm>
          <a:off x="1000125" y="4714875"/>
          <a:ext cx="7143750" cy="803275"/>
        </p:xfrm>
        <a:graphic>
          <a:graphicData uri="http://schemas.openxmlformats.org/presentationml/2006/ole">
            <p:oleObj spid="_x0000_s1027" name="Equation" r:id="rId4" imgW="2260440" imgH="253800" progId="Equation.DSMT4">
              <p:embed/>
            </p:oleObj>
          </a:graphicData>
        </a:graphic>
      </p:graphicFrame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751AA7-BF4F-4DC8-89D6-81D421AA1D94}" type="slidenum">
              <a:rPr lang="zh-TW" altLang="en-US" smtClean="0"/>
              <a:pPr>
                <a:defRPr/>
              </a:pPr>
              <a:t>6</a:t>
            </a:fld>
            <a:endParaRPr lang="zh-TW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No-arbitrage model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5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Ho-Lee Model (1986)</a:t>
            </a:r>
          </a:p>
          <a:p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Hull-White Model (1990)</a:t>
            </a:r>
            <a:endParaRPr lang="zh-TW" altLang="en-US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5C44FE-B5A5-4939-B29C-F478659A9543}" type="slidenum">
              <a:rPr lang="zh-TW" altLang="en-US" smtClean="0"/>
              <a:pPr>
                <a:defRPr/>
              </a:pPr>
              <a:t>7</a:t>
            </a:fld>
            <a:endParaRPr lang="zh-TW" altLang="en-US"/>
          </a:p>
        </p:txBody>
      </p:sp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1000125" y="4857750"/>
          <a:ext cx="6286500" cy="628650"/>
        </p:xfrm>
        <a:graphic>
          <a:graphicData uri="http://schemas.openxmlformats.org/presentationml/2006/ole">
            <p:oleObj spid="_x0000_s2050" name="Equation" r:id="rId3" imgW="2031840" imgH="203040" progId="Equation.DSMT4">
              <p:embed/>
            </p:oleObj>
          </a:graphicData>
        </a:graphic>
      </p:graphicFrame>
      <p:graphicFrame>
        <p:nvGraphicFramePr>
          <p:cNvPr id="2051" name="Object 3"/>
          <p:cNvGraphicFramePr>
            <a:graphicFrameLocks noChangeAspect="1"/>
          </p:cNvGraphicFramePr>
          <p:nvPr/>
        </p:nvGraphicFramePr>
        <p:xfrm>
          <a:off x="1000125" y="2500313"/>
          <a:ext cx="4643438" cy="635000"/>
        </p:xfrm>
        <a:graphic>
          <a:graphicData uri="http://schemas.openxmlformats.org/presentationml/2006/ole">
            <p:oleObj spid="_x0000_s2051" name="Equation" r:id="rId4" imgW="1485720" imgH="203040" progId="Equation.DSMT4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Affine model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77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The models we mentioned before are all the affine models with the continuously-compounded spot rate </a:t>
            </a:r>
            <a:r>
              <a:rPr lang="en-US" altLang="zh-TW" i="1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TW" i="1" smtClean="0">
                <a:latin typeface="Times New Roman" pitchFamily="18" charset="0"/>
                <a:cs typeface="Times New Roman" pitchFamily="18" charset="0"/>
              </a:rPr>
              <a:t>t,T</a:t>
            </a: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) is an function in the short rate </a:t>
            </a:r>
            <a:r>
              <a:rPr lang="en-US" altLang="zh-TW" i="1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TW" i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eaLnBrk="1" hangingPunct="1"/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The relationship between zero coupon bond and affine models can be expressed as</a:t>
            </a:r>
          </a:p>
          <a:p>
            <a:pPr eaLnBrk="1" hangingPunct="1"/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buFont typeface="Wingdings 2" pitchFamily="18" charset="2"/>
              <a:buNone/>
            </a:pPr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endParaRPr lang="zh-TW" altLang="en-US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A00B77-BF78-49F8-97DB-4D363738339D}" type="slidenum">
              <a:rPr lang="zh-TW" altLang="en-US" smtClean="0"/>
              <a:pPr>
                <a:defRPr/>
              </a:pPr>
              <a:t>8</a:t>
            </a:fld>
            <a:endParaRPr lang="zh-TW" altLang="en-US"/>
          </a:p>
        </p:txBody>
      </p:sp>
      <p:graphicFrame>
        <p:nvGraphicFramePr>
          <p:cNvPr id="3074" name="Object 5"/>
          <p:cNvGraphicFramePr>
            <a:graphicFrameLocks noChangeAspect="1"/>
          </p:cNvGraphicFramePr>
          <p:nvPr/>
        </p:nvGraphicFramePr>
        <p:xfrm>
          <a:off x="2071688" y="3143250"/>
          <a:ext cx="5016500" cy="569913"/>
        </p:xfrm>
        <a:graphic>
          <a:graphicData uri="http://schemas.openxmlformats.org/presentationml/2006/ole">
            <p:oleObj spid="_x0000_s3074" name="Equation" r:id="rId3" imgW="1790640" imgH="203040" progId="Equation.DSMT4">
              <p:embed/>
            </p:oleObj>
          </a:graphicData>
        </a:graphic>
      </p:graphicFrame>
      <p:graphicFrame>
        <p:nvGraphicFramePr>
          <p:cNvPr id="3075" name="Object 6"/>
          <p:cNvGraphicFramePr>
            <a:graphicFrameLocks noChangeAspect="1"/>
          </p:cNvGraphicFramePr>
          <p:nvPr/>
        </p:nvGraphicFramePr>
        <p:xfrm>
          <a:off x="2428875" y="4786313"/>
          <a:ext cx="4214813" cy="622300"/>
        </p:xfrm>
        <a:graphic>
          <a:graphicData uri="http://schemas.openxmlformats.org/presentationml/2006/ole">
            <p:oleObj spid="_x0000_s3075" name="Equation" r:id="rId4" imgW="1549080" imgH="228600" progId="Equation.DSMT4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標題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1042974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Instantaneous forward rate model</a:t>
            </a:r>
            <a:br>
              <a:rPr lang="en-US" altLang="zh-TW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HJM Model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00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Heath, Jarrow and Morton (1992) published an important paper described the evolution of the entire yield curve in continues time</a:t>
            </a:r>
          </a:p>
          <a:p>
            <a:pPr algn="just"/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The dynamic form of the instantaneous forward rate for the fixed maturity </a:t>
            </a:r>
            <a:r>
              <a:rPr lang="en-US" altLang="zh-TW" i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 under risk-neutral measure as follows:</a:t>
            </a:r>
            <a:endParaRPr lang="zh-TW" altLang="en-US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098" name="Object 2"/>
          <p:cNvGraphicFramePr>
            <a:graphicFrameLocks noChangeAspect="1"/>
          </p:cNvGraphicFramePr>
          <p:nvPr/>
        </p:nvGraphicFramePr>
        <p:xfrm>
          <a:off x="1655763" y="4786313"/>
          <a:ext cx="5838825" cy="558800"/>
        </p:xfrm>
        <a:graphic>
          <a:graphicData uri="http://schemas.openxmlformats.org/presentationml/2006/ole">
            <p:oleObj spid="_x0000_s4098" name="Equation" r:id="rId3" imgW="2120760" imgH="203040" progId="Equation.DSMT4">
              <p:embed/>
            </p:oleObj>
          </a:graphicData>
        </a:graphic>
      </p:graphicFrame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CAFA80-2F2B-497D-84D7-66E6E352960C}" type="slidenum">
              <a:rPr lang="zh-TW" altLang="en-US" smtClean="0"/>
              <a:pPr>
                <a:defRPr/>
              </a:pPr>
              <a:t>9</a:t>
            </a:fld>
            <a:endParaRPr lang="zh-TW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標題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1042974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Instantaneous forward rate model</a:t>
            </a:r>
            <a:br>
              <a:rPr lang="en-US" altLang="zh-TW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HJM Model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2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The parameters of the dynamic process are explained as follows:</a:t>
            </a:r>
          </a:p>
          <a:p>
            <a:pPr algn="just"/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We can use the Ito’s lemma to obtain the dynamics of the zero-coupon bond price </a:t>
            </a:r>
          </a:p>
          <a:p>
            <a:endParaRPr lang="zh-TW" altLang="en-US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122" name="Object 2"/>
          <p:cNvGraphicFramePr>
            <a:graphicFrameLocks noChangeAspect="1"/>
          </p:cNvGraphicFramePr>
          <p:nvPr/>
        </p:nvGraphicFramePr>
        <p:xfrm>
          <a:off x="717550" y="2870200"/>
          <a:ext cx="8412163" cy="1952625"/>
        </p:xfrm>
        <a:graphic>
          <a:graphicData uri="http://schemas.openxmlformats.org/presentationml/2006/ole">
            <p:oleObj spid="_x0000_s5122" name="Equation" r:id="rId3" imgW="3886200" imgH="901440" progId="Equation.DSMT4">
              <p:embed/>
            </p:oleObj>
          </a:graphicData>
        </a:graphic>
      </p:graphicFrame>
      <p:graphicFrame>
        <p:nvGraphicFramePr>
          <p:cNvPr id="5123" name="Object 3"/>
          <p:cNvGraphicFramePr>
            <a:graphicFrameLocks noChangeAspect="1"/>
          </p:cNvGraphicFramePr>
          <p:nvPr/>
        </p:nvGraphicFramePr>
        <p:xfrm>
          <a:off x="7342188" y="5588000"/>
          <a:ext cx="1000125" cy="444500"/>
        </p:xfrm>
        <a:graphic>
          <a:graphicData uri="http://schemas.openxmlformats.org/presentationml/2006/ole">
            <p:oleObj spid="_x0000_s5123" name="Equation" r:id="rId4" imgW="457200" imgH="203040" progId="Equation.DSMT4">
              <p:embed/>
            </p:oleObj>
          </a:graphicData>
        </a:graphic>
      </p:graphicFrame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2C57F5-F3F0-48FA-9071-8F7C749D62A3}" type="slidenum">
              <a:rPr lang="zh-TW" altLang="en-US" smtClean="0"/>
              <a:pPr>
                <a:defRPr/>
              </a:pPr>
              <a:t>10</a:t>
            </a:fld>
            <a:endParaRPr lang="zh-TW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標題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1042974"/>
          </a:xfrm>
        </p:spPr>
        <p:txBody>
          <a:bodyPr>
            <a:noAutofit/>
          </a:bodyPr>
          <a:lstStyle/>
          <a:p>
            <a:pPr marL="342900" indent="-342900" algn="ctr"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Forward rate model</a:t>
            </a:r>
            <a:r>
              <a:rPr lang="zh-TW" alt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zh-TW" alt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LIBOR Market Model (LMM)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2227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The LMM was discovered by Brace, Gatarek, and Musiela (1997) and was initially referred to as the BGM model by practitioners</a:t>
            </a:r>
          </a:p>
          <a:p>
            <a:pPr algn="just"/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There are two commonly used versions of the LMM:</a:t>
            </a:r>
          </a:p>
          <a:p>
            <a:pPr lvl="1"/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one is the lognormal forward LIBOR model (LFM) for pricing caps</a:t>
            </a:r>
          </a:p>
          <a:p>
            <a:pPr lvl="1"/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the other is the lognormal swap model (LSM) for pricing swaptions</a:t>
            </a:r>
            <a:endParaRPr lang="zh-TW" altLang="en-US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CE7C71-7EF6-49E7-AF59-6C523C60B620}" type="slidenum">
              <a:rPr lang="zh-TW" altLang="en-US" smtClean="0"/>
              <a:pPr>
                <a:defRPr/>
              </a:pPr>
              <a:t>11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1" name="標題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1042974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Forward rate model</a:t>
            </a:r>
            <a:r>
              <a:rPr lang="zh-TW" alt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zh-TW" alt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LIBOR Market Model (LMM)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52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The LFM specifies the forward rate         following zero-drift stochastic process under its own forward measure:</a:t>
            </a:r>
          </a:p>
          <a:p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             is a Brownian motion under the forward measure       defined with respect to the numeraire asset</a:t>
            </a:r>
          </a:p>
          <a:p>
            <a:pPr lvl="1"/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            measures the volatility of the forward rate process</a:t>
            </a:r>
            <a:endParaRPr lang="zh-TW" altLang="en-US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6146" name="Object 2"/>
          <p:cNvGraphicFramePr>
            <a:graphicFrameLocks noChangeAspect="1"/>
          </p:cNvGraphicFramePr>
          <p:nvPr/>
        </p:nvGraphicFramePr>
        <p:xfrm>
          <a:off x="6572250" y="1643063"/>
          <a:ext cx="1652588" cy="522287"/>
        </p:xfrm>
        <a:graphic>
          <a:graphicData uri="http://schemas.openxmlformats.org/presentationml/2006/ole">
            <p:oleObj spid="_x0000_s6146" name="Equation" r:id="rId3" imgW="723600" imgH="228600" progId="Equation.DSMT4">
              <p:embed/>
            </p:oleObj>
          </a:graphicData>
        </a:graphic>
      </p:graphicFrame>
      <p:graphicFrame>
        <p:nvGraphicFramePr>
          <p:cNvPr id="6147" name="Object 3"/>
          <p:cNvGraphicFramePr>
            <a:graphicFrameLocks noChangeAspect="1"/>
          </p:cNvGraphicFramePr>
          <p:nvPr/>
        </p:nvGraphicFramePr>
        <p:xfrm>
          <a:off x="2786063" y="3143250"/>
          <a:ext cx="4065587" cy="1071563"/>
        </p:xfrm>
        <a:graphic>
          <a:graphicData uri="http://schemas.openxmlformats.org/presentationml/2006/ole">
            <p:oleObj spid="_x0000_s6147" name="Equation" r:id="rId4" imgW="1638000" imgH="431640" progId="Equation.DSMT4">
              <p:embed/>
            </p:oleObj>
          </a:graphicData>
        </a:graphic>
      </p:graphicFrame>
      <p:graphicFrame>
        <p:nvGraphicFramePr>
          <p:cNvPr id="6148" name="Object 6"/>
          <p:cNvGraphicFramePr>
            <a:graphicFrameLocks noChangeAspect="1"/>
          </p:cNvGraphicFramePr>
          <p:nvPr/>
        </p:nvGraphicFramePr>
        <p:xfrm>
          <a:off x="1214438" y="4357688"/>
          <a:ext cx="1000125" cy="514350"/>
        </p:xfrm>
        <a:graphic>
          <a:graphicData uri="http://schemas.openxmlformats.org/presentationml/2006/ole">
            <p:oleObj spid="_x0000_s6148" name="Equation" r:id="rId5" imgW="444240" imgH="228600" progId="Equation.DSMT4">
              <p:embed/>
            </p:oleObj>
          </a:graphicData>
        </a:graphic>
      </p:graphicFrame>
      <p:graphicFrame>
        <p:nvGraphicFramePr>
          <p:cNvPr id="6149" name="Object 7"/>
          <p:cNvGraphicFramePr>
            <a:graphicFrameLocks noChangeAspect="1"/>
          </p:cNvGraphicFramePr>
          <p:nvPr/>
        </p:nvGraphicFramePr>
        <p:xfrm>
          <a:off x="2428875" y="4714875"/>
          <a:ext cx="422275" cy="452438"/>
        </p:xfrm>
        <a:graphic>
          <a:graphicData uri="http://schemas.openxmlformats.org/presentationml/2006/ole">
            <p:oleObj spid="_x0000_s6149" name="Equation" r:id="rId6" imgW="177480" imgH="190440" progId="Equation.DSMT4">
              <p:embed/>
            </p:oleObj>
          </a:graphicData>
        </a:graphic>
      </p:graphicFrame>
      <p:graphicFrame>
        <p:nvGraphicFramePr>
          <p:cNvPr id="6150" name="Object 8"/>
          <p:cNvGraphicFramePr>
            <a:graphicFrameLocks noChangeAspect="1"/>
          </p:cNvGraphicFramePr>
          <p:nvPr/>
        </p:nvGraphicFramePr>
        <p:xfrm>
          <a:off x="1214438" y="5643563"/>
          <a:ext cx="857250" cy="571500"/>
        </p:xfrm>
        <a:graphic>
          <a:graphicData uri="http://schemas.openxmlformats.org/presentationml/2006/ole">
            <p:oleObj spid="_x0000_s6150" name="Equation" r:id="rId7" imgW="342720" imgH="228600" progId="Equation.DSMT4">
              <p:embed/>
            </p:oleObj>
          </a:graphicData>
        </a:graphic>
      </p:graphicFrame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A48B90-36CA-4250-9044-D2288E997124}" type="slidenum">
              <a:rPr lang="zh-TW" altLang="en-US" smtClean="0"/>
              <a:pPr>
                <a:defRPr/>
              </a:pPr>
              <a:t>12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標題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1114412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Forward rate model</a:t>
            </a:r>
            <a:r>
              <a:rPr lang="zh-TW" alt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zh-TW" alt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LIBOR Market Model (LMM)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17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We use the Ito’s lemma to derive the stochastic process of the logarithm of the forward rate and is given as follows:</a:t>
            </a:r>
          </a:p>
          <a:p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The volatility function            is deterministic, the logarithm of forward rate is normally distributed, implying that the forward rate is lognormally distributed</a:t>
            </a:r>
            <a:endParaRPr lang="zh-TW" altLang="en-US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7170" name="Object 2"/>
          <p:cNvGraphicFramePr>
            <a:graphicFrameLocks noChangeAspect="1"/>
          </p:cNvGraphicFramePr>
          <p:nvPr/>
        </p:nvGraphicFramePr>
        <p:xfrm>
          <a:off x="1285875" y="2857500"/>
          <a:ext cx="6494463" cy="1071563"/>
        </p:xfrm>
        <a:graphic>
          <a:graphicData uri="http://schemas.openxmlformats.org/presentationml/2006/ole">
            <p:oleObj spid="_x0000_s7170" name="Equation" r:id="rId3" imgW="2539800" imgH="419040" progId="Equation.DSMT4">
              <p:embed/>
            </p:oleObj>
          </a:graphicData>
        </a:graphic>
      </p:graphicFrame>
      <p:graphicFrame>
        <p:nvGraphicFramePr>
          <p:cNvPr id="7171" name="Object 3"/>
          <p:cNvGraphicFramePr>
            <a:graphicFrameLocks noChangeAspect="1"/>
          </p:cNvGraphicFramePr>
          <p:nvPr/>
        </p:nvGraphicFramePr>
        <p:xfrm>
          <a:off x="4572000" y="3786188"/>
          <a:ext cx="928688" cy="619125"/>
        </p:xfrm>
        <a:graphic>
          <a:graphicData uri="http://schemas.openxmlformats.org/presentationml/2006/ole">
            <p:oleObj spid="_x0000_s7171" name="Equation" r:id="rId4" imgW="342720" imgH="228600" progId="Equation.DSMT4">
              <p:embed/>
            </p:oleObj>
          </a:graphicData>
        </a:graphic>
      </p:graphicFrame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D8EFC1-935F-4543-8FC9-98622C53F174}" type="slidenum">
              <a:rPr lang="zh-TW" altLang="en-US" smtClean="0"/>
              <a:pPr>
                <a:defRPr/>
              </a:pPr>
              <a:t>13</a:t>
            </a:fld>
            <a:endParaRPr lang="zh-TW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2" name="標題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1042974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Market Conventions of the LMM and the Discrete-Time Version of the LMM</a:t>
            </a:r>
            <a:endParaRPr lang="zh-TW" altLang="en-US" dirty="0" smtClean="0"/>
          </a:p>
        </p:txBody>
      </p:sp>
      <p:sp>
        <p:nvSpPr>
          <p:cNvPr id="820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The relationship between the discrete LIBOR rate</a:t>
            </a:r>
          </a:p>
          <a:p>
            <a:pPr>
              <a:buFont typeface="Wingdings 2" pitchFamily="18" charset="2"/>
              <a:buNone/>
            </a:pP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                  for the term                   and the zero coupon bond price                 , given as follows:</a:t>
            </a:r>
          </a:p>
          <a:p>
            <a:pPr>
              <a:buFont typeface="Wingdings 2" pitchFamily="18" charset="2"/>
              <a:buNone/>
            </a:pPr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</a:pPr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</a:pP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    where                                is the time line and     is called the tenor for the period      to </a:t>
            </a:r>
            <a:endParaRPr lang="zh-TW" altLang="en-US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20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TW" altLang="en-US"/>
          </a:p>
        </p:txBody>
      </p:sp>
      <p:graphicFrame>
        <p:nvGraphicFramePr>
          <p:cNvPr id="8194" name="Object 1"/>
          <p:cNvGraphicFramePr>
            <a:graphicFrameLocks noChangeAspect="1"/>
          </p:cNvGraphicFramePr>
          <p:nvPr/>
        </p:nvGraphicFramePr>
        <p:xfrm>
          <a:off x="2357438" y="3286125"/>
          <a:ext cx="3857625" cy="1009650"/>
        </p:xfrm>
        <a:graphic>
          <a:graphicData uri="http://schemas.openxmlformats.org/presentationml/2006/ole">
            <p:oleObj spid="_x0000_s8194" name="Equation" r:id="rId3" imgW="1638000" imgH="431640" progId="Equation.DSMT4">
              <p:embed/>
            </p:oleObj>
          </a:graphicData>
        </a:graphic>
      </p:graphicFrame>
      <p:sp>
        <p:nvSpPr>
          <p:cNvPr id="8205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TW" altLang="en-US"/>
          </a:p>
        </p:txBody>
      </p:sp>
      <p:graphicFrame>
        <p:nvGraphicFramePr>
          <p:cNvPr id="8195" name="Object 11"/>
          <p:cNvGraphicFramePr>
            <a:graphicFrameLocks noChangeAspect="1"/>
          </p:cNvGraphicFramePr>
          <p:nvPr/>
        </p:nvGraphicFramePr>
        <p:xfrm>
          <a:off x="714375" y="2170113"/>
          <a:ext cx="1428750" cy="536575"/>
        </p:xfrm>
        <a:graphic>
          <a:graphicData uri="http://schemas.openxmlformats.org/presentationml/2006/ole">
            <p:oleObj spid="_x0000_s8195" name="Equation" r:id="rId4" imgW="609600" imgH="228600" progId="Equation.DSMT4">
              <p:embed/>
            </p:oleObj>
          </a:graphicData>
        </a:graphic>
      </p:graphicFrame>
      <p:sp>
        <p:nvSpPr>
          <p:cNvPr id="8206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TW" altLang="en-US"/>
          </a:p>
        </p:txBody>
      </p:sp>
      <p:graphicFrame>
        <p:nvGraphicFramePr>
          <p:cNvPr id="8196" name="Object 13"/>
          <p:cNvGraphicFramePr>
            <a:graphicFrameLocks noChangeAspect="1"/>
          </p:cNvGraphicFramePr>
          <p:nvPr/>
        </p:nvGraphicFramePr>
        <p:xfrm>
          <a:off x="4286250" y="2214563"/>
          <a:ext cx="1601788" cy="500062"/>
        </p:xfrm>
        <a:graphic>
          <a:graphicData uri="http://schemas.openxmlformats.org/presentationml/2006/ole">
            <p:oleObj spid="_x0000_s8196" name="Equation" r:id="rId5" imgW="736600" imgH="228600" progId="Equation.DSMT4">
              <p:embed/>
            </p:oleObj>
          </a:graphicData>
        </a:graphic>
      </p:graphicFrame>
      <p:sp>
        <p:nvSpPr>
          <p:cNvPr id="8207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TW" altLang="en-US"/>
          </a:p>
        </p:txBody>
      </p:sp>
      <p:graphicFrame>
        <p:nvGraphicFramePr>
          <p:cNvPr id="8197" name="Object 15"/>
          <p:cNvGraphicFramePr>
            <a:graphicFrameLocks noChangeAspect="1"/>
          </p:cNvGraphicFramePr>
          <p:nvPr/>
        </p:nvGraphicFramePr>
        <p:xfrm>
          <a:off x="3902075" y="2673350"/>
          <a:ext cx="1524000" cy="571500"/>
        </p:xfrm>
        <a:graphic>
          <a:graphicData uri="http://schemas.openxmlformats.org/presentationml/2006/ole">
            <p:oleObj spid="_x0000_s8197" name="Equation" r:id="rId6" imgW="609600" imgH="228600" progId="Equation.DSMT4">
              <p:embed/>
            </p:oleObj>
          </a:graphicData>
        </a:graphic>
      </p:graphicFrame>
      <p:sp>
        <p:nvSpPr>
          <p:cNvPr id="8208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TW" altLang="en-US"/>
          </a:p>
        </p:txBody>
      </p:sp>
      <p:graphicFrame>
        <p:nvGraphicFramePr>
          <p:cNvPr id="8198" name="Object 17"/>
          <p:cNvGraphicFramePr>
            <a:graphicFrameLocks noChangeAspect="1"/>
          </p:cNvGraphicFramePr>
          <p:nvPr/>
        </p:nvGraphicFramePr>
        <p:xfrm>
          <a:off x="2000250" y="4500563"/>
          <a:ext cx="2852738" cy="447675"/>
        </p:xfrm>
        <a:graphic>
          <a:graphicData uri="http://schemas.openxmlformats.org/presentationml/2006/ole">
            <p:oleObj spid="_x0000_s8198" name="Equation" r:id="rId7" imgW="1460500" imgH="228600" progId="Equation.DSMT4">
              <p:embed/>
            </p:oleObj>
          </a:graphicData>
        </a:graphic>
      </p:graphicFrame>
      <p:sp>
        <p:nvSpPr>
          <p:cNvPr id="8209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TW" altLang="en-US"/>
          </a:p>
        </p:txBody>
      </p:sp>
      <p:graphicFrame>
        <p:nvGraphicFramePr>
          <p:cNvPr id="8199" name="Object 19"/>
          <p:cNvGraphicFramePr>
            <a:graphicFrameLocks noChangeAspect="1"/>
          </p:cNvGraphicFramePr>
          <p:nvPr/>
        </p:nvGraphicFramePr>
        <p:xfrm>
          <a:off x="8215313" y="4441825"/>
          <a:ext cx="357187" cy="534988"/>
        </p:xfrm>
        <a:graphic>
          <a:graphicData uri="http://schemas.openxmlformats.org/presentationml/2006/ole">
            <p:oleObj spid="_x0000_s8199" name="Equation" r:id="rId8" imgW="152334" imgH="228501" progId="Equation.DSMT4">
              <p:embed/>
            </p:oleObj>
          </a:graphicData>
        </a:graphic>
      </p:graphicFrame>
      <p:sp>
        <p:nvSpPr>
          <p:cNvPr id="8210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TW" altLang="en-US"/>
          </a:p>
        </p:txBody>
      </p:sp>
      <p:graphicFrame>
        <p:nvGraphicFramePr>
          <p:cNvPr id="8200" name="Object 21"/>
          <p:cNvGraphicFramePr>
            <a:graphicFrameLocks noChangeAspect="1"/>
          </p:cNvGraphicFramePr>
          <p:nvPr/>
        </p:nvGraphicFramePr>
        <p:xfrm>
          <a:off x="6072188" y="4929188"/>
          <a:ext cx="357187" cy="571500"/>
        </p:xfrm>
        <a:graphic>
          <a:graphicData uri="http://schemas.openxmlformats.org/presentationml/2006/ole">
            <p:oleObj spid="_x0000_s8200" name="Equation" r:id="rId9" imgW="139700" imgH="228600" progId="Equation.DSMT4">
              <p:embed/>
            </p:oleObj>
          </a:graphicData>
        </a:graphic>
      </p:graphicFrame>
      <p:sp>
        <p:nvSpPr>
          <p:cNvPr id="8211" name="Rectangle 2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TW" altLang="en-US"/>
          </a:p>
        </p:txBody>
      </p:sp>
      <p:graphicFrame>
        <p:nvGraphicFramePr>
          <p:cNvPr id="8201" name="Object 23"/>
          <p:cNvGraphicFramePr>
            <a:graphicFrameLocks noChangeAspect="1"/>
          </p:cNvGraphicFramePr>
          <p:nvPr/>
        </p:nvGraphicFramePr>
        <p:xfrm>
          <a:off x="7000875" y="4929188"/>
          <a:ext cx="573088" cy="571500"/>
        </p:xfrm>
        <a:graphic>
          <a:graphicData uri="http://schemas.openxmlformats.org/presentationml/2006/ole">
            <p:oleObj spid="_x0000_s8201" name="Equation" r:id="rId10" imgW="228600" imgH="228600" progId="Equation.DSMT4">
              <p:embed/>
            </p:oleObj>
          </a:graphicData>
        </a:graphic>
      </p:graphicFrame>
      <p:sp>
        <p:nvSpPr>
          <p:cNvPr id="20" name="投影片編號版面配置區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11974B5-C298-4929-9F93-A3932A64B724}" type="slidenum">
              <a:rPr lang="zh-TW" altLang="en-US" smtClean="0"/>
              <a:pPr>
                <a:defRPr/>
              </a:pPr>
              <a:t>14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1042974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relationship between discrete forward rate and zero coupon bond 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22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At time t, the relationship between discrete forward rate                and two zero coupon bond maturity at time      and        </a:t>
            </a:r>
          </a:p>
          <a:p>
            <a:pPr>
              <a:buFont typeface="Wingdings 2" pitchFamily="18" charset="2"/>
              <a:buNone/>
            </a:pP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   </a:t>
            </a:r>
          </a:p>
          <a:p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When discrete forward rate converges to the future LIBOR rate at time    , we can rewrite as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6889D5-D9EB-41E9-B903-44C0A3797207}" type="slidenum">
              <a:rPr lang="zh-TW" altLang="en-US" smtClean="0"/>
              <a:pPr>
                <a:defRPr/>
              </a:pPr>
              <a:t>15</a:t>
            </a:fld>
            <a:endParaRPr lang="zh-TW" altLang="en-US"/>
          </a:p>
        </p:txBody>
      </p:sp>
      <p:graphicFrame>
        <p:nvGraphicFramePr>
          <p:cNvPr id="9218" name="Object 5"/>
          <p:cNvGraphicFramePr>
            <a:graphicFrameLocks noChangeAspect="1"/>
          </p:cNvGraphicFramePr>
          <p:nvPr/>
        </p:nvGraphicFramePr>
        <p:xfrm>
          <a:off x="2786063" y="2143125"/>
          <a:ext cx="1492250" cy="471488"/>
        </p:xfrm>
        <a:graphic>
          <a:graphicData uri="http://schemas.openxmlformats.org/presentationml/2006/ole">
            <p:oleObj spid="_x0000_s9218" name="Equation" r:id="rId3" imgW="723600" imgH="228600" progId="Equation.DSMT4">
              <p:embed/>
            </p:oleObj>
          </a:graphicData>
        </a:graphic>
      </p:graphicFrame>
      <p:graphicFrame>
        <p:nvGraphicFramePr>
          <p:cNvPr id="9219" name="Object 7"/>
          <p:cNvGraphicFramePr>
            <a:graphicFrameLocks noChangeAspect="1"/>
          </p:cNvGraphicFramePr>
          <p:nvPr/>
        </p:nvGraphicFramePr>
        <p:xfrm>
          <a:off x="3429000" y="2571750"/>
          <a:ext cx="355600" cy="582613"/>
        </p:xfrm>
        <a:graphic>
          <a:graphicData uri="http://schemas.openxmlformats.org/presentationml/2006/ole">
            <p:oleObj spid="_x0000_s9219" name="Equation" r:id="rId4" imgW="139680" imgH="228600" progId="Equation.DSMT4">
              <p:embed/>
            </p:oleObj>
          </a:graphicData>
        </a:graphic>
      </p:graphicFrame>
      <p:graphicFrame>
        <p:nvGraphicFramePr>
          <p:cNvPr id="9220" name="Object 8"/>
          <p:cNvGraphicFramePr>
            <a:graphicFrameLocks noChangeAspect="1"/>
          </p:cNvGraphicFramePr>
          <p:nvPr/>
        </p:nvGraphicFramePr>
        <p:xfrm>
          <a:off x="4643438" y="2555875"/>
          <a:ext cx="614362" cy="614363"/>
        </p:xfrm>
        <a:graphic>
          <a:graphicData uri="http://schemas.openxmlformats.org/presentationml/2006/ole">
            <p:oleObj spid="_x0000_s9220" name="Equation" r:id="rId5" imgW="228600" imgH="228600" progId="Equation.DSMT4">
              <p:embed/>
            </p:oleObj>
          </a:graphicData>
        </a:graphic>
      </p:graphicFrame>
      <p:graphicFrame>
        <p:nvGraphicFramePr>
          <p:cNvPr id="9221" name="Object 9"/>
          <p:cNvGraphicFramePr>
            <a:graphicFrameLocks noChangeAspect="1"/>
          </p:cNvGraphicFramePr>
          <p:nvPr/>
        </p:nvGraphicFramePr>
        <p:xfrm>
          <a:off x="5056188" y="4829175"/>
          <a:ext cx="355600" cy="581025"/>
        </p:xfrm>
        <a:graphic>
          <a:graphicData uri="http://schemas.openxmlformats.org/presentationml/2006/ole">
            <p:oleObj spid="_x0000_s9221" name="Equation" r:id="rId6" imgW="139680" imgH="228600" progId="Equation.DSMT4">
              <p:embed/>
            </p:oleObj>
          </a:graphicData>
        </a:graphic>
      </p:graphicFrame>
      <p:graphicFrame>
        <p:nvGraphicFramePr>
          <p:cNvPr id="9222" name="Object 10"/>
          <p:cNvGraphicFramePr>
            <a:graphicFrameLocks noChangeAspect="1"/>
          </p:cNvGraphicFramePr>
          <p:nvPr/>
        </p:nvGraphicFramePr>
        <p:xfrm>
          <a:off x="2357438" y="3214688"/>
          <a:ext cx="4357687" cy="1104900"/>
        </p:xfrm>
        <a:graphic>
          <a:graphicData uri="http://schemas.openxmlformats.org/presentationml/2006/ole">
            <p:oleObj spid="_x0000_s9222" name="Equation" r:id="rId7" imgW="1701720" imgH="431640" progId="Equation.DSMT4">
              <p:embed/>
            </p:oleObj>
          </a:graphicData>
        </a:graphic>
      </p:graphicFrame>
      <p:graphicFrame>
        <p:nvGraphicFramePr>
          <p:cNvPr id="9223" name="Object 11"/>
          <p:cNvGraphicFramePr>
            <a:graphicFrameLocks noChangeAspect="1"/>
          </p:cNvGraphicFramePr>
          <p:nvPr/>
        </p:nvGraphicFramePr>
        <p:xfrm>
          <a:off x="1357313" y="5357813"/>
          <a:ext cx="6524625" cy="1046162"/>
        </p:xfrm>
        <a:graphic>
          <a:graphicData uri="http://schemas.openxmlformats.org/presentationml/2006/ole">
            <p:oleObj spid="_x0000_s9223" name="Equation" r:id="rId8" imgW="2692080" imgH="43164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4800" y="285728"/>
            <a:ext cx="8686800" cy="1143008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Basic term in the market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AABA6B-5168-49B6-B8D9-1F5ECAFB21BC}" type="slidenum">
              <a:rPr lang="zh-TW" altLang="en-US" smtClean="0"/>
              <a:pPr>
                <a:defRPr/>
              </a:pPr>
              <a:t>16</a:t>
            </a:fld>
            <a:endParaRPr lang="zh-TW" altLang="en-US"/>
          </a:p>
        </p:txBody>
      </p:sp>
      <p:pic>
        <p:nvPicPr>
          <p:cNvPr id="53252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85750" y="1285875"/>
            <a:ext cx="8572500" cy="5000625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標題 1"/>
          <p:cNvSpPr>
            <a:spLocks noGrp="1"/>
          </p:cNvSpPr>
          <p:nvPr>
            <p:ph type="title"/>
          </p:nvPr>
        </p:nvSpPr>
        <p:spPr>
          <a:xfrm>
            <a:off x="304800" y="357166"/>
            <a:ext cx="8686800" cy="938234"/>
          </a:xfrm>
        </p:spPr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Black’s formula for the caplet</a:t>
            </a:r>
            <a:endParaRPr lang="zh-TW" altLang="en-US" dirty="0" smtClean="0"/>
          </a:p>
        </p:txBody>
      </p:sp>
      <p:sp>
        <p:nvSpPr>
          <p:cNvPr id="1024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Black’s formula for the </a:t>
            </a:r>
            <a:r>
              <a:rPr lang="en-US" altLang="zh-TW" i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-th caplet valued at time</a:t>
            </a:r>
            <a:r>
              <a:rPr lang="en-US" altLang="zh-TW" i="1" smtClean="0">
                <a:latin typeface="Times New Roman" pitchFamily="18" charset="0"/>
                <a:cs typeface="Times New Roman" pitchFamily="18" charset="0"/>
              </a:rPr>
              <a:t> t</a:t>
            </a: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</a:pP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	where</a:t>
            </a:r>
          </a:p>
          <a:p>
            <a:endParaRPr lang="zh-TW" altLang="en-US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0242" name="Object 4"/>
          <p:cNvGraphicFramePr>
            <a:graphicFrameLocks noChangeAspect="1"/>
          </p:cNvGraphicFramePr>
          <p:nvPr/>
        </p:nvGraphicFramePr>
        <p:xfrm>
          <a:off x="714375" y="2643188"/>
          <a:ext cx="8164513" cy="536575"/>
        </p:xfrm>
        <a:graphic>
          <a:graphicData uri="http://schemas.openxmlformats.org/presentationml/2006/ole">
            <p:oleObj spid="_x0000_s10242" name="Equation" r:id="rId3" imgW="3479760" imgH="228600" progId="Equation.DSMT4">
              <p:embed/>
            </p:oleObj>
          </a:graphicData>
        </a:graphic>
      </p:graphicFrame>
      <p:graphicFrame>
        <p:nvGraphicFramePr>
          <p:cNvPr id="10243" name="Object 5"/>
          <p:cNvGraphicFramePr>
            <a:graphicFrameLocks noChangeAspect="1"/>
          </p:cNvGraphicFramePr>
          <p:nvPr/>
        </p:nvGraphicFramePr>
        <p:xfrm>
          <a:off x="1214438" y="3633788"/>
          <a:ext cx="6777037" cy="3224212"/>
        </p:xfrm>
        <a:graphic>
          <a:graphicData uri="http://schemas.openxmlformats.org/presentationml/2006/ole">
            <p:oleObj spid="_x0000_s10243" name="Equation" r:id="rId4" imgW="4457520" imgH="2120760" progId="Equation.DSMT4">
              <p:embed/>
            </p:oleObj>
          </a:graphicData>
        </a:graphic>
      </p:graphicFrame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D8397F-4FD9-4FC4-BAB4-FCDC71DE8462}" type="slidenum">
              <a:rPr lang="zh-TW" altLang="en-US" smtClean="0"/>
              <a:pPr>
                <a:defRPr/>
              </a:pPr>
              <a:t>17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Forward rate agreement (FRA)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274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An agreement made at time </a:t>
            </a:r>
            <a:r>
              <a:rPr lang="en-US" altLang="zh-TW" i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 to exchange fixed rate interest payments at a rate </a:t>
            </a:r>
            <a:r>
              <a:rPr lang="en-US" altLang="zh-TW" i="1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 for variable rate payments, on a notional amount </a:t>
            </a:r>
            <a:r>
              <a:rPr lang="en-US" altLang="zh-TW" i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, for the loan period      and       equal to one year.</a:t>
            </a:r>
          </a:p>
          <a:p>
            <a:pPr algn="just"/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The settlement amount at time     on a long FRA</a:t>
            </a:r>
          </a:p>
          <a:p>
            <a:pPr algn="just"/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 2" pitchFamily="18" charset="2"/>
              <a:buNone/>
            </a:pP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    where             is the annual yield at time     to </a:t>
            </a:r>
            <a:endParaRPr lang="zh-TW" altLang="en-US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69092C-4CCC-4BB8-BD01-3B48F22FA377}" type="slidenum">
              <a:rPr lang="zh-TW" altLang="en-US" smtClean="0"/>
              <a:pPr>
                <a:defRPr/>
              </a:pPr>
              <a:t>18</a:t>
            </a:fld>
            <a:endParaRPr lang="zh-TW" altLang="en-US"/>
          </a:p>
        </p:txBody>
      </p:sp>
      <p:graphicFrame>
        <p:nvGraphicFramePr>
          <p:cNvPr id="11266" name="Object 5"/>
          <p:cNvGraphicFramePr>
            <a:graphicFrameLocks noChangeAspect="1"/>
          </p:cNvGraphicFramePr>
          <p:nvPr/>
        </p:nvGraphicFramePr>
        <p:xfrm>
          <a:off x="1930400" y="3057525"/>
          <a:ext cx="392113" cy="544513"/>
        </p:xfrm>
        <a:graphic>
          <a:graphicData uri="http://schemas.openxmlformats.org/presentationml/2006/ole">
            <p:oleObj spid="_x0000_s11266" name="Equation" r:id="rId3" imgW="164880" imgH="228600" progId="Equation.DSMT4">
              <p:embed/>
            </p:oleObj>
          </a:graphicData>
        </a:graphic>
      </p:graphicFrame>
      <p:graphicFrame>
        <p:nvGraphicFramePr>
          <p:cNvPr id="11267" name="Object 6"/>
          <p:cNvGraphicFramePr>
            <a:graphicFrameLocks noChangeAspect="1"/>
          </p:cNvGraphicFramePr>
          <p:nvPr/>
        </p:nvGraphicFramePr>
        <p:xfrm>
          <a:off x="3071813" y="3071813"/>
          <a:ext cx="571500" cy="514350"/>
        </p:xfrm>
        <a:graphic>
          <a:graphicData uri="http://schemas.openxmlformats.org/presentationml/2006/ole">
            <p:oleObj spid="_x0000_s11267" name="Equation" r:id="rId4" imgW="253800" imgH="228600" progId="Equation.DSMT4">
              <p:embed/>
            </p:oleObj>
          </a:graphicData>
        </a:graphic>
      </p:graphicFrame>
      <p:graphicFrame>
        <p:nvGraphicFramePr>
          <p:cNvPr id="11268" name="Object 7"/>
          <p:cNvGraphicFramePr>
            <a:graphicFrameLocks noChangeAspect="1"/>
          </p:cNvGraphicFramePr>
          <p:nvPr/>
        </p:nvGraphicFramePr>
        <p:xfrm>
          <a:off x="5786438" y="3641725"/>
          <a:ext cx="377825" cy="522288"/>
        </p:xfrm>
        <a:graphic>
          <a:graphicData uri="http://schemas.openxmlformats.org/presentationml/2006/ole">
            <p:oleObj spid="_x0000_s11268" name="Equation" r:id="rId5" imgW="164880" imgH="228600" progId="Equation.DSMT4">
              <p:embed/>
            </p:oleObj>
          </a:graphicData>
        </a:graphic>
      </p:graphicFrame>
      <p:graphicFrame>
        <p:nvGraphicFramePr>
          <p:cNvPr id="11269" name="Object 8"/>
          <p:cNvGraphicFramePr>
            <a:graphicFrameLocks noChangeAspect="1"/>
          </p:cNvGraphicFramePr>
          <p:nvPr/>
        </p:nvGraphicFramePr>
        <p:xfrm>
          <a:off x="2357438" y="4232275"/>
          <a:ext cx="4403725" cy="1054100"/>
        </p:xfrm>
        <a:graphic>
          <a:graphicData uri="http://schemas.openxmlformats.org/presentationml/2006/ole">
            <p:oleObj spid="_x0000_s11269" name="Equation" r:id="rId6" imgW="1803240" imgH="431640" progId="Equation.DSMT4">
              <p:embed/>
            </p:oleObj>
          </a:graphicData>
        </a:graphic>
      </p:graphicFrame>
      <p:graphicFrame>
        <p:nvGraphicFramePr>
          <p:cNvPr id="11270" name="Object 9"/>
          <p:cNvGraphicFramePr>
            <a:graphicFrameLocks noChangeAspect="1"/>
          </p:cNvGraphicFramePr>
          <p:nvPr/>
        </p:nvGraphicFramePr>
        <p:xfrm>
          <a:off x="1785938" y="5475288"/>
          <a:ext cx="1285875" cy="454025"/>
        </p:xfrm>
        <a:graphic>
          <a:graphicData uri="http://schemas.openxmlformats.org/presentationml/2006/ole">
            <p:oleObj spid="_x0000_s11270" name="Equation" r:id="rId7" imgW="647640" imgH="228600" progId="Equation.DSMT4">
              <p:embed/>
            </p:oleObj>
          </a:graphicData>
        </a:graphic>
      </p:graphicFrame>
      <p:graphicFrame>
        <p:nvGraphicFramePr>
          <p:cNvPr id="11271" name="Object 10"/>
          <p:cNvGraphicFramePr>
            <a:graphicFrameLocks noChangeAspect="1"/>
          </p:cNvGraphicFramePr>
          <p:nvPr/>
        </p:nvGraphicFramePr>
        <p:xfrm>
          <a:off x="7358063" y="5429250"/>
          <a:ext cx="428625" cy="593725"/>
        </p:xfrm>
        <a:graphic>
          <a:graphicData uri="http://schemas.openxmlformats.org/presentationml/2006/ole">
            <p:oleObj spid="_x0000_s11271" name="Equation" r:id="rId8" imgW="164880" imgH="228600" progId="Equation.DSMT4">
              <p:embed/>
            </p:oleObj>
          </a:graphicData>
        </a:graphic>
      </p:graphicFrame>
      <p:graphicFrame>
        <p:nvGraphicFramePr>
          <p:cNvPr id="11272" name="Object 11"/>
          <p:cNvGraphicFramePr>
            <a:graphicFrameLocks noChangeAspect="1"/>
          </p:cNvGraphicFramePr>
          <p:nvPr/>
        </p:nvGraphicFramePr>
        <p:xfrm>
          <a:off x="8243888" y="5413375"/>
          <a:ext cx="635000" cy="571500"/>
        </p:xfrm>
        <a:graphic>
          <a:graphicData uri="http://schemas.openxmlformats.org/presentationml/2006/ole">
            <p:oleObj spid="_x0000_s11272" name="Equation" r:id="rId9" imgW="253800" imgH="2286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Forward rate agreement (FRA)</a:t>
            </a:r>
            <a:endParaRPr lang="zh-TW" altLang="en-US" dirty="0"/>
          </a:p>
        </p:txBody>
      </p:sp>
      <p:sp>
        <p:nvSpPr>
          <p:cNvPr id="12294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At the time  </a:t>
            </a:r>
            <a:r>
              <a:rPr lang="en-US" altLang="zh-TW" i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 of the contract inception, an FRA is normally structured so that it has zero value</a:t>
            </a:r>
          </a:p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We denote the value of the FRA at time </a:t>
            </a:r>
            <a:r>
              <a:rPr lang="en-US" altLang="zh-TW" i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 as  which can be expressed as </a:t>
            </a:r>
          </a:p>
          <a:p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Here, we set </a:t>
            </a:r>
            <a:r>
              <a:rPr lang="en-US" altLang="zh-TW" i="1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 equal to                   to avoid the arbitrage </a:t>
            </a:r>
            <a:endParaRPr lang="zh-TW" altLang="en-US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915510-87D5-4125-B985-A99D0D95701F}" type="slidenum">
              <a:rPr lang="zh-TW" altLang="en-US" smtClean="0"/>
              <a:pPr>
                <a:defRPr/>
              </a:pPr>
              <a:t>19</a:t>
            </a:fld>
            <a:endParaRPr lang="zh-TW" altLang="en-US"/>
          </a:p>
        </p:txBody>
      </p:sp>
      <p:graphicFrame>
        <p:nvGraphicFramePr>
          <p:cNvPr id="12290" name="Object 2"/>
          <p:cNvGraphicFramePr>
            <a:graphicFrameLocks noChangeAspect="1"/>
          </p:cNvGraphicFramePr>
          <p:nvPr/>
        </p:nvGraphicFramePr>
        <p:xfrm>
          <a:off x="7786688" y="2759075"/>
          <a:ext cx="1452562" cy="493713"/>
        </p:xfrm>
        <a:graphic>
          <a:graphicData uri="http://schemas.openxmlformats.org/presentationml/2006/ole">
            <p:oleObj spid="_x0000_s12290" name="Equation" r:id="rId3" imgW="672840" imgH="228600" progId="Equation.DSMT4">
              <p:embed/>
            </p:oleObj>
          </a:graphicData>
        </a:graphic>
      </p:graphicFrame>
      <p:graphicFrame>
        <p:nvGraphicFramePr>
          <p:cNvPr id="12291" name="Object 3"/>
          <p:cNvGraphicFramePr>
            <a:graphicFrameLocks noChangeAspect="1"/>
          </p:cNvGraphicFramePr>
          <p:nvPr/>
        </p:nvGraphicFramePr>
        <p:xfrm>
          <a:off x="1000125" y="3714750"/>
          <a:ext cx="7210425" cy="1052513"/>
        </p:xfrm>
        <a:graphic>
          <a:graphicData uri="http://schemas.openxmlformats.org/presentationml/2006/ole">
            <p:oleObj spid="_x0000_s12291" name="Equation" r:id="rId4" imgW="2958840" imgH="431640" progId="Equation.DSMT4">
              <p:embed/>
            </p:oleObj>
          </a:graphicData>
        </a:graphic>
      </p:graphicFrame>
      <p:graphicFrame>
        <p:nvGraphicFramePr>
          <p:cNvPr id="12292" name="Object 4"/>
          <p:cNvGraphicFramePr>
            <a:graphicFrameLocks noChangeAspect="1"/>
          </p:cNvGraphicFramePr>
          <p:nvPr/>
        </p:nvGraphicFramePr>
        <p:xfrm>
          <a:off x="4572000" y="4929188"/>
          <a:ext cx="1809750" cy="542925"/>
        </p:xfrm>
        <a:graphic>
          <a:graphicData uri="http://schemas.openxmlformats.org/presentationml/2006/ole">
            <p:oleObj spid="_x0000_s12292" name="Equation" r:id="rId5" imgW="761760" imgH="2286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>
          <a:xfrm>
            <a:off x="285720" y="571480"/>
            <a:ext cx="8686800" cy="841248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relationship between discrete time  forward rate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8BB2C4-95FC-4B4A-B67D-2F899AC561B6}" type="slidenum">
              <a:rPr lang="zh-TW" altLang="en-US" smtClean="0"/>
              <a:pPr>
                <a:defRPr/>
              </a:pPr>
              <a:t>20</a:t>
            </a:fld>
            <a:endParaRPr lang="zh-TW" altLang="en-US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571472" y="1571612"/>
          <a:ext cx="8001058" cy="4834739"/>
        </p:xfrm>
        <a:graphic>
          <a:graphicData uri="http://schemas.openxmlformats.org/drawingml/2006/table">
            <a:tbl>
              <a:tblPr/>
              <a:tblGrid>
                <a:gridCol w="1643074"/>
                <a:gridCol w="1567382"/>
                <a:gridCol w="1605228"/>
                <a:gridCol w="1605228"/>
                <a:gridCol w="1580146"/>
              </a:tblGrid>
              <a:tr h="5014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Time 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Time 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Time 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Time 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…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1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f(0;0,1)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400" b="0" i="0" u="none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400" b="0" i="0" u="none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400" b="0" i="0" u="none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400" b="0" i="0" u="none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60192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f(0;1,2)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f(1;1,2)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4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4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400" b="0" i="0" u="none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2681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f(0;2,3)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f(1;2,3)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f(2;2,3)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4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400" b="0" i="0" u="none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2681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f(0;3,4)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f(1;3,4)</a:t>
                      </a:r>
                      <a:endParaRPr lang="en-US" sz="2400" b="0" i="0" u="none" strike="noStrike" dirty="0">
                        <a:solidFill>
                          <a:srgbClr val="00B050"/>
                        </a:solidFill>
                        <a:latin typeface="Times New Roman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f(2;3,4)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f(3;3,4)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400" b="0" i="0" u="none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7520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.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.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.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.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.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268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.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.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.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.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.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6459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.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.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.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.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.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7" name="文字方塊 16"/>
          <p:cNvSpPr txBox="1"/>
          <p:nvPr/>
        </p:nvSpPr>
        <p:spPr>
          <a:xfrm>
            <a:off x="1857356" y="2285992"/>
            <a:ext cx="1143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/>
            <a:r>
              <a:rPr lang="en-US" altLang="zh-TW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(1) drift</a:t>
            </a:r>
            <a:endParaRPr lang="zh-TW" alt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3214678" y="4643446"/>
            <a:ext cx="13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/>
            <a:r>
              <a:rPr lang="en-US" altLang="zh-TW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(2) volatility</a:t>
            </a:r>
          </a:p>
        </p:txBody>
      </p:sp>
      <p:sp>
        <p:nvSpPr>
          <p:cNvPr id="19" name="文字方塊 18"/>
          <p:cNvSpPr txBox="1"/>
          <p:nvPr/>
        </p:nvSpPr>
        <p:spPr>
          <a:xfrm>
            <a:off x="5357818" y="3643314"/>
            <a:ext cx="1571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(3) covariance</a:t>
            </a:r>
            <a:endParaRPr lang="zh-TW" alt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AutoShape 13"/>
          <p:cNvSpPr>
            <a:spLocks/>
          </p:cNvSpPr>
          <p:nvPr/>
        </p:nvSpPr>
        <p:spPr bwMode="auto">
          <a:xfrm rot="5400000">
            <a:off x="3750463" y="3750471"/>
            <a:ext cx="142876" cy="1500198"/>
          </a:xfrm>
          <a:prstGeom prst="rightBrace">
            <a:avLst>
              <a:gd name="adj1" fmla="val 83535"/>
              <a:gd name="adj2" fmla="val 51389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AutoShape 13"/>
          <p:cNvSpPr>
            <a:spLocks/>
          </p:cNvSpPr>
          <p:nvPr/>
        </p:nvSpPr>
        <p:spPr bwMode="auto">
          <a:xfrm rot="5400000" flipH="1">
            <a:off x="2102627" y="1969283"/>
            <a:ext cx="152400" cy="1500198"/>
          </a:xfrm>
          <a:prstGeom prst="rightBrace">
            <a:avLst>
              <a:gd name="adj1" fmla="val 83535"/>
              <a:gd name="adj2" fmla="val 51389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右大括弧 21"/>
          <p:cNvSpPr/>
          <p:nvPr/>
        </p:nvSpPr>
        <p:spPr>
          <a:xfrm>
            <a:off x="5072066" y="3571876"/>
            <a:ext cx="285752" cy="714380"/>
          </a:xfrm>
          <a:prstGeom prst="rightBrace">
            <a:avLst/>
          </a:prstGeom>
          <a:ln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discrete time version of LMM</a:t>
            </a:r>
            <a:endParaRPr lang="zh-TW" altLang="en-US" dirty="0" smtClean="0"/>
          </a:p>
        </p:txBody>
      </p:sp>
      <p:sp>
        <p:nvSpPr>
          <p:cNvPr id="13317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We restate the most important results which are under the “risk neutral” measure in the Poon and Stapleton text (2005)</a:t>
            </a:r>
          </a:p>
          <a:p>
            <a:pPr>
              <a:buFont typeface="Arial" charset="0"/>
              <a:buChar char="•"/>
            </a:pP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For a zero-coupon bond price is given by</a:t>
            </a:r>
          </a:p>
          <a:p>
            <a:pPr>
              <a:buFont typeface="Calibri" pitchFamily="34" charset="0"/>
              <a:buAutoNum type="arabicPeriod"/>
            </a:pPr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Char char="•"/>
            </a:pP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The drift of the forward bond price is given by</a:t>
            </a:r>
            <a:endParaRPr lang="zh-TW" altLang="en-US" smtClean="0">
              <a:latin typeface="Times New Roman" pitchFamily="18" charset="0"/>
              <a:cs typeface="Times New Roman" pitchFamily="18" charset="0"/>
            </a:endParaRPr>
          </a:p>
          <a:p>
            <a:endParaRPr lang="zh-TW" altLang="en-US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3314" name="Object 2"/>
          <p:cNvGraphicFramePr>
            <a:graphicFrameLocks noChangeAspect="1"/>
          </p:cNvGraphicFramePr>
          <p:nvPr/>
        </p:nvGraphicFramePr>
        <p:xfrm>
          <a:off x="2357438" y="3714750"/>
          <a:ext cx="4429125" cy="557213"/>
        </p:xfrm>
        <a:graphic>
          <a:graphicData uri="http://schemas.openxmlformats.org/presentationml/2006/ole">
            <p:oleObj spid="_x0000_s13314" name="Equation" r:id="rId3" imgW="1815840" imgH="228600" progId="Equation.DSMT4">
              <p:embed/>
            </p:oleObj>
          </a:graphicData>
        </a:graphic>
      </p:graphicFrame>
      <p:graphicFrame>
        <p:nvGraphicFramePr>
          <p:cNvPr id="13315" name="Object 3"/>
          <p:cNvGraphicFramePr>
            <a:graphicFrameLocks noChangeAspect="1"/>
          </p:cNvGraphicFramePr>
          <p:nvPr/>
        </p:nvGraphicFramePr>
        <p:xfrm>
          <a:off x="714375" y="4929188"/>
          <a:ext cx="8089900" cy="1357312"/>
        </p:xfrm>
        <a:graphic>
          <a:graphicData uri="http://schemas.openxmlformats.org/presentationml/2006/ole">
            <p:oleObj spid="_x0000_s13315" name="Equation" r:id="rId4" imgW="3936960" imgH="660240" progId="Equation.DSMT4">
              <p:embed/>
            </p:oleObj>
          </a:graphicData>
        </a:graphic>
      </p:graphicFrame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7C552C-F95F-4188-A59E-92045D03015A}" type="slidenum">
              <a:rPr lang="zh-TW" altLang="en-US" smtClean="0"/>
              <a:pPr>
                <a:defRPr/>
              </a:pPr>
              <a:t>21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most important results in text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412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Arial" pitchFamily="34" charset="0"/>
              <a:buChar char="•"/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drift of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T-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period forward rate is given by</a:t>
            </a:r>
          </a:p>
          <a:p>
            <a:pPr>
              <a:defRPr/>
            </a:pPr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en-US" altLang="zh-TW" dirty="0" smtClean="0"/>
          </a:p>
          <a:p>
            <a:pPr>
              <a:defRPr/>
            </a:pPr>
            <a:endParaRPr lang="zh-TW" altLang="en-US" dirty="0" smtClean="0"/>
          </a:p>
        </p:txBody>
      </p:sp>
      <p:graphicFrame>
        <p:nvGraphicFramePr>
          <p:cNvPr id="14338" name="Object 3"/>
          <p:cNvGraphicFramePr>
            <a:graphicFrameLocks noChangeAspect="1"/>
          </p:cNvGraphicFramePr>
          <p:nvPr/>
        </p:nvGraphicFramePr>
        <p:xfrm>
          <a:off x="928688" y="2316163"/>
          <a:ext cx="8102600" cy="1838325"/>
        </p:xfrm>
        <a:graphic>
          <a:graphicData uri="http://schemas.openxmlformats.org/presentationml/2006/ole">
            <p:oleObj spid="_x0000_s14338" name="Equation" r:id="rId3" imgW="4089240" imgH="927000" progId="Equation.DSMT4">
              <p:embed/>
            </p:oleObj>
          </a:graphicData>
        </a:graphic>
      </p:graphicFrame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283FAF-ECA5-4182-9B61-EDD3F5217E54}" type="slidenum">
              <a:rPr lang="zh-TW" altLang="en-US" smtClean="0"/>
              <a:pPr>
                <a:defRPr/>
              </a:pPr>
              <a:t>22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5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Discrete-time version of LMM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366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We now apply the results to the LIBOR basis for the FRA and rewrite as follows</a:t>
            </a:r>
          </a:p>
          <a:p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</a:pP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	where                     and we assume all the tenors are same to make the equation brief, that is </a:t>
            </a:r>
          </a:p>
          <a:p>
            <a:endParaRPr lang="zh-TW" altLang="en-US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5362" name="Object 2"/>
          <p:cNvGraphicFramePr>
            <a:graphicFrameLocks noChangeAspect="1"/>
          </p:cNvGraphicFramePr>
          <p:nvPr/>
        </p:nvGraphicFramePr>
        <p:xfrm>
          <a:off x="1714500" y="2786063"/>
          <a:ext cx="5748338" cy="1143000"/>
        </p:xfrm>
        <a:graphic>
          <a:graphicData uri="http://schemas.openxmlformats.org/presentationml/2006/ole">
            <p:oleObj spid="_x0000_s15362" name="Equation" r:id="rId3" imgW="2171520" imgH="431640" progId="Equation.DSMT4">
              <p:embed/>
            </p:oleObj>
          </a:graphicData>
        </a:graphic>
      </p:graphicFrame>
      <p:graphicFrame>
        <p:nvGraphicFramePr>
          <p:cNvPr id="15363" name="Object 3"/>
          <p:cNvGraphicFramePr>
            <a:graphicFrameLocks noChangeAspect="1"/>
          </p:cNvGraphicFramePr>
          <p:nvPr/>
        </p:nvGraphicFramePr>
        <p:xfrm>
          <a:off x="1857375" y="3929063"/>
          <a:ext cx="1749425" cy="500062"/>
        </p:xfrm>
        <a:graphic>
          <a:graphicData uri="http://schemas.openxmlformats.org/presentationml/2006/ole">
            <p:oleObj spid="_x0000_s15363" name="Equation" r:id="rId4" imgW="799920" imgH="228600" progId="Equation.DSMT4">
              <p:embed/>
            </p:oleObj>
          </a:graphicData>
        </a:graphic>
      </p:graphicFrame>
      <p:graphicFrame>
        <p:nvGraphicFramePr>
          <p:cNvPr id="15364" name="Object 4"/>
          <p:cNvGraphicFramePr>
            <a:graphicFrameLocks noChangeAspect="1"/>
          </p:cNvGraphicFramePr>
          <p:nvPr/>
        </p:nvGraphicFramePr>
        <p:xfrm>
          <a:off x="785813" y="4929188"/>
          <a:ext cx="3000375" cy="539750"/>
        </p:xfrm>
        <a:graphic>
          <a:graphicData uri="http://schemas.openxmlformats.org/presentationml/2006/ole">
            <p:oleObj spid="_x0000_s15364" name="Equation" r:id="rId5" imgW="1269720" imgH="228600" progId="Equation.DSMT4">
              <p:embed/>
            </p:oleObj>
          </a:graphicData>
        </a:graphic>
      </p:graphicFrame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743C2C2-3884-4006-BF36-469F20E14E00}" type="slidenum">
              <a:rPr lang="zh-TW" altLang="en-US" smtClean="0"/>
              <a:pPr>
                <a:defRPr/>
              </a:pPr>
              <a:t>23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9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Discrete-time version of LMM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389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We use the above results and similar steps to derive the FRA value at time </a:t>
            </a:r>
            <a:r>
              <a:rPr lang="en-US" altLang="zh-TW" i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 to generalize the maturity forward rate</a:t>
            </a:r>
          </a:p>
          <a:p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</a:pPr>
            <a:endParaRPr lang="zh-TW" altLang="en-US" smtClean="0"/>
          </a:p>
          <a:p>
            <a:endParaRPr lang="zh-TW" altLang="en-US" smtClean="0"/>
          </a:p>
        </p:txBody>
      </p:sp>
      <p:graphicFrame>
        <p:nvGraphicFramePr>
          <p:cNvPr id="16386" name="Object 2"/>
          <p:cNvGraphicFramePr>
            <a:graphicFrameLocks noChangeAspect="1"/>
          </p:cNvGraphicFramePr>
          <p:nvPr/>
        </p:nvGraphicFramePr>
        <p:xfrm>
          <a:off x="636588" y="3214688"/>
          <a:ext cx="8507412" cy="2000250"/>
        </p:xfrm>
        <a:graphic>
          <a:graphicData uri="http://schemas.openxmlformats.org/presentationml/2006/ole">
            <p:oleObj spid="_x0000_s16386" name="Equation" r:id="rId3" imgW="3835080" imgH="901440" progId="Equation.DSMT4">
              <p:embed/>
            </p:oleObj>
          </a:graphicData>
        </a:graphic>
      </p:graphicFrame>
      <p:graphicFrame>
        <p:nvGraphicFramePr>
          <p:cNvPr id="16387" name="Object 5"/>
          <p:cNvGraphicFramePr>
            <a:graphicFrameLocks noChangeAspect="1"/>
          </p:cNvGraphicFramePr>
          <p:nvPr/>
        </p:nvGraphicFramePr>
        <p:xfrm>
          <a:off x="8501063" y="2082800"/>
          <a:ext cx="411162" cy="569913"/>
        </p:xfrm>
        <a:graphic>
          <a:graphicData uri="http://schemas.openxmlformats.org/presentationml/2006/ole">
            <p:oleObj spid="_x0000_s16387" name="Equation" r:id="rId4" imgW="164880" imgH="228600" progId="Equation.DSMT4">
              <p:embed/>
            </p:oleObj>
          </a:graphicData>
        </a:graphic>
      </p:graphicFrame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04B699-243D-4CFD-899B-EBB9344A3EA8}" type="slidenum">
              <a:rPr lang="zh-TW" altLang="en-US" smtClean="0"/>
              <a:pPr>
                <a:defRPr/>
              </a:pPr>
              <a:t>24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Discrete-time version of LMM</a:t>
            </a:r>
            <a:endParaRPr lang="zh-TW" altLang="en-US" dirty="0"/>
          </a:p>
        </p:txBody>
      </p:sp>
      <p:sp>
        <p:nvSpPr>
          <p:cNvPr id="17419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We assume that the forward rate                  is the lognormal for all forward maturities</a:t>
            </a:r>
          </a:p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We use the approximate result for the covariance term, i.e. for the small change around the value </a:t>
            </a:r>
          </a:p>
          <a:p>
            <a:pPr>
              <a:buFont typeface="Wingdings 2" pitchFamily="18" charset="2"/>
              <a:buNone/>
            </a:pP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                    , we have</a:t>
            </a:r>
          </a:p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Here, we take                  and                            to evaluate                                         , then we have                                            </a:t>
            </a:r>
          </a:p>
          <a:p>
            <a:pPr>
              <a:buFont typeface="Wingdings 2" pitchFamily="18" charset="2"/>
              <a:buNone/>
            </a:pP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	 </a:t>
            </a:r>
            <a:endParaRPr lang="zh-TW" altLang="en-US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FB19A1-D78B-4BF2-A20C-E105DD4381A9}" type="slidenum">
              <a:rPr lang="zh-TW" altLang="en-US" smtClean="0"/>
              <a:pPr>
                <a:defRPr/>
              </a:pPr>
              <a:t>25</a:t>
            </a:fld>
            <a:endParaRPr lang="zh-TW" altLang="en-US"/>
          </a:p>
        </p:txBody>
      </p:sp>
      <p:graphicFrame>
        <p:nvGraphicFramePr>
          <p:cNvPr id="17410" name="Object 2"/>
          <p:cNvGraphicFramePr>
            <a:graphicFrameLocks noChangeAspect="1"/>
          </p:cNvGraphicFramePr>
          <p:nvPr/>
        </p:nvGraphicFramePr>
        <p:xfrm>
          <a:off x="5984875" y="1658938"/>
          <a:ext cx="1806575" cy="500062"/>
        </p:xfrm>
        <a:graphic>
          <a:graphicData uri="http://schemas.openxmlformats.org/presentationml/2006/ole">
            <p:oleObj spid="_x0000_s17410" name="Equation" r:id="rId3" imgW="825480" imgH="228600" progId="Equation.DSMT4">
              <p:embed/>
            </p:oleObj>
          </a:graphicData>
        </a:graphic>
      </p:graphicFrame>
      <p:graphicFrame>
        <p:nvGraphicFramePr>
          <p:cNvPr id="17411" name="Object 3"/>
          <p:cNvGraphicFramePr>
            <a:graphicFrameLocks noChangeAspect="1"/>
          </p:cNvGraphicFramePr>
          <p:nvPr/>
        </p:nvGraphicFramePr>
        <p:xfrm>
          <a:off x="6715125" y="2143125"/>
          <a:ext cx="361950" cy="500063"/>
        </p:xfrm>
        <a:graphic>
          <a:graphicData uri="http://schemas.openxmlformats.org/presentationml/2006/ole">
            <p:oleObj spid="_x0000_s17411" name="Equation" r:id="rId4" imgW="164880" imgH="228600" progId="Equation.DSMT4">
              <p:embed/>
            </p:oleObj>
          </a:graphicData>
        </a:graphic>
      </p:graphicFrame>
      <p:graphicFrame>
        <p:nvGraphicFramePr>
          <p:cNvPr id="17412" name="Object 5"/>
          <p:cNvGraphicFramePr>
            <a:graphicFrameLocks noChangeAspect="1"/>
          </p:cNvGraphicFramePr>
          <p:nvPr/>
        </p:nvGraphicFramePr>
        <p:xfrm>
          <a:off x="642938" y="3857625"/>
          <a:ext cx="1768475" cy="428625"/>
        </p:xfrm>
        <a:graphic>
          <a:graphicData uri="http://schemas.openxmlformats.org/presentationml/2006/ole">
            <p:oleObj spid="_x0000_s17412" name="Equation" r:id="rId5" imgW="838080" imgH="203040" progId="Equation.DSMT4">
              <p:embed/>
            </p:oleObj>
          </a:graphicData>
        </a:graphic>
      </p:graphicFrame>
      <p:graphicFrame>
        <p:nvGraphicFramePr>
          <p:cNvPr id="17413" name="Object 6"/>
          <p:cNvGraphicFramePr>
            <a:graphicFrameLocks noChangeAspect="1"/>
          </p:cNvGraphicFramePr>
          <p:nvPr/>
        </p:nvGraphicFramePr>
        <p:xfrm>
          <a:off x="4000500" y="3786188"/>
          <a:ext cx="4562475" cy="500062"/>
        </p:xfrm>
        <a:graphic>
          <a:graphicData uri="http://schemas.openxmlformats.org/presentationml/2006/ole">
            <p:oleObj spid="_x0000_s17413" name="Equation" r:id="rId6" imgW="1854000" imgH="203040" progId="Equation.DSMT4">
              <p:embed/>
            </p:oleObj>
          </a:graphicData>
        </a:graphic>
      </p:graphicFrame>
      <p:graphicFrame>
        <p:nvGraphicFramePr>
          <p:cNvPr id="17414" name="Object 7"/>
          <p:cNvGraphicFramePr>
            <a:graphicFrameLocks noChangeAspect="1"/>
          </p:cNvGraphicFramePr>
          <p:nvPr/>
        </p:nvGraphicFramePr>
        <p:xfrm>
          <a:off x="3028950" y="4400550"/>
          <a:ext cx="1773238" cy="455613"/>
        </p:xfrm>
        <a:graphic>
          <a:graphicData uri="http://schemas.openxmlformats.org/presentationml/2006/ole">
            <p:oleObj spid="_x0000_s17414" name="Equation" r:id="rId7" imgW="888840" imgH="228600" progId="Equation.DSMT4">
              <p:embed/>
            </p:oleObj>
          </a:graphicData>
        </a:graphic>
      </p:graphicFrame>
      <p:graphicFrame>
        <p:nvGraphicFramePr>
          <p:cNvPr id="17415" name="Object 8"/>
          <p:cNvGraphicFramePr>
            <a:graphicFrameLocks noChangeAspect="1"/>
          </p:cNvGraphicFramePr>
          <p:nvPr/>
        </p:nvGraphicFramePr>
        <p:xfrm>
          <a:off x="5414963" y="4386263"/>
          <a:ext cx="2806700" cy="500062"/>
        </p:xfrm>
        <a:graphic>
          <a:graphicData uri="http://schemas.openxmlformats.org/presentationml/2006/ole">
            <p:oleObj spid="_x0000_s17415" name="Equation" r:id="rId8" imgW="1282680" imgH="228600" progId="Equation.DSMT4">
              <p:embed/>
            </p:oleObj>
          </a:graphicData>
        </a:graphic>
      </p:graphicFrame>
      <p:graphicFrame>
        <p:nvGraphicFramePr>
          <p:cNvPr id="17416" name="Object 9"/>
          <p:cNvGraphicFramePr>
            <a:graphicFrameLocks noChangeAspect="1"/>
          </p:cNvGraphicFramePr>
          <p:nvPr/>
        </p:nvGraphicFramePr>
        <p:xfrm>
          <a:off x="2171700" y="4743450"/>
          <a:ext cx="4035425" cy="857250"/>
        </p:xfrm>
        <a:graphic>
          <a:graphicData uri="http://schemas.openxmlformats.org/presentationml/2006/ole">
            <p:oleObj spid="_x0000_s17416" name="Equation" r:id="rId9" imgW="2031840" imgH="431640" progId="Equation.DSMT4">
              <p:embed/>
            </p:oleObj>
          </a:graphicData>
        </a:graphic>
      </p:graphicFrame>
      <p:graphicFrame>
        <p:nvGraphicFramePr>
          <p:cNvPr id="17417" name="Object 10"/>
          <p:cNvGraphicFramePr>
            <a:graphicFrameLocks noChangeAspect="1"/>
          </p:cNvGraphicFramePr>
          <p:nvPr/>
        </p:nvGraphicFramePr>
        <p:xfrm>
          <a:off x="914400" y="5395913"/>
          <a:ext cx="5746750" cy="1462087"/>
        </p:xfrm>
        <a:graphic>
          <a:graphicData uri="http://schemas.openxmlformats.org/presentationml/2006/ole">
            <p:oleObj spid="_x0000_s17417" name="Equation" r:id="rId10" imgW="3492360" imgH="88884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Discrete-time version of LMM</a:t>
            </a:r>
            <a:endParaRPr lang="zh-TW" altLang="en-US" dirty="0" smtClean="0"/>
          </a:p>
        </p:txBody>
      </p:sp>
      <p:sp>
        <p:nvSpPr>
          <p:cNvPr id="18437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Using the property of logarithms  to express the drift of    -maturity forward rate as the sum of a series of covariance term</a:t>
            </a:r>
          </a:p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Using Stein’s lemma to make covariance terms in a recognizable form and can be express as</a:t>
            </a:r>
            <a:endParaRPr lang="zh-TW" altLang="en-US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8434" name="Object 2"/>
          <p:cNvGraphicFramePr>
            <a:graphicFrameLocks noChangeAspect="1"/>
          </p:cNvGraphicFramePr>
          <p:nvPr/>
        </p:nvGraphicFramePr>
        <p:xfrm>
          <a:off x="658813" y="4157663"/>
          <a:ext cx="8516937" cy="2557462"/>
        </p:xfrm>
        <a:graphic>
          <a:graphicData uri="http://schemas.openxmlformats.org/presentationml/2006/ole">
            <p:oleObj spid="_x0000_s18434" name="Equation" r:id="rId3" imgW="4483080" imgH="1346040" progId="Equation.DSMT4">
              <p:embed/>
            </p:oleObj>
          </a:graphicData>
        </a:graphic>
      </p:graphicFrame>
      <p:graphicFrame>
        <p:nvGraphicFramePr>
          <p:cNvPr id="18435" name="Object 3"/>
          <p:cNvGraphicFramePr>
            <a:graphicFrameLocks noChangeAspect="1"/>
          </p:cNvGraphicFramePr>
          <p:nvPr/>
        </p:nvGraphicFramePr>
        <p:xfrm>
          <a:off x="1928813" y="2097088"/>
          <a:ext cx="403225" cy="558800"/>
        </p:xfrm>
        <a:graphic>
          <a:graphicData uri="http://schemas.openxmlformats.org/presentationml/2006/ole">
            <p:oleObj spid="_x0000_s18435" name="Equation" r:id="rId4" imgW="164880" imgH="228600" progId="Equation.DSMT4">
              <p:embed/>
            </p:oleObj>
          </a:graphicData>
        </a:graphic>
      </p:graphicFrame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0CEB85-E1B7-4E4C-B325-05D47142AD86}" type="slidenum">
              <a:rPr lang="zh-TW" altLang="en-US" smtClean="0"/>
              <a:pPr>
                <a:defRPr/>
              </a:pPr>
              <a:t>26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Discrete-time version of LMM</a:t>
            </a:r>
            <a:endParaRPr lang="zh-TW" altLang="en-US" dirty="0"/>
          </a:p>
        </p:txBody>
      </p:sp>
      <p:sp>
        <p:nvSpPr>
          <p:cNvPr id="19461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Define</a:t>
            </a:r>
          </a:p>
          <a:p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Then, we can rewrite the drift of the forward LIBOR rate as </a:t>
            </a:r>
          </a:p>
          <a:p>
            <a:pPr>
              <a:buFont typeface="Wingdings 2" pitchFamily="18" charset="2"/>
              <a:buNone/>
            </a:pP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zh-TW" altLang="en-US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A7B107-FBD2-499D-A456-E90EB0AC1E13}" type="slidenum">
              <a:rPr lang="zh-TW" altLang="en-US" smtClean="0"/>
              <a:pPr>
                <a:defRPr/>
              </a:pPr>
              <a:t>27</a:t>
            </a:fld>
            <a:endParaRPr lang="zh-TW" altLang="en-US"/>
          </a:p>
        </p:txBody>
      </p:sp>
      <p:graphicFrame>
        <p:nvGraphicFramePr>
          <p:cNvPr id="19458" name="Object 2"/>
          <p:cNvGraphicFramePr>
            <a:graphicFrameLocks noChangeAspect="1"/>
          </p:cNvGraphicFramePr>
          <p:nvPr/>
        </p:nvGraphicFramePr>
        <p:xfrm>
          <a:off x="709613" y="2214563"/>
          <a:ext cx="8391525" cy="571500"/>
        </p:xfrm>
        <a:graphic>
          <a:graphicData uri="http://schemas.openxmlformats.org/presentationml/2006/ole">
            <p:oleObj spid="_x0000_s19458" name="Equation" r:id="rId3" imgW="3543120" imgH="241200" progId="Equation.DSMT4">
              <p:embed/>
            </p:oleObj>
          </a:graphicData>
        </a:graphic>
      </p:graphicFrame>
      <p:graphicFrame>
        <p:nvGraphicFramePr>
          <p:cNvPr id="19459" name="Object 3"/>
          <p:cNvGraphicFramePr>
            <a:graphicFrameLocks noChangeAspect="1"/>
          </p:cNvGraphicFramePr>
          <p:nvPr/>
        </p:nvGraphicFramePr>
        <p:xfrm>
          <a:off x="571500" y="3857625"/>
          <a:ext cx="8597900" cy="1600200"/>
        </p:xfrm>
        <a:graphic>
          <a:graphicData uri="http://schemas.openxmlformats.org/presentationml/2006/ole">
            <p:oleObj spid="_x0000_s19459" name="Equation" r:id="rId4" imgW="4775040" imgH="88884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標題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1042974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Introducing the HSS Recombining Node Methodology </a:t>
            </a:r>
            <a:endParaRPr lang="zh-TW" altLang="en-US" sz="3200" dirty="0" smtClean="0"/>
          </a:p>
        </p:txBody>
      </p:sp>
      <p:sp>
        <p:nvSpPr>
          <p:cNvPr id="5427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Ho, Stapleton and Subrahmanyam (1995) [HSS] suggest a general methodology for creating a recombining multi-variate binomial tree to approximate a multi-variate lognormal process</a:t>
            </a:r>
          </a:p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Our assumption about  LMM satisfies the conditions in the HSS methodology and apply it into LMM</a:t>
            </a:r>
            <a:endParaRPr lang="zh-TW" altLang="en-US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A2943C-72F5-4B1B-A2F8-18E5CEE5480D}" type="slidenum">
              <a:rPr lang="zh-TW" altLang="en-US" smtClean="0"/>
              <a:pPr>
                <a:defRPr/>
              </a:pPr>
              <a:t>28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6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HSS methodology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91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3000" dirty="0" smtClean="0">
                <a:latin typeface="Times New Roman" pitchFamily="18" charset="0"/>
                <a:cs typeface="Times New Roman" pitchFamily="18" charset="0"/>
              </a:rPr>
              <a:t>HSS assume the price of underlying asset  follows a lognormal diffusion process:</a:t>
            </a:r>
          </a:p>
          <a:p>
            <a:endParaRPr lang="en-US" altLang="zh-TW" sz="3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</a:pPr>
            <a:r>
              <a:rPr lang="en-US" altLang="zh-TW" sz="3000" dirty="0" smtClean="0">
                <a:latin typeface="Times New Roman" pitchFamily="18" charset="0"/>
                <a:cs typeface="Times New Roman" pitchFamily="18" charset="0"/>
              </a:rPr>
              <a:t>	where       and       are the instantaneous drift and volatility of          , and             is a standard Brownian motion</a:t>
            </a:r>
          </a:p>
          <a:p>
            <a:pPr lvl="1"/>
            <a:r>
              <a:rPr lang="en-US" altLang="zh-TW" sz="2600" dirty="0" smtClean="0">
                <a:latin typeface="Times New Roman" pitchFamily="18" charset="0"/>
                <a:cs typeface="Times New Roman" pitchFamily="18" charset="0"/>
              </a:rPr>
              <a:t>They denote the unconditional mean of the logarithmic asset return at time </a:t>
            </a:r>
            <a:r>
              <a:rPr lang="en-US" altLang="zh-TW" sz="26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TW" sz="2600" dirty="0" smtClean="0">
                <a:latin typeface="Times New Roman" pitchFamily="18" charset="0"/>
                <a:cs typeface="Times New Roman" pitchFamily="18" charset="0"/>
              </a:rPr>
              <a:t> as </a:t>
            </a:r>
          </a:p>
          <a:p>
            <a:pPr lvl="1"/>
            <a:r>
              <a:rPr lang="en-US" altLang="zh-TW" sz="2600" dirty="0" smtClean="0">
                <a:latin typeface="Times New Roman" pitchFamily="18" charset="0"/>
                <a:cs typeface="Times New Roman" pitchFamily="18" charset="0"/>
              </a:rPr>
              <a:t>The conditional volatility over the period </a:t>
            </a:r>
            <a:r>
              <a:rPr lang="en-US" altLang="zh-TW" sz="2600" i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TW" sz="2600" dirty="0" smtClean="0">
                <a:latin typeface="Times New Roman" pitchFamily="18" charset="0"/>
                <a:cs typeface="Times New Roman" pitchFamily="18" charset="0"/>
              </a:rPr>
              <a:t> -1 to </a:t>
            </a:r>
            <a:r>
              <a:rPr lang="en-US" altLang="zh-TW" sz="2600" i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TW" sz="2600" dirty="0" smtClean="0">
                <a:latin typeface="Times New Roman" pitchFamily="18" charset="0"/>
                <a:cs typeface="Times New Roman" pitchFamily="18" charset="0"/>
              </a:rPr>
              <a:t>  is denoted as</a:t>
            </a:r>
          </a:p>
          <a:p>
            <a:pPr lvl="1"/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The unconditional volatility is</a:t>
            </a:r>
            <a:r>
              <a:rPr lang="en-US" altLang="zh-TW" sz="26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Font typeface="Arial" charset="0"/>
              <a:buNone/>
            </a:pPr>
            <a:endParaRPr lang="en-US" altLang="zh-TW" dirty="0" smtClean="0"/>
          </a:p>
          <a:p>
            <a:endParaRPr lang="zh-TW" altLang="en-US" dirty="0" smtClean="0"/>
          </a:p>
        </p:txBody>
      </p:sp>
      <p:graphicFrame>
        <p:nvGraphicFramePr>
          <p:cNvPr id="20482" name="Object 4"/>
          <p:cNvGraphicFramePr>
            <a:graphicFrameLocks noChangeAspect="1"/>
          </p:cNvGraphicFramePr>
          <p:nvPr/>
        </p:nvGraphicFramePr>
        <p:xfrm>
          <a:off x="1643063" y="2643188"/>
          <a:ext cx="5840412" cy="527050"/>
        </p:xfrm>
        <a:graphic>
          <a:graphicData uri="http://schemas.openxmlformats.org/presentationml/2006/ole">
            <p:oleObj spid="_x0000_s20482" name="Equation" r:id="rId3" imgW="2247840" imgH="203040" progId="Equation.DSMT4">
              <p:embed/>
            </p:oleObj>
          </a:graphicData>
        </a:graphic>
      </p:graphicFrame>
      <p:graphicFrame>
        <p:nvGraphicFramePr>
          <p:cNvPr id="20483" name="Object 5"/>
          <p:cNvGraphicFramePr>
            <a:graphicFrameLocks noChangeAspect="1"/>
          </p:cNvGraphicFramePr>
          <p:nvPr/>
        </p:nvGraphicFramePr>
        <p:xfrm>
          <a:off x="1785938" y="3286125"/>
          <a:ext cx="357187" cy="387350"/>
        </p:xfrm>
        <a:graphic>
          <a:graphicData uri="http://schemas.openxmlformats.org/presentationml/2006/ole">
            <p:oleObj spid="_x0000_s20483" name="Equation" r:id="rId4" imgW="152280" imgH="164880" progId="Equation.DSMT4">
              <p:embed/>
            </p:oleObj>
          </a:graphicData>
        </a:graphic>
      </p:graphicFrame>
      <p:graphicFrame>
        <p:nvGraphicFramePr>
          <p:cNvPr id="20484" name="Object 6"/>
          <p:cNvGraphicFramePr>
            <a:graphicFrameLocks noChangeAspect="1"/>
          </p:cNvGraphicFramePr>
          <p:nvPr/>
        </p:nvGraphicFramePr>
        <p:xfrm>
          <a:off x="3000375" y="3286125"/>
          <a:ext cx="412750" cy="379413"/>
        </p:xfrm>
        <a:graphic>
          <a:graphicData uri="http://schemas.openxmlformats.org/presentationml/2006/ole">
            <p:oleObj spid="_x0000_s20484" name="Equation" r:id="rId5" imgW="152280" imgH="139680" progId="Equation.DSMT4">
              <p:embed/>
            </p:oleObj>
          </a:graphicData>
        </a:graphic>
      </p:graphicFrame>
      <p:graphicFrame>
        <p:nvGraphicFramePr>
          <p:cNvPr id="20485" name="Object 7"/>
          <p:cNvGraphicFramePr>
            <a:graphicFrameLocks noChangeAspect="1"/>
          </p:cNvGraphicFramePr>
          <p:nvPr/>
        </p:nvGraphicFramePr>
        <p:xfrm>
          <a:off x="2643188" y="3643313"/>
          <a:ext cx="823912" cy="428625"/>
        </p:xfrm>
        <a:graphic>
          <a:graphicData uri="http://schemas.openxmlformats.org/presentationml/2006/ole">
            <p:oleObj spid="_x0000_s20485" name="Equation" r:id="rId6" imgW="317160" imgH="164880" progId="Equation.DSMT4">
              <p:embed/>
            </p:oleObj>
          </a:graphicData>
        </a:graphic>
      </p:graphicFrame>
      <p:graphicFrame>
        <p:nvGraphicFramePr>
          <p:cNvPr id="20486" name="Object 8"/>
          <p:cNvGraphicFramePr>
            <a:graphicFrameLocks noChangeAspect="1"/>
          </p:cNvGraphicFramePr>
          <p:nvPr/>
        </p:nvGraphicFramePr>
        <p:xfrm>
          <a:off x="4286250" y="3643313"/>
          <a:ext cx="1062038" cy="500062"/>
        </p:xfrm>
        <a:graphic>
          <a:graphicData uri="http://schemas.openxmlformats.org/presentationml/2006/ole">
            <p:oleObj spid="_x0000_s20486" name="Equation" r:id="rId7" imgW="431640" imgH="203040" progId="Equation.DSMT4">
              <p:embed/>
            </p:oleObj>
          </a:graphicData>
        </a:graphic>
      </p:graphicFrame>
      <p:graphicFrame>
        <p:nvGraphicFramePr>
          <p:cNvPr id="20487" name="Object 9"/>
          <p:cNvGraphicFramePr>
            <a:graphicFrameLocks noChangeAspect="1"/>
          </p:cNvGraphicFramePr>
          <p:nvPr/>
        </p:nvGraphicFramePr>
        <p:xfrm>
          <a:off x="2571750" y="5786438"/>
          <a:ext cx="828675" cy="630237"/>
        </p:xfrm>
        <a:graphic>
          <a:graphicData uri="http://schemas.openxmlformats.org/presentationml/2006/ole">
            <p:oleObj spid="_x0000_s20487" name="Equation" r:id="rId8" imgW="317160" imgH="241200" progId="Equation.DSMT4">
              <p:embed/>
            </p:oleObj>
          </a:graphicData>
        </a:graphic>
      </p:graphicFrame>
      <p:graphicFrame>
        <p:nvGraphicFramePr>
          <p:cNvPr id="20488" name="Object 10"/>
          <p:cNvGraphicFramePr>
            <a:graphicFrameLocks noChangeAspect="1"/>
          </p:cNvGraphicFramePr>
          <p:nvPr/>
        </p:nvGraphicFramePr>
        <p:xfrm>
          <a:off x="4203700" y="4932363"/>
          <a:ext cx="361950" cy="500062"/>
        </p:xfrm>
        <a:graphic>
          <a:graphicData uri="http://schemas.openxmlformats.org/presentationml/2006/ole">
            <p:oleObj spid="_x0000_s20488" name="Equation" r:id="rId9" imgW="164880" imgH="228600" progId="Equation.DSMT4">
              <p:embed/>
            </p:oleObj>
          </a:graphicData>
        </a:graphic>
      </p:graphicFrame>
      <p:graphicFrame>
        <p:nvGraphicFramePr>
          <p:cNvPr id="20489" name="Object 11"/>
          <p:cNvGraphicFramePr>
            <a:graphicFrameLocks noChangeAspect="1"/>
          </p:cNvGraphicFramePr>
          <p:nvPr/>
        </p:nvGraphicFramePr>
        <p:xfrm>
          <a:off x="4829175" y="6276975"/>
          <a:ext cx="665163" cy="665163"/>
        </p:xfrm>
        <a:graphic>
          <a:graphicData uri="http://schemas.openxmlformats.org/presentationml/2006/ole">
            <p:oleObj spid="_x0000_s20489" name="Equation" r:id="rId10" imgW="241200" imgH="241200" progId="Equation.DSMT4">
              <p:embed/>
            </p:oleObj>
          </a:graphicData>
        </a:graphic>
      </p:graphicFrame>
      <p:sp>
        <p:nvSpPr>
          <p:cNvPr id="12" name="投影片編號版面配置區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A9EDF7-2885-4B64-AA1B-3A04F582AAE1}" type="slidenum">
              <a:rPr lang="zh-TW" altLang="en-US" smtClean="0"/>
              <a:pPr>
                <a:defRPr/>
              </a:pPr>
              <a:t>29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8143900" y="6613525"/>
            <a:ext cx="762000" cy="244475"/>
          </a:xfrm>
        </p:spPr>
        <p:txBody>
          <a:bodyPr/>
          <a:lstStyle/>
          <a:p>
            <a:pPr>
              <a:defRPr/>
            </a:pPr>
            <a:fld id="{B68BB2C4-95FC-4B4A-B67D-2F899AC561B6}" type="slidenum">
              <a:rPr lang="zh-TW" altLang="en-US" smtClean="0"/>
              <a:pPr>
                <a:defRPr/>
              </a:pPr>
              <a:t>30</a:t>
            </a:fld>
            <a:endParaRPr lang="zh-TW" altLang="en-US"/>
          </a:p>
        </p:txBody>
      </p:sp>
      <p:pic>
        <p:nvPicPr>
          <p:cNvPr id="1054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28662" y="214290"/>
            <a:ext cx="7215237" cy="5715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05475" name="Object 3"/>
          <p:cNvGraphicFramePr>
            <a:graphicFrameLocks noChangeAspect="1"/>
          </p:cNvGraphicFramePr>
          <p:nvPr/>
        </p:nvGraphicFramePr>
        <p:xfrm>
          <a:off x="3786182" y="2985205"/>
          <a:ext cx="620716" cy="620716"/>
        </p:xfrm>
        <a:graphic>
          <a:graphicData uri="http://schemas.openxmlformats.org/presentationml/2006/ole">
            <p:oleObj spid="_x0000_s105475" name="Equation" r:id="rId4" imgW="241200" imgH="241200" progId="Equation.DSMT4">
              <p:embed/>
            </p:oleObj>
          </a:graphicData>
        </a:graphic>
      </p:graphicFrame>
      <p:graphicFrame>
        <p:nvGraphicFramePr>
          <p:cNvPr id="105476" name="Object 4"/>
          <p:cNvGraphicFramePr>
            <a:graphicFrameLocks noChangeAspect="1"/>
          </p:cNvGraphicFramePr>
          <p:nvPr/>
        </p:nvGraphicFramePr>
        <p:xfrm>
          <a:off x="5669279" y="2969536"/>
          <a:ext cx="693275" cy="658611"/>
        </p:xfrm>
        <a:graphic>
          <a:graphicData uri="http://schemas.openxmlformats.org/presentationml/2006/ole">
            <p:oleObj spid="_x0000_s105476" name="Equation" r:id="rId5" imgW="253800" imgH="241200" progId="Equation.DSMT4">
              <p:embed/>
            </p:oleObj>
          </a:graphicData>
        </a:graphic>
      </p:graphicFrame>
      <p:cxnSp>
        <p:nvCxnSpPr>
          <p:cNvPr id="9" name="直線單箭頭接點 8"/>
          <p:cNvCxnSpPr/>
          <p:nvPr/>
        </p:nvCxnSpPr>
        <p:spPr>
          <a:xfrm>
            <a:off x="2786050" y="5786454"/>
            <a:ext cx="3929090" cy="158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2786050" y="6143644"/>
            <a:ext cx="3857652" cy="1588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 rot="5400000">
            <a:off x="2644365" y="5785263"/>
            <a:ext cx="284958" cy="15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 rot="5400000">
            <a:off x="4573191" y="6142453"/>
            <a:ext cx="284958" cy="1588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 rot="5400000">
            <a:off x="2644365" y="6142453"/>
            <a:ext cx="284958" cy="1588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 rot="5400000">
            <a:off x="6502017" y="6142453"/>
            <a:ext cx="284958" cy="1588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5478" name="Object 6"/>
          <p:cNvGraphicFramePr>
            <a:graphicFrameLocks noChangeAspect="1"/>
          </p:cNvGraphicFramePr>
          <p:nvPr/>
        </p:nvGraphicFramePr>
        <p:xfrm>
          <a:off x="4429124" y="5214950"/>
          <a:ext cx="1000132" cy="513581"/>
        </p:xfrm>
        <a:graphic>
          <a:graphicData uri="http://schemas.openxmlformats.org/presentationml/2006/ole">
            <p:oleObj spid="_x0000_s105478" name="Equation" r:id="rId6" imgW="469800" imgH="241200" progId="Equation.DSMT4">
              <p:embed/>
            </p:oleObj>
          </a:graphicData>
        </a:graphic>
      </p:graphicFrame>
      <p:graphicFrame>
        <p:nvGraphicFramePr>
          <p:cNvPr id="105479" name="Object 7"/>
          <p:cNvGraphicFramePr>
            <a:graphicFrameLocks noChangeAspect="1"/>
          </p:cNvGraphicFramePr>
          <p:nvPr/>
        </p:nvGraphicFramePr>
        <p:xfrm>
          <a:off x="3571868" y="5786454"/>
          <a:ext cx="290514" cy="435771"/>
        </p:xfrm>
        <a:graphic>
          <a:graphicData uri="http://schemas.openxmlformats.org/presentationml/2006/ole">
            <p:oleObj spid="_x0000_s105479" name="Equation" r:id="rId7" imgW="152280" imgH="228600" progId="Equation.DSMT4">
              <p:embed/>
            </p:oleObj>
          </a:graphicData>
        </a:graphic>
      </p:graphicFrame>
      <p:graphicFrame>
        <p:nvGraphicFramePr>
          <p:cNvPr id="105480" name="Object 8"/>
          <p:cNvGraphicFramePr>
            <a:graphicFrameLocks noChangeAspect="1"/>
          </p:cNvGraphicFramePr>
          <p:nvPr/>
        </p:nvGraphicFramePr>
        <p:xfrm>
          <a:off x="5643570" y="5715016"/>
          <a:ext cx="341492" cy="472835"/>
        </p:xfrm>
        <a:graphic>
          <a:graphicData uri="http://schemas.openxmlformats.org/presentationml/2006/ole">
            <p:oleObj spid="_x0000_s105480" name="Equation" r:id="rId8" imgW="164880" imgH="228600" progId="Equation.DSMT4">
              <p:embed/>
            </p:oleObj>
          </a:graphicData>
        </a:graphic>
      </p:graphicFrame>
      <p:sp>
        <p:nvSpPr>
          <p:cNvPr id="29" name="AutoShape 13"/>
          <p:cNvSpPr>
            <a:spLocks/>
          </p:cNvSpPr>
          <p:nvPr/>
        </p:nvSpPr>
        <p:spPr bwMode="auto">
          <a:xfrm rot="5400000">
            <a:off x="4572000" y="4357694"/>
            <a:ext cx="285752" cy="3857652"/>
          </a:xfrm>
          <a:prstGeom prst="rightBrace">
            <a:avLst>
              <a:gd name="adj1" fmla="val 83535"/>
              <a:gd name="adj2" fmla="val 51389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TW" altLang="en-US"/>
          </a:p>
        </p:txBody>
      </p:sp>
      <p:graphicFrame>
        <p:nvGraphicFramePr>
          <p:cNvPr id="105481" name="Object 9"/>
          <p:cNvGraphicFramePr>
            <a:graphicFrameLocks noChangeAspect="1"/>
          </p:cNvGraphicFramePr>
          <p:nvPr/>
        </p:nvGraphicFramePr>
        <p:xfrm>
          <a:off x="4456160" y="6343470"/>
          <a:ext cx="536578" cy="568141"/>
        </p:xfrm>
        <a:graphic>
          <a:graphicData uri="http://schemas.openxmlformats.org/presentationml/2006/ole">
            <p:oleObj spid="_x0000_s105481" name="Equation" r:id="rId9" imgW="215640" imgH="2286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5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HSS methodology</a:t>
            </a:r>
            <a:endParaRPr lang="zh-TW" altLang="en-US" dirty="0" smtClean="0"/>
          </a:p>
        </p:txBody>
      </p:sp>
      <p:sp>
        <p:nvSpPr>
          <p:cNvPr id="21511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To approximate with a binomial process for the true process for underlying asset at time </a:t>
            </a:r>
          </a:p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They denoted the conditional volatilities of the approximated binomial process as	          and require that </a:t>
            </a:r>
          </a:p>
          <a:p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Similarly</a:t>
            </a:r>
          </a:p>
          <a:p>
            <a:endParaRPr lang="zh-TW" altLang="en-US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1506" name="Object 2"/>
          <p:cNvGraphicFramePr>
            <a:graphicFrameLocks noChangeAspect="1"/>
          </p:cNvGraphicFramePr>
          <p:nvPr/>
        </p:nvGraphicFramePr>
        <p:xfrm>
          <a:off x="6343650" y="3186113"/>
          <a:ext cx="1293813" cy="571500"/>
        </p:xfrm>
        <a:graphic>
          <a:graphicData uri="http://schemas.openxmlformats.org/presentationml/2006/ole">
            <p:oleObj spid="_x0000_s21506" name="Equation" r:id="rId3" imgW="545760" imgH="241200" progId="Equation.DSMT4">
              <p:embed/>
            </p:oleObj>
          </a:graphicData>
        </a:graphic>
      </p:graphicFrame>
      <p:graphicFrame>
        <p:nvGraphicFramePr>
          <p:cNvPr id="21507" name="Object 3"/>
          <p:cNvGraphicFramePr>
            <a:graphicFrameLocks noChangeAspect="1"/>
          </p:cNvGraphicFramePr>
          <p:nvPr/>
        </p:nvGraphicFramePr>
        <p:xfrm>
          <a:off x="2443163" y="4114800"/>
          <a:ext cx="4252912" cy="814388"/>
        </p:xfrm>
        <a:graphic>
          <a:graphicData uri="http://schemas.openxmlformats.org/presentationml/2006/ole">
            <p:oleObj spid="_x0000_s21507" name="Equation" r:id="rId4" imgW="1523880" imgH="291960" progId="Equation.DSMT4">
              <p:embed/>
            </p:oleObj>
          </a:graphicData>
        </a:graphic>
      </p:graphicFrame>
      <p:graphicFrame>
        <p:nvGraphicFramePr>
          <p:cNvPr id="21508" name="Object 5"/>
          <p:cNvGraphicFramePr>
            <a:graphicFrameLocks noChangeAspect="1"/>
          </p:cNvGraphicFramePr>
          <p:nvPr/>
        </p:nvGraphicFramePr>
        <p:xfrm>
          <a:off x="1643063" y="5357813"/>
          <a:ext cx="7011987" cy="1500187"/>
        </p:xfrm>
        <a:graphic>
          <a:graphicData uri="http://schemas.openxmlformats.org/presentationml/2006/ole">
            <p:oleObj spid="_x0000_s21508" name="Equation" r:id="rId5" imgW="2730240" imgH="583920" progId="Equation.DSMT4">
              <p:embed/>
            </p:oleObj>
          </a:graphicData>
        </a:graphic>
      </p:graphicFrame>
      <p:graphicFrame>
        <p:nvGraphicFramePr>
          <p:cNvPr id="21509" name="Object 7"/>
          <p:cNvGraphicFramePr>
            <a:graphicFrameLocks noChangeAspect="1"/>
          </p:cNvGraphicFramePr>
          <p:nvPr/>
        </p:nvGraphicFramePr>
        <p:xfrm>
          <a:off x="7289800" y="2071688"/>
          <a:ext cx="292100" cy="584200"/>
        </p:xfrm>
        <a:graphic>
          <a:graphicData uri="http://schemas.openxmlformats.org/presentationml/2006/ole">
            <p:oleObj spid="_x0000_s21509" name="Equation" r:id="rId6" imgW="114120" imgH="228600" progId="Equation.DSMT4">
              <p:embed/>
            </p:oleObj>
          </a:graphicData>
        </a:graphic>
      </p:graphicFrame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BBD71E-ACC0-49D2-9415-3E5A696F68B6}" type="slidenum">
              <a:rPr lang="zh-TW" altLang="en-US" smtClean="0"/>
              <a:pPr>
                <a:defRPr/>
              </a:pPr>
              <a:t>31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3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HSS methodology</a:t>
            </a:r>
            <a:endParaRPr lang="zh-TW" altLang="en-US" dirty="0" smtClean="0"/>
          </a:p>
        </p:txBody>
      </p:sp>
      <p:sp>
        <p:nvSpPr>
          <p:cNvPr id="22538" name="內容版面配置區 2"/>
          <p:cNvSpPr>
            <a:spLocks noGrp="1"/>
          </p:cNvSpPr>
          <p:nvPr>
            <p:ph idx="1"/>
          </p:nvPr>
        </p:nvSpPr>
        <p:spPr>
          <a:xfrm>
            <a:off x="428625" y="1643063"/>
            <a:ext cx="8229600" cy="4525962"/>
          </a:xfrm>
        </p:spPr>
        <p:txBody>
          <a:bodyPr/>
          <a:lstStyle/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HSS method involves the construction of m separate binomial distribution, where the time periods are denoted</a:t>
            </a:r>
          </a:p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And have the set of a discrete stochastic for     , where       is only defined at time</a:t>
            </a:r>
          </a:p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The general form of      at node </a:t>
            </a:r>
            <a:r>
              <a:rPr lang="en-US" altLang="zh-TW" i="1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</a:pP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	where</a:t>
            </a:r>
          </a:p>
          <a:p>
            <a:pPr>
              <a:buFont typeface="Arial" charset="0"/>
              <a:buNone/>
            </a:pPr>
            <a:r>
              <a:rPr lang="en-US" altLang="zh-TW" smtClean="0"/>
              <a:t> </a:t>
            </a:r>
          </a:p>
          <a:p>
            <a:endParaRPr lang="zh-TW" altLang="en-US" smtClean="0"/>
          </a:p>
        </p:txBody>
      </p:sp>
      <p:graphicFrame>
        <p:nvGraphicFramePr>
          <p:cNvPr id="22530" name="Object 2"/>
          <p:cNvGraphicFramePr>
            <a:graphicFrameLocks noChangeAspect="1"/>
          </p:cNvGraphicFramePr>
          <p:nvPr/>
        </p:nvGraphicFramePr>
        <p:xfrm>
          <a:off x="4148138" y="2640013"/>
          <a:ext cx="2252662" cy="614362"/>
        </p:xfrm>
        <a:graphic>
          <a:graphicData uri="http://schemas.openxmlformats.org/presentationml/2006/ole">
            <p:oleObj spid="_x0000_s22530" name="Equation" r:id="rId3" imgW="838080" imgH="228600" progId="Equation.DSMT4">
              <p:embed/>
            </p:oleObj>
          </a:graphicData>
        </a:graphic>
      </p:graphicFrame>
      <p:graphicFrame>
        <p:nvGraphicFramePr>
          <p:cNvPr id="22531" name="Object 3"/>
          <p:cNvGraphicFramePr>
            <a:graphicFrameLocks noChangeAspect="1"/>
          </p:cNvGraphicFramePr>
          <p:nvPr/>
        </p:nvGraphicFramePr>
        <p:xfrm>
          <a:off x="7962900" y="3278188"/>
          <a:ext cx="484188" cy="581025"/>
        </p:xfrm>
        <a:graphic>
          <a:graphicData uri="http://schemas.openxmlformats.org/presentationml/2006/ole">
            <p:oleObj spid="_x0000_s22531" name="Equation" r:id="rId4" imgW="190440" imgH="228600" progId="Equation.DSMT4">
              <p:embed/>
            </p:oleObj>
          </a:graphicData>
        </a:graphic>
      </p:graphicFrame>
      <p:graphicFrame>
        <p:nvGraphicFramePr>
          <p:cNvPr id="22532" name="Object 4"/>
          <p:cNvGraphicFramePr>
            <a:graphicFrameLocks noChangeAspect="1"/>
          </p:cNvGraphicFramePr>
          <p:nvPr/>
        </p:nvGraphicFramePr>
        <p:xfrm>
          <a:off x="1985963" y="3770313"/>
          <a:ext cx="431800" cy="519112"/>
        </p:xfrm>
        <a:graphic>
          <a:graphicData uri="http://schemas.openxmlformats.org/presentationml/2006/ole">
            <p:oleObj spid="_x0000_s22532" name="Equation" r:id="rId5" imgW="190440" imgH="228600" progId="Equation.DSMT4">
              <p:embed/>
            </p:oleObj>
          </a:graphicData>
        </a:graphic>
      </p:graphicFrame>
      <p:graphicFrame>
        <p:nvGraphicFramePr>
          <p:cNvPr id="22533" name="Object 6"/>
          <p:cNvGraphicFramePr>
            <a:graphicFrameLocks noChangeAspect="1"/>
          </p:cNvGraphicFramePr>
          <p:nvPr/>
        </p:nvGraphicFramePr>
        <p:xfrm>
          <a:off x="6215063" y="3786188"/>
          <a:ext cx="500062" cy="500062"/>
        </p:xfrm>
        <a:graphic>
          <a:graphicData uri="http://schemas.openxmlformats.org/presentationml/2006/ole">
            <p:oleObj spid="_x0000_s22533" name="Equation" r:id="rId6" imgW="114120" imgH="228600" progId="Equation.DSMT4">
              <p:embed/>
            </p:oleObj>
          </a:graphicData>
        </a:graphic>
      </p:graphicFrame>
      <p:graphicFrame>
        <p:nvGraphicFramePr>
          <p:cNvPr id="22534" name="Object 7"/>
          <p:cNvGraphicFramePr>
            <a:graphicFrameLocks noChangeAspect="1"/>
          </p:cNvGraphicFramePr>
          <p:nvPr/>
        </p:nvGraphicFramePr>
        <p:xfrm>
          <a:off x="4103688" y="4314825"/>
          <a:ext cx="452437" cy="542925"/>
        </p:xfrm>
        <a:graphic>
          <a:graphicData uri="http://schemas.openxmlformats.org/presentationml/2006/ole">
            <p:oleObj spid="_x0000_s22534" name="Equation" r:id="rId7" imgW="190440" imgH="228600" progId="Equation.DSMT4">
              <p:embed/>
            </p:oleObj>
          </a:graphicData>
        </a:graphic>
      </p:graphicFrame>
      <p:graphicFrame>
        <p:nvGraphicFramePr>
          <p:cNvPr id="22535" name="Object 8"/>
          <p:cNvGraphicFramePr>
            <a:graphicFrameLocks noChangeAspect="1"/>
          </p:cNvGraphicFramePr>
          <p:nvPr/>
        </p:nvGraphicFramePr>
        <p:xfrm>
          <a:off x="3214688" y="4786313"/>
          <a:ext cx="2603500" cy="642937"/>
        </p:xfrm>
        <a:graphic>
          <a:graphicData uri="http://schemas.openxmlformats.org/presentationml/2006/ole">
            <p:oleObj spid="_x0000_s22535" name="Equation" r:id="rId8" imgW="1028520" imgH="253800" progId="Equation.DSMT4">
              <p:embed/>
            </p:oleObj>
          </a:graphicData>
        </a:graphic>
      </p:graphicFrame>
      <p:graphicFrame>
        <p:nvGraphicFramePr>
          <p:cNvPr id="22536" name="Object 9"/>
          <p:cNvGraphicFramePr>
            <a:graphicFrameLocks noChangeAspect="1"/>
          </p:cNvGraphicFramePr>
          <p:nvPr/>
        </p:nvGraphicFramePr>
        <p:xfrm>
          <a:off x="2057400" y="5484813"/>
          <a:ext cx="1541463" cy="571500"/>
        </p:xfrm>
        <a:graphic>
          <a:graphicData uri="http://schemas.openxmlformats.org/presentationml/2006/ole">
            <p:oleObj spid="_x0000_s22536" name="Equation" r:id="rId9" imgW="787320" imgH="291960" progId="Equation.DSMT4">
              <p:embed/>
            </p:oleObj>
          </a:graphicData>
        </a:graphic>
      </p:graphicFrame>
      <p:sp>
        <p:nvSpPr>
          <p:cNvPr id="11" name="投影片編號版面配置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C13BF41-C82E-47DE-9E05-2FAF8FAB002C}" type="slidenum">
              <a:rPr lang="zh-TW" altLang="en-US" smtClean="0"/>
              <a:pPr>
                <a:defRPr/>
              </a:pPr>
              <a:t>32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7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HSS methodology</a:t>
            </a:r>
            <a:endParaRPr lang="zh-TW" altLang="en-US" dirty="0" smtClean="0"/>
          </a:p>
        </p:txBody>
      </p:sp>
      <p:sp>
        <p:nvSpPr>
          <p:cNvPr id="2356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They denote                       and the probabilities to reach     given a node</a:t>
            </a:r>
            <a:r>
              <a:rPr lang="en-US" altLang="zh-TW" i="1" smtClean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at      as </a:t>
            </a:r>
          </a:p>
          <a:p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b="1" smtClean="0">
                <a:latin typeface="Times New Roman" pitchFamily="18" charset="0"/>
                <a:cs typeface="Times New Roman" pitchFamily="18" charset="0"/>
              </a:rPr>
              <a:t>Lemma 1 </a:t>
            </a: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Suppose that the up and down movements        and      are chosen so that</a:t>
            </a:r>
          </a:p>
          <a:p>
            <a:endParaRPr lang="en-US" altLang="zh-TW" smtClean="0"/>
          </a:p>
          <a:p>
            <a:endParaRPr lang="en-US" altLang="zh-TW" smtClean="0"/>
          </a:p>
          <a:p>
            <a:endParaRPr lang="en-US" altLang="zh-TW" smtClean="0"/>
          </a:p>
          <a:p>
            <a:pPr>
              <a:buFont typeface="Arial" charset="0"/>
              <a:buNone/>
            </a:pPr>
            <a:endParaRPr lang="zh-TW" altLang="en-US" smtClean="0"/>
          </a:p>
        </p:txBody>
      </p:sp>
      <p:graphicFrame>
        <p:nvGraphicFramePr>
          <p:cNvPr id="23554" name="Object 4"/>
          <p:cNvGraphicFramePr>
            <a:graphicFrameLocks noChangeAspect="1"/>
          </p:cNvGraphicFramePr>
          <p:nvPr/>
        </p:nvGraphicFramePr>
        <p:xfrm>
          <a:off x="2786063" y="1643063"/>
          <a:ext cx="2292350" cy="542925"/>
        </p:xfrm>
        <a:graphic>
          <a:graphicData uri="http://schemas.openxmlformats.org/presentationml/2006/ole">
            <p:oleObj spid="_x0000_s23554" name="Equation" r:id="rId3" imgW="965160" imgH="228600" progId="Equation.DSMT4">
              <p:embed/>
            </p:oleObj>
          </a:graphicData>
        </a:graphic>
      </p:graphicFrame>
      <p:graphicFrame>
        <p:nvGraphicFramePr>
          <p:cNvPr id="23555" name="Object 5"/>
          <p:cNvGraphicFramePr>
            <a:graphicFrameLocks noChangeAspect="1"/>
          </p:cNvGraphicFramePr>
          <p:nvPr/>
        </p:nvGraphicFramePr>
        <p:xfrm>
          <a:off x="1657350" y="2092325"/>
          <a:ext cx="381000" cy="571500"/>
        </p:xfrm>
        <a:graphic>
          <a:graphicData uri="http://schemas.openxmlformats.org/presentationml/2006/ole">
            <p:oleObj spid="_x0000_s23555" name="Equation" r:id="rId4" imgW="152280" imgH="228600" progId="Equation.DSMT4">
              <p:embed/>
            </p:oleObj>
          </a:graphicData>
        </a:graphic>
      </p:graphicFrame>
      <p:graphicFrame>
        <p:nvGraphicFramePr>
          <p:cNvPr id="23556" name="Object 6"/>
          <p:cNvGraphicFramePr>
            <a:graphicFrameLocks noChangeAspect="1"/>
          </p:cNvGraphicFramePr>
          <p:nvPr/>
        </p:nvGraphicFramePr>
        <p:xfrm>
          <a:off x="5343525" y="2114550"/>
          <a:ext cx="508000" cy="571500"/>
        </p:xfrm>
        <a:graphic>
          <a:graphicData uri="http://schemas.openxmlformats.org/presentationml/2006/ole">
            <p:oleObj spid="_x0000_s23556" name="Equation" r:id="rId5" imgW="203040" imgH="228600" progId="Equation.DSMT4">
              <p:embed/>
            </p:oleObj>
          </a:graphicData>
        </a:graphic>
      </p:graphicFrame>
      <p:graphicFrame>
        <p:nvGraphicFramePr>
          <p:cNvPr id="23557" name="Object 7"/>
          <p:cNvGraphicFramePr>
            <a:graphicFrameLocks noChangeAspect="1"/>
          </p:cNvGraphicFramePr>
          <p:nvPr/>
        </p:nvGraphicFramePr>
        <p:xfrm>
          <a:off x="2428875" y="2643188"/>
          <a:ext cx="4300538" cy="654050"/>
        </p:xfrm>
        <a:graphic>
          <a:graphicData uri="http://schemas.openxmlformats.org/presentationml/2006/ole">
            <p:oleObj spid="_x0000_s23557" name="Equation" r:id="rId6" imgW="1587240" imgH="241200" progId="Equation.DSMT4">
              <p:embed/>
            </p:oleObj>
          </a:graphicData>
        </a:graphic>
      </p:graphicFrame>
      <p:graphicFrame>
        <p:nvGraphicFramePr>
          <p:cNvPr id="23558" name="Object 8"/>
          <p:cNvGraphicFramePr>
            <a:graphicFrameLocks noChangeAspect="1"/>
          </p:cNvGraphicFramePr>
          <p:nvPr/>
        </p:nvGraphicFramePr>
        <p:xfrm>
          <a:off x="2828925" y="3716338"/>
          <a:ext cx="404813" cy="608012"/>
        </p:xfrm>
        <a:graphic>
          <a:graphicData uri="http://schemas.openxmlformats.org/presentationml/2006/ole">
            <p:oleObj spid="_x0000_s23558" name="Equation" r:id="rId7" imgW="152280" imgH="228600" progId="Equation.DSMT4">
              <p:embed/>
            </p:oleObj>
          </a:graphicData>
        </a:graphic>
      </p:graphicFrame>
      <p:graphicFrame>
        <p:nvGraphicFramePr>
          <p:cNvPr id="23559" name="Object 9"/>
          <p:cNvGraphicFramePr>
            <a:graphicFrameLocks noChangeAspect="1"/>
          </p:cNvGraphicFramePr>
          <p:nvPr/>
        </p:nvGraphicFramePr>
        <p:xfrm>
          <a:off x="4143375" y="3714750"/>
          <a:ext cx="419100" cy="628650"/>
        </p:xfrm>
        <a:graphic>
          <a:graphicData uri="http://schemas.openxmlformats.org/presentationml/2006/ole">
            <p:oleObj spid="_x0000_s23559" name="Equation" r:id="rId8" imgW="152280" imgH="228600" progId="Equation.DSMT4">
              <p:embed/>
            </p:oleObj>
          </a:graphicData>
        </a:graphic>
      </p:graphicFrame>
      <p:graphicFrame>
        <p:nvGraphicFramePr>
          <p:cNvPr id="23560" name="Object 10"/>
          <p:cNvGraphicFramePr>
            <a:graphicFrameLocks noChangeAspect="1"/>
          </p:cNvGraphicFramePr>
          <p:nvPr/>
        </p:nvGraphicFramePr>
        <p:xfrm>
          <a:off x="714375" y="4214813"/>
          <a:ext cx="7445375" cy="2428875"/>
        </p:xfrm>
        <a:graphic>
          <a:graphicData uri="http://schemas.openxmlformats.org/presentationml/2006/ole">
            <p:oleObj spid="_x0000_s23560" name="Equation" r:id="rId9" imgW="3035160" imgH="990360" progId="Equation.DSMT4">
              <p:embed/>
            </p:oleObj>
          </a:graphicData>
        </a:graphic>
      </p:graphicFrame>
      <p:graphicFrame>
        <p:nvGraphicFramePr>
          <p:cNvPr id="23561" name="Object 9"/>
          <p:cNvGraphicFramePr>
            <a:graphicFrameLocks noChangeAspect="1"/>
          </p:cNvGraphicFramePr>
          <p:nvPr/>
        </p:nvGraphicFramePr>
        <p:xfrm>
          <a:off x="4216400" y="2100263"/>
          <a:ext cx="747713" cy="592137"/>
        </p:xfrm>
        <a:graphic>
          <a:graphicData uri="http://schemas.openxmlformats.org/presentationml/2006/ole">
            <p:oleObj spid="_x0000_s23561" name="Equation" r:id="rId10" imgW="304560" imgH="241200" progId="Equation.DSMT4">
              <p:embed/>
            </p:oleObj>
          </a:graphicData>
        </a:graphic>
      </p:graphicFrame>
      <p:sp>
        <p:nvSpPr>
          <p:cNvPr id="12" name="投影片編號版面配置區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0934D6-8406-4BFB-84DF-53A636949400}" type="slidenum">
              <a:rPr lang="zh-TW" altLang="en-US" smtClean="0"/>
              <a:pPr>
                <a:defRPr/>
              </a:pPr>
              <a:t>33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HSS methodology</a:t>
            </a:r>
            <a:endParaRPr lang="zh-TW" altLang="en-US" dirty="0" smtClean="0"/>
          </a:p>
        </p:txBody>
      </p:sp>
      <p:pic>
        <p:nvPicPr>
          <p:cNvPr id="55299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14313" y="1285875"/>
            <a:ext cx="8999537" cy="3286125"/>
          </a:xfrm>
          <a:noFill/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AC4EAD-EB4E-4400-BA6A-9CDE522F45EF}" type="slidenum">
              <a:rPr lang="zh-TW" altLang="en-US" smtClean="0"/>
              <a:pPr>
                <a:defRPr/>
              </a:pPr>
              <a:t>34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/>
            </a:pPr>
            <a:r>
              <a:rPr lang="en-US" altLang="zh-TW" sz="3300" dirty="0" smtClean="0">
                <a:latin typeface="Times New Roman" pitchFamily="18" charset="0"/>
                <a:cs typeface="Times New Roman" pitchFamily="18" charset="0"/>
              </a:rPr>
              <a:t>Applying HSS methodology into </a:t>
            </a:r>
            <a:r>
              <a:rPr lang="en-US" altLang="zh-TW" sz="3300" dirty="0" err="1" smtClean="0">
                <a:latin typeface="Times New Roman" pitchFamily="18" charset="0"/>
                <a:cs typeface="Times New Roman" pitchFamily="18" charset="0"/>
              </a:rPr>
              <a:t>lMM</a:t>
            </a:r>
            <a:endParaRPr lang="zh-TW" altLang="en-US" sz="33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7347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We  apply this methodology into the LMM and make some change to satisfy our conventions</a:t>
            </a:r>
          </a:p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We have the following propositions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D7A3D4-0E3D-4BE9-8733-03474210D255}" type="slidenum">
              <a:rPr lang="zh-TW" altLang="en-US" smtClean="0"/>
              <a:pPr>
                <a:defRPr/>
              </a:pPr>
              <a:t>35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7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Proposition 1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582" name="內容版面配置區 2"/>
          <p:cNvSpPr>
            <a:spLocks noGrp="1"/>
          </p:cNvSpPr>
          <p:nvPr>
            <p:ph idx="1"/>
          </p:nvPr>
        </p:nvSpPr>
        <p:spPr>
          <a:xfrm>
            <a:off x="428625" y="1571625"/>
            <a:ext cx="8229600" cy="4525963"/>
          </a:xfrm>
        </p:spPr>
        <p:txBody>
          <a:bodyPr/>
          <a:lstStyle/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For the forward LIBOR rate which follows the lognormal distribution, we can choose the proper up and down movements to determine the i-th period of the    -maturity forward LIBOR rate and have the form</a:t>
            </a:r>
          </a:p>
          <a:p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</a:pP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	where</a:t>
            </a:r>
            <a:endParaRPr lang="zh-TW" altLang="en-US" smtClean="0">
              <a:latin typeface="Times New Roman" pitchFamily="18" charset="0"/>
              <a:cs typeface="Times New Roman" pitchFamily="18" charset="0"/>
            </a:endParaRPr>
          </a:p>
          <a:p>
            <a:endParaRPr lang="zh-TW" altLang="en-US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4578" name="Object 2"/>
          <p:cNvGraphicFramePr>
            <a:graphicFrameLocks noChangeAspect="1"/>
          </p:cNvGraphicFramePr>
          <p:nvPr/>
        </p:nvGraphicFramePr>
        <p:xfrm>
          <a:off x="4286250" y="3071813"/>
          <a:ext cx="428625" cy="593725"/>
        </p:xfrm>
        <a:graphic>
          <a:graphicData uri="http://schemas.openxmlformats.org/presentationml/2006/ole">
            <p:oleObj spid="_x0000_s24578" name="Equation" r:id="rId3" imgW="164880" imgH="228600" progId="Equation.DSMT4">
              <p:embed/>
            </p:oleObj>
          </a:graphicData>
        </a:graphic>
      </p:graphicFrame>
      <p:graphicFrame>
        <p:nvGraphicFramePr>
          <p:cNvPr id="24579" name="Object 3"/>
          <p:cNvGraphicFramePr>
            <a:graphicFrameLocks noChangeAspect="1"/>
          </p:cNvGraphicFramePr>
          <p:nvPr/>
        </p:nvGraphicFramePr>
        <p:xfrm>
          <a:off x="1000125" y="4143375"/>
          <a:ext cx="7369175" cy="571500"/>
        </p:xfrm>
        <a:graphic>
          <a:graphicData uri="http://schemas.openxmlformats.org/presentationml/2006/ole">
            <p:oleObj spid="_x0000_s24579" name="Equation" r:id="rId4" imgW="3111480" imgH="241200" progId="Equation.DSMT4">
              <p:embed/>
            </p:oleObj>
          </a:graphicData>
        </a:graphic>
      </p:graphicFrame>
      <p:graphicFrame>
        <p:nvGraphicFramePr>
          <p:cNvPr id="24580" name="Object 4"/>
          <p:cNvGraphicFramePr>
            <a:graphicFrameLocks noChangeAspect="1"/>
          </p:cNvGraphicFramePr>
          <p:nvPr/>
        </p:nvGraphicFramePr>
        <p:xfrm>
          <a:off x="1941763" y="4696532"/>
          <a:ext cx="6762750" cy="2217738"/>
        </p:xfrm>
        <a:graphic>
          <a:graphicData uri="http://schemas.openxmlformats.org/presentationml/2006/ole">
            <p:oleObj spid="_x0000_s24580" name="Equation" r:id="rId5" imgW="3949560" imgH="1295280" progId="Equation.DSMT4">
              <p:embed/>
            </p:oleObj>
          </a:graphicData>
        </a:graphic>
      </p:graphicFrame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717606-BD83-4B67-8855-56E16B4FD581}" type="slidenum">
              <a:rPr lang="zh-TW" altLang="en-US" smtClean="0"/>
              <a:pPr>
                <a:defRPr/>
              </a:pPr>
              <a:t>36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85720" y="571480"/>
            <a:ext cx="8686800" cy="841248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binomial trees in discrete time forward rate 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8BB2C4-95FC-4B4A-B67D-2F899AC561B6}" type="slidenum">
              <a:rPr lang="zh-TW" altLang="en-US" smtClean="0"/>
              <a:pPr>
                <a:defRPr/>
              </a:pPr>
              <a:t>37</a:t>
            </a:fld>
            <a:endParaRPr lang="zh-TW" altLang="en-US"/>
          </a:p>
        </p:txBody>
      </p:sp>
      <p:grpSp>
        <p:nvGrpSpPr>
          <p:cNvPr id="5" name="群組 4"/>
          <p:cNvGrpSpPr/>
          <p:nvPr/>
        </p:nvGrpSpPr>
        <p:grpSpPr>
          <a:xfrm>
            <a:off x="928662" y="2000239"/>
            <a:ext cx="785818" cy="642945"/>
            <a:chOff x="1643042" y="4768459"/>
            <a:chExt cx="785818" cy="803681"/>
          </a:xfrm>
        </p:grpSpPr>
        <p:cxnSp>
          <p:nvCxnSpPr>
            <p:cNvPr id="6" name="直線單箭頭接點 5"/>
            <p:cNvCxnSpPr/>
            <p:nvPr/>
          </p:nvCxnSpPr>
          <p:spPr>
            <a:xfrm flipV="1">
              <a:off x="1643042" y="4768459"/>
              <a:ext cx="785818" cy="45253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直線單箭頭接點 6"/>
            <p:cNvCxnSpPr/>
            <p:nvPr/>
          </p:nvCxnSpPr>
          <p:spPr>
            <a:xfrm>
              <a:off x="1643042" y="5221000"/>
              <a:ext cx="785818" cy="35114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" name="群組 9"/>
          <p:cNvGrpSpPr/>
          <p:nvPr/>
        </p:nvGrpSpPr>
        <p:grpSpPr>
          <a:xfrm>
            <a:off x="2571736" y="3000372"/>
            <a:ext cx="1714512" cy="1500198"/>
            <a:chOff x="1500166" y="3714752"/>
            <a:chExt cx="1714512" cy="1500198"/>
          </a:xfrm>
        </p:grpSpPr>
        <p:grpSp>
          <p:nvGrpSpPr>
            <p:cNvPr id="11" name="群組 13"/>
            <p:cNvGrpSpPr/>
            <p:nvPr/>
          </p:nvGrpSpPr>
          <p:grpSpPr>
            <a:xfrm>
              <a:off x="1500166" y="4071940"/>
              <a:ext cx="928694" cy="785817"/>
              <a:chOff x="1643042" y="3404382"/>
              <a:chExt cx="785818" cy="1453378"/>
            </a:xfrm>
          </p:grpSpPr>
          <p:cxnSp>
            <p:nvCxnSpPr>
              <p:cNvPr id="18" name="直線單箭頭接點 17"/>
              <p:cNvCxnSpPr/>
              <p:nvPr/>
            </p:nvCxnSpPr>
            <p:spPr>
              <a:xfrm flipV="1">
                <a:off x="1643042" y="3404382"/>
                <a:ext cx="762533" cy="73899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直線單箭頭接點 18"/>
              <p:cNvCxnSpPr/>
              <p:nvPr/>
            </p:nvCxnSpPr>
            <p:spPr>
              <a:xfrm>
                <a:off x="1643042" y="4143380"/>
                <a:ext cx="785818" cy="71438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群組 23"/>
            <p:cNvGrpSpPr/>
            <p:nvPr/>
          </p:nvGrpSpPr>
          <p:grpSpPr>
            <a:xfrm>
              <a:off x="2285984" y="4429130"/>
              <a:ext cx="928694" cy="785817"/>
              <a:chOff x="1643042" y="3404382"/>
              <a:chExt cx="785818" cy="1453378"/>
            </a:xfrm>
          </p:grpSpPr>
          <p:cxnSp>
            <p:nvCxnSpPr>
              <p:cNvPr id="16" name="直線單箭頭接點 15"/>
              <p:cNvCxnSpPr/>
              <p:nvPr/>
            </p:nvCxnSpPr>
            <p:spPr>
              <a:xfrm flipV="1">
                <a:off x="1643042" y="3404382"/>
                <a:ext cx="762533" cy="73899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直線單箭頭接點 16"/>
              <p:cNvCxnSpPr/>
              <p:nvPr/>
            </p:nvCxnSpPr>
            <p:spPr>
              <a:xfrm>
                <a:off x="1643042" y="4143380"/>
                <a:ext cx="785818" cy="71438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群組 26"/>
            <p:cNvGrpSpPr/>
            <p:nvPr/>
          </p:nvGrpSpPr>
          <p:grpSpPr>
            <a:xfrm>
              <a:off x="2285984" y="3714750"/>
              <a:ext cx="928694" cy="785817"/>
              <a:chOff x="1643042" y="3404382"/>
              <a:chExt cx="785818" cy="1453378"/>
            </a:xfrm>
          </p:grpSpPr>
          <p:cxnSp>
            <p:nvCxnSpPr>
              <p:cNvPr id="14" name="直線單箭頭接點 13"/>
              <p:cNvCxnSpPr/>
              <p:nvPr/>
            </p:nvCxnSpPr>
            <p:spPr>
              <a:xfrm flipV="1">
                <a:off x="1643042" y="3404382"/>
                <a:ext cx="762533" cy="73899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直線單箭頭接點 14"/>
              <p:cNvCxnSpPr/>
              <p:nvPr/>
            </p:nvCxnSpPr>
            <p:spPr>
              <a:xfrm>
                <a:off x="1643042" y="4143380"/>
                <a:ext cx="785818" cy="71438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0" name="文字方塊 19"/>
          <p:cNvSpPr txBox="1"/>
          <p:nvPr/>
        </p:nvSpPr>
        <p:spPr>
          <a:xfrm>
            <a:off x="142844" y="2143116"/>
            <a:ext cx="100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f(0;1,2)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1285852" y="1643050"/>
            <a:ext cx="85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(1;1,2)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1643042" y="3571876"/>
            <a:ext cx="85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(0;2,3)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2786050" y="3000372"/>
            <a:ext cx="85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(1;2,3)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3857620" y="2643182"/>
            <a:ext cx="92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(2;2,3)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5" name="群組 24"/>
          <p:cNvGrpSpPr/>
          <p:nvPr/>
        </p:nvGrpSpPr>
        <p:grpSpPr>
          <a:xfrm>
            <a:off x="5072066" y="4143380"/>
            <a:ext cx="2304708" cy="2500306"/>
            <a:chOff x="966273" y="1985744"/>
            <a:chExt cx="2304708" cy="4260110"/>
          </a:xfrm>
        </p:grpSpPr>
        <p:grpSp>
          <p:nvGrpSpPr>
            <p:cNvPr id="26" name="群組 6"/>
            <p:cNvGrpSpPr/>
            <p:nvPr/>
          </p:nvGrpSpPr>
          <p:grpSpPr>
            <a:xfrm>
              <a:off x="966273" y="3414504"/>
              <a:ext cx="785818" cy="1428760"/>
              <a:chOff x="1643042" y="4857760"/>
              <a:chExt cx="785818" cy="714380"/>
            </a:xfrm>
          </p:grpSpPr>
          <p:cxnSp>
            <p:nvCxnSpPr>
              <p:cNvPr id="42" name="直線單箭頭接點 4"/>
              <p:cNvCxnSpPr/>
              <p:nvPr/>
            </p:nvCxnSpPr>
            <p:spPr>
              <a:xfrm flipV="1">
                <a:off x="1643042" y="4857760"/>
                <a:ext cx="762533" cy="36324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直線單箭頭接點 5"/>
              <p:cNvCxnSpPr/>
              <p:nvPr/>
            </p:nvCxnSpPr>
            <p:spPr>
              <a:xfrm>
                <a:off x="1643042" y="5221000"/>
                <a:ext cx="785818" cy="35114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群組 10"/>
            <p:cNvGrpSpPr/>
            <p:nvPr/>
          </p:nvGrpSpPr>
          <p:grpSpPr>
            <a:xfrm>
              <a:off x="1709888" y="4114816"/>
              <a:ext cx="785818" cy="1428760"/>
              <a:chOff x="1643042" y="4857760"/>
              <a:chExt cx="785818" cy="714380"/>
            </a:xfrm>
          </p:grpSpPr>
          <p:cxnSp>
            <p:nvCxnSpPr>
              <p:cNvPr id="40" name="直線單箭頭接點 39"/>
              <p:cNvCxnSpPr/>
              <p:nvPr/>
            </p:nvCxnSpPr>
            <p:spPr>
              <a:xfrm flipV="1">
                <a:off x="1643042" y="4857760"/>
                <a:ext cx="762533" cy="36324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直線單箭頭接點 40"/>
              <p:cNvCxnSpPr/>
              <p:nvPr/>
            </p:nvCxnSpPr>
            <p:spPr>
              <a:xfrm>
                <a:off x="1643042" y="5221000"/>
                <a:ext cx="785818" cy="35114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群組 13"/>
            <p:cNvGrpSpPr/>
            <p:nvPr/>
          </p:nvGrpSpPr>
          <p:grpSpPr>
            <a:xfrm>
              <a:off x="1708788" y="2728260"/>
              <a:ext cx="785818" cy="1428760"/>
              <a:chOff x="1643042" y="4857760"/>
              <a:chExt cx="785818" cy="714380"/>
            </a:xfrm>
          </p:grpSpPr>
          <p:cxnSp>
            <p:nvCxnSpPr>
              <p:cNvPr id="38" name="直線單箭頭接點 37"/>
              <p:cNvCxnSpPr/>
              <p:nvPr/>
            </p:nvCxnSpPr>
            <p:spPr>
              <a:xfrm flipV="1">
                <a:off x="1643042" y="4857760"/>
                <a:ext cx="762533" cy="36324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直線單箭頭接點 38"/>
              <p:cNvCxnSpPr/>
              <p:nvPr/>
            </p:nvCxnSpPr>
            <p:spPr>
              <a:xfrm>
                <a:off x="1643042" y="5221000"/>
                <a:ext cx="785818" cy="35114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群組 16"/>
            <p:cNvGrpSpPr/>
            <p:nvPr/>
          </p:nvGrpSpPr>
          <p:grpSpPr>
            <a:xfrm>
              <a:off x="2466471" y="3414504"/>
              <a:ext cx="785818" cy="1428760"/>
              <a:chOff x="1643042" y="4857760"/>
              <a:chExt cx="785818" cy="714380"/>
            </a:xfrm>
          </p:grpSpPr>
          <p:cxnSp>
            <p:nvCxnSpPr>
              <p:cNvPr id="36" name="直線單箭頭接點 35"/>
              <p:cNvCxnSpPr/>
              <p:nvPr/>
            </p:nvCxnSpPr>
            <p:spPr>
              <a:xfrm flipV="1">
                <a:off x="1643042" y="4857760"/>
                <a:ext cx="762533" cy="36324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" name="直線單箭頭接點 36"/>
              <p:cNvCxnSpPr/>
              <p:nvPr/>
            </p:nvCxnSpPr>
            <p:spPr>
              <a:xfrm>
                <a:off x="1643042" y="5221000"/>
                <a:ext cx="785818" cy="35114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0" name="群組 19"/>
            <p:cNvGrpSpPr/>
            <p:nvPr/>
          </p:nvGrpSpPr>
          <p:grpSpPr>
            <a:xfrm>
              <a:off x="2466471" y="1985744"/>
              <a:ext cx="785818" cy="1428760"/>
              <a:chOff x="1643042" y="4857760"/>
              <a:chExt cx="785818" cy="714380"/>
            </a:xfrm>
          </p:grpSpPr>
          <p:cxnSp>
            <p:nvCxnSpPr>
              <p:cNvPr id="34" name="直線單箭頭接點 33"/>
              <p:cNvCxnSpPr/>
              <p:nvPr/>
            </p:nvCxnSpPr>
            <p:spPr>
              <a:xfrm flipV="1">
                <a:off x="1643042" y="4857760"/>
                <a:ext cx="762533" cy="36324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直線單箭頭接點 34"/>
              <p:cNvCxnSpPr/>
              <p:nvPr/>
            </p:nvCxnSpPr>
            <p:spPr>
              <a:xfrm>
                <a:off x="1643042" y="5221000"/>
                <a:ext cx="785818" cy="35114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群組 22"/>
            <p:cNvGrpSpPr/>
            <p:nvPr/>
          </p:nvGrpSpPr>
          <p:grpSpPr>
            <a:xfrm>
              <a:off x="2485163" y="4817094"/>
              <a:ext cx="785818" cy="1428760"/>
              <a:chOff x="1643042" y="4857760"/>
              <a:chExt cx="785818" cy="714380"/>
            </a:xfrm>
          </p:grpSpPr>
          <p:cxnSp>
            <p:nvCxnSpPr>
              <p:cNvPr id="32" name="直線單箭頭接點 31"/>
              <p:cNvCxnSpPr/>
              <p:nvPr/>
            </p:nvCxnSpPr>
            <p:spPr>
              <a:xfrm flipV="1">
                <a:off x="1643042" y="4857760"/>
                <a:ext cx="762533" cy="36324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" name="直線單箭頭接點 32"/>
              <p:cNvCxnSpPr/>
              <p:nvPr/>
            </p:nvCxnSpPr>
            <p:spPr>
              <a:xfrm>
                <a:off x="1643042" y="5221000"/>
                <a:ext cx="785818" cy="35114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44" name="文字方塊 43"/>
          <p:cNvSpPr txBox="1"/>
          <p:nvPr/>
        </p:nvSpPr>
        <p:spPr>
          <a:xfrm>
            <a:off x="4000496" y="5214950"/>
            <a:ext cx="92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f(0;3,4)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5286380" y="4572008"/>
            <a:ext cx="85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(1;3,4)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6000760" y="4143380"/>
            <a:ext cx="100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(2;3,4)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6858016" y="3786190"/>
            <a:ext cx="85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(3;3,4)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06498" name="Object 2"/>
          <p:cNvGraphicFramePr>
            <a:graphicFrameLocks noChangeAspect="1"/>
          </p:cNvGraphicFramePr>
          <p:nvPr/>
        </p:nvGraphicFramePr>
        <p:xfrm>
          <a:off x="8001024" y="6000768"/>
          <a:ext cx="892014" cy="323852"/>
        </p:xfrm>
        <a:graphic>
          <a:graphicData uri="http://schemas.openxmlformats.org/presentationml/2006/ole">
            <p:oleObj spid="_x0000_s106498" name="Equation" r:id="rId3" imgW="139680" imgH="7596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structure of the binomial tree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617" name="內容版面配置區 56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smtClean="0"/>
              <a:t>With          nodes at  numbered               There are              nodes at     numbered               Here we write the forward rate  </a:t>
            </a:r>
          </a:p>
          <a:p>
            <a:pPr>
              <a:buFont typeface="Wingdings 2" pitchFamily="18" charset="2"/>
              <a:buNone/>
            </a:pPr>
            <a:r>
              <a:rPr lang="en-US" altLang="zh-TW" smtClean="0"/>
              <a:t>   in abbreviated form  </a:t>
            </a:r>
          </a:p>
          <a:p>
            <a:pPr>
              <a:buFont typeface="Wingdings 2" pitchFamily="18" charset="2"/>
              <a:buNone/>
            </a:pPr>
            <a:r>
              <a:rPr lang="en-US" altLang="zh-TW" smtClean="0"/>
              <a:t>   and take </a:t>
            </a:r>
            <a:r>
              <a:rPr lang="en-US" altLang="zh-TW" i="1" smtClean="0"/>
              <a:t>n</a:t>
            </a:r>
            <a:r>
              <a:rPr lang="en-US" altLang="zh-TW" baseline="-25000" smtClean="0"/>
              <a:t>1</a:t>
            </a:r>
            <a:r>
              <a:rPr lang="en-US" altLang="zh-TW" smtClean="0"/>
              <a:t> = </a:t>
            </a:r>
            <a:r>
              <a:rPr lang="en-US" altLang="zh-TW" i="1" smtClean="0"/>
              <a:t>n</a:t>
            </a:r>
            <a:r>
              <a:rPr lang="en-US" altLang="zh-TW" baseline="-25000" smtClean="0"/>
              <a:t>2 </a:t>
            </a:r>
            <a:r>
              <a:rPr lang="en-US" altLang="zh-TW" smtClean="0"/>
              <a:t>= 2,</a:t>
            </a:r>
          </a:p>
          <a:p>
            <a:pPr>
              <a:buFont typeface="Wingdings 2" pitchFamily="18" charset="2"/>
              <a:buNone/>
            </a:pPr>
            <a:r>
              <a:rPr lang="en-US" altLang="zh-TW" smtClean="0"/>
              <a:t>   </a:t>
            </a:r>
            <a:r>
              <a:rPr lang="en-US" altLang="zh-TW" i="1" smtClean="0"/>
              <a:t>r</a:t>
            </a:r>
            <a:r>
              <a:rPr lang="en-US" altLang="zh-TW" baseline="-25000" smtClean="0"/>
              <a:t>1</a:t>
            </a:r>
            <a:r>
              <a:rPr lang="en-US" altLang="zh-TW" smtClean="0"/>
              <a:t> = </a:t>
            </a:r>
            <a:r>
              <a:rPr lang="en-US" altLang="zh-TW" i="1" smtClean="0"/>
              <a:t>r</a:t>
            </a:r>
            <a:r>
              <a:rPr lang="en-US" altLang="zh-TW" baseline="-25000" smtClean="0"/>
              <a:t>2</a:t>
            </a:r>
            <a:r>
              <a:rPr lang="en-US" altLang="zh-TW" smtClean="0"/>
              <a:t> = 2.</a:t>
            </a:r>
            <a:endParaRPr lang="zh-TW" altLang="en-US" smtClean="0"/>
          </a:p>
          <a:p>
            <a:endParaRPr lang="zh-TW" altLang="en-US" smtClean="0"/>
          </a:p>
        </p:txBody>
      </p:sp>
      <p:sp>
        <p:nvSpPr>
          <p:cNvPr id="25618" name="內容版面配置區 57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385BAB-0F6E-4201-A509-84F96AA6347D}" type="slidenum">
              <a:rPr lang="zh-TW" altLang="en-US" smtClean="0"/>
              <a:pPr>
                <a:defRPr/>
              </a:pPr>
              <a:t>38</a:t>
            </a:fld>
            <a:endParaRPr lang="zh-TW" altLang="en-US"/>
          </a:p>
        </p:txBody>
      </p:sp>
      <p:grpSp>
        <p:nvGrpSpPr>
          <p:cNvPr id="25620" name="群組 30"/>
          <p:cNvGrpSpPr>
            <a:grpSpLocks/>
          </p:cNvGrpSpPr>
          <p:nvPr/>
        </p:nvGrpSpPr>
        <p:grpSpPr bwMode="auto">
          <a:xfrm>
            <a:off x="4143375" y="1571625"/>
            <a:ext cx="5000625" cy="4986338"/>
            <a:chOff x="285720" y="428604"/>
            <a:chExt cx="4781576" cy="5986498"/>
          </a:xfrm>
        </p:grpSpPr>
        <p:grpSp>
          <p:nvGrpSpPr>
            <p:cNvPr id="25623" name="群組 48"/>
            <p:cNvGrpSpPr>
              <a:grpSpLocks/>
            </p:cNvGrpSpPr>
            <p:nvPr/>
          </p:nvGrpSpPr>
          <p:grpSpPr bwMode="auto">
            <a:xfrm>
              <a:off x="857224" y="500042"/>
              <a:ext cx="3128978" cy="5915060"/>
              <a:chOff x="857224" y="500042"/>
              <a:chExt cx="3128978" cy="5915060"/>
            </a:xfrm>
          </p:grpSpPr>
          <p:sp>
            <p:nvSpPr>
              <p:cNvPr id="40" name="橢圓 39"/>
              <p:cNvSpPr/>
              <p:nvPr/>
            </p:nvSpPr>
            <p:spPr>
              <a:xfrm>
                <a:off x="3786137" y="6214980"/>
                <a:ext cx="200371" cy="20012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TW" altLang="en-US"/>
              </a:p>
            </p:txBody>
          </p:sp>
          <p:sp>
            <p:nvSpPr>
              <p:cNvPr id="41" name="橢圓 40"/>
              <p:cNvSpPr/>
              <p:nvPr/>
            </p:nvSpPr>
            <p:spPr>
              <a:xfrm>
                <a:off x="3071178" y="5500260"/>
                <a:ext cx="200371" cy="20012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TW" altLang="en-US"/>
              </a:p>
            </p:txBody>
          </p:sp>
          <p:sp>
            <p:nvSpPr>
              <p:cNvPr id="42" name="橢圓 41"/>
              <p:cNvSpPr/>
              <p:nvPr/>
            </p:nvSpPr>
            <p:spPr>
              <a:xfrm>
                <a:off x="3071178" y="2643284"/>
                <a:ext cx="200371" cy="20012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TW" altLang="en-US"/>
              </a:p>
            </p:txBody>
          </p:sp>
          <p:grpSp>
            <p:nvGrpSpPr>
              <p:cNvPr id="25627" name="群組 31"/>
              <p:cNvGrpSpPr>
                <a:grpSpLocks/>
              </p:cNvGrpSpPr>
              <p:nvPr/>
            </p:nvGrpSpPr>
            <p:grpSpPr bwMode="auto">
              <a:xfrm>
                <a:off x="3071802" y="500042"/>
                <a:ext cx="914400" cy="1557342"/>
                <a:chOff x="3071802" y="500042"/>
                <a:chExt cx="914400" cy="1557342"/>
              </a:xfrm>
            </p:grpSpPr>
            <p:sp>
              <p:nvSpPr>
                <p:cNvPr id="54" name="橢圓 4"/>
                <p:cNvSpPr/>
                <p:nvPr/>
              </p:nvSpPr>
              <p:spPr>
                <a:xfrm>
                  <a:off x="3786137" y="1852327"/>
                  <a:ext cx="200371" cy="20012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TW" altLang="en-US"/>
                </a:p>
              </p:txBody>
            </p:sp>
            <p:sp>
              <p:nvSpPr>
                <p:cNvPr id="55" name="橢圓 5"/>
                <p:cNvSpPr/>
                <p:nvPr/>
              </p:nvSpPr>
              <p:spPr>
                <a:xfrm>
                  <a:off x="3786137" y="499124"/>
                  <a:ext cx="200371" cy="20012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TW" altLang="en-US"/>
                </a:p>
              </p:txBody>
            </p:sp>
            <p:sp>
              <p:nvSpPr>
                <p:cNvPr id="56" name="橢圓 55"/>
                <p:cNvSpPr/>
                <p:nvPr/>
              </p:nvSpPr>
              <p:spPr>
                <a:xfrm>
                  <a:off x="3071179" y="1210031"/>
                  <a:ext cx="200371" cy="200122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TW" altLang="en-US"/>
                </a:p>
              </p:txBody>
            </p:sp>
          </p:grpSp>
          <p:grpSp>
            <p:nvGrpSpPr>
              <p:cNvPr id="25628" name="群組 16"/>
              <p:cNvGrpSpPr>
                <a:grpSpLocks/>
              </p:cNvGrpSpPr>
              <p:nvPr/>
            </p:nvGrpSpPr>
            <p:grpSpPr bwMode="auto">
              <a:xfrm>
                <a:off x="857224" y="1857364"/>
                <a:ext cx="1628780" cy="3128978"/>
                <a:chOff x="857224" y="1857364"/>
                <a:chExt cx="1628780" cy="3128978"/>
              </a:xfrm>
            </p:grpSpPr>
            <p:sp>
              <p:nvSpPr>
                <p:cNvPr id="48" name="橢圓 47"/>
                <p:cNvSpPr/>
                <p:nvPr/>
              </p:nvSpPr>
              <p:spPr>
                <a:xfrm>
                  <a:off x="2284875" y="4785539"/>
                  <a:ext cx="200371" cy="200122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TW" altLang="en-US"/>
                </a:p>
              </p:txBody>
            </p:sp>
            <p:sp>
              <p:nvSpPr>
                <p:cNvPr id="49" name="橢圓 48"/>
                <p:cNvSpPr/>
                <p:nvPr/>
              </p:nvSpPr>
              <p:spPr>
                <a:xfrm>
                  <a:off x="2284875" y="3352287"/>
                  <a:ext cx="200371" cy="20393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TW" altLang="en-US"/>
                </a:p>
              </p:txBody>
            </p:sp>
            <p:sp>
              <p:nvSpPr>
                <p:cNvPr id="50" name="橢圓 49"/>
                <p:cNvSpPr/>
                <p:nvPr/>
              </p:nvSpPr>
              <p:spPr>
                <a:xfrm>
                  <a:off x="2284875" y="1852328"/>
                  <a:ext cx="200371" cy="20012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TW" altLang="en-US"/>
                </a:p>
              </p:txBody>
            </p:sp>
            <p:sp>
              <p:nvSpPr>
                <p:cNvPr id="51" name="橢圓 13"/>
                <p:cNvSpPr/>
                <p:nvPr/>
              </p:nvSpPr>
              <p:spPr>
                <a:xfrm>
                  <a:off x="1571433" y="4070819"/>
                  <a:ext cx="198852" cy="20012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TW" altLang="en-US"/>
                </a:p>
              </p:txBody>
            </p:sp>
            <p:sp>
              <p:nvSpPr>
                <p:cNvPr id="52" name="橢圓 14"/>
                <p:cNvSpPr/>
                <p:nvPr/>
              </p:nvSpPr>
              <p:spPr>
                <a:xfrm>
                  <a:off x="1571433" y="2637567"/>
                  <a:ext cx="198852" cy="20012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TW" altLang="en-US"/>
                </a:p>
              </p:txBody>
            </p:sp>
            <p:sp>
              <p:nvSpPr>
                <p:cNvPr id="53" name="橢圓 52"/>
                <p:cNvSpPr/>
                <p:nvPr/>
              </p:nvSpPr>
              <p:spPr>
                <a:xfrm>
                  <a:off x="856473" y="3352287"/>
                  <a:ext cx="200371" cy="20393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TW" altLang="en-US"/>
                </a:p>
              </p:txBody>
            </p:sp>
          </p:grpSp>
          <p:sp>
            <p:nvSpPr>
              <p:cNvPr id="45" name="橢圓 44"/>
              <p:cNvSpPr/>
              <p:nvPr/>
            </p:nvSpPr>
            <p:spPr>
              <a:xfrm>
                <a:off x="3786137" y="4785539"/>
                <a:ext cx="200371" cy="20012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TW" altLang="en-US"/>
              </a:p>
            </p:txBody>
          </p:sp>
          <p:sp>
            <p:nvSpPr>
              <p:cNvPr id="46" name="橢圓 45"/>
              <p:cNvSpPr/>
              <p:nvPr/>
            </p:nvSpPr>
            <p:spPr>
              <a:xfrm>
                <a:off x="3786137" y="3358005"/>
                <a:ext cx="200371" cy="19821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TW" altLang="en-US"/>
              </a:p>
            </p:txBody>
          </p:sp>
          <p:sp>
            <p:nvSpPr>
              <p:cNvPr id="47" name="橢圓 46"/>
              <p:cNvSpPr/>
              <p:nvPr/>
            </p:nvSpPr>
            <p:spPr>
              <a:xfrm>
                <a:off x="3071178" y="4070819"/>
                <a:ext cx="200371" cy="20012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TW" altLang="en-US"/>
              </a:p>
            </p:txBody>
          </p:sp>
        </p:grpSp>
        <p:graphicFrame>
          <p:nvGraphicFramePr>
            <p:cNvPr id="25609" name="Object 2"/>
            <p:cNvGraphicFramePr>
              <a:graphicFrameLocks noChangeAspect="1"/>
            </p:cNvGraphicFramePr>
            <p:nvPr/>
          </p:nvGraphicFramePr>
          <p:xfrm>
            <a:off x="285720" y="3357562"/>
            <a:ext cx="469900" cy="203200"/>
          </p:xfrm>
          <a:graphic>
            <a:graphicData uri="http://schemas.openxmlformats.org/presentationml/2006/ole">
              <p:oleObj spid="_x0000_s25609" name="Equation" r:id="rId3" imgW="469800" imgH="203040" progId="Equation.DSMT4">
                <p:embed/>
              </p:oleObj>
            </a:graphicData>
          </a:graphic>
        </p:graphicFrame>
        <p:graphicFrame>
          <p:nvGraphicFramePr>
            <p:cNvPr id="25610" name="Object 3"/>
            <p:cNvGraphicFramePr>
              <a:graphicFrameLocks noChangeAspect="1"/>
            </p:cNvGraphicFramePr>
            <p:nvPr/>
          </p:nvGraphicFramePr>
          <p:xfrm>
            <a:off x="2500298" y="1785926"/>
            <a:ext cx="622300" cy="241300"/>
          </p:xfrm>
          <a:graphic>
            <a:graphicData uri="http://schemas.openxmlformats.org/presentationml/2006/ole">
              <p:oleObj spid="_x0000_s25610" name="Equation" r:id="rId4" imgW="622080" imgH="241200" progId="Equation.DSMT4">
                <p:embed/>
              </p:oleObj>
            </a:graphicData>
          </a:graphic>
        </p:graphicFrame>
        <p:graphicFrame>
          <p:nvGraphicFramePr>
            <p:cNvPr id="25611" name="Object 4"/>
            <p:cNvGraphicFramePr>
              <a:graphicFrameLocks noChangeAspect="1"/>
            </p:cNvGraphicFramePr>
            <p:nvPr/>
          </p:nvGraphicFramePr>
          <p:xfrm>
            <a:off x="2500298" y="3286124"/>
            <a:ext cx="901700" cy="241300"/>
          </p:xfrm>
          <a:graphic>
            <a:graphicData uri="http://schemas.openxmlformats.org/presentationml/2006/ole">
              <p:oleObj spid="_x0000_s25611" name="Equation" r:id="rId5" imgW="901440" imgH="241200" progId="Equation.DSMT4">
                <p:embed/>
              </p:oleObj>
            </a:graphicData>
          </a:graphic>
        </p:graphicFrame>
        <p:graphicFrame>
          <p:nvGraphicFramePr>
            <p:cNvPr id="25612" name="Object 5"/>
            <p:cNvGraphicFramePr>
              <a:graphicFrameLocks noChangeAspect="1"/>
            </p:cNvGraphicFramePr>
            <p:nvPr/>
          </p:nvGraphicFramePr>
          <p:xfrm>
            <a:off x="2500298" y="4714884"/>
            <a:ext cx="635000" cy="241300"/>
          </p:xfrm>
          <a:graphic>
            <a:graphicData uri="http://schemas.openxmlformats.org/presentationml/2006/ole">
              <p:oleObj spid="_x0000_s25612" name="Equation" r:id="rId6" imgW="634680" imgH="241200" progId="Equation.DSMT4">
                <p:embed/>
              </p:oleObj>
            </a:graphicData>
          </a:graphic>
        </p:graphicFrame>
        <p:graphicFrame>
          <p:nvGraphicFramePr>
            <p:cNvPr id="25613" name="Object 6"/>
            <p:cNvGraphicFramePr>
              <a:graphicFrameLocks noChangeAspect="1"/>
            </p:cNvGraphicFramePr>
            <p:nvPr/>
          </p:nvGraphicFramePr>
          <p:xfrm>
            <a:off x="4000496" y="428604"/>
            <a:ext cx="774700" cy="241300"/>
          </p:xfrm>
          <a:graphic>
            <a:graphicData uri="http://schemas.openxmlformats.org/presentationml/2006/ole">
              <p:oleObj spid="_x0000_s25613" name="Equation" r:id="rId7" imgW="774360" imgH="241200" progId="Equation.DSMT4">
                <p:embed/>
              </p:oleObj>
            </a:graphicData>
          </a:graphic>
        </p:graphicFrame>
        <p:graphicFrame>
          <p:nvGraphicFramePr>
            <p:cNvPr id="25614" name="Object 7"/>
            <p:cNvGraphicFramePr>
              <a:graphicFrameLocks noChangeAspect="1"/>
            </p:cNvGraphicFramePr>
            <p:nvPr/>
          </p:nvGraphicFramePr>
          <p:xfrm>
            <a:off x="4000496" y="3286124"/>
            <a:ext cx="1066800" cy="241300"/>
          </p:xfrm>
          <a:graphic>
            <a:graphicData uri="http://schemas.openxmlformats.org/presentationml/2006/ole">
              <p:oleObj spid="_x0000_s25614" name="Equation" r:id="rId8" imgW="1066680" imgH="241200" progId="Equation.DSMT4">
                <p:embed/>
              </p:oleObj>
            </a:graphicData>
          </a:graphic>
        </p:graphicFrame>
        <p:graphicFrame>
          <p:nvGraphicFramePr>
            <p:cNvPr id="25615" name="Object 8"/>
            <p:cNvGraphicFramePr>
              <a:graphicFrameLocks noChangeAspect="1"/>
            </p:cNvGraphicFramePr>
            <p:nvPr/>
          </p:nvGraphicFramePr>
          <p:xfrm>
            <a:off x="4000496" y="6143644"/>
            <a:ext cx="787400" cy="241300"/>
          </p:xfrm>
          <a:graphic>
            <a:graphicData uri="http://schemas.openxmlformats.org/presentationml/2006/ole">
              <p:oleObj spid="_x0000_s25615" name="Equation" r:id="rId9" imgW="787320" imgH="241200" progId="Equation.DSMT4">
                <p:embed/>
              </p:oleObj>
            </a:graphicData>
          </a:graphic>
        </p:graphicFrame>
      </p:grpSp>
      <p:graphicFrame>
        <p:nvGraphicFramePr>
          <p:cNvPr id="25602" name="Object 9"/>
          <p:cNvGraphicFramePr>
            <a:graphicFrameLocks noChangeAspect="1"/>
          </p:cNvGraphicFramePr>
          <p:nvPr/>
        </p:nvGraphicFramePr>
        <p:xfrm>
          <a:off x="1527175" y="1685925"/>
          <a:ext cx="671513" cy="447675"/>
        </p:xfrm>
        <a:graphic>
          <a:graphicData uri="http://schemas.openxmlformats.org/presentationml/2006/ole">
            <p:oleObj spid="_x0000_s25602" name="Equation" r:id="rId10" imgW="342720" imgH="228600" progId="Equation.DSMT4">
              <p:embed/>
            </p:oleObj>
          </a:graphicData>
        </a:graphic>
      </p:graphicFrame>
      <p:graphicFrame>
        <p:nvGraphicFramePr>
          <p:cNvPr id="25603" name="Object 10"/>
          <p:cNvGraphicFramePr>
            <a:graphicFrameLocks noChangeAspect="1"/>
          </p:cNvGraphicFramePr>
          <p:nvPr/>
        </p:nvGraphicFramePr>
        <p:xfrm>
          <a:off x="3709988" y="1643063"/>
          <a:ext cx="319087" cy="520700"/>
        </p:xfrm>
        <a:graphic>
          <a:graphicData uri="http://schemas.openxmlformats.org/presentationml/2006/ole">
            <p:oleObj spid="_x0000_s25603" name="Equation" r:id="rId11" imgW="139680" imgH="228600" progId="Equation.DSMT4">
              <p:embed/>
            </p:oleObj>
          </a:graphicData>
        </a:graphic>
      </p:graphicFrame>
      <p:sp>
        <p:nvSpPr>
          <p:cNvPr id="25621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TW" altLang="en-US"/>
          </a:p>
        </p:txBody>
      </p:sp>
      <p:pic>
        <p:nvPicPr>
          <p:cNvPr id="25622" name="Picture 11"/>
          <p:cNvPicPr>
            <a:picLocks noChangeAspect="1" noChangeArrowheads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357438" y="2143125"/>
            <a:ext cx="1804987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5604" name="Object 13"/>
          <p:cNvGraphicFramePr>
            <a:graphicFrameLocks noChangeAspect="1"/>
          </p:cNvGraphicFramePr>
          <p:nvPr/>
        </p:nvGraphicFramePr>
        <p:xfrm>
          <a:off x="2185988" y="2528888"/>
          <a:ext cx="1201737" cy="442912"/>
        </p:xfrm>
        <a:graphic>
          <a:graphicData uri="http://schemas.openxmlformats.org/presentationml/2006/ole">
            <p:oleObj spid="_x0000_s25604" name="Equation" r:id="rId13" imgW="622080" imgH="228600" progId="Equation.DSMT4">
              <p:embed/>
            </p:oleObj>
          </a:graphicData>
        </a:graphic>
      </p:graphicFrame>
      <p:graphicFrame>
        <p:nvGraphicFramePr>
          <p:cNvPr id="25605" name="Object 14"/>
          <p:cNvGraphicFramePr>
            <a:graphicFrameLocks noChangeAspect="1"/>
          </p:cNvGraphicFramePr>
          <p:nvPr/>
        </p:nvGraphicFramePr>
        <p:xfrm>
          <a:off x="1114425" y="2957513"/>
          <a:ext cx="357188" cy="493712"/>
        </p:xfrm>
        <a:graphic>
          <a:graphicData uri="http://schemas.openxmlformats.org/presentationml/2006/ole">
            <p:oleObj spid="_x0000_s25605" name="Equation" r:id="rId14" imgW="164880" imgH="228600" progId="Equation.DSMT4">
              <p:embed/>
            </p:oleObj>
          </a:graphicData>
        </a:graphic>
      </p:graphicFrame>
      <p:graphicFrame>
        <p:nvGraphicFramePr>
          <p:cNvPr id="25606" name="Object 15"/>
          <p:cNvGraphicFramePr>
            <a:graphicFrameLocks noChangeAspect="1"/>
          </p:cNvGraphicFramePr>
          <p:nvPr/>
        </p:nvGraphicFramePr>
        <p:xfrm>
          <a:off x="3071813" y="3000375"/>
          <a:ext cx="1889125" cy="400050"/>
        </p:xfrm>
        <a:graphic>
          <a:graphicData uri="http://schemas.openxmlformats.org/presentationml/2006/ole">
            <p:oleObj spid="_x0000_s25606" name="Equation" r:id="rId15" imgW="1079280" imgH="228600" progId="Equation.DSMT4">
              <p:embed/>
            </p:oleObj>
          </a:graphicData>
        </a:graphic>
      </p:graphicFrame>
      <p:graphicFrame>
        <p:nvGraphicFramePr>
          <p:cNvPr id="25607" name="Object 16"/>
          <p:cNvGraphicFramePr>
            <a:graphicFrameLocks noChangeAspect="1"/>
          </p:cNvGraphicFramePr>
          <p:nvPr/>
        </p:nvGraphicFramePr>
        <p:xfrm>
          <a:off x="2643188" y="3856038"/>
          <a:ext cx="1112837" cy="387350"/>
        </p:xfrm>
        <a:graphic>
          <a:graphicData uri="http://schemas.openxmlformats.org/presentationml/2006/ole">
            <p:oleObj spid="_x0000_s25607" name="Equation" r:id="rId16" imgW="583920" imgH="203040" progId="Equation.DSMT4">
              <p:embed/>
            </p:oleObj>
          </a:graphicData>
        </a:graphic>
      </p:graphicFrame>
      <p:graphicFrame>
        <p:nvGraphicFramePr>
          <p:cNvPr id="25608" name="Object 17"/>
          <p:cNvGraphicFramePr>
            <a:graphicFrameLocks noChangeAspect="1"/>
          </p:cNvGraphicFramePr>
          <p:nvPr/>
        </p:nvGraphicFramePr>
        <p:xfrm>
          <a:off x="3530600" y="4344988"/>
          <a:ext cx="990600" cy="428625"/>
        </p:xfrm>
        <a:graphic>
          <a:graphicData uri="http://schemas.openxmlformats.org/presentationml/2006/ole">
            <p:oleObj spid="_x0000_s25608" name="Equation" r:id="rId17" imgW="469800" imgH="20304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5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Proposition 2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634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Suppose that the forward LIBOR rate                are joint lognormally distributed. If the                  </a:t>
            </a:r>
          </a:p>
          <a:p>
            <a:pPr>
              <a:buFont typeface="Arial" charset="0"/>
              <a:buNone/>
            </a:pP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                                  ,         are approximated with binomial distributions with                      stages and      and      given by proposition 1, and if the conditional probability of an up movement at node </a:t>
            </a:r>
            <a:r>
              <a:rPr lang="en-US" altLang="zh-TW" i="1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 at time       is </a:t>
            </a:r>
            <a:endParaRPr lang="zh-TW" altLang="en-US" smtClean="0">
              <a:latin typeface="Times New Roman" pitchFamily="18" charset="0"/>
              <a:cs typeface="Times New Roman" pitchFamily="18" charset="0"/>
            </a:endParaRPr>
          </a:p>
          <a:p>
            <a:endParaRPr lang="zh-TW" altLang="en-US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6626" name="Object 2"/>
          <p:cNvGraphicFramePr>
            <a:graphicFrameLocks noChangeAspect="1"/>
          </p:cNvGraphicFramePr>
          <p:nvPr/>
        </p:nvGraphicFramePr>
        <p:xfrm>
          <a:off x="6856413" y="1655763"/>
          <a:ext cx="1738312" cy="522287"/>
        </p:xfrm>
        <a:graphic>
          <a:graphicData uri="http://schemas.openxmlformats.org/presentationml/2006/ole">
            <p:oleObj spid="_x0000_s26626" name="Equation" r:id="rId3" imgW="761760" imgH="228600" progId="Equation.DSMT4">
              <p:embed/>
            </p:oleObj>
          </a:graphicData>
        </a:graphic>
      </p:graphicFrame>
      <p:graphicFrame>
        <p:nvGraphicFramePr>
          <p:cNvPr id="26627" name="Object 3"/>
          <p:cNvGraphicFramePr>
            <a:graphicFrameLocks noChangeAspect="1"/>
          </p:cNvGraphicFramePr>
          <p:nvPr/>
        </p:nvGraphicFramePr>
        <p:xfrm>
          <a:off x="730250" y="2700338"/>
          <a:ext cx="4071938" cy="542925"/>
        </p:xfrm>
        <a:graphic>
          <a:graphicData uri="http://schemas.openxmlformats.org/presentationml/2006/ole">
            <p:oleObj spid="_x0000_s26627" name="Equation" r:id="rId4" imgW="1714320" imgH="228600" progId="Equation.DSMT4">
              <p:embed/>
            </p:oleObj>
          </a:graphicData>
        </a:graphic>
      </p:graphicFrame>
      <p:graphicFrame>
        <p:nvGraphicFramePr>
          <p:cNvPr id="26628" name="Object 4"/>
          <p:cNvGraphicFramePr>
            <a:graphicFrameLocks noChangeAspect="1"/>
          </p:cNvGraphicFramePr>
          <p:nvPr/>
        </p:nvGraphicFramePr>
        <p:xfrm>
          <a:off x="5238750" y="3148013"/>
          <a:ext cx="2095500" cy="571500"/>
        </p:xfrm>
        <a:graphic>
          <a:graphicData uri="http://schemas.openxmlformats.org/presentationml/2006/ole">
            <p:oleObj spid="_x0000_s26628" name="Equation" r:id="rId5" imgW="838080" imgH="228600" progId="Equation.DSMT4">
              <p:embed/>
            </p:oleObj>
          </a:graphicData>
        </a:graphic>
      </p:graphicFrame>
      <p:graphicFrame>
        <p:nvGraphicFramePr>
          <p:cNvPr id="26629" name="Object 5"/>
          <p:cNvGraphicFramePr>
            <a:graphicFrameLocks noChangeAspect="1"/>
          </p:cNvGraphicFramePr>
          <p:nvPr/>
        </p:nvGraphicFramePr>
        <p:xfrm>
          <a:off x="1428750" y="3600450"/>
          <a:ext cx="428625" cy="642938"/>
        </p:xfrm>
        <a:graphic>
          <a:graphicData uri="http://schemas.openxmlformats.org/presentationml/2006/ole">
            <p:oleObj spid="_x0000_s26629" name="Equation" r:id="rId6" imgW="152280" imgH="228600" progId="Equation.DSMT4">
              <p:embed/>
            </p:oleObj>
          </a:graphicData>
        </a:graphic>
      </p:graphicFrame>
      <p:graphicFrame>
        <p:nvGraphicFramePr>
          <p:cNvPr id="26630" name="Object 6"/>
          <p:cNvGraphicFramePr>
            <a:graphicFrameLocks noChangeAspect="1"/>
          </p:cNvGraphicFramePr>
          <p:nvPr/>
        </p:nvGraphicFramePr>
        <p:xfrm>
          <a:off x="2571750" y="3641725"/>
          <a:ext cx="403225" cy="603250"/>
        </p:xfrm>
        <a:graphic>
          <a:graphicData uri="http://schemas.openxmlformats.org/presentationml/2006/ole">
            <p:oleObj spid="_x0000_s26630" name="Equation" r:id="rId7" imgW="152280" imgH="228600" progId="Equation.DSMT4">
              <p:embed/>
            </p:oleObj>
          </a:graphicData>
        </a:graphic>
      </p:graphicFrame>
      <p:graphicFrame>
        <p:nvGraphicFramePr>
          <p:cNvPr id="26631" name="Object 7"/>
          <p:cNvGraphicFramePr>
            <a:graphicFrameLocks noChangeAspect="1"/>
          </p:cNvGraphicFramePr>
          <p:nvPr/>
        </p:nvGraphicFramePr>
        <p:xfrm>
          <a:off x="3127375" y="4656138"/>
          <a:ext cx="357188" cy="584200"/>
        </p:xfrm>
        <a:graphic>
          <a:graphicData uri="http://schemas.openxmlformats.org/presentationml/2006/ole">
            <p:oleObj spid="_x0000_s26631" name="Equation" r:id="rId8" imgW="139680" imgH="228600" progId="Equation.DSMT4">
              <p:embed/>
            </p:oleObj>
          </a:graphicData>
        </a:graphic>
      </p:graphicFrame>
      <p:graphicFrame>
        <p:nvGraphicFramePr>
          <p:cNvPr id="26632" name="Object 8"/>
          <p:cNvGraphicFramePr>
            <a:graphicFrameLocks noChangeAspect="1"/>
          </p:cNvGraphicFramePr>
          <p:nvPr/>
        </p:nvGraphicFramePr>
        <p:xfrm>
          <a:off x="285750" y="5286375"/>
          <a:ext cx="8791575" cy="857250"/>
        </p:xfrm>
        <a:graphic>
          <a:graphicData uri="http://schemas.openxmlformats.org/presentationml/2006/ole">
            <p:oleObj spid="_x0000_s26632" name="Equation" r:id="rId9" imgW="4356000" imgH="431640" progId="Equation.DSMT4">
              <p:embed/>
            </p:oleObj>
          </a:graphicData>
        </a:graphic>
      </p:graphicFrame>
      <p:sp>
        <p:nvSpPr>
          <p:cNvPr id="11" name="投影片編號版面配置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F20283-B5F1-43A6-B178-28995036EE75}" type="slidenum">
              <a:rPr lang="zh-TW" altLang="en-US" smtClean="0"/>
              <a:pPr>
                <a:defRPr/>
              </a:pPr>
              <a:t>39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5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Proposition 2</a:t>
            </a:r>
            <a:endParaRPr lang="zh-TW" altLang="en-US" dirty="0" smtClean="0"/>
          </a:p>
        </p:txBody>
      </p:sp>
      <p:sp>
        <p:nvSpPr>
          <p:cNvPr id="2765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	where</a:t>
            </a:r>
          </a:p>
          <a:p>
            <a:pPr>
              <a:buFont typeface="Arial" charset="0"/>
              <a:buNone/>
            </a:pPr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To determining the conditional probability, it has some skills to use for the term</a:t>
            </a:r>
          </a:p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We first derive  term          . Since forward rate is lognormally distributed, we have</a:t>
            </a:r>
            <a:endParaRPr lang="zh-TW" altLang="en-US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7650" name="Object 2"/>
          <p:cNvGraphicFramePr>
            <a:graphicFrameLocks noChangeAspect="1"/>
          </p:cNvGraphicFramePr>
          <p:nvPr/>
        </p:nvGraphicFramePr>
        <p:xfrm>
          <a:off x="1928813" y="1785938"/>
          <a:ext cx="4946650" cy="2192337"/>
        </p:xfrm>
        <a:graphic>
          <a:graphicData uri="http://schemas.openxmlformats.org/presentationml/2006/ole">
            <p:oleObj spid="_x0000_s27650" name="Equation" r:id="rId3" imgW="2234880" imgH="990360" progId="Equation.DSMT4">
              <p:embed/>
            </p:oleObj>
          </a:graphicData>
        </a:graphic>
      </p:graphicFrame>
      <p:graphicFrame>
        <p:nvGraphicFramePr>
          <p:cNvPr id="27651" name="Object 3"/>
          <p:cNvGraphicFramePr>
            <a:graphicFrameLocks noChangeAspect="1"/>
          </p:cNvGraphicFramePr>
          <p:nvPr/>
        </p:nvGraphicFramePr>
        <p:xfrm>
          <a:off x="5686425" y="4457700"/>
          <a:ext cx="1143000" cy="527050"/>
        </p:xfrm>
        <a:graphic>
          <a:graphicData uri="http://schemas.openxmlformats.org/presentationml/2006/ole">
            <p:oleObj spid="_x0000_s27651" name="Equation" r:id="rId4" imgW="495000" imgH="228600" progId="Equation.DSMT4">
              <p:embed/>
            </p:oleObj>
          </a:graphicData>
        </a:graphic>
      </p:graphicFrame>
      <p:graphicFrame>
        <p:nvGraphicFramePr>
          <p:cNvPr id="27652" name="Object 4"/>
          <p:cNvGraphicFramePr>
            <a:graphicFrameLocks noChangeAspect="1"/>
          </p:cNvGraphicFramePr>
          <p:nvPr/>
        </p:nvGraphicFramePr>
        <p:xfrm>
          <a:off x="4243388" y="5029200"/>
          <a:ext cx="952500" cy="571500"/>
        </p:xfrm>
        <a:graphic>
          <a:graphicData uri="http://schemas.openxmlformats.org/presentationml/2006/ole">
            <p:oleObj spid="_x0000_s27652" name="Equation" r:id="rId5" imgW="380880" imgH="228600" progId="Equation.DSMT4">
              <p:embed/>
            </p:oleObj>
          </a:graphicData>
        </a:graphic>
      </p:graphicFrame>
      <p:graphicFrame>
        <p:nvGraphicFramePr>
          <p:cNvPr id="27653" name="Object 5"/>
          <p:cNvGraphicFramePr>
            <a:graphicFrameLocks noChangeAspect="1"/>
          </p:cNvGraphicFramePr>
          <p:nvPr/>
        </p:nvGraphicFramePr>
        <p:xfrm>
          <a:off x="1938338" y="5886450"/>
          <a:ext cx="5143500" cy="1006475"/>
        </p:xfrm>
        <a:graphic>
          <a:graphicData uri="http://schemas.openxmlformats.org/presentationml/2006/ole">
            <p:oleObj spid="_x0000_s27653" name="Equation" r:id="rId6" imgW="2209680" imgH="431640" progId="Equation.DSMT4">
              <p:embed/>
            </p:oleObj>
          </a:graphicData>
        </a:graphic>
      </p:graphicFrame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E4D04A-766E-4C92-B193-72DBD7064BA2}" type="slidenum">
              <a:rPr lang="zh-TW" altLang="en-US" smtClean="0"/>
              <a:pPr>
                <a:defRPr/>
              </a:pPr>
              <a:t>40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9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derivation of expectation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678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We have the one-period drift of the forward rate  result obtained from the last chapter and rewrite it as follows</a:t>
            </a:r>
          </a:p>
          <a:p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Then multiple the                  term on both side to get the general form of </a:t>
            </a:r>
            <a:endParaRPr lang="zh-TW" altLang="en-US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8674" name="Object 3"/>
          <p:cNvGraphicFramePr>
            <a:graphicFrameLocks noChangeAspect="1"/>
          </p:cNvGraphicFramePr>
          <p:nvPr/>
        </p:nvGraphicFramePr>
        <p:xfrm>
          <a:off x="3784600" y="4784725"/>
          <a:ext cx="1544638" cy="820738"/>
        </p:xfrm>
        <a:graphic>
          <a:graphicData uri="http://schemas.openxmlformats.org/presentationml/2006/ole">
            <p:oleObj spid="_x0000_s28674" name="Equation" r:id="rId3" imgW="812520" imgH="431640" progId="Equation.DSMT4">
              <p:embed/>
            </p:oleObj>
          </a:graphicData>
        </a:graphic>
      </p:graphicFrame>
      <p:graphicFrame>
        <p:nvGraphicFramePr>
          <p:cNvPr id="28675" name="Object 5"/>
          <p:cNvGraphicFramePr>
            <a:graphicFrameLocks noChangeAspect="1"/>
          </p:cNvGraphicFramePr>
          <p:nvPr/>
        </p:nvGraphicFramePr>
        <p:xfrm>
          <a:off x="4572000" y="5500688"/>
          <a:ext cx="3892550" cy="450850"/>
        </p:xfrm>
        <a:graphic>
          <a:graphicData uri="http://schemas.openxmlformats.org/presentationml/2006/ole">
            <p:oleObj spid="_x0000_s28675" name="Equation" r:id="rId4" imgW="1968480" imgH="228600" progId="Equation.DSMT4">
              <p:embed/>
            </p:oleObj>
          </a:graphicData>
        </a:graphic>
      </p:graphicFrame>
      <p:graphicFrame>
        <p:nvGraphicFramePr>
          <p:cNvPr id="28676" name="Object 4"/>
          <p:cNvGraphicFramePr>
            <a:graphicFrameLocks noChangeAspect="1"/>
          </p:cNvGraphicFramePr>
          <p:nvPr/>
        </p:nvGraphicFramePr>
        <p:xfrm>
          <a:off x="706438" y="3143250"/>
          <a:ext cx="8407400" cy="1793875"/>
        </p:xfrm>
        <a:graphic>
          <a:graphicData uri="http://schemas.openxmlformats.org/presentationml/2006/ole">
            <p:oleObj spid="_x0000_s28676" name="Equation" r:id="rId5" imgW="4165560" imgH="888840" progId="Equation.DSMT4">
              <p:embed/>
            </p:oleObj>
          </a:graphicData>
        </a:graphic>
      </p:graphicFrame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A6DBA6-4F2F-4933-96C6-86C4BC459B6F}" type="slidenum">
              <a:rPr lang="zh-TW" altLang="en-US" smtClean="0"/>
              <a:pPr>
                <a:defRPr/>
              </a:pPr>
              <a:t>41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derivation of expectation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700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general form of expectation is given as  </a:t>
            </a:r>
          </a:p>
          <a:p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</a:pP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9698" name="Object 3"/>
          <p:cNvGraphicFramePr>
            <a:graphicFrameLocks noChangeAspect="1"/>
          </p:cNvGraphicFramePr>
          <p:nvPr/>
        </p:nvGraphicFramePr>
        <p:xfrm>
          <a:off x="714375" y="2214563"/>
          <a:ext cx="8382000" cy="1330325"/>
        </p:xfrm>
        <a:graphic>
          <a:graphicData uri="http://schemas.openxmlformats.org/presentationml/2006/ole">
            <p:oleObj spid="_x0000_s29698" name="Equation" r:id="rId3" imgW="5600520" imgH="888840" progId="Equation.DSMT4">
              <p:embed/>
            </p:oleObj>
          </a:graphicData>
        </a:graphic>
      </p:graphicFrame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8F93127-9DE5-4F3A-AFA3-DE097A097E64}" type="slidenum">
              <a:rPr lang="zh-TW" altLang="en-US" smtClean="0"/>
              <a:pPr>
                <a:defRPr/>
              </a:pPr>
              <a:t>42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Special case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4282" y="1571612"/>
            <a:ext cx="8686800" cy="4525962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When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i="1" baseline="-25000" dirty="0" err="1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stages approach infinite                , the sum of </a:t>
            </a:r>
            <a:r>
              <a:rPr lang="en-US" i="1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i="1" baseline="-25000" dirty="0" err="1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stages also approach infinite, that is </a:t>
            </a:r>
          </a:p>
          <a:p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We can reduce the up and down movements to the briefer form which is easier to calculate and show as follows</a:t>
            </a:r>
          </a:p>
          <a:p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conditional probability                 as 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8BB2C4-95FC-4B4A-B67D-2F899AC561B6}" type="slidenum">
              <a:rPr lang="zh-TW" altLang="en-US" smtClean="0"/>
              <a:pPr>
                <a:defRPr/>
              </a:pPr>
              <a:t>43</a:t>
            </a:fld>
            <a:endParaRPr lang="zh-TW" altLang="en-US"/>
          </a:p>
        </p:txBody>
      </p:sp>
      <p:graphicFrame>
        <p:nvGraphicFramePr>
          <p:cNvPr id="100353" name="Object 1"/>
          <p:cNvGraphicFramePr>
            <a:graphicFrameLocks noChangeAspect="1"/>
          </p:cNvGraphicFramePr>
          <p:nvPr/>
        </p:nvGraphicFramePr>
        <p:xfrm>
          <a:off x="6072198" y="1643050"/>
          <a:ext cx="1571636" cy="535025"/>
        </p:xfrm>
        <a:graphic>
          <a:graphicData uri="http://schemas.openxmlformats.org/presentationml/2006/ole">
            <p:oleObj spid="_x0000_s100353" name="Equation" r:id="rId3" imgW="596880" imgH="203040" progId="Equation.DSMT4">
              <p:embed/>
            </p:oleObj>
          </a:graphicData>
        </a:graphic>
      </p:graphicFrame>
      <p:graphicFrame>
        <p:nvGraphicFramePr>
          <p:cNvPr id="100354" name="Object 2"/>
          <p:cNvGraphicFramePr>
            <a:graphicFrameLocks noChangeAspect="1"/>
          </p:cNvGraphicFramePr>
          <p:nvPr/>
        </p:nvGraphicFramePr>
        <p:xfrm>
          <a:off x="714348" y="2643182"/>
          <a:ext cx="2444004" cy="646116"/>
        </p:xfrm>
        <a:graphic>
          <a:graphicData uri="http://schemas.openxmlformats.org/presentationml/2006/ole">
            <p:oleObj spid="_x0000_s100354" name="Equation" r:id="rId4" imgW="1104840" imgH="291960" progId="Equation.DSMT4">
              <p:embed/>
            </p:oleObj>
          </a:graphicData>
        </a:graphic>
      </p:graphicFrame>
      <p:graphicFrame>
        <p:nvGraphicFramePr>
          <p:cNvPr id="100357" name="Object 5"/>
          <p:cNvGraphicFramePr>
            <a:graphicFrameLocks noChangeAspect="1"/>
          </p:cNvGraphicFramePr>
          <p:nvPr/>
        </p:nvGraphicFramePr>
        <p:xfrm>
          <a:off x="613674" y="4630478"/>
          <a:ext cx="4351883" cy="1441728"/>
        </p:xfrm>
        <a:graphic>
          <a:graphicData uri="http://schemas.openxmlformats.org/presentationml/2006/ole">
            <p:oleObj spid="_x0000_s100357" name="Equation" r:id="rId5" imgW="2070000" imgH="685800" progId="Equation.DSMT4">
              <p:embed/>
            </p:oleObj>
          </a:graphicData>
        </a:graphic>
      </p:graphicFrame>
      <p:graphicFrame>
        <p:nvGraphicFramePr>
          <p:cNvPr id="100358" name="Object 6"/>
          <p:cNvGraphicFramePr>
            <a:graphicFrameLocks noChangeAspect="1"/>
          </p:cNvGraphicFramePr>
          <p:nvPr/>
        </p:nvGraphicFramePr>
        <p:xfrm>
          <a:off x="5130535" y="6058136"/>
          <a:ext cx="1676501" cy="511475"/>
        </p:xfrm>
        <a:graphic>
          <a:graphicData uri="http://schemas.openxmlformats.org/presentationml/2006/ole">
            <p:oleObj spid="_x0000_s100358" name="Equation" r:id="rId6" imgW="749160" imgH="228600" progId="Equation.DSMT4">
              <p:embed/>
            </p:oleObj>
          </a:graphicData>
        </a:graphic>
      </p:graphicFrame>
      <p:graphicFrame>
        <p:nvGraphicFramePr>
          <p:cNvPr id="100359" name="Object 7"/>
          <p:cNvGraphicFramePr>
            <a:graphicFrameLocks noChangeAspect="1"/>
          </p:cNvGraphicFramePr>
          <p:nvPr/>
        </p:nvGraphicFramePr>
        <p:xfrm>
          <a:off x="7272575" y="6015935"/>
          <a:ext cx="1238258" cy="571504"/>
        </p:xfrm>
        <a:graphic>
          <a:graphicData uri="http://schemas.openxmlformats.org/presentationml/2006/ole">
            <p:oleObj spid="_x0000_s100359" name="Equation" r:id="rId7" imgW="495000" imgH="2286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標題 1"/>
          <p:cNvSpPr>
            <a:spLocks noGrp="1"/>
          </p:cNvSpPr>
          <p:nvPr>
            <p:ph type="title"/>
          </p:nvPr>
        </p:nvSpPr>
        <p:spPr>
          <a:xfrm>
            <a:off x="214282" y="500042"/>
            <a:ext cx="8686800" cy="971536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Pricing of The Interest Rate Derivatives in LMM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371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After we construct out of our forward tree process, we can use it to price the derivatives</a:t>
            </a:r>
          </a:p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Beginning from the embedded option on ZCB then extend to the caplets</a:t>
            </a:r>
            <a:endParaRPr lang="zh-TW" altLang="en-US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3F0F5F-E917-43E3-B610-56B80B314FBD}" type="slidenum">
              <a:rPr lang="zh-TW" altLang="en-US" smtClean="0"/>
              <a:pPr>
                <a:defRPr/>
              </a:pPr>
              <a:t>44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85720" y="571480"/>
            <a:ext cx="8686800" cy="838200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valuation of embedded option on zero coupon bond in </a:t>
            </a:r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Lmm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embedded option on ZCB is a bond that can be callable before maturity date with a callable price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K</a:t>
            </a:r>
          </a:p>
          <a:p>
            <a:pPr algn="just"/>
            <a:endParaRPr lang="en-US" i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i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i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We have a three years maturity zero coupon bond with a callable price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equal to 0.952381 dollar at year two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8BB2C4-95FC-4B4A-B67D-2F899AC561B6}" type="slidenum">
              <a:rPr lang="zh-TW" altLang="en-US" smtClean="0"/>
              <a:pPr>
                <a:defRPr/>
              </a:pPr>
              <a:t>45</a:t>
            </a:fld>
            <a:endParaRPr lang="zh-TW" altLang="en-US"/>
          </a:p>
        </p:txBody>
      </p:sp>
      <p:grpSp>
        <p:nvGrpSpPr>
          <p:cNvPr id="5" name="群組 4"/>
          <p:cNvGrpSpPr/>
          <p:nvPr/>
        </p:nvGrpSpPr>
        <p:grpSpPr>
          <a:xfrm>
            <a:off x="928662" y="3429000"/>
            <a:ext cx="7143800" cy="1320817"/>
            <a:chOff x="1087438" y="1214422"/>
            <a:chExt cx="7199338" cy="1320817"/>
          </a:xfrm>
        </p:grpSpPr>
        <p:sp>
          <p:nvSpPr>
            <p:cNvPr id="6" name="Line 5"/>
            <p:cNvSpPr>
              <a:spLocks noChangeShapeType="1"/>
            </p:cNvSpPr>
            <p:nvPr/>
          </p:nvSpPr>
          <p:spPr bwMode="auto">
            <a:xfrm>
              <a:off x="1895475" y="1870076"/>
              <a:ext cx="532606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7" name="群組 25"/>
            <p:cNvGrpSpPr/>
            <p:nvPr/>
          </p:nvGrpSpPr>
          <p:grpSpPr>
            <a:xfrm>
              <a:off x="1087438" y="1214422"/>
              <a:ext cx="7199338" cy="1320817"/>
              <a:chOff x="1087438" y="1214422"/>
              <a:chExt cx="7199338" cy="1320817"/>
            </a:xfrm>
          </p:grpSpPr>
          <p:sp>
            <p:nvSpPr>
              <p:cNvPr id="8" name="Line 6"/>
              <p:cNvSpPr>
                <a:spLocks noChangeShapeType="1"/>
              </p:cNvSpPr>
              <p:nvPr/>
            </p:nvSpPr>
            <p:spPr bwMode="auto">
              <a:xfrm>
                <a:off x="1895475" y="1673226"/>
                <a:ext cx="0" cy="39370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9" name="Line 8"/>
              <p:cNvSpPr>
                <a:spLocks noChangeShapeType="1"/>
              </p:cNvSpPr>
              <p:nvPr/>
            </p:nvSpPr>
            <p:spPr bwMode="auto">
              <a:xfrm>
                <a:off x="5248275" y="1673226"/>
                <a:ext cx="1587" cy="39370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Line 9"/>
              <p:cNvSpPr>
                <a:spLocks noChangeShapeType="1"/>
              </p:cNvSpPr>
              <p:nvPr/>
            </p:nvSpPr>
            <p:spPr bwMode="auto">
              <a:xfrm>
                <a:off x="7221538" y="1673226"/>
                <a:ext cx="0" cy="39370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grpSp>
            <p:nvGrpSpPr>
              <p:cNvPr id="11" name="群組 24"/>
              <p:cNvGrpSpPr/>
              <p:nvPr/>
            </p:nvGrpSpPr>
            <p:grpSpPr>
              <a:xfrm>
                <a:off x="1087438" y="1214422"/>
                <a:ext cx="7199338" cy="1320817"/>
                <a:chOff x="1087438" y="1214422"/>
                <a:chExt cx="7199338" cy="1320817"/>
              </a:xfrm>
            </p:grpSpPr>
            <p:sp>
              <p:nvSpPr>
                <p:cNvPr id="12" name="Line 7"/>
                <p:cNvSpPr>
                  <a:spLocks noChangeShapeType="1"/>
                </p:cNvSpPr>
                <p:nvPr/>
              </p:nvSpPr>
              <p:spPr bwMode="auto">
                <a:xfrm>
                  <a:off x="3473450" y="1722438"/>
                  <a:ext cx="1587" cy="295275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13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4572000" y="1214422"/>
                  <a:ext cx="1714512" cy="511191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 altLang="zh-TW" dirty="0" smtClean="0">
                      <a:latin typeface="Times New Roman" pitchFamily="18" charset="0"/>
                      <a:ea typeface="標楷體" pitchFamily="65" charset="-120"/>
                      <a:cs typeface="Times New Roman" pitchFamily="18" charset="0"/>
                    </a:rPr>
                    <a:t>option maturity</a:t>
                  </a:r>
                </a:p>
                <a:p>
                  <a:endParaRPr lang="zh-TW" altLang="en-US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4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1087438" y="1943101"/>
                  <a:ext cx="6589712" cy="592138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 altLang="zh-TW" sz="2000" dirty="0" smtClean="0">
                      <a:latin typeface="Times New Roman" pitchFamily="18" charset="0"/>
                      <a:ea typeface="標楷體" pitchFamily="65" charset="-120"/>
                      <a:cs typeface="Times New Roman" pitchFamily="18" charset="0"/>
                    </a:rPr>
                    <a:t>Time </a:t>
                  </a:r>
                  <a:r>
                    <a:rPr lang="zh-TW" altLang="en-US" sz="1200" dirty="0" smtClean="0">
                      <a:latin typeface="Times New Roman" pitchFamily="18" charset="0"/>
                      <a:ea typeface="標楷體" pitchFamily="65" charset="-120"/>
                      <a:cs typeface="Times New Roman" pitchFamily="18" charset="0"/>
                    </a:rPr>
                    <a:t> </a:t>
                  </a:r>
                  <a:r>
                    <a:rPr lang="en-US" altLang="zh-TW" sz="2000" dirty="0">
                      <a:latin typeface="Times New Roman" pitchFamily="18" charset="0"/>
                      <a:ea typeface="標楷體" pitchFamily="65" charset="-120"/>
                      <a:cs typeface="Times New Roman" pitchFamily="18" charset="0"/>
                    </a:rPr>
                    <a:t>0           </a:t>
                  </a:r>
                  <a:r>
                    <a:rPr lang="en-US" altLang="zh-TW" sz="2000" dirty="0" smtClean="0">
                      <a:latin typeface="Times New Roman" pitchFamily="18" charset="0"/>
                      <a:ea typeface="標楷體" pitchFamily="65" charset="-120"/>
                      <a:cs typeface="Times New Roman" pitchFamily="18" charset="0"/>
                    </a:rPr>
                    <a:t>            1y                        2y                            3y</a:t>
                  </a:r>
                  <a:endParaRPr lang="en-US" altLang="zh-TW" sz="2000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5" name="AutoShape 13"/>
                <p:cNvSpPr>
                  <a:spLocks/>
                </p:cNvSpPr>
                <p:nvPr/>
              </p:nvSpPr>
              <p:spPr bwMode="auto">
                <a:xfrm rot="5400000">
                  <a:off x="6137275" y="1082676"/>
                  <a:ext cx="196850" cy="1973262"/>
                </a:xfrm>
                <a:prstGeom prst="rightBrace">
                  <a:avLst>
                    <a:gd name="adj1" fmla="val 83535"/>
                    <a:gd name="adj2" fmla="val 51389"/>
                  </a:avLst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16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5791201" y="2168526"/>
                  <a:ext cx="995378" cy="260342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 altLang="zh-TW" dirty="0" smtClean="0">
                      <a:latin typeface="Times New Roman" pitchFamily="18" charset="0"/>
                      <a:ea typeface="標楷體" pitchFamily="65" charset="-120"/>
                      <a:cs typeface="Times New Roman" pitchFamily="18" charset="0"/>
                    </a:rPr>
                    <a:t>one year</a:t>
                  </a:r>
                  <a:endParaRPr lang="zh-TW" altLang="en-US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7" name="文字方塊 16"/>
                <p:cNvSpPr txBox="1"/>
                <p:nvPr/>
              </p:nvSpPr>
              <p:spPr>
                <a:xfrm>
                  <a:off x="6643702" y="1214422"/>
                  <a:ext cx="164307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dirty="0" smtClean="0">
                      <a:latin typeface="Times New Roman" pitchFamily="18" charset="0"/>
                      <a:cs typeface="Times New Roman" pitchFamily="18" charset="0"/>
                    </a:rPr>
                    <a:t>bond maturity</a:t>
                  </a:r>
                  <a:endParaRPr lang="zh-TW" altLang="en-US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8" name="文字方塊 17"/>
                <p:cNvSpPr txBox="1"/>
                <p:nvPr/>
              </p:nvSpPr>
              <p:spPr>
                <a:xfrm>
                  <a:off x="1714480" y="1357298"/>
                  <a:ext cx="71438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i="1" dirty="0" smtClean="0">
                      <a:latin typeface="Times New Roman" pitchFamily="18" charset="0"/>
                      <a:cs typeface="Times New Roman" pitchFamily="18" charset="0"/>
                    </a:rPr>
                    <a:t>C</a:t>
                  </a:r>
                  <a:r>
                    <a:rPr lang="en-US" altLang="zh-TW" sz="1000" i="1" dirty="0" smtClean="0">
                      <a:latin typeface="Times New Roman" pitchFamily="18" charset="0"/>
                      <a:cs typeface="Times New Roman" pitchFamily="18" charset="0"/>
                    </a:rPr>
                    <a:t>0</a:t>
                  </a:r>
                  <a:endParaRPr lang="zh-TW" altLang="en-US" i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85720" y="571480"/>
            <a:ext cx="8686800" cy="838200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valuation of embedded option on zero coupon bond in </a:t>
            </a:r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Lmm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Pricing the option value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i="1" baseline="-25000" dirty="0" smtClean="0">
                <a:latin typeface="Times New Roman" pitchFamily="18" charset="0"/>
                <a:cs typeface="Times New Roman" pitchFamily="18" charset="0"/>
              </a:rPr>
              <a:t>0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of this callable bond at time 0</a:t>
            </a:r>
          </a:p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Here, we take the flat forward rate 5% and constant volatility 10%</a:t>
            </a:r>
          </a:p>
          <a:p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8BB2C4-95FC-4B4A-B67D-2F899AC561B6}" type="slidenum">
              <a:rPr lang="zh-TW" altLang="en-US" smtClean="0"/>
              <a:pPr>
                <a:defRPr/>
              </a:pPr>
              <a:t>46</a:t>
            </a:fld>
            <a:endParaRPr lang="zh-TW" altLang="en-US"/>
          </a:p>
        </p:txBody>
      </p:sp>
      <p:graphicFrame>
        <p:nvGraphicFramePr>
          <p:cNvPr id="77826" name="Object 2"/>
          <p:cNvGraphicFramePr>
            <a:graphicFrameLocks noChangeAspect="1"/>
          </p:cNvGraphicFramePr>
          <p:nvPr/>
        </p:nvGraphicFramePr>
        <p:xfrm>
          <a:off x="714348" y="3929066"/>
          <a:ext cx="6051219" cy="1714512"/>
        </p:xfrm>
        <a:graphic>
          <a:graphicData uri="http://schemas.openxmlformats.org/presentationml/2006/ole">
            <p:oleObj spid="_x0000_s77826" name="Equation" r:id="rId3" imgW="2286000" imgH="64764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Sensitive analysis – strike price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We change strike price from 0.952381 to 0.96 which vary 0.001 to see the relationship between strike price and embedded option value </a:t>
            </a:r>
          </a:p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We find that when the strike price increases, the embedded option value decreases 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8BB2C4-95FC-4B4A-B67D-2F899AC561B6}" type="slidenum">
              <a:rPr lang="zh-TW" altLang="en-US" smtClean="0"/>
              <a:pPr>
                <a:defRPr/>
              </a:pPr>
              <a:t>47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8BB2C4-95FC-4B4A-B67D-2F899AC561B6}" type="slidenum">
              <a:rPr lang="zh-TW" altLang="en-US" smtClean="0"/>
              <a:pPr>
                <a:defRPr/>
              </a:pPr>
              <a:t>48</a:t>
            </a:fld>
            <a:endParaRPr lang="zh-TW" altLang="en-US"/>
          </a:p>
        </p:txBody>
      </p:sp>
      <p:graphicFrame>
        <p:nvGraphicFramePr>
          <p:cNvPr id="5" name="圖表 4"/>
          <p:cNvGraphicFramePr/>
          <p:nvPr/>
        </p:nvGraphicFramePr>
        <p:xfrm>
          <a:off x="285720" y="357166"/>
          <a:ext cx="8572560" cy="62151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Sensitive analysis – volatility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We increase 1% of the volatility from 10% until reach 30% to see the impact of volatility on the embedded option value</a:t>
            </a:r>
          </a:p>
          <a:p>
            <a:pPr algn="just"/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We find that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when the volatility increases, the embedded option value increases</a:t>
            </a:r>
          </a:p>
          <a:p>
            <a:pPr algn="just"/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It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is consistent with the inference for the Greek letter </a:t>
            </a:r>
            <a:r>
              <a:rPr lang="en-US" i="1" dirty="0" err="1" smtClean="0">
                <a:latin typeface="Times New Roman" pitchFamily="18" charset="0"/>
                <a:cs typeface="Times New Roman" pitchFamily="18" charset="0"/>
              </a:rPr>
              <a:t>vega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when the underlying asset’s volatility increases the option value increases, too.</a:t>
            </a:r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F4B5DD-57F7-4678-9499-93AC5AEC1E4F}" type="slidenum">
              <a:rPr lang="zh-TW" altLang="en-US" smtClean="0"/>
              <a:pPr>
                <a:defRPr/>
              </a:pPr>
              <a:t>49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8BB2C4-95FC-4B4A-B67D-2F899AC561B6}" type="slidenum">
              <a:rPr lang="zh-TW" altLang="en-US" smtClean="0"/>
              <a:pPr>
                <a:defRPr/>
              </a:pPr>
              <a:t>50</a:t>
            </a:fld>
            <a:endParaRPr lang="zh-TW" altLang="en-US"/>
          </a:p>
        </p:txBody>
      </p:sp>
      <p:graphicFrame>
        <p:nvGraphicFramePr>
          <p:cNvPr id="5" name="圖表 4"/>
          <p:cNvGraphicFramePr/>
          <p:nvPr/>
        </p:nvGraphicFramePr>
        <p:xfrm>
          <a:off x="214282" y="285728"/>
          <a:ext cx="8643998" cy="62151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valuation of caplets in LMM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799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The payoff function of a caplet at time       is</a:t>
            </a:r>
          </a:p>
          <a:p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It is a caplet on the spot rate observed at time     with payoff occurring at time</a:t>
            </a:r>
          </a:p>
          <a:p>
            <a:pPr algn="just"/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The cap is a portfolio consisted of n such call options which the underlying is known as caplet </a:t>
            </a:r>
            <a:endParaRPr lang="zh-TW" altLang="en-US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4F692BE-C156-4BF2-B5F9-0FD7B680AA11}" type="slidenum">
              <a:rPr lang="zh-TW" altLang="en-US" smtClean="0"/>
              <a:pPr>
                <a:defRPr/>
              </a:pPr>
              <a:t>51</a:t>
            </a:fld>
            <a:endParaRPr lang="zh-TW" altLang="en-US"/>
          </a:p>
        </p:txBody>
      </p:sp>
      <p:graphicFrame>
        <p:nvGraphicFramePr>
          <p:cNvPr id="33794" name="Object 2"/>
          <p:cNvGraphicFramePr>
            <a:graphicFrameLocks noChangeAspect="1"/>
          </p:cNvGraphicFramePr>
          <p:nvPr/>
        </p:nvGraphicFramePr>
        <p:xfrm>
          <a:off x="7072313" y="1643063"/>
          <a:ext cx="500062" cy="500062"/>
        </p:xfrm>
        <a:graphic>
          <a:graphicData uri="http://schemas.openxmlformats.org/presentationml/2006/ole">
            <p:oleObj spid="_x0000_s33794" name="Equation" r:id="rId3" imgW="228600" imgH="228600" progId="Equation.DSMT4">
              <p:embed/>
            </p:oleObj>
          </a:graphicData>
        </a:graphic>
      </p:graphicFrame>
      <p:graphicFrame>
        <p:nvGraphicFramePr>
          <p:cNvPr id="33795" name="Object 3"/>
          <p:cNvGraphicFramePr>
            <a:graphicFrameLocks noChangeAspect="1"/>
          </p:cNvGraphicFramePr>
          <p:nvPr/>
        </p:nvGraphicFramePr>
        <p:xfrm>
          <a:off x="1643063" y="2214563"/>
          <a:ext cx="5884862" cy="682625"/>
        </p:xfrm>
        <a:graphic>
          <a:graphicData uri="http://schemas.openxmlformats.org/presentationml/2006/ole">
            <p:oleObj spid="_x0000_s33795" name="Equation" r:id="rId4" imgW="1968480" imgH="228600" progId="Equation.DSMT4">
              <p:embed/>
            </p:oleObj>
          </a:graphicData>
        </a:graphic>
      </p:graphicFrame>
      <p:graphicFrame>
        <p:nvGraphicFramePr>
          <p:cNvPr id="33796" name="Object 4"/>
          <p:cNvGraphicFramePr>
            <a:graphicFrameLocks noChangeAspect="1"/>
          </p:cNvGraphicFramePr>
          <p:nvPr/>
        </p:nvGraphicFramePr>
        <p:xfrm>
          <a:off x="8156575" y="2781300"/>
          <a:ext cx="355600" cy="581025"/>
        </p:xfrm>
        <a:graphic>
          <a:graphicData uri="http://schemas.openxmlformats.org/presentationml/2006/ole">
            <p:oleObj spid="_x0000_s33796" name="Equation" r:id="rId5" imgW="139680" imgH="228600" progId="Equation.DSMT4">
              <p:embed/>
            </p:oleObj>
          </a:graphicData>
        </a:graphic>
      </p:graphicFrame>
      <p:graphicFrame>
        <p:nvGraphicFramePr>
          <p:cNvPr id="33797" name="Object 5"/>
          <p:cNvGraphicFramePr>
            <a:graphicFrameLocks noChangeAspect="1"/>
          </p:cNvGraphicFramePr>
          <p:nvPr/>
        </p:nvGraphicFramePr>
        <p:xfrm>
          <a:off x="5588000" y="3287713"/>
          <a:ext cx="571500" cy="571500"/>
        </p:xfrm>
        <a:graphic>
          <a:graphicData uri="http://schemas.openxmlformats.org/presentationml/2006/ole">
            <p:oleObj spid="_x0000_s33797" name="Equation" r:id="rId6" imgW="228600" imgH="2286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theroetical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value of caplet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821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We use the Black’s formula for the caplet to get the theoretical value of caplet and rewrite as</a:t>
            </a:r>
          </a:p>
          <a:p>
            <a:endParaRPr lang="en-US" altLang="zh-TW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 2" pitchFamily="18" charset="2"/>
              <a:buNone/>
            </a:pP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	where</a:t>
            </a:r>
          </a:p>
          <a:p>
            <a:pPr>
              <a:buFont typeface="Wingdings 2" pitchFamily="18" charset="2"/>
              <a:buNone/>
            </a:pP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zh-TW" altLang="en-US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1EADA3-6E0A-4CA2-9BCE-4F1E74B0D255}" type="slidenum">
              <a:rPr lang="zh-TW" altLang="en-US" smtClean="0"/>
              <a:pPr>
                <a:defRPr/>
              </a:pPr>
              <a:t>52</a:t>
            </a:fld>
            <a:endParaRPr lang="zh-TW" altLang="en-US"/>
          </a:p>
        </p:txBody>
      </p:sp>
      <p:graphicFrame>
        <p:nvGraphicFramePr>
          <p:cNvPr id="34818" name="Object 2"/>
          <p:cNvGraphicFramePr>
            <a:graphicFrameLocks noChangeAspect="1"/>
          </p:cNvGraphicFramePr>
          <p:nvPr/>
        </p:nvGraphicFramePr>
        <p:xfrm>
          <a:off x="941388" y="2771775"/>
          <a:ext cx="7270750" cy="477838"/>
        </p:xfrm>
        <a:graphic>
          <a:graphicData uri="http://schemas.openxmlformats.org/presentationml/2006/ole">
            <p:oleObj spid="_x0000_s34818" name="Equation" r:id="rId3" imgW="3479760" imgH="228600" progId="Equation.DSMT4">
              <p:embed/>
            </p:oleObj>
          </a:graphicData>
        </a:graphic>
      </p:graphicFrame>
      <p:graphicFrame>
        <p:nvGraphicFramePr>
          <p:cNvPr id="34819" name="Object 3"/>
          <p:cNvGraphicFramePr>
            <a:graphicFrameLocks noChangeAspect="1"/>
          </p:cNvGraphicFramePr>
          <p:nvPr/>
        </p:nvGraphicFramePr>
        <p:xfrm>
          <a:off x="1643063" y="3929063"/>
          <a:ext cx="5862637" cy="2357437"/>
        </p:xfrm>
        <a:graphic>
          <a:graphicData uri="http://schemas.openxmlformats.org/presentationml/2006/ole">
            <p:oleObj spid="_x0000_s34819" name="Equation" r:id="rId4" imgW="2400120" imgH="96516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Numerical method of caplet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850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We use the payoff function to compute the price in lattice method</a:t>
            </a:r>
          </a:p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To get the payoff function at time      , we have to know the evolution of the forward rate                at time  </a:t>
            </a:r>
          </a:p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We construct the binomial tree of                   and known the                             , </a:t>
            </a:r>
            <a:r>
              <a:rPr lang="en-US" altLang="zh-TW" i="1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 = 0, 1, …, </a:t>
            </a:r>
            <a:r>
              <a:rPr lang="en-US" altLang="zh-TW" i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Calculating the expectation of the payoff at time  and then multiple the ZCB of                to get the caplet value at time </a:t>
            </a:r>
            <a:r>
              <a:rPr lang="en-US" altLang="zh-TW" i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TW" smtClean="0">
                <a:latin typeface="Times New Roman" pitchFamily="18" charset="0"/>
                <a:cs typeface="Times New Roman" pitchFamily="18" charset="0"/>
              </a:rPr>
              <a:t>. </a:t>
            </a:r>
            <a:endParaRPr lang="zh-TW" altLang="en-US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F06370-0A9B-4509-9D74-1988A7CE3CD6}" type="slidenum">
              <a:rPr lang="zh-TW" altLang="en-US" smtClean="0"/>
              <a:pPr>
                <a:defRPr/>
              </a:pPr>
              <a:t>53</a:t>
            </a:fld>
            <a:endParaRPr lang="zh-TW" altLang="en-US"/>
          </a:p>
        </p:txBody>
      </p:sp>
      <p:graphicFrame>
        <p:nvGraphicFramePr>
          <p:cNvPr id="35842" name="Object 2"/>
          <p:cNvGraphicFramePr>
            <a:graphicFrameLocks noChangeAspect="1"/>
          </p:cNvGraphicFramePr>
          <p:nvPr/>
        </p:nvGraphicFramePr>
        <p:xfrm>
          <a:off x="6257925" y="2714625"/>
          <a:ext cx="542925" cy="542925"/>
        </p:xfrm>
        <a:graphic>
          <a:graphicData uri="http://schemas.openxmlformats.org/presentationml/2006/ole">
            <p:oleObj spid="_x0000_s35842" name="Equation" r:id="rId3" imgW="228600" imgH="228600" progId="Equation.DSMT4">
              <p:embed/>
            </p:oleObj>
          </a:graphicData>
        </a:graphic>
      </p:graphicFrame>
      <p:graphicFrame>
        <p:nvGraphicFramePr>
          <p:cNvPr id="35843" name="Object 3"/>
          <p:cNvGraphicFramePr>
            <a:graphicFrameLocks noChangeAspect="1"/>
          </p:cNvGraphicFramePr>
          <p:nvPr/>
        </p:nvGraphicFramePr>
        <p:xfrm>
          <a:off x="7058025" y="3178175"/>
          <a:ext cx="1800225" cy="549275"/>
        </p:xfrm>
        <a:graphic>
          <a:graphicData uri="http://schemas.openxmlformats.org/presentationml/2006/ole">
            <p:oleObj spid="_x0000_s35843" name="Equation" r:id="rId4" imgW="749160" imgH="228600" progId="Equation.DSMT4">
              <p:embed/>
            </p:oleObj>
          </a:graphicData>
        </a:graphic>
      </p:graphicFrame>
      <p:graphicFrame>
        <p:nvGraphicFramePr>
          <p:cNvPr id="35844" name="Object 4"/>
          <p:cNvGraphicFramePr>
            <a:graphicFrameLocks noChangeAspect="1"/>
          </p:cNvGraphicFramePr>
          <p:nvPr/>
        </p:nvGraphicFramePr>
        <p:xfrm>
          <a:off x="1857375" y="3643313"/>
          <a:ext cx="357188" cy="584200"/>
        </p:xfrm>
        <a:graphic>
          <a:graphicData uri="http://schemas.openxmlformats.org/presentationml/2006/ole">
            <p:oleObj spid="_x0000_s35844" name="Equation" r:id="rId5" imgW="139680" imgH="228600" progId="Equation.DSMT4">
              <p:embed/>
            </p:oleObj>
          </a:graphicData>
        </a:graphic>
      </p:graphicFrame>
      <p:graphicFrame>
        <p:nvGraphicFramePr>
          <p:cNvPr id="35845" name="Object 5"/>
          <p:cNvGraphicFramePr>
            <a:graphicFrameLocks noChangeAspect="1"/>
          </p:cNvGraphicFramePr>
          <p:nvPr/>
        </p:nvGraphicFramePr>
        <p:xfrm>
          <a:off x="6242050" y="4243388"/>
          <a:ext cx="1779588" cy="542925"/>
        </p:xfrm>
        <a:graphic>
          <a:graphicData uri="http://schemas.openxmlformats.org/presentationml/2006/ole">
            <p:oleObj spid="_x0000_s35845" name="Equation" r:id="rId6" imgW="749160" imgH="228600" progId="Equation.DSMT4">
              <p:embed/>
            </p:oleObj>
          </a:graphicData>
        </a:graphic>
      </p:graphicFrame>
      <p:graphicFrame>
        <p:nvGraphicFramePr>
          <p:cNvPr id="35846" name="Object 6"/>
          <p:cNvGraphicFramePr>
            <a:graphicFrameLocks noChangeAspect="1"/>
          </p:cNvGraphicFramePr>
          <p:nvPr/>
        </p:nvGraphicFramePr>
        <p:xfrm>
          <a:off x="2428875" y="4716463"/>
          <a:ext cx="2978150" cy="571500"/>
        </p:xfrm>
        <a:graphic>
          <a:graphicData uri="http://schemas.openxmlformats.org/presentationml/2006/ole">
            <p:oleObj spid="_x0000_s35846" name="Equation" r:id="rId7" imgW="1257120" imgH="241200" progId="Equation.DSMT4">
              <p:embed/>
            </p:oleObj>
          </a:graphicData>
        </a:graphic>
      </p:graphicFrame>
      <p:graphicFrame>
        <p:nvGraphicFramePr>
          <p:cNvPr id="35847" name="Object 7"/>
          <p:cNvGraphicFramePr>
            <a:graphicFrameLocks noChangeAspect="1"/>
          </p:cNvGraphicFramePr>
          <p:nvPr/>
        </p:nvGraphicFramePr>
        <p:xfrm>
          <a:off x="8643938" y="5314950"/>
          <a:ext cx="542925" cy="541338"/>
        </p:xfrm>
        <a:graphic>
          <a:graphicData uri="http://schemas.openxmlformats.org/presentationml/2006/ole">
            <p:oleObj spid="_x0000_s35847" name="Equation" r:id="rId8" imgW="228600" imgH="228600" progId="Equation.DSMT4">
              <p:embed/>
            </p:oleObj>
          </a:graphicData>
        </a:graphic>
      </p:graphicFrame>
      <p:graphicFrame>
        <p:nvGraphicFramePr>
          <p:cNvPr id="35848" name="Object 8"/>
          <p:cNvGraphicFramePr>
            <a:graphicFrameLocks noChangeAspect="1"/>
          </p:cNvGraphicFramePr>
          <p:nvPr/>
        </p:nvGraphicFramePr>
        <p:xfrm>
          <a:off x="5614988" y="5786438"/>
          <a:ext cx="1468437" cy="600075"/>
        </p:xfrm>
        <a:graphic>
          <a:graphicData uri="http://schemas.openxmlformats.org/presentationml/2006/ole">
            <p:oleObj spid="_x0000_s35848" name="Equation" r:id="rId9" imgW="558720" imgH="2286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example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868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Assume the tenor an notional amount are equal to one, the volatility is constant and equal to 10%, strike price is 5% ,  forward curve is flat equal to 5% and stages for every period are equal to 25</a:t>
            </a:r>
          </a:p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We have the one period caplet at time 0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caplet</a:t>
            </a:r>
            <a:r>
              <a:rPr lang="en-US" altLang="zh-TW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(0)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43B4A2-1F15-4310-AFC6-3A581FB0954A}" type="slidenum">
              <a:rPr lang="zh-TW" altLang="en-US" smtClean="0"/>
              <a:pPr>
                <a:defRPr/>
              </a:pPr>
              <a:t>54</a:t>
            </a:fld>
            <a:endParaRPr lang="zh-TW" altLang="en-US"/>
          </a:p>
        </p:txBody>
      </p:sp>
      <p:graphicFrame>
        <p:nvGraphicFramePr>
          <p:cNvPr id="36870" name="Object 6"/>
          <p:cNvGraphicFramePr>
            <a:graphicFrameLocks noChangeAspect="1"/>
          </p:cNvGraphicFramePr>
          <p:nvPr/>
        </p:nvGraphicFramePr>
        <p:xfrm>
          <a:off x="642910" y="4214818"/>
          <a:ext cx="8337235" cy="2214578"/>
        </p:xfrm>
        <a:graphic>
          <a:graphicData uri="http://schemas.openxmlformats.org/presentationml/2006/ole">
            <p:oleObj spid="_x0000_s36870" name="Equation" r:id="rId3" imgW="3251160" imgH="86328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Numerical result	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939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Using the RMSE to see the difference between the lattice value and Black’s model for the whole maturity</a:t>
            </a:r>
          </a:p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Table 2 is the results for different maturity caplets</a:t>
            </a:r>
          </a:p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We find that when we increase the stage between periods, the difference between lattice method and Black’s model is close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8D05A5-F75C-4CEF-B41C-785721A33750}" type="slidenum">
              <a:rPr lang="zh-TW" altLang="en-US" smtClean="0"/>
              <a:pPr>
                <a:defRPr/>
              </a:pPr>
              <a:t>55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85720" y="571480"/>
            <a:ext cx="8686800" cy="841248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Table 2 volatility is 10% and stage for every period is 25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8BB2C4-95FC-4B4A-B67D-2F899AC561B6}" type="slidenum">
              <a:rPr lang="zh-TW" altLang="en-US" smtClean="0"/>
              <a:pPr>
                <a:defRPr/>
              </a:pPr>
              <a:t>56</a:t>
            </a:fld>
            <a:endParaRPr lang="zh-TW" altLang="en-US"/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285720" y="1571614"/>
          <a:ext cx="8572560" cy="4857785"/>
        </p:xfrm>
        <a:graphic>
          <a:graphicData uri="http://schemas.openxmlformats.org/drawingml/2006/table">
            <a:tbl>
              <a:tblPr/>
              <a:tblGrid>
                <a:gridCol w="1714512"/>
                <a:gridCol w="1714512"/>
                <a:gridCol w="1714512"/>
                <a:gridCol w="1714512"/>
                <a:gridCol w="1714512"/>
              </a:tblGrid>
              <a:tr h="56975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Maturity</a:t>
                      </a:r>
                      <a:endParaRPr lang="zh-TW" sz="1800" kern="100" dirty="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Black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Lattice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Difference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Relative Difference (%)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42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1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0.0018085085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0.0018242781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0.0000157696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0.8719669656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32642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2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0.0024348117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0.0024407546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0.0000059429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0.2440786919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2642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3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0.0028388399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0.0028374958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-0.0000013441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0.0473484800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2642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4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0.0031206153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0.0031282191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0.0000076038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0.2436631792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2642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5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0.0033214311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0.0033204098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-0.0000010214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0.0307505629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2642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6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0.0034637453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0.0034664184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0.0000026731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0.0771737036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2642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7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0.0035616356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0.0035658574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0.0000042219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0.1185369137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2642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8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0.0036247299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0.0036200240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-0.0000047059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0.1298286011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2642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9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0.0036600091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0.0036633313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0.0000033221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0.0907678678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126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10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0.0036727489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0.0036743568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0.0000016079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0.0437804213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126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　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　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RMSE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0.0000063671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　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424">
                <a:tc gridSpan="5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1. Caplet assume δ = 1 and stage 25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341262">
                <a:tc gridSpan="5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2. Assume volatility is 10%, the forward curve is flat 5%</a:t>
                      </a:r>
                      <a:endParaRPr lang="zh-TW" sz="1800" kern="100" dirty="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85720" y="571480"/>
            <a:ext cx="8686800" cy="841248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Table 2 volatility is 10% and stage for every period is 50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779323-F4A0-4AA6-8678-796B0793F18B}" type="slidenum">
              <a:rPr lang="zh-TW" altLang="en-US" smtClean="0"/>
              <a:pPr>
                <a:defRPr/>
              </a:pPr>
              <a:t>57</a:t>
            </a:fld>
            <a:endParaRPr lang="zh-TW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85721" y="1643054"/>
          <a:ext cx="8572558" cy="4786340"/>
        </p:xfrm>
        <a:graphic>
          <a:graphicData uri="http://schemas.openxmlformats.org/drawingml/2006/table">
            <a:tbl>
              <a:tblPr/>
              <a:tblGrid>
                <a:gridCol w="1155581"/>
                <a:gridCol w="1723084"/>
                <a:gridCol w="1723084"/>
                <a:gridCol w="1723084"/>
                <a:gridCol w="2247725"/>
              </a:tblGrid>
              <a:tr h="352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Maturity</a:t>
                      </a:r>
                      <a:endParaRPr lang="zh-TW" sz="1800" kern="100" dirty="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Black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Lattice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Difference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Relative Difference (%)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49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1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0.0018085085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0.0018099405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0.0000014320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0.0791823392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33749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2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0.0024348117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0.0024397802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0.0000049685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0.2040608652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749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3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0.0028388399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0.0028434461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0.0000046061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0.1622542164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749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4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0.0031206153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0.0031230795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0.0000024643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0.0789673074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749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5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0.0033214311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0.0033207434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-0.0000006878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0.0207066243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749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6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0.0034637453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0.0034620815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-0.0000016638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0.0480341136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749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7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0.0035616356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0.0035626664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0.0000010308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0.0289416315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749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8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0.0036247299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0.0036267433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0.0000020134 </a:t>
                      </a:r>
                      <a:endParaRPr lang="zh-TW" sz="1800" kern="100" dirty="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0.0555455781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749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9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0.0036600091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0.0036617883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0.0000017792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0.0486107386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52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10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0.0036727489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0.0036734197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0.0000006708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0.0182649876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　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　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RMSE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0.0000025690 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　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498">
                <a:tc gridSpan="5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1. Caplet assume δ = 1 and stage 50</a:t>
                      </a:r>
                      <a:endParaRPr lang="zh-TW" sz="1800" kern="10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352840">
                <a:tc gridSpan="5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solidFill>
                            <a:srgbClr val="000000"/>
                          </a:solidFill>
                          <a:latin typeface="Times New Roman"/>
                          <a:ea typeface="新細明體"/>
                        </a:rPr>
                        <a:t>2. Assume volatility is 10%, the forward curve is flat 5%</a:t>
                      </a:r>
                      <a:endParaRPr lang="zh-TW" sz="1800" kern="100" dirty="0">
                        <a:latin typeface="Times New Roman"/>
                        <a:ea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Convergence behavior vs. </a:t>
            </a:r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volatlity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We change the volatility from 10% to 30% to see the convergence behavior of RMSE  at different volatility level</a:t>
            </a:r>
          </a:p>
          <a:p>
            <a:r>
              <a:rPr lang="en-US" altLang="zh-TW" dirty="0" smtClean="0"/>
              <a:t>We find that when the volatility at low level, the convergent rate is fast to zero. Otherwise, the volatility at high level the convergence behavior is slow and strange</a:t>
            </a:r>
          </a:p>
          <a:p>
            <a:endParaRPr lang="zh-TW" altLang="en-US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F4B5DD-57F7-4678-9499-93AC5AEC1E4F}" type="slidenum">
              <a:rPr lang="zh-TW" altLang="en-US" smtClean="0"/>
              <a:pPr>
                <a:defRPr/>
              </a:pPr>
              <a:t>58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8BB2C4-95FC-4B4A-B67D-2F899AC561B6}" type="slidenum">
              <a:rPr lang="zh-TW" altLang="en-US" smtClean="0"/>
              <a:pPr>
                <a:defRPr/>
              </a:pPr>
              <a:t>59</a:t>
            </a:fld>
            <a:endParaRPr lang="zh-TW" altLang="en-US"/>
          </a:p>
        </p:txBody>
      </p:sp>
      <p:graphicFrame>
        <p:nvGraphicFramePr>
          <p:cNvPr id="5" name="圖表 4"/>
          <p:cNvGraphicFramePr/>
          <p:nvPr/>
        </p:nvGraphicFramePr>
        <p:xfrm>
          <a:off x="285720" y="500042"/>
          <a:ext cx="8501122" cy="57864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F4B5DD-57F7-4678-9499-93AC5AEC1E4F}" type="slidenum">
              <a:rPr lang="zh-TW" altLang="en-US" smtClean="0"/>
              <a:pPr>
                <a:defRPr/>
              </a:pPr>
              <a:t>60</a:t>
            </a:fld>
            <a:endParaRPr lang="zh-TW" altLang="en-US"/>
          </a:p>
        </p:txBody>
      </p:sp>
      <p:graphicFrame>
        <p:nvGraphicFramePr>
          <p:cNvPr id="3" name="圖表 2"/>
          <p:cNvGraphicFramePr/>
          <p:nvPr/>
        </p:nvGraphicFramePr>
        <p:xfrm>
          <a:off x="285720" y="500042"/>
          <a:ext cx="8572560" cy="57864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Conclusions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2467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zh-TW" sz="3000" dirty="0" smtClean="0">
                <a:latin typeface="Times New Roman" pitchFamily="18" charset="0"/>
                <a:cs typeface="Times New Roman" pitchFamily="18" charset="0"/>
              </a:rPr>
              <a:t>Constructing the recombining binomial tree, the payoff of the interest rate derivatives on each node can be obtained</a:t>
            </a:r>
          </a:p>
          <a:p>
            <a:r>
              <a:rPr lang="en-US" altLang="zh-TW" sz="3000" dirty="0" smtClean="0">
                <a:latin typeface="Times New Roman" pitchFamily="18" charset="0"/>
                <a:cs typeface="Times New Roman" pitchFamily="18" charset="0"/>
              </a:rPr>
              <a:t>The pricing procedures of the derivatives can be calculated by backward induction with the conditional probability</a:t>
            </a:r>
          </a:p>
          <a:p>
            <a:pPr algn="just"/>
            <a:r>
              <a:rPr lang="en-US" altLang="zh-TW" sz="3000" dirty="0" smtClean="0">
                <a:latin typeface="Times New Roman" pitchFamily="18" charset="0"/>
                <a:cs typeface="Times New Roman" pitchFamily="18" charset="0"/>
              </a:rPr>
              <a:t>Comparing to the theoretical value, we find the theoretical value and lattice method is close when we increase the stages. </a:t>
            </a:r>
            <a:endParaRPr lang="zh-TW" altLang="en-US" sz="3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zh-TW" altLang="en-US" sz="3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6EF2B9-2D4B-4607-9DCD-A2627C0C29D8}" type="slidenum">
              <a:rPr lang="zh-TW" altLang="en-US" smtClean="0"/>
              <a:pPr>
                <a:defRPr/>
              </a:pPr>
              <a:t>61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Conclusions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sensitive analysis results of embedded option are consistent with inference of Greek letters</a:t>
            </a:r>
          </a:p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Although the convergence behavior of RMSE in caplets  at high volatility is abnormal, it coheres with our inference as a whole</a:t>
            </a:r>
          </a:p>
          <a:p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8BB2C4-95FC-4B4A-B67D-2F899AC561B6}" type="slidenum">
              <a:rPr lang="zh-TW" altLang="en-US" smtClean="0"/>
              <a:pPr>
                <a:defRPr/>
              </a:pPr>
              <a:t>62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Future works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491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Deriving the joint probability between the states of  different binomial forward rate trees.</a:t>
            </a:r>
          </a:p>
          <a:p>
            <a:pPr algn="just"/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Adjusting the stages between period by period  to fit the strike price to reduce the nonlinearity error</a:t>
            </a:r>
          </a:p>
          <a:p>
            <a:pPr algn="just"/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Trying to change the constant volatility to stochastic volatility to fit the volatility term structure.</a:t>
            </a:r>
          </a:p>
          <a:p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826ED5-E1EC-4F5A-85EF-CDE63E333031}" type="slidenum">
              <a:rPr lang="zh-TW" altLang="en-US" smtClean="0"/>
              <a:pPr>
                <a:defRPr/>
              </a:pPr>
              <a:t>63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版面配置區 5"/>
          <p:cNvSpPr>
            <a:spLocks noGrp="1"/>
          </p:cNvSpPr>
          <p:nvPr>
            <p:ph type="body" idx="1"/>
          </p:nvPr>
        </p:nvSpPr>
        <p:spPr>
          <a:xfrm>
            <a:off x="285720" y="1676400"/>
            <a:ext cx="8553480" cy="1219200"/>
          </a:xfrm>
        </p:spPr>
        <p:txBody>
          <a:bodyPr/>
          <a:lstStyle/>
          <a:p>
            <a:pPr algn="ctr"/>
            <a:r>
              <a:rPr lang="en-US" altLang="zh-TW" sz="4000" b="1" dirty="0" smtClean="0">
                <a:latin typeface="Times New Roman" pitchFamily="18" charset="0"/>
                <a:cs typeface="Times New Roman" pitchFamily="18" charset="0"/>
              </a:rPr>
              <a:t>The End </a:t>
            </a:r>
            <a:endParaRPr lang="zh-TW" alt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>
          <a:xfrm>
            <a:off x="285720" y="3643314"/>
            <a:ext cx="8572560" cy="1184825"/>
          </a:xfrm>
        </p:spPr>
        <p:txBody>
          <a:bodyPr>
            <a:normAutofit/>
          </a:bodyPr>
          <a:lstStyle/>
          <a:p>
            <a:pPr algn="ctr"/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Thank you for your listening</a:t>
            </a:r>
            <a:endParaRPr lang="zh-TW" alt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8BB2C4-95FC-4B4A-B67D-2F899AC561B6}" type="slidenum">
              <a:rPr lang="zh-TW" altLang="en-US" smtClean="0"/>
              <a:pPr>
                <a:defRPr/>
              </a:pPr>
              <a:t>64</a:t>
            </a:fld>
            <a:endParaRPr lang="zh-TW" alt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旅程">
  <a:themeElements>
    <a:clrScheme name="旅程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旅程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旅程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1113</TotalTime>
  <Words>2446</Words>
  <Application>Microsoft Office PowerPoint</Application>
  <PresentationFormat>如螢幕大小 (4:3)</PresentationFormat>
  <Paragraphs>502</Paragraphs>
  <Slides>64</Slides>
  <Notes>1</Notes>
  <HiddenSlides>0</HiddenSlides>
  <MMClips>0</MMClips>
  <ScaleCrop>false</ScaleCrop>
  <HeadingPairs>
    <vt:vector size="6" baseType="variant"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64</vt:i4>
      </vt:variant>
    </vt:vector>
  </HeadingPairs>
  <TitlesOfParts>
    <vt:vector size="66" baseType="lpstr">
      <vt:lpstr>旅程</vt:lpstr>
      <vt:lpstr>Equation</vt:lpstr>
      <vt:lpstr>何俊儒</vt:lpstr>
      <vt:lpstr>Agenda</vt:lpstr>
      <vt:lpstr> Introduction</vt:lpstr>
      <vt:lpstr>Introduction</vt:lpstr>
      <vt:lpstr>Review of Interest Rate Models</vt:lpstr>
      <vt:lpstr> Equilibrium model</vt:lpstr>
      <vt:lpstr>No-arbitrage model</vt:lpstr>
      <vt:lpstr>Affine model</vt:lpstr>
      <vt:lpstr>Instantaneous forward rate model HJM Model</vt:lpstr>
      <vt:lpstr>Instantaneous forward rate model HJM Model</vt:lpstr>
      <vt:lpstr>Forward rate model LIBOR Market Model (LMM)</vt:lpstr>
      <vt:lpstr>Forward rate model LIBOR Market Model (LMM)</vt:lpstr>
      <vt:lpstr>Forward rate model LIBOR Market Model (LMM)</vt:lpstr>
      <vt:lpstr>Market Conventions of the LMM and the Discrete-Time Version of the LMM</vt:lpstr>
      <vt:lpstr>The relationship between discrete forward rate and zero coupon bond </vt:lpstr>
      <vt:lpstr>Basic term in the market</vt:lpstr>
      <vt:lpstr>Black’s formula for the caplet</vt:lpstr>
      <vt:lpstr>Forward rate agreement (FRA)</vt:lpstr>
      <vt:lpstr>Forward rate agreement (FRA)</vt:lpstr>
      <vt:lpstr>The relationship between discrete time  forward rate</vt:lpstr>
      <vt:lpstr>The discrete time version of LMM</vt:lpstr>
      <vt:lpstr>The most important results in text</vt:lpstr>
      <vt:lpstr>Discrete-time version of LMM</vt:lpstr>
      <vt:lpstr>Discrete-time version of LMM</vt:lpstr>
      <vt:lpstr>Discrete-time version of LMM</vt:lpstr>
      <vt:lpstr>Discrete-time version of LMM</vt:lpstr>
      <vt:lpstr>Discrete-time version of LMM</vt:lpstr>
      <vt:lpstr>Introducing the HSS Recombining Node Methodology </vt:lpstr>
      <vt:lpstr> HSS methodology</vt:lpstr>
      <vt:lpstr>投影片 30</vt:lpstr>
      <vt:lpstr> HSS methodology</vt:lpstr>
      <vt:lpstr>HSS methodology</vt:lpstr>
      <vt:lpstr>HSS methodology</vt:lpstr>
      <vt:lpstr>HSS methodology</vt:lpstr>
      <vt:lpstr>Applying HSS methodology into lMM</vt:lpstr>
      <vt:lpstr>Proposition 1</vt:lpstr>
      <vt:lpstr>the binomial trees in discrete time forward rate </vt:lpstr>
      <vt:lpstr>The structure of the binomial tree</vt:lpstr>
      <vt:lpstr>Proposition 2</vt:lpstr>
      <vt:lpstr>Proposition 2</vt:lpstr>
      <vt:lpstr>The derivation of expectation</vt:lpstr>
      <vt:lpstr>The derivation of expectation</vt:lpstr>
      <vt:lpstr>Special case</vt:lpstr>
      <vt:lpstr>The Pricing of The Interest Rate Derivatives in LMM</vt:lpstr>
      <vt:lpstr>The valuation of embedded option on zero coupon bond in Lmm</vt:lpstr>
      <vt:lpstr>The valuation of embedded option on zero coupon bond in Lmm</vt:lpstr>
      <vt:lpstr>Sensitive analysis – strike price</vt:lpstr>
      <vt:lpstr>投影片 48</vt:lpstr>
      <vt:lpstr>Sensitive analysis – volatility</vt:lpstr>
      <vt:lpstr>投影片 50</vt:lpstr>
      <vt:lpstr>The valuation of caplets in LMM</vt:lpstr>
      <vt:lpstr>The theroetical value of caplet</vt:lpstr>
      <vt:lpstr>Numerical method of caplet</vt:lpstr>
      <vt:lpstr>example</vt:lpstr>
      <vt:lpstr>Numerical result </vt:lpstr>
      <vt:lpstr>Table 2 volatility is 10% and stage for every period is 25</vt:lpstr>
      <vt:lpstr>Table 2 volatility is 10% and stage for every period is 50</vt:lpstr>
      <vt:lpstr>Convergence behavior vs. volatlity</vt:lpstr>
      <vt:lpstr>投影片 59</vt:lpstr>
      <vt:lpstr>投影片 60</vt:lpstr>
      <vt:lpstr>Conclusions</vt:lpstr>
      <vt:lpstr>Conclusions</vt:lpstr>
      <vt:lpstr>Future works</vt:lpstr>
      <vt:lpstr>Thank you for your listening</vt:lpstr>
    </vt:vector>
  </TitlesOfParts>
  <Company> 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何俊儒</dc:title>
  <dc:creator>George</dc:creator>
  <cp:lastModifiedBy>George</cp:lastModifiedBy>
  <cp:revision>87</cp:revision>
  <dcterms:created xsi:type="dcterms:W3CDTF">2008-06-15T08:38:52Z</dcterms:created>
  <dcterms:modified xsi:type="dcterms:W3CDTF">2008-07-31T10:24:03Z</dcterms:modified>
</cp:coreProperties>
</file>