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5" r:id="rId3"/>
  </p:sldMasterIdLst>
  <p:notesMasterIdLst>
    <p:notesMasterId r:id="rId69"/>
  </p:notesMasterIdLst>
  <p:sldIdLst>
    <p:sldId id="256" r:id="rId4"/>
    <p:sldId id="257" r:id="rId5"/>
    <p:sldId id="293"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18" r:id="rId57"/>
    <p:sldId id="319" r:id="rId58"/>
    <p:sldId id="320" r:id="rId59"/>
    <p:sldId id="309" r:id="rId60"/>
    <p:sldId id="310" r:id="rId61"/>
    <p:sldId id="311" r:id="rId62"/>
    <p:sldId id="312" r:id="rId63"/>
    <p:sldId id="313" r:id="rId64"/>
    <p:sldId id="314" r:id="rId65"/>
    <p:sldId id="315" r:id="rId66"/>
    <p:sldId id="316" r:id="rId67"/>
    <p:sldId id="317" r:id="rId6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12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 Type="http://schemas.openxmlformats.org/officeDocument/2006/relationships/slide" Target="slides/slide4.xml"/><Relationship Id="rId71"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C58D22-1282-40AA-B002-7CCBC651AB72}" type="datetimeFigureOut">
              <a:rPr lang="zh-TW" altLang="en-US" smtClean="0"/>
              <a:t>2011/3/9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E1B313-95BD-41BD-8D68-44369981F903}" type="slidenum">
              <a:rPr lang="zh-TW" altLang="en-US" smtClean="0"/>
              <a:t>‹#›</a:t>
            </a:fld>
            <a:endParaRPr lang="zh-TW" altLang="en-US"/>
          </a:p>
        </p:txBody>
      </p:sp>
    </p:spTree>
    <p:extLst>
      <p:ext uri="{BB962C8B-B14F-4D97-AF65-F5344CB8AC3E}">
        <p14:creationId xmlns:p14="http://schemas.microsoft.com/office/powerpoint/2010/main" val="2239565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fld id="{8BA92D28-0579-4D6C-995F-AF23A3382D0C}" type="slidenum">
              <a:rPr lang="en-US" altLang="zh-TW">
                <a:solidFill>
                  <a:prstClr val="black"/>
                </a:solidFill>
              </a:rPr>
              <a:pPr eaLnBrk="1" hangingPunct="1"/>
              <a:t>64</a:t>
            </a:fld>
            <a:endParaRPr lang="en-US" altLang="zh-TW">
              <a:solidFill>
                <a:prstClr val="black"/>
              </a:solidFill>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zh-TW" altLang="zh-TW"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fld id="{1FA9B4F6-693B-48C1-83C9-47D17806E782}" type="slidenum">
              <a:rPr lang="en-US" altLang="zh-TW">
                <a:solidFill>
                  <a:prstClr val="black"/>
                </a:solidFill>
              </a:rPr>
              <a:pPr eaLnBrk="1" hangingPunct="1"/>
              <a:t>65</a:t>
            </a:fld>
            <a:endParaRPr lang="en-US" altLang="zh-TW">
              <a:solidFill>
                <a:prstClr val="black"/>
              </a:solidFill>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zh-TW" altLang="zh-TW"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2920244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519465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70112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849051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2616103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857098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4011340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169340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4173208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1627649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FC7AE67-488D-495C-9F2B-CCB449A2016C}" type="datetimeFigureOut">
              <a:rPr lang="zh-TW" altLang="en-US" smtClean="0"/>
              <a:t>2011/3/9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1407559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F3B5451-E5EA-4487-B022-9AF12415EBEF}"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358018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5500826-355C-4195-BCDE-A8C58870892A}"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331399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368A04B-A820-4961-99A0-54FEE7EA56CF}"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957017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957C65FC-28E6-43F1-89FC-F8F226306C7A}"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154229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2D4EF1B3-B82E-45D6-971E-751F99B41D71}"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838412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52FEE44-FAA1-4860-B3D3-ECCCC5E602D8}"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38898315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E7445FF6-D70C-4458-BF9F-52336B89B155}"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6919669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F8E5A44-CA15-4787-88C1-DD116BAC86AB}"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804529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B4BD6F2-6D76-4F30-B35E-0B75EACEB372}"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2168398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60BC537-F89E-47AE-89E7-D8C580CB6F23}"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7097460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B8E600D-4864-4979-A8C3-D387B420B7DB}"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3657701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600200"/>
            <a:ext cx="8229600" cy="4525963"/>
          </a:xfrm>
        </p:spPr>
        <p:txBody>
          <a:bodyPr/>
          <a:lstStyle/>
          <a:p>
            <a:pPr lvl="0"/>
            <a:endParaRPr lang="zh-TW"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0724233-34CD-4B32-B3A9-6D0858951DCA}"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37846103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457200" y="1600200"/>
            <a:ext cx="4038600" cy="452596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BB1D6D0-2050-475E-A2D7-86DC44861DC7}"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380295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457200" y="1600200"/>
            <a:ext cx="4038600" cy="452596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quarter" idx="2"/>
          </p:nvPr>
        </p:nvSpPr>
        <p:spPr>
          <a:xfrm>
            <a:off x="4648200" y="1600200"/>
            <a:ext cx="4038600" cy="21859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內容版面配置區 4"/>
          <p:cNvSpPr>
            <a:spLocks noGrp="1"/>
          </p:cNvSpPr>
          <p:nvPr>
            <p:ph sz="quarter" idx="3"/>
          </p:nvPr>
        </p:nvSpPr>
        <p:spPr>
          <a:xfrm>
            <a:off x="4648200" y="3938588"/>
            <a:ext cx="4038600" cy="21875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3F04F9D6-F2A0-4182-93D7-4D87562C9EAB}"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2997754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953329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2260369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2203276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5342352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8" name="頁尾版面配置區 7"/>
          <p:cNvSpPr>
            <a:spLocks noGrp="1"/>
          </p:cNvSpPr>
          <p:nvPr>
            <p:ph type="ftr" sz="quarter" idx="11"/>
          </p:nvPr>
        </p:nvSpPr>
        <p:spPr/>
        <p:txBody>
          <a:bodyPr/>
          <a:lstStyle/>
          <a:p>
            <a:endParaRPr lang="zh-TW" altLang="en-US">
              <a:solidFill>
                <a:prstClr val="black">
                  <a:tint val="75000"/>
                </a:prstClr>
              </a:solidFill>
            </a:endParaRPr>
          </a:p>
        </p:txBody>
      </p:sp>
      <p:sp>
        <p:nvSpPr>
          <p:cNvPr id="9" name="投影片編號版面配置區 8"/>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4520880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4" name="頁尾版面配置區 3"/>
          <p:cNvSpPr>
            <a:spLocks noGrp="1"/>
          </p:cNvSpPr>
          <p:nvPr>
            <p:ph type="ftr" sz="quarter" idx="11"/>
          </p:nvPr>
        </p:nvSpPr>
        <p:spPr/>
        <p:txBody>
          <a:bodyPr/>
          <a:lstStyle/>
          <a:p>
            <a:endParaRPr lang="zh-TW" altLang="en-US">
              <a:solidFill>
                <a:prstClr val="black">
                  <a:tint val="75000"/>
                </a:prstClr>
              </a:solidFill>
            </a:endParaRPr>
          </a:p>
        </p:txBody>
      </p:sp>
      <p:sp>
        <p:nvSpPr>
          <p:cNvPr id="5" name="投影片編號版面配置區 4"/>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6228597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3" name="頁尾版面配置區 2"/>
          <p:cNvSpPr>
            <a:spLocks noGrp="1"/>
          </p:cNvSpPr>
          <p:nvPr>
            <p:ph type="ftr" sz="quarter" idx="11"/>
          </p:nvPr>
        </p:nvSpPr>
        <p:spPr/>
        <p:txBody>
          <a:bodyPr/>
          <a:lstStyle/>
          <a:p>
            <a:endParaRPr lang="zh-TW" altLang="en-US">
              <a:solidFill>
                <a:prstClr val="black">
                  <a:tint val="75000"/>
                </a:prstClr>
              </a:solidFill>
            </a:endParaRPr>
          </a:p>
        </p:txBody>
      </p:sp>
      <p:sp>
        <p:nvSpPr>
          <p:cNvPr id="4" name="投影片編號版面配置區 3"/>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325422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4142937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736195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9287387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994713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C7AE67-488D-495C-9F2B-CCB449A2016C}" type="datetimeFigureOut">
              <a:rPr lang="zh-TW" altLang="en-US" smtClean="0"/>
              <a:t>2011/3/9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BD31D4-3A89-4617-828C-A176B0DC34AE}" type="slidenum">
              <a:rPr lang="zh-TW" altLang="en-US" smtClean="0"/>
              <a:t>‹#›</a:t>
            </a:fld>
            <a:endParaRPr lang="zh-TW" altLang="en-US"/>
          </a:p>
        </p:txBody>
      </p:sp>
    </p:spTree>
    <p:extLst>
      <p:ext uri="{BB962C8B-B14F-4D97-AF65-F5344CB8AC3E}">
        <p14:creationId xmlns:p14="http://schemas.microsoft.com/office/powerpoint/2010/main" val="3827199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fontAlgn="base">
              <a:spcBef>
                <a:spcPct val="0"/>
              </a:spcBef>
              <a:spcAft>
                <a:spcPct val="0"/>
              </a:spcAft>
              <a:defRPr/>
            </a:pPr>
            <a:endParaRPr kumimoji="1" lang="en-US" altLang="zh-TW">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fontAlgn="base">
              <a:spcBef>
                <a:spcPct val="0"/>
              </a:spcBef>
              <a:spcAft>
                <a:spcPct val="0"/>
              </a:spcAft>
              <a:defRPr/>
            </a:pPr>
            <a:endParaRPr kumimoji="1" lang="en-US" altLang="zh-TW">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fontAlgn="base">
              <a:spcBef>
                <a:spcPct val="0"/>
              </a:spcBef>
              <a:spcAft>
                <a:spcPct val="0"/>
              </a:spcAft>
              <a:defRPr/>
            </a:pPr>
            <a:fld id="{13043CEF-23E9-4F08-BE27-B55BDC1F2D5F}" type="slidenum">
              <a:rPr kumimoji="1" lang="en-US" altLang="zh-TW">
                <a:solidFill>
                  <a:srgbClr val="000000"/>
                </a:solidFill>
              </a:rPr>
              <a:pPr fontAlgn="base">
                <a:spcBef>
                  <a:spcPct val="0"/>
                </a:spcBef>
                <a:spcAft>
                  <a:spcPct val="0"/>
                </a:spcAft>
                <a:defRPr/>
              </a:pPr>
              <a:t>‹#›</a:t>
            </a:fld>
            <a:endParaRPr kumimoji="1" lang="en-US" altLang="zh-TW">
              <a:solidFill>
                <a:srgbClr val="000000"/>
              </a:solidFill>
            </a:endParaRPr>
          </a:p>
        </p:txBody>
      </p:sp>
    </p:spTree>
    <p:extLst>
      <p:ext uri="{BB962C8B-B14F-4D97-AF65-F5344CB8AC3E}">
        <p14:creationId xmlns:p14="http://schemas.microsoft.com/office/powerpoint/2010/main" val="2724023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新細明體" charset="-120"/>
        </a:defRPr>
      </a:lvl2pPr>
      <a:lvl3pPr algn="ctr" rtl="0" eaLnBrk="0" fontAlgn="base" hangingPunct="0">
        <a:spcBef>
          <a:spcPct val="0"/>
        </a:spcBef>
        <a:spcAft>
          <a:spcPct val="0"/>
        </a:spcAft>
        <a:defRPr kumimoji="1" sz="4400">
          <a:solidFill>
            <a:schemeClr val="tx2"/>
          </a:solidFill>
          <a:latin typeface="Arial" charset="0"/>
          <a:ea typeface="新細明體" charset="-120"/>
        </a:defRPr>
      </a:lvl3pPr>
      <a:lvl4pPr algn="ctr" rtl="0" eaLnBrk="0" fontAlgn="base" hangingPunct="0">
        <a:spcBef>
          <a:spcPct val="0"/>
        </a:spcBef>
        <a:spcAft>
          <a:spcPct val="0"/>
        </a:spcAft>
        <a:defRPr kumimoji="1" sz="4400">
          <a:solidFill>
            <a:schemeClr val="tx2"/>
          </a:solidFill>
          <a:latin typeface="Arial" charset="0"/>
          <a:ea typeface="新細明體" charset="-120"/>
        </a:defRPr>
      </a:lvl4pPr>
      <a:lvl5pPr algn="ctr" rtl="0" eaLnBrk="0" fontAlgn="base" hangingPunct="0">
        <a:spcBef>
          <a:spcPct val="0"/>
        </a:spcBef>
        <a:spcAft>
          <a:spcPct val="0"/>
        </a:spcAft>
        <a:defRPr kumimoji="1" sz="4400">
          <a:solidFill>
            <a:schemeClr val="tx2"/>
          </a:solidFill>
          <a:latin typeface="Arial" charset="0"/>
          <a:ea typeface="新細明體" charset="-120"/>
        </a:defRPr>
      </a:lvl5pPr>
      <a:lvl6pPr marL="457200" algn="ctr" rtl="0" fontAlgn="base">
        <a:spcBef>
          <a:spcPct val="0"/>
        </a:spcBef>
        <a:spcAft>
          <a:spcPct val="0"/>
        </a:spcAft>
        <a:defRPr kumimoji="1" sz="4400">
          <a:solidFill>
            <a:schemeClr val="tx2"/>
          </a:solidFill>
          <a:latin typeface="Arial" charset="0"/>
          <a:ea typeface="新細明體" charset="-120"/>
        </a:defRPr>
      </a:lvl6pPr>
      <a:lvl7pPr marL="914400" algn="ctr" rtl="0" fontAlgn="base">
        <a:spcBef>
          <a:spcPct val="0"/>
        </a:spcBef>
        <a:spcAft>
          <a:spcPct val="0"/>
        </a:spcAft>
        <a:defRPr kumimoji="1" sz="4400">
          <a:solidFill>
            <a:schemeClr val="tx2"/>
          </a:solidFill>
          <a:latin typeface="Arial" charset="0"/>
          <a:ea typeface="新細明體" charset="-120"/>
        </a:defRPr>
      </a:lvl7pPr>
      <a:lvl8pPr marL="1371600" algn="ctr" rtl="0" fontAlgn="base">
        <a:spcBef>
          <a:spcPct val="0"/>
        </a:spcBef>
        <a:spcAft>
          <a:spcPct val="0"/>
        </a:spcAft>
        <a:defRPr kumimoji="1" sz="4400">
          <a:solidFill>
            <a:schemeClr val="tx2"/>
          </a:solidFill>
          <a:latin typeface="Arial" charset="0"/>
          <a:ea typeface="新細明體" charset="-120"/>
        </a:defRPr>
      </a:lvl8pPr>
      <a:lvl9pPr marL="1828800" algn="ctr" rtl="0" fontAlgn="base">
        <a:spcBef>
          <a:spcPct val="0"/>
        </a:spcBef>
        <a:spcAft>
          <a:spcPct val="0"/>
        </a:spcAft>
        <a:defRPr kumimoji="1" sz="4400">
          <a:solidFill>
            <a:schemeClr val="tx2"/>
          </a:solidFill>
          <a:latin typeface="Arial" charset="0"/>
          <a:ea typeface="新細明體"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271DE8-AB40-42BD-89DE-D4123A0564AE}" type="datetimeFigureOut">
              <a:rPr lang="zh-TW" altLang="en-US" smtClean="0">
                <a:solidFill>
                  <a:prstClr val="black">
                    <a:tint val="75000"/>
                  </a:prstClr>
                </a:solidFill>
              </a:rPr>
              <a:pPr/>
              <a:t>2011/3/9</a:t>
            </a:fld>
            <a:endParaRPr lang="zh-TW" altLang="en-US">
              <a:solidFill>
                <a:prstClr val="black">
                  <a:tint val="75000"/>
                </a:prstClr>
              </a:solidFill>
            </a:endParaRPr>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3AD30-65D6-4359-8C3B-1FD37276951D}"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52857577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5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pPr algn="r"/>
            <a:r>
              <a:rPr lang="zh-TW" altLang="en-US" dirty="0" smtClean="0"/>
              <a:t>企業金融的十二堂課</a:t>
            </a:r>
            <a:r>
              <a:rPr lang="en-US" altLang="zh-TW" dirty="0"/>
              <a:t/>
            </a:r>
            <a:br>
              <a:rPr lang="en-US" altLang="zh-TW" dirty="0"/>
            </a:br>
            <a:r>
              <a:rPr lang="en-US" altLang="zh-TW" sz="3000" dirty="0" smtClean="0"/>
              <a:t>-</a:t>
            </a:r>
            <a:r>
              <a:rPr lang="zh-TW" altLang="en-US" sz="3000" dirty="0" smtClean="0"/>
              <a:t>長短期融資規劃</a:t>
            </a:r>
            <a:endParaRPr lang="zh-TW" altLang="en-US" sz="3000" dirty="0"/>
          </a:p>
        </p:txBody>
      </p:sp>
      <p:sp>
        <p:nvSpPr>
          <p:cNvPr id="3" name="副標題 2"/>
          <p:cNvSpPr>
            <a:spLocks noGrp="1"/>
          </p:cNvSpPr>
          <p:nvPr>
            <p:ph type="subTitle" idx="1"/>
          </p:nvPr>
        </p:nvSpPr>
        <p:spPr/>
        <p:txBody>
          <a:bodyPr>
            <a:normAutofit/>
          </a:bodyPr>
          <a:lstStyle/>
          <a:p>
            <a:pPr algn="r"/>
            <a:r>
              <a:rPr lang="zh-TW" altLang="en-US" sz="2000" dirty="0"/>
              <a:t>資管</a:t>
            </a:r>
            <a:r>
              <a:rPr lang="zh-TW" altLang="en-US" sz="2000" dirty="0" smtClean="0"/>
              <a:t>所</a:t>
            </a:r>
            <a:r>
              <a:rPr lang="en-US" altLang="zh-TW" sz="2000" dirty="0" smtClean="0"/>
              <a:t>	</a:t>
            </a:r>
            <a:r>
              <a:rPr lang="zh-TW" altLang="en-US" sz="2000" dirty="0" smtClean="0"/>
              <a:t>黃立文</a:t>
            </a:r>
            <a:endParaRPr lang="zh-TW" altLang="en-US" sz="2000" dirty="0"/>
          </a:p>
        </p:txBody>
      </p:sp>
    </p:spTree>
    <p:extLst>
      <p:ext uri="{BB962C8B-B14F-4D97-AF65-F5344CB8AC3E}">
        <p14:creationId xmlns:p14="http://schemas.microsoft.com/office/powerpoint/2010/main" val="11152440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大綱</a:t>
            </a:r>
            <a:endParaRPr lang="zh-TW" altLang="en-US" dirty="0"/>
          </a:p>
        </p:txBody>
      </p:sp>
      <p:sp>
        <p:nvSpPr>
          <p:cNvPr id="3" name="內容版面配置區 2"/>
          <p:cNvSpPr>
            <a:spLocks noGrp="1"/>
          </p:cNvSpPr>
          <p:nvPr>
            <p:ph idx="1"/>
          </p:nvPr>
        </p:nvSpPr>
        <p:spPr/>
        <p:txBody>
          <a:bodyPr/>
          <a:lstStyle/>
          <a:p>
            <a:r>
              <a:rPr lang="zh-TW" altLang="en-US" dirty="0" smtClean="0"/>
              <a:t>長期融資</a:t>
            </a:r>
            <a:endParaRPr lang="en-US" altLang="zh-TW" dirty="0" smtClean="0"/>
          </a:p>
          <a:p>
            <a:pPr lvl="1"/>
            <a:r>
              <a:rPr lang="zh-TW" altLang="en-US" dirty="0"/>
              <a:t>長期融資</a:t>
            </a:r>
            <a:r>
              <a:rPr lang="zh-TW" altLang="en-US" dirty="0" smtClean="0"/>
              <a:t>工具</a:t>
            </a:r>
            <a:endParaRPr lang="en-US" altLang="zh-TW" dirty="0" smtClean="0"/>
          </a:p>
          <a:p>
            <a:pPr lvl="1"/>
            <a:r>
              <a:rPr lang="zh-TW" altLang="en-US" dirty="0"/>
              <a:t>影響長期融資決策的因素</a:t>
            </a:r>
            <a:endParaRPr lang="en-US" altLang="zh-TW" dirty="0"/>
          </a:p>
          <a:p>
            <a:r>
              <a:rPr lang="zh-TW" altLang="en-US" dirty="0"/>
              <a:t>短期</a:t>
            </a:r>
            <a:r>
              <a:rPr lang="zh-TW" altLang="en-US" dirty="0" smtClean="0"/>
              <a:t>融資</a:t>
            </a:r>
            <a:endParaRPr lang="en-US" altLang="zh-TW" dirty="0" smtClean="0"/>
          </a:p>
          <a:p>
            <a:pPr lvl="1"/>
            <a:r>
              <a:rPr lang="zh-TW" altLang="en-US" dirty="0"/>
              <a:t>營運</a:t>
            </a:r>
            <a:r>
              <a:rPr lang="zh-TW" altLang="en-US" dirty="0" smtClean="0"/>
              <a:t>資金</a:t>
            </a:r>
            <a:endParaRPr lang="en-US" altLang="zh-TW" dirty="0" smtClean="0"/>
          </a:p>
          <a:p>
            <a:pPr lvl="1"/>
            <a:r>
              <a:rPr lang="zh-TW" altLang="en-US" dirty="0"/>
              <a:t>現金轉換</a:t>
            </a:r>
            <a:r>
              <a:rPr lang="zh-TW" altLang="en-US" dirty="0" smtClean="0"/>
              <a:t>循環分析</a:t>
            </a:r>
            <a:endParaRPr lang="en-US" altLang="zh-TW" dirty="0" smtClean="0"/>
          </a:p>
          <a:p>
            <a:pPr lvl="1"/>
            <a:r>
              <a:rPr lang="zh-TW" altLang="en-US" dirty="0"/>
              <a:t>管理營運資金的策略</a:t>
            </a:r>
            <a:endParaRPr lang="en-US" altLang="zh-TW" dirty="0" smtClean="0"/>
          </a:p>
          <a:p>
            <a:pPr marL="457200" lvl="1" indent="0">
              <a:buNone/>
            </a:pPr>
            <a:endParaRPr lang="en-US" altLang="zh-TW" dirty="0" smtClean="0"/>
          </a:p>
        </p:txBody>
      </p:sp>
    </p:spTree>
    <p:extLst>
      <p:ext uri="{BB962C8B-B14F-4D97-AF65-F5344CB8AC3E}">
        <p14:creationId xmlns:p14="http://schemas.microsoft.com/office/powerpoint/2010/main" val="8670892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ctrTitle"/>
          </p:nvPr>
        </p:nvSpPr>
        <p:spPr/>
        <p:txBody>
          <a:bodyPr/>
          <a:lstStyle/>
          <a:p>
            <a:r>
              <a:rPr lang="zh-TW" altLang="en-US" dirty="0" smtClean="0"/>
              <a:t>長期融資</a:t>
            </a:r>
            <a:endParaRPr lang="zh-TW" altLang="en-US" dirty="0"/>
          </a:p>
        </p:txBody>
      </p:sp>
      <p:sp>
        <p:nvSpPr>
          <p:cNvPr id="7" name="副標題 6"/>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27419789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長期融資</a:t>
            </a:r>
            <a:r>
              <a:rPr lang="en-US" altLang="zh-TW" dirty="0" smtClean="0"/>
              <a:t>-</a:t>
            </a:r>
            <a:r>
              <a:rPr lang="zh-TW" altLang="en-US" dirty="0" smtClean="0"/>
              <a:t>前言</a:t>
            </a:r>
            <a:endParaRPr lang="zh-TW" altLang="en-US" dirty="0"/>
          </a:p>
        </p:txBody>
      </p:sp>
      <p:sp>
        <p:nvSpPr>
          <p:cNvPr id="3" name="內容版面配置區 2"/>
          <p:cNvSpPr>
            <a:spLocks noGrp="1"/>
          </p:cNvSpPr>
          <p:nvPr>
            <p:ph idx="1"/>
          </p:nvPr>
        </p:nvSpPr>
        <p:spPr/>
        <p:txBody>
          <a:bodyPr/>
          <a:lstStyle/>
          <a:p>
            <a:r>
              <a:rPr kumimoji="0" lang="zh-TW" altLang="en-US" dirty="0" smtClean="0"/>
              <a:t>企業籌措長期資金的管道日趨多元化，考量不同的資金需求、融資目的、所需金額、資金成本及其他因素，如何選擇最有利的長期融資方式？</a:t>
            </a:r>
            <a:endParaRPr kumimoji="0" lang="en-US" altLang="zh-TW" dirty="0" smtClean="0"/>
          </a:p>
          <a:p>
            <a:pPr marL="0" indent="0">
              <a:buNone/>
            </a:pPr>
            <a:endParaRPr kumimoji="0" lang="zh-TW" altLang="en-US" dirty="0" smtClean="0"/>
          </a:p>
          <a:p>
            <a:endParaRPr lang="zh-TW" altLang="en-US" dirty="0"/>
          </a:p>
        </p:txBody>
      </p:sp>
    </p:spTree>
    <p:extLst>
      <p:ext uri="{BB962C8B-B14F-4D97-AF65-F5344CB8AC3E}">
        <p14:creationId xmlns:p14="http://schemas.microsoft.com/office/powerpoint/2010/main" val="32290946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長期融資</a:t>
            </a:r>
            <a:r>
              <a:rPr lang="en-US" altLang="zh-TW" dirty="0" smtClean="0"/>
              <a:t>-</a:t>
            </a:r>
            <a:r>
              <a:rPr lang="zh-TW" altLang="en-US" dirty="0" smtClean="0"/>
              <a:t>長期融資工具</a:t>
            </a:r>
            <a:endParaRPr lang="zh-TW" altLang="en-US" dirty="0"/>
          </a:p>
        </p:txBody>
      </p:sp>
      <p:sp>
        <p:nvSpPr>
          <p:cNvPr id="3" name="內容版面配置區 2"/>
          <p:cNvSpPr>
            <a:spLocks noGrp="1"/>
          </p:cNvSpPr>
          <p:nvPr>
            <p:ph idx="1"/>
          </p:nvPr>
        </p:nvSpPr>
        <p:spPr/>
        <p:txBody>
          <a:bodyPr/>
          <a:lstStyle/>
          <a:p>
            <a:r>
              <a:rPr lang="zh-TW" altLang="en-US" dirty="0" smtClean="0"/>
              <a:t>普通股</a:t>
            </a:r>
            <a:endParaRPr lang="en-US" altLang="zh-TW" dirty="0" smtClean="0"/>
          </a:p>
          <a:p>
            <a:r>
              <a:rPr lang="zh-TW" altLang="en-US" dirty="0" smtClean="0"/>
              <a:t>特別股</a:t>
            </a:r>
            <a:endParaRPr lang="en-US" altLang="zh-TW" dirty="0" smtClean="0"/>
          </a:p>
          <a:p>
            <a:r>
              <a:rPr lang="zh-TW" altLang="en-US" dirty="0"/>
              <a:t>長期</a:t>
            </a:r>
            <a:r>
              <a:rPr lang="zh-TW" altLang="en-US" dirty="0" smtClean="0"/>
              <a:t>債券</a:t>
            </a:r>
            <a:endParaRPr lang="en-US" altLang="zh-TW" dirty="0" smtClean="0"/>
          </a:p>
          <a:p>
            <a:r>
              <a:rPr lang="zh-TW" altLang="en-US" dirty="0"/>
              <a:t>定期</a:t>
            </a:r>
            <a:r>
              <a:rPr lang="zh-TW" altLang="en-US" dirty="0" smtClean="0"/>
              <a:t>貸款</a:t>
            </a:r>
            <a:endParaRPr lang="en-US" altLang="zh-TW" dirty="0" smtClean="0"/>
          </a:p>
          <a:p>
            <a:r>
              <a:rPr lang="zh-TW" altLang="en-US" dirty="0"/>
              <a:t>可轉換</a:t>
            </a:r>
            <a:r>
              <a:rPr lang="zh-TW" altLang="en-US" dirty="0" smtClean="0"/>
              <a:t>公司債</a:t>
            </a:r>
            <a:endParaRPr lang="en-US" altLang="zh-TW" dirty="0" smtClean="0"/>
          </a:p>
          <a:p>
            <a:r>
              <a:rPr lang="zh-TW" altLang="en-US" dirty="0" smtClean="0"/>
              <a:t>租賃</a:t>
            </a:r>
            <a:endParaRPr lang="zh-TW" altLang="en-US" dirty="0"/>
          </a:p>
        </p:txBody>
      </p:sp>
    </p:spTree>
    <p:extLst>
      <p:ext uri="{BB962C8B-B14F-4D97-AF65-F5344CB8AC3E}">
        <p14:creationId xmlns:p14="http://schemas.microsoft.com/office/powerpoint/2010/main" val="499789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smtClean="0"/>
              <a:t>長期融資</a:t>
            </a:r>
            <a:r>
              <a:rPr lang="en-US" altLang="zh-TW" dirty="0" smtClean="0"/>
              <a:t>-</a:t>
            </a:r>
            <a:r>
              <a:rPr lang="zh-TW" altLang="en-US" dirty="0" smtClean="0"/>
              <a:t>長期融資工具</a:t>
            </a:r>
            <a:r>
              <a:rPr lang="en-US" altLang="zh-TW" dirty="0" smtClean="0"/>
              <a:t>(</a:t>
            </a:r>
            <a:r>
              <a:rPr lang="zh-TW" altLang="en-US" dirty="0" smtClean="0"/>
              <a:t>普通股</a:t>
            </a:r>
            <a:r>
              <a:rPr lang="en-US" altLang="zh-TW" dirty="0" smtClean="0"/>
              <a:t>)</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smtClean="0"/>
              <a:t>普通股即為公司所有人，無特定到期日，可享受經營成果，受償順序低於債權人以及特別股。</a:t>
            </a:r>
            <a:endParaRPr lang="en-US" altLang="zh-TW" dirty="0" smtClean="0"/>
          </a:p>
          <a:p>
            <a:r>
              <a:rPr lang="zh-TW" altLang="en-US" dirty="0" smtClean="0"/>
              <a:t>普通股性質：</a:t>
            </a:r>
            <a:endParaRPr lang="en-US" altLang="zh-TW" dirty="0" smtClean="0"/>
          </a:p>
          <a:p>
            <a:pPr lvl="1"/>
            <a:r>
              <a:rPr lang="zh-TW" altLang="en-US" dirty="0"/>
              <a:t>有限</a:t>
            </a:r>
            <a:r>
              <a:rPr lang="zh-TW" altLang="en-US" dirty="0" smtClean="0"/>
              <a:t>責任</a:t>
            </a:r>
            <a:endParaRPr lang="en-US" altLang="zh-TW" dirty="0" smtClean="0"/>
          </a:p>
          <a:p>
            <a:pPr lvl="1"/>
            <a:r>
              <a:rPr lang="zh-TW" altLang="en-US" dirty="0"/>
              <a:t>永久</a:t>
            </a:r>
            <a:r>
              <a:rPr lang="zh-TW" altLang="en-US" dirty="0" smtClean="0"/>
              <a:t>資金</a:t>
            </a:r>
            <a:endParaRPr lang="en-US" altLang="zh-TW" dirty="0" smtClean="0"/>
          </a:p>
          <a:p>
            <a:pPr lvl="1"/>
            <a:r>
              <a:rPr lang="zh-TW" altLang="en-US" dirty="0"/>
              <a:t>公司</a:t>
            </a:r>
            <a:r>
              <a:rPr lang="zh-TW" altLang="en-US" dirty="0" smtClean="0"/>
              <a:t>管理權</a:t>
            </a:r>
            <a:endParaRPr lang="en-US" altLang="zh-TW" dirty="0" smtClean="0"/>
          </a:p>
          <a:p>
            <a:pPr lvl="1"/>
            <a:r>
              <a:rPr lang="zh-TW" altLang="en-US" dirty="0"/>
              <a:t>享受</a:t>
            </a:r>
            <a:r>
              <a:rPr lang="zh-TW" altLang="en-US" dirty="0" smtClean="0"/>
              <a:t>經營成果</a:t>
            </a:r>
            <a:endParaRPr lang="en-US" altLang="zh-TW" dirty="0" smtClean="0"/>
          </a:p>
          <a:p>
            <a:pPr lvl="1"/>
            <a:r>
              <a:rPr lang="zh-TW" altLang="en-US" dirty="0"/>
              <a:t>剩餘財產分配權</a:t>
            </a:r>
          </a:p>
        </p:txBody>
      </p:sp>
    </p:spTree>
    <p:extLst>
      <p:ext uri="{BB962C8B-B14F-4D97-AF65-F5344CB8AC3E}">
        <p14:creationId xmlns:p14="http://schemas.microsoft.com/office/powerpoint/2010/main" val="17977486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普通股</a:t>
            </a:r>
            <a:r>
              <a:rPr lang="en-US" altLang="zh-TW" dirty="0" smtClean="0"/>
              <a:t>-</a:t>
            </a:r>
            <a:r>
              <a:rPr lang="zh-TW" altLang="en-US" dirty="0" smtClean="0"/>
              <a:t>有限責任</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zh-TW" altLang="en-US" dirty="0" smtClean="0"/>
                  <a:t>股東承擔最大損失即為其投資額，不必承擔無限的責任以及風險。</a:t>
                </a:r>
                <a:endParaRPr lang="en-US" altLang="zh-TW" dirty="0" smtClean="0"/>
              </a:p>
              <a:p>
                <a:r>
                  <a:rPr lang="zh-TW" altLang="en-US" dirty="0"/>
                  <a:t>觀念上類似</a:t>
                </a:r>
                <a:r>
                  <a:rPr lang="zh-TW" altLang="en-US" dirty="0" smtClean="0"/>
                  <a:t>一個選擇權</a:t>
                </a:r>
                <a:r>
                  <a:rPr lang="zh-TW" altLang="en-US" dirty="0"/>
                  <a:t>的</a:t>
                </a:r>
                <a:r>
                  <a:rPr lang="zh-TW" altLang="en-US" dirty="0" smtClean="0"/>
                  <a:t>觀念，投資金額可視為購買選擇權的權利金，但獲利為</a:t>
                </a:r>
                <a:endParaRPr lang="en-US" altLang="zh-TW" dirty="0" smtClean="0"/>
              </a:p>
              <a:p>
                <a:pPr marL="0" indent="0">
                  <a:buNone/>
                </a:pPr>
                <a:endParaRPr lang="en-US" altLang="zh-TW" dirty="0"/>
              </a:p>
              <a:p>
                <a:pPr marL="0" indent="0" algn="ctr">
                  <a:buNone/>
                </a:pPr>
                <a14:m>
                  <m:oMathPara xmlns:m="http://schemas.openxmlformats.org/officeDocument/2006/math">
                    <m:oMathParaPr>
                      <m:jc m:val="centerGroup"/>
                    </m:oMathParaPr>
                    <m:oMath xmlns:m="http://schemas.openxmlformats.org/officeDocument/2006/math">
                      <m:r>
                        <a:rPr lang="en-US" altLang="zh-TW" b="0" i="1" smtClean="0">
                          <a:latin typeface="Cambria Math"/>
                        </a:rPr>
                        <m:t>𝑚𝑎𝑥</m:t>
                      </m:r>
                      <m:d>
                        <m:dPr>
                          <m:begChr m:val="{"/>
                          <m:endChr m:val="}"/>
                          <m:ctrlPr>
                            <a:rPr lang="en-US" altLang="zh-TW" b="0" i="1" smtClean="0">
                              <a:latin typeface="Cambria Math"/>
                            </a:rPr>
                          </m:ctrlPr>
                        </m:dPr>
                        <m:e>
                          <m:r>
                            <a:rPr lang="en-US" altLang="zh-TW" b="0" i="1" smtClean="0">
                              <a:latin typeface="Cambria Math"/>
                            </a:rPr>
                            <m:t>0,</m:t>
                          </m:r>
                          <m:r>
                            <a:rPr lang="zh-TW" altLang="en-US" i="1">
                              <a:latin typeface="Cambria Math"/>
                            </a:rPr>
                            <m:t>公司未來獲利</m:t>
                          </m:r>
                        </m:e>
                      </m:d>
                    </m:oMath>
                  </m:oMathPara>
                </a14:m>
                <a:endParaRPr lang="en-US" altLang="zh-TW" b="0" dirty="0" smtClean="0"/>
              </a:p>
              <a:p>
                <a:pPr marL="0" indent="0" algn="ctr">
                  <a:buNone/>
                </a:pPr>
                <a:endParaRPr lang="en-US" altLang="zh-TW" b="0" dirty="0" smtClean="0"/>
              </a:p>
              <a:p>
                <a:r>
                  <a:rPr lang="zh-TW" altLang="en-US" dirty="0"/>
                  <a:t>因此獲利</a:t>
                </a:r>
                <a:r>
                  <a:rPr lang="zh-TW" altLang="en-US" dirty="0" smtClean="0"/>
                  <a:t>無限，但損失有限。</a:t>
                </a:r>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b="-10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898335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普通股</a:t>
            </a:r>
            <a:r>
              <a:rPr lang="en-US" altLang="zh-TW" dirty="0" smtClean="0"/>
              <a:t>-</a:t>
            </a:r>
            <a:r>
              <a:rPr lang="zh-TW" altLang="en-US" dirty="0" smtClean="0"/>
              <a:t>永久資金</a:t>
            </a:r>
            <a:endParaRPr lang="zh-TW" altLang="en-US" dirty="0"/>
          </a:p>
        </p:txBody>
      </p:sp>
      <p:sp>
        <p:nvSpPr>
          <p:cNvPr id="3" name="內容版面配置區 2"/>
          <p:cNvSpPr>
            <a:spLocks noGrp="1"/>
          </p:cNvSpPr>
          <p:nvPr>
            <p:ph idx="1"/>
          </p:nvPr>
        </p:nvSpPr>
        <p:spPr/>
        <p:txBody>
          <a:bodyPr/>
          <a:lstStyle/>
          <a:p>
            <a:r>
              <a:rPr lang="zh-TW" altLang="en-US" dirty="0" smtClean="0"/>
              <a:t>除非公司清算解算，股東無法以普通股股份向公司取回投資資金。</a:t>
            </a:r>
            <a:endParaRPr lang="en-US" altLang="zh-TW" dirty="0"/>
          </a:p>
          <a:p>
            <a:r>
              <a:rPr lang="zh-TW" altLang="en-US" dirty="0" smtClean="0"/>
              <a:t>股東可自由透過市場交易買賣股票以取回資金。</a:t>
            </a:r>
            <a:endParaRPr lang="en-US" altLang="zh-TW" dirty="0" smtClean="0"/>
          </a:p>
          <a:p>
            <a:pPr marL="0" indent="0">
              <a:buNone/>
            </a:pPr>
            <a:endParaRPr lang="en-US" altLang="zh-TW" dirty="0"/>
          </a:p>
          <a:p>
            <a:r>
              <a:rPr lang="zh-TW" altLang="en-US" dirty="0" smtClean="0"/>
              <a:t>因此普通股資金可視為「最先出現，最後離開。」</a:t>
            </a:r>
            <a:endParaRPr lang="zh-TW" altLang="en-US" dirty="0"/>
          </a:p>
        </p:txBody>
      </p:sp>
    </p:spTree>
    <p:extLst>
      <p:ext uri="{BB962C8B-B14F-4D97-AF65-F5344CB8AC3E}">
        <p14:creationId xmlns:p14="http://schemas.microsoft.com/office/powerpoint/2010/main" val="2049228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普通股</a:t>
            </a:r>
            <a:r>
              <a:rPr lang="en-US" altLang="zh-TW" dirty="0" smtClean="0"/>
              <a:t>-</a:t>
            </a:r>
            <a:r>
              <a:rPr lang="zh-TW" altLang="en-US" dirty="0" smtClean="0"/>
              <a:t>公司管理權</a:t>
            </a:r>
            <a:endParaRPr lang="zh-TW" altLang="en-US" dirty="0"/>
          </a:p>
        </p:txBody>
      </p:sp>
      <p:sp>
        <p:nvSpPr>
          <p:cNvPr id="3" name="內容版面配置區 2"/>
          <p:cNvSpPr>
            <a:spLocks noGrp="1"/>
          </p:cNvSpPr>
          <p:nvPr>
            <p:ph idx="1"/>
          </p:nvPr>
        </p:nvSpPr>
        <p:spPr/>
        <p:txBody>
          <a:bodyPr/>
          <a:lstStyle/>
          <a:p>
            <a:r>
              <a:rPr lang="zh-TW" altLang="en-US" dirty="0" smtClean="0"/>
              <a:t>在公司架構下，由股東選出董事，再由董事會選出經理人經營公司。一般而言公司一年至少召開一次股東大會，而股東可出席股東大會並具有投票權。</a:t>
            </a:r>
            <a:endParaRPr lang="en-US" altLang="zh-TW" dirty="0" smtClean="0"/>
          </a:p>
          <a:p>
            <a:endParaRPr lang="en-US" altLang="zh-TW" dirty="0"/>
          </a:p>
          <a:p>
            <a:r>
              <a:rPr lang="zh-TW" altLang="en-US" dirty="0" smtClean="0"/>
              <a:t>但實際上小股東多以投資獲利為目的。</a:t>
            </a:r>
            <a:endParaRPr lang="zh-TW" altLang="en-US" dirty="0"/>
          </a:p>
        </p:txBody>
      </p:sp>
    </p:spTree>
    <p:extLst>
      <p:ext uri="{BB962C8B-B14F-4D97-AF65-F5344CB8AC3E}">
        <p14:creationId xmlns:p14="http://schemas.microsoft.com/office/powerpoint/2010/main" val="4577851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普通股</a:t>
            </a:r>
            <a:r>
              <a:rPr lang="en-US" altLang="zh-TW" dirty="0" smtClean="0"/>
              <a:t>-</a:t>
            </a:r>
            <a:r>
              <a:rPr lang="zh-TW" altLang="en-US" dirty="0" smtClean="0"/>
              <a:t>享受經營成果</a:t>
            </a:r>
            <a:endParaRPr lang="zh-TW" altLang="en-US" dirty="0"/>
          </a:p>
        </p:txBody>
      </p:sp>
      <p:sp>
        <p:nvSpPr>
          <p:cNvPr id="3" name="內容版面配置區 2"/>
          <p:cNvSpPr>
            <a:spLocks noGrp="1"/>
          </p:cNvSpPr>
          <p:nvPr>
            <p:ph idx="1"/>
          </p:nvPr>
        </p:nvSpPr>
        <p:spPr/>
        <p:txBody>
          <a:bodyPr/>
          <a:lstStyle/>
          <a:p>
            <a:r>
              <a:rPr lang="zh-TW" altLang="en-US" dirty="0" smtClean="0"/>
              <a:t>公司有利潤時，得分配股利給股東，唯分配股利並非必須；公司利潤可用來支付：</a:t>
            </a:r>
            <a:endParaRPr lang="en-US" altLang="zh-TW" dirty="0" smtClean="0"/>
          </a:p>
          <a:p>
            <a:pPr lvl="1"/>
            <a:r>
              <a:rPr lang="zh-TW" altLang="en-US" dirty="0"/>
              <a:t>特別股</a:t>
            </a:r>
            <a:r>
              <a:rPr lang="zh-TW" altLang="en-US" dirty="0" smtClean="0"/>
              <a:t>股利</a:t>
            </a:r>
            <a:endParaRPr lang="en-US" altLang="zh-TW" dirty="0" smtClean="0"/>
          </a:p>
          <a:p>
            <a:pPr lvl="1"/>
            <a:r>
              <a:rPr lang="zh-TW" altLang="en-US" dirty="0" smtClean="0"/>
              <a:t>利息</a:t>
            </a:r>
            <a:endParaRPr lang="en-US" altLang="zh-TW" dirty="0" smtClean="0"/>
          </a:p>
          <a:p>
            <a:pPr lvl="1"/>
            <a:r>
              <a:rPr lang="zh-TW" altLang="en-US" dirty="0"/>
              <a:t>再</a:t>
            </a:r>
            <a:r>
              <a:rPr lang="zh-TW" altLang="en-US" dirty="0" smtClean="0"/>
              <a:t>投資</a:t>
            </a:r>
            <a:endParaRPr lang="en-US" altLang="zh-TW" dirty="0" smtClean="0"/>
          </a:p>
          <a:p>
            <a:pPr marL="457200" lvl="1" indent="0">
              <a:buNone/>
            </a:pPr>
            <a:endParaRPr lang="en-US" altLang="zh-TW" dirty="0"/>
          </a:p>
          <a:p>
            <a:pPr marL="457200" lvl="1" indent="0">
              <a:buNone/>
            </a:pPr>
            <a:r>
              <a:rPr lang="zh-TW" altLang="en-US" dirty="0"/>
              <a:t>普通股獲利來源並非只仰賴股利</a:t>
            </a:r>
            <a:r>
              <a:rPr lang="zh-TW" altLang="en-US" dirty="0" smtClean="0"/>
              <a:t>發放，股價的成長</a:t>
            </a:r>
            <a:r>
              <a:rPr lang="en-US" altLang="zh-TW" dirty="0" smtClean="0"/>
              <a:t>(</a:t>
            </a:r>
            <a:r>
              <a:rPr lang="zh-TW" altLang="en-US" dirty="0" smtClean="0"/>
              <a:t>即資本利得</a:t>
            </a:r>
            <a:r>
              <a:rPr lang="en-US" altLang="zh-TW" dirty="0" smtClean="0"/>
              <a:t>)</a:t>
            </a:r>
            <a:r>
              <a:rPr lang="zh-TW" altLang="en-US" dirty="0" smtClean="0"/>
              <a:t>，同為普通股重要獲利來源。</a:t>
            </a:r>
            <a:endParaRPr lang="en-US" altLang="zh-TW" dirty="0" smtClean="0"/>
          </a:p>
        </p:txBody>
      </p:sp>
    </p:spTree>
    <p:extLst>
      <p:ext uri="{BB962C8B-B14F-4D97-AF65-F5344CB8AC3E}">
        <p14:creationId xmlns:p14="http://schemas.microsoft.com/office/powerpoint/2010/main" val="40835060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普通股</a:t>
            </a:r>
            <a:r>
              <a:rPr lang="en-US" altLang="zh-TW" dirty="0" smtClean="0"/>
              <a:t>-</a:t>
            </a:r>
            <a:r>
              <a:rPr lang="zh-TW" altLang="en-US" dirty="0" smtClean="0"/>
              <a:t>剩餘財產分配</a:t>
            </a:r>
            <a:endParaRPr lang="zh-TW" altLang="en-US" dirty="0"/>
          </a:p>
        </p:txBody>
      </p:sp>
      <p:sp>
        <p:nvSpPr>
          <p:cNvPr id="3" name="內容版面配置區 2"/>
          <p:cNvSpPr>
            <a:spLocks noGrp="1"/>
          </p:cNvSpPr>
          <p:nvPr>
            <p:ph idx="1"/>
          </p:nvPr>
        </p:nvSpPr>
        <p:spPr/>
        <p:txBody>
          <a:bodyPr/>
          <a:lstStyle/>
          <a:p>
            <a:r>
              <a:rPr lang="zh-TW" altLang="en-US" dirty="0" smtClean="0"/>
              <a:t>普通股股東對公司資產的剩餘價值享有按照持股比例分配的權利。</a:t>
            </a:r>
            <a:r>
              <a:rPr lang="en-US" altLang="zh-TW" dirty="0" smtClean="0"/>
              <a:t>(</a:t>
            </a:r>
            <a:r>
              <a:rPr lang="zh-TW" altLang="en-US" dirty="0" smtClean="0"/>
              <a:t>但受償權低於債權人、特別股持有人</a:t>
            </a:r>
            <a:r>
              <a:rPr lang="en-US" altLang="zh-TW" dirty="0" smtClean="0"/>
              <a:t>)</a:t>
            </a:r>
          </a:p>
          <a:p>
            <a:endParaRPr lang="en-US" altLang="zh-TW" dirty="0"/>
          </a:p>
          <a:p>
            <a:r>
              <a:rPr lang="zh-TW" altLang="en-US" dirty="0" smtClean="0"/>
              <a:t>普通股股東通常享有「優先認股權」</a:t>
            </a:r>
            <a:r>
              <a:rPr lang="en-US" altLang="zh-TW" dirty="0" smtClean="0"/>
              <a:t>(Preemptive Right)</a:t>
            </a:r>
            <a:endParaRPr lang="zh-TW" altLang="en-US" dirty="0"/>
          </a:p>
        </p:txBody>
      </p:sp>
    </p:spTree>
    <p:extLst>
      <p:ext uri="{BB962C8B-B14F-4D97-AF65-F5344CB8AC3E}">
        <p14:creationId xmlns:p14="http://schemas.microsoft.com/office/powerpoint/2010/main" val="20978901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普通股融資的</a:t>
            </a:r>
            <a:r>
              <a:rPr lang="zh-TW" altLang="en-US" dirty="0"/>
              <a:t>優缺點</a:t>
            </a:r>
          </a:p>
        </p:txBody>
      </p:sp>
      <p:sp>
        <p:nvSpPr>
          <p:cNvPr id="3" name="內容版面配置區 2"/>
          <p:cNvSpPr>
            <a:spLocks noGrp="1"/>
          </p:cNvSpPr>
          <p:nvPr>
            <p:ph idx="1"/>
          </p:nvPr>
        </p:nvSpPr>
        <p:spPr/>
        <p:txBody>
          <a:bodyPr/>
          <a:lstStyle/>
          <a:p>
            <a:r>
              <a:rPr lang="zh-TW" altLang="en-US" dirty="0" smtClean="0"/>
              <a:t>優點：</a:t>
            </a:r>
            <a:endParaRPr lang="en-US" altLang="zh-TW" dirty="0" smtClean="0"/>
          </a:p>
          <a:p>
            <a:pPr lvl="1"/>
            <a:r>
              <a:rPr lang="zh-TW" altLang="en-US" dirty="0"/>
              <a:t>無固定支出需</a:t>
            </a:r>
            <a:r>
              <a:rPr lang="zh-TW" altLang="en-US" dirty="0" smtClean="0"/>
              <a:t>承擔</a:t>
            </a:r>
            <a:r>
              <a:rPr lang="en-US" altLang="zh-TW" dirty="0" smtClean="0"/>
              <a:t>(</a:t>
            </a:r>
            <a:r>
              <a:rPr lang="zh-TW" altLang="en-US" dirty="0" smtClean="0"/>
              <a:t>對公司而言</a:t>
            </a:r>
            <a:r>
              <a:rPr lang="en-US" altLang="zh-TW" dirty="0" smtClean="0"/>
              <a:t>)</a:t>
            </a:r>
          </a:p>
          <a:p>
            <a:pPr lvl="1"/>
            <a:r>
              <a:rPr lang="zh-TW" altLang="en-US" dirty="0"/>
              <a:t>無須償還</a:t>
            </a:r>
            <a:r>
              <a:rPr lang="zh-TW" altLang="en-US" dirty="0" smtClean="0"/>
              <a:t>本金</a:t>
            </a:r>
            <a:r>
              <a:rPr lang="en-US" altLang="zh-TW" dirty="0" smtClean="0"/>
              <a:t>(</a:t>
            </a:r>
            <a:r>
              <a:rPr lang="zh-TW" altLang="en-US" dirty="0" smtClean="0"/>
              <a:t>對公司而言</a:t>
            </a:r>
            <a:r>
              <a:rPr lang="en-US" altLang="zh-TW" dirty="0" smtClean="0"/>
              <a:t>)</a:t>
            </a:r>
          </a:p>
          <a:p>
            <a:pPr lvl="1"/>
            <a:r>
              <a:rPr lang="zh-TW" altLang="en-US" dirty="0" smtClean="0"/>
              <a:t>報酬率較高</a:t>
            </a:r>
            <a:r>
              <a:rPr lang="en-US" altLang="zh-TW" dirty="0" smtClean="0"/>
              <a:t>(</a:t>
            </a:r>
            <a:r>
              <a:rPr lang="zh-TW" altLang="en-US" dirty="0" smtClean="0"/>
              <a:t>對投資人而言</a:t>
            </a:r>
            <a:r>
              <a:rPr lang="en-US" altLang="zh-TW" dirty="0" smtClean="0"/>
              <a:t>)</a:t>
            </a:r>
          </a:p>
          <a:p>
            <a:r>
              <a:rPr lang="zh-TW" altLang="en-US" dirty="0" smtClean="0"/>
              <a:t>缺點：</a:t>
            </a:r>
            <a:endParaRPr lang="en-US" altLang="zh-TW" dirty="0" smtClean="0"/>
          </a:p>
          <a:p>
            <a:pPr lvl="1"/>
            <a:r>
              <a:rPr lang="zh-TW" altLang="en-US" dirty="0"/>
              <a:t>經營權的介入</a:t>
            </a:r>
            <a:r>
              <a:rPr lang="en-US" altLang="zh-TW" dirty="0"/>
              <a:t>(</a:t>
            </a:r>
            <a:r>
              <a:rPr lang="zh-TW" altLang="en-US" dirty="0"/>
              <a:t>對</a:t>
            </a:r>
            <a:r>
              <a:rPr lang="zh-TW" altLang="en-US" dirty="0" smtClean="0"/>
              <a:t>公司而言</a:t>
            </a:r>
            <a:r>
              <a:rPr lang="en-US" altLang="zh-TW" dirty="0" smtClean="0"/>
              <a:t>)</a:t>
            </a:r>
          </a:p>
          <a:p>
            <a:pPr lvl="1"/>
            <a:r>
              <a:rPr lang="zh-TW" altLang="en-US" dirty="0" smtClean="0"/>
              <a:t>如果預期獲利大幅成長，則成本大於舉債融資</a:t>
            </a:r>
            <a:r>
              <a:rPr lang="en-US" altLang="zh-TW" dirty="0" smtClean="0"/>
              <a:t>(</a:t>
            </a:r>
            <a:r>
              <a:rPr lang="zh-TW" altLang="en-US" dirty="0" smtClean="0"/>
              <a:t>對公司而言</a:t>
            </a:r>
            <a:r>
              <a:rPr lang="en-US" altLang="zh-TW" dirty="0" smtClean="0"/>
              <a:t>)</a:t>
            </a:r>
          </a:p>
        </p:txBody>
      </p:sp>
    </p:spTree>
    <p:extLst>
      <p:ext uri="{BB962C8B-B14F-4D97-AF65-F5344CB8AC3E}">
        <p14:creationId xmlns:p14="http://schemas.microsoft.com/office/powerpoint/2010/main" val="25630357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長期融資</a:t>
            </a:r>
            <a:r>
              <a:rPr lang="en-US" altLang="zh-TW" dirty="0"/>
              <a:t>-</a:t>
            </a:r>
            <a:r>
              <a:rPr lang="zh-TW" altLang="en-US" dirty="0"/>
              <a:t>長期融資工具</a:t>
            </a:r>
            <a:r>
              <a:rPr lang="en-US" altLang="zh-TW" dirty="0" smtClean="0"/>
              <a:t>(</a:t>
            </a:r>
            <a:r>
              <a:rPr lang="zh-TW" altLang="en-US" dirty="0"/>
              <a:t>特別</a:t>
            </a:r>
            <a:r>
              <a:rPr lang="zh-TW" altLang="en-US" dirty="0" smtClean="0"/>
              <a:t>股</a:t>
            </a:r>
            <a:r>
              <a:rPr lang="en-US" altLang="zh-TW" dirty="0"/>
              <a:t>)</a:t>
            </a:r>
            <a:endParaRPr lang="zh-TW" altLang="en-US" dirty="0"/>
          </a:p>
        </p:txBody>
      </p:sp>
      <p:sp>
        <p:nvSpPr>
          <p:cNvPr id="3" name="內容版面配置區 2"/>
          <p:cNvSpPr>
            <a:spLocks noGrp="1"/>
          </p:cNvSpPr>
          <p:nvPr>
            <p:ph idx="1"/>
          </p:nvPr>
        </p:nvSpPr>
        <p:spPr/>
        <p:txBody>
          <a:bodyPr/>
          <a:lstStyle/>
          <a:p>
            <a:r>
              <a:rPr lang="zh-TW" altLang="en-US" dirty="0" smtClean="0"/>
              <a:t>特別股兼具普通股以及債券的性質，具有面額，領取固定股利，但多半無選舉權。特別股股利發完以前不得發放普通股股利</a:t>
            </a:r>
            <a:r>
              <a:rPr lang="en-US" altLang="zh-TW" dirty="0" smtClean="0"/>
              <a:t>(</a:t>
            </a:r>
            <a:r>
              <a:rPr lang="zh-TW" altLang="en-US" dirty="0" smtClean="0"/>
              <a:t>類似債券</a:t>
            </a:r>
            <a:r>
              <a:rPr lang="en-US" altLang="zh-TW" dirty="0" smtClean="0"/>
              <a:t>)</a:t>
            </a:r>
            <a:r>
              <a:rPr lang="zh-TW" altLang="en-US" dirty="0" smtClean="0"/>
              <a:t>，但利潤不足時得以暫停發放，且無固定到期日</a:t>
            </a:r>
            <a:r>
              <a:rPr lang="en-US" altLang="zh-TW" dirty="0" smtClean="0"/>
              <a:t>(</a:t>
            </a:r>
            <a:r>
              <a:rPr lang="zh-TW" altLang="en-US" dirty="0" smtClean="0"/>
              <a:t>類似普通股</a:t>
            </a:r>
            <a:r>
              <a:rPr lang="en-US" altLang="zh-TW" dirty="0" smtClean="0"/>
              <a:t>)</a:t>
            </a:r>
            <a:r>
              <a:rPr lang="zh-TW" altLang="en-US" dirty="0"/>
              <a:t>，</a:t>
            </a:r>
            <a:r>
              <a:rPr lang="zh-TW" altLang="en-US" dirty="0" smtClean="0"/>
              <a:t>因此常被稱為混合證券</a:t>
            </a:r>
            <a:r>
              <a:rPr lang="en-US" altLang="zh-TW" dirty="0" smtClean="0"/>
              <a:t>(Hybrid Security)</a:t>
            </a:r>
            <a:r>
              <a:rPr lang="zh-TW" altLang="en-US" dirty="0" smtClean="0"/>
              <a:t>。</a:t>
            </a:r>
            <a:endParaRPr lang="zh-TW" altLang="en-US" dirty="0"/>
          </a:p>
        </p:txBody>
      </p:sp>
    </p:spTree>
    <p:extLst>
      <p:ext uri="{BB962C8B-B14F-4D97-AF65-F5344CB8AC3E}">
        <p14:creationId xmlns:p14="http://schemas.microsoft.com/office/powerpoint/2010/main" val="31409661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長期融資</a:t>
            </a:r>
            <a:r>
              <a:rPr lang="en-US" altLang="zh-TW" dirty="0"/>
              <a:t>-</a:t>
            </a:r>
            <a:r>
              <a:rPr lang="zh-TW" altLang="en-US" dirty="0"/>
              <a:t>長期融資工具</a:t>
            </a:r>
            <a:r>
              <a:rPr lang="en-US" altLang="zh-TW" dirty="0"/>
              <a:t>(</a:t>
            </a:r>
            <a:r>
              <a:rPr lang="zh-TW" altLang="en-US" dirty="0"/>
              <a:t>特別股</a:t>
            </a:r>
            <a:r>
              <a:rPr lang="en-US" altLang="zh-TW" dirty="0"/>
              <a:t>)</a:t>
            </a:r>
            <a:endParaRPr lang="zh-TW" altLang="en-US" dirty="0"/>
          </a:p>
        </p:txBody>
      </p:sp>
      <p:sp>
        <p:nvSpPr>
          <p:cNvPr id="3" name="內容版面配置區 2"/>
          <p:cNvSpPr>
            <a:spLocks noGrp="1"/>
          </p:cNvSpPr>
          <p:nvPr>
            <p:ph idx="1"/>
          </p:nvPr>
        </p:nvSpPr>
        <p:spPr/>
        <p:txBody>
          <a:bodyPr/>
          <a:lstStyle/>
          <a:p>
            <a:r>
              <a:rPr lang="zh-TW" altLang="en-US" dirty="0" smtClean="0"/>
              <a:t>特別股可依下列性質分類：</a:t>
            </a:r>
            <a:endParaRPr lang="en-US" altLang="zh-TW" dirty="0" smtClean="0"/>
          </a:p>
          <a:p>
            <a:pPr lvl="1"/>
            <a:r>
              <a:rPr lang="zh-TW" altLang="en-US" dirty="0"/>
              <a:t>依可否參加</a:t>
            </a:r>
            <a:r>
              <a:rPr lang="zh-TW" altLang="en-US" dirty="0" smtClean="0"/>
              <a:t>區分</a:t>
            </a:r>
            <a:endParaRPr lang="en-US" altLang="zh-TW" dirty="0" smtClean="0"/>
          </a:p>
          <a:p>
            <a:pPr lvl="1"/>
            <a:r>
              <a:rPr lang="zh-TW" altLang="en-US" dirty="0"/>
              <a:t>依可否累積</a:t>
            </a:r>
            <a:r>
              <a:rPr lang="zh-TW" altLang="en-US" dirty="0" smtClean="0"/>
              <a:t>區分</a:t>
            </a:r>
            <a:endParaRPr lang="en-US" altLang="zh-TW" dirty="0" smtClean="0"/>
          </a:p>
          <a:p>
            <a:pPr lvl="1"/>
            <a:r>
              <a:rPr lang="zh-TW" altLang="en-US" dirty="0"/>
              <a:t>依可否回收</a:t>
            </a:r>
            <a:r>
              <a:rPr lang="zh-TW" altLang="en-US" dirty="0" smtClean="0"/>
              <a:t>區分</a:t>
            </a:r>
            <a:endParaRPr lang="en-US" altLang="zh-TW" dirty="0" smtClean="0"/>
          </a:p>
          <a:p>
            <a:pPr lvl="1"/>
            <a:r>
              <a:rPr lang="zh-TW" altLang="en-US" dirty="0"/>
              <a:t>依可否轉換</a:t>
            </a:r>
            <a:r>
              <a:rPr lang="zh-TW" altLang="en-US" dirty="0" smtClean="0"/>
              <a:t>區分</a:t>
            </a:r>
            <a:endParaRPr lang="en-US" altLang="zh-TW" dirty="0" smtClean="0"/>
          </a:p>
          <a:p>
            <a:pPr lvl="1"/>
            <a:r>
              <a:rPr lang="zh-TW" altLang="en-US" dirty="0"/>
              <a:t>依可否投票區分</a:t>
            </a:r>
          </a:p>
        </p:txBody>
      </p:sp>
    </p:spTree>
    <p:extLst>
      <p:ext uri="{BB962C8B-B14F-4D97-AF65-F5344CB8AC3E}">
        <p14:creationId xmlns:p14="http://schemas.microsoft.com/office/powerpoint/2010/main" val="20811721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特別股</a:t>
            </a:r>
            <a:r>
              <a:rPr lang="en-US" altLang="zh-TW" dirty="0" smtClean="0"/>
              <a:t>-</a:t>
            </a:r>
            <a:r>
              <a:rPr lang="zh-TW" altLang="en-US" dirty="0" smtClean="0"/>
              <a:t>依可否參加區分</a:t>
            </a:r>
            <a:endParaRPr lang="zh-TW" altLang="en-US" dirty="0"/>
          </a:p>
        </p:txBody>
      </p:sp>
      <p:sp>
        <p:nvSpPr>
          <p:cNvPr id="3" name="內容版面配置區 2"/>
          <p:cNvSpPr>
            <a:spLocks noGrp="1"/>
          </p:cNvSpPr>
          <p:nvPr>
            <p:ph idx="1"/>
          </p:nvPr>
        </p:nvSpPr>
        <p:spPr/>
        <p:txBody>
          <a:bodyPr/>
          <a:lstStyle/>
          <a:p>
            <a:r>
              <a:rPr lang="zh-TW" altLang="en-US" dirty="0" smtClean="0"/>
              <a:t>非參加特別股</a:t>
            </a:r>
            <a:endParaRPr lang="en-US" altLang="zh-TW" dirty="0"/>
          </a:p>
          <a:p>
            <a:pPr lvl="1"/>
            <a:r>
              <a:rPr lang="zh-TW" altLang="en-US" sz="2000" dirty="0" smtClean="0"/>
              <a:t>無論盈餘，股利率固定。</a:t>
            </a:r>
            <a:endParaRPr lang="en-US" altLang="zh-TW" sz="2000" dirty="0" smtClean="0"/>
          </a:p>
          <a:p>
            <a:r>
              <a:rPr lang="zh-TW" altLang="en-US" dirty="0"/>
              <a:t>完全參加</a:t>
            </a:r>
            <a:r>
              <a:rPr lang="zh-TW" altLang="en-US" dirty="0" smtClean="0"/>
              <a:t>特別股</a:t>
            </a:r>
            <a:endParaRPr lang="en-US" altLang="zh-TW" dirty="0" smtClean="0"/>
          </a:p>
          <a:p>
            <a:pPr lvl="1"/>
            <a:r>
              <a:rPr lang="zh-TW" altLang="en-US" sz="2000" dirty="0"/>
              <a:t>當普通股股利大於特別股時</a:t>
            </a:r>
            <a:r>
              <a:rPr lang="zh-TW" altLang="en-US" sz="2000" dirty="0" smtClean="0"/>
              <a:t>，享有和普通股相同股利率。</a:t>
            </a:r>
            <a:endParaRPr lang="en-US" altLang="zh-TW" sz="2000" dirty="0" smtClean="0"/>
          </a:p>
          <a:p>
            <a:r>
              <a:rPr lang="zh-TW" altLang="en-US" dirty="0"/>
              <a:t>部分參加</a:t>
            </a:r>
            <a:r>
              <a:rPr lang="zh-TW" altLang="en-US" dirty="0" smtClean="0"/>
              <a:t>特別股</a:t>
            </a:r>
            <a:endParaRPr lang="en-US" altLang="zh-TW" dirty="0" smtClean="0"/>
          </a:p>
          <a:p>
            <a:pPr lvl="1"/>
            <a:r>
              <a:rPr lang="zh-TW" altLang="en-US" sz="2000" dirty="0" smtClean="0"/>
              <a:t>事先約定可參加分配的股利率，當普通股股利率大於特別股，可依可參加分配比率發放特別股股利。</a:t>
            </a:r>
            <a:endParaRPr lang="zh-TW" altLang="en-US" sz="2000" dirty="0"/>
          </a:p>
        </p:txBody>
      </p:sp>
      <p:graphicFrame>
        <p:nvGraphicFramePr>
          <p:cNvPr id="4" name="表格 3"/>
          <p:cNvGraphicFramePr>
            <a:graphicFrameLocks noGrp="1"/>
          </p:cNvGraphicFramePr>
          <p:nvPr>
            <p:extLst>
              <p:ext uri="{D42A27DB-BD31-4B8C-83A1-F6EECF244321}">
                <p14:modId xmlns:p14="http://schemas.microsoft.com/office/powerpoint/2010/main" val="1202149974"/>
              </p:ext>
            </p:extLst>
          </p:nvPr>
        </p:nvGraphicFramePr>
        <p:xfrm>
          <a:off x="467544" y="4869160"/>
          <a:ext cx="8208912" cy="1854200"/>
        </p:xfrm>
        <a:graphic>
          <a:graphicData uri="http://schemas.openxmlformats.org/drawingml/2006/table">
            <a:tbl>
              <a:tblPr firstRow="1" bandRow="1">
                <a:tableStyleId>{5C22544A-7EE6-4342-B048-85BDC9FD1C3A}</a:tableStyleId>
              </a:tblPr>
              <a:tblGrid>
                <a:gridCol w="2052228"/>
                <a:gridCol w="2124236"/>
                <a:gridCol w="1980220"/>
                <a:gridCol w="2052228"/>
              </a:tblGrid>
              <a:tr h="370840">
                <a:tc>
                  <a:txBody>
                    <a:bodyPr/>
                    <a:lstStyle/>
                    <a:p>
                      <a:pPr algn="ctr"/>
                      <a:endParaRPr lang="zh-TW" altLang="en-US" dirty="0"/>
                    </a:p>
                  </a:txBody>
                  <a:tcPr/>
                </a:tc>
                <a:tc>
                  <a:txBody>
                    <a:bodyPr/>
                    <a:lstStyle/>
                    <a:p>
                      <a:pPr algn="ctr"/>
                      <a:r>
                        <a:rPr lang="zh-TW" altLang="en-US" dirty="0" smtClean="0"/>
                        <a:t>非參加特別股</a:t>
                      </a:r>
                      <a:endParaRPr lang="zh-TW" altLang="en-US" dirty="0"/>
                    </a:p>
                  </a:txBody>
                  <a:tcPr/>
                </a:tc>
                <a:tc>
                  <a:txBody>
                    <a:bodyPr/>
                    <a:lstStyle/>
                    <a:p>
                      <a:pPr algn="ctr"/>
                      <a:r>
                        <a:rPr lang="zh-TW" altLang="en-US" dirty="0" smtClean="0"/>
                        <a:t>完全參加特別股</a:t>
                      </a:r>
                      <a:endParaRPr lang="zh-TW" altLang="en-US" dirty="0"/>
                    </a:p>
                  </a:txBody>
                  <a:tcPr/>
                </a:tc>
                <a:tc>
                  <a:txBody>
                    <a:bodyPr/>
                    <a:lstStyle/>
                    <a:p>
                      <a:pPr algn="ctr"/>
                      <a:r>
                        <a:rPr lang="zh-TW" altLang="en-US" dirty="0" smtClean="0"/>
                        <a:t>部分參加特別股</a:t>
                      </a:r>
                      <a:endParaRPr lang="zh-TW" altLang="en-US" dirty="0"/>
                    </a:p>
                  </a:txBody>
                  <a:tcPr/>
                </a:tc>
              </a:tr>
              <a:tr h="370840">
                <a:tc>
                  <a:txBody>
                    <a:bodyPr/>
                    <a:lstStyle/>
                    <a:p>
                      <a:pPr algn="ctr"/>
                      <a:r>
                        <a:rPr lang="zh-TW" altLang="en-US" dirty="0" smtClean="0"/>
                        <a:t>特別股股利率</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r>
              <a:tr h="370840">
                <a:tc>
                  <a:txBody>
                    <a:bodyPr/>
                    <a:lstStyle/>
                    <a:p>
                      <a:pPr algn="ctr"/>
                      <a:r>
                        <a:rPr lang="zh-TW" altLang="en-US" dirty="0" smtClean="0"/>
                        <a:t>普通股股利率</a:t>
                      </a:r>
                      <a:endParaRPr lang="zh-TW" altLang="en-US" dirty="0"/>
                    </a:p>
                  </a:txBody>
                  <a:tcPr/>
                </a:tc>
                <a:tc>
                  <a:txBody>
                    <a:bodyPr/>
                    <a:lstStyle/>
                    <a:p>
                      <a:pPr algn="ctr"/>
                      <a:r>
                        <a:rPr lang="en-US" altLang="zh-TW" dirty="0" smtClean="0"/>
                        <a:t>16%</a:t>
                      </a:r>
                      <a:endParaRPr lang="zh-TW" altLang="en-US" dirty="0"/>
                    </a:p>
                  </a:txBody>
                  <a:tcPr/>
                </a:tc>
                <a:tc>
                  <a:txBody>
                    <a:bodyPr/>
                    <a:lstStyle/>
                    <a:p>
                      <a:pPr algn="ctr"/>
                      <a:r>
                        <a:rPr lang="en-US" altLang="zh-TW" dirty="0" smtClean="0"/>
                        <a:t>16%</a:t>
                      </a:r>
                      <a:endParaRPr lang="zh-TW" altLang="en-US" dirty="0"/>
                    </a:p>
                  </a:txBody>
                  <a:tcPr/>
                </a:tc>
                <a:tc>
                  <a:txBody>
                    <a:bodyPr/>
                    <a:lstStyle/>
                    <a:p>
                      <a:pPr algn="ctr"/>
                      <a:r>
                        <a:rPr lang="en-US" altLang="zh-TW" dirty="0" smtClean="0"/>
                        <a:t>16%</a:t>
                      </a:r>
                      <a:endParaRPr lang="zh-TW" altLang="en-US" dirty="0"/>
                    </a:p>
                  </a:txBody>
                  <a:tcPr/>
                </a:tc>
              </a:tr>
              <a:tr h="370840">
                <a:tc>
                  <a:txBody>
                    <a:bodyPr/>
                    <a:lstStyle/>
                    <a:p>
                      <a:pPr algn="ctr"/>
                      <a:r>
                        <a:rPr lang="zh-TW" altLang="en-US" dirty="0" smtClean="0"/>
                        <a:t>可參加分配</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13%</a:t>
                      </a:r>
                      <a:endParaRPr lang="zh-TW" altLang="en-US" dirty="0"/>
                    </a:p>
                  </a:txBody>
                  <a:tcPr/>
                </a:tc>
              </a:tr>
              <a:tr h="370840">
                <a:tc>
                  <a:txBody>
                    <a:bodyPr/>
                    <a:lstStyle/>
                    <a:p>
                      <a:pPr algn="ctr"/>
                      <a:r>
                        <a:rPr lang="zh-TW" altLang="en-US" dirty="0" smtClean="0"/>
                        <a:t>最終特別股股利率</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16%</a:t>
                      </a:r>
                      <a:endParaRPr lang="zh-TW" altLang="en-US" dirty="0"/>
                    </a:p>
                  </a:txBody>
                  <a:tcPr/>
                </a:tc>
                <a:tc>
                  <a:txBody>
                    <a:bodyPr/>
                    <a:lstStyle/>
                    <a:p>
                      <a:pPr algn="ctr"/>
                      <a:r>
                        <a:rPr lang="en-US" altLang="zh-TW" dirty="0" smtClean="0"/>
                        <a:t>13%</a:t>
                      </a:r>
                      <a:endParaRPr lang="zh-TW" altLang="en-US" dirty="0"/>
                    </a:p>
                  </a:txBody>
                  <a:tcPr/>
                </a:tc>
              </a:tr>
            </a:tbl>
          </a:graphicData>
        </a:graphic>
      </p:graphicFrame>
    </p:spTree>
    <p:extLst>
      <p:ext uri="{BB962C8B-B14F-4D97-AF65-F5344CB8AC3E}">
        <p14:creationId xmlns:p14="http://schemas.microsoft.com/office/powerpoint/2010/main" val="18754266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特別股</a:t>
            </a:r>
            <a:r>
              <a:rPr lang="en-US" altLang="zh-TW" dirty="0"/>
              <a:t>-</a:t>
            </a:r>
            <a:r>
              <a:rPr lang="zh-TW" altLang="en-US" dirty="0"/>
              <a:t>依</a:t>
            </a:r>
            <a:r>
              <a:rPr lang="zh-TW" altLang="en-US" dirty="0" smtClean="0"/>
              <a:t>可否</a:t>
            </a:r>
            <a:r>
              <a:rPr lang="zh-TW" altLang="en-US" dirty="0"/>
              <a:t>累積</a:t>
            </a:r>
            <a:r>
              <a:rPr lang="zh-TW" altLang="en-US" dirty="0" smtClean="0"/>
              <a:t>區分</a:t>
            </a:r>
            <a:endParaRPr lang="zh-TW" altLang="en-US" dirty="0"/>
          </a:p>
        </p:txBody>
      </p:sp>
      <p:sp>
        <p:nvSpPr>
          <p:cNvPr id="3" name="內容版面配置區 2"/>
          <p:cNvSpPr>
            <a:spLocks noGrp="1"/>
          </p:cNvSpPr>
          <p:nvPr>
            <p:ph idx="1"/>
          </p:nvPr>
        </p:nvSpPr>
        <p:spPr/>
        <p:txBody>
          <a:bodyPr/>
          <a:lstStyle/>
          <a:p>
            <a:r>
              <a:rPr lang="zh-TW" altLang="en-US" dirty="0" smtClean="0"/>
              <a:t>累積股利</a:t>
            </a:r>
            <a:r>
              <a:rPr lang="en-US" altLang="zh-TW" dirty="0" smtClean="0"/>
              <a:t>(Cumulative)</a:t>
            </a:r>
            <a:r>
              <a:rPr lang="zh-TW" altLang="en-US" dirty="0" smtClean="0"/>
              <a:t>指當其盈餘不佳無法發放特別股股利時，得以積欠到下一期發放，而當累積股利未發放完之前，不可發放普通股股利。</a:t>
            </a:r>
            <a:endParaRPr lang="en-US" altLang="zh-TW" dirty="0" smtClean="0"/>
          </a:p>
          <a:p>
            <a:r>
              <a:rPr lang="zh-TW" altLang="en-US" dirty="0"/>
              <a:t>假定三年</a:t>
            </a:r>
            <a:r>
              <a:rPr lang="zh-TW" altLang="en-US" dirty="0" smtClean="0"/>
              <a:t>期間，一特別股股東持有</a:t>
            </a:r>
            <a:r>
              <a:rPr lang="en-US" altLang="zh-TW" dirty="0" smtClean="0"/>
              <a:t>2,000</a:t>
            </a:r>
            <a:r>
              <a:rPr lang="zh-TW" altLang="en-US" dirty="0" smtClean="0"/>
              <a:t>股，面值</a:t>
            </a:r>
            <a:r>
              <a:rPr lang="en-US" altLang="zh-TW" dirty="0" smtClean="0"/>
              <a:t>10</a:t>
            </a:r>
            <a:r>
              <a:rPr lang="zh-TW" altLang="en-US" dirty="0" smtClean="0"/>
              <a:t>元，固定股利率為</a:t>
            </a:r>
            <a:r>
              <a:rPr lang="en-US" altLang="zh-TW" dirty="0" smtClean="0"/>
              <a:t>8%</a:t>
            </a:r>
            <a:r>
              <a:rPr lang="zh-TW" altLang="en-US" dirty="0" smtClean="0"/>
              <a:t>，則在第三年時可得股利為 </a:t>
            </a:r>
            <a:r>
              <a:rPr lang="en-US" altLang="zh-TW" dirty="0" smtClean="0"/>
              <a:t>$10*2000*8%*(1or3</a:t>
            </a:r>
            <a:r>
              <a:rPr lang="zh-TW" altLang="en-US" sz="2000" dirty="0" smtClean="0"/>
              <a:t>（可否累積）</a:t>
            </a:r>
            <a:r>
              <a:rPr lang="en-US" altLang="zh-TW" dirty="0" smtClean="0"/>
              <a:t>)</a:t>
            </a:r>
          </a:p>
          <a:p>
            <a:pPr marL="0" indent="0">
              <a:buNone/>
            </a:pPr>
            <a:endParaRPr lang="zh-TW"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5157190"/>
            <a:ext cx="4464497" cy="167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04952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特別股</a:t>
            </a:r>
            <a:r>
              <a:rPr lang="en-US" altLang="zh-TW" dirty="0" smtClean="0"/>
              <a:t>(Cont.)</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smtClean="0"/>
              <a:t>依可否回收區分：</a:t>
            </a:r>
            <a:endParaRPr lang="en-US" altLang="zh-TW" dirty="0" smtClean="0"/>
          </a:p>
          <a:p>
            <a:pPr marL="457200" lvl="1" indent="0">
              <a:buNone/>
            </a:pPr>
            <a:r>
              <a:rPr lang="zh-TW" altLang="en-US" dirty="0"/>
              <a:t>指公司於發行後可按事先約定價格</a:t>
            </a:r>
            <a:r>
              <a:rPr lang="zh-TW" altLang="en-US" dirty="0" smtClean="0"/>
              <a:t>贖回。</a:t>
            </a:r>
            <a:endParaRPr lang="en-US" altLang="zh-TW" dirty="0" smtClean="0"/>
          </a:p>
          <a:p>
            <a:r>
              <a:rPr lang="zh-TW" altLang="en-US" dirty="0"/>
              <a:t>依可否轉換</a:t>
            </a:r>
            <a:r>
              <a:rPr lang="zh-TW" altLang="en-US" dirty="0" smtClean="0"/>
              <a:t>區分：</a:t>
            </a:r>
            <a:endParaRPr lang="en-US" altLang="zh-TW" dirty="0" smtClean="0"/>
          </a:p>
          <a:p>
            <a:pPr marL="457200" lvl="1" indent="0">
              <a:buNone/>
            </a:pPr>
            <a:r>
              <a:rPr lang="zh-TW" altLang="en-US" dirty="0"/>
              <a:t>允許特別股股東在特定期間以特定價格轉換為</a:t>
            </a:r>
            <a:r>
              <a:rPr lang="zh-TW" altLang="en-US" dirty="0" smtClean="0"/>
              <a:t>普通股。</a:t>
            </a:r>
            <a:endParaRPr lang="en-US" altLang="zh-TW" dirty="0" smtClean="0"/>
          </a:p>
          <a:p>
            <a:r>
              <a:rPr lang="zh-TW" altLang="en-US" dirty="0"/>
              <a:t>依可否投票</a:t>
            </a:r>
            <a:r>
              <a:rPr lang="zh-TW" altLang="en-US" dirty="0" smtClean="0"/>
              <a:t>區分：</a:t>
            </a:r>
            <a:endParaRPr lang="en-US" altLang="zh-TW" dirty="0" smtClean="0"/>
          </a:p>
          <a:p>
            <a:pPr marL="457200" lvl="1" indent="0">
              <a:buNone/>
            </a:pPr>
            <a:r>
              <a:rPr lang="zh-TW" altLang="en-US" dirty="0" smtClean="0"/>
              <a:t>有投票權的特別股，公司</a:t>
            </a:r>
            <a:r>
              <a:rPr lang="zh-TW" altLang="en-US" dirty="0"/>
              <a:t>持續一段時間未發放股利</a:t>
            </a:r>
            <a:r>
              <a:rPr lang="zh-TW" altLang="en-US" dirty="0" smtClean="0"/>
              <a:t>時，特別股會被賦予投票權，選出特定董事保障自我權益。</a:t>
            </a:r>
            <a:endParaRPr lang="zh-TW" altLang="en-US" dirty="0"/>
          </a:p>
        </p:txBody>
      </p:sp>
    </p:spTree>
    <p:extLst>
      <p:ext uri="{BB962C8B-B14F-4D97-AF65-F5344CB8AC3E}">
        <p14:creationId xmlns:p14="http://schemas.microsoft.com/office/powerpoint/2010/main" val="30674929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特別股優缺點</a:t>
            </a:r>
            <a:endParaRPr lang="zh-TW" altLang="en-US" dirty="0"/>
          </a:p>
        </p:txBody>
      </p:sp>
      <p:sp>
        <p:nvSpPr>
          <p:cNvPr id="3" name="內容版面配置區 2"/>
          <p:cNvSpPr>
            <a:spLocks noGrp="1"/>
          </p:cNvSpPr>
          <p:nvPr>
            <p:ph idx="1"/>
          </p:nvPr>
        </p:nvSpPr>
        <p:spPr/>
        <p:txBody>
          <a:bodyPr/>
          <a:lstStyle/>
          <a:p>
            <a:r>
              <a:rPr lang="zh-TW" altLang="en-US" dirty="0" smtClean="0"/>
              <a:t>優點：</a:t>
            </a:r>
            <a:endParaRPr lang="en-US" altLang="zh-TW" dirty="0" smtClean="0"/>
          </a:p>
          <a:p>
            <a:pPr lvl="1"/>
            <a:r>
              <a:rPr lang="zh-TW" altLang="en-US" dirty="0"/>
              <a:t>無本金</a:t>
            </a:r>
            <a:r>
              <a:rPr lang="zh-TW" altLang="en-US" dirty="0" smtClean="0"/>
              <a:t>償還</a:t>
            </a:r>
            <a:endParaRPr lang="en-US" altLang="zh-TW" dirty="0" smtClean="0"/>
          </a:p>
          <a:p>
            <a:pPr lvl="1"/>
            <a:r>
              <a:rPr lang="zh-TW" altLang="en-US" dirty="0"/>
              <a:t>無法支付股利時不會立即</a:t>
            </a:r>
            <a:r>
              <a:rPr lang="zh-TW" altLang="en-US" dirty="0" smtClean="0"/>
              <a:t>破產</a:t>
            </a:r>
            <a:endParaRPr lang="en-US" altLang="zh-TW" dirty="0" smtClean="0"/>
          </a:p>
          <a:p>
            <a:pPr lvl="1"/>
            <a:r>
              <a:rPr lang="zh-TW" altLang="en-US" dirty="0"/>
              <a:t>避免控制權外流</a:t>
            </a:r>
            <a:endParaRPr lang="en-US" altLang="zh-TW" dirty="0" smtClean="0"/>
          </a:p>
          <a:p>
            <a:r>
              <a:rPr lang="zh-TW" altLang="en-US" dirty="0" smtClean="0"/>
              <a:t>缺點：</a:t>
            </a:r>
            <a:endParaRPr lang="en-US" altLang="zh-TW" dirty="0" smtClean="0"/>
          </a:p>
          <a:p>
            <a:pPr lvl="1"/>
            <a:r>
              <a:rPr lang="zh-TW" altLang="en-US" dirty="0"/>
              <a:t>風險等級較負債</a:t>
            </a:r>
            <a:r>
              <a:rPr lang="zh-TW" altLang="en-US" dirty="0" smtClean="0"/>
              <a:t>高，資金成本也比較高。</a:t>
            </a:r>
            <a:endParaRPr lang="zh-TW" altLang="en-US" dirty="0"/>
          </a:p>
        </p:txBody>
      </p:sp>
    </p:spTree>
    <p:extLst>
      <p:ext uri="{BB962C8B-B14F-4D97-AF65-F5344CB8AC3E}">
        <p14:creationId xmlns:p14="http://schemas.microsoft.com/office/powerpoint/2010/main" val="28189789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長期融資</a:t>
            </a:r>
            <a:r>
              <a:rPr lang="en-US" altLang="zh-TW" dirty="0"/>
              <a:t>-</a:t>
            </a:r>
            <a:r>
              <a:rPr lang="zh-TW" altLang="en-US" dirty="0"/>
              <a:t>長期融資工具</a:t>
            </a:r>
            <a:r>
              <a:rPr lang="en-US" altLang="zh-TW" dirty="0" smtClean="0"/>
              <a:t>(</a:t>
            </a:r>
            <a:r>
              <a:rPr lang="zh-TW" altLang="en-US" dirty="0"/>
              <a:t>長期債券</a:t>
            </a:r>
            <a:r>
              <a:rPr lang="en-US" altLang="zh-TW" dirty="0" smtClean="0"/>
              <a:t>)</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長期債券指由公司發行，期間在一年以上的債券，在未來一段時間內的特定日期支付一系列的利息，並在債券到期時償還本金給債券持有</a:t>
            </a:r>
            <a:r>
              <a:rPr lang="zh-TW" altLang="en-US" dirty="0" smtClean="0"/>
              <a:t>人</a:t>
            </a:r>
            <a:r>
              <a:rPr lang="zh-TW" altLang="en-US" dirty="0"/>
              <a:t>，受償權為最高</a:t>
            </a:r>
            <a:r>
              <a:rPr lang="zh-TW" altLang="en-US" dirty="0" smtClean="0"/>
              <a:t>。</a:t>
            </a:r>
            <a:endParaRPr lang="en-US" altLang="zh-TW" dirty="0" smtClean="0"/>
          </a:p>
          <a:p>
            <a:r>
              <a:rPr lang="zh-TW" altLang="en-US" dirty="0" smtClean="0"/>
              <a:t>債券面值，即本金</a:t>
            </a:r>
            <a:r>
              <a:rPr lang="en-US" altLang="zh-TW" dirty="0" smtClean="0"/>
              <a:t>(Principal)</a:t>
            </a:r>
            <a:r>
              <a:rPr lang="zh-TW" altLang="en-US" dirty="0" smtClean="0"/>
              <a:t>或面額</a:t>
            </a:r>
            <a:r>
              <a:rPr lang="en-US" altLang="zh-TW" dirty="0" smtClean="0"/>
              <a:t>(Face value)</a:t>
            </a:r>
            <a:r>
              <a:rPr lang="zh-TW" altLang="en-US" dirty="0" smtClean="0"/>
              <a:t>，載名於債券上，同時註明票面利息</a:t>
            </a:r>
            <a:r>
              <a:rPr lang="en-US" altLang="zh-TW" dirty="0" smtClean="0"/>
              <a:t>(Coupon)</a:t>
            </a:r>
            <a:r>
              <a:rPr lang="zh-TW" altLang="en-US" dirty="0" smtClean="0"/>
              <a:t>，即發行者須按期支付給投資人的金額，到期當日發行者將當期利息以及本金一起歸還給投資人，自現在到到期日期間則稱為到期期間</a:t>
            </a:r>
            <a:r>
              <a:rPr lang="en-US" altLang="zh-TW" dirty="0" smtClean="0"/>
              <a:t>(Time to maturity)</a:t>
            </a:r>
            <a:endParaRPr lang="zh-TW" altLang="en-US" dirty="0"/>
          </a:p>
          <a:p>
            <a:endParaRPr lang="zh-TW" altLang="en-US" dirty="0"/>
          </a:p>
        </p:txBody>
      </p:sp>
      <p:cxnSp>
        <p:nvCxnSpPr>
          <p:cNvPr id="5" name="直線接點 4"/>
          <p:cNvCxnSpPr/>
          <p:nvPr/>
        </p:nvCxnSpPr>
        <p:spPr>
          <a:xfrm>
            <a:off x="2771800" y="6381328"/>
            <a:ext cx="3096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flipV="1">
            <a:off x="3779912" y="6129300"/>
            <a:ext cx="0" cy="2520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V="1">
            <a:off x="4319972" y="6129300"/>
            <a:ext cx="0" cy="2520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4860032" y="6129300"/>
            <a:ext cx="0" cy="2520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5364088" y="6129300"/>
            <a:ext cx="0" cy="2520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flipV="1">
            <a:off x="5868144" y="6129300"/>
            <a:ext cx="0" cy="2520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3275856" y="6129300"/>
            <a:ext cx="0" cy="2520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2555776" y="6381328"/>
            <a:ext cx="3888432" cy="369332"/>
          </a:xfrm>
          <a:prstGeom prst="rect">
            <a:avLst/>
          </a:prstGeom>
          <a:noFill/>
        </p:spPr>
        <p:txBody>
          <a:bodyPr wrap="square" rtlCol="0">
            <a:spAutoFit/>
          </a:bodyPr>
          <a:lstStyle/>
          <a:p>
            <a:r>
              <a:rPr lang="en-US" altLang="zh-TW" dirty="0" smtClean="0"/>
              <a:t>   T0    C       </a:t>
            </a:r>
            <a:r>
              <a:rPr lang="en-US" altLang="zh-TW" dirty="0" err="1" smtClean="0"/>
              <a:t>C</a:t>
            </a:r>
            <a:r>
              <a:rPr lang="en-US" altLang="zh-TW" dirty="0" smtClean="0"/>
              <a:t>        </a:t>
            </a:r>
            <a:r>
              <a:rPr lang="en-US" altLang="zh-TW" dirty="0" err="1" smtClean="0"/>
              <a:t>C</a:t>
            </a:r>
            <a:r>
              <a:rPr lang="en-US" altLang="zh-TW" dirty="0" smtClean="0"/>
              <a:t>        </a:t>
            </a:r>
            <a:r>
              <a:rPr lang="en-US" altLang="zh-TW" dirty="0" err="1" smtClean="0"/>
              <a:t>C</a:t>
            </a:r>
            <a:r>
              <a:rPr lang="en-US" altLang="zh-TW" dirty="0" smtClean="0"/>
              <a:t>        </a:t>
            </a:r>
            <a:r>
              <a:rPr lang="en-US" altLang="zh-TW" dirty="0" err="1" smtClean="0"/>
              <a:t>C</a:t>
            </a:r>
            <a:r>
              <a:rPr lang="en-US" altLang="zh-TW" dirty="0" smtClean="0"/>
              <a:t>      C+F       </a:t>
            </a:r>
            <a:endParaRPr lang="zh-TW" altLang="en-US" dirty="0"/>
          </a:p>
        </p:txBody>
      </p:sp>
      <p:cxnSp>
        <p:nvCxnSpPr>
          <p:cNvPr id="35" name="直線單箭頭接點 34"/>
          <p:cNvCxnSpPr/>
          <p:nvPr/>
        </p:nvCxnSpPr>
        <p:spPr>
          <a:xfrm>
            <a:off x="2771800" y="6021288"/>
            <a:ext cx="3096344"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7" name="文字方塊 36"/>
          <p:cNvSpPr txBox="1"/>
          <p:nvPr/>
        </p:nvSpPr>
        <p:spPr>
          <a:xfrm>
            <a:off x="3606427" y="5836622"/>
            <a:ext cx="1757661" cy="369332"/>
          </a:xfrm>
          <a:prstGeom prst="rect">
            <a:avLst/>
          </a:prstGeom>
          <a:noFill/>
        </p:spPr>
        <p:txBody>
          <a:bodyPr wrap="none" rtlCol="0">
            <a:spAutoFit/>
          </a:bodyPr>
          <a:lstStyle/>
          <a:p>
            <a:r>
              <a:rPr lang="en-US" altLang="zh-TW" dirty="0" smtClean="0"/>
              <a:t>Time to maturity</a:t>
            </a:r>
            <a:endParaRPr lang="zh-TW" altLang="en-US" dirty="0"/>
          </a:p>
        </p:txBody>
      </p:sp>
    </p:spTree>
    <p:extLst>
      <p:ext uri="{BB962C8B-B14F-4D97-AF65-F5344CB8AC3E}">
        <p14:creationId xmlns:p14="http://schemas.microsoft.com/office/powerpoint/2010/main" val="21030746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長期融資</a:t>
            </a:r>
            <a:r>
              <a:rPr lang="en-US" altLang="zh-TW" dirty="0"/>
              <a:t>-</a:t>
            </a:r>
            <a:r>
              <a:rPr lang="zh-TW" altLang="en-US" dirty="0"/>
              <a:t>長期融資工具</a:t>
            </a:r>
            <a:r>
              <a:rPr lang="en-US" altLang="zh-TW" dirty="0"/>
              <a:t>(</a:t>
            </a:r>
            <a:r>
              <a:rPr lang="zh-TW" altLang="en-US" dirty="0"/>
              <a:t>長期債券</a:t>
            </a:r>
            <a:r>
              <a:rPr lang="en-US" altLang="zh-TW" dirty="0"/>
              <a:t>)</a:t>
            </a:r>
            <a:endParaRPr lang="zh-TW" altLang="en-US" dirty="0"/>
          </a:p>
        </p:txBody>
      </p:sp>
      <p:sp>
        <p:nvSpPr>
          <p:cNvPr id="3" name="內容版面配置區 2"/>
          <p:cNvSpPr>
            <a:spLocks noGrp="1"/>
          </p:cNvSpPr>
          <p:nvPr>
            <p:ph idx="1"/>
          </p:nvPr>
        </p:nvSpPr>
        <p:spPr/>
        <p:txBody>
          <a:bodyPr>
            <a:normAutofit fontScale="92500" lnSpcReduction="20000"/>
          </a:bodyPr>
          <a:lstStyle/>
          <a:p>
            <a:pPr>
              <a:lnSpc>
                <a:spcPct val="90000"/>
              </a:lnSpc>
            </a:pPr>
            <a:r>
              <a:rPr lang="zh-TW" altLang="en-US" dirty="0"/>
              <a:t>求償順序：債券 </a:t>
            </a:r>
            <a:r>
              <a:rPr lang="en-US" altLang="zh-TW" dirty="0" smtClean="0"/>
              <a:t>&gt;</a:t>
            </a:r>
            <a:r>
              <a:rPr lang="zh-TW" altLang="en-US" dirty="0" smtClean="0">
                <a:sym typeface="Wingdings" pitchFamily="2" charset="2"/>
              </a:rPr>
              <a:t> </a:t>
            </a:r>
            <a:r>
              <a:rPr lang="zh-TW" altLang="en-US" dirty="0">
                <a:sym typeface="Wingdings" pitchFamily="2" charset="2"/>
              </a:rPr>
              <a:t>特別股 </a:t>
            </a:r>
            <a:r>
              <a:rPr lang="en-US" altLang="zh-TW" dirty="0" smtClean="0">
                <a:sym typeface="Wingdings" pitchFamily="2" charset="2"/>
              </a:rPr>
              <a:t>&gt;</a:t>
            </a:r>
            <a:r>
              <a:rPr lang="zh-TW" altLang="en-US" dirty="0" smtClean="0">
                <a:sym typeface="Wingdings" pitchFamily="2" charset="2"/>
              </a:rPr>
              <a:t> </a:t>
            </a:r>
            <a:r>
              <a:rPr lang="zh-TW" altLang="en-US" dirty="0">
                <a:sym typeface="Wingdings" pitchFamily="2" charset="2"/>
              </a:rPr>
              <a:t>普通股</a:t>
            </a:r>
          </a:p>
          <a:p>
            <a:pPr>
              <a:lnSpc>
                <a:spcPct val="90000"/>
              </a:lnSpc>
            </a:pPr>
            <a:r>
              <a:rPr lang="zh-TW" altLang="en-US" dirty="0"/>
              <a:t>債券種類</a:t>
            </a:r>
          </a:p>
          <a:p>
            <a:pPr lvl="1">
              <a:lnSpc>
                <a:spcPct val="90000"/>
              </a:lnSpc>
            </a:pPr>
            <a:r>
              <a:rPr lang="zh-TW" altLang="en-US" dirty="0"/>
              <a:t>抵押債券</a:t>
            </a:r>
            <a:r>
              <a:rPr lang="en-US" altLang="zh-TW" dirty="0"/>
              <a:t>(Mortgage Bond)</a:t>
            </a:r>
            <a:r>
              <a:rPr lang="zh-TW" altLang="en-US" dirty="0" smtClean="0"/>
              <a:t>：</a:t>
            </a:r>
            <a:endParaRPr lang="en-US" altLang="zh-TW" dirty="0" smtClean="0"/>
          </a:p>
          <a:p>
            <a:pPr marL="914400" lvl="2" indent="0">
              <a:lnSpc>
                <a:spcPct val="90000"/>
              </a:lnSpc>
              <a:buNone/>
            </a:pPr>
            <a:r>
              <a:rPr lang="zh-TW" altLang="en-US" dirty="0" smtClean="0"/>
              <a:t>有</a:t>
            </a:r>
            <a:r>
              <a:rPr lang="zh-TW" altLang="en-US" dirty="0"/>
              <a:t>抵押品</a:t>
            </a:r>
            <a:r>
              <a:rPr lang="zh-TW" altLang="en-US" dirty="0" smtClean="0"/>
              <a:t>擔保的債券</a:t>
            </a:r>
          </a:p>
          <a:p>
            <a:pPr lvl="1">
              <a:lnSpc>
                <a:spcPct val="90000"/>
              </a:lnSpc>
            </a:pPr>
            <a:r>
              <a:rPr lang="zh-TW" altLang="en-US" dirty="0" smtClean="0"/>
              <a:t>信用債券</a:t>
            </a:r>
            <a:r>
              <a:rPr lang="en-US" altLang="zh-TW" dirty="0" smtClean="0"/>
              <a:t>(Debenture)</a:t>
            </a:r>
            <a:r>
              <a:rPr lang="zh-TW" altLang="en-US" dirty="0" smtClean="0"/>
              <a:t>：</a:t>
            </a:r>
            <a:endParaRPr lang="en-US" altLang="zh-TW" dirty="0" smtClean="0"/>
          </a:p>
          <a:p>
            <a:pPr marL="914400" lvl="2" indent="0">
              <a:lnSpc>
                <a:spcPct val="90000"/>
              </a:lnSpc>
              <a:buNone/>
            </a:pPr>
            <a:r>
              <a:rPr lang="zh-TW" altLang="en-US" dirty="0" smtClean="0"/>
              <a:t>無擔保品之債券</a:t>
            </a:r>
          </a:p>
          <a:p>
            <a:pPr lvl="1">
              <a:lnSpc>
                <a:spcPct val="90000"/>
              </a:lnSpc>
            </a:pPr>
            <a:r>
              <a:rPr lang="zh-TW" altLang="en-US" dirty="0" smtClean="0"/>
              <a:t>可</a:t>
            </a:r>
            <a:r>
              <a:rPr lang="zh-TW" altLang="en-US" dirty="0"/>
              <a:t>贖回債券</a:t>
            </a:r>
            <a:r>
              <a:rPr lang="en-US" altLang="zh-TW" dirty="0"/>
              <a:t>(Callable Bond)</a:t>
            </a:r>
            <a:r>
              <a:rPr lang="zh-TW" altLang="en-US" dirty="0" smtClean="0"/>
              <a:t>：</a:t>
            </a:r>
            <a:endParaRPr lang="en-US" altLang="zh-TW" dirty="0" smtClean="0"/>
          </a:p>
          <a:p>
            <a:pPr lvl="2">
              <a:lnSpc>
                <a:spcPct val="90000"/>
              </a:lnSpc>
            </a:pPr>
            <a:r>
              <a:rPr lang="zh-TW" altLang="en-US" dirty="0" smtClean="0"/>
              <a:t>在</a:t>
            </a:r>
            <a:r>
              <a:rPr lang="zh-TW" altLang="en-US" dirty="0"/>
              <a:t>契約中訂有贖回條款</a:t>
            </a:r>
            <a:r>
              <a:rPr lang="en-US" altLang="zh-TW" dirty="0"/>
              <a:t>(Call Provision)</a:t>
            </a:r>
            <a:r>
              <a:rPr lang="zh-TW" altLang="en-US" dirty="0"/>
              <a:t>，在約定的日期之後，發行公司可以約定價格買回流通在外的債券</a:t>
            </a:r>
          </a:p>
          <a:p>
            <a:pPr lvl="2">
              <a:lnSpc>
                <a:spcPct val="90000"/>
              </a:lnSpc>
            </a:pPr>
            <a:r>
              <a:rPr lang="zh-TW" altLang="en-US" dirty="0"/>
              <a:t>對投資人而言承擔被贖回的風險，故一般而言可贖回債券報酬較一般債券</a:t>
            </a:r>
            <a:r>
              <a:rPr lang="zh-TW" altLang="en-US" dirty="0" smtClean="0"/>
              <a:t>高。</a:t>
            </a:r>
            <a:endParaRPr lang="en-US" altLang="zh-TW" dirty="0" smtClean="0"/>
          </a:p>
          <a:p>
            <a:pPr lvl="2">
              <a:lnSpc>
                <a:spcPct val="90000"/>
              </a:lnSpc>
            </a:pPr>
            <a:r>
              <a:rPr lang="zh-TW" altLang="en-US" dirty="0"/>
              <a:t>可能刺激公司贖回的</a:t>
            </a:r>
            <a:r>
              <a:rPr lang="zh-TW" altLang="en-US" dirty="0" smtClean="0"/>
              <a:t>狀況：</a:t>
            </a:r>
            <a:r>
              <a:rPr lang="en-US" altLang="zh-TW" dirty="0" smtClean="0"/>
              <a:t>	</a:t>
            </a:r>
            <a:r>
              <a:rPr lang="zh-TW" altLang="en-US" dirty="0" smtClean="0"/>
              <a:t>公司信用評等調高</a:t>
            </a:r>
            <a:endParaRPr lang="en-US" altLang="zh-TW" dirty="0" smtClean="0"/>
          </a:p>
          <a:p>
            <a:pPr marL="914400" lvl="2" indent="0">
              <a:lnSpc>
                <a:spcPct val="90000"/>
              </a:lnSpc>
              <a:buNone/>
            </a:pPr>
            <a:r>
              <a:rPr lang="en-US" altLang="zh-TW" dirty="0"/>
              <a:t>	</a:t>
            </a:r>
            <a:r>
              <a:rPr lang="en-US" altLang="zh-TW" dirty="0" smtClean="0"/>
              <a:t>			</a:t>
            </a:r>
            <a:r>
              <a:rPr lang="zh-TW" altLang="en-US" dirty="0" smtClean="0"/>
              <a:t>市場利率降低</a:t>
            </a:r>
            <a:endParaRPr lang="en-US" altLang="zh-TW" dirty="0" smtClean="0"/>
          </a:p>
          <a:p>
            <a:pPr marL="914400" lvl="2" indent="0">
              <a:lnSpc>
                <a:spcPct val="90000"/>
              </a:lnSpc>
              <a:buNone/>
            </a:pPr>
            <a:r>
              <a:rPr lang="zh-TW" altLang="en-US"/>
              <a:t> </a:t>
            </a:r>
            <a:r>
              <a:rPr lang="zh-TW" altLang="en-US" smtClean="0"/>
              <a:t>   公司可贖回之前發行的債券，以較低利率發行新債。</a:t>
            </a:r>
            <a:endParaRPr lang="zh-TW" altLang="en-US" dirty="0"/>
          </a:p>
          <a:p>
            <a:endParaRPr lang="zh-TW" altLang="en-US" dirty="0"/>
          </a:p>
        </p:txBody>
      </p:sp>
    </p:spTree>
    <p:extLst>
      <p:ext uri="{BB962C8B-B14F-4D97-AF65-F5344CB8AC3E}">
        <p14:creationId xmlns:p14="http://schemas.microsoft.com/office/powerpoint/2010/main" val="36362349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負債融資的優缺點</a:t>
            </a:r>
          </a:p>
        </p:txBody>
      </p:sp>
      <p:sp>
        <p:nvSpPr>
          <p:cNvPr id="3" name="內容版面配置區 2"/>
          <p:cNvSpPr>
            <a:spLocks noGrp="1"/>
          </p:cNvSpPr>
          <p:nvPr>
            <p:ph idx="1"/>
          </p:nvPr>
        </p:nvSpPr>
        <p:spPr/>
        <p:txBody>
          <a:bodyPr/>
          <a:lstStyle/>
          <a:p>
            <a:r>
              <a:rPr lang="zh-TW" altLang="en-US" dirty="0" smtClean="0"/>
              <a:t>優點：</a:t>
            </a:r>
            <a:endParaRPr lang="en-US" altLang="zh-TW" dirty="0" smtClean="0"/>
          </a:p>
          <a:p>
            <a:pPr marL="457200" lvl="1" indent="0">
              <a:buNone/>
            </a:pPr>
            <a:r>
              <a:rPr lang="zh-TW" altLang="en-US" dirty="0"/>
              <a:t>負債可創造稅盾</a:t>
            </a:r>
            <a:r>
              <a:rPr lang="en-US" altLang="zh-TW" dirty="0"/>
              <a:t>(Tax Shield)</a:t>
            </a:r>
            <a:r>
              <a:rPr lang="zh-TW" altLang="en-US" dirty="0" smtClean="0"/>
              <a:t>效果，提高公司價值。</a:t>
            </a:r>
            <a:endParaRPr lang="en-US" altLang="zh-TW" dirty="0" smtClean="0"/>
          </a:p>
          <a:p>
            <a:pPr marL="457200" lvl="1" indent="0">
              <a:buNone/>
            </a:pPr>
            <a:r>
              <a:rPr lang="zh-TW" altLang="en-US" dirty="0"/>
              <a:t>因為支付利息可視為營運</a:t>
            </a:r>
            <a:r>
              <a:rPr lang="zh-TW" altLang="en-US" dirty="0" smtClean="0"/>
              <a:t>成本，可全部抵稅。</a:t>
            </a:r>
            <a:endParaRPr lang="en-US" altLang="zh-TW" dirty="0" smtClean="0"/>
          </a:p>
          <a:p>
            <a:r>
              <a:rPr lang="zh-TW" altLang="en-US" dirty="0" smtClean="0"/>
              <a:t>缺點：</a:t>
            </a:r>
            <a:endParaRPr lang="en-US" altLang="zh-TW" dirty="0" smtClean="0"/>
          </a:p>
          <a:p>
            <a:pPr marL="457200" lvl="1" indent="0">
              <a:buNone/>
            </a:pPr>
            <a:r>
              <a:rPr lang="zh-TW" altLang="en-US" dirty="0" smtClean="0"/>
              <a:t>如果未能如期支付利息，債權人可強迫公司進行清算或破產，產生財務困難。</a:t>
            </a:r>
            <a:endParaRPr lang="zh-TW" altLang="en-US" dirty="0"/>
          </a:p>
        </p:txBody>
      </p:sp>
    </p:spTree>
    <p:extLst>
      <p:ext uri="{BB962C8B-B14F-4D97-AF65-F5344CB8AC3E}">
        <p14:creationId xmlns:p14="http://schemas.microsoft.com/office/powerpoint/2010/main" val="2106559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長期融資</a:t>
            </a:r>
            <a:r>
              <a:rPr lang="en-US" altLang="zh-TW" dirty="0"/>
              <a:t>-</a:t>
            </a:r>
            <a:r>
              <a:rPr lang="zh-TW" altLang="en-US" dirty="0"/>
              <a:t>長期融資工具</a:t>
            </a:r>
            <a:r>
              <a:rPr lang="en-US" altLang="zh-TW" dirty="0" smtClean="0"/>
              <a:t>(</a:t>
            </a:r>
            <a:r>
              <a:rPr lang="zh-TW" altLang="en-US" dirty="0" smtClean="0"/>
              <a:t>定期貸款</a:t>
            </a:r>
            <a:r>
              <a:rPr lang="en-US" altLang="zh-TW" dirty="0" smtClean="0"/>
              <a:t>)</a:t>
            </a:r>
            <a:endParaRPr lang="zh-TW" altLang="en-US" dirty="0"/>
          </a:p>
        </p:txBody>
      </p:sp>
      <p:sp>
        <p:nvSpPr>
          <p:cNvPr id="3" name="內容版面配置區 2"/>
          <p:cNvSpPr>
            <a:spLocks noGrp="1"/>
          </p:cNvSpPr>
          <p:nvPr>
            <p:ph idx="1"/>
          </p:nvPr>
        </p:nvSpPr>
        <p:spPr/>
        <p:txBody>
          <a:bodyPr/>
          <a:lstStyle/>
          <a:p>
            <a:r>
              <a:rPr lang="zh-TW" altLang="en-US" dirty="0"/>
              <a:t>定期貸款是借款人與貸款人之間的負債契約，借款人同意於未來特定期間支付一系列的利息給貸款人，在貸款到期日時償還本金給貸款人，定期貸款通常與金融機構訂</a:t>
            </a:r>
            <a:r>
              <a:rPr lang="zh-TW" altLang="en-US" dirty="0" smtClean="0"/>
              <a:t>定。</a:t>
            </a:r>
            <a:endParaRPr lang="zh-TW" altLang="en-US" dirty="0"/>
          </a:p>
          <a:p>
            <a:endParaRPr lang="zh-TW" altLang="en-US" dirty="0"/>
          </a:p>
        </p:txBody>
      </p:sp>
    </p:spTree>
    <p:extLst>
      <p:ext uri="{BB962C8B-B14F-4D97-AF65-F5344CB8AC3E}">
        <p14:creationId xmlns:p14="http://schemas.microsoft.com/office/powerpoint/2010/main" val="518158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定期貸款分類</a:t>
            </a:r>
            <a:endParaRPr lang="zh-TW" altLang="en-US" dirty="0"/>
          </a:p>
        </p:txBody>
      </p:sp>
      <p:sp>
        <p:nvSpPr>
          <p:cNvPr id="3" name="內容版面配置區 2"/>
          <p:cNvSpPr>
            <a:spLocks noGrp="1"/>
          </p:cNvSpPr>
          <p:nvPr>
            <p:ph idx="1"/>
          </p:nvPr>
        </p:nvSpPr>
        <p:spPr/>
        <p:txBody>
          <a:bodyPr/>
          <a:lstStyle/>
          <a:p>
            <a:pPr>
              <a:lnSpc>
                <a:spcPct val="80000"/>
              </a:lnSpc>
            </a:pPr>
            <a:r>
              <a:rPr lang="zh-TW" altLang="en-US" sz="2000" dirty="0"/>
              <a:t>依貸款時間</a:t>
            </a:r>
          </a:p>
          <a:p>
            <a:pPr lvl="1">
              <a:lnSpc>
                <a:spcPct val="80000"/>
              </a:lnSpc>
            </a:pPr>
            <a:r>
              <a:rPr lang="en-US" altLang="zh-TW" sz="1800" dirty="0"/>
              <a:t>1</a:t>
            </a:r>
            <a:r>
              <a:rPr lang="zh-TW" altLang="en-US" sz="1800" dirty="0"/>
              <a:t>年以下的短期貸款</a:t>
            </a:r>
          </a:p>
          <a:p>
            <a:pPr lvl="1">
              <a:lnSpc>
                <a:spcPct val="80000"/>
              </a:lnSpc>
            </a:pPr>
            <a:r>
              <a:rPr lang="en-US" altLang="zh-TW" sz="1800" dirty="0"/>
              <a:t>1</a:t>
            </a:r>
            <a:r>
              <a:rPr lang="zh-TW" altLang="en-US" sz="1800" dirty="0"/>
              <a:t>年</a:t>
            </a:r>
            <a:r>
              <a:rPr lang="en-US" altLang="zh-TW" sz="1800" dirty="0"/>
              <a:t>~7</a:t>
            </a:r>
            <a:r>
              <a:rPr lang="zh-TW" altLang="en-US" sz="1800" dirty="0"/>
              <a:t>年的中期貸款</a:t>
            </a:r>
          </a:p>
          <a:p>
            <a:pPr lvl="1">
              <a:lnSpc>
                <a:spcPct val="80000"/>
              </a:lnSpc>
            </a:pPr>
            <a:r>
              <a:rPr lang="en-US" altLang="zh-TW" sz="1800" dirty="0"/>
              <a:t>7</a:t>
            </a:r>
            <a:r>
              <a:rPr lang="zh-TW" altLang="en-US" sz="1800" dirty="0"/>
              <a:t>年以上的長期貸款</a:t>
            </a:r>
          </a:p>
          <a:p>
            <a:pPr>
              <a:lnSpc>
                <a:spcPct val="80000"/>
              </a:lnSpc>
            </a:pPr>
            <a:r>
              <a:rPr lang="zh-TW" altLang="en-US" sz="2000" dirty="0"/>
              <a:t>依擔保品有無</a:t>
            </a:r>
          </a:p>
          <a:p>
            <a:pPr lvl="1">
              <a:lnSpc>
                <a:spcPct val="80000"/>
              </a:lnSpc>
            </a:pPr>
            <a:r>
              <a:rPr lang="zh-TW" altLang="en-US" sz="1800" dirty="0"/>
              <a:t>信用貸款</a:t>
            </a:r>
          </a:p>
          <a:p>
            <a:pPr lvl="2">
              <a:lnSpc>
                <a:spcPct val="80000"/>
              </a:lnSpc>
            </a:pPr>
            <a:r>
              <a:rPr lang="zh-TW" altLang="en-US" sz="1600" dirty="0"/>
              <a:t>利率較高</a:t>
            </a:r>
            <a:r>
              <a:rPr lang="en-US" altLang="zh-TW" sz="1600" dirty="0"/>
              <a:t>(</a:t>
            </a:r>
            <a:r>
              <a:rPr lang="zh-TW" altLang="en-US" sz="1600" dirty="0"/>
              <a:t>無擔保品，金融機構承擔之風險較高</a:t>
            </a:r>
            <a:r>
              <a:rPr lang="en-US" altLang="zh-TW" sz="1600" dirty="0"/>
              <a:t>)</a:t>
            </a:r>
          </a:p>
          <a:p>
            <a:pPr lvl="1">
              <a:lnSpc>
                <a:spcPct val="80000"/>
              </a:lnSpc>
            </a:pPr>
            <a:r>
              <a:rPr lang="zh-TW" altLang="en-US" sz="1800" dirty="0"/>
              <a:t>擔保</a:t>
            </a:r>
            <a:r>
              <a:rPr lang="zh-TW" altLang="en-US" sz="1800" dirty="0" smtClean="0"/>
              <a:t>貸款</a:t>
            </a:r>
            <a:endParaRPr lang="zh-TW" altLang="en-US" sz="1400" dirty="0"/>
          </a:p>
          <a:p>
            <a:pPr>
              <a:lnSpc>
                <a:spcPct val="80000"/>
              </a:lnSpc>
            </a:pPr>
            <a:r>
              <a:rPr lang="zh-TW" altLang="en-US" sz="2000" dirty="0"/>
              <a:t>依約定利率</a:t>
            </a:r>
          </a:p>
          <a:p>
            <a:pPr lvl="1">
              <a:lnSpc>
                <a:spcPct val="80000"/>
              </a:lnSpc>
            </a:pPr>
            <a:r>
              <a:rPr lang="zh-TW" altLang="en-US" sz="1800" dirty="0"/>
              <a:t>固定利率</a:t>
            </a:r>
          </a:p>
          <a:p>
            <a:pPr lvl="2">
              <a:lnSpc>
                <a:spcPct val="80000"/>
              </a:lnSpc>
            </a:pPr>
            <a:r>
              <a:rPr lang="zh-TW" altLang="en-US" sz="1600" dirty="0"/>
              <a:t>對公司而言能鎖定固定的利息支出，但市場利率降低時，沒辦法享受利率下跌的好處</a:t>
            </a:r>
          </a:p>
          <a:p>
            <a:pPr lvl="1">
              <a:lnSpc>
                <a:spcPct val="80000"/>
              </a:lnSpc>
            </a:pPr>
            <a:r>
              <a:rPr lang="zh-TW" altLang="en-US" sz="1800" dirty="0"/>
              <a:t>浮動利率</a:t>
            </a:r>
          </a:p>
          <a:p>
            <a:pPr lvl="2">
              <a:lnSpc>
                <a:spcPct val="80000"/>
              </a:lnSpc>
            </a:pPr>
            <a:r>
              <a:rPr lang="zh-TW" altLang="en-US" sz="1600" dirty="0"/>
              <a:t>約定在基本放款利率</a:t>
            </a:r>
            <a:r>
              <a:rPr lang="en-US" altLang="zh-TW" sz="1600" dirty="0"/>
              <a:t>(Prime Rate)</a:t>
            </a:r>
            <a:r>
              <a:rPr lang="zh-TW" altLang="en-US" sz="1600" dirty="0"/>
              <a:t>加上數個百分點，若銀行基本放款利率調整，貸款利率也會跟著調整</a:t>
            </a:r>
          </a:p>
          <a:p>
            <a:pPr lvl="2">
              <a:lnSpc>
                <a:spcPct val="80000"/>
              </a:lnSpc>
            </a:pPr>
            <a:r>
              <a:rPr lang="zh-TW" altLang="en-US" sz="1600" dirty="0"/>
              <a:t>較能反應市場機制，一般銀行承做的長期放款多為浮動利率</a:t>
            </a:r>
          </a:p>
          <a:p>
            <a:endParaRPr lang="zh-TW" altLang="en-US" dirty="0"/>
          </a:p>
        </p:txBody>
      </p:sp>
    </p:spTree>
    <p:extLst>
      <p:ext uri="{BB962C8B-B14F-4D97-AF65-F5344CB8AC3E}">
        <p14:creationId xmlns:p14="http://schemas.microsoft.com/office/powerpoint/2010/main" val="15137674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定期貸款的優點</a:t>
            </a:r>
            <a:endParaRPr lang="zh-TW" altLang="en-US" dirty="0"/>
          </a:p>
        </p:txBody>
      </p:sp>
      <p:sp>
        <p:nvSpPr>
          <p:cNvPr id="3" name="內容版面配置區 2"/>
          <p:cNvSpPr>
            <a:spLocks noGrp="1"/>
          </p:cNvSpPr>
          <p:nvPr>
            <p:ph idx="1"/>
          </p:nvPr>
        </p:nvSpPr>
        <p:spPr/>
        <p:txBody>
          <a:bodyPr/>
          <a:lstStyle/>
          <a:p>
            <a:r>
              <a:rPr lang="zh-TW" altLang="en-US" sz="2800" dirty="0"/>
              <a:t>使用定期貸款的好處：</a:t>
            </a:r>
          </a:p>
          <a:p>
            <a:pPr lvl="1"/>
            <a:r>
              <a:rPr lang="zh-TW" altLang="en-US" sz="2400" dirty="0"/>
              <a:t>發行成本低</a:t>
            </a:r>
          </a:p>
          <a:p>
            <a:pPr lvl="2"/>
            <a:r>
              <a:rPr lang="zh-TW" altLang="en-US" sz="2000" dirty="0"/>
              <a:t>公司與金融機構貸款只需要雙方直接協定，不用另行告知投資大眾，沒額外發行成本</a:t>
            </a:r>
          </a:p>
          <a:p>
            <a:pPr lvl="1"/>
            <a:r>
              <a:rPr lang="zh-TW" altLang="en-US" sz="2400" dirty="0"/>
              <a:t>速度快</a:t>
            </a:r>
          </a:p>
          <a:p>
            <a:pPr lvl="2"/>
            <a:r>
              <a:rPr lang="zh-TW" altLang="en-US" sz="2000" dirty="0"/>
              <a:t>不用經過相關機關審核的繁複手續</a:t>
            </a:r>
          </a:p>
          <a:p>
            <a:pPr lvl="1"/>
            <a:r>
              <a:rPr lang="zh-TW" altLang="en-US" sz="2400" dirty="0"/>
              <a:t>具有彈性</a:t>
            </a:r>
          </a:p>
          <a:p>
            <a:pPr lvl="2"/>
            <a:r>
              <a:rPr lang="zh-TW" altLang="en-US" sz="2000" dirty="0"/>
              <a:t>雙方直接協定，一些附加條款與貸款則也由雙方決議，未來契約內容變更也不需要投資人同意，僅需貸款機構同意即可</a:t>
            </a:r>
          </a:p>
          <a:p>
            <a:r>
              <a:rPr lang="zh-TW" altLang="en-US" sz="2800" dirty="0"/>
              <a:t>金融機構會先進行徵信調查，因此信用優良的企業才能爭取到比一般企業更低的貸款利率</a:t>
            </a:r>
          </a:p>
          <a:p>
            <a:endParaRPr lang="zh-TW" altLang="en-US" dirty="0"/>
          </a:p>
        </p:txBody>
      </p:sp>
    </p:spTree>
    <p:extLst>
      <p:ext uri="{BB962C8B-B14F-4D97-AF65-F5344CB8AC3E}">
        <p14:creationId xmlns:p14="http://schemas.microsoft.com/office/powerpoint/2010/main" val="17265814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sz="3600" dirty="0"/>
              <a:t>長期融資</a:t>
            </a:r>
            <a:r>
              <a:rPr lang="en-US" altLang="zh-TW" sz="3600" dirty="0"/>
              <a:t>-</a:t>
            </a:r>
            <a:r>
              <a:rPr lang="zh-TW" altLang="en-US" sz="3600" dirty="0"/>
              <a:t>長期融資工具</a:t>
            </a:r>
            <a:r>
              <a:rPr lang="en-US" altLang="zh-TW" sz="3600" dirty="0" smtClean="0"/>
              <a:t>(</a:t>
            </a:r>
            <a:r>
              <a:rPr lang="zh-TW" altLang="en-US" sz="3600" dirty="0" smtClean="0"/>
              <a:t>可轉換公司債</a:t>
            </a:r>
            <a:r>
              <a:rPr lang="en-US" altLang="zh-TW" sz="3600" dirty="0" smtClean="0"/>
              <a:t>)</a:t>
            </a:r>
            <a:endParaRPr lang="zh-TW" altLang="en-US" sz="3600" dirty="0"/>
          </a:p>
        </p:txBody>
      </p:sp>
      <p:sp>
        <p:nvSpPr>
          <p:cNvPr id="3" name="內容版面配置區 2"/>
          <p:cNvSpPr>
            <a:spLocks noGrp="1"/>
          </p:cNvSpPr>
          <p:nvPr>
            <p:ph idx="1"/>
          </p:nvPr>
        </p:nvSpPr>
        <p:spPr/>
        <p:txBody>
          <a:bodyPr/>
          <a:lstStyle/>
          <a:p>
            <a:r>
              <a:rPr lang="zh-TW" altLang="en-US" dirty="0"/>
              <a:t>可轉換</a:t>
            </a:r>
            <a:r>
              <a:rPr lang="zh-TW" altLang="en-US" dirty="0" smtClean="0"/>
              <a:t>公司債指公司債</a:t>
            </a:r>
            <a:r>
              <a:rPr lang="zh-TW" altLang="en-US" dirty="0"/>
              <a:t>附有可轉換為普通股的權利</a:t>
            </a:r>
          </a:p>
          <a:p>
            <a:r>
              <a:rPr lang="zh-TW" altLang="en-US" dirty="0"/>
              <a:t>得在特定期間內</a:t>
            </a:r>
            <a:r>
              <a:rPr lang="zh-TW" altLang="en-US" dirty="0" smtClean="0"/>
              <a:t>，以事先</a:t>
            </a:r>
            <a:r>
              <a:rPr lang="zh-TW" altLang="en-US" dirty="0"/>
              <a:t>約定好的比率，將公司債券轉為發行公司的普通股</a:t>
            </a:r>
          </a:p>
          <a:p>
            <a:r>
              <a:rPr lang="zh-TW" altLang="en-US" dirty="0"/>
              <a:t>若未來發行公司的股價越高，則投資者就有誘因將手中的公司債轉換為普通股</a:t>
            </a:r>
          </a:p>
        </p:txBody>
      </p:sp>
    </p:spTree>
    <p:extLst>
      <p:ext uri="{BB962C8B-B14F-4D97-AF65-F5344CB8AC3E}">
        <p14:creationId xmlns:p14="http://schemas.microsoft.com/office/powerpoint/2010/main" val="26982732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可轉換公司債的優缺點</a:t>
            </a:r>
            <a:endParaRPr lang="zh-TW" altLang="en-US" dirty="0"/>
          </a:p>
        </p:txBody>
      </p:sp>
      <p:sp>
        <p:nvSpPr>
          <p:cNvPr id="3" name="內容版面配置區 2"/>
          <p:cNvSpPr>
            <a:spLocks noGrp="1"/>
          </p:cNvSpPr>
          <p:nvPr>
            <p:ph idx="1"/>
          </p:nvPr>
        </p:nvSpPr>
        <p:spPr/>
        <p:txBody>
          <a:bodyPr/>
          <a:lstStyle/>
          <a:p>
            <a:r>
              <a:rPr lang="zh-TW" altLang="en-US" dirty="0" smtClean="0"/>
              <a:t>優點：</a:t>
            </a:r>
            <a:endParaRPr lang="en-US" altLang="zh-TW" dirty="0" smtClean="0"/>
          </a:p>
          <a:p>
            <a:pPr lvl="1"/>
            <a:r>
              <a:rPr lang="zh-TW" altLang="en-US" dirty="0" smtClean="0"/>
              <a:t>延遲發行普通股</a:t>
            </a:r>
            <a:endParaRPr lang="en-US" altLang="zh-TW" dirty="0" smtClean="0"/>
          </a:p>
          <a:p>
            <a:pPr lvl="1"/>
            <a:r>
              <a:rPr lang="zh-TW" altLang="en-US" dirty="0"/>
              <a:t>利息較直接舉債來的低</a:t>
            </a:r>
            <a:endParaRPr lang="en-US" altLang="zh-TW" dirty="0" smtClean="0"/>
          </a:p>
          <a:p>
            <a:r>
              <a:rPr lang="zh-TW" altLang="en-US" dirty="0" smtClean="0"/>
              <a:t>缺點：</a:t>
            </a:r>
            <a:endParaRPr lang="en-US" altLang="zh-TW" dirty="0" smtClean="0"/>
          </a:p>
          <a:p>
            <a:pPr lvl="1"/>
            <a:r>
              <a:rPr lang="zh-TW" altLang="en-US" dirty="0" smtClean="0"/>
              <a:t>轉換後稀釋了原有股權以及原有</a:t>
            </a:r>
            <a:r>
              <a:rPr lang="en-US" altLang="zh-TW" dirty="0" smtClean="0"/>
              <a:t>EPS</a:t>
            </a:r>
          </a:p>
          <a:p>
            <a:pPr lvl="1"/>
            <a:r>
              <a:rPr lang="zh-TW" altLang="en-US" dirty="0" smtClean="0"/>
              <a:t>由於利息減少，稅盾效果降低</a:t>
            </a:r>
            <a:endParaRPr lang="en-US" altLang="zh-TW" dirty="0" smtClean="0"/>
          </a:p>
          <a:p>
            <a:pPr lvl="1"/>
            <a:r>
              <a:rPr lang="zh-TW" altLang="en-US" dirty="0"/>
              <a:t>無法確定何時換</a:t>
            </a:r>
            <a:r>
              <a:rPr lang="zh-TW" altLang="en-US" dirty="0" smtClean="0"/>
              <a:t>股，掌握現金流量較為困難</a:t>
            </a:r>
            <a:endParaRPr lang="zh-TW" altLang="en-US" dirty="0"/>
          </a:p>
        </p:txBody>
      </p:sp>
    </p:spTree>
    <p:extLst>
      <p:ext uri="{BB962C8B-B14F-4D97-AF65-F5344CB8AC3E}">
        <p14:creationId xmlns:p14="http://schemas.microsoft.com/office/powerpoint/2010/main" val="353799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長期融資</a:t>
            </a:r>
            <a:r>
              <a:rPr lang="en-US" altLang="zh-TW" dirty="0"/>
              <a:t>-</a:t>
            </a:r>
            <a:r>
              <a:rPr lang="zh-TW" altLang="en-US" dirty="0"/>
              <a:t>長期融資工具</a:t>
            </a:r>
            <a:r>
              <a:rPr lang="en-US" altLang="zh-TW" dirty="0" smtClean="0"/>
              <a:t>(</a:t>
            </a:r>
            <a:r>
              <a:rPr lang="zh-TW" altLang="en-US" dirty="0"/>
              <a:t>租賃</a:t>
            </a:r>
            <a:r>
              <a:rPr lang="en-US" altLang="zh-TW" dirty="0" smtClean="0"/>
              <a:t>)</a:t>
            </a:r>
            <a:endParaRPr lang="zh-TW" altLang="en-US" dirty="0"/>
          </a:p>
        </p:txBody>
      </p:sp>
      <p:sp>
        <p:nvSpPr>
          <p:cNvPr id="3" name="內容版面配置區 2"/>
          <p:cNvSpPr>
            <a:spLocks noGrp="1"/>
          </p:cNvSpPr>
          <p:nvPr>
            <p:ph idx="1"/>
          </p:nvPr>
        </p:nvSpPr>
        <p:spPr/>
        <p:txBody>
          <a:bodyPr/>
          <a:lstStyle/>
          <a:p>
            <a:r>
              <a:rPr lang="zh-TW" altLang="en-US" dirty="0"/>
              <a:t>租賃指經由契約協議，出租人提供其資產與承租人使用，而承租人支付租金給出租人的交易行為</a:t>
            </a:r>
          </a:p>
          <a:p>
            <a:r>
              <a:rPr lang="zh-TW" altLang="en-US" dirty="0"/>
              <a:t>常見的有：土地、廠房、機器、設備</a:t>
            </a:r>
            <a:r>
              <a:rPr lang="en-US" altLang="zh-TW" dirty="0"/>
              <a:t>…</a:t>
            </a:r>
          </a:p>
          <a:p>
            <a:endParaRPr lang="zh-TW" altLang="en-US" dirty="0"/>
          </a:p>
        </p:txBody>
      </p:sp>
    </p:spTree>
    <p:extLst>
      <p:ext uri="{BB962C8B-B14F-4D97-AF65-F5344CB8AC3E}">
        <p14:creationId xmlns:p14="http://schemas.microsoft.com/office/powerpoint/2010/main" val="21804406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租賃的分類</a:t>
            </a:r>
            <a:endParaRPr lang="zh-TW" altLang="en-US" dirty="0"/>
          </a:p>
        </p:txBody>
      </p:sp>
      <p:sp>
        <p:nvSpPr>
          <p:cNvPr id="3" name="內容版面配置區 2"/>
          <p:cNvSpPr>
            <a:spLocks noGrp="1"/>
          </p:cNvSpPr>
          <p:nvPr>
            <p:ph idx="1"/>
          </p:nvPr>
        </p:nvSpPr>
        <p:spPr/>
        <p:txBody>
          <a:bodyPr/>
          <a:lstStyle/>
          <a:p>
            <a:pPr>
              <a:lnSpc>
                <a:spcPct val="80000"/>
              </a:lnSpc>
            </a:pPr>
            <a:r>
              <a:rPr lang="zh-TW" altLang="en-US" sz="2000" dirty="0"/>
              <a:t>營業租賃</a:t>
            </a:r>
          </a:p>
          <a:p>
            <a:pPr lvl="1">
              <a:lnSpc>
                <a:spcPct val="80000"/>
              </a:lnSpc>
            </a:pPr>
            <a:r>
              <a:rPr lang="zh-TW" altLang="en-US" sz="1800" dirty="0"/>
              <a:t>承租人只使用設備使用年限的一部份時間，在期間設備仍由出租人負責維修</a:t>
            </a:r>
          </a:p>
          <a:p>
            <a:pPr lvl="1">
              <a:lnSpc>
                <a:spcPct val="80000"/>
              </a:lnSpc>
            </a:pPr>
            <a:r>
              <a:rPr lang="zh-TW" altLang="en-US" sz="1800" dirty="0"/>
              <a:t>承租期間通常比設備使用年限短</a:t>
            </a:r>
          </a:p>
          <a:p>
            <a:pPr>
              <a:lnSpc>
                <a:spcPct val="80000"/>
              </a:lnSpc>
            </a:pPr>
            <a:r>
              <a:rPr lang="zh-TW" altLang="en-US" sz="2000" dirty="0"/>
              <a:t>融資租賃</a:t>
            </a:r>
          </a:p>
          <a:p>
            <a:pPr lvl="1">
              <a:lnSpc>
                <a:spcPct val="80000"/>
              </a:lnSpc>
            </a:pPr>
            <a:r>
              <a:rPr lang="zh-TW" altLang="en-US" sz="1800" dirty="0"/>
              <a:t>與</a:t>
            </a:r>
            <a:r>
              <a:rPr lang="zh-TW" altLang="en-US" sz="1800" dirty="0" smtClean="0"/>
              <a:t>分期付款取得</a:t>
            </a:r>
            <a:r>
              <a:rPr lang="zh-TW" altLang="en-US" sz="1800" dirty="0"/>
              <a:t>設備的意義相同，在租約到期時，承租人有承購權，可以依事先約定</a:t>
            </a:r>
            <a:r>
              <a:rPr lang="zh-TW" altLang="en-US" sz="1800" dirty="0" smtClean="0"/>
              <a:t>價格購買</a:t>
            </a:r>
            <a:endParaRPr lang="zh-TW" altLang="en-US" sz="1800" dirty="0"/>
          </a:p>
          <a:p>
            <a:pPr lvl="1">
              <a:lnSpc>
                <a:spcPct val="80000"/>
              </a:lnSpc>
            </a:pPr>
            <a:r>
              <a:rPr lang="zh-TW" altLang="en-US" sz="1800" dirty="0"/>
              <a:t>通常將租金現值設定為租賃資產的價格</a:t>
            </a:r>
            <a:r>
              <a:rPr lang="en-US" altLang="zh-TW" sz="1800" dirty="0"/>
              <a:t>(</a:t>
            </a:r>
            <a:r>
              <a:rPr lang="zh-TW" altLang="en-US" sz="1800" dirty="0"/>
              <a:t>完全攤銷</a:t>
            </a:r>
            <a:r>
              <a:rPr lang="en-US" altLang="zh-TW" sz="1800" dirty="0"/>
              <a:t>)</a:t>
            </a:r>
          </a:p>
          <a:p>
            <a:pPr lvl="1">
              <a:lnSpc>
                <a:spcPct val="80000"/>
              </a:lnSpc>
            </a:pPr>
            <a:r>
              <a:rPr lang="zh-TW" altLang="en-US" sz="1800" dirty="0"/>
              <a:t>承租期間通常與使用期間等長</a:t>
            </a:r>
          </a:p>
          <a:p>
            <a:pPr lvl="1">
              <a:lnSpc>
                <a:spcPct val="80000"/>
              </a:lnSpc>
            </a:pPr>
            <a:r>
              <a:rPr lang="zh-TW" altLang="en-US" sz="1800" dirty="0"/>
              <a:t>承租期間的維修由承租人自行負擔</a:t>
            </a:r>
          </a:p>
          <a:p>
            <a:pPr>
              <a:lnSpc>
                <a:spcPct val="80000"/>
              </a:lnSpc>
            </a:pPr>
            <a:r>
              <a:rPr lang="zh-TW" altLang="en-US" sz="2000" dirty="0"/>
              <a:t>售後租回</a:t>
            </a:r>
          </a:p>
          <a:p>
            <a:pPr lvl="1">
              <a:lnSpc>
                <a:spcPct val="80000"/>
              </a:lnSpc>
            </a:pPr>
            <a:r>
              <a:rPr lang="zh-TW" altLang="en-US" sz="1800" dirty="0"/>
              <a:t>公司將其擁有的土地、建築物或設備賣給租賃公司，同時簽約以特定條件再某一時間租用該資產</a:t>
            </a:r>
          </a:p>
          <a:p>
            <a:pPr lvl="1">
              <a:lnSpc>
                <a:spcPct val="80000"/>
              </a:lnSpc>
            </a:pPr>
            <a:r>
              <a:rPr lang="zh-TW" altLang="en-US" sz="1800" dirty="0"/>
              <a:t>承租人出售資產能馬上取得資金</a:t>
            </a:r>
          </a:p>
          <a:p>
            <a:pPr lvl="1">
              <a:lnSpc>
                <a:spcPct val="80000"/>
              </a:lnSpc>
            </a:pPr>
            <a:r>
              <a:rPr lang="zh-TW" altLang="en-US" sz="1800" dirty="0"/>
              <a:t>承租人定期支付租金，仍保有資產的使用權</a:t>
            </a:r>
          </a:p>
          <a:p>
            <a:pPr lvl="1">
              <a:lnSpc>
                <a:spcPct val="80000"/>
              </a:lnSpc>
            </a:pPr>
            <a:r>
              <a:rPr lang="zh-TW" altLang="en-US" sz="1800" dirty="0"/>
              <a:t>可視為融資租賃的特殊型態</a:t>
            </a:r>
          </a:p>
          <a:p>
            <a:endParaRPr lang="zh-TW" altLang="en-US" dirty="0"/>
          </a:p>
        </p:txBody>
      </p:sp>
    </p:spTree>
    <p:extLst>
      <p:ext uri="{BB962C8B-B14F-4D97-AF65-F5344CB8AC3E}">
        <p14:creationId xmlns:p14="http://schemas.microsoft.com/office/powerpoint/2010/main" val="30507718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租賃的優缺點</a:t>
            </a:r>
            <a:endParaRPr lang="zh-TW" altLang="en-US" dirty="0"/>
          </a:p>
        </p:txBody>
      </p:sp>
      <p:sp>
        <p:nvSpPr>
          <p:cNvPr id="3" name="內容版面配置區 2"/>
          <p:cNvSpPr>
            <a:spLocks noGrp="1"/>
          </p:cNvSpPr>
          <p:nvPr>
            <p:ph idx="1"/>
          </p:nvPr>
        </p:nvSpPr>
        <p:spPr/>
        <p:txBody>
          <a:bodyPr>
            <a:normAutofit fontScale="92500" lnSpcReduction="20000"/>
          </a:bodyPr>
          <a:lstStyle/>
          <a:p>
            <a:r>
              <a:rPr lang="zh-TW" altLang="en-US" dirty="0" smtClean="0"/>
              <a:t>優點：</a:t>
            </a:r>
            <a:endParaRPr lang="en-US" altLang="zh-TW" dirty="0" smtClean="0"/>
          </a:p>
          <a:p>
            <a:pPr lvl="1"/>
            <a:r>
              <a:rPr lang="zh-TW" altLang="en-US" dirty="0"/>
              <a:t>只需定期支付租金，</a:t>
            </a:r>
            <a:r>
              <a:rPr lang="zh-TW" altLang="en-US" dirty="0" smtClean="0"/>
              <a:t>公司保有</a:t>
            </a:r>
            <a:r>
              <a:rPr lang="zh-TW" altLang="en-US" dirty="0"/>
              <a:t>較多的營運</a:t>
            </a:r>
            <a:r>
              <a:rPr lang="zh-TW" altLang="en-US" dirty="0" smtClean="0"/>
              <a:t>資金</a:t>
            </a:r>
            <a:endParaRPr lang="en-US" altLang="zh-TW" dirty="0" smtClean="0"/>
          </a:p>
          <a:p>
            <a:pPr lvl="1"/>
            <a:r>
              <a:rPr lang="zh-TW" altLang="en-US" dirty="0"/>
              <a:t>公司以擔保定期貸款融資方式購買資產時，通常貸款額度是資產的某一成數，若以租賃方式，期初無需支付任何款項即可開始</a:t>
            </a:r>
            <a:r>
              <a:rPr lang="zh-TW" altLang="en-US" dirty="0" smtClean="0"/>
              <a:t>使用</a:t>
            </a:r>
            <a:endParaRPr lang="en-US" altLang="zh-TW" dirty="0" smtClean="0"/>
          </a:p>
          <a:p>
            <a:pPr lvl="1"/>
            <a:r>
              <a:rPr lang="zh-TW" altLang="en-US" dirty="0"/>
              <a:t>貸款可能有些限制條款，若使用租賃，可免除限制條款的束縛，較有</a:t>
            </a:r>
            <a:r>
              <a:rPr lang="zh-TW" altLang="en-US" dirty="0" smtClean="0"/>
              <a:t>彈性</a:t>
            </a:r>
            <a:endParaRPr lang="en-US" altLang="zh-TW" dirty="0" smtClean="0"/>
          </a:p>
          <a:p>
            <a:r>
              <a:rPr lang="zh-TW" altLang="en-US" dirty="0"/>
              <a:t>缺點</a:t>
            </a:r>
            <a:r>
              <a:rPr lang="zh-TW" altLang="en-US" dirty="0" smtClean="0"/>
              <a:t>：</a:t>
            </a:r>
            <a:endParaRPr lang="en-US" altLang="zh-TW" dirty="0" smtClean="0"/>
          </a:p>
          <a:p>
            <a:pPr lvl="1"/>
            <a:r>
              <a:rPr lang="zh-TW" altLang="en-US" dirty="0"/>
              <a:t>一般來說承租人承租資產所要付出的租金比直接購買設備的成本高</a:t>
            </a:r>
          </a:p>
          <a:p>
            <a:pPr lvl="1"/>
            <a:r>
              <a:rPr lang="zh-TW" altLang="en-US" dirty="0"/>
              <a:t>資產若有增值潛力</a:t>
            </a:r>
            <a:r>
              <a:rPr lang="en-US" altLang="zh-TW" dirty="0"/>
              <a:t>(</a:t>
            </a:r>
            <a:r>
              <a:rPr lang="zh-TW" altLang="en-US" dirty="0"/>
              <a:t>土地、建築</a:t>
            </a:r>
            <a:r>
              <a:rPr lang="en-US" altLang="zh-TW" dirty="0"/>
              <a:t>)</a:t>
            </a:r>
            <a:r>
              <a:rPr lang="zh-TW" altLang="en-US" dirty="0"/>
              <a:t>，用租賃的方式將沒辦法享受資產增值的利益</a:t>
            </a:r>
          </a:p>
          <a:p>
            <a:pPr lvl="1"/>
            <a:endParaRPr lang="zh-TW" altLang="en-US" dirty="0"/>
          </a:p>
        </p:txBody>
      </p:sp>
    </p:spTree>
    <p:extLst>
      <p:ext uri="{BB962C8B-B14F-4D97-AF65-F5344CB8AC3E}">
        <p14:creationId xmlns:p14="http://schemas.microsoft.com/office/powerpoint/2010/main" val="278661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長期</a:t>
            </a:r>
            <a:r>
              <a:rPr lang="zh-TW" altLang="en-US" dirty="0" smtClean="0"/>
              <a:t>融資</a:t>
            </a:r>
            <a:r>
              <a:rPr lang="en-US" altLang="zh-TW" dirty="0" smtClean="0"/>
              <a:t>-</a:t>
            </a:r>
            <a:r>
              <a:rPr lang="zh-TW" altLang="en-US" dirty="0" smtClean="0"/>
              <a:t>影響長期融資決策的因素</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smtClean="0"/>
              <a:t>基本原則：選擇成本最低的方式。</a:t>
            </a:r>
            <a:endParaRPr lang="en-US" altLang="zh-TW" dirty="0"/>
          </a:p>
          <a:p>
            <a:r>
              <a:rPr lang="zh-TW" altLang="en-US" dirty="0" smtClean="0"/>
              <a:t>融資順序理論</a:t>
            </a:r>
            <a:r>
              <a:rPr lang="en-US" altLang="zh-TW" dirty="0" smtClean="0"/>
              <a:t>(Pecking</a:t>
            </a:r>
            <a:r>
              <a:rPr lang="zh-TW" altLang="en-US" dirty="0" smtClean="0"/>
              <a:t> </a:t>
            </a:r>
            <a:r>
              <a:rPr lang="en-US" altLang="zh-TW" dirty="0" smtClean="0"/>
              <a:t>Order</a:t>
            </a:r>
            <a:r>
              <a:rPr lang="zh-TW" altLang="en-US" dirty="0" smtClean="0"/>
              <a:t> </a:t>
            </a:r>
            <a:r>
              <a:rPr lang="en-US" altLang="zh-TW" dirty="0" smtClean="0"/>
              <a:t>Theory)</a:t>
            </a:r>
            <a:r>
              <a:rPr lang="zh-TW" altLang="en-US" dirty="0" smtClean="0"/>
              <a:t>：</a:t>
            </a:r>
            <a:endParaRPr lang="en-US" altLang="zh-TW" dirty="0" smtClean="0"/>
          </a:p>
          <a:p>
            <a:pPr lvl="1"/>
            <a:r>
              <a:rPr lang="zh-TW" altLang="en-US" dirty="0"/>
              <a:t>自有資金融資 </a:t>
            </a:r>
            <a:r>
              <a:rPr lang="en-US" altLang="zh-TW" dirty="0"/>
              <a:t>&gt;</a:t>
            </a:r>
            <a:r>
              <a:rPr lang="zh-TW" altLang="en-US" dirty="0"/>
              <a:t> 舉債融資 </a:t>
            </a:r>
            <a:r>
              <a:rPr lang="en-US" altLang="zh-TW" dirty="0"/>
              <a:t>&gt;</a:t>
            </a:r>
            <a:r>
              <a:rPr lang="zh-TW" altLang="en-US" dirty="0"/>
              <a:t> 發行普通股</a:t>
            </a:r>
            <a:r>
              <a:rPr lang="zh-TW" altLang="en-US" dirty="0" smtClean="0"/>
              <a:t>融資</a:t>
            </a:r>
            <a:endParaRPr lang="en-US" altLang="zh-TW" dirty="0"/>
          </a:p>
          <a:p>
            <a:r>
              <a:rPr lang="zh-TW" altLang="en-US" dirty="0" smtClean="0"/>
              <a:t>但實務上還有許多因素會影響融資政策：</a:t>
            </a:r>
            <a:endParaRPr lang="en-US" altLang="zh-TW" dirty="0" smtClean="0"/>
          </a:p>
          <a:p>
            <a:pPr lvl="1"/>
            <a:r>
              <a:rPr lang="zh-TW" altLang="en-US" dirty="0"/>
              <a:t>最適目標資本</a:t>
            </a:r>
            <a:r>
              <a:rPr lang="zh-TW" altLang="en-US" dirty="0" smtClean="0"/>
              <a:t>結構</a:t>
            </a:r>
            <a:endParaRPr lang="en-US" altLang="zh-TW" dirty="0" smtClean="0"/>
          </a:p>
          <a:p>
            <a:pPr lvl="1"/>
            <a:r>
              <a:rPr lang="zh-TW" altLang="en-US" dirty="0"/>
              <a:t>加權平均到期期間的</a:t>
            </a:r>
            <a:r>
              <a:rPr lang="zh-TW" altLang="en-US" dirty="0" smtClean="0"/>
              <a:t>配合</a:t>
            </a:r>
            <a:endParaRPr lang="en-US" altLang="zh-TW" dirty="0" smtClean="0"/>
          </a:p>
          <a:p>
            <a:pPr lvl="1"/>
            <a:r>
              <a:rPr lang="zh-TW" altLang="en-US" dirty="0"/>
              <a:t>目前利率水準以及對利率的</a:t>
            </a:r>
            <a:r>
              <a:rPr lang="zh-TW" altLang="en-US" dirty="0" smtClean="0"/>
              <a:t>預測</a:t>
            </a:r>
            <a:endParaRPr lang="en-US" altLang="zh-TW" dirty="0" smtClean="0"/>
          </a:p>
          <a:p>
            <a:pPr lvl="1"/>
            <a:r>
              <a:rPr lang="zh-TW" altLang="en-US" dirty="0"/>
              <a:t>公司目前財務狀況以及未來</a:t>
            </a:r>
            <a:r>
              <a:rPr lang="zh-TW" altLang="en-US" dirty="0" smtClean="0"/>
              <a:t>預測</a:t>
            </a:r>
            <a:endParaRPr lang="en-US" altLang="zh-TW" dirty="0" smtClean="0"/>
          </a:p>
          <a:p>
            <a:pPr lvl="1"/>
            <a:r>
              <a:rPr lang="zh-TW" altLang="en-US" dirty="0"/>
              <a:t>負債契約的限制條款</a:t>
            </a:r>
            <a:endParaRPr lang="en-US" altLang="zh-TW" dirty="0" smtClean="0"/>
          </a:p>
        </p:txBody>
      </p:sp>
    </p:spTree>
    <p:extLst>
      <p:ext uri="{BB962C8B-B14F-4D97-AF65-F5344CB8AC3E}">
        <p14:creationId xmlns:p14="http://schemas.microsoft.com/office/powerpoint/2010/main" val="26920571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4000" dirty="0">
                <a:solidFill>
                  <a:prstClr val="black"/>
                </a:solidFill>
              </a:rPr>
              <a:t>長期融資</a:t>
            </a:r>
            <a:r>
              <a:rPr lang="en-US" altLang="zh-TW" sz="4000" dirty="0">
                <a:solidFill>
                  <a:prstClr val="black"/>
                </a:solidFill>
              </a:rPr>
              <a:t>-</a:t>
            </a:r>
            <a:r>
              <a:rPr lang="zh-TW" altLang="en-US" sz="4000" dirty="0">
                <a:solidFill>
                  <a:prstClr val="black"/>
                </a:solidFill>
              </a:rPr>
              <a:t>影響長期融資決策的因素</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smtClean="0"/>
              <a:t>(</a:t>
            </a:r>
            <a:r>
              <a:rPr lang="zh-TW" altLang="en-US" dirty="0" smtClean="0"/>
              <a:t>一</a:t>
            </a:r>
            <a:r>
              <a:rPr lang="en-US" altLang="zh-TW" dirty="0" smtClean="0"/>
              <a:t>)</a:t>
            </a:r>
            <a:r>
              <a:rPr lang="zh-TW" altLang="en-US" dirty="0" smtClean="0"/>
              <a:t>最適目標資本結構：</a:t>
            </a:r>
            <a:endParaRPr lang="en-US" altLang="zh-TW" dirty="0" smtClean="0"/>
          </a:p>
          <a:p>
            <a:pPr marL="457200" lvl="1" indent="0">
              <a:buNone/>
            </a:pPr>
            <a:r>
              <a:rPr lang="zh-TW" altLang="en-US" dirty="0"/>
              <a:t>目標資本結構</a:t>
            </a:r>
            <a:r>
              <a:rPr lang="zh-TW" altLang="en-US" dirty="0" smtClean="0"/>
              <a:t>為能將公司</a:t>
            </a:r>
            <a:r>
              <a:rPr lang="zh-TW" altLang="en-US" dirty="0"/>
              <a:t>價值最大化的資本</a:t>
            </a:r>
            <a:r>
              <a:rPr lang="zh-TW" altLang="en-US" dirty="0" smtClean="0"/>
              <a:t>結構，決定公司長期融資政策時，以實際資本結構和目標資本結構配合為前提，選擇最低加權平均資金成本融資。</a:t>
            </a:r>
            <a:endParaRPr lang="en-US" altLang="zh-TW" dirty="0" smtClean="0"/>
          </a:p>
          <a:p>
            <a:pPr marL="0" indent="0">
              <a:buNone/>
            </a:pPr>
            <a:r>
              <a:rPr lang="en-US" altLang="zh-TW" b="1" dirty="0" smtClean="0"/>
              <a:t>	WACC </a:t>
            </a:r>
            <a:r>
              <a:rPr lang="en-US" altLang="zh-TW" b="1" dirty="0"/>
              <a:t>= ( </a:t>
            </a:r>
            <a:r>
              <a:rPr lang="zh-TW" altLang="en-US" b="1" dirty="0"/>
              <a:t>負債權重*負債成本 </a:t>
            </a:r>
            <a:r>
              <a:rPr lang="en-US" altLang="zh-TW" b="1" dirty="0"/>
              <a:t>)*( 1</a:t>
            </a:r>
            <a:r>
              <a:rPr lang="zh-TW" altLang="en-US" b="1" dirty="0"/>
              <a:t>－稅率 </a:t>
            </a:r>
            <a:r>
              <a:rPr lang="en-US" altLang="zh-TW" b="1" dirty="0"/>
              <a:t>)  </a:t>
            </a:r>
            <a:endParaRPr lang="zh-TW" altLang="en-US" dirty="0"/>
          </a:p>
          <a:p>
            <a:pPr marL="0" indent="0">
              <a:buNone/>
            </a:pPr>
            <a:r>
              <a:rPr lang="zh-TW" altLang="en-US" b="1" dirty="0" smtClean="0"/>
              <a:t> </a:t>
            </a:r>
            <a:r>
              <a:rPr lang="en-US" altLang="zh-TW" b="1" dirty="0" smtClean="0"/>
              <a:t>	+ </a:t>
            </a:r>
            <a:r>
              <a:rPr lang="zh-TW" altLang="en-US" b="1" dirty="0"/>
              <a:t>（普通股權重 * 權益成本 ）</a:t>
            </a:r>
            <a:endParaRPr lang="zh-TW" altLang="en-US" dirty="0"/>
          </a:p>
          <a:p>
            <a:pPr marL="0" indent="0">
              <a:buNone/>
            </a:pPr>
            <a:r>
              <a:rPr lang="zh-TW" altLang="en-US" b="1" dirty="0"/>
              <a:t>  </a:t>
            </a:r>
            <a:r>
              <a:rPr lang="en-US" altLang="zh-TW" b="1" dirty="0" smtClean="0"/>
              <a:t>	+ </a:t>
            </a:r>
            <a:r>
              <a:rPr lang="zh-TW" altLang="en-US" b="1" dirty="0"/>
              <a:t>（特別股權重 * 特別股成本）</a:t>
            </a:r>
            <a:endParaRPr lang="zh-TW" altLang="en-US" dirty="0"/>
          </a:p>
          <a:p>
            <a:pPr marL="0" indent="0">
              <a:buNone/>
            </a:pPr>
            <a:r>
              <a:rPr lang="zh-TW" altLang="en-US" b="1" dirty="0"/>
              <a:t>  </a:t>
            </a:r>
            <a:r>
              <a:rPr lang="en-US" altLang="zh-TW" b="1" dirty="0" smtClean="0"/>
              <a:t>	+ </a:t>
            </a:r>
            <a:r>
              <a:rPr lang="zh-TW" altLang="en-US" b="1" dirty="0"/>
              <a:t>（可轉換公司債權重 * 可轉換公司債成本</a:t>
            </a:r>
            <a:r>
              <a:rPr lang="zh-TW" altLang="en-US" b="1" dirty="0" smtClean="0"/>
              <a:t>）</a:t>
            </a:r>
            <a:endParaRPr lang="en-US" altLang="zh-TW" dirty="0" smtClean="0"/>
          </a:p>
          <a:p>
            <a:pPr marL="457200" lvl="1" indent="0">
              <a:buNone/>
            </a:pPr>
            <a:endParaRPr lang="en-US" altLang="zh-TW" dirty="0"/>
          </a:p>
          <a:p>
            <a:pPr marL="457200" lvl="1" indent="0">
              <a:buNone/>
            </a:pPr>
            <a:r>
              <a:rPr lang="zh-TW" altLang="en-US" dirty="0" smtClean="0"/>
              <a:t>實際上公司資本結構無法維持在目標資本結構上，為求公司、股東財富最大化，經理人的應將實際資本結構和目標的偏離程度盡可能降至最低。</a:t>
            </a:r>
            <a:endParaRPr lang="zh-TW" altLang="en-US" dirty="0"/>
          </a:p>
        </p:txBody>
      </p:sp>
    </p:spTree>
    <p:extLst>
      <p:ext uri="{BB962C8B-B14F-4D97-AF65-F5344CB8AC3E}">
        <p14:creationId xmlns:p14="http://schemas.microsoft.com/office/powerpoint/2010/main" val="8887824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4000" dirty="0">
                <a:solidFill>
                  <a:prstClr val="black"/>
                </a:solidFill>
              </a:rPr>
              <a:t>長期融資</a:t>
            </a:r>
            <a:r>
              <a:rPr lang="en-US" altLang="zh-TW" sz="4000" dirty="0">
                <a:solidFill>
                  <a:prstClr val="black"/>
                </a:solidFill>
              </a:rPr>
              <a:t>-</a:t>
            </a:r>
            <a:r>
              <a:rPr lang="zh-TW" altLang="en-US" sz="4000" dirty="0">
                <a:solidFill>
                  <a:prstClr val="black"/>
                </a:solidFill>
              </a:rPr>
              <a:t>影響長期融資決策的因素</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t>(</a:t>
            </a:r>
            <a:r>
              <a:rPr lang="zh-TW" altLang="en-US" dirty="0" smtClean="0"/>
              <a:t>二</a:t>
            </a:r>
            <a:r>
              <a:rPr lang="en-US" altLang="zh-TW" dirty="0" smtClean="0"/>
              <a:t>)</a:t>
            </a:r>
            <a:r>
              <a:rPr lang="zh-TW" altLang="en-US" dirty="0" smtClean="0"/>
              <a:t>加權平均到期期間：</a:t>
            </a:r>
            <a:endParaRPr lang="en-US" altLang="zh-TW" dirty="0" smtClean="0"/>
          </a:p>
          <a:p>
            <a:pPr lvl="1"/>
            <a:r>
              <a:rPr lang="zh-TW" altLang="en-US" dirty="0"/>
              <a:t>衡量資產價格對受利率影響程度的</a:t>
            </a:r>
            <a:r>
              <a:rPr lang="zh-TW" altLang="en-US" dirty="0" smtClean="0"/>
              <a:t>指標</a:t>
            </a:r>
            <a:endParaRPr lang="en-US" altLang="zh-TW" dirty="0" smtClean="0"/>
          </a:p>
          <a:p>
            <a:pPr lvl="1"/>
            <a:endParaRPr lang="en-US" altLang="zh-TW" dirty="0"/>
          </a:p>
          <a:p>
            <a:pPr lvl="1"/>
            <a:endParaRPr lang="en-US" altLang="zh-TW" dirty="0" smtClean="0"/>
          </a:p>
          <a:p>
            <a:pPr lvl="1"/>
            <a:endParaRPr lang="en-US" altLang="zh-TW" dirty="0"/>
          </a:p>
          <a:p>
            <a:pPr lvl="1"/>
            <a:endParaRPr lang="en-US" altLang="zh-TW" sz="2000" dirty="0" smtClean="0"/>
          </a:p>
          <a:p>
            <a:pPr lvl="1"/>
            <a:r>
              <a:rPr lang="en-US" altLang="zh-TW" sz="2000" dirty="0" smtClean="0"/>
              <a:t>t :	</a:t>
            </a:r>
            <a:r>
              <a:rPr lang="zh-TW" altLang="en-US" sz="2000" dirty="0" smtClean="0"/>
              <a:t>現金流量期間</a:t>
            </a:r>
            <a:endParaRPr lang="en-US" altLang="zh-TW" sz="2000" dirty="0" smtClean="0"/>
          </a:p>
          <a:p>
            <a:pPr lvl="1"/>
            <a:r>
              <a:rPr lang="en-US" altLang="zh-TW" sz="2000" dirty="0"/>
              <a:t>n</a:t>
            </a:r>
            <a:r>
              <a:rPr lang="en-US" altLang="zh-TW" sz="2000" dirty="0" smtClean="0"/>
              <a:t>:	</a:t>
            </a:r>
            <a:r>
              <a:rPr lang="zh-TW" altLang="en-US" sz="2000" dirty="0" smtClean="0"/>
              <a:t>到期期數</a:t>
            </a:r>
            <a:endParaRPr lang="en-US" altLang="zh-TW" sz="2000" dirty="0" smtClean="0"/>
          </a:p>
          <a:p>
            <a:pPr lvl="1"/>
            <a:r>
              <a:rPr lang="en-US" altLang="zh-TW" sz="2000" dirty="0" err="1" smtClean="0"/>
              <a:t>CFt</a:t>
            </a:r>
            <a:r>
              <a:rPr lang="en-US" altLang="zh-TW" sz="2000" dirty="0" smtClean="0"/>
              <a:t>:	</a:t>
            </a:r>
            <a:r>
              <a:rPr lang="zh-TW" altLang="en-US" sz="2000" dirty="0" smtClean="0"/>
              <a:t>第</a:t>
            </a:r>
            <a:r>
              <a:rPr lang="en-US" altLang="zh-TW" sz="2000" dirty="0" smtClean="0"/>
              <a:t>t</a:t>
            </a:r>
            <a:r>
              <a:rPr lang="zh-TW" altLang="en-US" sz="2000" dirty="0" smtClean="0"/>
              <a:t>期現金流量</a:t>
            </a:r>
            <a:endParaRPr lang="en-US" altLang="zh-TW" sz="2000" dirty="0" smtClean="0"/>
          </a:p>
          <a:p>
            <a:pPr lvl="1"/>
            <a:r>
              <a:rPr lang="en-US" altLang="zh-TW" sz="2000" dirty="0" smtClean="0"/>
              <a:t>PV:	</a:t>
            </a:r>
            <a:r>
              <a:rPr lang="zh-TW" altLang="en-US" sz="2000" dirty="0" smtClean="0"/>
              <a:t>資產現值</a:t>
            </a:r>
            <a:endParaRPr lang="en-US" altLang="zh-TW" sz="2000" dirty="0" smtClean="0"/>
          </a:p>
          <a:p>
            <a:pPr lvl="1"/>
            <a:r>
              <a:rPr lang="en-US" altLang="zh-TW" sz="2000" dirty="0"/>
              <a:t>r</a:t>
            </a:r>
            <a:r>
              <a:rPr lang="en-US" altLang="zh-TW" sz="2000" dirty="0" smtClean="0"/>
              <a:t>:		</a:t>
            </a:r>
            <a:r>
              <a:rPr lang="zh-TW" altLang="en-US" sz="2000" dirty="0" smtClean="0"/>
              <a:t>要求收益率</a:t>
            </a:r>
            <a:endParaRPr lang="en-US" altLang="zh-TW" sz="2000" dirty="0" smtClean="0"/>
          </a:p>
          <a:p>
            <a:pPr marL="457200" lvl="1" indent="0">
              <a:buNone/>
            </a:pPr>
            <a:endParaRPr lang="en-US" altLang="zh-TW" dirty="0" smtClean="0"/>
          </a:p>
        </p:txBody>
      </p:sp>
      <p:graphicFrame>
        <p:nvGraphicFramePr>
          <p:cNvPr id="4" name="物件 3"/>
          <p:cNvGraphicFramePr>
            <a:graphicFrameLocks noChangeAspect="1"/>
          </p:cNvGraphicFramePr>
          <p:nvPr>
            <p:extLst>
              <p:ext uri="{D42A27DB-BD31-4B8C-83A1-F6EECF244321}">
                <p14:modId xmlns:p14="http://schemas.microsoft.com/office/powerpoint/2010/main" val="2491702707"/>
              </p:ext>
            </p:extLst>
          </p:nvPr>
        </p:nvGraphicFramePr>
        <p:xfrm>
          <a:off x="2627784" y="2780928"/>
          <a:ext cx="3529013" cy="1525588"/>
        </p:xfrm>
        <a:graphic>
          <a:graphicData uri="http://schemas.openxmlformats.org/presentationml/2006/ole">
            <mc:AlternateContent xmlns:mc="http://schemas.openxmlformats.org/markup-compatibility/2006">
              <mc:Choice xmlns:v="urn:schemas-microsoft-com:vml" Requires="v">
                <p:oleObj spid="_x0000_s1046" name="方程式" r:id="rId3" imgW="1409400" imgH="609480" progId="Equation.3">
                  <p:embed/>
                </p:oleObj>
              </mc:Choice>
              <mc:Fallback>
                <p:oleObj name="方程式" r:id="rId3" imgW="1409400" imgH="609480" progId="Equation.3">
                  <p:embed/>
                  <p:pic>
                    <p:nvPicPr>
                      <p:cNvPr id="0" name="Object 6"/>
                      <p:cNvPicPr>
                        <a:picLocks noChangeAspect="1" noChangeArrowheads="1"/>
                      </p:cNvPicPr>
                      <p:nvPr/>
                    </p:nvPicPr>
                    <p:blipFill>
                      <a:blip r:embed="rId4"/>
                      <a:srcRect/>
                      <a:stretch>
                        <a:fillRect/>
                      </a:stretch>
                    </p:blipFill>
                    <p:spPr bwMode="auto">
                      <a:xfrm>
                        <a:off x="2627784" y="2780928"/>
                        <a:ext cx="3529013" cy="152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903724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加權平均到期</a:t>
            </a:r>
            <a:r>
              <a:rPr lang="zh-TW" altLang="en-US" dirty="0" smtClean="0"/>
              <a:t>期間</a:t>
            </a:r>
            <a:r>
              <a:rPr lang="en-US" altLang="zh-TW" dirty="0" smtClean="0"/>
              <a:t>(</a:t>
            </a:r>
            <a:r>
              <a:rPr lang="zh-TW" altLang="en-US" dirty="0" smtClean="0"/>
              <a:t>例</a:t>
            </a:r>
            <a:r>
              <a:rPr lang="en-US" altLang="zh-TW" dirty="0" smtClean="0"/>
              <a:t>)</a:t>
            </a:r>
            <a:endParaRPr lang="zh-TW" altLang="en-US" dirty="0"/>
          </a:p>
        </p:txBody>
      </p:sp>
      <p:sp>
        <p:nvSpPr>
          <p:cNvPr id="3" name="內容版面配置區 2"/>
          <p:cNvSpPr>
            <a:spLocks noGrp="1"/>
          </p:cNvSpPr>
          <p:nvPr>
            <p:ph idx="1"/>
          </p:nvPr>
        </p:nvSpPr>
        <p:spPr/>
        <p:txBody>
          <a:bodyPr/>
          <a:lstStyle/>
          <a:p>
            <a:r>
              <a:rPr lang="zh-TW" altLang="en-US" dirty="0"/>
              <a:t>假設有一債券，三年到期，面值</a:t>
            </a:r>
            <a:r>
              <a:rPr lang="en-US" altLang="zh-TW" dirty="0"/>
              <a:t>$1,000</a:t>
            </a:r>
            <a:r>
              <a:rPr lang="zh-TW" altLang="en-US" dirty="0"/>
              <a:t>，息票率</a:t>
            </a:r>
            <a:r>
              <a:rPr lang="en-US" altLang="zh-TW" dirty="0"/>
              <a:t>8%</a:t>
            </a:r>
            <a:r>
              <a:rPr lang="zh-TW" altLang="en-US" dirty="0"/>
              <a:t>，一年支息一次，市場利率為</a:t>
            </a:r>
            <a:r>
              <a:rPr lang="en-US" altLang="zh-TW" dirty="0"/>
              <a:t>10%</a:t>
            </a:r>
          </a:p>
          <a:p>
            <a:r>
              <a:rPr lang="zh-TW" altLang="en-US" dirty="0"/>
              <a:t>計算債券現值：</a:t>
            </a:r>
          </a:p>
          <a:p>
            <a:endParaRPr lang="zh-TW" altLang="en-US" dirty="0"/>
          </a:p>
          <a:p>
            <a:endParaRPr lang="zh-TW" altLang="en-US" dirty="0"/>
          </a:p>
          <a:p>
            <a:r>
              <a:rPr lang="zh-TW" altLang="en-US" dirty="0"/>
              <a:t>加權平均到期期間為：</a:t>
            </a:r>
          </a:p>
          <a:p>
            <a:endParaRPr lang="en-US" altLang="zh-TW" dirty="0"/>
          </a:p>
          <a:p>
            <a:endParaRPr lang="zh-TW" altLang="en-US" dirty="0"/>
          </a:p>
        </p:txBody>
      </p:sp>
      <p:graphicFrame>
        <p:nvGraphicFramePr>
          <p:cNvPr id="4" name="物件 3"/>
          <p:cNvGraphicFramePr>
            <a:graphicFrameLocks noChangeAspect="1"/>
          </p:cNvGraphicFramePr>
          <p:nvPr>
            <p:extLst>
              <p:ext uri="{D42A27DB-BD31-4B8C-83A1-F6EECF244321}">
                <p14:modId xmlns:p14="http://schemas.microsoft.com/office/powerpoint/2010/main" val="4078993486"/>
              </p:ext>
            </p:extLst>
          </p:nvPr>
        </p:nvGraphicFramePr>
        <p:xfrm>
          <a:off x="899592" y="3429000"/>
          <a:ext cx="5111750" cy="739775"/>
        </p:xfrm>
        <a:graphic>
          <a:graphicData uri="http://schemas.openxmlformats.org/presentationml/2006/ole">
            <mc:AlternateContent xmlns:mc="http://schemas.openxmlformats.org/markup-compatibility/2006">
              <mc:Choice xmlns:v="urn:schemas-microsoft-com:vml" Requires="v">
                <p:oleObj spid="_x0000_s2088" name="方程式" r:id="rId3" imgW="2895600" imgH="419100" progId="Equation.3">
                  <p:embed/>
                </p:oleObj>
              </mc:Choice>
              <mc:Fallback>
                <p:oleObj name="方程式" r:id="rId3" imgW="28956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3429000"/>
                        <a:ext cx="511175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物件 4"/>
          <p:cNvGraphicFramePr>
            <a:graphicFrameLocks noChangeAspect="1"/>
          </p:cNvGraphicFramePr>
          <p:nvPr>
            <p:extLst>
              <p:ext uri="{D42A27DB-BD31-4B8C-83A1-F6EECF244321}">
                <p14:modId xmlns:p14="http://schemas.microsoft.com/office/powerpoint/2010/main" val="3210234363"/>
              </p:ext>
            </p:extLst>
          </p:nvPr>
        </p:nvGraphicFramePr>
        <p:xfrm>
          <a:off x="899592" y="5157192"/>
          <a:ext cx="6408737" cy="1223962"/>
        </p:xfrm>
        <a:graphic>
          <a:graphicData uri="http://schemas.openxmlformats.org/presentationml/2006/ole">
            <mc:AlternateContent xmlns:mc="http://schemas.openxmlformats.org/markup-compatibility/2006">
              <mc:Choice xmlns:v="urn:schemas-microsoft-com:vml" Requires="v">
                <p:oleObj spid="_x0000_s2089" name="方程式" r:id="rId5" imgW="3124200" imgH="596900" progId="Equation.3">
                  <p:embed/>
                </p:oleObj>
              </mc:Choice>
              <mc:Fallback>
                <p:oleObj name="方程式" r:id="rId5" imgW="3124200" imgH="5969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5157192"/>
                        <a:ext cx="6408737"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6924592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加權平均到期期間</a:t>
            </a:r>
            <a:r>
              <a:rPr lang="en-US" altLang="zh-TW" dirty="0" smtClean="0"/>
              <a:t>(Cont.)</a:t>
            </a:r>
            <a:endParaRPr lang="zh-TW" altLang="en-US" dirty="0"/>
          </a:p>
        </p:txBody>
      </p:sp>
      <p:sp>
        <p:nvSpPr>
          <p:cNvPr id="3" name="內容版面配置區 2"/>
          <p:cNvSpPr>
            <a:spLocks noGrp="1"/>
          </p:cNvSpPr>
          <p:nvPr>
            <p:ph idx="1"/>
          </p:nvPr>
        </p:nvSpPr>
        <p:spPr/>
        <p:txBody>
          <a:bodyPr/>
          <a:lstStyle/>
          <a:p>
            <a:r>
              <a:rPr lang="zh-TW" altLang="en-US" dirty="0" smtClean="0"/>
              <a:t>若二債券有相同的</a:t>
            </a:r>
            <a:r>
              <a:rPr lang="en-US" altLang="zh-TW" dirty="0" smtClean="0"/>
              <a:t>Duration</a:t>
            </a:r>
            <a:r>
              <a:rPr lang="zh-TW" altLang="en-US" dirty="0" smtClean="0"/>
              <a:t>則代表對於利率的敏感性相同。</a:t>
            </a:r>
            <a:endParaRPr lang="en-US" altLang="zh-TW" dirty="0" smtClean="0"/>
          </a:p>
          <a:p>
            <a:r>
              <a:rPr lang="zh-TW" altLang="en-US" dirty="0"/>
              <a:t>而應用上</a:t>
            </a:r>
            <a:r>
              <a:rPr lang="zh-TW" altLang="en-US" dirty="0" smtClean="0"/>
              <a:t>，</a:t>
            </a:r>
            <a:r>
              <a:rPr lang="zh-TW" altLang="en-US" dirty="0"/>
              <a:t>最佳的融資策略應該是負債和資產</a:t>
            </a:r>
            <a:r>
              <a:rPr lang="zh-TW" altLang="en-US" dirty="0" smtClean="0"/>
              <a:t>的</a:t>
            </a:r>
            <a:r>
              <a:rPr lang="en-US" altLang="zh-TW" dirty="0" smtClean="0"/>
              <a:t>Duration</a:t>
            </a:r>
            <a:r>
              <a:rPr lang="zh-TW" altLang="en-US" dirty="0" smtClean="0"/>
              <a:t>能夠互相配合，如果能做到二者加權平均到期期間相等，則代表無論利率如何波動，對公司價值的影響都為最小。</a:t>
            </a:r>
            <a:endParaRPr lang="zh-TW" altLang="en-US" dirty="0"/>
          </a:p>
        </p:txBody>
      </p:sp>
    </p:spTree>
    <p:extLst>
      <p:ext uri="{BB962C8B-B14F-4D97-AF65-F5344CB8AC3E}">
        <p14:creationId xmlns:p14="http://schemas.microsoft.com/office/powerpoint/2010/main" val="34291217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solidFill>
                  <a:prstClr val="black"/>
                </a:solidFill>
              </a:rPr>
              <a:t>長期融資</a:t>
            </a:r>
            <a:r>
              <a:rPr lang="en-US" altLang="zh-TW" dirty="0">
                <a:solidFill>
                  <a:prstClr val="black"/>
                </a:solidFill>
              </a:rPr>
              <a:t>-</a:t>
            </a:r>
            <a:r>
              <a:rPr lang="zh-TW" altLang="en-US" dirty="0">
                <a:solidFill>
                  <a:prstClr val="black"/>
                </a:solidFill>
              </a:rPr>
              <a:t>影響長期融資決策的因素</a:t>
            </a:r>
            <a:endParaRPr lang="zh-TW" altLang="en-US" dirty="0"/>
          </a:p>
        </p:txBody>
      </p:sp>
      <p:sp>
        <p:nvSpPr>
          <p:cNvPr id="3" name="內容版面配置區 2"/>
          <p:cNvSpPr>
            <a:spLocks noGrp="1"/>
          </p:cNvSpPr>
          <p:nvPr>
            <p:ph idx="1"/>
          </p:nvPr>
        </p:nvSpPr>
        <p:spPr/>
        <p:txBody>
          <a:bodyPr/>
          <a:lstStyle/>
          <a:p>
            <a:r>
              <a:rPr lang="en-US" altLang="zh-TW" dirty="0" smtClean="0"/>
              <a:t>(</a:t>
            </a:r>
            <a:r>
              <a:rPr lang="zh-TW" altLang="en-US" dirty="0" smtClean="0"/>
              <a:t>三</a:t>
            </a:r>
            <a:r>
              <a:rPr lang="en-US" altLang="zh-TW" dirty="0" smtClean="0"/>
              <a:t>)</a:t>
            </a:r>
            <a:r>
              <a:rPr lang="zh-TW" altLang="en-US" dirty="0" smtClean="0"/>
              <a:t>目前利率水準以及對利率的預測：</a:t>
            </a:r>
            <a:endParaRPr lang="en-US" altLang="zh-TW" dirty="0"/>
          </a:p>
          <a:p>
            <a:pPr lvl="1"/>
            <a:r>
              <a:rPr lang="zh-TW" altLang="en-US" sz="2400" dirty="0" smtClean="0"/>
              <a:t>若</a:t>
            </a:r>
            <a:r>
              <a:rPr lang="zh-TW" altLang="en-US" sz="2400" dirty="0"/>
              <a:t>目前利率相對為高，因而預期未來利率將</a:t>
            </a:r>
            <a:r>
              <a:rPr lang="zh-TW" altLang="en-US" sz="2400" dirty="0" smtClean="0"/>
              <a:t>下降</a:t>
            </a:r>
            <a:endParaRPr lang="en-US" altLang="zh-TW" sz="2400" dirty="0"/>
          </a:p>
          <a:p>
            <a:pPr lvl="2"/>
            <a:r>
              <a:rPr lang="zh-TW" altLang="en-US" dirty="0" smtClean="0"/>
              <a:t>使用</a:t>
            </a:r>
            <a:r>
              <a:rPr lang="zh-TW" altLang="en-US" dirty="0"/>
              <a:t>短期負債融資，等到未來利率下降，在使用長期負債融資取代短期負債</a:t>
            </a:r>
            <a:r>
              <a:rPr lang="zh-TW" altLang="en-US" dirty="0" smtClean="0"/>
              <a:t>融資</a:t>
            </a:r>
            <a:endParaRPr lang="en-US" altLang="zh-TW" dirty="0" smtClean="0"/>
          </a:p>
          <a:p>
            <a:pPr marL="914400" lvl="2" indent="0" algn="ctr">
              <a:buNone/>
            </a:pPr>
            <a:r>
              <a:rPr lang="en-US" altLang="zh-TW" dirty="0" smtClean="0"/>
              <a:t>or</a:t>
            </a:r>
            <a:endParaRPr lang="en-US" altLang="zh-TW" dirty="0"/>
          </a:p>
          <a:p>
            <a:pPr lvl="2"/>
            <a:r>
              <a:rPr lang="zh-TW" altLang="en-US" dirty="0" smtClean="0"/>
              <a:t>融資</a:t>
            </a:r>
            <a:r>
              <a:rPr lang="zh-TW" altLang="en-US" dirty="0"/>
              <a:t>時以浮動利率融資，可享受利率下降的好處</a:t>
            </a:r>
          </a:p>
          <a:p>
            <a:pPr marL="457200" lvl="1" indent="0">
              <a:buNone/>
            </a:pPr>
            <a:endParaRPr lang="zh-TW" altLang="en-US" dirty="0"/>
          </a:p>
        </p:txBody>
      </p:sp>
    </p:spTree>
    <p:extLst>
      <p:ext uri="{BB962C8B-B14F-4D97-AF65-F5344CB8AC3E}">
        <p14:creationId xmlns:p14="http://schemas.microsoft.com/office/powerpoint/2010/main" val="37619775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solidFill>
                  <a:prstClr val="black"/>
                </a:solidFill>
              </a:rPr>
              <a:t>長期融資</a:t>
            </a:r>
            <a:r>
              <a:rPr lang="en-US" altLang="zh-TW" dirty="0">
                <a:solidFill>
                  <a:prstClr val="black"/>
                </a:solidFill>
              </a:rPr>
              <a:t>-</a:t>
            </a:r>
            <a:r>
              <a:rPr lang="zh-TW" altLang="en-US" dirty="0">
                <a:solidFill>
                  <a:prstClr val="black"/>
                </a:solidFill>
              </a:rPr>
              <a:t>影響長期融資決策的因素</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a:t>
            </a:r>
            <a:r>
              <a:rPr lang="zh-TW" altLang="en-US" dirty="0" smtClean="0"/>
              <a:t>四</a:t>
            </a:r>
            <a:r>
              <a:rPr lang="en-US" altLang="zh-TW" dirty="0" smtClean="0"/>
              <a:t>)</a:t>
            </a:r>
            <a:r>
              <a:rPr lang="zh-TW" altLang="en-US" dirty="0" smtClean="0"/>
              <a:t>公司目前財務狀況以及預測：</a:t>
            </a:r>
            <a:endParaRPr lang="en-US" altLang="zh-TW" dirty="0" smtClean="0"/>
          </a:p>
          <a:p>
            <a:pPr lvl="1"/>
            <a:r>
              <a:rPr lang="zh-TW" altLang="en-US" dirty="0"/>
              <a:t>在規劃下其融資計畫之前，必須先了解公司未來營運規劃為何</a:t>
            </a:r>
          </a:p>
          <a:p>
            <a:pPr lvl="1"/>
            <a:r>
              <a:rPr lang="zh-TW" altLang="en-US" dirty="0"/>
              <a:t>預估損益表、資產負債表，了解下期增加營運目標產生的自發性融資資金為多少，尚需多少外部融資</a:t>
            </a:r>
            <a:r>
              <a:rPr lang="zh-TW" altLang="en-US" dirty="0" smtClean="0"/>
              <a:t>資金</a:t>
            </a:r>
            <a:endParaRPr lang="en-US" altLang="zh-TW" dirty="0" smtClean="0"/>
          </a:p>
          <a:p>
            <a:pPr lvl="2"/>
            <a:r>
              <a:rPr lang="zh-TW" altLang="en-US" dirty="0"/>
              <a:t>自發性融資</a:t>
            </a:r>
            <a:r>
              <a:rPr lang="zh-TW" altLang="en-US" dirty="0" smtClean="0"/>
              <a:t>：舉例來說，公司的交易行為造成的應付帳</a:t>
            </a:r>
            <a:r>
              <a:rPr lang="en-US" altLang="zh-TW" dirty="0" smtClean="0"/>
              <a:t>		</a:t>
            </a:r>
            <a:r>
              <a:rPr lang="zh-TW" altLang="en-US" dirty="0" smtClean="0"/>
              <a:t> 款，隨著交易行為而發生。</a:t>
            </a:r>
            <a:endParaRPr lang="zh-TW" altLang="en-US" dirty="0"/>
          </a:p>
          <a:p>
            <a:pPr lvl="1"/>
            <a:r>
              <a:rPr lang="zh-TW" altLang="en-US" dirty="0"/>
              <a:t>融資方式須考慮公司目前狀況</a:t>
            </a:r>
          </a:p>
          <a:p>
            <a:pPr lvl="2"/>
            <a:r>
              <a:rPr lang="zh-TW" altLang="en-US" dirty="0"/>
              <a:t>若股價處於低點，權益融資將使融資成本提高，宜使用負債融資的方式</a:t>
            </a:r>
          </a:p>
          <a:p>
            <a:pPr lvl="1"/>
            <a:endParaRPr lang="en-US" altLang="zh-TW" dirty="0" smtClean="0"/>
          </a:p>
        </p:txBody>
      </p:sp>
    </p:spTree>
    <p:extLst>
      <p:ext uri="{BB962C8B-B14F-4D97-AF65-F5344CB8AC3E}">
        <p14:creationId xmlns:p14="http://schemas.microsoft.com/office/powerpoint/2010/main" val="40369047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4000" dirty="0">
                <a:solidFill>
                  <a:prstClr val="black"/>
                </a:solidFill>
              </a:rPr>
              <a:t>長期融資</a:t>
            </a:r>
            <a:r>
              <a:rPr lang="en-US" altLang="zh-TW" sz="4000" dirty="0">
                <a:solidFill>
                  <a:prstClr val="black"/>
                </a:solidFill>
              </a:rPr>
              <a:t>-</a:t>
            </a:r>
            <a:r>
              <a:rPr lang="zh-TW" altLang="en-US" sz="4000" dirty="0">
                <a:solidFill>
                  <a:prstClr val="black"/>
                </a:solidFill>
              </a:rPr>
              <a:t>影響長期融資決策的因素</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t>(</a:t>
            </a:r>
            <a:r>
              <a:rPr lang="zh-TW" altLang="en-US" dirty="0" smtClean="0"/>
              <a:t>五</a:t>
            </a:r>
            <a:r>
              <a:rPr lang="en-US" altLang="zh-TW" dirty="0" smtClean="0"/>
              <a:t>)</a:t>
            </a:r>
            <a:r>
              <a:rPr lang="zh-TW" altLang="en-US" dirty="0" smtClean="0"/>
              <a:t>負債契約的限制條款：</a:t>
            </a:r>
            <a:endParaRPr lang="en-US" altLang="zh-TW" dirty="0" smtClean="0"/>
          </a:p>
          <a:p>
            <a:pPr marL="0" indent="0">
              <a:buNone/>
            </a:pPr>
            <a:r>
              <a:rPr lang="zh-TW" altLang="en-US" sz="2400" dirty="0" smtClean="0"/>
              <a:t>有些</a:t>
            </a:r>
            <a:r>
              <a:rPr lang="zh-TW" altLang="en-US" sz="2400" dirty="0"/>
              <a:t>負債契約對借款公司加諸限制條款，以保障原</a:t>
            </a:r>
            <a:r>
              <a:rPr lang="zh-TW" altLang="en-US" sz="2400" dirty="0" smtClean="0"/>
              <a:t>債權人</a:t>
            </a:r>
            <a:r>
              <a:rPr lang="zh-TW" altLang="en-US" sz="2400" dirty="0"/>
              <a:t>的權益</a:t>
            </a:r>
          </a:p>
          <a:p>
            <a:pPr lvl="1"/>
            <a:r>
              <a:rPr lang="zh-TW" altLang="en-US" sz="2000" dirty="0"/>
              <a:t>例如：規定流動比率、利息保障倍數應在某一水準之上</a:t>
            </a:r>
          </a:p>
          <a:p>
            <a:pPr lvl="2"/>
            <a:r>
              <a:rPr lang="zh-TW" altLang="en-US" sz="1600" dirty="0"/>
              <a:t>流動比率</a:t>
            </a:r>
            <a:r>
              <a:rPr lang="en-US" altLang="zh-TW" sz="1600" dirty="0"/>
              <a:t>(current ratio)</a:t>
            </a:r>
            <a:r>
              <a:rPr lang="zh-TW" altLang="en-US" sz="1600" dirty="0"/>
              <a:t>：流動比率越高表示短期償債能力越強。</a:t>
            </a:r>
          </a:p>
          <a:p>
            <a:pPr lvl="3"/>
            <a:r>
              <a:rPr lang="zh-TW" altLang="en-US" sz="1400" dirty="0"/>
              <a:t>計算方式：流動比率＝流動資產 </a:t>
            </a:r>
            <a:r>
              <a:rPr lang="en-US" altLang="zh-TW" sz="1400" dirty="0"/>
              <a:t>/ </a:t>
            </a:r>
            <a:r>
              <a:rPr lang="zh-TW" altLang="en-US" sz="1400" dirty="0"/>
              <a:t>流動負債。</a:t>
            </a:r>
          </a:p>
          <a:p>
            <a:pPr lvl="2"/>
            <a:r>
              <a:rPr lang="zh-TW" altLang="en-US" sz="1600" dirty="0"/>
              <a:t>利息保障倍數：利息保障倍數，是衡量債權人就其利息部分所能獲得的保障程度。</a:t>
            </a:r>
          </a:p>
          <a:p>
            <a:pPr lvl="3"/>
            <a:r>
              <a:rPr lang="zh-TW" altLang="en-US" sz="1400" dirty="0"/>
              <a:t>計算方式</a:t>
            </a:r>
            <a:r>
              <a:rPr lang="zh-TW" altLang="en-US" sz="1400" dirty="0" smtClean="0"/>
              <a:t>：</a:t>
            </a:r>
            <a:endParaRPr lang="en-US" altLang="zh-TW" sz="1400" dirty="0" smtClean="0"/>
          </a:p>
          <a:p>
            <a:pPr marL="914400" lvl="2" indent="0">
              <a:buNone/>
            </a:pPr>
            <a:endParaRPr lang="en-US" altLang="zh-TW" sz="1800" dirty="0" smtClean="0"/>
          </a:p>
          <a:p>
            <a:pPr marL="914400" lvl="2" indent="0">
              <a:buNone/>
            </a:pPr>
            <a:endParaRPr lang="zh-TW" altLang="en-US" sz="1800" dirty="0"/>
          </a:p>
          <a:p>
            <a:pPr lvl="1"/>
            <a:r>
              <a:rPr lang="zh-TW" altLang="en-US" sz="2000" dirty="0"/>
              <a:t>倍數愈高，利息無法獲得清償的機率便愈低</a:t>
            </a:r>
          </a:p>
          <a:p>
            <a:pPr marL="0" indent="0">
              <a:buNone/>
            </a:pPr>
            <a:r>
              <a:rPr lang="zh-TW" altLang="en-US" sz="2400" dirty="0"/>
              <a:t>如果公司負債契約存在此類限制性條款</a:t>
            </a:r>
          </a:p>
          <a:p>
            <a:pPr lvl="1"/>
            <a:r>
              <a:rPr lang="zh-TW" altLang="en-US" sz="2000" dirty="0"/>
              <a:t>決定融資策略時就必須在不違反條款的範圍內來降低融資成本</a:t>
            </a:r>
          </a:p>
          <a:p>
            <a:pPr lvl="1"/>
            <a:endParaRPr lang="zh-TW" altLang="en-US" dirty="0"/>
          </a:p>
        </p:txBody>
      </p:sp>
      <p:graphicFrame>
        <p:nvGraphicFramePr>
          <p:cNvPr id="4" name="物件 3"/>
          <p:cNvGraphicFramePr>
            <a:graphicFrameLocks noChangeAspect="1"/>
          </p:cNvGraphicFramePr>
          <p:nvPr>
            <p:extLst>
              <p:ext uri="{D42A27DB-BD31-4B8C-83A1-F6EECF244321}">
                <p14:modId xmlns:p14="http://schemas.microsoft.com/office/powerpoint/2010/main" val="1461547982"/>
              </p:ext>
            </p:extLst>
          </p:nvPr>
        </p:nvGraphicFramePr>
        <p:xfrm>
          <a:off x="2987824" y="4437112"/>
          <a:ext cx="4829175" cy="457200"/>
        </p:xfrm>
        <a:graphic>
          <a:graphicData uri="http://schemas.openxmlformats.org/presentationml/2006/ole">
            <mc:AlternateContent xmlns:mc="http://schemas.openxmlformats.org/markup-compatibility/2006">
              <mc:Choice xmlns:v="urn:schemas-microsoft-com:vml" Requires="v">
                <p:oleObj spid="_x0000_s3093" name="Equation" r:id="rId3" imgW="4432300" imgH="419100" progId="Equation.DSMT4">
                  <p:embed/>
                </p:oleObj>
              </mc:Choice>
              <mc:Fallback>
                <p:oleObj name="Equation" r:id="rId3" imgW="4432300" imgH="4191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4437112"/>
                        <a:ext cx="48291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759917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ctrTitle"/>
          </p:nvPr>
        </p:nvSpPr>
        <p:spPr/>
        <p:txBody>
          <a:bodyPr/>
          <a:lstStyle/>
          <a:p>
            <a:r>
              <a:rPr lang="zh-TW" altLang="en-US" dirty="0" smtClean="0"/>
              <a:t>短期融資</a:t>
            </a:r>
            <a:endParaRPr lang="zh-TW" altLang="en-US" dirty="0"/>
          </a:p>
        </p:txBody>
      </p:sp>
      <p:sp>
        <p:nvSpPr>
          <p:cNvPr id="7" name="副標題 6"/>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45517613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短期</a:t>
            </a:r>
            <a:r>
              <a:rPr lang="zh-TW" altLang="en-US" dirty="0"/>
              <a:t>融資</a:t>
            </a:r>
            <a:r>
              <a:rPr lang="en-US" altLang="zh-TW" dirty="0"/>
              <a:t>-</a:t>
            </a:r>
            <a:r>
              <a:rPr lang="zh-TW" altLang="en-US" dirty="0"/>
              <a:t>前言</a:t>
            </a:r>
          </a:p>
        </p:txBody>
      </p:sp>
      <p:sp>
        <p:nvSpPr>
          <p:cNvPr id="3" name="內容版面配置區 2"/>
          <p:cNvSpPr>
            <a:spLocks noGrp="1"/>
          </p:cNvSpPr>
          <p:nvPr>
            <p:ph idx="1"/>
          </p:nvPr>
        </p:nvSpPr>
        <p:spPr/>
        <p:txBody>
          <a:bodyPr/>
          <a:lstStyle/>
          <a:p>
            <a:r>
              <a:rPr lang="zh-TW" altLang="en-US" dirty="0" smtClean="0"/>
              <a:t>短期資金調度的重要性 </a:t>
            </a:r>
            <a:r>
              <a:rPr lang="en-US" altLang="zh-TW" dirty="0" smtClean="0"/>
              <a:t>-&gt;</a:t>
            </a:r>
            <a:r>
              <a:rPr lang="zh-TW" altLang="en-US" dirty="0" smtClean="0"/>
              <a:t> 避免「黑字倒閉」</a:t>
            </a:r>
            <a:endParaRPr lang="en-US" altLang="zh-TW" dirty="0" smtClean="0"/>
          </a:p>
          <a:p>
            <a:pPr lvl="1"/>
            <a:r>
              <a:rPr lang="zh-TW" altLang="en-US" dirty="0"/>
              <a:t>黑字倒閉：公司明明處於獲利狀態，卻因短期資金周轉不靈而導致現金流量不足而破產</a:t>
            </a:r>
            <a:r>
              <a:rPr lang="zh-TW" altLang="en-US" dirty="0" smtClean="0"/>
              <a:t>。</a:t>
            </a:r>
            <a:endParaRPr lang="en-US" altLang="zh-TW" dirty="0"/>
          </a:p>
          <a:p>
            <a:r>
              <a:rPr lang="zh-TW" altLang="en-US" dirty="0" smtClean="0"/>
              <a:t>因此良好的短期資金管理可讓融資管道順暢，資金來源不虞匱乏，也可取得較低的融資成本，使資金運用達到最大功效</a:t>
            </a:r>
            <a:endParaRPr lang="en-US" altLang="zh-TW" dirty="0" smtClean="0"/>
          </a:p>
        </p:txBody>
      </p:sp>
    </p:spTree>
    <p:extLst>
      <p:ext uri="{BB962C8B-B14F-4D97-AF65-F5344CB8AC3E}">
        <p14:creationId xmlns:p14="http://schemas.microsoft.com/office/powerpoint/2010/main" val="10221466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短期</a:t>
            </a:r>
            <a:r>
              <a:rPr lang="zh-TW" altLang="en-US" dirty="0" smtClean="0"/>
              <a:t>融資</a:t>
            </a:r>
            <a:r>
              <a:rPr lang="en-US" altLang="zh-TW" dirty="0" smtClean="0"/>
              <a:t>-</a:t>
            </a:r>
            <a:r>
              <a:rPr lang="zh-TW" altLang="en-US" dirty="0" smtClean="0"/>
              <a:t>營運資金</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smtClean="0"/>
              <a:t>企業的資產可分為長期資產以及短期資產：</a:t>
            </a:r>
            <a:endParaRPr lang="en-US" altLang="zh-TW" dirty="0" smtClean="0"/>
          </a:p>
          <a:p>
            <a:pPr lvl="1"/>
            <a:r>
              <a:rPr lang="zh-TW" altLang="en-US" dirty="0" smtClean="0"/>
              <a:t>長期成長建立在不同階段對於長期固定資產的投資。</a:t>
            </a:r>
            <a:endParaRPr lang="en-US" altLang="zh-TW" dirty="0" smtClean="0"/>
          </a:p>
          <a:p>
            <a:pPr lvl="1"/>
            <a:r>
              <a:rPr lang="zh-TW" altLang="en-US" dirty="0"/>
              <a:t>而日常</a:t>
            </a:r>
            <a:r>
              <a:rPr lang="zh-TW" altLang="en-US" dirty="0" smtClean="0"/>
              <a:t>營運，則仰賴於短期資產和短期負債之間的頻繁流通來維持。</a:t>
            </a:r>
            <a:endParaRPr lang="en-US" altLang="zh-TW" dirty="0" smtClean="0"/>
          </a:p>
          <a:p>
            <a:pPr lvl="1"/>
            <a:r>
              <a:rPr lang="zh-TW" altLang="en-US" dirty="0" smtClean="0"/>
              <a:t>而營運</a:t>
            </a:r>
            <a:r>
              <a:rPr lang="zh-TW" altLang="en-US" dirty="0"/>
              <a:t>資金</a:t>
            </a:r>
            <a:r>
              <a:rPr lang="zh-TW" altLang="en-US" dirty="0" smtClean="0"/>
              <a:t>有兩種表示法：</a:t>
            </a:r>
            <a:endParaRPr lang="en-US" altLang="zh-TW" dirty="0" smtClean="0"/>
          </a:p>
          <a:p>
            <a:pPr lvl="2"/>
            <a:r>
              <a:rPr lang="zh-TW" altLang="en-US" dirty="0"/>
              <a:t>毛營運資金：單指流動資產的總額</a:t>
            </a:r>
            <a:endParaRPr lang="en-US" altLang="zh-TW" dirty="0"/>
          </a:p>
          <a:p>
            <a:pPr lvl="2"/>
            <a:r>
              <a:rPr lang="zh-TW" altLang="en-US" dirty="0"/>
              <a:t>淨營運資金：流動資產 </a:t>
            </a:r>
            <a:r>
              <a:rPr lang="en-US" altLang="zh-TW" dirty="0"/>
              <a:t>– </a:t>
            </a:r>
            <a:r>
              <a:rPr lang="zh-TW" altLang="en-US" dirty="0"/>
              <a:t>流動</a:t>
            </a:r>
            <a:r>
              <a:rPr lang="zh-TW" altLang="en-US" dirty="0" smtClean="0"/>
              <a:t>負債</a:t>
            </a:r>
            <a:endParaRPr lang="en-US" altLang="zh-TW" dirty="0"/>
          </a:p>
          <a:p>
            <a:pPr lvl="1"/>
            <a:r>
              <a:rPr lang="zh-TW" altLang="en-US" dirty="0" smtClean="0"/>
              <a:t>以下將分為兩個方面來探討營運資金的管理，分別為短期流通能力的衡量與管理，以及如何取得與運動短期資金。</a:t>
            </a:r>
            <a:endParaRPr lang="en-US" altLang="zh-TW" dirty="0" smtClean="0"/>
          </a:p>
        </p:txBody>
      </p:sp>
    </p:spTree>
    <p:extLst>
      <p:ext uri="{BB962C8B-B14F-4D97-AF65-F5344CB8AC3E}">
        <p14:creationId xmlns:p14="http://schemas.microsoft.com/office/powerpoint/2010/main" val="16208291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rPr>
              <a:t>短期</a:t>
            </a:r>
            <a:r>
              <a:rPr lang="zh-TW" altLang="en-US" dirty="0" smtClean="0">
                <a:solidFill>
                  <a:prstClr val="black"/>
                </a:solidFill>
              </a:rPr>
              <a:t>融資</a:t>
            </a:r>
            <a:r>
              <a:rPr lang="en-US" altLang="zh-TW" dirty="0" smtClean="0">
                <a:solidFill>
                  <a:prstClr val="black"/>
                </a:solidFill>
              </a:rPr>
              <a:t>-</a:t>
            </a:r>
            <a:r>
              <a:rPr lang="zh-TW" altLang="en-US" dirty="0" smtClean="0">
                <a:solidFill>
                  <a:prstClr val="black"/>
                </a:solidFill>
              </a:rPr>
              <a:t>現金轉換循環分析</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a:t>決定公司短期財務管理政策時首先考慮現變性</a:t>
            </a:r>
          </a:p>
          <a:p>
            <a:pPr lvl="1"/>
            <a:r>
              <a:rPr lang="zh-TW" altLang="en-US" dirty="0"/>
              <a:t>現變性：公司在必要時取得現金的能力</a:t>
            </a:r>
          </a:p>
          <a:p>
            <a:pPr lvl="1"/>
            <a:r>
              <a:rPr lang="zh-TW" altLang="en-US" dirty="0"/>
              <a:t>持續現變性</a:t>
            </a:r>
            <a:r>
              <a:rPr lang="en-US" altLang="zh-TW" dirty="0"/>
              <a:t>(Ongoing Liquidity)</a:t>
            </a:r>
            <a:r>
              <a:rPr lang="zh-TW" altLang="en-US" dirty="0"/>
              <a:t>：公司在某段時間內因購買原料、生產、銷售付款和收款所發生的現金流入和</a:t>
            </a:r>
            <a:r>
              <a:rPr lang="zh-TW" altLang="en-US" dirty="0" smtClean="0"/>
              <a:t>流出</a:t>
            </a:r>
            <a:endParaRPr lang="en-US" altLang="zh-TW" dirty="0" smtClean="0"/>
          </a:p>
          <a:p>
            <a:r>
              <a:rPr lang="zh-TW" altLang="en-US" dirty="0" smtClean="0"/>
              <a:t>衡量持續現變性最好的方法即為分析公司的現金轉換循環</a:t>
            </a:r>
            <a:r>
              <a:rPr lang="en-US" altLang="zh-TW" dirty="0" smtClean="0"/>
              <a:t>(Cash Cycle)</a:t>
            </a:r>
            <a:r>
              <a:rPr lang="zh-TW" altLang="en-US" dirty="0" smtClean="0"/>
              <a:t>，了解從支付現金以從事各種和生產相關的活動開始，到公司賣出產品，然後真正收到現金為止所需要的時間。</a:t>
            </a:r>
            <a:endParaRPr lang="zh-TW" altLang="en-US" dirty="0"/>
          </a:p>
        </p:txBody>
      </p:sp>
    </p:spTree>
    <p:extLst>
      <p:ext uri="{BB962C8B-B14F-4D97-AF65-F5344CB8AC3E}">
        <p14:creationId xmlns:p14="http://schemas.microsoft.com/office/powerpoint/2010/main" val="24088168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rPr>
              <a:t>現金轉換循環</a:t>
            </a:r>
            <a:r>
              <a:rPr lang="zh-TW" altLang="en-US" dirty="0" smtClean="0">
                <a:solidFill>
                  <a:prstClr val="black"/>
                </a:solidFill>
              </a:rPr>
              <a:t>分析</a:t>
            </a:r>
            <a:r>
              <a:rPr lang="en-US" altLang="zh-TW" dirty="0" smtClean="0">
                <a:solidFill>
                  <a:prstClr val="black"/>
                </a:solidFill>
              </a:rPr>
              <a:t>(Cont</a:t>
            </a:r>
            <a:r>
              <a:rPr lang="en-US" altLang="zh-TW" dirty="0">
                <a:solidFill>
                  <a:prstClr val="black"/>
                </a:solidFill>
              </a:rPr>
              <a:t>.</a:t>
            </a:r>
            <a:r>
              <a:rPr lang="en-US" altLang="zh-TW" dirty="0" smtClean="0">
                <a:solidFill>
                  <a:prstClr val="black"/>
                </a:solidFill>
              </a:rPr>
              <a:t>)</a:t>
            </a:r>
            <a:endParaRPr lang="zh-TW" altLang="en-US" dirty="0"/>
          </a:p>
        </p:txBody>
      </p:sp>
      <p:sp>
        <p:nvSpPr>
          <p:cNvPr id="3" name="內容版面配置區 2"/>
          <p:cNvSpPr>
            <a:spLocks noGrp="1"/>
          </p:cNvSpPr>
          <p:nvPr>
            <p:ph idx="1"/>
          </p:nvPr>
        </p:nvSpPr>
        <p:spPr/>
        <p:txBody>
          <a:bodyPr>
            <a:normAutofit fontScale="92500" lnSpcReduction="10000"/>
          </a:bodyPr>
          <a:lstStyle/>
          <a:p>
            <a:endParaRPr lang="en-US" altLang="zh-TW" dirty="0" smtClean="0"/>
          </a:p>
          <a:p>
            <a:endParaRPr lang="en-US" altLang="zh-TW" dirty="0"/>
          </a:p>
          <a:p>
            <a:endParaRPr lang="en-US" altLang="zh-TW" dirty="0" smtClean="0"/>
          </a:p>
          <a:p>
            <a:endParaRPr lang="en-US" altLang="zh-TW" dirty="0"/>
          </a:p>
          <a:p>
            <a:pPr marL="0" indent="0">
              <a:buNone/>
            </a:pPr>
            <a:endParaRPr lang="en-US" altLang="zh-TW" sz="2000" dirty="0" smtClean="0"/>
          </a:p>
          <a:p>
            <a:pPr marL="0" indent="0">
              <a:buNone/>
            </a:pPr>
            <a:r>
              <a:rPr lang="en-US" altLang="zh-TW" sz="2000" dirty="0" smtClean="0"/>
              <a:t>(1)</a:t>
            </a:r>
            <a:r>
              <a:rPr lang="zh-TW" altLang="en-US" sz="2000" dirty="0" smtClean="0"/>
              <a:t>存貨轉換期間：</a:t>
            </a:r>
            <a:r>
              <a:rPr lang="zh-TW" altLang="en-US" sz="2000" dirty="0"/>
              <a:t>公司將原料轉換成</a:t>
            </a:r>
            <a:r>
              <a:rPr lang="zh-TW" altLang="en-US" sz="2000" dirty="0" smtClean="0"/>
              <a:t>製成品，再將製成品賣出的時間。</a:t>
            </a:r>
            <a:endParaRPr lang="en-US" altLang="zh-TW" sz="2000" dirty="0" smtClean="0"/>
          </a:p>
          <a:p>
            <a:pPr marL="0" indent="0">
              <a:buNone/>
            </a:pPr>
            <a:r>
              <a:rPr lang="en-US" altLang="zh-TW" sz="2000" dirty="0" smtClean="0"/>
              <a:t>(2)</a:t>
            </a:r>
            <a:r>
              <a:rPr lang="zh-TW" altLang="en-US" sz="2000" dirty="0" smtClean="0"/>
              <a:t>應</a:t>
            </a:r>
            <a:r>
              <a:rPr lang="zh-TW" altLang="en-US" sz="2000" dirty="0"/>
              <a:t>收帳款收現期間</a:t>
            </a:r>
            <a:r>
              <a:rPr lang="zh-TW" altLang="en-US" sz="2000" dirty="0" smtClean="0"/>
              <a:t>：公司將應收帳款轉換成現金所需的平均時間。</a:t>
            </a:r>
            <a:endParaRPr lang="en-US" altLang="zh-TW" sz="2000" dirty="0" smtClean="0"/>
          </a:p>
          <a:p>
            <a:pPr marL="0" indent="0">
              <a:buNone/>
            </a:pPr>
            <a:r>
              <a:rPr lang="en-US" altLang="zh-TW" sz="2000" dirty="0" smtClean="0"/>
              <a:t>(3)</a:t>
            </a:r>
            <a:r>
              <a:rPr lang="zh-TW" altLang="en-US" sz="2000" dirty="0" smtClean="0"/>
              <a:t>應付帳款遞延支付期間：公司從購得存貨到以現金支付貨款所需的平均時間。</a:t>
            </a:r>
            <a:endParaRPr lang="en-US" altLang="zh-TW" sz="2000" dirty="0" smtClean="0"/>
          </a:p>
          <a:p>
            <a:pPr marL="0" indent="0">
              <a:buNone/>
            </a:pPr>
            <a:r>
              <a:rPr lang="en-US" altLang="zh-TW" sz="2000" dirty="0" smtClean="0"/>
              <a:t>(4)</a:t>
            </a:r>
            <a:r>
              <a:rPr lang="zh-TW" altLang="en-US" sz="2000" dirty="0" smtClean="0"/>
              <a:t>營運循環 </a:t>
            </a:r>
            <a:r>
              <a:rPr lang="en-US" altLang="zh-TW" sz="2000" dirty="0" smtClean="0"/>
              <a:t>= (1)+(2) </a:t>
            </a:r>
            <a:r>
              <a:rPr lang="zh-TW" altLang="en-US" sz="2000" dirty="0" smtClean="0"/>
              <a:t>：從買入原料，到實際銷貨並得到現金的天數。</a:t>
            </a:r>
            <a:endParaRPr lang="en-US" altLang="zh-TW" sz="2000" dirty="0" smtClean="0"/>
          </a:p>
          <a:p>
            <a:pPr marL="0" indent="0">
              <a:buNone/>
            </a:pPr>
            <a:r>
              <a:rPr lang="en-US" altLang="zh-TW" sz="2000" dirty="0" smtClean="0"/>
              <a:t>(5)</a:t>
            </a:r>
            <a:r>
              <a:rPr lang="zh-TW" altLang="en-US" sz="2000" dirty="0" smtClean="0"/>
              <a:t>現金轉換循環 </a:t>
            </a:r>
            <a:r>
              <a:rPr lang="en-US" altLang="zh-TW" sz="2000" dirty="0" smtClean="0"/>
              <a:t>= (4) – (3)</a:t>
            </a:r>
            <a:r>
              <a:rPr lang="zh-TW" altLang="en-US" sz="2000" dirty="0" smtClean="0"/>
              <a:t>：由於公司買入存貨、原料時，並不需要馬上支付現金，所以必須將公司可延遲付款的期限扣除。</a:t>
            </a:r>
            <a:endParaRPr lang="en-US" altLang="zh-TW" sz="2000" dirty="0" smtClean="0"/>
          </a:p>
          <a:p>
            <a:pPr marL="0" indent="0">
              <a:buNone/>
            </a:pPr>
            <a:endParaRPr lang="en-US" altLang="zh-TW" sz="2000" dirty="0" smtClean="0"/>
          </a:p>
          <a:p>
            <a:endParaRPr lang="zh-TW" alt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342791"/>
            <a:ext cx="5937387"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393464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rPr>
              <a:t>現金轉換循環分析</a:t>
            </a:r>
            <a:r>
              <a:rPr lang="en-US" altLang="zh-TW" dirty="0">
                <a:solidFill>
                  <a:prstClr val="black"/>
                </a:solidFill>
              </a:rPr>
              <a:t>(Cont.)</a:t>
            </a:r>
            <a:endParaRPr lang="zh-TW" altLang="en-US" dirty="0"/>
          </a:p>
        </p:txBody>
      </p:sp>
      <p:sp>
        <p:nvSpPr>
          <p:cNvPr id="3" name="內容版面配置區 2"/>
          <p:cNvSpPr>
            <a:spLocks noGrp="1"/>
          </p:cNvSpPr>
          <p:nvPr>
            <p:ph idx="1"/>
          </p:nvPr>
        </p:nvSpPr>
        <p:spPr/>
        <p:txBody>
          <a:bodyPr/>
          <a:lstStyle/>
          <a:p>
            <a:r>
              <a:rPr lang="zh-TW" altLang="en-US" dirty="0" smtClean="0"/>
              <a:t>因此我們可知，公司在不影響正常營運的狀況下，會希望盡可能縮短現金轉換循環的期間，因為期間越長，公司所需要的外來融資變越大，所以公司必須付出更多的成本來取得外來融資，故公司如果能夠縮短現金轉換循環，利潤就得以提高。</a:t>
            </a:r>
            <a:endParaRPr lang="zh-TW" altLang="en-US" dirty="0"/>
          </a:p>
        </p:txBody>
      </p:sp>
    </p:spTree>
    <p:extLst>
      <p:ext uri="{BB962C8B-B14F-4D97-AF65-F5344CB8AC3E}">
        <p14:creationId xmlns:p14="http://schemas.microsoft.com/office/powerpoint/2010/main" val="24709763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solidFill>
                  <a:prstClr val="black"/>
                </a:solidFill>
              </a:rPr>
              <a:t>短期融資</a:t>
            </a:r>
            <a:r>
              <a:rPr lang="en-US" altLang="zh-TW" dirty="0" smtClean="0">
                <a:solidFill>
                  <a:prstClr val="black"/>
                </a:solidFill>
              </a:rPr>
              <a:t>-</a:t>
            </a:r>
            <a:r>
              <a:rPr lang="zh-TW" altLang="en-US" dirty="0" smtClean="0">
                <a:solidFill>
                  <a:prstClr val="black"/>
                </a:solidFill>
              </a:rPr>
              <a:t>管理營運資金的策略</a:t>
            </a:r>
            <a:endParaRPr lang="zh-TW" altLang="en-US" dirty="0"/>
          </a:p>
        </p:txBody>
      </p:sp>
      <p:sp>
        <p:nvSpPr>
          <p:cNvPr id="3" name="內容版面配置區 2"/>
          <p:cNvSpPr>
            <a:spLocks noGrp="1"/>
          </p:cNvSpPr>
          <p:nvPr>
            <p:ph idx="1"/>
          </p:nvPr>
        </p:nvSpPr>
        <p:spPr/>
        <p:txBody>
          <a:bodyPr/>
          <a:lstStyle/>
          <a:p>
            <a:r>
              <a:rPr lang="zh-TW" altLang="en-US" dirty="0" smtClean="0"/>
              <a:t>主要注重在探討三個重點：</a:t>
            </a:r>
            <a:endParaRPr lang="en-US" altLang="zh-TW" dirty="0" smtClean="0"/>
          </a:p>
          <a:p>
            <a:pPr lvl="1"/>
            <a:r>
              <a:rPr lang="zh-TW" altLang="en-US" dirty="0" smtClean="0">
                <a:hlinkClick r:id="rId2" action="ppaction://hlinksldjump"/>
              </a:rPr>
              <a:t>流動資產</a:t>
            </a:r>
            <a:endParaRPr lang="en-US" altLang="zh-TW" dirty="0" smtClean="0">
              <a:hlinkClick r:id="rId2" action="ppaction://hlinksldjump"/>
            </a:endParaRPr>
          </a:p>
          <a:p>
            <a:pPr lvl="1"/>
            <a:r>
              <a:rPr lang="zh-TW" altLang="en-US" dirty="0">
                <a:hlinkClick r:id="rId2" action="ppaction://hlinksldjump"/>
              </a:rPr>
              <a:t>流動</a:t>
            </a:r>
            <a:r>
              <a:rPr lang="zh-TW" altLang="en-US" dirty="0" smtClean="0">
                <a:hlinkClick r:id="rId2" action="ppaction://hlinksldjump"/>
              </a:rPr>
              <a:t>負債</a:t>
            </a:r>
            <a:endParaRPr lang="en-US" altLang="zh-TW" dirty="0" smtClean="0"/>
          </a:p>
          <a:p>
            <a:pPr lvl="1"/>
            <a:r>
              <a:rPr lang="zh-TW" altLang="en-US" dirty="0"/>
              <a:t>短期資金的取得以及</a:t>
            </a:r>
            <a:r>
              <a:rPr lang="zh-TW" altLang="en-US" dirty="0" smtClean="0"/>
              <a:t>應用</a:t>
            </a:r>
            <a:endParaRPr lang="zh-TW" altLang="en-US" dirty="0"/>
          </a:p>
        </p:txBody>
      </p:sp>
    </p:spTree>
    <p:extLst>
      <p:ext uri="{BB962C8B-B14F-4D97-AF65-F5344CB8AC3E}">
        <p14:creationId xmlns:p14="http://schemas.microsoft.com/office/powerpoint/2010/main" val="41459489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rPr>
              <a:t>管理營運資金的</a:t>
            </a:r>
            <a:r>
              <a:rPr lang="zh-TW" altLang="en-US" dirty="0" smtClean="0">
                <a:solidFill>
                  <a:prstClr val="black"/>
                </a:solidFill>
              </a:rPr>
              <a:t>策略</a:t>
            </a:r>
            <a:r>
              <a:rPr lang="en-US" altLang="zh-TW" dirty="0" smtClean="0">
                <a:solidFill>
                  <a:prstClr val="black"/>
                </a:solidFill>
              </a:rPr>
              <a:t>-</a:t>
            </a:r>
            <a:r>
              <a:rPr lang="zh-TW" altLang="en-US" dirty="0" smtClean="0">
                <a:solidFill>
                  <a:prstClr val="black"/>
                </a:solidFill>
              </a:rPr>
              <a:t>流動資產</a:t>
            </a:r>
            <a:endParaRPr lang="zh-TW" altLang="en-US" dirty="0"/>
          </a:p>
        </p:txBody>
      </p:sp>
      <p:sp>
        <p:nvSpPr>
          <p:cNvPr id="3" name="內容版面配置區 2"/>
          <p:cNvSpPr>
            <a:spLocks noGrp="1"/>
          </p:cNvSpPr>
          <p:nvPr>
            <p:ph idx="1"/>
          </p:nvPr>
        </p:nvSpPr>
        <p:spPr/>
        <p:txBody>
          <a:bodyPr/>
          <a:lstStyle/>
          <a:p>
            <a:r>
              <a:rPr lang="zh-TW" altLang="en-US" dirty="0"/>
              <a:t>積極型</a:t>
            </a:r>
            <a:r>
              <a:rPr lang="zh-TW" altLang="en-US" dirty="0" smtClean="0"/>
              <a:t>資產管理：</a:t>
            </a:r>
            <a:endParaRPr lang="en-US" altLang="zh-TW" dirty="0" smtClean="0"/>
          </a:p>
          <a:p>
            <a:pPr lvl="1"/>
            <a:r>
              <a:rPr lang="zh-TW" altLang="en-US" dirty="0"/>
              <a:t>極少的</a:t>
            </a:r>
            <a:r>
              <a:rPr lang="zh-TW" altLang="en-US" dirty="0" smtClean="0"/>
              <a:t>流動資產</a:t>
            </a:r>
            <a:r>
              <a:rPr lang="en-US" altLang="zh-TW" dirty="0" smtClean="0"/>
              <a:t>(</a:t>
            </a:r>
            <a:r>
              <a:rPr lang="en-US" altLang="zh-TW" dirty="0"/>
              <a:t>A/R</a:t>
            </a:r>
            <a:r>
              <a:rPr lang="zh-TW" altLang="en-US" dirty="0"/>
              <a:t>、存貨、現金、</a:t>
            </a:r>
            <a:r>
              <a:rPr lang="en-US" altLang="zh-TW" dirty="0"/>
              <a:t>Security</a:t>
            </a:r>
            <a:r>
              <a:rPr lang="en-US" altLang="zh-TW" dirty="0" smtClean="0"/>
              <a:t>)</a:t>
            </a:r>
          </a:p>
          <a:p>
            <a:pPr lvl="1"/>
            <a:r>
              <a:rPr lang="zh-TW" altLang="en-US" dirty="0"/>
              <a:t>為了縮短應收帳款</a:t>
            </a:r>
            <a:r>
              <a:rPr lang="zh-TW" altLang="en-US" dirty="0" smtClean="0"/>
              <a:t>期間，</a:t>
            </a:r>
            <a:r>
              <a:rPr lang="zh-TW" altLang="en-US" dirty="0" smtClean="0">
                <a:hlinkClick r:id="rId2" action="ppaction://hlinksldjump"/>
              </a:rPr>
              <a:t>信用緊縮</a:t>
            </a:r>
            <a:endParaRPr lang="en-US" altLang="zh-TW" dirty="0" smtClean="0"/>
          </a:p>
          <a:p>
            <a:pPr lvl="1"/>
            <a:r>
              <a:rPr lang="zh-TW" altLang="en-US" dirty="0"/>
              <a:t>但緊縮的信用政策可能會</a:t>
            </a:r>
            <a:r>
              <a:rPr lang="zh-TW" altLang="en-US" dirty="0" smtClean="0"/>
              <a:t>導致</a:t>
            </a:r>
            <a:r>
              <a:rPr lang="zh-TW" altLang="en-US" dirty="0"/>
              <a:t>顧客</a:t>
            </a:r>
            <a:r>
              <a:rPr lang="zh-TW" altLang="en-US" dirty="0" smtClean="0"/>
              <a:t>流失</a:t>
            </a:r>
            <a:endParaRPr lang="en-US" altLang="zh-TW" dirty="0" smtClean="0"/>
          </a:p>
          <a:p>
            <a:pPr marL="457200" lvl="1" indent="0" algn="r">
              <a:buNone/>
            </a:pPr>
            <a:endParaRPr lang="en-US" altLang="zh-TW" dirty="0" smtClean="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3933056"/>
            <a:ext cx="2878137" cy="262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53887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rPr>
              <a:t>管理營運資金的策略</a:t>
            </a:r>
            <a:r>
              <a:rPr lang="en-US" altLang="zh-TW" dirty="0">
                <a:solidFill>
                  <a:prstClr val="black"/>
                </a:solidFill>
              </a:rPr>
              <a:t>-</a:t>
            </a:r>
            <a:r>
              <a:rPr lang="zh-TW" altLang="en-US" dirty="0">
                <a:solidFill>
                  <a:prstClr val="black"/>
                </a:solidFill>
              </a:rPr>
              <a:t>流動資產</a:t>
            </a:r>
            <a:endParaRPr lang="zh-TW" altLang="en-US" dirty="0"/>
          </a:p>
        </p:txBody>
      </p:sp>
      <p:sp>
        <p:nvSpPr>
          <p:cNvPr id="3" name="內容版面配置區 2"/>
          <p:cNvSpPr>
            <a:spLocks noGrp="1"/>
          </p:cNvSpPr>
          <p:nvPr>
            <p:ph idx="1"/>
          </p:nvPr>
        </p:nvSpPr>
        <p:spPr/>
        <p:txBody>
          <a:bodyPr/>
          <a:lstStyle/>
          <a:p>
            <a:r>
              <a:rPr lang="zh-TW" altLang="en-US" dirty="0" smtClean="0"/>
              <a:t>消極型資產管理：</a:t>
            </a:r>
            <a:endParaRPr lang="en-US" altLang="zh-TW" dirty="0" smtClean="0"/>
          </a:p>
          <a:p>
            <a:pPr lvl="1"/>
            <a:r>
              <a:rPr lang="zh-TW" altLang="en-US" dirty="0"/>
              <a:t>維持較高比例的</a:t>
            </a:r>
            <a:r>
              <a:rPr lang="zh-TW" altLang="en-US" dirty="0" smtClean="0"/>
              <a:t>流動資產</a:t>
            </a:r>
            <a:endParaRPr lang="en-US" altLang="zh-TW" dirty="0" smtClean="0"/>
          </a:p>
          <a:p>
            <a:pPr lvl="1"/>
            <a:r>
              <a:rPr lang="zh-TW" altLang="en-US" dirty="0" smtClean="0"/>
              <a:t>拉長現金轉換循環，可能導致外部融資需求增加。</a:t>
            </a:r>
            <a:endParaRPr lang="en-US" altLang="zh-TW" dirty="0" smtClean="0"/>
          </a:p>
          <a:p>
            <a:pPr marL="457200" lvl="1" indent="0" algn="r">
              <a:buNone/>
            </a:pPr>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1907" y="3717032"/>
            <a:ext cx="3387191" cy="3004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61491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rPr>
              <a:t>管理營運資金的策略</a:t>
            </a:r>
            <a:r>
              <a:rPr lang="en-US" altLang="zh-TW" dirty="0">
                <a:solidFill>
                  <a:prstClr val="black"/>
                </a:solidFill>
              </a:rPr>
              <a:t>-</a:t>
            </a:r>
            <a:r>
              <a:rPr lang="zh-TW" altLang="en-US" dirty="0" smtClean="0">
                <a:solidFill>
                  <a:prstClr val="black"/>
                </a:solidFill>
              </a:rPr>
              <a:t>流動</a:t>
            </a:r>
            <a:r>
              <a:rPr lang="zh-TW" altLang="en-US" dirty="0">
                <a:solidFill>
                  <a:prstClr val="black"/>
                </a:solidFill>
              </a:rPr>
              <a:t>負債</a:t>
            </a:r>
            <a:endParaRPr lang="zh-TW" altLang="en-US" dirty="0"/>
          </a:p>
        </p:txBody>
      </p:sp>
      <p:sp>
        <p:nvSpPr>
          <p:cNvPr id="3" name="內容版面配置區 2"/>
          <p:cNvSpPr>
            <a:spLocks noGrp="1"/>
          </p:cNvSpPr>
          <p:nvPr>
            <p:ph idx="1"/>
          </p:nvPr>
        </p:nvSpPr>
        <p:spPr/>
        <p:txBody>
          <a:bodyPr/>
          <a:lstStyle/>
          <a:p>
            <a:r>
              <a:rPr lang="zh-TW" altLang="en-US" dirty="0"/>
              <a:t>積極型負債</a:t>
            </a:r>
            <a:r>
              <a:rPr lang="zh-TW" altLang="en-US" dirty="0" smtClean="0"/>
              <a:t>管理：</a:t>
            </a:r>
            <a:endParaRPr lang="en-US" altLang="zh-TW" dirty="0" smtClean="0"/>
          </a:p>
          <a:p>
            <a:pPr lvl="1"/>
            <a:r>
              <a:rPr lang="zh-TW" altLang="en-US" dirty="0"/>
              <a:t>因為短期負債成本較</a:t>
            </a:r>
            <a:r>
              <a:rPr lang="zh-TW" altLang="en-US" dirty="0" smtClean="0"/>
              <a:t>低，公司以大量流動負債來融資</a:t>
            </a:r>
            <a:endParaRPr lang="en-US" altLang="zh-TW" dirty="0" smtClean="0"/>
          </a:p>
          <a:p>
            <a:pPr lvl="1"/>
            <a:r>
              <a:rPr lang="zh-TW" altLang="en-US" dirty="0"/>
              <a:t>承擔較多的利率上漲的</a:t>
            </a:r>
            <a:r>
              <a:rPr lang="zh-TW" altLang="en-US" dirty="0" smtClean="0"/>
              <a:t>風險</a:t>
            </a:r>
            <a:endParaRPr lang="en-US" altLang="zh-TW" dirty="0" smtClean="0"/>
          </a:p>
          <a:p>
            <a:pPr lvl="1"/>
            <a:r>
              <a:rPr lang="zh-TW" altLang="en-US" dirty="0"/>
              <a:t>更多的短期貸款展期</a:t>
            </a:r>
            <a:r>
              <a:rPr lang="zh-TW" altLang="en-US" dirty="0" smtClean="0"/>
              <a:t>問題</a:t>
            </a:r>
            <a:endParaRPr lang="en-US" altLang="zh-TW" dirty="0" smtClean="0"/>
          </a:p>
          <a:p>
            <a:pPr lvl="1"/>
            <a:r>
              <a:rPr lang="zh-TW" altLang="en-US" dirty="0"/>
              <a:t>但因為普遍成本較</a:t>
            </a:r>
            <a:r>
              <a:rPr lang="zh-TW" altLang="en-US" dirty="0" smtClean="0"/>
              <a:t>低，許多公司願意冒險追求利潤</a:t>
            </a:r>
            <a:endParaRPr lang="zh-TW" altLang="en-US"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4652688"/>
            <a:ext cx="2519288" cy="218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00700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rPr>
              <a:t>管理營運資金的策略</a:t>
            </a:r>
            <a:r>
              <a:rPr lang="en-US" altLang="zh-TW" dirty="0">
                <a:solidFill>
                  <a:prstClr val="black"/>
                </a:solidFill>
              </a:rPr>
              <a:t>-</a:t>
            </a:r>
            <a:r>
              <a:rPr lang="zh-TW" altLang="en-US" dirty="0">
                <a:solidFill>
                  <a:prstClr val="black"/>
                </a:solidFill>
              </a:rPr>
              <a:t>流動負債</a:t>
            </a:r>
            <a:endParaRPr lang="zh-TW" altLang="en-US" dirty="0"/>
          </a:p>
        </p:txBody>
      </p:sp>
      <p:sp>
        <p:nvSpPr>
          <p:cNvPr id="3" name="內容版面配置區 2"/>
          <p:cNvSpPr>
            <a:spLocks noGrp="1"/>
          </p:cNvSpPr>
          <p:nvPr>
            <p:ph idx="1"/>
          </p:nvPr>
        </p:nvSpPr>
        <p:spPr/>
        <p:txBody>
          <a:bodyPr/>
          <a:lstStyle/>
          <a:p>
            <a:r>
              <a:rPr lang="zh-TW" altLang="en-US" dirty="0" smtClean="0"/>
              <a:t>消極型負債管理：</a:t>
            </a:r>
            <a:endParaRPr lang="en-US" altLang="zh-TW" dirty="0" smtClean="0"/>
          </a:p>
          <a:p>
            <a:pPr lvl="1"/>
            <a:r>
              <a:rPr lang="zh-TW" altLang="en-US" dirty="0"/>
              <a:t>相對於積極</a:t>
            </a:r>
            <a:r>
              <a:rPr lang="zh-TW" altLang="en-US" dirty="0" smtClean="0"/>
              <a:t>型，採取較多的長期負債</a:t>
            </a:r>
            <a:endParaRPr lang="en-US" altLang="zh-TW" dirty="0" smtClean="0"/>
          </a:p>
          <a:p>
            <a:pPr lvl="1"/>
            <a:r>
              <a:rPr lang="zh-TW" altLang="en-US" dirty="0"/>
              <a:t>不必不斷地進行貸款</a:t>
            </a:r>
            <a:r>
              <a:rPr lang="zh-TW" altLang="en-US" dirty="0" smtClean="0"/>
              <a:t>展期</a:t>
            </a:r>
            <a:endParaRPr lang="en-US" altLang="zh-TW" dirty="0" smtClean="0"/>
          </a:p>
          <a:p>
            <a:pPr lvl="1"/>
            <a:r>
              <a:rPr lang="zh-TW" altLang="en-US" dirty="0"/>
              <a:t>但會造成較長的現金轉換</a:t>
            </a:r>
            <a:r>
              <a:rPr lang="zh-TW" altLang="en-US" dirty="0" smtClean="0"/>
              <a:t>循環，且長期負債成本較高</a:t>
            </a:r>
            <a:endParaRPr lang="en-US" altLang="zh-TW" dirty="0" smtClean="0"/>
          </a:p>
          <a:p>
            <a:pPr lvl="1"/>
            <a:r>
              <a:rPr lang="zh-TW" altLang="en-US" dirty="0" smtClean="0"/>
              <a:t>但整體</a:t>
            </a:r>
            <a:r>
              <a:rPr lang="zh-TW" altLang="en-US" dirty="0"/>
              <a:t>來說</a:t>
            </a:r>
            <a:r>
              <a:rPr lang="zh-TW" altLang="en-US" dirty="0" smtClean="0"/>
              <a:t>不確定性較</a:t>
            </a:r>
            <a:r>
              <a:rPr lang="zh-TW" altLang="en-US" dirty="0"/>
              <a:t>積極型小</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4221088"/>
            <a:ext cx="2771800" cy="2482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5813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短期資金的取得與運用</a:t>
            </a:r>
            <a:endParaRPr lang="zh-TW" altLang="en-US" dirty="0"/>
          </a:p>
        </p:txBody>
      </p:sp>
      <p:sp>
        <p:nvSpPr>
          <p:cNvPr id="3" name="內容版面配置區 2"/>
          <p:cNvSpPr>
            <a:spLocks noGrp="1"/>
          </p:cNvSpPr>
          <p:nvPr>
            <p:ph idx="1"/>
          </p:nvPr>
        </p:nvSpPr>
        <p:spPr/>
        <p:txBody>
          <a:bodyPr/>
          <a:lstStyle/>
          <a:p>
            <a:pPr>
              <a:lnSpc>
                <a:spcPct val="90000"/>
              </a:lnSpc>
            </a:pPr>
            <a:r>
              <a:rPr lang="zh-TW" altLang="en-US" dirty="0"/>
              <a:t>公司主要資金來源：</a:t>
            </a:r>
          </a:p>
          <a:p>
            <a:pPr lvl="1">
              <a:lnSpc>
                <a:spcPct val="90000"/>
              </a:lnSpc>
            </a:pPr>
            <a:r>
              <a:rPr lang="zh-TW" altLang="en-US" dirty="0"/>
              <a:t>公司內部資金</a:t>
            </a:r>
          </a:p>
          <a:p>
            <a:pPr lvl="2">
              <a:lnSpc>
                <a:spcPct val="90000"/>
              </a:lnSpc>
            </a:pPr>
            <a:r>
              <a:rPr lang="zh-TW" altLang="en-US" dirty="0"/>
              <a:t>來自公司營運用現金的降低</a:t>
            </a:r>
          </a:p>
          <a:p>
            <a:pPr lvl="2">
              <a:lnSpc>
                <a:spcPct val="90000"/>
              </a:lnSpc>
            </a:pPr>
            <a:r>
              <a:rPr lang="zh-TW" altLang="en-US" dirty="0"/>
              <a:t>存貨水準的降低</a:t>
            </a:r>
          </a:p>
          <a:p>
            <a:pPr lvl="2">
              <a:lnSpc>
                <a:spcPct val="90000"/>
              </a:lnSpc>
            </a:pPr>
            <a:r>
              <a:rPr lang="zh-TW" altLang="en-US" dirty="0"/>
              <a:t>應收帳款收現加快</a:t>
            </a:r>
          </a:p>
          <a:p>
            <a:pPr lvl="1">
              <a:lnSpc>
                <a:spcPct val="90000"/>
              </a:lnSpc>
            </a:pPr>
            <a:r>
              <a:rPr lang="zh-TW" altLang="en-US" dirty="0"/>
              <a:t>外部資金</a:t>
            </a:r>
          </a:p>
          <a:p>
            <a:pPr lvl="2">
              <a:lnSpc>
                <a:spcPct val="90000"/>
              </a:lnSpc>
            </a:pPr>
            <a:r>
              <a:rPr lang="zh-TW" altLang="en-US" dirty="0"/>
              <a:t>銀行借款</a:t>
            </a:r>
          </a:p>
          <a:p>
            <a:pPr lvl="2">
              <a:lnSpc>
                <a:spcPct val="90000"/>
              </a:lnSpc>
            </a:pPr>
            <a:r>
              <a:rPr lang="zh-TW" altLang="en-US" dirty="0"/>
              <a:t>商業本票融資</a:t>
            </a:r>
          </a:p>
          <a:p>
            <a:pPr lvl="2">
              <a:lnSpc>
                <a:spcPct val="90000"/>
              </a:lnSpc>
            </a:pPr>
            <a:r>
              <a:rPr lang="zh-TW" altLang="en-US" dirty="0"/>
              <a:t>擔保短期貸款</a:t>
            </a:r>
          </a:p>
          <a:p>
            <a:pPr lvl="2">
              <a:lnSpc>
                <a:spcPct val="90000"/>
              </a:lnSpc>
            </a:pPr>
            <a:r>
              <a:rPr lang="zh-TW" altLang="en-US" dirty="0"/>
              <a:t>應收帳款融資</a:t>
            </a:r>
          </a:p>
          <a:p>
            <a:endParaRPr lang="zh-TW" altLang="en-US" dirty="0"/>
          </a:p>
        </p:txBody>
      </p:sp>
    </p:spTree>
    <p:extLst>
      <p:ext uri="{BB962C8B-B14F-4D97-AF65-F5344CB8AC3E}">
        <p14:creationId xmlns:p14="http://schemas.microsoft.com/office/powerpoint/2010/main" val="26110039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內部資金來源分析</a:t>
            </a:r>
          </a:p>
        </p:txBody>
      </p:sp>
      <p:sp>
        <p:nvSpPr>
          <p:cNvPr id="3" name="內容版面配置區 2"/>
          <p:cNvSpPr>
            <a:spLocks noGrp="1"/>
          </p:cNvSpPr>
          <p:nvPr>
            <p:ph idx="1"/>
          </p:nvPr>
        </p:nvSpPr>
        <p:spPr/>
        <p:txBody>
          <a:bodyPr/>
          <a:lstStyle/>
          <a:p>
            <a:r>
              <a:rPr lang="zh-TW" altLang="en-US" dirty="0"/>
              <a:t>應收帳款分析</a:t>
            </a:r>
          </a:p>
          <a:p>
            <a:r>
              <a:rPr lang="zh-TW" altLang="en-US" dirty="0"/>
              <a:t>存貨管理分析</a:t>
            </a:r>
          </a:p>
          <a:p>
            <a:r>
              <a:rPr lang="zh-TW" altLang="en-US" dirty="0"/>
              <a:t>應付帳款分析</a:t>
            </a:r>
          </a:p>
          <a:p>
            <a:endParaRPr lang="zh-TW" altLang="en-US" dirty="0"/>
          </a:p>
        </p:txBody>
      </p:sp>
    </p:spTree>
    <p:extLst>
      <p:ext uri="{BB962C8B-B14F-4D97-AF65-F5344CB8AC3E}">
        <p14:creationId xmlns:p14="http://schemas.microsoft.com/office/powerpoint/2010/main" val="366213421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應收帳款</a:t>
            </a:r>
            <a:r>
              <a:rPr lang="zh-TW" altLang="en-US" dirty="0" smtClean="0"/>
              <a:t>分析</a:t>
            </a:r>
            <a:endParaRPr lang="zh-TW" altLang="en-US" dirty="0"/>
          </a:p>
        </p:txBody>
      </p:sp>
      <p:sp>
        <p:nvSpPr>
          <p:cNvPr id="3" name="內容版面配置區 2"/>
          <p:cNvSpPr>
            <a:spLocks noGrp="1"/>
          </p:cNvSpPr>
          <p:nvPr>
            <p:ph idx="1"/>
          </p:nvPr>
        </p:nvSpPr>
        <p:spPr/>
        <p:txBody>
          <a:bodyPr/>
          <a:lstStyle/>
          <a:p>
            <a:pPr>
              <a:lnSpc>
                <a:spcPct val="80000"/>
              </a:lnSpc>
            </a:pPr>
            <a:r>
              <a:rPr lang="zh-TW" altLang="en-US" dirty="0"/>
              <a:t>公司應具備良好的應收帳款</a:t>
            </a:r>
            <a:r>
              <a:rPr lang="zh-TW" altLang="en-US" dirty="0" smtClean="0"/>
              <a:t>制度</a:t>
            </a:r>
            <a:r>
              <a:rPr lang="zh-TW" altLang="en-US" dirty="0"/>
              <a:t>，</a:t>
            </a:r>
            <a:r>
              <a:rPr lang="zh-TW" altLang="en-US" dirty="0" smtClean="0"/>
              <a:t>應</a:t>
            </a:r>
            <a:r>
              <a:rPr lang="zh-TW" altLang="en-US" dirty="0"/>
              <a:t>收帳款累積過多，現金流量會下降，可能增加壞帳</a:t>
            </a:r>
            <a:r>
              <a:rPr lang="en-US" altLang="zh-TW" dirty="0"/>
              <a:t>(</a:t>
            </a:r>
            <a:r>
              <a:rPr lang="zh-TW" altLang="en-US" dirty="0"/>
              <a:t>呆帳</a:t>
            </a:r>
            <a:r>
              <a:rPr lang="en-US" altLang="zh-TW" dirty="0"/>
              <a:t>)</a:t>
            </a:r>
            <a:r>
              <a:rPr lang="zh-TW" altLang="en-US" dirty="0"/>
              <a:t>損失，也會少現金流入，增加對外融資的</a:t>
            </a:r>
            <a:r>
              <a:rPr lang="zh-TW" altLang="en-US" dirty="0" smtClean="0"/>
              <a:t>需要</a:t>
            </a:r>
            <a:endParaRPr lang="en-US" altLang="zh-TW" dirty="0" smtClean="0"/>
          </a:p>
          <a:p>
            <a:pPr>
              <a:lnSpc>
                <a:spcPct val="80000"/>
              </a:lnSpc>
            </a:pPr>
            <a:r>
              <a:rPr lang="zh-TW" altLang="en-US" sz="2800" dirty="0"/>
              <a:t>公司可藉由調整其信用政策，來達到控制應收帳款的目標</a:t>
            </a:r>
          </a:p>
          <a:p>
            <a:pPr>
              <a:lnSpc>
                <a:spcPct val="80000"/>
              </a:lnSpc>
            </a:pPr>
            <a:r>
              <a:rPr lang="zh-TW" altLang="en-US" sz="2800" dirty="0"/>
              <a:t>信用政策由下列四要素構成</a:t>
            </a:r>
            <a:r>
              <a:rPr lang="zh-TW" altLang="en-US" sz="2800" dirty="0">
                <a:hlinkClick r:id="rId2" action="ppaction://hlinksldjump"/>
              </a:rPr>
              <a:t>：</a:t>
            </a:r>
            <a:endParaRPr lang="zh-TW" altLang="en-US" sz="2800" dirty="0"/>
          </a:p>
          <a:p>
            <a:pPr lvl="1">
              <a:lnSpc>
                <a:spcPct val="80000"/>
              </a:lnSpc>
            </a:pPr>
            <a:r>
              <a:rPr lang="zh-TW" altLang="en-US" sz="2400" dirty="0"/>
              <a:t>信用標準：客戶所應具備的最低財務能力</a:t>
            </a:r>
          </a:p>
          <a:p>
            <a:pPr lvl="1">
              <a:lnSpc>
                <a:spcPct val="80000"/>
              </a:lnSpc>
            </a:pPr>
            <a:r>
              <a:rPr lang="zh-TW" altLang="en-US" sz="2400" dirty="0"/>
              <a:t>信用期間：客戶的付款期間</a:t>
            </a:r>
          </a:p>
          <a:p>
            <a:pPr lvl="1">
              <a:lnSpc>
                <a:spcPct val="80000"/>
              </a:lnSpc>
            </a:pPr>
            <a:r>
              <a:rPr lang="zh-TW" altLang="en-US" sz="2400" dirty="0"/>
              <a:t>催收政策：公司催收過其帳款的政策</a:t>
            </a:r>
          </a:p>
          <a:p>
            <a:pPr lvl="1">
              <a:lnSpc>
                <a:spcPct val="80000"/>
              </a:lnSpc>
            </a:pPr>
            <a:r>
              <a:rPr lang="zh-TW" altLang="en-US" sz="2400" dirty="0"/>
              <a:t>現金折扣：公司為鼓勵客戶儘早付款所給予的折扣</a:t>
            </a:r>
            <a:endParaRPr lang="zh-TW" altLang="en-US" dirty="0"/>
          </a:p>
          <a:p>
            <a:endParaRPr lang="zh-TW" altLang="en-US" dirty="0"/>
          </a:p>
        </p:txBody>
      </p:sp>
    </p:spTree>
    <p:extLst>
      <p:ext uri="{BB962C8B-B14F-4D97-AF65-F5344CB8AC3E}">
        <p14:creationId xmlns:p14="http://schemas.microsoft.com/office/powerpoint/2010/main" val="4528740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應收帳款分析</a:t>
            </a:r>
            <a:r>
              <a:rPr lang="en-US" altLang="zh-TW" dirty="0"/>
              <a:t>(</a:t>
            </a:r>
            <a:r>
              <a:rPr lang="zh-TW" altLang="en-US" dirty="0"/>
              <a:t>續</a:t>
            </a:r>
            <a:r>
              <a:rPr lang="en-US" altLang="zh-TW" dirty="0"/>
              <a:t>)</a:t>
            </a:r>
            <a:endParaRPr lang="zh-TW" altLang="en-US" dirty="0"/>
          </a:p>
        </p:txBody>
      </p:sp>
      <p:sp>
        <p:nvSpPr>
          <p:cNvPr id="3" name="內容版面配置區 2"/>
          <p:cNvSpPr>
            <a:spLocks noGrp="1"/>
          </p:cNvSpPr>
          <p:nvPr>
            <p:ph idx="1"/>
          </p:nvPr>
        </p:nvSpPr>
        <p:spPr/>
        <p:txBody>
          <a:bodyPr/>
          <a:lstStyle/>
          <a:p>
            <a:r>
              <a:rPr lang="zh-TW" altLang="en-US" sz="2800" dirty="0"/>
              <a:t>改變信用政策有相對的收益和成本</a:t>
            </a:r>
          </a:p>
          <a:p>
            <a:pPr lvl="1"/>
            <a:r>
              <a:rPr lang="zh-TW" altLang="en-US" sz="2400" dirty="0"/>
              <a:t>放寬信用標準可能會增加銷貨，提升收入，但應收帳款持有成本及壞帳的損失風險也提高</a:t>
            </a:r>
          </a:p>
          <a:p>
            <a:r>
              <a:rPr lang="zh-TW" altLang="en-US" sz="2800" dirty="0"/>
              <a:t>理論上最佳信用政策：</a:t>
            </a:r>
          </a:p>
          <a:p>
            <a:pPr lvl="1"/>
            <a:r>
              <a:rPr lang="zh-TW" altLang="en-US" sz="2400" dirty="0"/>
              <a:t>使調整信用政策的邊際收益剛好等於邊際成本</a:t>
            </a:r>
          </a:p>
          <a:p>
            <a:r>
              <a:rPr lang="zh-TW" altLang="en-US" sz="2800" dirty="0"/>
              <a:t>實務上：</a:t>
            </a:r>
          </a:p>
          <a:p>
            <a:pPr lvl="1"/>
            <a:r>
              <a:rPr lang="zh-TW" altLang="en-US" sz="2400" dirty="0"/>
              <a:t>不易找出決策點</a:t>
            </a:r>
          </a:p>
          <a:p>
            <a:pPr lvl="1"/>
            <a:r>
              <a:rPr lang="zh-TW" altLang="en-US" sz="2400" dirty="0"/>
              <a:t>帳款過期越久，付款可能性越低</a:t>
            </a:r>
          </a:p>
          <a:p>
            <a:pPr lvl="1"/>
            <a:r>
              <a:rPr lang="zh-TW" altLang="en-US" sz="2400" dirty="0"/>
              <a:t>利用帳齡分析表來監管調整信用政策，減少壞帳發生率</a:t>
            </a:r>
          </a:p>
          <a:p>
            <a:endParaRPr lang="zh-TW" altLang="en-US" dirty="0"/>
          </a:p>
        </p:txBody>
      </p:sp>
    </p:spTree>
    <p:extLst>
      <p:ext uri="{BB962C8B-B14F-4D97-AF65-F5344CB8AC3E}">
        <p14:creationId xmlns:p14="http://schemas.microsoft.com/office/powerpoint/2010/main" val="126496790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帳齡分析表</a:t>
            </a:r>
            <a:endParaRPr lang="zh-TW" alt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2276872"/>
            <a:ext cx="8229600" cy="413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字方塊 2"/>
          <p:cNvSpPr txBox="1"/>
          <p:nvPr/>
        </p:nvSpPr>
        <p:spPr>
          <a:xfrm>
            <a:off x="467544" y="1412776"/>
            <a:ext cx="8237320" cy="646331"/>
          </a:xfrm>
          <a:prstGeom prst="rect">
            <a:avLst/>
          </a:prstGeom>
          <a:noFill/>
        </p:spPr>
        <p:txBody>
          <a:bodyPr wrap="none" rtlCol="0">
            <a:spAutoFit/>
          </a:bodyPr>
          <a:lstStyle/>
          <a:p>
            <a:r>
              <a:rPr lang="zh-TW" altLang="en-US" dirty="0" smtClean="0"/>
              <a:t>表示在某一時間點時，特定顧客分別有多少帳款未逾期、多少逾期</a:t>
            </a:r>
            <a:r>
              <a:rPr lang="en-US" altLang="zh-TW" dirty="0" smtClean="0"/>
              <a:t>1~30</a:t>
            </a:r>
            <a:r>
              <a:rPr lang="zh-TW" altLang="en-US" dirty="0" smtClean="0"/>
              <a:t>天</a:t>
            </a:r>
            <a:r>
              <a:rPr lang="en-US" altLang="zh-TW" dirty="0" smtClean="0"/>
              <a:t>……etc.</a:t>
            </a:r>
          </a:p>
          <a:p>
            <a:r>
              <a:rPr lang="zh-TW" altLang="en-US" dirty="0"/>
              <a:t>以求初估計的壞帳</a:t>
            </a:r>
            <a:r>
              <a:rPr lang="zh-TW" altLang="en-US" dirty="0" smtClean="0"/>
              <a:t>數目。</a:t>
            </a:r>
            <a:endParaRPr lang="zh-TW" altLang="en-US" dirty="0"/>
          </a:p>
        </p:txBody>
      </p:sp>
    </p:spTree>
    <p:extLst>
      <p:ext uri="{BB962C8B-B14F-4D97-AF65-F5344CB8AC3E}">
        <p14:creationId xmlns:p14="http://schemas.microsoft.com/office/powerpoint/2010/main" val="17073216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smtClean="0"/>
              <a:t>呆帳處理</a:t>
            </a:r>
            <a:r>
              <a:rPr lang="zh-TW" altLang="en-US" dirty="0" smtClean="0"/>
              <a:t>會計</a:t>
            </a:r>
            <a:r>
              <a:rPr lang="en-US" altLang="zh-TW" dirty="0" smtClean="0"/>
              <a:t>(p54~p56)</a:t>
            </a:r>
            <a:endParaRPr lang="zh-TW" altLang="en-US" dirty="0"/>
          </a:p>
        </p:txBody>
      </p:sp>
      <p:sp>
        <p:nvSpPr>
          <p:cNvPr id="3" name="副標題 2"/>
          <p:cNvSpPr>
            <a:spLocks noGrp="1"/>
          </p:cNvSpPr>
          <p:nvPr>
            <p:ph type="subTitle" idx="1"/>
          </p:nvPr>
        </p:nvSpPr>
        <p:spPr/>
        <p:txBody>
          <a:bodyPr/>
          <a:lstStyle/>
          <a:p>
            <a:r>
              <a:rPr lang="zh-TW" altLang="en-US" dirty="0" smtClean="0"/>
              <a:t>演講者：詹鈞傑</a:t>
            </a:r>
            <a:endParaRPr lang="zh-TW" altLang="en-US" dirty="0"/>
          </a:p>
        </p:txBody>
      </p:sp>
    </p:spTree>
    <p:extLst>
      <p:ext uri="{BB962C8B-B14F-4D97-AF65-F5344CB8AC3E}">
        <p14:creationId xmlns:p14="http://schemas.microsoft.com/office/powerpoint/2010/main" val="21452080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404664"/>
            <a:ext cx="8229600" cy="5721499"/>
          </a:xfrm>
        </p:spPr>
        <p:txBody>
          <a:bodyPr/>
          <a:lstStyle/>
          <a:p>
            <a:r>
              <a:rPr lang="en-US" altLang="zh-TW" dirty="0" smtClean="0"/>
              <a:t>On December 31,2011,Jarnigan Co. estimated that 2% of its net sales of $400,000 will become uncollectible. The company recorded this amount as an addition to allowance for Doubtful Accounts. On May 11,2012,Jarnigan Co. determined that Terry Frye’s account was uncollectible and wrote off $1,100. On June 12,2012,Frye paid the amount previously written off.</a:t>
            </a:r>
            <a:endParaRPr lang="zh-TW" altLang="en-US" dirty="0"/>
          </a:p>
        </p:txBody>
      </p:sp>
    </p:spTree>
    <p:extLst>
      <p:ext uri="{BB962C8B-B14F-4D97-AF65-F5344CB8AC3E}">
        <p14:creationId xmlns:p14="http://schemas.microsoft.com/office/powerpoint/2010/main" val="2840330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457200" y="260648"/>
            <a:ext cx="8229600" cy="6264696"/>
          </a:xfrm>
          <a:prstGeom prst="rect">
            <a:avLst/>
          </a:prstGeom>
          <a:noFill/>
          <a:ln w="9525">
            <a:noFill/>
            <a:miter lim="800000"/>
            <a:headEnd/>
            <a:tailEnd/>
          </a:ln>
        </p:spPr>
      </p:pic>
    </p:spTree>
    <p:extLst>
      <p:ext uri="{BB962C8B-B14F-4D97-AF65-F5344CB8AC3E}">
        <p14:creationId xmlns:p14="http://schemas.microsoft.com/office/powerpoint/2010/main" val="36833328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存貨管理分析</a:t>
            </a:r>
            <a:endParaRPr lang="zh-TW" altLang="en-US" dirty="0"/>
          </a:p>
        </p:txBody>
      </p:sp>
      <p:sp>
        <p:nvSpPr>
          <p:cNvPr id="3" name="內容版面配置區 2"/>
          <p:cNvSpPr>
            <a:spLocks noGrp="1"/>
          </p:cNvSpPr>
          <p:nvPr>
            <p:ph idx="1"/>
          </p:nvPr>
        </p:nvSpPr>
        <p:spPr/>
        <p:txBody>
          <a:bodyPr/>
          <a:lstStyle/>
          <a:p>
            <a:pPr>
              <a:lnSpc>
                <a:spcPct val="90000"/>
              </a:lnSpc>
            </a:pPr>
            <a:r>
              <a:rPr lang="zh-TW" altLang="en-US" dirty="0"/>
              <a:t>存貨和應收帳款一樣，都和銷售額有關</a:t>
            </a:r>
          </a:p>
          <a:p>
            <a:pPr lvl="1">
              <a:lnSpc>
                <a:spcPct val="90000"/>
              </a:lnSpc>
            </a:pPr>
            <a:r>
              <a:rPr lang="zh-TW" altLang="en-US" dirty="0"/>
              <a:t>應收帳款在銷售發生以後</a:t>
            </a:r>
          </a:p>
          <a:p>
            <a:pPr lvl="1">
              <a:lnSpc>
                <a:spcPct val="90000"/>
              </a:lnSpc>
            </a:pPr>
            <a:r>
              <a:rPr lang="zh-TW" altLang="en-US" dirty="0"/>
              <a:t>存貨管理必須在銷售前估計預測，訂有效的存貨目標</a:t>
            </a:r>
          </a:p>
          <a:p>
            <a:pPr lvl="1">
              <a:lnSpc>
                <a:spcPct val="90000"/>
              </a:lnSpc>
            </a:pPr>
            <a:r>
              <a:rPr lang="zh-TW" altLang="en-US" dirty="0"/>
              <a:t>存貨目標考量眾多因素：</a:t>
            </a:r>
          </a:p>
          <a:p>
            <a:pPr lvl="2">
              <a:lnSpc>
                <a:spcPct val="90000"/>
              </a:lnSpc>
            </a:pPr>
            <a:r>
              <a:rPr lang="zh-TW" altLang="en-US" dirty="0"/>
              <a:t>公司未來產能</a:t>
            </a:r>
          </a:p>
          <a:p>
            <a:pPr lvl="2">
              <a:lnSpc>
                <a:spcPct val="90000"/>
              </a:lnSpc>
            </a:pPr>
            <a:r>
              <a:rPr lang="zh-TW" altLang="en-US" dirty="0"/>
              <a:t>產品生命週期</a:t>
            </a:r>
          </a:p>
          <a:p>
            <a:pPr lvl="2">
              <a:lnSpc>
                <a:spcPct val="90000"/>
              </a:lnSpc>
            </a:pPr>
            <a:r>
              <a:rPr lang="zh-TW" altLang="en-US" dirty="0"/>
              <a:t>市場接受度</a:t>
            </a:r>
          </a:p>
          <a:p>
            <a:pPr lvl="2">
              <a:lnSpc>
                <a:spcPct val="90000"/>
              </a:lnSpc>
            </a:pPr>
            <a:r>
              <a:rPr lang="zh-TW" altLang="en-US" dirty="0"/>
              <a:t>新的競爭者</a:t>
            </a:r>
          </a:p>
          <a:p>
            <a:pPr lvl="2">
              <a:lnSpc>
                <a:spcPct val="90000"/>
              </a:lnSpc>
            </a:pPr>
            <a:r>
              <a:rPr lang="zh-TW" altLang="en-US" dirty="0"/>
              <a:t>總體經濟環境</a:t>
            </a:r>
            <a:r>
              <a:rPr lang="en-US" altLang="zh-TW" dirty="0"/>
              <a:t>…</a:t>
            </a:r>
            <a:r>
              <a:rPr lang="zh-TW" altLang="en-US" dirty="0"/>
              <a:t>等等</a:t>
            </a:r>
          </a:p>
          <a:p>
            <a:endParaRPr lang="zh-TW" altLang="en-US" dirty="0"/>
          </a:p>
        </p:txBody>
      </p:sp>
    </p:spTree>
    <p:extLst>
      <p:ext uri="{BB962C8B-B14F-4D97-AF65-F5344CB8AC3E}">
        <p14:creationId xmlns:p14="http://schemas.microsoft.com/office/powerpoint/2010/main" val="153924830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存貨管理分析</a:t>
            </a:r>
            <a:r>
              <a:rPr lang="en-US" altLang="zh-TW" dirty="0" smtClean="0"/>
              <a:t>(Cont.)</a:t>
            </a:r>
            <a:endParaRPr lang="zh-TW" altLang="en-US" dirty="0"/>
          </a:p>
        </p:txBody>
      </p:sp>
      <p:sp>
        <p:nvSpPr>
          <p:cNvPr id="3" name="內容版面配置區 2"/>
          <p:cNvSpPr>
            <a:spLocks noGrp="1"/>
          </p:cNvSpPr>
          <p:nvPr>
            <p:ph idx="1"/>
          </p:nvPr>
        </p:nvSpPr>
        <p:spPr/>
        <p:txBody>
          <a:bodyPr/>
          <a:lstStyle/>
          <a:p>
            <a:r>
              <a:rPr lang="zh-TW" altLang="en-US" dirty="0"/>
              <a:t>存貨管理的目的：</a:t>
            </a:r>
          </a:p>
          <a:p>
            <a:pPr lvl="1"/>
            <a:r>
              <a:rPr lang="zh-TW" altLang="en-US" dirty="0"/>
              <a:t>將存貨總成本極小化</a:t>
            </a:r>
          </a:p>
          <a:p>
            <a:r>
              <a:rPr lang="zh-TW" altLang="en-US" dirty="0"/>
              <a:t>與存貨相關的成本：</a:t>
            </a:r>
          </a:p>
          <a:p>
            <a:pPr lvl="1"/>
            <a:r>
              <a:rPr lang="zh-TW" altLang="en-US" dirty="0"/>
              <a:t>持有成本：包括存貨的倉儲、管理、保險費等</a:t>
            </a:r>
          </a:p>
          <a:p>
            <a:pPr lvl="1"/>
            <a:r>
              <a:rPr lang="zh-TW" altLang="en-US" dirty="0"/>
              <a:t>銷售成本：處理訂單所花費的各項費用</a:t>
            </a:r>
          </a:p>
          <a:p>
            <a:pPr lvl="1"/>
            <a:r>
              <a:rPr lang="zh-TW" altLang="en-US" dirty="0"/>
              <a:t>缺貨成本：存貨短缺造成銷售損失</a:t>
            </a:r>
          </a:p>
          <a:p>
            <a:endParaRPr lang="zh-TW" altLang="en-US" dirty="0"/>
          </a:p>
        </p:txBody>
      </p:sp>
    </p:spTree>
    <p:extLst>
      <p:ext uri="{BB962C8B-B14F-4D97-AF65-F5344CB8AC3E}">
        <p14:creationId xmlns:p14="http://schemas.microsoft.com/office/powerpoint/2010/main" val="17007473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存貨管理方法</a:t>
            </a:r>
          </a:p>
        </p:txBody>
      </p:sp>
      <p:sp>
        <p:nvSpPr>
          <p:cNvPr id="3" name="內容版面配置區 2"/>
          <p:cNvSpPr>
            <a:spLocks noGrp="1"/>
          </p:cNvSpPr>
          <p:nvPr>
            <p:ph idx="1"/>
          </p:nvPr>
        </p:nvSpPr>
        <p:spPr/>
        <p:txBody>
          <a:bodyPr>
            <a:normAutofit fontScale="85000" lnSpcReduction="10000"/>
          </a:bodyPr>
          <a:lstStyle/>
          <a:p>
            <a:r>
              <a:rPr lang="zh-TW" altLang="en-US" dirty="0"/>
              <a:t>經濟訂購量</a:t>
            </a:r>
            <a:r>
              <a:rPr lang="en-US" altLang="zh-TW" dirty="0"/>
              <a:t>EOQ (Economic Order Quantity)</a:t>
            </a:r>
            <a:r>
              <a:rPr lang="zh-TW" altLang="en-US" dirty="0" smtClean="0"/>
              <a:t>法</a:t>
            </a:r>
            <a:endParaRPr lang="en-US" altLang="zh-TW" dirty="0"/>
          </a:p>
          <a:p>
            <a:pPr lvl="1"/>
            <a:r>
              <a:rPr lang="zh-TW" altLang="en-US" dirty="0" smtClean="0"/>
              <a:t>以存貨成本極小</a:t>
            </a:r>
            <a:r>
              <a:rPr lang="zh-TW" altLang="en-US" dirty="0"/>
              <a:t>化為目標來決定每次訂購的最適</a:t>
            </a:r>
            <a:r>
              <a:rPr lang="zh-TW" altLang="en-US" dirty="0" smtClean="0"/>
              <a:t>數量，以數學模型求得訂購成本和持有成本相加最低的每次訂購數量</a:t>
            </a:r>
            <a:endParaRPr lang="en-US" altLang="zh-TW" dirty="0" smtClean="0"/>
          </a:p>
          <a:p>
            <a:pPr lvl="1"/>
            <a:r>
              <a:rPr lang="zh-TW" altLang="en-US" dirty="0"/>
              <a:t>另外必須考慮到訂購到到貨的前置</a:t>
            </a:r>
            <a:r>
              <a:rPr lang="zh-TW" altLang="en-US" dirty="0" smtClean="0"/>
              <a:t>時間，因此設定一個安全存量，一旦存貨低於安全存量便馬上下訂單</a:t>
            </a:r>
            <a:endParaRPr lang="zh-TW" altLang="en-US" dirty="0"/>
          </a:p>
          <a:p>
            <a:pPr lvl="1"/>
            <a:endParaRPr lang="zh-TW" altLang="en-US" dirty="0"/>
          </a:p>
          <a:p>
            <a:r>
              <a:rPr lang="zh-TW" altLang="en-US" dirty="0"/>
              <a:t>即時存貨管理</a:t>
            </a:r>
            <a:r>
              <a:rPr lang="en-US" altLang="zh-TW" dirty="0"/>
              <a:t>JIT (Just In Time</a:t>
            </a:r>
            <a:r>
              <a:rPr lang="en-US" altLang="zh-TW" dirty="0" smtClean="0"/>
              <a:t>)</a:t>
            </a:r>
          </a:p>
          <a:p>
            <a:pPr lvl="1"/>
            <a:r>
              <a:rPr lang="zh-TW" altLang="en-US" dirty="0"/>
              <a:t>希望達到零存貨的目標</a:t>
            </a:r>
          </a:p>
          <a:p>
            <a:pPr lvl="1"/>
            <a:r>
              <a:rPr lang="en-US" altLang="zh-TW" dirty="0" smtClean="0"/>
              <a:t>JIT</a:t>
            </a:r>
            <a:r>
              <a:rPr lang="zh-TW" altLang="en-US" dirty="0"/>
              <a:t>法的執行成功與否需要供應商密切配合</a:t>
            </a:r>
          </a:p>
          <a:p>
            <a:pPr lvl="1"/>
            <a:r>
              <a:rPr lang="zh-TW" altLang="en-US" dirty="0"/>
              <a:t>供應商必須在公司需要原料時及時送達</a:t>
            </a:r>
          </a:p>
          <a:p>
            <a:pPr lvl="1"/>
            <a:endParaRPr lang="en-US" altLang="zh-TW" dirty="0"/>
          </a:p>
          <a:p>
            <a:endParaRPr lang="zh-TW" altLang="en-US" dirty="0"/>
          </a:p>
        </p:txBody>
      </p:sp>
    </p:spTree>
    <p:extLst>
      <p:ext uri="{BB962C8B-B14F-4D97-AF65-F5344CB8AC3E}">
        <p14:creationId xmlns:p14="http://schemas.microsoft.com/office/powerpoint/2010/main" val="13131152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應付帳款分析</a:t>
            </a:r>
            <a:endParaRPr lang="zh-TW" altLang="en-US" dirty="0"/>
          </a:p>
        </p:txBody>
      </p:sp>
      <p:sp>
        <p:nvSpPr>
          <p:cNvPr id="3" name="內容版面配置區 2"/>
          <p:cNvSpPr>
            <a:spLocks noGrp="1"/>
          </p:cNvSpPr>
          <p:nvPr>
            <p:ph idx="1"/>
          </p:nvPr>
        </p:nvSpPr>
        <p:spPr/>
        <p:txBody>
          <a:bodyPr/>
          <a:lstStyle/>
          <a:p>
            <a:pPr>
              <a:lnSpc>
                <a:spcPct val="90000"/>
              </a:lnSpc>
            </a:pPr>
            <a:r>
              <a:rPr lang="zh-TW" altLang="en-US" sz="2800" dirty="0"/>
              <a:t>若能維持較高的應付帳款餘額</a:t>
            </a:r>
            <a:r>
              <a:rPr lang="zh-TW" altLang="en-US" sz="2800" dirty="0">
                <a:sym typeface="Wingdings" pitchFamily="2" charset="2"/>
              </a:rPr>
              <a:t>延遲公司現金支付的金額跟速度</a:t>
            </a:r>
            <a:r>
              <a:rPr lang="en-US" altLang="zh-TW" sz="2800" dirty="0">
                <a:sym typeface="Wingdings" pitchFamily="2" charset="2"/>
              </a:rPr>
              <a:t>(</a:t>
            </a:r>
            <a:r>
              <a:rPr lang="zh-TW" altLang="en-US" sz="2800" dirty="0">
                <a:sym typeface="Wingdings" pitchFamily="2" charset="2"/>
              </a:rPr>
              <a:t>為短期融資的重要一環</a:t>
            </a:r>
            <a:r>
              <a:rPr lang="en-US" altLang="zh-TW" sz="2800" dirty="0">
                <a:sym typeface="Wingdings" pitchFamily="2" charset="2"/>
              </a:rPr>
              <a:t>)</a:t>
            </a:r>
          </a:p>
          <a:p>
            <a:pPr>
              <a:lnSpc>
                <a:spcPct val="90000"/>
              </a:lnSpc>
            </a:pPr>
            <a:r>
              <a:rPr lang="zh-TW" altLang="en-US" sz="2800" dirty="0">
                <a:sym typeface="Wingdings" pitchFamily="2" charset="2"/>
              </a:rPr>
              <a:t>應付帳款融資可由三個方面進行：</a:t>
            </a:r>
          </a:p>
          <a:p>
            <a:pPr lvl="1">
              <a:lnSpc>
                <a:spcPct val="90000"/>
              </a:lnSpc>
            </a:pPr>
            <a:r>
              <a:rPr lang="zh-TW" altLang="en-US" sz="2400" dirty="0">
                <a:sym typeface="Wingdings" pitchFamily="2" charset="2"/>
              </a:rPr>
              <a:t>應付帳款的金額</a:t>
            </a:r>
          </a:p>
          <a:p>
            <a:pPr lvl="2">
              <a:lnSpc>
                <a:spcPct val="90000"/>
              </a:lnSpc>
            </a:pPr>
            <a:r>
              <a:rPr lang="zh-TW" altLang="en-US" sz="2000" dirty="0">
                <a:sym typeface="Wingdings" pitchFamily="2" charset="2"/>
              </a:rPr>
              <a:t>公司業績成長通常買入更多原料存貨應付帳款金額上升提高公司的融資額度</a:t>
            </a:r>
          </a:p>
          <a:p>
            <a:pPr lvl="1">
              <a:lnSpc>
                <a:spcPct val="90000"/>
              </a:lnSpc>
            </a:pPr>
            <a:r>
              <a:rPr lang="zh-TW" altLang="en-US" sz="2400" dirty="0">
                <a:sym typeface="Wingdings" pitchFamily="2" charset="2"/>
              </a:rPr>
              <a:t>廠商提供的現金折扣</a:t>
            </a:r>
          </a:p>
          <a:p>
            <a:pPr lvl="2">
              <a:lnSpc>
                <a:spcPct val="90000"/>
              </a:lnSpc>
            </a:pPr>
            <a:r>
              <a:rPr lang="zh-TW" altLang="en-US" sz="2000" dirty="0"/>
              <a:t>現金折扣 </a:t>
            </a:r>
            <a:r>
              <a:rPr lang="en-US" altLang="zh-TW" sz="2000" dirty="0"/>
              <a:t>VS </a:t>
            </a:r>
            <a:r>
              <a:rPr lang="zh-TW" altLang="en-US" sz="2000" dirty="0"/>
              <a:t>延遲付款</a:t>
            </a:r>
          </a:p>
          <a:p>
            <a:pPr lvl="2">
              <a:lnSpc>
                <a:spcPct val="90000"/>
              </a:lnSpc>
            </a:pPr>
            <a:r>
              <a:rPr lang="zh-TW" altLang="en-US" sz="2000" dirty="0">
                <a:sym typeface="Wingdings" pitchFamily="2" charset="2"/>
              </a:rPr>
              <a:t>利用融資額度增加而創造的利潤應當 </a:t>
            </a:r>
            <a:r>
              <a:rPr lang="en-US" altLang="zh-TW" sz="2000" dirty="0">
                <a:sym typeface="Wingdings" pitchFamily="2" charset="2"/>
              </a:rPr>
              <a:t>&gt; </a:t>
            </a:r>
            <a:r>
              <a:rPr lang="zh-TW" altLang="en-US" sz="2000" dirty="0">
                <a:sym typeface="Wingdings" pitchFamily="2" charset="2"/>
              </a:rPr>
              <a:t>現金折扣</a:t>
            </a:r>
          </a:p>
          <a:p>
            <a:pPr lvl="1">
              <a:lnSpc>
                <a:spcPct val="90000"/>
              </a:lnSpc>
            </a:pPr>
            <a:r>
              <a:rPr lang="zh-TW" altLang="en-US" sz="2400" dirty="0">
                <a:sym typeface="Wingdings" pitchFamily="2" charset="2"/>
              </a:rPr>
              <a:t>融資</a:t>
            </a:r>
            <a:r>
              <a:rPr lang="zh-TW" altLang="en-US" sz="2400" dirty="0" smtClean="0">
                <a:sym typeface="Wingdings" pitchFamily="2" charset="2"/>
              </a:rPr>
              <a:t>天數</a:t>
            </a:r>
            <a:endParaRPr lang="en-US" altLang="zh-TW" sz="2400" dirty="0" smtClean="0">
              <a:sym typeface="Wingdings" pitchFamily="2" charset="2"/>
            </a:endParaRPr>
          </a:p>
          <a:p>
            <a:pPr lvl="2">
              <a:lnSpc>
                <a:spcPct val="90000"/>
              </a:lnSpc>
            </a:pPr>
            <a:r>
              <a:rPr lang="zh-TW" altLang="en-US" dirty="0">
                <a:sym typeface="Wingdings" pitchFamily="2" charset="2"/>
              </a:rPr>
              <a:t>即應付</a:t>
            </a:r>
            <a:r>
              <a:rPr lang="zh-TW" altLang="en-US" dirty="0" smtClean="0">
                <a:sym typeface="Wingdings" pitchFamily="2" charset="2"/>
              </a:rPr>
              <a:t>帳款到期的天數</a:t>
            </a:r>
            <a:endParaRPr lang="zh-TW" altLang="en-US" dirty="0"/>
          </a:p>
        </p:txBody>
      </p:sp>
    </p:spTree>
    <p:extLst>
      <p:ext uri="{BB962C8B-B14F-4D97-AF65-F5344CB8AC3E}">
        <p14:creationId xmlns:p14="http://schemas.microsoft.com/office/powerpoint/2010/main" val="6746646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外部資金來源分析</a:t>
            </a:r>
            <a:endParaRPr lang="zh-TW" altLang="en-US" dirty="0"/>
          </a:p>
        </p:txBody>
      </p:sp>
      <p:sp>
        <p:nvSpPr>
          <p:cNvPr id="3" name="內容版面配置區 2"/>
          <p:cNvSpPr>
            <a:spLocks noGrp="1"/>
          </p:cNvSpPr>
          <p:nvPr>
            <p:ph idx="1"/>
          </p:nvPr>
        </p:nvSpPr>
        <p:spPr/>
        <p:txBody>
          <a:bodyPr/>
          <a:lstStyle/>
          <a:p>
            <a:r>
              <a:rPr lang="zh-TW" altLang="en-US" dirty="0"/>
              <a:t>銀行貸款</a:t>
            </a:r>
          </a:p>
          <a:p>
            <a:r>
              <a:rPr lang="zh-TW" altLang="en-US" dirty="0"/>
              <a:t>商業本票</a:t>
            </a:r>
          </a:p>
          <a:p>
            <a:r>
              <a:rPr lang="zh-TW" altLang="en-US" dirty="0"/>
              <a:t>擔保短期借款</a:t>
            </a:r>
          </a:p>
          <a:p>
            <a:r>
              <a:rPr lang="zh-TW" altLang="en-US" dirty="0"/>
              <a:t>應收帳款融資</a:t>
            </a:r>
          </a:p>
          <a:p>
            <a:endParaRPr lang="zh-TW" altLang="en-US" dirty="0"/>
          </a:p>
        </p:txBody>
      </p:sp>
    </p:spTree>
    <p:extLst>
      <p:ext uri="{BB962C8B-B14F-4D97-AF65-F5344CB8AC3E}">
        <p14:creationId xmlns:p14="http://schemas.microsoft.com/office/powerpoint/2010/main" val="20111623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銀行貸款</a:t>
            </a:r>
            <a:endParaRPr lang="zh-TW" altLang="en-US" dirty="0"/>
          </a:p>
        </p:txBody>
      </p:sp>
      <p:sp>
        <p:nvSpPr>
          <p:cNvPr id="3" name="內容版面配置區 2"/>
          <p:cNvSpPr>
            <a:spLocks noGrp="1"/>
          </p:cNvSpPr>
          <p:nvPr>
            <p:ph idx="1"/>
          </p:nvPr>
        </p:nvSpPr>
        <p:spPr/>
        <p:txBody>
          <a:bodyPr/>
          <a:lstStyle/>
          <a:p>
            <a:pPr>
              <a:lnSpc>
                <a:spcPct val="80000"/>
              </a:lnSpc>
            </a:pPr>
            <a:r>
              <a:rPr lang="zh-TW" altLang="en-US" sz="2000" dirty="0"/>
              <a:t>大多數是短期貸款，到期期間低於一年</a:t>
            </a:r>
          </a:p>
          <a:p>
            <a:pPr>
              <a:lnSpc>
                <a:spcPct val="80000"/>
              </a:lnSpc>
            </a:pPr>
            <a:r>
              <a:rPr lang="zh-TW" altLang="en-US" sz="2000" dirty="0"/>
              <a:t>一般公司最常用也最重要的短期外部融資</a:t>
            </a:r>
          </a:p>
          <a:p>
            <a:pPr>
              <a:lnSpc>
                <a:spcPct val="80000"/>
              </a:lnSpc>
            </a:pPr>
            <a:r>
              <a:rPr lang="zh-TW" altLang="en-US" sz="2000" dirty="0"/>
              <a:t>銀行同意貸款給借款人，會要求借款人開立本票，內容有：</a:t>
            </a:r>
          </a:p>
          <a:p>
            <a:pPr lvl="1">
              <a:lnSpc>
                <a:spcPct val="80000"/>
              </a:lnSpc>
            </a:pPr>
            <a:r>
              <a:rPr lang="zh-TW" altLang="en-US" sz="1800" dirty="0"/>
              <a:t>貸款的金額</a:t>
            </a:r>
          </a:p>
          <a:p>
            <a:pPr lvl="1">
              <a:lnSpc>
                <a:spcPct val="80000"/>
              </a:lnSpc>
            </a:pPr>
            <a:r>
              <a:rPr lang="zh-TW" altLang="en-US" sz="1800" dirty="0"/>
              <a:t>貸款適用的利率</a:t>
            </a:r>
          </a:p>
          <a:p>
            <a:pPr lvl="1">
              <a:lnSpc>
                <a:spcPct val="80000"/>
              </a:lnSpc>
            </a:pPr>
            <a:r>
              <a:rPr lang="zh-TW" altLang="en-US" sz="1800" dirty="0"/>
              <a:t>償還貸款的方式</a:t>
            </a:r>
          </a:p>
          <a:p>
            <a:pPr lvl="1">
              <a:lnSpc>
                <a:spcPct val="80000"/>
              </a:lnSpc>
            </a:pPr>
            <a:r>
              <a:rPr lang="zh-TW" altLang="en-US" sz="1800" dirty="0"/>
              <a:t>提供的擔保品</a:t>
            </a:r>
          </a:p>
          <a:p>
            <a:pPr lvl="1">
              <a:lnSpc>
                <a:spcPct val="80000"/>
              </a:lnSpc>
            </a:pPr>
            <a:r>
              <a:rPr lang="zh-TW" altLang="en-US" sz="1800" dirty="0"/>
              <a:t>其他銀行和借款人之間的協定</a:t>
            </a:r>
          </a:p>
          <a:p>
            <a:pPr>
              <a:lnSpc>
                <a:spcPct val="80000"/>
              </a:lnSpc>
            </a:pPr>
            <a:r>
              <a:rPr lang="zh-TW" altLang="en-US" sz="2000" dirty="0"/>
              <a:t>補償性餘額：</a:t>
            </a:r>
          </a:p>
          <a:p>
            <a:pPr lvl="1">
              <a:lnSpc>
                <a:spcPct val="80000"/>
              </a:lnSpc>
            </a:pPr>
            <a:r>
              <a:rPr lang="zh-TW" altLang="en-US" sz="1800" dirty="0"/>
              <a:t>銀行會要求借款人至少將其活期存款帳戶中的平均餘額維持在貸款金額的某個百分比水準之上</a:t>
            </a:r>
          </a:p>
          <a:p>
            <a:pPr>
              <a:lnSpc>
                <a:spcPct val="80000"/>
              </a:lnSpc>
            </a:pPr>
            <a:r>
              <a:rPr lang="zh-TW" altLang="en-US" sz="2000" dirty="0"/>
              <a:t>信用額度：</a:t>
            </a:r>
          </a:p>
          <a:p>
            <a:pPr lvl="1">
              <a:lnSpc>
                <a:spcPct val="80000"/>
              </a:lnSpc>
            </a:pPr>
            <a:r>
              <a:rPr lang="zh-TW" altLang="en-US" sz="1800" dirty="0"/>
              <a:t>經過評估後，銀行核准可貸放給借款人的最高資金數額</a:t>
            </a:r>
          </a:p>
          <a:p>
            <a:pPr>
              <a:lnSpc>
                <a:spcPct val="80000"/>
              </a:lnSpc>
            </a:pPr>
            <a:r>
              <a:rPr lang="zh-TW" altLang="en-US" sz="2000" dirty="0"/>
              <a:t>銀行貸款的成本通常視借款公司的規模、貸款金額、貸款期間、及公司的信用評等來決定</a:t>
            </a:r>
          </a:p>
          <a:p>
            <a:endParaRPr lang="zh-TW" altLang="en-US" dirty="0"/>
          </a:p>
        </p:txBody>
      </p:sp>
    </p:spTree>
    <p:extLst>
      <p:ext uri="{BB962C8B-B14F-4D97-AF65-F5344CB8AC3E}">
        <p14:creationId xmlns:p14="http://schemas.microsoft.com/office/powerpoint/2010/main" val="16594425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商業本票</a:t>
            </a:r>
          </a:p>
        </p:txBody>
      </p:sp>
      <p:sp>
        <p:nvSpPr>
          <p:cNvPr id="3" name="內容版面配置區 2"/>
          <p:cNvSpPr>
            <a:spLocks noGrp="1"/>
          </p:cNvSpPr>
          <p:nvPr>
            <p:ph idx="1"/>
          </p:nvPr>
        </p:nvSpPr>
        <p:spPr/>
        <p:txBody>
          <a:bodyPr/>
          <a:lstStyle/>
          <a:p>
            <a:r>
              <a:rPr lang="zh-TW" altLang="en-US" dirty="0"/>
              <a:t>公司可發行商業本票直接向資本市場集資</a:t>
            </a:r>
          </a:p>
          <a:p>
            <a:r>
              <a:rPr lang="zh-TW" altLang="en-US" dirty="0"/>
              <a:t>通常商業本票的利率較銀行貸款低，公司可以藉由商業本票取得較便宜的資金</a:t>
            </a:r>
          </a:p>
          <a:p>
            <a:r>
              <a:rPr lang="zh-TW" altLang="en-US" dirty="0"/>
              <a:t>發行商業本票的公司需通過層層審核及承銷手續</a:t>
            </a:r>
          </a:p>
          <a:p>
            <a:r>
              <a:rPr lang="zh-TW" altLang="en-US" dirty="0"/>
              <a:t>對規模較小或知名度不高的公司而言，銷售狀況可能不盡理想</a:t>
            </a:r>
          </a:p>
          <a:p>
            <a:endParaRPr lang="zh-TW" altLang="en-US" dirty="0"/>
          </a:p>
        </p:txBody>
      </p:sp>
    </p:spTree>
    <p:extLst>
      <p:ext uri="{BB962C8B-B14F-4D97-AF65-F5344CB8AC3E}">
        <p14:creationId xmlns:p14="http://schemas.microsoft.com/office/powerpoint/2010/main" val="18076089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投影片編號版面配置區 5"/>
          <p:cNvSpPr>
            <a:spLocks noGrp="1"/>
          </p:cNvSpPr>
          <p:nvPr>
            <p:ph type="sldNum" sz="quarter" idx="12"/>
          </p:nvPr>
        </p:nvSpPr>
        <p:spPr>
          <a:noFill/>
        </p:spPr>
        <p:txBody>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fld id="{B460A07C-B7A9-4183-8584-141E53A86A1B}" type="slidenum">
              <a:rPr lang="en-US" altLang="zh-TW">
                <a:solidFill>
                  <a:srgbClr val="000000"/>
                </a:solidFill>
              </a:rPr>
              <a:pPr eaLnBrk="1" hangingPunct="1"/>
              <a:t>64</a:t>
            </a:fld>
            <a:endParaRPr lang="en-US" altLang="zh-TW">
              <a:solidFill>
                <a:srgbClr val="000000"/>
              </a:solidFill>
            </a:endParaRPr>
          </a:p>
        </p:txBody>
      </p:sp>
      <p:sp>
        <p:nvSpPr>
          <p:cNvPr id="77827" name="Rectangle 2"/>
          <p:cNvSpPr>
            <a:spLocks noGrp="1" noChangeArrowheads="1"/>
          </p:cNvSpPr>
          <p:nvPr>
            <p:ph type="title"/>
          </p:nvPr>
        </p:nvSpPr>
        <p:spPr/>
        <p:txBody>
          <a:bodyPr/>
          <a:lstStyle/>
          <a:p>
            <a:pPr eaLnBrk="1" hangingPunct="1"/>
            <a:r>
              <a:rPr lang="zh-TW" altLang="en-US" smtClean="0"/>
              <a:t>擔保短期借款</a:t>
            </a:r>
          </a:p>
        </p:txBody>
      </p:sp>
      <p:sp>
        <p:nvSpPr>
          <p:cNvPr id="77828" name="Rectangle 3"/>
          <p:cNvSpPr>
            <a:spLocks noGrp="1" noChangeArrowheads="1"/>
          </p:cNvSpPr>
          <p:nvPr>
            <p:ph type="body" idx="1"/>
          </p:nvPr>
        </p:nvSpPr>
        <p:spPr/>
        <p:txBody>
          <a:bodyPr/>
          <a:lstStyle/>
          <a:p>
            <a:pPr eaLnBrk="1" hangingPunct="1"/>
            <a:r>
              <a:rPr lang="zh-TW" altLang="en-US" dirty="0" smtClean="0"/>
              <a:t>通常銀行會要求公司提供擔保品作為借款擔保，如應收帳款或是存貨</a:t>
            </a:r>
          </a:p>
          <a:p>
            <a:pPr eaLnBrk="1" hangingPunct="1"/>
            <a:r>
              <a:rPr lang="zh-TW" altLang="en-US" dirty="0" smtClean="0"/>
              <a:t>擔保品通常必須要穩定的價格和流動性</a:t>
            </a:r>
          </a:p>
          <a:p>
            <a:pPr eaLnBrk="1" hangingPunct="1"/>
            <a:r>
              <a:rPr lang="zh-TW" altLang="en-US" dirty="0" smtClean="0"/>
              <a:t>雖然利用應收帳款跟存貨作為擔保融資，可以利用非現金資產轉換現金，但也有成本：</a:t>
            </a:r>
          </a:p>
          <a:p>
            <a:pPr lvl="1" eaLnBrk="1" hangingPunct="1"/>
            <a:r>
              <a:rPr lang="zh-TW" altLang="en-US" dirty="0" smtClean="0"/>
              <a:t>評估資產價值的評等成本</a:t>
            </a:r>
            <a:r>
              <a:rPr lang="en-US" altLang="zh-TW" dirty="0" smtClean="0"/>
              <a:t>(</a:t>
            </a:r>
            <a:r>
              <a:rPr lang="zh-TW" altLang="en-US" dirty="0" smtClean="0"/>
              <a:t>手續費</a:t>
            </a:r>
            <a:r>
              <a:rPr lang="en-US" altLang="zh-TW" dirty="0" smtClean="0"/>
              <a:t>)</a:t>
            </a:r>
          </a:p>
          <a:p>
            <a:pPr lvl="1" eaLnBrk="1" hangingPunct="1"/>
            <a:r>
              <a:rPr lang="zh-TW" altLang="en-US" dirty="0" smtClean="0"/>
              <a:t>存貨價值跌而造成較高的融資成本</a:t>
            </a:r>
            <a:r>
              <a:rPr lang="en-US" altLang="zh-TW" dirty="0" smtClean="0"/>
              <a:t>…</a:t>
            </a:r>
            <a:r>
              <a:rPr lang="zh-TW" altLang="en-US" dirty="0" smtClean="0"/>
              <a:t>等</a:t>
            </a:r>
          </a:p>
        </p:txBody>
      </p:sp>
    </p:spTree>
    <p:extLst>
      <p:ext uri="{BB962C8B-B14F-4D97-AF65-F5344CB8AC3E}">
        <p14:creationId xmlns:p14="http://schemas.microsoft.com/office/powerpoint/2010/main" val="8434688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投影片編號版面配置區 5"/>
          <p:cNvSpPr>
            <a:spLocks noGrp="1"/>
          </p:cNvSpPr>
          <p:nvPr>
            <p:ph type="sldNum" sz="quarter" idx="12"/>
          </p:nvPr>
        </p:nvSpPr>
        <p:spPr>
          <a:noFill/>
        </p:spPr>
        <p:txBody>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fld id="{16039B48-F0D2-471D-90B1-A8AE87FA24B2}" type="slidenum">
              <a:rPr lang="en-US" altLang="zh-TW">
                <a:solidFill>
                  <a:srgbClr val="000000"/>
                </a:solidFill>
              </a:rPr>
              <a:pPr eaLnBrk="1" hangingPunct="1"/>
              <a:t>65</a:t>
            </a:fld>
            <a:endParaRPr lang="en-US" altLang="zh-TW">
              <a:solidFill>
                <a:srgbClr val="000000"/>
              </a:solidFill>
            </a:endParaRPr>
          </a:p>
        </p:txBody>
      </p:sp>
      <p:sp>
        <p:nvSpPr>
          <p:cNvPr id="78851" name="Rectangle 2"/>
          <p:cNvSpPr>
            <a:spLocks noGrp="1" noChangeArrowheads="1"/>
          </p:cNvSpPr>
          <p:nvPr>
            <p:ph type="title"/>
          </p:nvPr>
        </p:nvSpPr>
        <p:spPr/>
        <p:txBody>
          <a:bodyPr/>
          <a:lstStyle/>
          <a:p>
            <a:pPr eaLnBrk="1" hangingPunct="1"/>
            <a:r>
              <a:rPr lang="zh-TW" altLang="en-US" smtClean="0"/>
              <a:t>應收帳款融資</a:t>
            </a:r>
          </a:p>
        </p:txBody>
      </p:sp>
      <p:sp>
        <p:nvSpPr>
          <p:cNvPr id="78852" name="Rectangle 3"/>
          <p:cNvSpPr>
            <a:spLocks noGrp="1" noChangeArrowheads="1"/>
          </p:cNvSpPr>
          <p:nvPr>
            <p:ph type="body" idx="1"/>
          </p:nvPr>
        </p:nvSpPr>
        <p:spPr/>
        <p:txBody>
          <a:bodyPr/>
          <a:lstStyle/>
          <a:p>
            <a:pPr eaLnBrk="1" hangingPunct="1">
              <a:lnSpc>
                <a:spcPct val="80000"/>
              </a:lnSpc>
            </a:pPr>
            <a:r>
              <a:rPr lang="zh-TW" altLang="en-US" sz="2800" smtClean="0"/>
              <a:t>為了盡快取得現金，應收帳款的所有人可能將應收帳款出售予銀行或其他第三者</a:t>
            </a:r>
          </a:p>
          <a:p>
            <a:pPr eaLnBrk="1" hangingPunct="1">
              <a:lnSpc>
                <a:spcPct val="80000"/>
              </a:lnSpc>
            </a:pPr>
            <a:r>
              <a:rPr lang="zh-TW" altLang="en-US" sz="2800" smtClean="0"/>
              <a:t>應收帳款的持有人若資金短絀，且運用正常管道不易取得資金，或是取得資金成本過高，可以出售其應收帳款來代替借款</a:t>
            </a:r>
          </a:p>
          <a:p>
            <a:pPr eaLnBrk="1" hangingPunct="1">
              <a:lnSpc>
                <a:spcPct val="80000"/>
              </a:lnSpc>
            </a:pPr>
            <a:r>
              <a:rPr kumimoji="0" lang="zh-TW" altLang="en-US" sz="2800" smtClean="0"/>
              <a:t>與帳款有關的銷貨退回與讓價、銷貨折扣仍由出售帳款公司負擔</a:t>
            </a:r>
          </a:p>
          <a:p>
            <a:pPr eaLnBrk="1" hangingPunct="1">
              <a:lnSpc>
                <a:spcPct val="80000"/>
              </a:lnSpc>
            </a:pPr>
            <a:r>
              <a:rPr kumimoji="0" lang="zh-TW" altLang="en-US" sz="2800" smtClean="0"/>
              <a:t>依照是否需要負擔帳款的呆帳費用分為兩類</a:t>
            </a:r>
          </a:p>
          <a:p>
            <a:pPr lvl="1" eaLnBrk="1" hangingPunct="1">
              <a:lnSpc>
                <a:spcPct val="80000"/>
              </a:lnSpc>
            </a:pPr>
            <a:r>
              <a:rPr kumimoji="0" lang="zh-TW" altLang="en-US" sz="2400" smtClean="0"/>
              <a:t>有追索權：</a:t>
            </a:r>
          </a:p>
          <a:p>
            <a:pPr lvl="2" eaLnBrk="1" hangingPunct="1">
              <a:lnSpc>
                <a:spcPct val="80000"/>
              </a:lnSpc>
            </a:pPr>
            <a:r>
              <a:rPr kumimoji="0" lang="zh-TW" altLang="en-US" sz="2000" smtClean="0"/>
              <a:t>在符合某些會計原則之下，賣方須負擔相關的成本</a:t>
            </a:r>
          </a:p>
          <a:p>
            <a:pPr lvl="1" eaLnBrk="1" hangingPunct="1">
              <a:lnSpc>
                <a:spcPct val="80000"/>
              </a:lnSpc>
            </a:pPr>
            <a:r>
              <a:rPr kumimoji="0" lang="zh-TW" altLang="en-US" sz="2400" smtClean="0"/>
              <a:t>無追索權：</a:t>
            </a:r>
          </a:p>
          <a:p>
            <a:pPr lvl="2" eaLnBrk="1" hangingPunct="1">
              <a:lnSpc>
                <a:spcPct val="80000"/>
              </a:lnSpc>
            </a:pPr>
            <a:r>
              <a:rPr kumimoji="0" lang="zh-TW" altLang="en-US" sz="2000" smtClean="0"/>
              <a:t>買方承擔所有收管風險，自行吸收任何信用損失</a:t>
            </a:r>
          </a:p>
        </p:txBody>
      </p:sp>
    </p:spTree>
    <p:extLst>
      <p:ext uri="{BB962C8B-B14F-4D97-AF65-F5344CB8AC3E}">
        <p14:creationId xmlns:p14="http://schemas.microsoft.com/office/powerpoint/2010/main" val="16866951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587</TotalTime>
  <Words>4200</Words>
  <Application>Microsoft Office PowerPoint</Application>
  <PresentationFormat>如螢幕大小 (4:3)</PresentationFormat>
  <Paragraphs>442</Paragraphs>
  <Slides>65</Slides>
  <Notes>2</Notes>
  <HiddenSlides>0</HiddenSlides>
  <MMClips>0</MMClips>
  <ScaleCrop>false</ScaleCrop>
  <HeadingPairs>
    <vt:vector size="6" baseType="variant">
      <vt:variant>
        <vt:lpstr>佈景主題</vt:lpstr>
      </vt:variant>
      <vt:variant>
        <vt:i4>3</vt:i4>
      </vt:variant>
      <vt:variant>
        <vt:lpstr>內嵌 OLE 伺服程式</vt:lpstr>
      </vt:variant>
      <vt:variant>
        <vt:i4>2</vt:i4>
      </vt:variant>
      <vt:variant>
        <vt:lpstr>投影片標題</vt:lpstr>
      </vt:variant>
      <vt:variant>
        <vt:i4>65</vt:i4>
      </vt:variant>
    </vt:vector>
  </HeadingPairs>
  <TitlesOfParts>
    <vt:vector size="70" baseType="lpstr">
      <vt:lpstr>Office 佈景主題</vt:lpstr>
      <vt:lpstr>預設簡報設計</vt:lpstr>
      <vt:lpstr>1_Office 佈景主題</vt:lpstr>
      <vt:lpstr>方程式</vt:lpstr>
      <vt:lpstr>Equation</vt:lpstr>
      <vt:lpstr>企業金融的十二堂課 -長短期融資規劃</vt:lpstr>
      <vt:lpstr>大綱</vt:lpstr>
      <vt:lpstr>長期融資</vt:lpstr>
      <vt:lpstr>長期融資-前言</vt:lpstr>
      <vt:lpstr>長期融資-長期融資工具</vt:lpstr>
      <vt:lpstr>長期融資-長期融資工具(普通股)</vt:lpstr>
      <vt:lpstr>普通股-有限責任</vt:lpstr>
      <vt:lpstr>普通股-永久資金</vt:lpstr>
      <vt:lpstr>普通股-公司管理權</vt:lpstr>
      <vt:lpstr>普通股-享受經營成果</vt:lpstr>
      <vt:lpstr>普通股-剩餘財產分配</vt:lpstr>
      <vt:lpstr>普通股融資的優缺點</vt:lpstr>
      <vt:lpstr>長期融資-長期融資工具(特別股)</vt:lpstr>
      <vt:lpstr>長期融資-長期融資工具(特別股)</vt:lpstr>
      <vt:lpstr>特別股-依可否參加區分</vt:lpstr>
      <vt:lpstr>特別股-依可否累積區分</vt:lpstr>
      <vt:lpstr>特別股(Cont.)</vt:lpstr>
      <vt:lpstr>特別股優缺點</vt:lpstr>
      <vt:lpstr>長期融資-長期融資工具(長期債券)</vt:lpstr>
      <vt:lpstr>長期融資-長期融資工具(長期債券)</vt:lpstr>
      <vt:lpstr>負債融資的優缺點</vt:lpstr>
      <vt:lpstr>長期融資-長期融資工具(定期貸款)</vt:lpstr>
      <vt:lpstr>定期貸款分類</vt:lpstr>
      <vt:lpstr>定期貸款的優點</vt:lpstr>
      <vt:lpstr>長期融資-長期融資工具(可轉換公司債)</vt:lpstr>
      <vt:lpstr>可轉換公司債的優缺點</vt:lpstr>
      <vt:lpstr>長期融資-長期融資工具(租賃)</vt:lpstr>
      <vt:lpstr>租賃的分類</vt:lpstr>
      <vt:lpstr>租賃的優缺點</vt:lpstr>
      <vt:lpstr>長期融資-影響長期融資決策的因素</vt:lpstr>
      <vt:lpstr>長期融資-影響長期融資決策的因素</vt:lpstr>
      <vt:lpstr>長期融資-影響長期融資決策的因素</vt:lpstr>
      <vt:lpstr>加權平均到期期間(例)</vt:lpstr>
      <vt:lpstr>加權平均到期期間(Cont.)</vt:lpstr>
      <vt:lpstr>長期融資-影響長期融資決策的因素</vt:lpstr>
      <vt:lpstr>長期融資-影響長期融資決策的因素</vt:lpstr>
      <vt:lpstr>長期融資-影響長期融資決策的因素</vt:lpstr>
      <vt:lpstr>短期融資</vt:lpstr>
      <vt:lpstr>短期融資-前言</vt:lpstr>
      <vt:lpstr>短期融資-營運資金</vt:lpstr>
      <vt:lpstr>短期融資-現金轉換循環分析</vt:lpstr>
      <vt:lpstr>現金轉換循環分析(Cont.)</vt:lpstr>
      <vt:lpstr>現金轉換循環分析(Cont.)</vt:lpstr>
      <vt:lpstr>短期融資-管理營運資金的策略</vt:lpstr>
      <vt:lpstr>管理營運資金的策略-流動資產</vt:lpstr>
      <vt:lpstr>管理營運資金的策略-流動資產</vt:lpstr>
      <vt:lpstr>管理營運資金的策略-流動負債</vt:lpstr>
      <vt:lpstr>管理營運資金的策略-流動負債</vt:lpstr>
      <vt:lpstr>短期資金的取得與運用</vt:lpstr>
      <vt:lpstr>內部資金來源分析</vt:lpstr>
      <vt:lpstr>應收帳款分析</vt:lpstr>
      <vt:lpstr>應收帳款分析(續)</vt:lpstr>
      <vt:lpstr>帳齡分析表</vt:lpstr>
      <vt:lpstr>呆帳處理會計(p54~p56)</vt:lpstr>
      <vt:lpstr>PowerPoint 簡報</vt:lpstr>
      <vt:lpstr>PowerPoint 簡報</vt:lpstr>
      <vt:lpstr>存貨管理分析</vt:lpstr>
      <vt:lpstr>存貨管理分析(Cont.)</vt:lpstr>
      <vt:lpstr>存貨管理方法</vt:lpstr>
      <vt:lpstr>應付帳款分析</vt:lpstr>
      <vt:lpstr>外部資金來源分析</vt:lpstr>
      <vt:lpstr>銀行貸款</vt:lpstr>
      <vt:lpstr>商業本票</vt:lpstr>
      <vt:lpstr>擔保短期借款</vt:lpstr>
      <vt:lpstr>應收帳款融資</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企業金融的十二堂課 -長短期融資規劃</dc:title>
  <dc:creator>L.W.Huang</dc:creator>
  <cp:lastModifiedBy>L.W.Huang</cp:lastModifiedBy>
  <cp:revision>38</cp:revision>
  <dcterms:created xsi:type="dcterms:W3CDTF">2011-02-09T06:10:00Z</dcterms:created>
  <dcterms:modified xsi:type="dcterms:W3CDTF">2011-03-09T12:27:17Z</dcterms:modified>
</cp:coreProperties>
</file>