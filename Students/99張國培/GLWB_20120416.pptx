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8" r:id="rId3"/>
    <p:sldId id="341" r:id="rId4"/>
    <p:sldId id="346" r:id="rId5"/>
    <p:sldId id="372" r:id="rId6"/>
    <p:sldId id="260" r:id="rId7"/>
    <p:sldId id="267" r:id="rId8"/>
    <p:sldId id="276" r:id="rId9"/>
    <p:sldId id="347" r:id="rId10"/>
    <p:sldId id="318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73" r:id="rId20"/>
    <p:sldId id="377" r:id="rId21"/>
    <p:sldId id="378" r:id="rId22"/>
    <p:sldId id="379" r:id="rId23"/>
    <p:sldId id="381" r:id="rId24"/>
    <p:sldId id="382" r:id="rId25"/>
    <p:sldId id="384" r:id="rId26"/>
    <p:sldId id="363" r:id="rId27"/>
    <p:sldId id="364" r:id="rId28"/>
    <p:sldId id="365" r:id="rId29"/>
    <p:sldId id="348" r:id="rId30"/>
    <p:sldId id="367" r:id="rId31"/>
    <p:sldId id="320" r:id="rId32"/>
    <p:sldId id="321" r:id="rId33"/>
    <p:sldId id="325" r:id="rId34"/>
    <p:sldId id="326" r:id="rId35"/>
    <p:sldId id="349" r:id="rId36"/>
    <p:sldId id="350" r:id="rId37"/>
    <p:sldId id="369" r:id="rId38"/>
    <p:sldId id="387" r:id="rId39"/>
    <p:sldId id="388" r:id="rId40"/>
    <p:sldId id="272" r:id="rId41"/>
    <p:sldId id="375" r:id="rId42"/>
    <p:sldId id="376" r:id="rId43"/>
    <p:sldId id="385" r:id="rId44"/>
    <p:sldId id="386" r:id="rId45"/>
    <p:sldId id="389" r:id="rId4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預設章節" id="{D2A574EA-E568-4359-A24F-83B169336C5F}">
          <p14:sldIdLst>
            <p14:sldId id="256"/>
            <p14:sldId id="258"/>
            <p14:sldId id="341"/>
            <p14:sldId id="346"/>
            <p14:sldId id="372"/>
            <p14:sldId id="260"/>
            <p14:sldId id="267"/>
            <p14:sldId id="276"/>
            <p14:sldId id="347"/>
            <p14:sldId id="318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73"/>
            <p14:sldId id="377"/>
            <p14:sldId id="378"/>
            <p14:sldId id="379"/>
            <p14:sldId id="381"/>
            <p14:sldId id="382"/>
            <p14:sldId id="384"/>
            <p14:sldId id="363"/>
            <p14:sldId id="364"/>
            <p14:sldId id="365"/>
            <p14:sldId id="348"/>
            <p14:sldId id="367"/>
            <p14:sldId id="320"/>
            <p14:sldId id="321"/>
            <p14:sldId id="325"/>
            <p14:sldId id="326"/>
            <p14:sldId id="349"/>
            <p14:sldId id="350"/>
            <p14:sldId id="369"/>
            <p14:sldId id="387"/>
            <p14:sldId id="388"/>
            <p14:sldId id="272"/>
          </p14:sldIdLst>
        </p14:section>
        <p14:section name="未命名的章節" id="{7F2AB0B5-5CCA-4B4A-9ED1-EFB385A9EFB0}">
          <p14:sldIdLst>
            <p14:sldId id="375"/>
            <p14:sldId id="376"/>
            <p14:sldId id="385"/>
            <p14:sldId id="386"/>
            <p14:sldId id="3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00" autoAdjust="0"/>
  </p:normalViewPr>
  <p:slideViewPr>
    <p:cSldViewPr>
      <p:cViewPr>
        <p:scale>
          <a:sx n="70" d="100"/>
          <a:sy n="70" d="100"/>
        </p:scale>
        <p:origin x="-51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39.wmf"/><Relationship Id="rId1" Type="http://schemas.openxmlformats.org/officeDocument/2006/relationships/image" Target="../media/image4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9B4D4-3B54-4571-83E6-6790CDC926C7}" type="datetimeFigureOut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16121-F92F-46E7-9620-F46041351B4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3679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0rz.tw/4l2eX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http://0rz.tw/4l2eX</a:t>
            </a:r>
            <a:endParaRPr lang="en-US" altLang="zh-TW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1" dirty="0" smtClean="0"/>
              <a:t>金美滿變額年金保險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37137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72421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W</a:t>
            </a:r>
            <a:r>
              <a:rPr lang="zh-TW" altLang="en-US" dirty="0" smtClean="0"/>
              <a:t>受兩個</a:t>
            </a:r>
            <a:r>
              <a:rPr lang="en-US" altLang="zh-TW" dirty="0" smtClean="0"/>
              <a:t>factor</a:t>
            </a:r>
            <a:r>
              <a:rPr lang="zh-TW" altLang="en-US" dirty="0" smtClean="0"/>
              <a:t>影響，故要正交化使其上下式沒有關係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62065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θ(t)</a:t>
            </a:r>
            <a:r>
              <a:rPr lang="zh-TW" altLang="zh-TW" dirty="0" smtClean="0"/>
              <a:t>則能利用</a:t>
            </a:r>
            <a:r>
              <a:rPr lang="en-US" altLang="zh-TW" dirty="0" smtClean="0"/>
              <a:t>Hull and White (2005)</a:t>
            </a:r>
            <a:r>
              <a:rPr lang="zh-TW" altLang="en-US" dirty="0" smtClean="0"/>
              <a:t>方法估計</a:t>
            </a:r>
            <a:endParaRPr lang="en-US" altLang="zh-TW" dirty="0" smtClean="0"/>
          </a:p>
          <a:p>
            <a:r>
              <a:rPr lang="zh-TW" altLang="en-US" dirty="0" smtClean="0"/>
              <a:t>讓上下兩式彼此獨立，因此可以各自先建立模型，在合併起來，合併後模型的邊際機率就是兩者各自的邊際機率相乘</a:t>
            </a:r>
            <a:endParaRPr lang="en-US" altLang="zh-TW" dirty="0" smtClean="0"/>
          </a:p>
          <a:p>
            <a:r>
              <a:rPr lang="zh-TW" altLang="en-US" dirty="0" smtClean="0"/>
              <a:t>這就是正交化的目的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24940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Xt</a:t>
            </a:r>
            <a:r>
              <a:rPr lang="zh-TW" altLang="en-US" dirty="0" smtClean="0"/>
              <a:t>用來模擬不含利率影響的帳戶報酬率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24940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24940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24940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24940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 smtClean="0"/>
              <a:t>未來的年金折現以此類推</a:t>
            </a:r>
          </a:p>
        </p:txBody>
      </p:sp>
      <p:sp>
        <p:nvSpPr>
          <p:cNvPr id="849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CE02FC80-3F47-4F17-B537-728D4E286F6D}" type="slidenum">
              <a:rPr lang="zh-TW" altLang="en-US" smtClean="0"/>
              <a:pPr eaLnBrk="1" hangingPunct="1"/>
              <a:t>26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 dirty="0" smtClean="0"/>
              <a:t>帳戶價值</a:t>
            </a:r>
            <a:r>
              <a:rPr lang="en-US" altLang="zh-TW" dirty="0" smtClean="0"/>
              <a:t>=</a:t>
            </a:r>
            <a:r>
              <a:rPr lang="zh-TW" altLang="en-US" dirty="0" smtClean="0"/>
              <a:t>生存價值</a:t>
            </a:r>
            <a:r>
              <a:rPr lang="en-US" altLang="zh-TW" dirty="0" smtClean="0"/>
              <a:t>+</a:t>
            </a:r>
            <a:r>
              <a:rPr lang="zh-TW" altLang="en-US" dirty="0" smtClean="0"/>
              <a:t>死亡價值</a:t>
            </a:r>
            <a:r>
              <a:rPr lang="en-US" altLang="zh-TW" dirty="0" smtClean="0"/>
              <a:t>+</a:t>
            </a:r>
            <a:r>
              <a:rPr lang="zh-TW" altLang="en-US" dirty="0" smtClean="0"/>
              <a:t>年金</a:t>
            </a:r>
            <a:endParaRPr lang="en-US" altLang="zh-TW" dirty="0" smtClean="0"/>
          </a:p>
          <a:p>
            <a:r>
              <a:rPr lang="en-US" altLang="zh-TW" dirty="0" smtClean="0"/>
              <a:t>EXP(-MU67)</a:t>
            </a:r>
            <a:r>
              <a:rPr lang="zh-TW" altLang="en-US" dirty="0" smtClean="0"/>
              <a:t>指的是</a:t>
            </a:r>
            <a:r>
              <a:rPr lang="en-US" altLang="zh-TW" dirty="0" smtClean="0"/>
              <a:t>67</a:t>
            </a:r>
            <a:r>
              <a:rPr lang="zh-TW" altLang="en-US" dirty="0" smtClean="0"/>
              <a:t>歲的人可活過未來一年的機率</a:t>
            </a:r>
            <a:endParaRPr lang="en-US" altLang="zh-TW" dirty="0" smtClean="0"/>
          </a:p>
        </p:txBody>
      </p:sp>
      <p:sp>
        <p:nvSpPr>
          <p:cNvPr id="8602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3B6F5E19-2CB2-4089-B3DC-682F2E31C796}" type="slidenum">
              <a:rPr lang="zh-TW" altLang="en-US" smtClean="0"/>
              <a:pPr eaLnBrk="1" hangingPunct="1"/>
              <a:t>27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 smtClean="0"/>
              <a:t>提前解約的性質：帳戶價值越高越會提前解約</a:t>
            </a:r>
            <a:r>
              <a:rPr lang="en-US" altLang="zh-TW" smtClean="0"/>
              <a:t>(</a:t>
            </a:r>
            <a:r>
              <a:rPr lang="zh-TW" altLang="en-US" smtClean="0"/>
              <a:t>因為高帳戶價值時會面臨高保費率和高死亡成本</a:t>
            </a:r>
            <a:r>
              <a:rPr lang="en-US" altLang="zh-TW" smtClean="0"/>
              <a:t>)</a:t>
            </a:r>
            <a:endParaRPr lang="zh-TW" altLang="en-US" smtClean="0"/>
          </a:p>
        </p:txBody>
      </p:sp>
      <p:sp>
        <p:nvSpPr>
          <p:cNvPr id="870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FE63F008-13EE-462E-8F79-A40C276CC3A2}" type="slidenum">
              <a:rPr lang="zh-TW" altLang="en-US" smtClean="0"/>
              <a:pPr eaLnBrk="1" hangingPunct="1"/>
              <a:t>28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死亡力分拆成可分散及不可分散風險兩項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00881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00881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從</a:t>
            </a:r>
            <a:r>
              <a:rPr lang="en-US" altLang="zh-TW" dirty="0" err="1" smtClean="0"/>
              <a:t>qx</a:t>
            </a:r>
            <a:r>
              <a:rPr lang="zh-TW" altLang="en-US" dirty="0" smtClean="0"/>
              <a:t>到</a:t>
            </a:r>
            <a:r>
              <a:rPr lang="en-US" altLang="zh-TW" dirty="0" smtClean="0"/>
              <a:t>m(</a:t>
            </a:r>
            <a:r>
              <a:rPr lang="en-US" altLang="zh-TW" dirty="0" err="1" smtClean="0"/>
              <a:t>x,D</a:t>
            </a:r>
            <a:r>
              <a:rPr lang="en-US" altLang="zh-TW" dirty="0" smtClean="0"/>
              <a:t>) under risk-neutral measure.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03273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計算死亡率</a:t>
            </a:r>
            <a:r>
              <a:rPr lang="en-US" altLang="zh-TW" dirty="0" smtClean="0"/>
              <a:t>q</a:t>
            </a:r>
            <a:r>
              <a:rPr lang="zh-TW" altLang="en-US" dirty="0" smtClean="0"/>
              <a:t>時  皆使用</a:t>
            </a:r>
            <a:r>
              <a:rPr lang="en-US" altLang="zh-TW" dirty="0" err="1" smtClean="0"/>
              <a:t>corhort</a:t>
            </a:r>
            <a:r>
              <a:rPr lang="en-US" altLang="zh-TW" smtClean="0"/>
              <a:t> data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9444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計算死亡率</a:t>
            </a:r>
            <a:r>
              <a:rPr lang="en-US" altLang="zh-TW" dirty="0" smtClean="0"/>
              <a:t>q</a:t>
            </a:r>
            <a:r>
              <a:rPr lang="zh-TW" altLang="en-US" dirty="0" smtClean="0"/>
              <a:t>時  皆使用</a:t>
            </a:r>
            <a:r>
              <a:rPr lang="en-US" altLang="zh-TW" dirty="0" err="1" smtClean="0"/>
              <a:t>corhort</a:t>
            </a:r>
            <a:r>
              <a:rPr lang="en-US" altLang="zh-TW" dirty="0" smtClean="0"/>
              <a:t> data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9444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計算死亡率</a:t>
            </a:r>
            <a:r>
              <a:rPr lang="en-US" altLang="zh-TW" dirty="0" smtClean="0"/>
              <a:t>q</a:t>
            </a:r>
            <a:r>
              <a:rPr lang="zh-TW" altLang="en-US" dirty="0" smtClean="0"/>
              <a:t>時  皆使用</a:t>
            </a:r>
            <a:r>
              <a:rPr lang="en-US" altLang="zh-TW" dirty="0" err="1" smtClean="0"/>
              <a:t>corhort</a:t>
            </a:r>
            <a:r>
              <a:rPr lang="en-US" altLang="zh-TW" smtClean="0"/>
              <a:t> data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16121-F92F-46E7-9620-F46041351B44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9444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 smtClean="0"/>
              <a:t>建立到期末為止</a:t>
            </a:r>
          </a:p>
        </p:txBody>
      </p:sp>
      <p:sp>
        <p:nvSpPr>
          <p:cNvPr id="839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C38664CF-766E-42D8-9075-8B31417253D8}" type="slidenum">
              <a:rPr lang="zh-TW" altLang="en-US" smtClean="0"/>
              <a:pPr eaLnBrk="1" hangingPunct="1"/>
              <a:t>43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 smtClean="0"/>
              <a:t>建立到期末為止</a:t>
            </a:r>
          </a:p>
        </p:txBody>
      </p:sp>
      <p:sp>
        <p:nvSpPr>
          <p:cNvPr id="839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C38664CF-766E-42D8-9075-8B31417253D8}" type="slidenum">
              <a:rPr lang="zh-TW" altLang="en-US" smtClean="0"/>
              <a:pPr eaLnBrk="1" hangingPunct="1"/>
              <a:t>44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1543-B49F-4318-953C-2740C77788AC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7834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996-63D9-4545-A91E-5C0264874B32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1792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BBB3-9F7B-4DD4-A266-04F402E9809A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3237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6E-069A-477D-8EF5-02F03A4273F1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100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1D12-91FD-4FFC-BD67-EAED2EF2BC2A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69431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D9F7-9109-4E70-9ADE-59872A38B8E5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1560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7A75F-2F3E-44E9-8FDB-D83D0EA9EC60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31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3B-B763-4A73-882F-51A82757DEE8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6166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31696-EBBC-470E-9E7E-F2F8D52910CD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0439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8422E-F13D-43D5-AF4B-52CE58BA0548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26887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83CA3-4483-4341-973F-DF8602B3A0A5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6651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5F0BD-1092-4226-918C-4C141B888943}" type="datetime1">
              <a:rPr lang="zh-TW" altLang="en-US" smtClean="0"/>
              <a:pPr/>
              <a:t>2012/4/16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9D4A5-0B1F-4C02-B4FD-5FAB96E9F6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6252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3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3.bin"/><Relationship Id="rId5" Type="http://schemas.openxmlformats.org/officeDocument/2006/relationships/oleObject" Target="../embeddings/oleObject32.bin"/><Relationship Id="rId4" Type="http://schemas.openxmlformats.org/officeDocument/2006/relationships/oleObject" Target="../embeddings/oleObject3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36.bin"/><Relationship Id="rId4" Type="http://schemas.openxmlformats.org/officeDocument/2006/relationships/oleObject" Target="../embeddings/oleObject3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39.bin"/><Relationship Id="rId4" Type="http://schemas.openxmlformats.org/officeDocument/2006/relationships/oleObject" Target="../embeddings/oleObject3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41.bin"/><Relationship Id="rId4" Type="http://schemas.openxmlformats.org/officeDocument/2006/relationships/oleObject" Target="../embeddings/oleObject40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+mj-ea"/>
              </a:rPr>
              <a:t>在</a:t>
            </a:r>
            <a:r>
              <a:rPr lang="en-US" altLang="zh-TW" dirty="0">
                <a:latin typeface="+mj-ea"/>
              </a:rPr>
              <a:t>Hull-White </a:t>
            </a:r>
            <a:r>
              <a:rPr lang="zh-TW" altLang="en-US" dirty="0">
                <a:latin typeface="+mj-ea"/>
              </a:rPr>
              <a:t>隨機利率</a:t>
            </a:r>
            <a:r>
              <a:rPr lang="zh-TW" altLang="en-US" dirty="0" smtClean="0">
                <a:latin typeface="+mj-ea"/>
              </a:rPr>
              <a:t>及隨機死亡率下評價終身保證提領保險附約</a:t>
            </a:r>
            <a:endParaRPr lang="zh-TW" altLang="en-US" dirty="0">
              <a:latin typeface="+mj-ea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725144"/>
            <a:ext cx="6400800" cy="1080120"/>
          </a:xfrm>
        </p:spPr>
        <p:txBody>
          <a:bodyPr>
            <a:noAutofit/>
          </a:bodyPr>
          <a:lstStyle/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指導老師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戴天時 老師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         楊曉文 老師 </a:t>
            </a:r>
            <a:endParaRPr lang="en-US" altLang="zh-TW" sz="2000" dirty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學生</a:t>
            </a:r>
            <a:r>
              <a:rPr lang="en-US" altLang="zh-TW" sz="2000" dirty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張國培</a:t>
            </a:r>
            <a:endParaRPr lang="en-US" altLang="zh-TW" sz="2000" dirty="0">
              <a:latin typeface="標楷體" pitchFamily="65" charset="-120"/>
              <a:ea typeface="標楷體" pitchFamily="65" charset="-120"/>
            </a:endParaRPr>
          </a:p>
          <a:p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894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大綱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GLWB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簡介</a:t>
            </a:r>
            <a:endParaRPr lang="en-US" altLang="zh-TW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論文回顧</a:t>
            </a:r>
            <a:endParaRPr lang="en-US" altLang="zh-TW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研究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方法</a:t>
            </a:r>
            <a:endParaRPr lang="en-US" altLang="zh-TW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實驗方法</a:t>
            </a:r>
            <a:endParaRPr lang="en-US" altLang="zh-TW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研究進度</a:t>
            </a:r>
            <a:endParaRPr lang="en-US" altLang="zh-TW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7395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GLWB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簡介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379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pic>
        <p:nvPicPr>
          <p:cNvPr id="3379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433"/>
          <a:stretch>
            <a:fillRect/>
          </a:stretch>
        </p:blipFill>
        <p:spPr bwMode="auto">
          <a:xfrm>
            <a:off x="1476201" y="1700213"/>
            <a:ext cx="6480175" cy="448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文字方塊 4"/>
          <p:cNvSpPr txBox="1">
            <a:spLocks noChangeArrowheads="1"/>
          </p:cNvSpPr>
          <p:nvPr/>
        </p:nvSpPr>
        <p:spPr bwMode="auto">
          <a:xfrm>
            <a:off x="1763713" y="6308725"/>
            <a:ext cx="60483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Reference Source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：中泰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</a:rPr>
              <a:t>人壽 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金美滿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變額年金保險</a:t>
            </a:r>
          </a:p>
          <a:p>
            <a:pPr eaLnBrk="1" hangingPunct="1"/>
            <a:endParaRPr kumimoji="0"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300788" y="333375"/>
            <a:ext cx="2160587" cy="923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1.Roll-up(</a:t>
            </a:r>
            <a:r>
              <a:rPr kumimoji="0"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複利增值</a:t>
            </a:r>
            <a:r>
              <a:rPr kumimoji="0"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2.Ratchet(</a:t>
            </a:r>
            <a:r>
              <a:rPr kumimoji="0"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鎖高機制</a:t>
            </a:r>
            <a:r>
              <a:rPr kumimoji="0"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3. Break even(</a:t>
            </a:r>
            <a:r>
              <a:rPr kumimoji="0"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保本</a:t>
            </a:r>
            <a:r>
              <a:rPr kumimoji="0"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kumimoji="0"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3203575" y="1700213"/>
            <a:ext cx="144463" cy="14446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3203575" y="1916113"/>
            <a:ext cx="144463" cy="144462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3419475" y="4941888"/>
            <a:ext cx="1944688" cy="6477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200775" y="2306638"/>
            <a:ext cx="1296988" cy="1223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5" name="文字方塊 14"/>
          <p:cNvSpPr txBox="1">
            <a:spLocks noChangeArrowheads="1"/>
          </p:cNvSpPr>
          <p:nvPr/>
        </p:nvSpPr>
        <p:spPr bwMode="auto">
          <a:xfrm>
            <a:off x="1979613" y="1268413"/>
            <a:ext cx="936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>
                <a:solidFill>
                  <a:srgbClr val="0070C0"/>
                </a:solidFill>
              </a:rPr>
              <a:t>遞延期</a:t>
            </a:r>
          </a:p>
        </p:txBody>
      </p:sp>
      <p:sp>
        <p:nvSpPr>
          <p:cNvPr id="16" name="文字方塊 15"/>
          <p:cNvSpPr txBox="1">
            <a:spLocks noChangeArrowheads="1"/>
          </p:cNvSpPr>
          <p:nvPr/>
        </p:nvSpPr>
        <p:spPr bwMode="auto">
          <a:xfrm>
            <a:off x="4859338" y="1196975"/>
            <a:ext cx="936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>
                <a:solidFill>
                  <a:srgbClr val="0070C0"/>
                </a:solidFill>
              </a:rPr>
              <a:t>提領期</a:t>
            </a:r>
          </a:p>
        </p:txBody>
      </p:sp>
      <p:sp>
        <p:nvSpPr>
          <p:cNvPr id="9" name="矩形 8"/>
          <p:cNvSpPr/>
          <p:nvPr/>
        </p:nvSpPr>
        <p:spPr>
          <a:xfrm>
            <a:off x="3276600" y="1700213"/>
            <a:ext cx="2951163" cy="223361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547813" y="4868863"/>
            <a:ext cx="4968875" cy="792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6227763" y="4005263"/>
            <a:ext cx="2016125" cy="936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>
            <a:off x="3276600" y="3284538"/>
            <a:ext cx="29511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4716463" y="3429000"/>
            <a:ext cx="144462" cy="14446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187450" y="1916113"/>
            <a:ext cx="936625" cy="1657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692275" y="1700213"/>
            <a:ext cx="1584325" cy="223361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27" name="直線接點 26"/>
          <p:cNvCxnSpPr/>
          <p:nvPr/>
        </p:nvCxnSpPr>
        <p:spPr>
          <a:xfrm>
            <a:off x="2146300" y="3238500"/>
            <a:ext cx="11176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橢圓 24"/>
          <p:cNvSpPr/>
          <p:nvPr/>
        </p:nvSpPr>
        <p:spPr>
          <a:xfrm>
            <a:off x="3203575" y="3152775"/>
            <a:ext cx="144463" cy="1444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9567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6" grpId="1" animBg="1"/>
      <p:bldP spid="10" grpId="0" animBg="1"/>
      <p:bldP spid="10" grpId="1" animBg="1"/>
      <p:bldP spid="15" grpId="0"/>
      <p:bldP spid="16" grpId="0"/>
      <p:bldP spid="9" grpId="0" animBg="1"/>
      <p:bldP spid="21" grpId="0" animBg="1"/>
      <p:bldP spid="7" grpId="0" animBg="1"/>
      <p:bldP spid="7" grpId="1" animBg="1"/>
      <p:bldP spid="25" grpId="0" animBg="1"/>
      <p:bldP spid="2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Motivation</a:t>
            </a:r>
            <a:endParaRPr lang="zh-TW" altLang="en-US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更貼近真實世界來評價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GLWB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的價值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lvl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考慮利率隨機性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  <a:p>
            <a:pPr lvl="1"/>
            <a:r>
              <a:rPr lang="zh-TW" altLang="en-US" sz="2200" dirty="0">
                <a:latin typeface="標楷體" pitchFamily="65" charset="-120"/>
                <a:ea typeface="標楷體" pitchFamily="65" charset="-120"/>
              </a:rPr>
              <a:t>考慮</a:t>
            </a:r>
            <a:r>
              <a:rPr lang="zh-TW" altLang="en-US" sz="2200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隨機</a:t>
            </a:r>
            <a:r>
              <a:rPr lang="zh-TW" altLang="en-US" sz="220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死亡率</a:t>
            </a:r>
            <a:endParaRPr lang="en-US" altLang="zh-TW" sz="2200" dirty="0" smtClean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  <a:p>
            <a:pPr lvl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繳費方式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躉繳、</a:t>
            </a:r>
            <a:r>
              <a:rPr lang="zh-TW" altLang="en-US" sz="220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分期</a:t>
            </a:r>
            <a:endParaRPr lang="en-US" altLang="zh-TW" sz="2200" dirty="0" smtClean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  <a:p>
            <a:pPr lvl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考慮遞延期變化 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– 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保本機制、複利增值機制、鎖高機制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  <a:p>
            <a:pPr lvl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提前解約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動態提領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)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求出公平費用率，並分析其他因子對公平費用率的影響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提供一套標準評價程序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lvl="1"/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lvl="1"/>
            <a:endParaRPr lang="zh-TW" altLang="en-US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EBF56-A720-49A4-9D6B-84A578AC7D9E}" type="slidenum">
              <a:rPr lang="zh-TW" altLang="en-US" smtClean="0">
                <a:latin typeface="標楷體" pitchFamily="65" charset="-120"/>
                <a:ea typeface="標楷體" pitchFamily="65" charset="-120"/>
              </a:rPr>
              <a:pPr>
                <a:defRPr/>
              </a:pPr>
              <a:t>4</a:t>
            </a:fld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6219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2564904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zh-TW" altLang="en-US" sz="6000" dirty="0" smtClean="0"/>
              <a:t>論文回顧</a:t>
            </a:r>
            <a:endParaRPr lang="zh-TW" altLang="en-US" sz="60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6542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論文回顧</a:t>
            </a:r>
            <a:r>
              <a:rPr lang="en-US" altLang="zh-TW" dirty="0" smtClean="0"/>
              <a:t>-</a:t>
            </a:r>
            <a:r>
              <a:rPr lang="zh-TW" altLang="en-US" dirty="0" smtClean="0"/>
              <a:t>死亡率模型</a:t>
            </a:r>
            <a:endParaRPr lang="zh-TW" altLang="en-US" dirty="0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62171124"/>
              </p:ext>
            </p:extLst>
          </p:nvPr>
        </p:nvGraphicFramePr>
        <p:xfrm>
          <a:off x="138558" y="1487046"/>
          <a:ext cx="8897938" cy="5353050"/>
        </p:xfrm>
        <a:graphic>
          <a:graphicData uri="http://schemas.openxmlformats.org/presentationml/2006/ole">
            <p:oleObj spid="_x0000_s4188" name="方程式" r:id="rId4" imgW="4305240" imgH="2590560" progId="Equation.3">
              <p:embed/>
            </p:oleObj>
          </a:graphicData>
        </a:graphic>
      </p:graphicFrame>
      <p:sp>
        <p:nvSpPr>
          <p:cNvPr id="3" name="矩形 2"/>
          <p:cNvSpPr/>
          <p:nvPr/>
        </p:nvSpPr>
        <p:spPr>
          <a:xfrm>
            <a:off x="3923928" y="1988840"/>
            <a:ext cx="64807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圓角矩形圖說文字 3"/>
          <p:cNvSpPr/>
          <p:nvPr/>
        </p:nvSpPr>
        <p:spPr>
          <a:xfrm>
            <a:off x="4788024" y="2420888"/>
            <a:ext cx="2592288" cy="792088"/>
          </a:xfrm>
          <a:prstGeom prst="wedgeRoundRectCallout">
            <a:avLst>
              <a:gd name="adj1" fmla="val -61986"/>
              <a:gd name="adj2" fmla="val -7410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rgbClr val="FF0000"/>
                </a:solidFill>
              </a:rPr>
              <a:t>如何定義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9318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論文回顧</a:t>
            </a:r>
            <a:r>
              <a:rPr lang="en-US" altLang="zh-TW" dirty="0"/>
              <a:t>-</a:t>
            </a:r>
            <a:r>
              <a:rPr lang="zh-TW" altLang="en-US" dirty="0"/>
              <a:t>死亡率模型</a:t>
            </a: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16025292"/>
              </p:ext>
            </p:extLst>
          </p:nvPr>
        </p:nvGraphicFramePr>
        <p:xfrm>
          <a:off x="179388" y="1188917"/>
          <a:ext cx="6048796" cy="5677021"/>
        </p:xfrm>
        <a:graphic>
          <a:graphicData uri="http://schemas.openxmlformats.org/presentationml/2006/ole">
            <p:oleObj spid="_x0000_s7341" name="方程式" r:id="rId3" imgW="3543120" imgH="3327120" progId="Equation.3">
              <p:embed/>
            </p:oleObj>
          </a:graphicData>
        </a:graphic>
      </p:graphicFrame>
      <p:grpSp>
        <p:nvGrpSpPr>
          <p:cNvPr id="6" name="群組 5"/>
          <p:cNvGrpSpPr/>
          <p:nvPr/>
        </p:nvGrpSpPr>
        <p:grpSpPr>
          <a:xfrm>
            <a:off x="6011652" y="3573016"/>
            <a:ext cx="2736812" cy="1080120"/>
            <a:chOff x="9540552" y="3212976"/>
            <a:chExt cx="2736812" cy="1080120"/>
          </a:xfrm>
        </p:grpSpPr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3369434093"/>
                </p:ext>
              </p:extLst>
            </p:nvPr>
          </p:nvGraphicFramePr>
          <p:xfrm>
            <a:off x="9636001" y="3272483"/>
            <a:ext cx="2482850" cy="819150"/>
          </p:xfrm>
          <a:graphic>
            <a:graphicData uri="http://schemas.openxmlformats.org/presentationml/2006/ole">
              <p:oleObj spid="_x0000_s7342" name="方程式" r:id="rId4" imgW="1688760" imgH="558720" progId="Equation.3">
                <p:embed/>
              </p:oleObj>
            </a:graphicData>
          </a:graphic>
        </p:graphicFrame>
        <p:sp>
          <p:nvSpPr>
            <p:cNvPr id="4" name="矩形 3"/>
            <p:cNvSpPr/>
            <p:nvPr/>
          </p:nvSpPr>
          <p:spPr>
            <a:xfrm>
              <a:off x="9540552" y="3212976"/>
              <a:ext cx="2736812" cy="10801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0034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論文回顧</a:t>
            </a:r>
            <a:r>
              <a:rPr lang="en-US" altLang="zh-TW" sz="3600" dirty="0"/>
              <a:t>-</a:t>
            </a:r>
            <a:r>
              <a:rPr lang="zh-TW" altLang="en-US" sz="3600" dirty="0"/>
              <a:t>死亡率</a:t>
            </a:r>
            <a:r>
              <a:rPr lang="zh-TW" altLang="en-US" sz="3600" dirty="0" smtClean="0"/>
              <a:t>模型</a:t>
            </a:r>
            <a:r>
              <a:rPr lang="en-US" altLang="zh-TW" sz="3600" dirty="0" smtClean="0"/>
              <a:t>(</a:t>
            </a:r>
            <a:r>
              <a:rPr lang="zh-TW" altLang="en-US" sz="3600" dirty="0" smtClean="0"/>
              <a:t>參數設定</a:t>
            </a:r>
            <a:r>
              <a:rPr lang="en-US" altLang="zh-TW" sz="3600" dirty="0" smtClean="0"/>
              <a:t>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Mortality modeling with Levy processes </a:t>
            </a:r>
            <a:r>
              <a:rPr lang="en-US" altLang="zh-TW" dirty="0" err="1" smtClean="0"/>
              <a:t>Donatien</a:t>
            </a:r>
            <a:r>
              <a:rPr lang="en-US" altLang="zh-TW" dirty="0" smtClean="0"/>
              <a:t> Hainaut(2007)</a:t>
            </a:r>
          </a:p>
          <a:p>
            <a:r>
              <a:rPr lang="en-US" altLang="zh-TW" dirty="0" smtClean="0"/>
              <a:t>Data :mortality rates of the Belgian, male population for the period 1999-2001.</a:t>
            </a:r>
          </a:p>
          <a:p>
            <a:r>
              <a:rPr lang="en-US" altLang="zh-TW" dirty="0" smtClean="0"/>
              <a:t>x is set to 65</a:t>
            </a: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a</a:t>
            </a:r>
            <a:r>
              <a:rPr lang="en-US" altLang="zh-TW" sz="1100" dirty="0" err="1" smtClean="0"/>
              <a:t>D</a:t>
            </a:r>
            <a:r>
              <a:rPr lang="en-US" altLang="zh-TW" dirty="0" err="1" smtClean="0"/>
              <a:t>,b</a:t>
            </a:r>
            <a:r>
              <a:rPr lang="en-US" altLang="zh-TW" sz="1100" dirty="0" err="1" smtClean="0"/>
              <a:t>D</a:t>
            </a:r>
            <a:r>
              <a:rPr lang="en-US" altLang="zh-TW" dirty="0" smtClean="0"/>
              <a:t>,</a:t>
            </a:r>
            <a:r>
              <a:rPr lang="el-GR" altLang="zh-TW" dirty="0" smtClean="0"/>
              <a:t>σ</a:t>
            </a:r>
            <a:r>
              <a:rPr lang="en-US" altLang="zh-TW" sz="1100" dirty="0" smtClean="0"/>
              <a:t>D</a:t>
            </a:r>
            <a:r>
              <a:rPr lang="en-US" altLang="zh-TW" dirty="0" smtClean="0"/>
              <a:t>)=(0.5,-0.035,0.01)</a:t>
            </a:r>
            <a:endParaRPr lang="zh-TW" altLang="en-US" dirty="0"/>
          </a:p>
        </p:txBody>
      </p:sp>
      <p:sp>
        <p:nvSpPr>
          <p:cNvPr id="4" name="橢圓形圖說文字 3"/>
          <p:cNvSpPr/>
          <p:nvPr/>
        </p:nvSpPr>
        <p:spPr>
          <a:xfrm>
            <a:off x="5292080" y="4869160"/>
            <a:ext cx="2736304" cy="1440160"/>
          </a:xfrm>
          <a:prstGeom prst="wedgeEllipseCallout">
            <a:avLst>
              <a:gd name="adj1" fmla="val -82655"/>
              <a:gd name="adj2" fmla="val -4755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rgbClr val="FF0000"/>
                </a:solidFill>
              </a:rPr>
              <a:t>有其他參數可以使用</a:t>
            </a:r>
            <a:r>
              <a:rPr lang="en-US" altLang="zh-TW" b="1" dirty="0" smtClean="0">
                <a:solidFill>
                  <a:srgbClr val="FF0000"/>
                </a:solidFill>
              </a:rPr>
              <a:t>??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6395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300000"/>
              </a:lnSpc>
              <a:buNone/>
            </a:pPr>
            <a:r>
              <a:rPr lang="zh-TW" altLang="en-US" sz="4800" b="1" dirty="0" smtClean="0">
                <a:latin typeface="標楷體" pitchFamily="65" charset="-120"/>
                <a:ea typeface="標楷體" pitchFamily="65" charset="-120"/>
              </a:rPr>
              <a:t>         研究</a:t>
            </a:r>
            <a:r>
              <a:rPr lang="zh-TW" altLang="en-US" sz="4800" b="1" dirty="0">
                <a:latin typeface="標楷體" pitchFamily="65" charset="-120"/>
                <a:ea typeface="標楷體" pitchFamily="65" charset="-120"/>
              </a:rPr>
              <a:t>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7869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研究方法</a:t>
            </a:r>
            <a:endParaRPr lang="zh-TW" altLang="en-US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539552" y="16288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  <a:defRPr/>
            </a:pPr>
            <a:r>
              <a:rPr lang="zh-TW" altLang="en-US" sz="25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謝昌宏</a:t>
            </a:r>
            <a:r>
              <a:rPr lang="en-US" altLang="zh-TW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(2011)	</a:t>
            </a:r>
          </a:p>
          <a:p>
            <a:pPr>
              <a:buFont typeface="Arial" charset="0"/>
              <a:buNone/>
              <a:defRPr/>
            </a:pPr>
            <a:r>
              <a:rPr lang="en-US" altLang="zh-TW" sz="2500" b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  <a:r>
              <a:rPr lang="zh-TW" altLang="en-US" sz="25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模型可</a:t>
            </a:r>
            <a:r>
              <a:rPr lang="zh-TW" altLang="en-US" sz="2500" b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處理的問題</a:t>
            </a:r>
            <a:r>
              <a:rPr lang="zh-TW" altLang="en-US" sz="25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：</a:t>
            </a:r>
            <a:r>
              <a:rPr lang="en-US" altLang="zh-TW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</a:p>
          <a:p>
            <a:pPr marL="808038">
              <a:defRPr/>
            </a:pP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延伸</a:t>
            </a:r>
            <a:r>
              <a:rPr lang="en-US" altLang="zh-TW" sz="25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Milevsky</a:t>
            </a:r>
            <a:r>
              <a:rPr lang="en-US" altLang="zh-TW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and Salisbury,2006</a:t>
            </a:r>
          </a:p>
          <a:p>
            <a:pPr marL="808038">
              <a:defRPr/>
            </a:pP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利率具有隨機性</a:t>
            </a:r>
            <a:endParaRPr lang="en-US" altLang="zh-TW" sz="25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808038">
              <a:defRPr/>
            </a:pP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存在遞延期機制</a:t>
            </a:r>
            <a:endParaRPr lang="en-US" altLang="zh-TW" sz="25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808038">
              <a:defRPr/>
            </a:pP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可動態提領</a:t>
            </a:r>
            <a:r>
              <a:rPr lang="en-US" altLang="zh-TW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</a:t>
            </a: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提前解約機制</a:t>
            </a:r>
            <a:r>
              <a:rPr lang="en-US" altLang="zh-TW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marL="808038">
              <a:defRPr/>
            </a:pP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投保人可能死亡</a:t>
            </a:r>
            <a:r>
              <a:rPr lang="en-US" altLang="zh-TW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</a:t>
            </a: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假定死亡率和利率、帳戶價值獨立</a:t>
            </a:r>
            <a:r>
              <a:rPr lang="en-US" altLang="zh-TW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marL="465138" indent="0">
              <a:buNone/>
              <a:defRPr/>
            </a:pPr>
            <a:r>
              <a:rPr lang="zh-TW" altLang="en-US" sz="25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本論文新增可處理的問題</a:t>
            </a:r>
            <a:r>
              <a:rPr lang="en-US" altLang="zh-TW" sz="25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:</a:t>
            </a:r>
          </a:p>
          <a:p>
            <a:pPr marL="808038">
              <a:defRPr/>
            </a:pPr>
            <a:r>
              <a:rPr lang="zh-TW" altLang="en-US" sz="25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死亡率具有隨機</a:t>
            </a: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性</a:t>
            </a:r>
            <a:endParaRPr lang="en-US" altLang="zh-TW" sz="25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808038">
              <a:defRPr/>
            </a:pP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採用分期繳費機制</a:t>
            </a:r>
            <a:endParaRPr lang="en-US" altLang="zh-TW" sz="25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808038">
              <a:defRPr/>
            </a:pPr>
            <a:r>
              <a:rPr lang="zh-TW" altLang="en-US" sz="25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延伸</a:t>
            </a: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到</a:t>
            </a:r>
            <a:r>
              <a:rPr lang="en-US" altLang="zh-TW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GLWB</a:t>
            </a:r>
            <a:r>
              <a:rPr lang="zh-TW" altLang="en-US" sz="25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商品評價</a:t>
            </a:r>
            <a:endParaRPr lang="en-US" altLang="zh-TW" sz="25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808038" lvl="1" indent="-342900">
              <a:buFont typeface="Arial" pitchFamily="34" charset="0"/>
              <a:buChar char="•"/>
              <a:defRPr/>
            </a:pPr>
            <a:r>
              <a:rPr lang="zh-TW" altLang="en-US" sz="2200" dirty="0">
                <a:latin typeface="標楷體" pitchFamily="65" charset="-120"/>
                <a:ea typeface="標楷體" pitchFamily="65" charset="-120"/>
              </a:rPr>
              <a:t>加入</a:t>
            </a:r>
            <a:r>
              <a:rPr lang="en-US" altLang="zh-TW" sz="2200" dirty="0">
                <a:latin typeface="標楷體" pitchFamily="65" charset="-120"/>
                <a:ea typeface="標楷體" pitchFamily="65" charset="-120"/>
              </a:rPr>
              <a:t>GMAB GMDB… </a:t>
            </a:r>
            <a:r>
              <a:rPr lang="zh-TW" altLang="en-US" sz="2200" dirty="0">
                <a:latin typeface="標楷體" pitchFamily="65" charset="-120"/>
                <a:ea typeface="標楷體" pitchFamily="65" charset="-120"/>
              </a:rPr>
              <a:t>等保證型附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約</a:t>
            </a:r>
            <a:endParaRPr lang="en-US" altLang="zh-TW" sz="25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465138" indent="0">
              <a:buNone/>
              <a:defRPr/>
            </a:pPr>
            <a:endParaRPr lang="en-US" altLang="zh-TW" sz="25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4914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建構帳戶價值隨機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過程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0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   </a:t>
            </a: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0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    帳戶價值</a:t>
            </a: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Hull and White,1990:</a:t>
            </a:r>
            <a:endParaRPr lang="zh-TW" altLang="en-US" sz="2000" b="1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69018576"/>
              </p:ext>
            </p:extLst>
          </p:nvPr>
        </p:nvGraphicFramePr>
        <p:xfrm>
          <a:off x="2519362" y="2327275"/>
          <a:ext cx="4945140" cy="1245741"/>
        </p:xfrm>
        <a:graphic>
          <a:graphicData uri="http://schemas.openxmlformats.org/presentationml/2006/ole">
            <p:oleObj spid="_x0000_s71722" name="方程式" r:id="rId3" imgW="1917360" imgH="482400" progId="Equation.3">
              <p:embed/>
            </p:oleObj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34310139"/>
              </p:ext>
            </p:extLst>
          </p:nvPr>
        </p:nvGraphicFramePr>
        <p:xfrm>
          <a:off x="2476335" y="4470537"/>
          <a:ext cx="5624057" cy="791241"/>
        </p:xfrm>
        <a:graphic>
          <a:graphicData uri="http://schemas.openxmlformats.org/presentationml/2006/ole">
            <p:oleObj spid="_x0000_s71723" name="方程式" r:id="rId4" imgW="1714320" imgH="241200" progId="Equation.3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7573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建構帳戶價值隨機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過程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 楊凱旭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,2010</a:t>
            </a:r>
          </a:p>
          <a:p>
            <a:pPr marL="342900" lvl="2" indent="-342900">
              <a:buFont typeface="Arial" charset="0"/>
              <a:buNone/>
            </a:pP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  <a:r>
              <a:rPr lang="zh-TW" altLang="en-US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延續</a:t>
            </a:r>
            <a:r>
              <a:rPr lang="en-US" altLang="zh-TW" sz="2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Milevsky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and Salisbury(2006)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的設計，考量了利率的隨機變動</a:t>
            </a:r>
            <a:endParaRPr lang="en-US" altLang="zh-TW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2" indent="-342900">
              <a:buFont typeface="Arial" charset="0"/>
              <a:buNone/>
            </a:pP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為本研究採用的利率和帳戶價值變動模型</a:t>
            </a:r>
            <a:endParaRPr lang="en-US" altLang="zh-TW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44215788"/>
              </p:ext>
            </p:extLst>
          </p:nvPr>
        </p:nvGraphicFramePr>
        <p:xfrm>
          <a:off x="755576" y="3287811"/>
          <a:ext cx="5943601" cy="2157413"/>
        </p:xfrm>
        <a:graphic>
          <a:graphicData uri="http://schemas.openxmlformats.org/presentationml/2006/ole">
            <p:oleObj spid="_x0000_s72753" name="方程式" r:id="rId3" imgW="3047760" imgH="1104840" progId="Equation.3">
              <p:embed/>
            </p:oleObj>
          </a:graphicData>
        </a:graphic>
      </p:graphicFrame>
      <p:grpSp>
        <p:nvGrpSpPr>
          <p:cNvPr id="10" name="群組 9"/>
          <p:cNvGrpSpPr/>
          <p:nvPr/>
        </p:nvGrpSpPr>
        <p:grpSpPr>
          <a:xfrm>
            <a:off x="5652120" y="3645024"/>
            <a:ext cx="3240360" cy="576064"/>
            <a:chOff x="5265895" y="3717032"/>
            <a:chExt cx="3266545" cy="720080"/>
          </a:xfrm>
        </p:grpSpPr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1405742251"/>
                </p:ext>
              </p:extLst>
            </p:nvPr>
          </p:nvGraphicFramePr>
          <p:xfrm>
            <a:off x="5265895" y="3789040"/>
            <a:ext cx="3194537" cy="576064"/>
          </p:xfrm>
          <a:graphic>
            <a:graphicData uri="http://schemas.openxmlformats.org/presentationml/2006/ole">
              <p:oleObj spid="_x0000_s72754" name="方程式" r:id="rId4" imgW="1549080" imgH="279360" progId="Equation.3">
                <p:embed/>
              </p:oleObj>
            </a:graphicData>
          </a:graphic>
        </p:graphicFrame>
        <p:sp>
          <p:nvSpPr>
            <p:cNvPr id="9" name="矩形 8"/>
            <p:cNvSpPr/>
            <p:nvPr/>
          </p:nvSpPr>
          <p:spPr>
            <a:xfrm>
              <a:off x="5292080" y="3717032"/>
              <a:ext cx="3240360" cy="720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4247964" y="4797152"/>
            <a:ext cx="241226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 flipH="1">
            <a:off x="6444208" y="4221088"/>
            <a:ext cx="648072" cy="5040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0737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建構帳戶價值隨機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過程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 以矩陣形式表示</a:t>
            </a:r>
            <a:endParaRPr lang="en-US" altLang="zh-TW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1193769"/>
              </p:ext>
            </p:extLst>
          </p:nvPr>
        </p:nvGraphicFramePr>
        <p:xfrm>
          <a:off x="454025" y="2801938"/>
          <a:ext cx="7932738" cy="1203325"/>
        </p:xfrm>
        <a:graphic>
          <a:graphicData uri="http://schemas.openxmlformats.org/presentationml/2006/ole">
            <p:oleObj spid="_x0000_s73772" name="方程式" r:id="rId4" imgW="3517560" imgH="533160" progId="Equation.3">
              <p:embed/>
            </p:oleObj>
          </a:graphicData>
        </a:graphic>
      </p:graphicFrame>
      <p:graphicFrame>
        <p:nvGraphicFramePr>
          <p:cNvPr id="12" name="物件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68582514"/>
              </p:ext>
            </p:extLst>
          </p:nvPr>
        </p:nvGraphicFramePr>
        <p:xfrm>
          <a:off x="447675" y="4471988"/>
          <a:ext cx="7277100" cy="1260475"/>
        </p:xfrm>
        <a:graphic>
          <a:graphicData uri="http://schemas.openxmlformats.org/presentationml/2006/ole">
            <p:oleObj spid="_x0000_s73773" name="方程式" r:id="rId5" imgW="3225600" imgH="558720" progId="Equation.3">
              <p:embed/>
            </p:oleObj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1328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建構帳戶價值隨機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過程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 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左右同成反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矩陣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TW" sz="2400" b="1" dirty="0" smtClean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TW" sz="2400" b="1" dirty="0" smtClean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 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   </a:t>
            </a:r>
            <a:endParaRPr lang="en-US" altLang="zh-TW" sz="2400" b="1" dirty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38491291"/>
              </p:ext>
            </p:extLst>
          </p:nvPr>
        </p:nvGraphicFramePr>
        <p:xfrm>
          <a:off x="35496" y="2924944"/>
          <a:ext cx="8667750" cy="1801813"/>
        </p:xfrm>
        <a:graphic>
          <a:graphicData uri="http://schemas.openxmlformats.org/presentationml/2006/ole">
            <p:oleObj spid="_x0000_s74774" name="方程式" r:id="rId4" imgW="4647960" imgH="965160" progId="Equation.3">
              <p:embed/>
            </p:oleObj>
          </a:graphicData>
        </a:graphic>
      </p:graphicFrame>
      <p:sp>
        <p:nvSpPr>
          <p:cNvPr id="7" name="矩形 6"/>
          <p:cNvSpPr/>
          <p:nvPr/>
        </p:nvSpPr>
        <p:spPr>
          <a:xfrm>
            <a:off x="3419872" y="2996952"/>
            <a:ext cx="3312368" cy="8640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308304" y="3356992"/>
            <a:ext cx="576064" cy="43204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7308304" y="3861048"/>
            <a:ext cx="576064" cy="4320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3419872" y="3861048"/>
            <a:ext cx="3312368" cy="93610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499992" y="4941168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 smtClean="0">
                <a:solidFill>
                  <a:schemeClr val="accent6">
                    <a:lumMod val="75000"/>
                  </a:schemeClr>
                </a:solidFill>
              </a:rPr>
              <a:t>dY</a:t>
            </a:r>
            <a:r>
              <a:rPr lang="en-US" altLang="zh-TW" sz="2000" dirty="0" err="1" smtClean="0">
                <a:solidFill>
                  <a:schemeClr val="accent6">
                    <a:lumMod val="75000"/>
                  </a:schemeClr>
                </a:solidFill>
              </a:rPr>
              <a:t>t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427984" y="2276872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 smtClean="0">
                <a:solidFill>
                  <a:srgbClr val="00B050"/>
                </a:solidFill>
              </a:rPr>
              <a:t>dX</a:t>
            </a:r>
            <a:r>
              <a:rPr lang="en-US" altLang="zh-TW" sz="2000" dirty="0" err="1" smtClean="0">
                <a:solidFill>
                  <a:srgbClr val="00B050"/>
                </a:solidFill>
              </a:rPr>
              <a:t>t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644008" y="5805264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由於</a:t>
            </a:r>
            <a:r>
              <a:rPr lang="el-GR" altLang="zh-TW" dirty="0" smtClean="0">
                <a:solidFill>
                  <a:srgbClr val="FF0000"/>
                </a:solidFill>
              </a:rPr>
              <a:t>α</a:t>
            </a:r>
            <a:r>
              <a:rPr lang="zh-TW" altLang="en-US" dirty="0" smtClean="0">
                <a:solidFill>
                  <a:srgbClr val="FF0000"/>
                </a:solidFill>
              </a:rPr>
              <a:t>未知無法造樹 故先給定</a:t>
            </a:r>
            <a:r>
              <a:rPr lang="el-GR" altLang="zh-TW" dirty="0" smtClean="0">
                <a:solidFill>
                  <a:srgbClr val="FF0000"/>
                </a:solidFill>
              </a:rPr>
              <a:t>α</a:t>
            </a:r>
            <a:r>
              <a:rPr lang="zh-TW" altLang="en-US" dirty="0" smtClean="0">
                <a:solidFill>
                  <a:srgbClr val="FF0000"/>
                </a:solidFill>
              </a:rPr>
              <a:t>再調整。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6004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建構帳戶價值隨機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過程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 </a:t>
            </a:r>
            <a:r>
              <a:rPr lang="zh-TW" altLang="en-US" sz="2000" b="1" dirty="0">
                <a:latin typeface="標楷體" pitchFamily="65" charset="-120"/>
                <a:ea typeface="標楷體" pitchFamily="65" charset="-120"/>
              </a:rPr>
              <a:t>令帳戶價值本身的變動量</a:t>
            </a:r>
            <a:r>
              <a:rPr lang="en-US" altLang="zh-TW" sz="2000" b="1" dirty="0" err="1" smtClean="0">
                <a:latin typeface="標楷體" pitchFamily="65" charset="-120"/>
                <a:ea typeface="標楷體" pitchFamily="65" charset="-120"/>
              </a:rPr>
              <a:t>dX</a:t>
            </a:r>
            <a:r>
              <a:rPr lang="en-US" altLang="zh-TW" sz="1200" b="1" dirty="0" err="1" smtClean="0">
                <a:latin typeface="標楷體" pitchFamily="65" charset="-120"/>
                <a:ea typeface="標楷體" pitchFamily="65" charset="-120"/>
              </a:rPr>
              <a:t>t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和利率對帳戶價值的變動量</a:t>
            </a:r>
            <a:r>
              <a:rPr lang="en-US" altLang="zh-TW" sz="2000" b="1" dirty="0" err="1" smtClean="0">
                <a:latin typeface="標楷體" pitchFamily="65" charset="-120"/>
                <a:ea typeface="標楷體" pitchFamily="65" charset="-120"/>
              </a:rPr>
              <a:t>dY</a:t>
            </a:r>
            <a:r>
              <a:rPr lang="en-US" altLang="zh-TW" sz="1100" b="1" dirty="0" err="1" smtClean="0">
                <a:latin typeface="標楷體" pitchFamily="65" charset="-120"/>
                <a:ea typeface="標楷體" pitchFamily="65" charset="-120"/>
              </a:rPr>
              <a:t>t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為</a:t>
            </a: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:</a:t>
            </a:r>
            <a:endParaRPr lang="en-US" altLang="zh-TW" sz="2000" b="1" dirty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59306814"/>
              </p:ext>
            </p:extLst>
          </p:nvPr>
        </p:nvGraphicFramePr>
        <p:xfrm>
          <a:off x="877888" y="2565400"/>
          <a:ext cx="3933825" cy="1754188"/>
        </p:xfrm>
        <a:graphic>
          <a:graphicData uri="http://schemas.openxmlformats.org/presentationml/2006/ole">
            <p:oleObj spid="_x0000_s75838" name="方程式" r:id="rId4" imgW="2108160" imgH="939600" progId="Equation.3">
              <p:embed/>
            </p:oleObj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20833532"/>
              </p:ext>
            </p:extLst>
          </p:nvPr>
        </p:nvGraphicFramePr>
        <p:xfrm>
          <a:off x="792163" y="4318000"/>
          <a:ext cx="4410075" cy="2085975"/>
        </p:xfrm>
        <a:graphic>
          <a:graphicData uri="http://schemas.openxmlformats.org/presentationml/2006/ole">
            <p:oleObj spid="_x0000_s75839" name="方程式" r:id="rId5" imgW="2361960" imgH="1117440" progId="Equation.3">
              <p:embed/>
            </p:oleObj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24950855"/>
              </p:ext>
            </p:extLst>
          </p:nvPr>
        </p:nvGraphicFramePr>
        <p:xfrm>
          <a:off x="4508500" y="3314700"/>
          <a:ext cx="127000" cy="228600"/>
        </p:xfrm>
        <a:graphic>
          <a:graphicData uri="http://schemas.openxmlformats.org/presentationml/2006/ole">
            <p:oleObj spid="_x0000_s75840" name="方程式" r:id="rId6" imgW="126720" imgH="228600" progId="Equation.3">
              <p:embed/>
            </p:oleObj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577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建構帳戶價值隨機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過程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  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假定在期初無變動量，即</a:t>
            </a: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X</a:t>
            </a:r>
            <a:r>
              <a:rPr lang="en-US" altLang="zh-TW" sz="1200" b="1" dirty="0" smtClean="0">
                <a:latin typeface="標楷體" pitchFamily="65" charset="-120"/>
                <a:ea typeface="標楷體" pitchFamily="65" charset="-120"/>
              </a:rPr>
              <a:t>0</a:t>
            </a: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=0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，</a:t>
            </a: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Y</a:t>
            </a:r>
            <a:r>
              <a:rPr lang="en-US" altLang="zh-TW" sz="1400" b="1" dirty="0" smtClean="0">
                <a:latin typeface="標楷體" pitchFamily="65" charset="-120"/>
                <a:ea typeface="標楷體" pitchFamily="65" charset="-120"/>
              </a:rPr>
              <a:t>0</a:t>
            </a: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=0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，可求得一轉換式</a:t>
            </a: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:</a:t>
            </a: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     因此我們可以先建構</a:t>
            </a:r>
            <a:r>
              <a:rPr lang="en-US" altLang="zh-TW" sz="2000" b="1" dirty="0" err="1" smtClean="0">
                <a:latin typeface="標楷體" pitchFamily="65" charset="-120"/>
                <a:ea typeface="標楷體" pitchFamily="65" charset="-120"/>
              </a:rPr>
              <a:t>X</a:t>
            </a:r>
            <a:r>
              <a:rPr lang="en-US" altLang="zh-TW" sz="1400" b="1" dirty="0" err="1" smtClean="0">
                <a:latin typeface="標楷體" pitchFamily="65" charset="-120"/>
                <a:ea typeface="標楷體" pitchFamily="65" charset="-120"/>
              </a:rPr>
              <a:t>t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和</a:t>
            </a:r>
            <a:r>
              <a:rPr lang="en-US" altLang="zh-TW" sz="2000" b="1" dirty="0" err="1" smtClean="0">
                <a:latin typeface="標楷體" pitchFamily="65" charset="-120"/>
                <a:ea typeface="標楷體" pitchFamily="65" charset="-120"/>
              </a:rPr>
              <a:t>Y</a:t>
            </a:r>
            <a:r>
              <a:rPr lang="en-US" altLang="zh-TW" sz="1400" b="1" dirty="0" err="1" smtClean="0">
                <a:latin typeface="標楷體" pitchFamily="65" charset="-120"/>
                <a:ea typeface="標楷體" pitchFamily="65" charset="-120"/>
              </a:rPr>
              <a:t>t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兩個獨立的隨機過程，即可表示出帳戶</a:t>
            </a:r>
            <a:r>
              <a:rPr lang="en-US" altLang="zh-TW" sz="2000" b="1" dirty="0" err="1" smtClean="0">
                <a:latin typeface="標楷體" pitchFamily="65" charset="-120"/>
                <a:ea typeface="標楷體" pitchFamily="65" charset="-120"/>
              </a:rPr>
              <a:t>Wt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的隨機過程    </a:t>
            </a: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20534490"/>
              </p:ext>
            </p:extLst>
          </p:nvPr>
        </p:nvGraphicFramePr>
        <p:xfrm>
          <a:off x="4508500" y="3314700"/>
          <a:ext cx="127000" cy="228600"/>
        </p:xfrm>
        <a:graphic>
          <a:graphicData uri="http://schemas.openxmlformats.org/presentationml/2006/ole">
            <p:oleObj spid="_x0000_s76842" name="方程式" r:id="rId4" imgW="126720" imgH="228600" progId="Equation.3">
              <p:embed/>
            </p:oleObj>
          </a:graphicData>
        </a:graphic>
      </p:graphicFrame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22241513"/>
              </p:ext>
            </p:extLst>
          </p:nvPr>
        </p:nvGraphicFramePr>
        <p:xfrm>
          <a:off x="441325" y="2708275"/>
          <a:ext cx="7902575" cy="1092200"/>
        </p:xfrm>
        <a:graphic>
          <a:graphicData uri="http://schemas.openxmlformats.org/presentationml/2006/ole">
            <p:oleObj spid="_x0000_s76843" name="方程式" r:id="rId5" imgW="2019240" imgH="279360" progId="Equation.3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9917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-1.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建構帳戶價值隨機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過程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    建構</a:t>
            </a:r>
            <a:r>
              <a:rPr lang="en-US" altLang="zh-TW" sz="2400" b="1" dirty="0" err="1" smtClean="0">
                <a:latin typeface="標楷體" pitchFamily="65" charset="-120"/>
                <a:ea typeface="標楷體" pitchFamily="65" charset="-120"/>
              </a:rPr>
              <a:t>Y</a:t>
            </a:r>
            <a:r>
              <a:rPr lang="en-US" altLang="zh-TW" sz="1600" b="1" dirty="0" err="1" smtClean="0">
                <a:latin typeface="標楷體" pitchFamily="65" charset="-120"/>
                <a:ea typeface="標楷體" pitchFamily="65" charset="-120"/>
              </a:rPr>
              <a:t>t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樹</a:t>
            </a:r>
            <a:endParaRPr lang="en-US" altLang="zh-TW" sz="16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先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利用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Hull-White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建構</a:t>
            </a:r>
            <a:r>
              <a:rPr lang="en-US" altLang="zh-TW" sz="2400" dirty="0" err="1" smtClean="0">
                <a:latin typeface="標楷體" pitchFamily="65" charset="-120"/>
                <a:ea typeface="標楷體" pitchFamily="65" charset="-120"/>
              </a:rPr>
              <a:t>r</a:t>
            </a:r>
            <a:r>
              <a:rPr lang="en-US" altLang="zh-TW" sz="1200" dirty="0" err="1" smtClean="0">
                <a:latin typeface="標楷體" pitchFamily="65" charset="-120"/>
                <a:ea typeface="標楷體" pitchFamily="65" charset="-120"/>
              </a:rPr>
              <a:t>t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樹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，再利用一對一轉換為</a:t>
            </a:r>
            <a:r>
              <a:rPr lang="en-US" altLang="zh-TW" sz="2000" dirty="0" err="1" smtClean="0">
                <a:latin typeface="標楷體" pitchFamily="65" charset="-120"/>
                <a:ea typeface="標楷體" pitchFamily="65" charset="-120"/>
              </a:rPr>
              <a:t>Yt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樹</a:t>
            </a:r>
            <a:endParaRPr lang="en-US" altLang="zh-TW" sz="2000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       </a:t>
            </a: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296" r="5994"/>
          <a:stretch>
            <a:fillRect/>
          </a:stretch>
        </p:blipFill>
        <p:spPr bwMode="auto">
          <a:xfrm>
            <a:off x="395288" y="2996778"/>
            <a:ext cx="807402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1852098"/>
              </p:ext>
            </p:extLst>
          </p:nvPr>
        </p:nvGraphicFramePr>
        <p:xfrm>
          <a:off x="1331641" y="6137296"/>
          <a:ext cx="288032" cy="287374"/>
        </p:xfrm>
        <a:graphic>
          <a:graphicData uri="http://schemas.openxmlformats.org/presentationml/2006/ole">
            <p:oleObj spid="_x0000_s77864" name="方程式" r:id="rId5" imgW="177480" imgH="177480" progId="Equation.3">
              <p:embed/>
            </p:oleObj>
          </a:graphicData>
        </a:graphic>
      </p:graphicFrame>
      <p:graphicFrame>
        <p:nvGraphicFramePr>
          <p:cNvPr id="9" name="物件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30155018"/>
              </p:ext>
            </p:extLst>
          </p:nvPr>
        </p:nvGraphicFramePr>
        <p:xfrm>
          <a:off x="6300192" y="6093296"/>
          <a:ext cx="287337" cy="287338"/>
        </p:xfrm>
        <a:graphic>
          <a:graphicData uri="http://schemas.openxmlformats.org/presentationml/2006/ole">
            <p:oleObj spid="_x0000_s77865" name="方程式" r:id="rId6" imgW="177492" imgH="177492" progId="Equation.3">
              <p:embed/>
            </p:oleObj>
          </a:graphicData>
        </a:graphic>
      </p:graphicFrame>
      <p:sp>
        <p:nvSpPr>
          <p:cNvPr id="10" name="矩形 9"/>
          <p:cNvSpPr/>
          <p:nvPr/>
        </p:nvSpPr>
        <p:spPr>
          <a:xfrm>
            <a:off x="3572834" y="4293096"/>
            <a:ext cx="165618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91880" y="2852936"/>
            <a:ext cx="5049441" cy="3672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6960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-2.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建構帳戶價值隨機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過程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  建構</a:t>
            </a:r>
            <a:r>
              <a:rPr lang="en-US" altLang="zh-TW" sz="2400" b="1" dirty="0" err="1" smtClean="0">
                <a:latin typeface="標楷體" pitchFamily="65" charset="-120"/>
                <a:ea typeface="標楷體" pitchFamily="65" charset="-120"/>
              </a:rPr>
              <a:t>X</a:t>
            </a:r>
            <a:r>
              <a:rPr lang="en-US" altLang="zh-TW" sz="1600" b="1" dirty="0" err="1" smtClean="0">
                <a:latin typeface="標楷體" pitchFamily="65" charset="-120"/>
                <a:ea typeface="標楷體" pitchFamily="65" charset="-120"/>
              </a:rPr>
              <a:t>t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樹</a:t>
            </a:r>
            <a:endParaRPr lang="en-US" altLang="zh-TW" sz="16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       </a:t>
            </a:r>
            <a:endParaRPr lang="en-US" altLang="zh-TW" sz="20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b="1" dirty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4" name="橢圓 33"/>
          <p:cNvSpPr/>
          <p:nvPr/>
        </p:nvSpPr>
        <p:spPr bwMode="auto">
          <a:xfrm>
            <a:off x="2123728" y="5109121"/>
            <a:ext cx="192087" cy="192087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56" name="群組 55"/>
          <p:cNvGrpSpPr/>
          <p:nvPr/>
        </p:nvGrpSpPr>
        <p:grpSpPr>
          <a:xfrm>
            <a:off x="899592" y="3524944"/>
            <a:ext cx="2560637" cy="2576582"/>
            <a:chOff x="899592" y="3524944"/>
            <a:chExt cx="2560637" cy="2576582"/>
          </a:xfrm>
        </p:grpSpPr>
        <p:grpSp>
          <p:nvGrpSpPr>
            <p:cNvPr id="55" name="群組 54"/>
            <p:cNvGrpSpPr/>
            <p:nvPr/>
          </p:nvGrpSpPr>
          <p:grpSpPr>
            <a:xfrm>
              <a:off x="899592" y="5517232"/>
              <a:ext cx="2560637" cy="584294"/>
              <a:chOff x="899592" y="5517232"/>
              <a:chExt cx="2560637" cy="584294"/>
            </a:xfrm>
          </p:grpSpPr>
          <p:grpSp>
            <p:nvGrpSpPr>
              <p:cNvPr id="8" name="群組 7"/>
              <p:cNvGrpSpPr/>
              <p:nvPr/>
            </p:nvGrpSpPr>
            <p:grpSpPr>
              <a:xfrm>
                <a:off x="899592" y="5517232"/>
                <a:ext cx="2560637" cy="584294"/>
                <a:chOff x="899592" y="5517232"/>
                <a:chExt cx="2560637" cy="584294"/>
              </a:xfrm>
            </p:grpSpPr>
            <p:graphicFrame>
              <p:nvGraphicFramePr>
                <p:cNvPr id="27" name="物件 2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xmlns="" val="1658998878"/>
                    </p:ext>
                  </p:extLst>
                </p:nvPr>
              </p:nvGraphicFramePr>
              <p:xfrm>
                <a:off x="2078173" y="5752904"/>
                <a:ext cx="287337" cy="287338"/>
              </p:xfrm>
              <a:graphic>
                <a:graphicData uri="http://schemas.openxmlformats.org/presentationml/2006/ole">
                  <p:oleObj spid="_x0000_s78888" name="方程式" r:id="rId4" imgW="177492" imgH="177492" progId="Equation.3">
                    <p:embed/>
                  </p:oleObj>
                </a:graphicData>
              </a:graphic>
            </p:graphicFrame>
            <p:cxnSp>
              <p:nvCxnSpPr>
                <p:cNvPr id="28" name="直線接點 27"/>
                <p:cNvCxnSpPr/>
                <p:nvPr/>
              </p:nvCxnSpPr>
              <p:spPr bwMode="auto">
                <a:xfrm>
                  <a:off x="899592" y="5645819"/>
                  <a:ext cx="256063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/>
                <p:cNvCxnSpPr/>
                <p:nvPr/>
              </p:nvCxnSpPr>
              <p:spPr bwMode="auto">
                <a:xfrm rot="5400000">
                  <a:off x="1316310" y="5613276"/>
                  <a:ext cx="192087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線接點 29"/>
                <p:cNvCxnSpPr/>
                <p:nvPr/>
              </p:nvCxnSpPr>
              <p:spPr bwMode="auto">
                <a:xfrm rot="5400000">
                  <a:off x="2097360" y="5625976"/>
                  <a:ext cx="192087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文字方塊 27"/>
                <p:cNvSpPr txBox="1">
                  <a:spLocks noChangeArrowheads="1"/>
                </p:cNvSpPr>
                <p:nvPr/>
              </p:nvSpPr>
              <p:spPr bwMode="auto">
                <a:xfrm>
                  <a:off x="1283732" y="5773242"/>
                  <a:ext cx="576210" cy="3282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eaLnBrk="1" hangingPunct="1"/>
                  <a:r>
                    <a:rPr lang="en-US" altLang="zh-TW"/>
                    <a:t>0</a:t>
                  </a:r>
                  <a:endParaRPr lang="zh-TW" altLang="en-US"/>
                </a:p>
              </p:txBody>
            </p:sp>
          </p:grpSp>
          <p:graphicFrame>
            <p:nvGraphicFramePr>
              <p:cNvPr id="32" name="物件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xmlns="" val="2307301162"/>
                  </p:ext>
                </p:extLst>
              </p:nvPr>
            </p:nvGraphicFramePr>
            <p:xfrm>
              <a:off x="2709863" y="5733256"/>
              <a:ext cx="411162" cy="287338"/>
            </p:xfrm>
            <a:graphic>
              <a:graphicData uri="http://schemas.openxmlformats.org/presentationml/2006/ole">
                <p:oleObj spid="_x0000_s78889" name="方程式" r:id="rId5" imgW="253800" imgH="177480" progId="Equation.3">
                  <p:embed/>
                </p:oleObj>
              </a:graphicData>
            </a:graphic>
          </p:graphicFrame>
          <p:cxnSp>
            <p:nvCxnSpPr>
              <p:cNvPr id="33" name="直線接點 32"/>
              <p:cNvCxnSpPr/>
              <p:nvPr/>
            </p:nvCxnSpPr>
            <p:spPr bwMode="auto">
              <a:xfrm rot="5400000">
                <a:off x="2791682" y="5637212"/>
                <a:ext cx="19208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橢圓 35"/>
            <p:cNvSpPr/>
            <p:nvPr/>
          </p:nvSpPr>
          <p:spPr bwMode="auto">
            <a:xfrm>
              <a:off x="1331640" y="3524944"/>
              <a:ext cx="192087" cy="19208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2123728" y="2564904"/>
            <a:ext cx="192087" cy="2239962"/>
            <a:chOff x="2123728" y="2564904"/>
            <a:chExt cx="192087" cy="2239962"/>
          </a:xfrm>
        </p:grpSpPr>
        <p:sp>
          <p:nvSpPr>
            <p:cNvPr id="37" name="橢圓 36"/>
            <p:cNvSpPr/>
            <p:nvPr/>
          </p:nvSpPr>
          <p:spPr bwMode="auto">
            <a:xfrm>
              <a:off x="2123728" y="3037979"/>
              <a:ext cx="192087" cy="1920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 bwMode="auto">
            <a:xfrm>
              <a:off x="2123728" y="3588841"/>
              <a:ext cx="192087" cy="192088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9" name="橢圓 38"/>
            <p:cNvSpPr/>
            <p:nvPr/>
          </p:nvSpPr>
          <p:spPr bwMode="auto">
            <a:xfrm>
              <a:off x="2123728" y="4101604"/>
              <a:ext cx="192087" cy="1920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 bwMode="auto">
            <a:xfrm>
              <a:off x="2123728" y="4612779"/>
              <a:ext cx="192087" cy="1920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1" name="橢圓 40"/>
            <p:cNvSpPr/>
            <p:nvPr/>
          </p:nvSpPr>
          <p:spPr bwMode="auto">
            <a:xfrm>
              <a:off x="2123728" y="2564904"/>
              <a:ext cx="192087" cy="1920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cxnSp>
        <p:nvCxnSpPr>
          <p:cNvPr id="42" name="直線單箭頭接點 41"/>
          <p:cNvCxnSpPr/>
          <p:nvPr/>
        </p:nvCxnSpPr>
        <p:spPr bwMode="auto">
          <a:xfrm>
            <a:off x="1547664" y="3657054"/>
            <a:ext cx="504056" cy="599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群組 48"/>
          <p:cNvGrpSpPr/>
          <p:nvPr/>
        </p:nvGrpSpPr>
        <p:grpSpPr>
          <a:xfrm>
            <a:off x="2123728" y="3037384"/>
            <a:ext cx="192087" cy="1255712"/>
            <a:chOff x="2123728" y="3037384"/>
            <a:chExt cx="192087" cy="1255712"/>
          </a:xfrm>
        </p:grpSpPr>
        <p:sp>
          <p:nvSpPr>
            <p:cNvPr id="46" name="橢圓 45"/>
            <p:cNvSpPr/>
            <p:nvPr/>
          </p:nvSpPr>
          <p:spPr bwMode="auto">
            <a:xfrm>
              <a:off x="2123728" y="3037384"/>
              <a:ext cx="192087" cy="19208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7" name="橢圓 46"/>
            <p:cNvSpPr/>
            <p:nvPr/>
          </p:nvSpPr>
          <p:spPr bwMode="auto">
            <a:xfrm>
              <a:off x="2123728" y="3588246"/>
              <a:ext cx="192087" cy="192088"/>
            </a:xfrm>
            <a:prstGeom prst="ellips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8" name="橢圓 47"/>
            <p:cNvSpPr/>
            <p:nvPr/>
          </p:nvSpPr>
          <p:spPr bwMode="auto">
            <a:xfrm>
              <a:off x="2123728" y="4101009"/>
              <a:ext cx="192087" cy="19208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1547664" y="3230066"/>
            <a:ext cx="576064" cy="919014"/>
            <a:chOff x="1547664" y="3230066"/>
            <a:chExt cx="576064" cy="919014"/>
          </a:xfrm>
        </p:grpSpPr>
        <p:cxnSp>
          <p:nvCxnSpPr>
            <p:cNvPr id="50" name="直線單箭頭接點 49"/>
            <p:cNvCxnSpPr/>
            <p:nvPr/>
          </p:nvCxnSpPr>
          <p:spPr bwMode="auto">
            <a:xfrm>
              <a:off x="1547664" y="3741092"/>
              <a:ext cx="557288" cy="407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 bwMode="auto">
            <a:xfrm flipV="1">
              <a:off x="1572373" y="3230066"/>
              <a:ext cx="551355" cy="3138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617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</a:t>
            </a:r>
            <a:r>
              <a:rPr lang="zh-TW" altLang="en-US" dirty="0" smtClean="0"/>
              <a:t>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19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2735263" y="4221163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735263" y="4185444"/>
            <a:ext cx="1692721" cy="35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735263" y="4221163"/>
            <a:ext cx="324569" cy="864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763688" y="314096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060229" y="374506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37"/>
          <p:cNvSpPr txBox="1">
            <a:spLocks noChangeArrowheads="1"/>
          </p:cNvSpPr>
          <p:nvPr/>
        </p:nvSpPr>
        <p:spPr bwMode="auto">
          <a:xfrm>
            <a:off x="755378" y="2492896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1" name="內容版面配置區 1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1-3.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endParaRPr lang="en-US" altLang="zh-TW" dirty="0" smtClean="0"/>
          </a:p>
          <a:p>
            <a:r>
              <a:rPr lang="en-US" altLang="zh-TW" sz="1600" dirty="0" smtClean="0"/>
              <a:t>Step1:</a:t>
            </a:r>
            <a:r>
              <a:rPr lang="zh-TW" altLang="en-US" sz="1600" dirty="0" smtClean="0"/>
              <a:t>先展開</a:t>
            </a:r>
            <a:r>
              <a:rPr lang="en-US" altLang="zh-TW" sz="1600" dirty="0" smtClean="0"/>
              <a:t>Y(t)</a:t>
            </a:r>
            <a:r>
              <a:rPr lang="zh-TW" altLang="en-US" sz="1600" dirty="0" smtClean="0"/>
              <a:t>樹</a:t>
            </a:r>
            <a:endParaRPr lang="zh-TW" altLang="en-US" sz="1600" dirty="0"/>
          </a:p>
        </p:txBody>
      </p:sp>
      <p:sp>
        <p:nvSpPr>
          <p:cNvPr id="112" name="文字方塊 38"/>
          <p:cNvSpPr txBox="1">
            <a:spLocks noChangeArrowheads="1"/>
          </p:cNvSpPr>
          <p:nvPr/>
        </p:nvSpPr>
        <p:spPr bwMode="auto">
          <a:xfrm>
            <a:off x="539229" y="572340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3" name="文字方塊 38"/>
          <p:cNvSpPr txBox="1">
            <a:spLocks noChangeArrowheads="1"/>
          </p:cNvSpPr>
          <p:nvPr/>
        </p:nvSpPr>
        <p:spPr bwMode="auto">
          <a:xfrm>
            <a:off x="1403648" y="5877272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4" name="文字方塊 38"/>
          <p:cNvSpPr txBox="1">
            <a:spLocks noChangeArrowheads="1"/>
          </p:cNvSpPr>
          <p:nvPr/>
        </p:nvSpPr>
        <p:spPr bwMode="auto">
          <a:xfrm>
            <a:off x="467544" y="5445224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5" name="文字方塊 38"/>
          <p:cNvSpPr txBox="1">
            <a:spLocks noChangeArrowheads="1"/>
          </p:cNvSpPr>
          <p:nvPr/>
        </p:nvSpPr>
        <p:spPr bwMode="auto">
          <a:xfrm>
            <a:off x="2771477" y="644348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6" name="文字方塊 37"/>
          <p:cNvSpPr txBox="1">
            <a:spLocks noChangeArrowheads="1"/>
          </p:cNvSpPr>
          <p:nvPr/>
        </p:nvSpPr>
        <p:spPr bwMode="auto">
          <a:xfrm>
            <a:off x="4355778" y="2564904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(t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8" name="文字方塊 81"/>
          <p:cNvSpPr txBox="1">
            <a:spLocks noChangeArrowheads="1"/>
          </p:cNvSpPr>
          <p:nvPr/>
        </p:nvSpPr>
        <p:spPr bwMode="auto">
          <a:xfrm>
            <a:off x="2322494" y="4062810"/>
            <a:ext cx="4492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R(0,0)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9" name="文字方塊 81"/>
          <p:cNvSpPr txBox="1">
            <a:spLocks noChangeArrowheads="1"/>
          </p:cNvSpPr>
          <p:nvPr/>
        </p:nvSpPr>
        <p:spPr bwMode="auto">
          <a:xfrm>
            <a:off x="3979622" y="420628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R(1,1)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0" name="文字方塊 81"/>
          <p:cNvSpPr txBox="1">
            <a:spLocks noChangeArrowheads="1"/>
          </p:cNvSpPr>
          <p:nvPr/>
        </p:nvSpPr>
        <p:spPr bwMode="auto">
          <a:xfrm>
            <a:off x="3187534" y="456632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R(1,0)</a:t>
            </a:r>
            <a:endParaRPr lang="zh-TW" altLang="en-US" sz="90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1" name="文字方塊 81"/>
          <p:cNvSpPr txBox="1">
            <a:spLocks noChangeArrowheads="1"/>
          </p:cNvSpPr>
          <p:nvPr/>
        </p:nvSpPr>
        <p:spPr bwMode="auto">
          <a:xfrm>
            <a:off x="2483768" y="5012754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R(1,-1)</a:t>
            </a:r>
            <a:endParaRPr lang="zh-TW" altLang="en-US" sz="90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2" name="文字方塊 81"/>
          <p:cNvSpPr txBox="1">
            <a:spLocks noChangeArrowheads="1"/>
          </p:cNvSpPr>
          <p:nvPr/>
        </p:nvSpPr>
        <p:spPr bwMode="auto">
          <a:xfrm>
            <a:off x="4987734" y="450912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R(2,1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3" name="文字方塊 81"/>
          <p:cNvSpPr txBox="1">
            <a:spLocks noChangeArrowheads="1"/>
          </p:cNvSpPr>
          <p:nvPr/>
        </p:nvSpPr>
        <p:spPr bwMode="auto">
          <a:xfrm>
            <a:off x="4195646" y="4983982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R(2,0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4" name="文字方塊 81"/>
          <p:cNvSpPr txBox="1">
            <a:spLocks noChangeArrowheads="1"/>
          </p:cNvSpPr>
          <p:nvPr/>
        </p:nvSpPr>
        <p:spPr bwMode="auto">
          <a:xfrm>
            <a:off x="3563888" y="5502424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5" name="文字方塊 81"/>
          <p:cNvSpPr txBox="1">
            <a:spLocks noChangeArrowheads="1"/>
          </p:cNvSpPr>
          <p:nvPr/>
        </p:nvSpPr>
        <p:spPr bwMode="auto">
          <a:xfrm>
            <a:off x="2987824" y="5949280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R(2,-2)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6" name="文字方塊 81"/>
          <p:cNvSpPr txBox="1">
            <a:spLocks noChangeArrowheads="1"/>
          </p:cNvSpPr>
          <p:nvPr/>
        </p:nvSpPr>
        <p:spPr bwMode="auto">
          <a:xfrm>
            <a:off x="5436096" y="3933056"/>
            <a:ext cx="50430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R(2,-2)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33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20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2735263" y="4221163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735263" y="4185444"/>
            <a:ext cx="1692721" cy="35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735263" y="4221163"/>
            <a:ext cx="324569" cy="864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763688" y="314096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060229" y="374506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37"/>
          <p:cNvSpPr txBox="1">
            <a:spLocks noChangeArrowheads="1"/>
          </p:cNvSpPr>
          <p:nvPr/>
        </p:nvSpPr>
        <p:spPr bwMode="auto">
          <a:xfrm>
            <a:off x="755378" y="2492896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1" name="內容版面配置區 1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1-3.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endParaRPr lang="en-US" altLang="zh-TW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Step2:</a:t>
            </a:r>
            <a:r>
              <a:rPr lang="zh-TW" altLang="en-US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於</a:t>
            </a:r>
            <a:r>
              <a:rPr lang="en-US" altLang="zh-TW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Y(t)</a:t>
            </a:r>
            <a:r>
              <a:rPr lang="zh-TW" altLang="en-US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樹上建立</a:t>
            </a:r>
            <a:r>
              <a:rPr lang="en-US" altLang="zh-TW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r>
              <a:rPr lang="zh-TW" altLang="en-US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的柱子</a:t>
            </a:r>
            <a:endParaRPr lang="zh-TW" altLang="en-US" sz="16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2" name="文字方塊 38"/>
          <p:cNvSpPr txBox="1">
            <a:spLocks noChangeArrowheads="1"/>
          </p:cNvSpPr>
          <p:nvPr/>
        </p:nvSpPr>
        <p:spPr bwMode="auto">
          <a:xfrm>
            <a:off x="539229" y="572340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3" name="文字方塊 38"/>
          <p:cNvSpPr txBox="1">
            <a:spLocks noChangeArrowheads="1"/>
          </p:cNvSpPr>
          <p:nvPr/>
        </p:nvSpPr>
        <p:spPr bwMode="auto">
          <a:xfrm>
            <a:off x="1403648" y="5877272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4" name="文字方塊 38"/>
          <p:cNvSpPr txBox="1">
            <a:spLocks noChangeArrowheads="1"/>
          </p:cNvSpPr>
          <p:nvPr/>
        </p:nvSpPr>
        <p:spPr bwMode="auto">
          <a:xfrm>
            <a:off x="467544" y="5445224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5" name="文字方塊 38"/>
          <p:cNvSpPr txBox="1">
            <a:spLocks noChangeArrowheads="1"/>
          </p:cNvSpPr>
          <p:nvPr/>
        </p:nvSpPr>
        <p:spPr bwMode="auto">
          <a:xfrm>
            <a:off x="2771477" y="644348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6" name="文字方塊 37"/>
          <p:cNvSpPr txBox="1">
            <a:spLocks noChangeArrowheads="1"/>
          </p:cNvSpPr>
          <p:nvPr/>
        </p:nvSpPr>
        <p:spPr bwMode="auto">
          <a:xfrm>
            <a:off x="4355778" y="2564904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(t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17" name="直線接點 116"/>
          <p:cNvCxnSpPr/>
          <p:nvPr/>
        </p:nvCxnSpPr>
        <p:spPr>
          <a:xfrm rot="5400000">
            <a:off x="1763737" y="321292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81"/>
          <p:cNvSpPr txBox="1">
            <a:spLocks noChangeArrowheads="1"/>
          </p:cNvSpPr>
          <p:nvPr/>
        </p:nvSpPr>
        <p:spPr bwMode="auto">
          <a:xfrm>
            <a:off x="2322494" y="4062810"/>
            <a:ext cx="4492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R(0,0)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9" name="文字方塊 81"/>
          <p:cNvSpPr txBox="1">
            <a:spLocks noChangeArrowheads="1"/>
          </p:cNvSpPr>
          <p:nvPr/>
        </p:nvSpPr>
        <p:spPr bwMode="auto">
          <a:xfrm>
            <a:off x="3979622" y="420628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R(1,1)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0" name="文字方塊 81"/>
          <p:cNvSpPr txBox="1">
            <a:spLocks noChangeArrowheads="1"/>
          </p:cNvSpPr>
          <p:nvPr/>
        </p:nvSpPr>
        <p:spPr bwMode="auto">
          <a:xfrm>
            <a:off x="3187534" y="456632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R(1,0)</a:t>
            </a:r>
            <a:endParaRPr lang="zh-TW" altLang="en-US" sz="90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1" name="文字方塊 81"/>
          <p:cNvSpPr txBox="1">
            <a:spLocks noChangeArrowheads="1"/>
          </p:cNvSpPr>
          <p:nvPr/>
        </p:nvSpPr>
        <p:spPr bwMode="auto">
          <a:xfrm>
            <a:off x="2483768" y="5012754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R(1,-1)</a:t>
            </a:r>
            <a:endParaRPr lang="zh-TW" altLang="en-US" sz="90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2" name="文字方塊 81"/>
          <p:cNvSpPr txBox="1">
            <a:spLocks noChangeArrowheads="1"/>
          </p:cNvSpPr>
          <p:nvPr/>
        </p:nvSpPr>
        <p:spPr bwMode="auto">
          <a:xfrm>
            <a:off x="4987734" y="450912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R(2,1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3" name="文字方塊 81"/>
          <p:cNvSpPr txBox="1">
            <a:spLocks noChangeArrowheads="1"/>
          </p:cNvSpPr>
          <p:nvPr/>
        </p:nvSpPr>
        <p:spPr bwMode="auto">
          <a:xfrm>
            <a:off x="4195646" y="4983982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R(2,0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4" name="文字方塊 81"/>
          <p:cNvSpPr txBox="1">
            <a:spLocks noChangeArrowheads="1"/>
          </p:cNvSpPr>
          <p:nvPr/>
        </p:nvSpPr>
        <p:spPr bwMode="auto">
          <a:xfrm>
            <a:off x="3563888" y="5502424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5" name="文字方塊 81"/>
          <p:cNvSpPr txBox="1">
            <a:spLocks noChangeArrowheads="1"/>
          </p:cNvSpPr>
          <p:nvPr/>
        </p:nvSpPr>
        <p:spPr bwMode="auto">
          <a:xfrm>
            <a:off x="2987824" y="5949280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R(2,-2)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6" name="文字方塊 81"/>
          <p:cNvSpPr txBox="1">
            <a:spLocks noChangeArrowheads="1"/>
          </p:cNvSpPr>
          <p:nvPr/>
        </p:nvSpPr>
        <p:spPr bwMode="auto">
          <a:xfrm>
            <a:off x="5436096" y="3933056"/>
            <a:ext cx="50430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R(2,-2)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57" name="直線接點 56"/>
          <p:cNvCxnSpPr/>
          <p:nvPr/>
        </p:nvCxnSpPr>
        <p:spPr>
          <a:xfrm rot="5400000">
            <a:off x="2051769" y="407712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rot="5400000">
            <a:off x="2771850" y="3644975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rot="5400000">
            <a:off x="3419921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 rot="5400000">
            <a:off x="2483818" y="508523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 rot="5400000">
            <a:off x="3131889" y="458117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/>
          <p:nvPr/>
        </p:nvCxnSpPr>
        <p:spPr>
          <a:xfrm rot="5400000">
            <a:off x="3779962" y="407702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 rot="5400000">
            <a:off x="4428033" y="357296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 rot="5400000">
            <a:off x="4932090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019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21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2735263" y="4221163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735263" y="4185444"/>
            <a:ext cx="1692721" cy="35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735263" y="4221163"/>
            <a:ext cx="324569" cy="864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763688" y="314096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060229" y="374506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37"/>
          <p:cNvSpPr txBox="1">
            <a:spLocks noChangeArrowheads="1"/>
          </p:cNvSpPr>
          <p:nvPr/>
        </p:nvSpPr>
        <p:spPr bwMode="auto">
          <a:xfrm>
            <a:off x="755378" y="2492896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1" name="內容版面配置區 1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1-3.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endParaRPr lang="en-US" altLang="zh-TW" dirty="0" smtClean="0"/>
          </a:p>
          <a:p>
            <a:r>
              <a:rPr lang="en-US" altLang="zh-TW" sz="1600" dirty="0" smtClean="0"/>
              <a:t>Step3:</a:t>
            </a:r>
            <a:r>
              <a:rPr lang="zh-TW" altLang="en-US" sz="1600" dirty="0"/>
              <a:t>找出每根柱子的</a:t>
            </a:r>
            <a:r>
              <a:rPr lang="en-US" altLang="zh-TW" sz="1600" dirty="0" smtClean="0"/>
              <a:t>Boundary</a:t>
            </a:r>
            <a:endParaRPr lang="zh-TW" altLang="en-US" sz="1600" dirty="0"/>
          </a:p>
        </p:txBody>
      </p:sp>
      <p:sp>
        <p:nvSpPr>
          <p:cNvPr id="112" name="文字方塊 38"/>
          <p:cNvSpPr txBox="1">
            <a:spLocks noChangeArrowheads="1"/>
          </p:cNvSpPr>
          <p:nvPr/>
        </p:nvSpPr>
        <p:spPr bwMode="auto">
          <a:xfrm>
            <a:off x="539229" y="572340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3" name="文字方塊 38"/>
          <p:cNvSpPr txBox="1">
            <a:spLocks noChangeArrowheads="1"/>
          </p:cNvSpPr>
          <p:nvPr/>
        </p:nvSpPr>
        <p:spPr bwMode="auto">
          <a:xfrm>
            <a:off x="1403648" y="5877272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4" name="文字方塊 38"/>
          <p:cNvSpPr txBox="1">
            <a:spLocks noChangeArrowheads="1"/>
          </p:cNvSpPr>
          <p:nvPr/>
        </p:nvSpPr>
        <p:spPr bwMode="auto">
          <a:xfrm>
            <a:off x="467544" y="5445224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5" name="文字方塊 38"/>
          <p:cNvSpPr txBox="1">
            <a:spLocks noChangeArrowheads="1"/>
          </p:cNvSpPr>
          <p:nvPr/>
        </p:nvSpPr>
        <p:spPr bwMode="auto">
          <a:xfrm>
            <a:off x="2771477" y="644348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6" name="文字方塊 37"/>
          <p:cNvSpPr txBox="1">
            <a:spLocks noChangeArrowheads="1"/>
          </p:cNvSpPr>
          <p:nvPr/>
        </p:nvSpPr>
        <p:spPr bwMode="auto">
          <a:xfrm>
            <a:off x="4355778" y="2564904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(t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17" name="直線接點 116"/>
          <p:cNvCxnSpPr/>
          <p:nvPr/>
        </p:nvCxnSpPr>
        <p:spPr>
          <a:xfrm rot="5400000">
            <a:off x="1763737" y="321292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81"/>
          <p:cNvSpPr txBox="1">
            <a:spLocks noChangeArrowheads="1"/>
          </p:cNvSpPr>
          <p:nvPr/>
        </p:nvSpPr>
        <p:spPr bwMode="auto">
          <a:xfrm>
            <a:off x="2322494" y="4062810"/>
            <a:ext cx="4492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R(0,0)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9" name="文字方塊 81"/>
          <p:cNvSpPr txBox="1">
            <a:spLocks noChangeArrowheads="1"/>
          </p:cNvSpPr>
          <p:nvPr/>
        </p:nvSpPr>
        <p:spPr bwMode="auto">
          <a:xfrm>
            <a:off x="3979622" y="420628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R(1,1)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0" name="文字方塊 81"/>
          <p:cNvSpPr txBox="1">
            <a:spLocks noChangeArrowheads="1"/>
          </p:cNvSpPr>
          <p:nvPr/>
        </p:nvSpPr>
        <p:spPr bwMode="auto">
          <a:xfrm>
            <a:off x="3187534" y="456632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R(1,0)</a:t>
            </a:r>
            <a:endParaRPr lang="zh-TW" altLang="en-US" sz="90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1" name="文字方塊 81"/>
          <p:cNvSpPr txBox="1">
            <a:spLocks noChangeArrowheads="1"/>
          </p:cNvSpPr>
          <p:nvPr/>
        </p:nvSpPr>
        <p:spPr bwMode="auto">
          <a:xfrm>
            <a:off x="2483768" y="5012754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R(1,-1)</a:t>
            </a:r>
            <a:endParaRPr lang="zh-TW" altLang="en-US" sz="90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2" name="文字方塊 81"/>
          <p:cNvSpPr txBox="1">
            <a:spLocks noChangeArrowheads="1"/>
          </p:cNvSpPr>
          <p:nvPr/>
        </p:nvSpPr>
        <p:spPr bwMode="auto">
          <a:xfrm>
            <a:off x="4987734" y="4509120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R(2,1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3" name="文字方塊 81"/>
          <p:cNvSpPr txBox="1">
            <a:spLocks noChangeArrowheads="1"/>
          </p:cNvSpPr>
          <p:nvPr/>
        </p:nvSpPr>
        <p:spPr bwMode="auto">
          <a:xfrm>
            <a:off x="4195646" y="4983982"/>
            <a:ext cx="4483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R(2,0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4" name="文字方塊 81"/>
          <p:cNvSpPr txBox="1">
            <a:spLocks noChangeArrowheads="1"/>
          </p:cNvSpPr>
          <p:nvPr/>
        </p:nvSpPr>
        <p:spPr bwMode="auto">
          <a:xfrm>
            <a:off x="3563888" y="5502424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</a:t>
            </a:r>
            <a:r>
              <a:rPr lang="en-US" altLang="zh-TW" sz="9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5" name="文字方塊 81"/>
          <p:cNvSpPr txBox="1">
            <a:spLocks noChangeArrowheads="1"/>
          </p:cNvSpPr>
          <p:nvPr/>
        </p:nvSpPr>
        <p:spPr bwMode="auto">
          <a:xfrm>
            <a:off x="2987824" y="5949280"/>
            <a:ext cx="4906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R(2,-2)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6" name="文字方塊 81"/>
          <p:cNvSpPr txBox="1">
            <a:spLocks noChangeArrowheads="1"/>
          </p:cNvSpPr>
          <p:nvPr/>
        </p:nvSpPr>
        <p:spPr bwMode="auto">
          <a:xfrm>
            <a:off x="5436096" y="3933056"/>
            <a:ext cx="50430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9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R(2,-2)</a:t>
            </a:r>
            <a:endParaRPr lang="zh-TW" altLang="en-US" sz="9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57" name="直線接點 56"/>
          <p:cNvCxnSpPr/>
          <p:nvPr/>
        </p:nvCxnSpPr>
        <p:spPr>
          <a:xfrm rot="5400000">
            <a:off x="2051769" y="407712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rot="5400000">
            <a:off x="2771850" y="3644975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rot="5400000">
            <a:off x="3419921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 rot="5400000">
            <a:off x="2483818" y="508523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 rot="5400000">
            <a:off x="3131889" y="458117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/>
          <p:nvPr/>
        </p:nvCxnSpPr>
        <p:spPr>
          <a:xfrm rot="5400000">
            <a:off x="3779962" y="407702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 rot="5400000">
            <a:off x="4428033" y="357296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 rot="5400000">
            <a:off x="4932090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2987824" y="4652689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7" name="橢圓 66"/>
          <p:cNvSpPr/>
          <p:nvPr/>
        </p:nvSpPr>
        <p:spPr>
          <a:xfrm>
            <a:off x="3707904" y="4221088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4355976" y="3789040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3421013" y="5660801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4069085" y="5085184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1" name="橢圓 70"/>
          <p:cNvSpPr/>
          <p:nvPr/>
        </p:nvSpPr>
        <p:spPr>
          <a:xfrm>
            <a:off x="4716016" y="4653136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2" name="橢圓 71"/>
          <p:cNvSpPr/>
          <p:nvPr/>
        </p:nvSpPr>
        <p:spPr>
          <a:xfrm>
            <a:off x="5364088" y="4221088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3" name="橢圓 72"/>
          <p:cNvSpPr/>
          <p:nvPr/>
        </p:nvSpPr>
        <p:spPr>
          <a:xfrm>
            <a:off x="5868144" y="3717032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704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22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2735263" y="4221163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735263" y="4185444"/>
            <a:ext cx="1692721" cy="35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735263" y="4221163"/>
            <a:ext cx="324569" cy="864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763688" y="314096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060229" y="374506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37"/>
          <p:cNvSpPr txBox="1">
            <a:spLocks noChangeArrowheads="1"/>
          </p:cNvSpPr>
          <p:nvPr/>
        </p:nvSpPr>
        <p:spPr bwMode="auto">
          <a:xfrm>
            <a:off x="755378" y="2492896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1" name="內容版面配置區 1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1-3.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endParaRPr lang="en-US" altLang="zh-TW" dirty="0" smtClean="0"/>
          </a:p>
          <a:p>
            <a:r>
              <a:rPr lang="en-US" altLang="zh-TW" sz="16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Step4: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從</a:t>
            </a:r>
            <a:r>
              <a:rPr lang="en-US" altLang="zh-TW" sz="16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X(0)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出發找出第一期</a:t>
            </a:r>
            <a:r>
              <a:rPr lang="en-US" altLang="zh-TW" sz="1600" dirty="0" err="1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bBTT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的三個節點</a:t>
            </a:r>
            <a:endParaRPr lang="zh-TW" altLang="en-US" sz="1600" dirty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2" name="文字方塊 38"/>
          <p:cNvSpPr txBox="1">
            <a:spLocks noChangeArrowheads="1"/>
          </p:cNvSpPr>
          <p:nvPr/>
        </p:nvSpPr>
        <p:spPr bwMode="auto">
          <a:xfrm>
            <a:off x="539229" y="572340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3" name="文字方塊 38"/>
          <p:cNvSpPr txBox="1">
            <a:spLocks noChangeArrowheads="1"/>
          </p:cNvSpPr>
          <p:nvPr/>
        </p:nvSpPr>
        <p:spPr bwMode="auto">
          <a:xfrm>
            <a:off x="1403648" y="5877272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4" name="文字方塊 38"/>
          <p:cNvSpPr txBox="1">
            <a:spLocks noChangeArrowheads="1"/>
          </p:cNvSpPr>
          <p:nvPr/>
        </p:nvSpPr>
        <p:spPr bwMode="auto">
          <a:xfrm>
            <a:off x="467544" y="5445224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5" name="文字方塊 38"/>
          <p:cNvSpPr txBox="1">
            <a:spLocks noChangeArrowheads="1"/>
          </p:cNvSpPr>
          <p:nvPr/>
        </p:nvSpPr>
        <p:spPr bwMode="auto">
          <a:xfrm>
            <a:off x="2771477" y="644348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17" name="直線接點 116"/>
          <p:cNvCxnSpPr/>
          <p:nvPr/>
        </p:nvCxnSpPr>
        <p:spPr>
          <a:xfrm rot="5400000">
            <a:off x="1763737" y="321292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 rot="5400000">
            <a:off x="2051769" y="407712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rot="5400000">
            <a:off x="2771850" y="3644975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rot="5400000">
            <a:off x="3419921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 rot="5400000">
            <a:off x="2483818" y="508523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 rot="5400000">
            <a:off x="3131889" y="458117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/>
          <p:nvPr/>
        </p:nvCxnSpPr>
        <p:spPr>
          <a:xfrm rot="5400000">
            <a:off x="3779962" y="407702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 rot="5400000">
            <a:off x="4428033" y="357296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 rot="5400000">
            <a:off x="4932090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2987824" y="4652689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7" name="橢圓 66"/>
          <p:cNvSpPr/>
          <p:nvPr/>
        </p:nvSpPr>
        <p:spPr>
          <a:xfrm>
            <a:off x="3707904" y="4221088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4355976" y="3789040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3421013" y="5660801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4069085" y="5085184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1" name="橢圓 70"/>
          <p:cNvSpPr/>
          <p:nvPr/>
        </p:nvSpPr>
        <p:spPr>
          <a:xfrm>
            <a:off x="4716016" y="4653136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2" name="橢圓 71"/>
          <p:cNvSpPr/>
          <p:nvPr/>
        </p:nvSpPr>
        <p:spPr>
          <a:xfrm>
            <a:off x="5364088" y="4221088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3" name="橢圓 72"/>
          <p:cNvSpPr/>
          <p:nvPr/>
        </p:nvSpPr>
        <p:spPr>
          <a:xfrm>
            <a:off x="5868144" y="3717032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4" name="文字方塊 70"/>
          <p:cNvSpPr txBox="1">
            <a:spLocks noChangeArrowheads="1"/>
          </p:cNvSpPr>
          <p:nvPr/>
        </p:nvSpPr>
        <p:spPr bwMode="auto">
          <a:xfrm>
            <a:off x="2123529" y="3851200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X(0)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2682875" y="4148138"/>
            <a:ext cx="144463" cy="144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2987813" y="4400775"/>
            <a:ext cx="138512" cy="1167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92D05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pSp>
        <p:nvGrpSpPr>
          <p:cNvPr id="89" name="群組 55"/>
          <p:cNvGrpSpPr/>
          <p:nvPr/>
        </p:nvGrpSpPr>
        <p:grpSpPr>
          <a:xfrm>
            <a:off x="3707904" y="2780928"/>
            <a:ext cx="148552" cy="1232537"/>
            <a:chOff x="4705350" y="1782324"/>
            <a:chExt cx="148552" cy="1232537"/>
          </a:xfrm>
          <a:solidFill>
            <a:srgbClr val="FF0000"/>
          </a:solidFill>
        </p:grpSpPr>
        <p:sp>
          <p:nvSpPr>
            <p:cNvPr id="91" name="橢圓 90"/>
            <p:cNvSpPr/>
            <p:nvPr/>
          </p:nvSpPr>
          <p:spPr>
            <a:xfrm>
              <a:off x="4709886" y="17823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4705350" y="22863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3" name="橢圓 92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95" name="群組 63"/>
          <p:cNvGrpSpPr/>
          <p:nvPr/>
        </p:nvGrpSpPr>
        <p:grpSpPr>
          <a:xfrm>
            <a:off x="4351440" y="2420888"/>
            <a:ext cx="148552" cy="1152128"/>
            <a:chOff x="4552950" y="1710333"/>
            <a:chExt cx="148552" cy="115212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6" name="橢圓 95"/>
            <p:cNvSpPr/>
            <p:nvPr/>
          </p:nvSpPr>
          <p:spPr>
            <a:xfrm>
              <a:off x="4557486" y="1710333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7" name="橢圓 96"/>
            <p:cNvSpPr/>
            <p:nvPr/>
          </p:nvSpPr>
          <p:spPr>
            <a:xfrm>
              <a:off x="4552950" y="2214389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8" name="橢圓 97"/>
            <p:cNvSpPr/>
            <p:nvPr/>
          </p:nvSpPr>
          <p:spPr>
            <a:xfrm>
              <a:off x="4552950" y="27184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2987824" y="3861048"/>
            <a:ext cx="138512" cy="1167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92D05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01" name="橢圓 100"/>
          <p:cNvSpPr/>
          <p:nvPr/>
        </p:nvSpPr>
        <p:spPr>
          <a:xfrm>
            <a:off x="2987824" y="3429000"/>
            <a:ext cx="138512" cy="1167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92D05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3331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23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2735263" y="4221163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735263" y="4185444"/>
            <a:ext cx="1692721" cy="35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735263" y="4221163"/>
            <a:ext cx="324569" cy="864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763688" y="314096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060229" y="374506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37"/>
          <p:cNvSpPr txBox="1">
            <a:spLocks noChangeArrowheads="1"/>
          </p:cNvSpPr>
          <p:nvPr/>
        </p:nvSpPr>
        <p:spPr bwMode="auto">
          <a:xfrm>
            <a:off x="755378" y="2492896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1" name="內容版面配置區 1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1-3.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endParaRPr lang="en-US" altLang="zh-TW" dirty="0" smtClean="0"/>
          </a:p>
          <a:p>
            <a:r>
              <a:rPr lang="en-US" altLang="zh-TW" sz="16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Step4</a:t>
            </a:r>
            <a:r>
              <a:rPr lang="en-US" altLang="zh-TW" sz="160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:</a:t>
            </a:r>
            <a:r>
              <a:rPr lang="zh-TW" altLang="en-US" sz="160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由於第一期增資 所有節點往上跳</a:t>
            </a:r>
          </a:p>
        </p:txBody>
      </p:sp>
      <p:sp>
        <p:nvSpPr>
          <p:cNvPr id="112" name="文字方塊 38"/>
          <p:cNvSpPr txBox="1">
            <a:spLocks noChangeArrowheads="1"/>
          </p:cNvSpPr>
          <p:nvPr/>
        </p:nvSpPr>
        <p:spPr bwMode="auto">
          <a:xfrm>
            <a:off x="539229" y="572340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3" name="文字方塊 38"/>
          <p:cNvSpPr txBox="1">
            <a:spLocks noChangeArrowheads="1"/>
          </p:cNvSpPr>
          <p:nvPr/>
        </p:nvSpPr>
        <p:spPr bwMode="auto">
          <a:xfrm>
            <a:off x="1403648" y="5877272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4" name="文字方塊 38"/>
          <p:cNvSpPr txBox="1">
            <a:spLocks noChangeArrowheads="1"/>
          </p:cNvSpPr>
          <p:nvPr/>
        </p:nvSpPr>
        <p:spPr bwMode="auto">
          <a:xfrm>
            <a:off x="467544" y="5445224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5" name="文字方塊 38"/>
          <p:cNvSpPr txBox="1">
            <a:spLocks noChangeArrowheads="1"/>
          </p:cNvSpPr>
          <p:nvPr/>
        </p:nvSpPr>
        <p:spPr bwMode="auto">
          <a:xfrm>
            <a:off x="2771477" y="644348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17" name="直線接點 116"/>
          <p:cNvCxnSpPr/>
          <p:nvPr/>
        </p:nvCxnSpPr>
        <p:spPr>
          <a:xfrm rot="5400000">
            <a:off x="1763737" y="321292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 rot="5400000">
            <a:off x="2051769" y="407712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rot="5400000">
            <a:off x="2771850" y="3644975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rot="5400000">
            <a:off x="3419921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 rot="5400000">
            <a:off x="2483818" y="508523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 rot="5400000">
            <a:off x="3131889" y="458117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/>
          <p:nvPr/>
        </p:nvCxnSpPr>
        <p:spPr>
          <a:xfrm rot="5400000">
            <a:off x="3779962" y="407702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 rot="5400000">
            <a:off x="4428033" y="357296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 rot="5400000">
            <a:off x="4932090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2987824" y="4652689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7" name="橢圓 66"/>
          <p:cNvSpPr/>
          <p:nvPr/>
        </p:nvSpPr>
        <p:spPr>
          <a:xfrm>
            <a:off x="3707904" y="4221088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4355976" y="3789040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3421013" y="5660801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4069085" y="5085184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1" name="橢圓 70"/>
          <p:cNvSpPr/>
          <p:nvPr/>
        </p:nvSpPr>
        <p:spPr>
          <a:xfrm>
            <a:off x="4716016" y="4653136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2" name="橢圓 71"/>
          <p:cNvSpPr/>
          <p:nvPr/>
        </p:nvSpPr>
        <p:spPr>
          <a:xfrm>
            <a:off x="5364088" y="4221088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3" name="橢圓 72"/>
          <p:cNvSpPr/>
          <p:nvPr/>
        </p:nvSpPr>
        <p:spPr>
          <a:xfrm>
            <a:off x="5868144" y="3717032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4" name="文字方塊 70"/>
          <p:cNvSpPr txBox="1">
            <a:spLocks noChangeArrowheads="1"/>
          </p:cNvSpPr>
          <p:nvPr/>
        </p:nvSpPr>
        <p:spPr bwMode="auto">
          <a:xfrm>
            <a:off x="2123529" y="3851200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X(0)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2682875" y="4148138"/>
            <a:ext cx="144463" cy="144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pSp>
        <p:nvGrpSpPr>
          <p:cNvPr id="89" name="群組 55"/>
          <p:cNvGrpSpPr/>
          <p:nvPr/>
        </p:nvGrpSpPr>
        <p:grpSpPr>
          <a:xfrm>
            <a:off x="3707904" y="2780928"/>
            <a:ext cx="148552" cy="1232537"/>
            <a:chOff x="4705350" y="1782324"/>
            <a:chExt cx="148552" cy="1232537"/>
          </a:xfrm>
          <a:solidFill>
            <a:srgbClr val="FF0000"/>
          </a:solidFill>
        </p:grpSpPr>
        <p:sp>
          <p:nvSpPr>
            <p:cNvPr id="91" name="橢圓 90"/>
            <p:cNvSpPr/>
            <p:nvPr/>
          </p:nvSpPr>
          <p:spPr>
            <a:xfrm>
              <a:off x="4709886" y="17823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4705350" y="22863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3" name="橢圓 92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95" name="群組 63"/>
          <p:cNvGrpSpPr/>
          <p:nvPr/>
        </p:nvGrpSpPr>
        <p:grpSpPr>
          <a:xfrm>
            <a:off x="4351440" y="2420888"/>
            <a:ext cx="148552" cy="1152128"/>
            <a:chOff x="4552950" y="1710333"/>
            <a:chExt cx="148552" cy="115212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6" name="橢圓 95"/>
            <p:cNvSpPr/>
            <p:nvPr/>
          </p:nvSpPr>
          <p:spPr>
            <a:xfrm>
              <a:off x="4557486" y="1710333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7" name="橢圓 96"/>
            <p:cNvSpPr/>
            <p:nvPr/>
          </p:nvSpPr>
          <p:spPr>
            <a:xfrm>
              <a:off x="4552950" y="2214389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8" name="橢圓 97"/>
            <p:cNvSpPr/>
            <p:nvPr/>
          </p:nvSpPr>
          <p:spPr>
            <a:xfrm>
              <a:off x="4552950" y="27184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2987813" y="3429000"/>
            <a:ext cx="138523" cy="1088510"/>
            <a:chOff x="2987813" y="3429000"/>
            <a:chExt cx="138523" cy="1088510"/>
          </a:xfrm>
        </p:grpSpPr>
        <p:sp>
          <p:nvSpPr>
            <p:cNvPr id="88" name="橢圓 87"/>
            <p:cNvSpPr/>
            <p:nvPr/>
          </p:nvSpPr>
          <p:spPr>
            <a:xfrm>
              <a:off x="2987813" y="4400775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00" name="橢圓 99"/>
            <p:cNvSpPr/>
            <p:nvPr/>
          </p:nvSpPr>
          <p:spPr>
            <a:xfrm>
              <a:off x="2987824" y="3861048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01" name="橢圓 100"/>
            <p:cNvSpPr/>
            <p:nvPr/>
          </p:nvSpPr>
          <p:spPr>
            <a:xfrm>
              <a:off x="2987824" y="3429000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3059832" y="3284984"/>
            <a:ext cx="0" cy="1152226"/>
            <a:chOff x="3059832" y="3284984"/>
            <a:chExt cx="0" cy="1152226"/>
          </a:xfrm>
        </p:grpSpPr>
        <p:cxnSp>
          <p:nvCxnSpPr>
            <p:cNvPr id="118" name="直線單箭頭接點 117"/>
            <p:cNvCxnSpPr/>
            <p:nvPr/>
          </p:nvCxnSpPr>
          <p:spPr>
            <a:xfrm flipV="1">
              <a:off x="3059832" y="4221088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V="1">
              <a:off x="3059832" y="3717130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單箭頭接點 119"/>
            <p:cNvCxnSpPr/>
            <p:nvPr/>
          </p:nvCxnSpPr>
          <p:spPr>
            <a:xfrm flipV="1">
              <a:off x="3059832" y="3284984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3779912" y="2636912"/>
            <a:ext cx="0" cy="1296144"/>
            <a:chOff x="3779912" y="2636912"/>
            <a:chExt cx="0" cy="1296144"/>
          </a:xfrm>
        </p:grpSpPr>
        <p:cxnSp>
          <p:nvCxnSpPr>
            <p:cNvPr id="121" name="直線單箭頭接點 120"/>
            <p:cNvCxnSpPr/>
            <p:nvPr/>
          </p:nvCxnSpPr>
          <p:spPr>
            <a:xfrm flipV="1">
              <a:off x="3779912" y="3716934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V="1">
              <a:off x="3779912" y="3141066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/>
            <p:nvPr/>
          </p:nvCxnSpPr>
          <p:spPr>
            <a:xfrm flipV="1">
              <a:off x="3779912" y="2636912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4427984" y="2204864"/>
            <a:ext cx="0" cy="1296144"/>
            <a:chOff x="4427984" y="2204864"/>
            <a:chExt cx="0" cy="1296144"/>
          </a:xfrm>
        </p:grpSpPr>
        <p:cxnSp>
          <p:nvCxnSpPr>
            <p:cNvPr id="124" name="直線單箭頭接點 123"/>
            <p:cNvCxnSpPr/>
            <p:nvPr/>
          </p:nvCxnSpPr>
          <p:spPr>
            <a:xfrm flipV="1">
              <a:off x="4427984" y="3284886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V="1">
              <a:off x="4427984" y="2709018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單箭頭接點 125"/>
            <p:cNvCxnSpPr/>
            <p:nvPr/>
          </p:nvCxnSpPr>
          <p:spPr>
            <a:xfrm flipV="1">
              <a:off x="4427984" y="2204864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群組 55"/>
          <p:cNvGrpSpPr/>
          <p:nvPr/>
        </p:nvGrpSpPr>
        <p:grpSpPr>
          <a:xfrm>
            <a:off x="3707904" y="2556503"/>
            <a:ext cx="148552" cy="1232537"/>
            <a:chOff x="4705350" y="1782324"/>
            <a:chExt cx="148552" cy="1232537"/>
          </a:xfrm>
          <a:solidFill>
            <a:srgbClr val="FF0000"/>
          </a:solidFill>
        </p:grpSpPr>
        <p:sp>
          <p:nvSpPr>
            <p:cNvPr id="128" name="橢圓 127"/>
            <p:cNvSpPr/>
            <p:nvPr/>
          </p:nvSpPr>
          <p:spPr>
            <a:xfrm>
              <a:off x="4709886" y="17823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29" name="橢圓 128"/>
            <p:cNvSpPr/>
            <p:nvPr/>
          </p:nvSpPr>
          <p:spPr>
            <a:xfrm>
              <a:off x="4705350" y="22863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0" name="橢圓 129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31" name="群組 63"/>
          <p:cNvGrpSpPr/>
          <p:nvPr/>
        </p:nvGrpSpPr>
        <p:grpSpPr>
          <a:xfrm>
            <a:off x="4355976" y="2132856"/>
            <a:ext cx="148552" cy="1152128"/>
            <a:chOff x="4552950" y="1710333"/>
            <a:chExt cx="148552" cy="115212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32" name="橢圓 131"/>
            <p:cNvSpPr/>
            <p:nvPr/>
          </p:nvSpPr>
          <p:spPr>
            <a:xfrm>
              <a:off x="4557486" y="1710333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3" name="橢圓 132"/>
            <p:cNvSpPr/>
            <p:nvPr/>
          </p:nvSpPr>
          <p:spPr>
            <a:xfrm>
              <a:off x="4552950" y="2214389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4" name="橢圓 133"/>
            <p:cNvSpPr/>
            <p:nvPr/>
          </p:nvSpPr>
          <p:spPr>
            <a:xfrm>
              <a:off x="4552950" y="27184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35" name="群組 134"/>
          <p:cNvGrpSpPr/>
          <p:nvPr/>
        </p:nvGrpSpPr>
        <p:grpSpPr>
          <a:xfrm>
            <a:off x="2987824" y="3140968"/>
            <a:ext cx="138523" cy="1088510"/>
            <a:chOff x="2987813" y="3429000"/>
            <a:chExt cx="138523" cy="1088510"/>
          </a:xfrm>
        </p:grpSpPr>
        <p:sp>
          <p:nvSpPr>
            <p:cNvPr id="136" name="橢圓 135"/>
            <p:cNvSpPr/>
            <p:nvPr/>
          </p:nvSpPr>
          <p:spPr>
            <a:xfrm>
              <a:off x="2987813" y="4400775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7" name="橢圓 136"/>
            <p:cNvSpPr/>
            <p:nvPr/>
          </p:nvSpPr>
          <p:spPr>
            <a:xfrm>
              <a:off x="2987824" y="3861048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8" name="橢圓 137"/>
            <p:cNvSpPr/>
            <p:nvPr/>
          </p:nvSpPr>
          <p:spPr>
            <a:xfrm>
              <a:off x="2987824" y="3429000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sp>
        <p:nvSpPr>
          <p:cNvPr id="139" name="弧形箭號 (下彎) 138"/>
          <p:cNvSpPr/>
          <p:nvPr/>
        </p:nvSpPr>
        <p:spPr>
          <a:xfrm>
            <a:off x="4860082" y="2276872"/>
            <a:ext cx="1008062" cy="360362"/>
          </a:xfrm>
          <a:prstGeom prst="curved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pSp>
        <p:nvGrpSpPr>
          <p:cNvPr id="140" name="群組 139"/>
          <p:cNvGrpSpPr/>
          <p:nvPr/>
        </p:nvGrpSpPr>
        <p:grpSpPr>
          <a:xfrm>
            <a:off x="3419872" y="4329149"/>
            <a:ext cx="138513" cy="1116075"/>
            <a:chOff x="3419872" y="4329149"/>
            <a:chExt cx="138513" cy="1116075"/>
          </a:xfrm>
          <a:solidFill>
            <a:srgbClr val="C00000"/>
          </a:solidFill>
        </p:grpSpPr>
        <p:grpSp>
          <p:nvGrpSpPr>
            <p:cNvPr id="141" name="群組 140"/>
            <p:cNvGrpSpPr/>
            <p:nvPr/>
          </p:nvGrpSpPr>
          <p:grpSpPr>
            <a:xfrm>
              <a:off x="3419873" y="4329149"/>
              <a:ext cx="138512" cy="1116075"/>
              <a:chOff x="2987813" y="3429000"/>
              <a:chExt cx="138523" cy="1088510"/>
            </a:xfrm>
            <a:grpFill/>
          </p:grpSpPr>
          <p:sp>
            <p:nvSpPr>
              <p:cNvPr id="143" name="橢圓 142"/>
              <p:cNvSpPr/>
              <p:nvPr/>
            </p:nvSpPr>
            <p:spPr>
              <a:xfrm>
                <a:off x="2987813" y="4400775"/>
                <a:ext cx="138512" cy="1167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92D05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44" name="橢圓 143"/>
              <p:cNvSpPr/>
              <p:nvPr/>
            </p:nvSpPr>
            <p:spPr>
              <a:xfrm>
                <a:off x="2987824" y="4096133"/>
                <a:ext cx="138512" cy="1167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92D05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45" name="橢圓 144"/>
              <p:cNvSpPr/>
              <p:nvPr/>
            </p:nvSpPr>
            <p:spPr>
              <a:xfrm>
                <a:off x="2987824" y="3429000"/>
                <a:ext cx="138512" cy="1167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92D05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42" name="橢圓 141"/>
            <p:cNvSpPr/>
            <p:nvPr/>
          </p:nvSpPr>
          <p:spPr>
            <a:xfrm>
              <a:off x="3419872" y="4653136"/>
              <a:ext cx="138501" cy="1196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46" name="群組 145"/>
          <p:cNvGrpSpPr/>
          <p:nvPr/>
        </p:nvGrpSpPr>
        <p:grpSpPr>
          <a:xfrm>
            <a:off x="4067944" y="3564615"/>
            <a:ext cx="148552" cy="1232537"/>
            <a:chOff x="4067944" y="3564615"/>
            <a:chExt cx="148552" cy="1232537"/>
          </a:xfrm>
        </p:grpSpPr>
        <p:grpSp>
          <p:nvGrpSpPr>
            <p:cNvPr id="147" name="群組 55"/>
            <p:cNvGrpSpPr/>
            <p:nvPr/>
          </p:nvGrpSpPr>
          <p:grpSpPr>
            <a:xfrm>
              <a:off x="4067944" y="3564615"/>
              <a:ext cx="148552" cy="1232537"/>
              <a:chOff x="4705350" y="1782324"/>
              <a:chExt cx="148552" cy="1232537"/>
            </a:xfrm>
            <a:solidFill>
              <a:srgbClr val="FF0000"/>
            </a:solidFill>
          </p:grpSpPr>
          <p:sp>
            <p:nvSpPr>
              <p:cNvPr id="149" name="橢圓 148"/>
              <p:cNvSpPr/>
              <p:nvPr/>
            </p:nvSpPr>
            <p:spPr>
              <a:xfrm>
                <a:off x="4709886" y="1782324"/>
                <a:ext cx="144016" cy="14401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50" name="橢圓 149"/>
              <p:cNvSpPr/>
              <p:nvPr/>
            </p:nvSpPr>
            <p:spPr>
              <a:xfrm>
                <a:off x="4705350" y="2510805"/>
                <a:ext cx="144016" cy="14401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51" name="橢圓 150"/>
              <p:cNvSpPr/>
              <p:nvPr/>
            </p:nvSpPr>
            <p:spPr>
              <a:xfrm>
                <a:off x="4705350" y="2870845"/>
                <a:ext cx="144016" cy="14401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48" name="橢圓 147"/>
            <p:cNvSpPr/>
            <p:nvPr/>
          </p:nvSpPr>
          <p:spPr>
            <a:xfrm>
              <a:off x="4067944" y="3933056"/>
              <a:ext cx="144016" cy="14401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52" name="群組 151"/>
          <p:cNvGrpSpPr/>
          <p:nvPr/>
        </p:nvGrpSpPr>
        <p:grpSpPr>
          <a:xfrm>
            <a:off x="4716016" y="3284984"/>
            <a:ext cx="148552" cy="1152128"/>
            <a:chOff x="4716016" y="3284984"/>
            <a:chExt cx="148552" cy="1152128"/>
          </a:xfrm>
          <a:solidFill>
            <a:srgbClr val="002060"/>
          </a:solidFill>
        </p:grpSpPr>
        <p:grpSp>
          <p:nvGrpSpPr>
            <p:cNvPr id="153" name="群組 63"/>
            <p:cNvGrpSpPr/>
            <p:nvPr/>
          </p:nvGrpSpPr>
          <p:grpSpPr>
            <a:xfrm>
              <a:off x="4716016" y="3284984"/>
              <a:ext cx="148552" cy="1152128"/>
              <a:chOff x="4552950" y="1710333"/>
              <a:chExt cx="148552" cy="1152128"/>
            </a:xfrm>
            <a:grpFill/>
          </p:grpSpPr>
          <p:sp>
            <p:nvSpPr>
              <p:cNvPr id="155" name="橢圓 154"/>
              <p:cNvSpPr/>
              <p:nvPr/>
            </p:nvSpPr>
            <p:spPr>
              <a:xfrm>
                <a:off x="4557486" y="1710333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56" name="橢圓 155"/>
              <p:cNvSpPr/>
              <p:nvPr/>
            </p:nvSpPr>
            <p:spPr>
              <a:xfrm>
                <a:off x="4552950" y="2430413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57" name="橢圓 156"/>
              <p:cNvSpPr/>
              <p:nvPr/>
            </p:nvSpPr>
            <p:spPr>
              <a:xfrm>
                <a:off x="4552950" y="2718445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54" name="橢圓 153"/>
            <p:cNvSpPr/>
            <p:nvPr/>
          </p:nvSpPr>
          <p:spPr>
            <a:xfrm>
              <a:off x="4716016" y="36450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58" name="群組 157"/>
          <p:cNvGrpSpPr/>
          <p:nvPr/>
        </p:nvGrpSpPr>
        <p:grpSpPr>
          <a:xfrm>
            <a:off x="5364088" y="2780928"/>
            <a:ext cx="148552" cy="1152128"/>
            <a:chOff x="5364088" y="2780928"/>
            <a:chExt cx="148552" cy="1152128"/>
          </a:xfrm>
          <a:solidFill>
            <a:srgbClr val="00B0F0"/>
          </a:solidFill>
        </p:grpSpPr>
        <p:grpSp>
          <p:nvGrpSpPr>
            <p:cNvPr id="159" name="群組 63"/>
            <p:cNvGrpSpPr/>
            <p:nvPr/>
          </p:nvGrpSpPr>
          <p:grpSpPr>
            <a:xfrm>
              <a:off x="5364088" y="2780928"/>
              <a:ext cx="148552" cy="1152128"/>
              <a:chOff x="4552950" y="1710333"/>
              <a:chExt cx="148552" cy="1152128"/>
            </a:xfrm>
            <a:grpFill/>
          </p:grpSpPr>
          <p:sp>
            <p:nvSpPr>
              <p:cNvPr id="161" name="橢圓 160"/>
              <p:cNvSpPr/>
              <p:nvPr/>
            </p:nvSpPr>
            <p:spPr>
              <a:xfrm>
                <a:off x="4557486" y="1710333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62" name="橢圓 161"/>
              <p:cNvSpPr/>
              <p:nvPr/>
            </p:nvSpPr>
            <p:spPr>
              <a:xfrm>
                <a:off x="4552950" y="2430413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63" name="橢圓 162"/>
              <p:cNvSpPr/>
              <p:nvPr/>
            </p:nvSpPr>
            <p:spPr>
              <a:xfrm>
                <a:off x="4552950" y="2718445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60" name="橢圓 159"/>
            <p:cNvSpPr/>
            <p:nvPr/>
          </p:nvSpPr>
          <p:spPr>
            <a:xfrm>
              <a:off x="5364088" y="314096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64" name="群組 163"/>
          <p:cNvGrpSpPr/>
          <p:nvPr/>
        </p:nvGrpSpPr>
        <p:grpSpPr>
          <a:xfrm>
            <a:off x="5868144" y="2420888"/>
            <a:ext cx="148552" cy="1152128"/>
            <a:chOff x="5868144" y="2420888"/>
            <a:chExt cx="148552" cy="1152128"/>
          </a:xfrm>
        </p:grpSpPr>
        <p:grpSp>
          <p:nvGrpSpPr>
            <p:cNvPr id="165" name="群組 63"/>
            <p:cNvGrpSpPr/>
            <p:nvPr/>
          </p:nvGrpSpPr>
          <p:grpSpPr>
            <a:xfrm>
              <a:off x="5868144" y="2420888"/>
              <a:ext cx="148552" cy="1152128"/>
              <a:chOff x="4552950" y="1710333"/>
              <a:chExt cx="148552" cy="115212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7" name="橢圓 166"/>
              <p:cNvSpPr/>
              <p:nvPr/>
            </p:nvSpPr>
            <p:spPr>
              <a:xfrm>
                <a:off x="4557486" y="1710333"/>
                <a:ext cx="144016" cy="14401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68" name="橢圓 167"/>
              <p:cNvSpPr/>
              <p:nvPr/>
            </p:nvSpPr>
            <p:spPr>
              <a:xfrm>
                <a:off x="4552950" y="2430413"/>
                <a:ext cx="144016" cy="14401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69" name="橢圓 168"/>
              <p:cNvSpPr/>
              <p:nvPr/>
            </p:nvSpPr>
            <p:spPr>
              <a:xfrm>
                <a:off x="4552950" y="2718445"/>
                <a:ext cx="144016" cy="14401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66" name="橢圓 165"/>
            <p:cNvSpPr/>
            <p:nvPr/>
          </p:nvSpPr>
          <p:spPr>
            <a:xfrm>
              <a:off x="5868144" y="2780928"/>
              <a:ext cx="144016" cy="144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57770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24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2735263" y="4221163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735263" y="4185444"/>
            <a:ext cx="1692721" cy="35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735263" y="4221163"/>
            <a:ext cx="324569" cy="864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763688" y="314096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060229" y="374506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37"/>
          <p:cNvSpPr txBox="1">
            <a:spLocks noChangeArrowheads="1"/>
          </p:cNvSpPr>
          <p:nvPr/>
        </p:nvSpPr>
        <p:spPr bwMode="auto">
          <a:xfrm>
            <a:off x="755378" y="2492896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1" name="內容版面配置區 1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1-3.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endParaRPr lang="en-US" altLang="zh-TW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Step5:</a:t>
            </a:r>
            <a:r>
              <a:rPr lang="zh-TW" altLang="en-US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遞延期末 保本機制調整節點位置</a:t>
            </a:r>
            <a:endParaRPr lang="en-US" altLang="zh-TW" sz="16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2" name="文字方塊 38"/>
          <p:cNvSpPr txBox="1">
            <a:spLocks noChangeArrowheads="1"/>
          </p:cNvSpPr>
          <p:nvPr/>
        </p:nvSpPr>
        <p:spPr bwMode="auto">
          <a:xfrm>
            <a:off x="539229" y="572340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3" name="文字方塊 38"/>
          <p:cNvSpPr txBox="1">
            <a:spLocks noChangeArrowheads="1"/>
          </p:cNvSpPr>
          <p:nvPr/>
        </p:nvSpPr>
        <p:spPr bwMode="auto">
          <a:xfrm>
            <a:off x="1403648" y="5877272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4" name="文字方塊 38"/>
          <p:cNvSpPr txBox="1">
            <a:spLocks noChangeArrowheads="1"/>
          </p:cNvSpPr>
          <p:nvPr/>
        </p:nvSpPr>
        <p:spPr bwMode="auto">
          <a:xfrm>
            <a:off x="467544" y="5445224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5" name="文字方塊 38"/>
          <p:cNvSpPr txBox="1">
            <a:spLocks noChangeArrowheads="1"/>
          </p:cNvSpPr>
          <p:nvPr/>
        </p:nvSpPr>
        <p:spPr bwMode="auto">
          <a:xfrm>
            <a:off x="2771477" y="644348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17" name="直線接點 116"/>
          <p:cNvCxnSpPr/>
          <p:nvPr/>
        </p:nvCxnSpPr>
        <p:spPr>
          <a:xfrm rot="5400000">
            <a:off x="1763737" y="321292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 rot="5400000">
            <a:off x="2051769" y="407712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rot="5400000">
            <a:off x="2771850" y="3644975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rot="5400000">
            <a:off x="3419921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 rot="5400000">
            <a:off x="2483818" y="508523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 rot="5400000">
            <a:off x="3131889" y="458117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/>
          <p:nvPr/>
        </p:nvCxnSpPr>
        <p:spPr>
          <a:xfrm rot="5400000">
            <a:off x="3779962" y="407702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 rot="5400000">
            <a:off x="4428033" y="3572967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 rot="5400000">
            <a:off x="4932090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2987824" y="4652689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7" name="橢圓 66"/>
          <p:cNvSpPr/>
          <p:nvPr/>
        </p:nvSpPr>
        <p:spPr>
          <a:xfrm>
            <a:off x="3707904" y="4221088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4355976" y="3789040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3421013" y="5660801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4069085" y="5085184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1" name="橢圓 70"/>
          <p:cNvSpPr/>
          <p:nvPr/>
        </p:nvSpPr>
        <p:spPr>
          <a:xfrm>
            <a:off x="4716016" y="4653136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2" name="橢圓 71"/>
          <p:cNvSpPr/>
          <p:nvPr/>
        </p:nvSpPr>
        <p:spPr>
          <a:xfrm>
            <a:off x="5364088" y="4221088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3" name="橢圓 72"/>
          <p:cNvSpPr/>
          <p:nvPr/>
        </p:nvSpPr>
        <p:spPr>
          <a:xfrm>
            <a:off x="5868144" y="3717032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4" name="文字方塊 70"/>
          <p:cNvSpPr txBox="1">
            <a:spLocks noChangeArrowheads="1"/>
          </p:cNvSpPr>
          <p:nvPr/>
        </p:nvSpPr>
        <p:spPr bwMode="auto">
          <a:xfrm>
            <a:off x="2123529" y="3851200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X(0)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2682875" y="4148138"/>
            <a:ext cx="144463" cy="144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pSp>
        <p:nvGrpSpPr>
          <p:cNvPr id="89" name="群組 55"/>
          <p:cNvGrpSpPr/>
          <p:nvPr/>
        </p:nvGrpSpPr>
        <p:grpSpPr>
          <a:xfrm>
            <a:off x="3707904" y="2780928"/>
            <a:ext cx="148552" cy="1232537"/>
            <a:chOff x="4705350" y="1782324"/>
            <a:chExt cx="148552" cy="1232537"/>
          </a:xfrm>
          <a:solidFill>
            <a:srgbClr val="FF0000"/>
          </a:solidFill>
        </p:grpSpPr>
        <p:sp>
          <p:nvSpPr>
            <p:cNvPr id="91" name="橢圓 90"/>
            <p:cNvSpPr/>
            <p:nvPr/>
          </p:nvSpPr>
          <p:spPr>
            <a:xfrm>
              <a:off x="4709886" y="17823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4705350" y="22863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3" name="橢圓 92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95" name="群組 63"/>
          <p:cNvGrpSpPr/>
          <p:nvPr/>
        </p:nvGrpSpPr>
        <p:grpSpPr>
          <a:xfrm>
            <a:off x="4351440" y="2420888"/>
            <a:ext cx="148552" cy="1152128"/>
            <a:chOff x="4552950" y="1710333"/>
            <a:chExt cx="148552" cy="115212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6" name="橢圓 95"/>
            <p:cNvSpPr/>
            <p:nvPr/>
          </p:nvSpPr>
          <p:spPr>
            <a:xfrm>
              <a:off x="4557486" y="1710333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7" name="橢圓 96"/>
            <p:cNvSpPr/>
            <p:nvPr/>
          </p:nvSpPr>
          <p:spPr>
            <a:xfrm>
              <a:off x="4552950" y="2214389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8" name="橢圓 97"/>
            <p:cNvSpPr/>
            <p:nvPr/>
          </p:nvSpPr>
          <p:spPr>
            <a:xfrm>
              <a:off x="4552950" y="27184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2987813" y="3429000"/>
            <a:ext cx="138523" cy="1088510"/>
            <a:chOff x="2987813" y="3429000"/>
            <a:chExt cx="138523" cy="1088510"/>
          </a:xfrm>
        </p:grpSpPr>
        <p:sp>
          <p:nvSpPr>
            <p:cNvPr id="88" name="橢圓 87"/>
            <p:cNvSpPr/>
            <p:nvPr/>
          </p:nvSpPr>
          <p:spPr>
            <a:xfrm>
              <a:off x="2987813" y="4400775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00" name="橢圓 99"/>
            <p:cNvSpPr/>
            <p:nvPr/>
          </p:nvSpPr>
          <p:spPr>
            <a:xfrm>
              <a:off x="2987824" y="3861048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01" name="橢圓 100"/>
            <p:cNvSpPr/>
            <p:nvPr/>
          </p:nvSpPr>
          <p:spPr>
            <a:xfrm>
              <a:off x="2987824" y="3429000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3059832" y="3284984"/>
            <a:ext cx="0" cy="1152226"/>
            <a:chOff x="3059832" y="3284984"/>
            <a:chExt cx="0" cy="1152226"/>
          </a:xfrm>
        </p:grpSpPr>
        <p:cxnSp>
          <p:nvCxnSpPr>
            <p:cNvPr id="118" name="直線單箭頭接點 117"/>
            <p:cNvCxnSpPr/>
            <p:nvPr/>
          </p:nvCxnSpPr>
          <p:spPr>
            <a:xfrm flipV="1">
              <a:off x="3059832" y="4221088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V="1">
              <a:off x="3059832" y="3717130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單箭頭接點 119"/>
            <p:cNvCxnSpPr/>
            <p:nvPr/>
          </p:nvCxnSpPr>
          <p:spPr>
            <a:xfrm flipV="1">
              <a:off x="3059832" y="3284984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3779912" y="2636912"/>
            <a:ext cx="0" cy="1296144"/>
            <a:chOff x="3779912" y="2636912"/>
            <a:chExt cx="0" cy="1296144"/>
          </a:xfrm>
        </p:grpSpPr>
        <p:cxnSp>
          <p:nvCxnSpPr>
            <p:cNvPr id="121" name="直線單箭頭接點 120"/>
            <p:cNvCxnSpPr/>
            <p:nvPr/>
          </p:nvCxnSpPr>
          <p:spPr>
            <a:xfrm flipV="1">
              <a:off x="3779912" y="3716934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V="1">
              <a:off x="3779912" y="3141066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/>
            <p:nvPr/>
          </p:nvCxnSpPr>
          <p:spPr>
            <a:xfrm flipV="1">
              <a:off x="3779912" y="2636912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4427984" y="2204864"/>
            <a:ext cx="0" cy="1296144"/>
            <a:chOff x="4427984" y="2204864"/>
            <a:chExt cx="0" cy="1296144"/>
          </a:xfrm>
        </p:grpSpPr>
        <p:cxnSp>
          <p:nvCxnSpPr>
            <p:cNvPr id="124" name="直線單箭頭接點 123"/>
            <p:cNvCxnSpPr/>
            <p:nvPr/>
          </p:nvCxnSpPr>
          <p:spPr>
            <a:xfrm flipV="1">
              <a:off x="4427984" y="3284886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V="1">
              <a:off x="4427984" y="2709018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單箭頭接點 125"/>
            <p:cNvCxnSpPr/>
            <p:nvPr/>
          </p:nvCxnSpPr>
          <p:spPr>
            <a:xfrm flipV="1">
              <a:off x="4427984" y="2204864"/>
              <a:ext cx="0" cy="2161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群組 55"/>
          <p:cNvGrpSpPr/>
          <p:nvPr/>
        </p:nvGrpSpPr>
        <p:grpSpPr>
          <a:xfrm>
            <a:off x="3707904" y="2556503"/>
            <a:ext cx="148552" cy="1232537"/>
            <a:chOff x="4705350" y="1782324"/>
            <a:chExt cx="148552" cy="1232537"/>
          </a:xfrm>
          <a:solidFill>
            <a:srgbClr val="FF0000"/>
          </a:solidFill>
        </p:grpSpPr>
        <p:sp>
          <p:nvSpPr>
            <p:cNvPr id="128" name="橢圓 127"/>
            <p:cNvSpPr/>
            <p:nvPr/>
          </p:nvSpPr>
          <p:spPr>
            <a:xfrm>
              <a:off x="4709886" y="17823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29" name="橢圓 128"/>
            <p:cNvSpPr/>
            <p:nvPr/>
          </p:nvSpPr>
          <p:spPr>
            <a:xfrm>
              <a:off x="4705350" y="22863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0" name="橢圓 129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31" name="群組 63"/>
          <p:cNvGrpSpPr/>
          <p:nvPr/>
        </p:nvGrpSpPr>
        <p:grpSpPr>
          <a:xfrm>
            <a:off x="4355976" y="2132856"/>
            <a:ext cx="148552" cy="1152128"/>
            <a:chOff x="4552950" y="1710333"/>
            <a:chExt cx="148552" cy="115212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32" name="橢圓 131"/>
            <p:cNvSpPr/>
            <p:nvPr/>
          </p:nvSpPr>
          <p:spPr>
            <a:xfrm>
              <a:off x="4557486" y="1710333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3" name="橢圓 132"/>
            <p:cNvSpPr/>
            <p:nvPr/>
          </p:nvSpPr>
          <p:spPr>
            <a:xfrm>
              <a:off x="4552950" y="2214389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4" name="橢圓 133"/>
            <p:cNvSpPr/>
            <p:nvPr/>
          </p:nvSpPr>
          <p:spPr>
            <a:xfrm>
              <a:off x="4552950" y="27184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35" name="群組 134"/>
          <p:cNvGrpSpPr/>
          <p:nvPr/>
        </p:nvGrpSpPr>
        <p:grpSpPr>
          <a:xfrm>
            <a:off x="2987824" y="3140968"/>
            <a:ext cx="138523" cy="1088510"/>
            <a:chOff x="2987813" y="3429000"/>
            <a:chExt cx="138523" cy="1088510"/>
          </a:xfrm>
        </p:grpSpPr>
        <p:sp>
          <p:nvSpPr>
            <p:cNvPr id="136" name="橢圓 135"/>
            <p:cNvSpPr/>
            <p:nvPr/>
          </p:nvSpPr>
          <p:spPr>
            <a:xfrm>
              <a:off x="2987813" y="4400775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7" name="橢圓 136"/>
            <p:cNvSpPr/>
            <p:nvPr/>
          </p:nvSpPr>
          <p:spPr>
            <a:xfrm>
              <a:off x="2987824" y="3861048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8" name="橢圓 137"/>
            <p:cNvSpPr/>
            <p:nvPr/>
          </p:nvSpPr>
          <p:spPr>
            <a:xfrm>
              <a:off x="2987824" y="3429000"/>
              <a:ext cx="138512" cy="1167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sp>
        <p:nvSpPr>
          <p:cNvPr id="139" name="弧形箭號 (下彎) 138"/>
          <p:cNvSpPr/>
          <p:nvPr/>
        </p:nvSpPr>
        <p:spPr>
          <a:xfrm>
            <a:off x="4860082" y="2276872"/>
            <a:ext cx="1008062" cy="360362"/>
          </a:xfrm>
          <a:prstGeom prst="curved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pSp>
        <p:nvGrpSpPr>
          <p:cNvPr id="140" name="群組 139"/>
          <p:cNvGrpSpPr/>
          <p:nvPr/>
        </p:nvGrpSpPr>
        <p:grpSpPr>
          <a:xfrm>
            <a:off x="3419872" y="4329149"/>
            <a:ext cx="138513" cy="1116075"/>
            <a:chOff x="3419872" y="4329149"/>
            <a:chExt cx="138513" cy="1116075"/>
          </a:xfrm>
          <a:solidFill>
            <a:srgbClr val="C00000"/>
          </a:solidFill>
        </p:grpSpPr>
        <p:grpSp>
          <p:nvGrpSpPr>
            <p:cNvPr id="141" name="群組 140"/>
            <p:cNvGrpSpPr/>
            <p:nvPr/>
          </p:nvGrpSpPr>
          <p:grpSpPr>
            <a:xfrm>
              <a:off x="3419873" y="4329149"/>
              <a:ext cx="138512" cy="1116075"/>
              <a:chOff x="2987813" y="3429000"/>
              <a:chExt cx="138523" cy="1088510"/>
            </a:xfrm>
            <a:grpFill/>
          </p:grpSpPr>
          <p:sp>
            <p:nvSpPr>
              <p:cNvPr id="143" name="橢圓 142"/>
              <p:cNvSpPr/>
              <p:nvPr/>
            </p:nvSpPr>
            <p:spPr>
              <a:xfrm>
                <a:off x="2987813" y="4400775"/>
                <a:ext cx="138512" cy="1167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92D05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44" name="橢圓 143"/>
              <p:cNvSpPr/>
              <p:nvPr/>
            </p:nvSpPr>
            <p:spPr>
              <a:xfrm>
                <a:off x="2987824" y="4096133"/>
                <a:ext cx="138512" cy="1167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92D05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45" name="橢圓 144"/>
              <p:cNvSpPr/>
              <p:nvPr/>
            </p:nvSpPr>
            <p:spPr>
              <a:xfrm>
                <a:off x="2987824" y="3429000"/>
                <a:ext cx="138512" cy="1167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92D05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42" name="橢圓 141"/>
            <p:cNvSpPr/>
            <p:nvPr/>
          </p:nvSpPr>
          <p:spPr>
            <a:xfrm>
              <a:off x="3419872" y="4653136"/>
              <a:ext cx="138501" cy="1196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46" name="群組 145"/>
          <p:cNvGrpSpPr/>
          <p:nvPr/>
        </p:nvGrpSpPr>
        <p:grpSpPr>
          <a:xfrm>
            <a:off x="4067944" y="3564615"/>
            <a:ext cx="148552" cy="1232537"/>
            <a:chOff x="4067944" y="3564615"/>
            <a:chExt cx="148552" cy="1232537"/>
          </a:xfrm>
        </p:grpSpPr>
        <p:grpSp>
          <p:nvGrpSpPr>
            <p:cNvPr id="147" name="群組 55"/>
            <p:cNvGrpSpPr/>
            <p:nvPr/>
          </p:nvGrpSpPr>
          <p:grpSpPr>
            <a:xfrm>
              <a:off x="4067944" y="3564615"/>
              <a:ext cx="148552" cy="1232537"/>
              <a:chOff x="4705350" y="1782324"/>
              <a:chExt cx="148552" cy="1232537"/>
            </a:xfrm>
            <a:solidFill>
              <a:srgbClr val="FF0000"/>
            </a:solidFill>
          </p:grpSpPr>
          <p:sp>
            <p:nvSpPr>
              <p:cNvPr id="149" name="橢圓 148"/>
              <p:cNvSpPr/>
              <p:nvPr/>
            </p:nvSpPr>
            <p:spPr>
              <a:xfrm>
                <a:off x="4709886" y="1782324"/>
                <a:ext cx="144016" cy="14401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50" name="橢圓 149"/>
              <p:cNvSpPr/>
              <p:nvPr/>
            </p:nvSpPr>
            <p:spPr>
              <a:xfrm>
                <a:off x="4705350" y="2510805"/>
                <a:ext cx="144016" cy="14401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51" name="橢圓 150"/>
              <p:cNvSpPr/>
              <p:nvPr/>
            </p:nvSpPr>
            <p:spPr>
              <a:xfrm>
                <a:off x="4705350" y="2870845"/>
                <a:ext cx="144016" cy="14401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48" name="橢圓 147"/>
            <p:cNvSpPr/>
            <p:nvPr/>
          </p:nvSpPr>
          <p:spPr>
            <a:xfrm>
              <a:off x="4067944" y="3933056"/>
              <a:ext cx="144016" cy="14401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52" name="群組 151"/>
          <p:cNvGrpSpPr/>
          <p:nvPr/>
        </p:nvGrpSpPr>
        <p:grpSpPr>
          <a:xfrm>
            <a:off x="4716016" y="3284984"/>
            <a:ext cx="148552" cy="1152128"/>
            <a:chOff x="4716016" y="3284984"/>
            <a:chExt cx="148552" cy="1152128"/>
          </a:xfrm>
          <a:solidFill>
            <a:srgbClr val="002060"/>
          </a:solidFill>
        </p:grpSpPr>
        <p:grpSp>
          <p:nvGrpSpPr>
            <p:cNvPr id="153" name="群組 63"/>
            <p:cNvGrpSpPr/>
            <p:nvPr/>
          </p:nvGrpSpPr>
          <p:grpSpPr>
            <a:xfrm>
              <a:off x="4716016" y="3284984"/>
              <a:ext cx="148552" cy="1152128"/>
              <a:chOff x="4552950" y="1710333"/>
              <a:chExt cx="148552" cy="1152128"/>
            </a:xfrm>
            <a:grpFill/>
          </p:grpSpPr>
          <p:sp>
            <p:nvSpPr>
              <p:cNvPr id="155" name="橢圓 154"/>
              <p:cNvSpPr/>
              <p:nvPr/>
            </p:nvSpPr>
            <p:spPr>
              <a:xfrm>
                <a:off x="4557486" y="1710333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56" name="橢圓 155"/>
              <p:cNvSpPr/>
              <p:nvPr/>
            </p:nvSpPr>
            <p:spPr>
              <a:xfrm>
                <a:off x="4552950" y="2430413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57" name="橢圓 156"/>
              <p:cNvSpPr/>
              <p:nvPr/>
            </p:nvSpPr>
            <p:spPr>
              <a:xfrm>
                <a:off x="4552950" y="2718445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54" name="橢圓 153"/>
            <p:cNvSpPr/>
            <p:nvPr/>
          </p:nvSpPr>
          <p:spPr>
            <a:xfrm>
              <a:off x="4716016" y="36450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58" name="群組 157"/>
          <p:cNvGrpSpPr/>
          <p:nvPr/>
        </p:nvGrpSpPr>
        <p:grpSpPr>
          <a:xfrm>
            <a:off x="5364088" y="2780928"/>
            <a:ext cx="148552" cy="1152128"/>
            <a:chOff x="5364088" y="2780928"/>
            <a:chExt cx="148552" cy="1152128"/>
          </a:xfrm>
          <a:solidFill>
            <a:srgbClr val="00B0F0"/>
          </a:solidFill>
        </p:grpSpPr>
        <p:grpSp>
          <p:nvGrpSpPr>
            <p:cNvPr id="159" name="群組 63"/>
            <p:cNvGrpSpPr/>
            <p:nvPr/>
          </p:nvGrpSpPr>
          <p:grpSpPr>
            <a:xfrm>
              <a:off x="5364088" y="2780928"/>
              <a:ext cx="148552" cy="1152128"/>
              <a:chOff x="4552950" y="1710333"/>
              <a:chExt cx="148552" cy="1152128"/>
            </a:xfrm>
            <a:grpFill/>
          </p:grpSpPr>
          <p:sp>
            <p:nvSpPr>
              <p:cNvPr id="161" name="橢圓 160"/>
              <p:cNvSpPr/>
              <p:nvPr/>
            </p:nvSpPr>
            <p:spPr>
              <a:xfrm>
                <a:off x="4557486" y="1710333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62" name="橢圓 161"/>
              <p:cNvSpPr/>
              <p:nvPr/>
            </p:nvSpPr>
            <p:spPr>
              <a:xfrm>
                <a:off x="4552950" y="2430413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63" name="橢圓 162"/>
              <p:cNvSpPr/>
              <p:nvPr/>
            </p:nvSpPr>
            <p:spPr>
              <a:xfrm>
                <a:off x="4552950" y="2718445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60" name="橢圓 159"/>
            <p:cNvSpPr/>
            <p:nvPr/>
          </p:nvSpPr>
          <p:spPr>
            <a:xfrm>
              <a:off x="5364088" y="314096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64" name="群組 163"/>
          <p:cNvGrpSpPr/>
          <p:nvPr/>
        </p:nvGrpSpPr>
        <p:grpSpPr>
          <a:xfrm>
            <a:off x="5868144" y="2420888"/>
            <a:ext cx="148552" cy="1152128"/>
            <a:chOff x="5868144" y="2420888"/>
            <a:chExt cx="148552" cy="1152128"/>
          </a:xfrm>
        </p:grpSpPr>
        <p:grpSp>
          <p:nvGrpSpPr>
            <p:cNvPr id="165" name="群組 63"/>
            <p:cNvGrpSpPr/>
            <p:nvPr/>
          </p:nvGrpSpPr>
          <p:grpSpPr>
            <a:xfrm>
              <a:off x="5868144" y="2420888"/>
              <a:ext cx="148552" cy="1152128"/>
              <a:chOff x="4552950" y="1710333"/>
              <a:chExt cx="148552" cy="115212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7" name="橢圓 166"/>
              <p:cNvSpPr/>
              <p:nvPr/>
            </p:nvSpPr>
            <p:spPr>
              <a:xfrm>
                <a:off x="4557486" y="1710333"/>
                <a:ext cx="144016" cy="14401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68" name="橢圓 167"/>
              <p:cNvSpPr/>
              <p:nvPr/>
            </p:nvSpPr>
            <p:spPr>
              <a:xfrm>
                <a:off x="4552950" y="2430413"/>
                <a:ext cx="144016" cy="14401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  <p:sp>
            <p:nvSpPr>
              <p:cNvPr id="169" name="橢圓 168"/>
              <p:cNvSpPr/>
              <p:nvPr/>
            </p:nvSpPr>
            <p:spPr>
              <a:xfrm>
                <a:off x="4552950" y="2718445"/>
                <a:ext cx="144016" cy="14401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>
                  <a:solidFill>
                    <a:srgbClr val="FF0000"/>
                  </a:solidFill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p:grpSp>
        <p:sp>
          <p:nvSpPr>
            <p:cNvPr id="166" name="橢圓 165"/>
            <p:cNvSpPr/>
            <p:nvPr/>
          </p:nvSpPr>
          <p:spPr>
            <a:xfrm>
              <a:off x="5868144" y="2780928"/>
              <a:ext cx="144016" cy="144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sp>
        <p:nvSpPr>
          <p:cNvPr id="170" name="橢圓 169"/>
          <p:cNvSpPr/>
          <p:nvPr/>
        </p:nvSpPr>
        <p:spPr>
          <a:xfrm>
            <a:off x="5868144" y="3933056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橢圓形圖說文字 2"/>
          <p:cNvSpPr/>
          <p:nvPr/>
        </p:nvSpPr>
        <p:spPr>
          <a:xfrm>
            <a:off x="6695838" y="2312925"/>
            <a:ext cx="2268649" cy="1323537"/>
          </a:xfrm>
          <a:prstGeom prst="wedgeEllipseCallout">
            <a:avLst>
              <a:gd name="adj1" fmla="val -72077"/>
              <a:gd name="adj2" fmla="val 7447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</a:rPr>
              <a:t>若有節點落於</a:t>
            </a:r>
            <a:r>
              <a:rPr lang="en-US" altLang="zh-TW" sz="1400" dirty="0" smtClean="0">
                <a:solidFill>
                  <a:schemeClr val="tx1"/>
                </a:solidFill>
              </a:rPr>
              <a:t>boundary</a:t>
            </a:r>
            <a:r>
              <a:rPr lang="zh-TW" altLang="en-US" sz="1400" dirty="0" smtClean="0">
                <a:solidFill>
                  <a:schemeClr val="tx1"/>
                </a:solidFill>
              </a:rPr>
              <a:t>之下 則上調至</a:t>
            </a:r>
            <a:r>
              <a:rPr lang="en-US" altLang="zh-TW" sz="1400" dirty="0" smtClean="0">
                <a:solidFill>
                  <a:schemeClr val="tx1"/>
                </a:solidFill>
              </a:rPr>
              <a:t>boundary</a:t>
            </a:r>
            <a:r>
              <a:rPr lang="zh-TW" altLang="en-US" sz="1400" dirty="0" smtClean="0">
                <a:solidFill>
                  <a:schemeClr val="tx1"/>
                </a:solidFill>
              </a:rPr>
              <a:t>的位置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71" name="直線單箭頭接點 170"/>
          <p:cNvCxnSpPr/>
          <p:nvPr/>
        </p:nvCxnSpPr>
        <p:spPr>
          <a:xfrm flipV="1">
            <a:off x="5940152" y="3788942"/>
            <a:ext cx="0" cy="21612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橢圓 171"/>
          <p:cNvSpPr/>
          <p:nvPr/>
        </p:nvSpPr>
        <p:spPr>
          <a:xfrm>
            <a:off x="5868144" y="3717032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837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17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25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2735263" y="4221163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735263" y="4185444"/>
            <a:ext cx="1692721" cy="35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735263" y="4221163"/>
            <a:ext cx="324569" cy="864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763688" y="314096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060229" y="374506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37"/>
          <p:cNvSpPr txBox="1">
            <a:spLocks noChangeArrowheads="1"/>
          </p:cNvSpPr>
          <p:nvPr/>
        </p:nvSpPr>
        <p:spPr bwMode="auto">
          <a:xfrm>
            <a:off x="755378" y="2492896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1" name="內容版面配置區 1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1-3.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endParaRPr lang="en-US" altLang="zh-TW" dirty="0" smtClean="0"/>
          </a:p>
          <a:p>
            <a:r>
              <a:rPr lang="en-US" altLang="zh-TW" sz="16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Step6:</a:t>
            </a:r>
            <a:r>
              <a:rPr lang="zh-TW" altLang="en-US" sz="160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接著繼續延展提領期的樹，直至提領期末</a:t>
            </a:r>
          </a:p>
        </p:txBody>
      </p:sp>
      <p:sp>
        <p:nvSpPr>
          <p:cNvPr id="112" name="文字方塊 38"/>
          <p:cNvSpPr txBox="1">
            <a:spLocks noChangeArrowheads="1"/>
          </p:cNvSpPr>
          <p:nvPr/>
        </p:nvSpPr>
        <p:spPr bwMode="auto">
          <a:xfrm>
            <a:off x="539229" y="572340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3" name="文字方塊 38"/>
          <p:cNvSpPr txBox="1">
            <a:spLocks noChangeArrowheads="1"/>
          </p:cNvSpPr>
          <p:nvPr/>
        </p:nvSpPr>
        <p:spPr bwMode="auto">
          <a:xfrm>
            <a:off x="1403648" y="5877272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4" name="文字方塊 38"/>
          <p:cNvSpPr txBox="1">
            <a:spLocks noChangeArrowheads="1"/>
          </p:cNvSpPr>
          <p:nvPr/>
        </p:nvSpPr>
        <p:spPr bwMode="auto">
          <a:xfrm>
            <a:off x="467544" y="5445224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5" name="文字方塊 38"/>
          <p:cNvSpPr txBox="1">
            <a:spLocks noChangeArrowheads="1"/>
          </p:cNvSpPr>
          <p:nvPr/>
        </p:nvSpPr>
        <p:spPr bwMode="auto">
          <a:xfrm>
            <a:off x="2771477" y="644348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65" name="直線接點 64"/>
          <p:cNvCxnSpPr/>
          <p:nvPr/>
        </p:nvCxnSpPr>
        <p:spPr>
          <a:xfrm rot="5400000">
            <a:off x="4932090" y="3140919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0"/>
          <p:cNvSpPr txBox="1">
            <a:spLocks noChangeArrowheads="1"/>
          </p:cNvSpPr>
          <p:nvPr/>
        </p:nvSpPr>
        <p:spPr bwMode="auto">
          <a:xfrm>
            <a:off x="2123529" y="3851200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X(0)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2682875" y="4148138"/>
            <a:ext cx="144463" cy="144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39" name="弧形箭號 (下彎) 138"/>
          <p:cNvSpPr/>
          <p:nvPr/>
        </p:nvSpPr>
        <p:spPr>
          <a:xfrm>
            <a:off x="6084168" y="2276872"/>
            <a:ext cx="720030" cy="288528"/>
          </a:xfrm>
          <a:prstGeom prst="curved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67" name="橢圓 166"/>
          <p:cNvSpPr/>
          <p:nvPr/>
        </p:nvSpPr>
        <p:spPr>
          <a:xfrm>
            <a:off x="5872680" y="2420888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499993" y="2564904"/>
            <a:ext cx="2448272" cy="4032447"/>
            <a:chOff x="4499993" y="2564904"/>
            <a:chExt cx="2448272" cy="4032447"/>
          </a:xfrm>
        </p:grpSpPr>
        <p:cxnSp>
          <p:nvCxnSpPr>
            <p:cNvPr id="170" name="直線接點 169"/>
            <p:cNvCxnSpPr/>
            <p:nvPr/>
          </p:nvCxnSpPr>
          <p:spPr>
            <a:xfrm rot="5400000">
              <a:off x="3491930" y="5589289"/>
              <a:ext cx="2016125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線接點 170"/>
            <p:cNvCxnSpPr/>
            <p:nvPr/>
          </p:nvCxnSpPr>
          <p:spPr>
            <a:xfrm rot="5400000">
              <a:off x="4212009" y="5013225"/>
              <a:ext cx="2016125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線接點 171"/>
            <p:cNvCxnSpPr/>
            <p:nvPr/>
          </p:nvCxnSpPr>
          <p:spPr>
            <a:xfrm rot="5400000">
              <a:off x="4860081" y="4509071"/>
              <a:ext cx="2016125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線接點 172"/>
            <p:cNvCxnSpPr/>
            <p:nvPr/>
          </p:nvCxnSpPr>
          <p:spPr>
            <a:xfrm rot="5400000">
              <a:off x="5436145" y="4077121"/>
              <a:ext cx="2016125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線接點 173"/>
            <p:cNvCxnSpPr/>
            <p:nvPr/>
          </p:nvCxnSpPr>
          <p:spPr>
            <a:xfrm rot="5400000">
              <a:off x="5940202" y="3572967"/>
              <a:ext cx="2016125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群組 11"/>
          <p:cNvGrpSpPr/>
          <p:nvPr/>
        </p:nvGrpSpPr>
        <p:grpSpPr>
          <a:xfrm>
            <a:off x="4427984" y="4005064"/>
            <a:ext cx="2590006" cy="2088232"/>
            <a:chOff x="4427984" y="4005064"/>
            <a:chExt cx="2590006" cy="2088232"/>
          </a:xfrm>
        </p:grpSpPr>
        <p:sp>
          <p:nvSpPr>
            <p:cNvPr id="175" name="橢圓 174"/>
            <p:cNvSpPr/>
            <p:nvPr/>
          </p:nvSpPr>
          <p:spPr>
            <a:xfrm>
              <a:off x="4427984" y="5948833"/>
              <a:ext cx="142875" cy="144463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76" name="橢圓 175"/>
            <p:cNvSpPr/>
            <p:nvPr/>
          </p:nvSpPr>
          <p:spPr>
            <a:xfrm>
              <a:off x="5149205" y="5373216"/>
              <a:ext cx="142875" cy="144463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77" name="橢圓 176"/>
            <p:cNvSpPr/>
            <p:nvPr/>
          </p:nvSpPr>
          <p:spPr>
            <a:xfrm>
              <a:off x="5797277" y="4941168"/>
              <a:ext cx="142875" cy="144463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78" name="橢圓 177"/>
            <p:cNvSpPr/>
            <p:nvPr/>
          </p:nvSpPr>
          <p:spPr>
            <a:xfrm>
              <a:off x="6371059" y="4509120"/>
              <a:ext cx="142875" cy="144463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79" name="橢圓 178"/>
            <p:cNvSpPr/>
            <p:nvPr/>
          </p:nvSpPr>
          <p:spPr>
            <a:xfrm>
              <a:off x="6875115" y="4005064"/>
              <a:ext cx="142875" cy="144463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86" name="群組 55"/>
          <p:cNvGrpSpPr/>
          <p:nvPr/>
        </p:nvGrpSpPr>
        <p:grpSpPr>
          <a:xfrm>
            <a:off x="6876256" y="2708920"/>
            <a:ext cx="148552" cy="2088232"/>
            <a:chOff x="4705350" y="1782324"/>
            <a:chExt cx="148552" cy="2088232"/>
          </a:xfrm>
          <a:solidFill>
            <a:srgbClr val="FF0000"/>
          </a:solidFill>
        </p:grpSpPr>
        <p:sp>
          <p:nvSpPr>
            <p:cNvPr id="187" name="橢圓 186"/>
            <p:cNvSpPr/>
            <p:nvPr/>
          </p:nvSpPr>
          <p:spPr>
            <a:xfrm>
              <a:off x="4709886" y="17823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88" name="橢圓 187"/>
            <p:cNvSpPr/>
            <p:nvPr/>
          </p:nvSpPr>
          <p:spPr>
            <a:xfrm>
              <a:off x="4705350" y="22863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89" name="橢圓 188"/>
            <p:cNvSpPr/>
            <p:nvPr/>
          </p:nvSpPr>
          <p:spPr>
            <a:xfrm>
              <a:off x="4705350" y="372654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193" name="群組 55"/>
          <p:cNvGrpSpPr/>
          <p:nvPr/>
        </p:nvGrpSpPr>
        <p:grpSpPr>
          <a:xfrm>
            <a:off x="6876256" y="2348880"/>
            <a:ext cx="148552" cy="1304545"/>
            <a:chOff x="4705350" y="1782324"/>
            <a:chExt cx="148552" cy="1304545"/>
          </a:xfrm>
          <a:solidFill>
            <a:srgbClr val="00B050"/>
          </a:solidFill>
        </p:grpSpPr>
        <p:sp>
          <p:nvSpPr>
            <p:cNvPr id="194" name="橢圓 193"/>
            <p:cNvSpPr/>
            <p:nvPr/>
          </p:nvSpPr>
          <p:spPr>
            <a:xfrm>
              <a:off x="4709886" y="17823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95" name="橢圓 194"/>
            <p:cNvSpPr/>
            <p:nvPr/>
          </p:nvSpPr>
          <p:spPr>
            <a:xfrm>
              <a:off x="4705350" y="22863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96" name="橢圓 195"/>
            <p:cNvSpPr/>
            <p:nvPr/>
          </p:nvSpPr>
          <p:spPr>
            <a:xfrm>
              <a:off x="4705350" y="2942853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6948264" y="2492896"/>
            <a:ext cx="1" cy="2160240"/>
            <a:chOff x="7812360" y="2348978"/>
            <a:chExt cx="1" cy="2160240"/>
          </a:xfrm>
        </p:grpSpPr>
        <p:cxnSp>
          <p:nvCxnSpPr>
            <p:cNvPr id="190" name="直線單箭頭接點 189"/>
            <p:cNvCxnSpPr>
              <a:endCxn id="189" idx="0"/>
            </p:cNvCxnSpPr>
            <p:nvPr/>
          </p:nvCxnSpPr>
          <p:spPr>
            <a:xfrm flipH="1">
              <a:off x="7812360" y="3356894"/>
              <a:ext cx="1" cy="115232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線單箭頭接點 196"/>
            <p:cNvCxnSpPr/>
            <p:nvPr/>
          </p:nvCxnSpPr>
          <p:spPr>
            <a:xfrm>
              <a:off x="7812360" y="2780928"/>
              <a:ext cx="0" cy="2879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線單箭頭接點 197"/>
            <p:cNvCxnSpPr/>
            <p:nvPr/>
          </p:nvCxnSpPr>
          <p:spPr>
            <a:xfrm>
              <a:off x="7812360" y="2348978"/>
              <a:ext cx="0" cy="2879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橢圓 198"/>
          <p:cNvSpPr/>
          <p:nvPr/>
        </p:nvSpPr>
        <p:spPr>
          <a:xfrm>
            <a:off x="6588224" y="4365104"/>
            <a:ext cx="792088" cy="5042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24328" y="4941168"/>
            <a:ext cx="936104" cy="3780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X(t)</a:t>
            </a:r>
            <a:r>
              <a:rPr lang="zh-TW" altLang="en-US" dirty="0" smtClean="0">
                <a:solidFill>
                  <a:srgbClr val="FF0000"/>
                </a:solidFill>
              </a:rPr>
              <a:t>觸</a:t>
            </a:r>
            <a:r>
              <a:rPr lang="en-US" altLang="zh-TW" dirty="0" smtClean="0">
                <a:solidFill>
                  <a:srgbClr val="FF0000"/>
                </a:solidFill>
              </a:rPr>
              <a:t>0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652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直線單箭頭接點 169"/>
          <p:cNvCxnSpPr/>
          <p:nvPr/>
        </p:nvCxnSpPr>
        <p:spPr>
          <a:xfrm flipV="1">
            <a:off x="2994025" y="3986213"/>
            <a:ext cx="2589213" cy="2222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6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.</a:t>
            </a: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(</a:t>
            </a: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躉繳型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) </a:t>
            </a:r>
            <a:endParaRPr lang="en-US" altLang="zh-TW" sz="2800" b="1" dirty="0" smtClean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 </a:t>
            </a: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      </a:t>
            </a:r>
            <a:r>
              <a:rPr lang="en-US" altLang="zh-TW" sz="2000" b="1" dirty="0" err="1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Case:</a:t>
            </a:r>
            <a:r>
              <a:rPr lang="en-US" altLang="zh-TW" sz="2000" b="1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</a:t>
            </a:r>
            <a:r>
              <a:rPr lang="en-US" altLang="zh-TW" sz="20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(t) </a:t>
            </a:r>
            <a:r>
              <a:rPr lang="zh-TW" altLang="en-US" sz="20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觸</a:t>
            </a:r>
            <a:r>
              <a:rPr lang="en-US" altLang="zh-TW" sz="20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</a:p>
          <a:p>
            <a:pPr>
              <a:buFont typeface="Arial" charset="0"/>
              <a:buNone/>
            </a:pPr>
            <a:r>
              <a:rPr lang="en-US" altLang="zh-TW" sz="25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zh-TW" altLang="en-US" sz="25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2" name="直線接點 101"/>
          <p:cNvCxnSpPr/>
          <p:nvPr/>
        </p:nvCxnSpPr>
        <p:spPr>
          <a:xfrm flipV="1">
            <a:off x="5573713" y="3883025"/>
            <a:ext cx="2492375" cy="904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5586413" y="3986213"/>
            <a:ext cx="1754187" cy="573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 rot="16200000" flipH="1">
            <a:off x="5449887" y="4010026"/>
            <a:ext cx="1236663" cy="10906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0E5D84-40FC-420A-853A-3E3188E7367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pPr>
                <a:defRPr/>
              </a:pPr>
              <a:t>26</a:t>
            </a:fld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2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 flipV="1">
            <a:off x="952500" y="2781300"/>
            <a:ext cx="4176713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 rot="5400000">
            <a:off x="-550069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952500" y="5589588"/>
            <a:ext cx="3468688" cy="1262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8" name="文字方塊 36"/>
          <p:cNvSpPr txBox="1">
            <a:spLocks noChangeArrowheads="1"/>
          </p:cNvSpPr>
          <p:nvPr/>
        </p:nvSpPr>
        <p:spPr bwMode="auto">
          <a:xfrm>
            <a:off x="250825" y="4797425"/>
            <a:ext cx="1173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cs typeface="Times New Roman" pitchFamily="18" charset="0"/>
              </a:rPr>
              <a:t>R(t, level)</a:t>
            </a:r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9" name="文字方塊 37"/>
          <p:cNvSpPr txBox="1">
            <a:spLocks noChangeArrowheads="1"/>
          </p:cNvSpPr>
          <p:nvPr/>
        </p:nvSpPr>
        <p:spPr bwMode="auto">
          <a:xfrm>
            <a:off x="412750" y="2924175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cs typeface="Times New Roman" pitchFamily="18" charset="0"/>
              </a:rPr>
              <a:t>X(t)</a:t>
            </a:r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71" name="文字方塊 78"/>
          <p:cNvSpPr txBox="1">
            <a:spLocks noChangeArrowheads="1"/>
          </p:cNvSpPr>
          <p:nvPr/>
        </p:nvSpPr>
        <p:spPr bwMode="auto">
          <a:xfrm>
            <a:off x="6516688" y="4149725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cs typeface="Times New Roman" pitchFamily="18" charset="0"/>
              </a:rPr>
              <a:t>PB</a:t>
            </a:r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72" name="文字方塊 79"/>
          <p:cNvSpPr txBox="1">
            <a:spLocks noChangeArrowheads="1"/>
          </p:cNvSpPr>
          <p:nvPr/>
        </p:nvSpPr>
        <p:spPr bwMode="auto">
          <a:xfrm>
            <a:off x="5867400" y="4556125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cs typeface="Times New Roman" pitchFamily="18" charset="0"/>
              </a:rPr>
              <a:t>PC</a:t>
            </a:r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5" name="直線接點 64"/>
          <p:cNvCxnSpPr/>
          <p:nvPr/>
        </p:nvCxnSpPr>
        <p:spPr>
          <a:xfrm rot="16200000" flipH="1">
            <a:off x="5722938" y="2795588"/>
            <a:ext cx="1166812" cy="1111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rot="16200000" flipH="1">
            <a:off x="4631531" y="3059907"/>
            <a:ext cx="1793875" cy="793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 rot="5400000">
            <a:off x="3659187" y="3673476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橢圓 68"/>
          <p:cNvSpPr/>
          <p:nvPr/>
        </p:nvSpPr>
        <p:spPr>
          <a:xfrm>
            <a:off x="5459413" y="3384550"/>
            <a:ext cx="144462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4595813" y="4032250"/>
            <a:ext cx="144462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直線接點 71"/>
          <p:cNvCxnSpPr/>
          <p:nvPr/>
        </p:nvCxnSpPr>
        <p:spPr>
          <a:xfrm rot="5400000">
            <a:off x="1966912" y="32258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橢圓 72"/>
          <p:cNvSpPr/>
          <p:nvPr/>
        </p:nvSpPr>
        <p:spPr>
          <a:xfrm>
            <a:off x="2916238" y="2781300"/>
            <a:ext cx="142875" cy="1428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7" name="直線接點 76"/>
          <p:cNvCxnSpPr/>
          <p:nvPr/>
        </p:nvCxnSpPr>
        <p:spPr>
          <a:xfrm flipV="1">
            <a:off x="2700338" y="3260725"/>
            <a:ext cx="3784600" cy="2935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63"/>
          <p:cNvGrpSpPr/>
          <p:nvPr/>
        </p:nvGrpSpPr>
        <p:grpSpPr>
          <a:xfrm>
            <a:off x="5460082" y="2304821"/>
            <a:ext cx="148552" cy="1224136"/>
            <a:chOff x="4552950" y="1485908"/>
            <a:chExt cx="148552" cy="1224136"/>
          </a:xfrm>
          <a:solidFill>
            <a:srgbClr val="7030A0"/>
          </a:solidFill>
        </p:grpSpPr>
        <p:sp>
          <p:nvSpPr>
            <p:cNvPr id="90" name="橢圓 89"/>
            <p:cNvSpPr/>
            <p:nvPr/>
          </p:nvSpPr>
          <p:spPr>
            <a:xfrm>
              <a:off x="4557486" y="148590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橢圓 90"/>
            <p:cNvSpPr/>
            <p:nvPr/>
          </p:nvSpPr>
          <p:spPr>
            <a:xfrm>
              <a:off x="4552950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4552950" y="256602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群組 63"/>
          <p:cNvGrpSpPr/>
          <p:nvPr/>
        </p:nvGrpSpPr>
        <p:grpSpPr>
          <a:xfrm>
            <a:off x="5460082" y="2664861"/>
            <a:ext cx="148552" cy="1343100"/>
            <a:chOff x="4552950" y="1773940"/>
            <a:chExt cx="148552" cy="1343100"/>
          </a:xfrm>
          <a:solidFill>
            <a:srgbClr val="00B0F0"/>
          </a:solidFill>
        </p:grpSpPr>
        <p:sp>
          <p:nvSpPr>
            <p:cNvPr id="95" name="橢圓 94"/>
            <p:cNvSpPr/>
            <p:nvPr/>
          </p:nvSpPr>
          <p:spPr>
            <a:xfrm>
              <a:off x="4557486" y="177394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橢圓 95"/>
            <p:cNvSpPr/>
            <p:nvPr/>
          </p:nvSpPr>
          <p:spPr>
            <a:xfrm>
              <a:off x="4552950" y="2277996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橢圓 96"/>
            <p:cNvSpPr/>
            <p:nvPr/>
          </p:nvSpPr>
          <p:spPr>
            <a:xfrm>
              <a:off x="4552950" y="29730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00" name="直線單箭頭接點 99"/>
          <p:cNvCxnSpPr/>
          <p:nvPr/>
        </p:nvCxnSpPr>
        <p:spPr>
          <a:xfrm rot="5400000">
            <a:off x="5422900" y="3060700"/>
            <a:ext cx="217488" cy="158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 rot="5400000">
            <a:off x="5364957" y="3696494"/>
            <a:ext cx="334962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4" name="橢圓 113"/>
          <p:cNvSpPr/>
          <p:nvPr/>
        </p:nvSpPr>
        <p:spPr>
          <a:xfrm>
            <a:off x="5316538" y="3744913"/>
            <a:ext cx="503237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85" name="文字方塊 38"/>
          <p:cNvSpPr txBox="1">
            <a:spLocks noChangeArrowheads="1"/>
          </p:cNvSpPr>
          <p:nvPr/>
        </p:nvSpPr>
        <p:spPr bwMode="auto">
          <a:xfrm>
            <a:off x="468313" y="5589588"/>
            <a:ext cx="503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86" name="文字方塊 116"/>
          <p:cNvSpPr txBox="1">
            <a:spLocks noChangeArrowheads="1"/>
          </p:cNvSpPr>
          <p:nvPr/>
        </p:nvSpPr>
        <p:spPr bwMode="auto">
          <a:xfrm>
            <a:off x="4284663" y="4005263"/>
            <a:ext cx="574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endParaRPr lang="zh-TW" altLang="en-US" b="1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8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7" name="直線單箭頭接點 86"/>
          <p:cNvCxnSpPr>
            <a:stCxn id="114" idx="7"/>
            <a:endCxn id="83" idx="2"/>
          </p:cNvCxnSpPr>
          <p:nvPr/>
        </p:nvCxnSpPr>
        <p:spPr>
          <a:xfrm flipV="1">
            <a:off x="5746078" y="1663362"/>
            <a:ext cx="14253" cy="212363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rot="5400000">
            <a:off x="5428457" y="2556669"/>
            <a:ext cx="215900" cy="158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1" name="文字方塊 79"/>
          <p:cNvSpPr txBox="1">
            <a:spLocks noChangeArrowheads="1"/>
          </p:cNvSpPr>
          <p:nvPr/>
        </p:nvSpPr>
        <p:spPr bwMode="auto">
          <a:xfrm>
            <a:off x="7451725" y="3500438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cs typeface="Times New Roman" pitchFamily="18" charset="0"/>
              </a:rPr>
              <a:t>PA</a:t>
            </a:r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5" name="直線接點 134"/>
          <p:cNvCxnSpPr/>
          <p:nvPr/>
        </p:nvCxnSpPr>
        <p:spPr>
          <a:xfrm flipV="1">
            <a:off x="4787900" y="3544888"/>
            <a:ext cx="3667125" cy="3311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 rot="5400000">
            <a:off x="788987" y="3963988"/>
            <a:ext cx="2085975" cy="63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rot="5400000">
            <a:off x="3528219" y="2817019"/>
            <a:ext cx="122396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橢圓 146"/>
          <p:cNvSpPr/>
          <p:nvPr/>
        </p:nvSpPr>
        <p:spPr>
          <a:xfrm>
            <a:off x="2916238" y="3213100"/>
            <a:ext cx="142875" cy="1444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橢圓 147"/>
          <p:cNvSpPr/>
          <p:nvPr/>
        </p:nvSpPr>
        <p:spPr>
          <a:xfrm>
            <a:off x="2916238" y="3644900"/>
            <a:ext cx="142875" cy="1444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98" name="文字方塊 38"/>
          <p:cNvSpPr txBox="1">
            <a:spLocks noChangeArrowheads="1"/>
          </p:cNvSpPr>
          <p:nvPr/>
        </p:nvSpPr>
        <p:spPr bwMode="auto">
          <a:xfrm>
            <a:off x="1893094" y="6270293"/>
            <a:ext cx="793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3" name="直線接點 172"/>
          <p:cNvCxnSpPr/>
          <p:nvPr/>
        </p:nvCxnSpPr>
        <p:spPr>
          <a:xfrm>
            <a:off x="2981325" y="4221163"/>
            <a:ext cx="1677988" cy="463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接點 174"/>
          <p:cNvCxnSpPr/>
          <p:nvPr/>
        </p:nvCxnSpPr>
        <p:spPr>
          <a:xfrm rot="16200000" flipH="1">
            <a:off x="2561432" y="4628356"/>
            <a:ext cx="1339850" cy="525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接點 175"/>
          <p:cNvCxnSpPr/>
          <p:nvPr/>
        </p:nvCxnSpPr>
        <p:spPr>
          <a:xfrm rot="5400000">
            <a:off x="2495550" y="4556126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橢圓 188"/>
          <p:cNvSpPr/>
          <p:nvPr/>
        </p:nvSpPr>
        <p:spPr>
          <a:xfrm>
            <a:off x="3419475" y="4941888"/>
            <a:ext cx="144463" cy="14287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3" name="向下箭號 192"/>
          <p:cNvSpPr/>
          <p:nvPr/>
        </p:nvSpPr>
        <p:spPr>
          <a:xfrm>
            <a:off x="5364163" y="1484313"/>
            <a:ext cx="360362" cy="649287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95" name="直線接點 194"/>
          <p:cNvCxnSpPr/>
          <p:nvPr/>
        </p:nvCxnSpPr>
        <p:spPr>
          <a:xfrm rot="16200000" flipH="1">
            <a:off x="7229475" y="3016251"/>
            <a:ext cx="1697037" cy="2381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接點 196"/>
          <p:cNvCxnSpPr/>
          <p:nvPr/>
        </p:nvCxnSpPr>
        <p:spPr>
          <a:xfrm rot="16200000" flipH="1">
            <a:off x="6462713" y="3711575"/>
            <a:ext cx="1697037" cy="2381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接點 197"/>
          <p:cNvCxnSpPr/>
          <p:nvPr/>
        </p:nvCxnSpPr>
        <p:spPr>
          <a:xfrm rot="16200000" flipH="1">
            <a:off x="5764213" y="4324350"/>
            <a:ext cx="1697037" cy="2381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/>
          <p:nvPr/>
        </p:nvCxnSpPr>
        <p:spPr>
          <a:xfrm flipV="1">
            <a:off x="8101013" y="3716338"/>
            <a:ext cx="1042987" cy="1444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8101013" y="3860800"/>
            <a:ext cx="1042987" cy="288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rot="16200000" flipH="1">
            <a:off x="7974806" y="3988594"/>
            <a:ext cx="1290638" cy="1047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7345363" y="4572000"/>
            <a:ext cx="1798637" cy="585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659563" y="5157788"/>
            <a:ext cx="2074862" cy="86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6659563" y="5157788"/>
            <a:ext cx="2484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6659563" y="5157788"/>
            <a:ext cx="1368425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7331075" y="4365625"/>
            <a:ext cx="1812925" cy="184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 rot="16200000" flipH="1">
            <a:off x="7300119" y="4572794"/>
            <a:ext cx="1471613" cy="1425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群組 8"/>
          <p:cNvGrpSpPr/>
          <p:nvPr/>
        </p:nvGrpSpPr>
        <p:grpSpPr>
          <a:xfrm>
            <a:off x="2411760" y="1087099"/>
            <a:ext cx="6724303" cy="576263"/>
            <a:chOff x="2411760" y="1087099"/>
            <a:chExt cx="6724303" cy="576263"/>
          </a:xfrm>
        </p:grpSpPr>
        <p:sp>
          <p:nvSpPr>
            <p:cNvPr id="83" name="矩形 82"/>
            <p:cNvSpPr/>
            <p:nvPr/>
          </p:nvSpPr>
          <p:spPr>
            <a:xfrm>
              <a:off x="2411760" y="1087099"/>
              <a:ext cx="6697142" cy="5762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1434583588"/>
                </p:ext>
              </p:extLst>
            </p:nvPr>
          </p:nvGraphicFramePr>
          <p:xfrm>
            <a:off x="2505075" y="1160463"/>
            <a:ext cx="6630988" cy="468312"/>
          </p:xfrm>
          <a:graphic>
            <a:graphicData uri="http://schemas.openxmlformats.org/presentationml/2006/ole">
              <p:oleObj spid="_x0000_s79897" name="方程式" r:id="rId4" imgW="3416040" imgH="241200" progId="Equation.3">
                <p:embed/>
              </p:oleObj>
            </a:graphicData>
          </a:graphic>
        </p:graphicFrame>
      </p:grpSp>
      <p:sp>
        <p:nvSpPr>
          <p:cNvPr id="75" name="文字方塊 81"/>
          <p:cNvSpPr txBox="1">
            <a:spLocks noChangeArrowheads="1"/>
          </p:cNvSpPr>
          <p:nvPr/>
        </p:nvSpPr>
        <p:spPr bwMode="auto">
          <a:xfrm>
            <a:off x="4572000" y="3861048"/>
            <a:ext cx="792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R(3,2)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7099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71" grpId="0"/>
      <p:bldP spid="39972" grpId="0"/>
      <p:bldP spid="111" grpId="0"/>
      <p:bldP spid="19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直線單箭頭接點 169"/>
          <p:cNvCxnSpPr/>
          <p:nvPr/>
        </p:nvCxnSpPr>
        <p:spPr>
          <a:xfrm flipV="1">
            <a:off x="2994025" y="3986213"/>
            <a:ext cx="2589213" cy="2222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.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endParaRPr lang="en-US" altLang="zh-TW" b="1" dirty="0" smtClean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z="2000" b="1" dirty="0" smtClean="0">
                <a:latin typeface="Times New Roman" pitchFamily="18" charset="0"/>
                <a:cs typeface="Times New Roman" pitchFamily="18" charset="0"/>
              </a:rPr>
              <a:t>Backward Induction</a:t>
            </a:r>
          </a:p>
          <a:p>
            <a:pPr>
              <a:buNone/>
            </a:pPr>
            <a:r>
              <a:rPr lang="en-US" altLang="zh-TW" sz="2000" b="1" dirty="0" err="1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Case:</a:t>
            </a:r>
            <a:r>
              <a:rPr lang="en-US" altLang="zh-TW" sz="2000" b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</a:t>
            </a:r>
            <a:r>
              <a:rPr lang="en-US" altLang="zh-TW" sz="2000" b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(t) </a:t>
            </a:r>
            <a:r>
              <a:rPr lang="zh-TW" altLang="en-US" sz="2000" b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未</a:t>
            </a:r>
            <a:r>
              <a:rPr lang="zh-TW" altLang="en-US" sz="20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觸</a:t>
            </a:r>
            <a:r>
              <a:rPr lang="en-US" altLang="zh-TW" sz="2000" b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</a:p>
          <a:p>
            <a:pPr>
              <a:buFont typeface="Arial" charset="0"/>
              <a:buNone/>
            </a:pPr>
            <a:endParaRPr lang="en-US" altLang="zh-TW" sz="23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z="25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zh-TW" altLang="en-US" sz="25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2" name="直線接點 101"/>
          <p:cNvCxnSpPr/>
          <p:nvPr/>
        </p:nvCxnSpPr>
        <p:spPr>
          <a:xfrm flipV="1">
            <a:off x="5573713" y="3883025"/>
            <a:ext cx="2492375" cy="904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5586413" y="3986213"/>
            <a:ext cx="1754187" cy="573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 rot="16200000" flipH="1">
            <a:off x="5449887" y="4010026"/>
            <a:ext cx="1236663" cy="10906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1197C1-ECBB-4907-B82F-BDE302ADF139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pPr>
                <a:defRPr/>
              </a:pPr>
              <a:t>27</a:t>
            </a:fld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8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 flipV="1">
            <a:off x="952500" y="2781300"/>
            <a:ext cx="4176713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 rot="5400000">
            <a:off x="-550069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952500" y="5589588"/>
            <a:ext cx="3468688" cy="1262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93" name="文字方塊 36"/>
          <p:cNvSpPr txBox="1">
            <a:spLocks noChangeArrowheads="1"/>
          </p:cNvSpPr>
          <p:nvPr/>
        </p:nvSpPr>
        <p:spPr bwMode="auto">
          <a:xfrm>
            <a:off x="250825" y="4797425"/>
            <a:ext cx="1173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cs typeface="Times New Roman" pitchFamily="18" charset="0"/>
              </a:rPr>
              <a:t>R(t, level)</a:t>
            </a:r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94" name="文字方塊 37"/>
          <p:cNvSpPr txBox="1">
            <a:spLocks noChangeArrowheads="1"/>
          </p:cNvSpPr>
          <p:nvPr/>
        </p:nvSpPr>
        <p:spPr bwMode="auto">
          <a:xfrm>
            <a:off x="412750" y="2924175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cs typeface="Times New Roman" pitchFamily="18" charset="0"/>
              </a:rPr>
              <a:t>X(t)</a:t>
            </a:r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5" name="直線接點 64"/>
          <p:cNvCxnSpPr/>
          <p:nvPr/>
        </p:nvCxnSpPr>
        <p:spPr>
          <a:xfrm rot="16200000" flipH="1">
            <a:off x="5722938" y="2795588"/>
            <a:ext cx="1166812" cy="1111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rot="16200000" flipH="1">
            <a:off x="4631531" y="3059907"/>
            <a:ext cx="1793875" cy="793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 rot="5400000">
            <a:off x="3659187" y="3673476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橢圓 68"/>
          <p:cNvSpPr/>
          <p:nvPr/>
        </p:nvSpPr>
        <p:spPr>
          <a:xfrm>
            <a:off x="5459413" y="3384550"/>
            <a:ext cx="144462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4595813" y="4032250"/>
            <a:ext cx="144462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直線接點 71"/>
          <p:cNvCxnSpPr/>
          <p:nvPr/>
        </p:nvCxnSpPr>
        <p:spPr>
          <a:xfrm rot="5400000">
            <a:off x="1966912" y="32258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橢圓 72"/>
          <p:cNvSpPr/>
          <p:nvPr/>
        </p:nvSpPr>
        <p:spPr>
          <a:xfrm>
            <a:off x="2916238" y="2781300"/>
            <a:ext cx="142875" cy="1428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7" name="直線接點 76"/>
          <p:cNvCxnSpPr/>
          <p:nvPr/>
        </p:nvCxnSpPr>
        <p:spPr>
          <a:xfrm flipV="1">
            <a:off x="2700338" y="3260725"/>
            <a:ext cx="3784600" cy="2935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63"/>
          <p:cNvGrpSpPr/>
          <p:nvPr/>
        </p:nvGrpSpPr>
        <p:grpSpPr>
          <a:xfrm>
            <a:off x="5460082" y="2304821"/>
            <a:ext cx="148552" cy="1224136"/>
            <a:chOff x="4552950" y="1485908"/>
            <a:chExt cx="148552" cy="1224136"/>
          </a:xfrm>
          <a:solidFill>
            <a:srgbClr val="7030A0"/>
          </a:solidFill>
        </p:grpSpPr>
        <p:sp>
          <p:nvSpPr>
            <p:cNvPr id="90" name="橢圓 89"/>
            <p:cNvSpPr/>
            <p:nvPr/>
          </p:nvSpPr>
          <p:spPr>
            <a:xfrm>
              <a:off x="4557486" y="148590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橢圓 90"/>
            <p:cNvSpPr/>
            <p:nvPr/>
          </p:nvSpPr>
          <p:spPr>
            <a:xfrm>
              <a:off x="4552950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4552950" y="256602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群組 63"/>
          <p:cNvGrpSpPr/>
          <p:nvPr/>
        </p:nvGrpSpPr>
        <p:grpSpPr>
          <a:xfrm>
            <a:off x="5460082" y="2664861"/>
            <a:ext cx="148552" cy="1343100"/>
            <a:chOff x="4552950" y="1773940"/>
            <a:chExt cx="148552" cy="1343100"/>
          </a:xfrm>
          <a:solidFill>
            <a:srgbClr val="00B0F0"/>
          </a:solidFill>
        </p:grpSpPr>
        <p:sp>
          <p:nvSpPr>
            <p:cNvPr id="95" name="橢圓 94"/>
            <p:cNvSpPr/>
            <p:nvPr/>
          </p:nvSpPr>
          <p:spPr>
            <a:xfrm>
              <a:off x="4557486" y="177394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橢圓 95"/>
            <p:cNvSpPr/>
            <p:nvPr/>
          </p:nvSpPr>
          <p:spPr>
            <a:xfrm>
              <a:off x="4552950" y="2277996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橢圓 96"/>
            <p:cNvSpPr/>
            <p:nvPr/>
          </p:nvSpPr>
          <p:spPr>
            <a:xfrm>
              <a:off x="4552950" y="29730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00" name="直線單箭頭接點 99"/>
          <p:cNvCxnSpPr/>
          <p:nvPr/>
        </p:nvCxnSpPr>
        <p:spPr>
          <a:xfrm rot="5400000">
            <a:off x="5422900" y="3060700"/>
            <a:ext cx="217488" cy="158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 rot="5400000">
            <a:off x="5364957" y="3696494"/>
            <a:ext cx="334962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607" name="文字方塊 38"/>
          <p:cNvSpPr txBox="1">
            <a:spLocks noChangeArrowheads="1"/>
          </p:cNvSpPr>
          <p:nvPr/>
        </p:nvSpPr>
        <p:spPr bwMode="auto">
          <a:xfrm>
            <a:off x="468313" y="5589588"/>
            <a:ext cx="503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608" name="文字方塊 116"/>
          <p:cNvSpPr txBox="1">
            <a:spLocks noChangeArrowheads="1"/>
          </p:cNvSpPr>
          <p:nvPr/>
        </p:nvSpPr>
        <p:spPr bwMode="auto">
          <a:xfrm>
            <a:off x="4284663" y="4005263"/>
            <a:ext cx="574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endParaRPr lang="zh-TW" altLang="en-US" b="1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609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4" name="直線單箭頭接點 93"/>
          <p:cNvCxnSpPr/>
          <p:nvPr/>
        </p:nvCxnSpPr>
        <p:spPr>
          <a:xfrm rot="5400000">
            <a:off x="5428457" y="2556669"/>
            <a:ext cx="215900" cy="158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611" name="文字方塊 81"/>
          <p:cNvSpPr txBox="1">
            <a:spLocks noChangeArrowheads="1"/>
          </p:cNvSpPr>
          <p:nvPr/>
        </p:nvSpPr>
        <p:spPr bwMode="auto">
          <a:xfrm>
            <a:off x="5003800" y="4076700"/>
            <a:ext cx="792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R(3,2)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5" name="直線接點 134"/>
          <p:cNvCxnSpPr/>
          <p:nvPr/>
        </p:nvCxnSpPr>
        <p:spPr>
          <a:xfrm flipV="1">
            <a:off x="4787900" y="3544888"/>
            <a:ext cx="3667125" cy="3311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 rot="5400000">
            <a:off x="788987" y="3963988"/>
            <a:ext cx="2085975" cy="63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rot="5400000">
            <a:off x="3528219" y="2817019"/>
            <a:ext cx="122396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橢圓 146"/>
          <p:cNvSpPr/>
          <p:nvPr/>
        </p:nvSpPr>
        <p:spPr>
          <a:xfrm>
            <a:off x="2916238" y="3213100"/>
            <a:ext cx="142875" cy="1444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橢圓 147"/>
          <p:cNvSpPr/>
          <p:nvPr/>
        </p:nvSpPr>
        <p:spPr>
          <a:xfrm>
            <a:off x="2916238" y="3644900"/>
            <a:ext cx="142875" cy="1444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617" name="文字方塊 38"/>
          <p:cNvSpPr txBox="1">
            <a:spLocks noChangeArrowheads="1"/>
          </p:cNvSpPr>
          <p:nvPr/>
        </p:nvSpPr>
        <p:spPr bwMode="auto">
          <a:xfrm>
            <a:off x="2051050" y="6248400"/>
            <a:ext cx="793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3" name="直線接點 172"/>
          <p:cNvCxnSpPr/>
          <p:nvPr/>
        </p:nvCxnSpPr>
        <p:spPr>
          <a:xfrm>
            <a:off x="2981325" y="4221163"/>
            <a:ext cx="1677988" cy="463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接點 174"/>
          <p:cNvCxnSpPr/>
          <p:nvPr/>
        </p:nvCxnSpPr>
        <p:spPr>
          <a:xfrm rot="16200000" flipH="1">
            <a:off x="2561432" y="4628356"/>
            <a:ext cx="1339850" cy="525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接點 175"/>
          <p:cNvCxnSpPr/>
          <p:nvPr/>
        </p:nvCxnSpPr>
        <p:spPr>
          <a:xfrm rot="5400000">
            <a:off x="2495550" y="4556126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橢圓 188"/>
          <p:cNvSpPr/>
          <p:nvPr/>
        </p:nvSpPr>
        <p:spPr>
          <a:xfrm>
            <a:off x="3419475" y="4941888"/>
            <a:ext cx="144463" cy="14287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5" name="直線接點 194"/>
          <p:cNvCxnSpPr/>
          <p:nvPr/>
        </p:nvCxnSpPr>
        <p:spPr>
          <a:xfrm rot="16200000" flipH="1">
            <a:off x="7229475" y="3016251"/>
            <a:ext cx="1697037" cy="2381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接點 196"/>
          <p:cNvCxnSpPr/>
          <p:nvPr/>
        </p:nvCxnSpPr>
        <p:spPr>
          <a:xfrm rot="16200000" flipH="1">
            <a:off x="6462713" y="3711575"/>
            <a:ext cx="1697037" cy="2381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接點 197"/>
          <p:cNvCxnSpPr/>
          <p:nvPr/>
        </p:nvCxnSpPr>
        <p:spPr>
          <a:xfrm rot="16200000" flipH="1">
            <a:off x="5764213" y="4324350"/>
            <a:ext cx="1697037" cy="2381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63"/>
          <p:cNvGrpSpPr/>
          <p:nvPr/>
        </p:nvGrpSpPr>
        <p:grpSpPr>
          <a:xfrm>
            <a:off x="8011322" y="2255140"/>
            <a:ext cx="148552" cy="1224136"/>
            <a:chOff x="4552950" y="1485908"/>
            <a:chExt cx="148552" cy="1224136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64" name="橢圓 63"/>
            <p:cNvSpPr/>
            <p:nvPr/>
          </p:nvSpPr>
          <p:spPr>
            <a:xfrm>
              <a:off x="4557486" y="148590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橢圓 67"/>
            <p:cNvSpPr/>
            <p:nvPr/>
          </p:nvSpPr>
          <p:spPr>
            <a:xfrm>
              <a:off x="4552950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橢圓 70"/>
            <p:cNvSpPr/>
            <p:nvPr/>
          </p:nvSpPr>
          <p:spPr>
            <a:xfrm>
              <a:off x="4552950" y="256602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群組 63"/>
          <p:cNvGrpSpPr/>
          <p:nvPr/>
        </p:nvGrpSpPr>
        <p:grpSpPr>
          <a:xfrm>
            <a:off x="7236296" y="2924944"/>
            <a:ext cx="148552" cy="1224136"/>
            <a:chOff x="4552950" y="1485908"/>
            <a:chExt cx="148552" cy="1224136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75" name="橢圓 74"/>
            <p:cNvSpPr/>
            <p:nvPr/>
          </p:nvSpPr>
          <p:spPr>
            <a:xfrm>
              <a:off x="4557486" y="148590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橢圓 75"/>
            <p:cNvSpPr/>
            <p:nvPr/>
          </p:nvSpPr>
          <p:spPr>
            <a:xfrm>
              <a:off x="4552950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橢圓 77"/>
            <p:cNvSpPr/>
            <p:nvPr/>
          </p:nvSpPr>
          <p:spPr>
            <a:xfrm>
              <a:off x="4552950" y="256602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" name="群組 63"/>
          <p:cNvGrpSpPr/>
          <p:nvPr/>
        </p:nvGrpSpPr>
        <p:grpSpPr>
          <a:xfrm>
            <a:off x="6538120" y="3547964"/>
            <a:ext cx="148552" cy="1224136"/>
            <a:chOff x="4552950" y="1485908"/>
            <a:chExt cx="148552" cy="1224136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80" name="橢圓 79"/>
            <p:cNvSpPr/>
            <p:nvPr/>
          </p:nvSpPr>
          <p:spPr>
            <a:xfrm>
              <a:off x="4557486" y="148590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橢圓 80"/>
            <p:cNvSpPr/>
            <p:nvPr/>
          </p:nvSpPr>
          <p:spPr>
            <a:xfrm>
              <a:off x="4552950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橢圓 81"/>
            <p:cNvSpPr/>
            <p:nvPr/>
          </p:nvSpPr>
          <p:spPr>
            <a:xfrm>
              <a:off x="4552950" y="256602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群組 63"/>
          <p:cNvGrpSpPr/>
          <p:nvPr/>
        </p:nvGrpSpPr>
        <p:grpSpPr>
          <a:xfrm>
            <a:off x="8155732" y="2145554"/>
            <a:ext cx="714772" cy="1355454"/>
            <a:chOff x="4699348" y="1725946"/>
            <a:chExt cx="714772" cy="13554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89" name="文字方塊 88"/>
            <p:cNvSpPr txBox="1"/>
            <p:nvPr/>
          </p:nvSpPr>
          <p:spPr>
            <a:xfrm>
              <a:off x="4703490" y="1725946"/>
              <a:ext cx="576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A1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4699348" y="2192338"/>
              <a:ext cx="711696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A2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4702424" y="2712068"/>
              <a:ext cx="711696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A3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9" name="群組 63"/>
          <p:cNvGrpSpPr/>
          <p:nvPr/>
        </p:nvGrpSpPr>
        <p:grpSpPr>
          <a:xfrm>
            <a:off x="7342734" y="2818506"/>
            <a:ext cx="714772" cy="1355454"/>
            <a:chOff x="4699348" y="1725946"/>
            <a:chExt cx="714772" cy="13554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03" name="文字方塊 102"/>
            <p:cNvSpPr txBox="1"/>
            <p:nvPr/>
          </p:nvSpPr>
          <p:spPr>
            <a:xfrm>
              <a:off x="4703490" y="1725946"/>
              <a:ext cx="576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B1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4699348" y="2192338"/>
              <a:ext cx="711696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B2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6" name="文字方塊 105"/>
            <p:cNvSpPr txBox="1"/>
            <p:nvPr/>
          </p:nvSpPr>
          <p:spPr>
            <a:xfrm>
              <a:off x="4702424" y="2712068"/>
              <a:ext cx="711696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B3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0" name="群組 63"/>
          <p:cNvGrpSpPr/>
          <p:nvPr/>
        </p:nvGrpSpPr>
        <p:grpSpPr>
          <a:xfrm>
            <a:off x="6665540" y="3429000"/>
            <a:ext cx="714772" cy="1355454"/>
            <a:chOff x="4699348" y="1725946"/>
            <a:chExt cx="714772" cy="13554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09" name="文字方塊 108"/>
            <p:cNvSpPr txBox="1"/>
            <p:nvPr/>
          </p:nvSpPr>
          <p:spPr>
            <a:xfrm>
              <a:off x="4703490" y="1725946"/>
              <a:ext cx="576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C1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4699348" y="2192338"/>
              <a:ext cx="711696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C2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4702424" y="2712068"/>
              <a:ext cx="711696" cy="3693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C3</a:t>
              </a:r>
              <a:endPara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16" name="橢圓 115"/>
          <p:cNvSpPr/>
          <p:nvPr/>
        </p:nvSpPr>
        <p:spPr>
          <a:xfrm>
            <a:off x="5364163" y="2636838"/>
            <a:ext cx="360362" cy="215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19" name="直線單箭頭接點 118"/>
          <p:cNvCxnSpPr>
            <a:stCxn id="116" idx="6"/>
          </p:cNvCxnSpPr>
          <p:nvPr/>
        </p:nvCxnSpPr>
        <p:spPr>
          <a:xfrm flipV="1">
            <a:off x="5724525" y="2568575"/>
            <a:ext cx="2166938" cy="176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16" idx="6"/>
          </p:cNvCxnSpPr>
          <p:nvPr/>
        </p:nvCxnSpPr>
        <p:spPr>
          <a:xfrm>
            <a:off x="5724525" y="2744788"/>
            <a:ext cx="1503363" cy="361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16" idx="6"/>
          </p:cNvCxnSpPr>
          <p:nvPr/>
        </p:nvCxnSpPr>
        <p:spPr>
          <a:xfrm>
            <a:off x="5724525" y="2744788"/>
            <a:ext cx="788988" cy="10128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/>
          <p:cNvSpPr txBox="1">
            <a:spLocks noChangeArrowheads="1"/>
          </p:cNvSpPr>
          <p:nvPr/>
        </p:nvSpPr>
        <p:spPr bwMode="auto">
          <a:xfrm>
            <a:off x="3887788" y="1124744"/>
            <a:ext cx="5143500" cy="954107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1400" dirty="0"/>
              <a:t>生存價值 </a:t>
            </a:r>
            <a:r>
              <a:rPr lang="en-US" altLang="zh-TW" sz="1400" dirty="0"/>
              <a:t>=[</a:t>
            </a:r>
            <a:r>
              <a:rPr lang="en-US" altLang="zh-TW" sz="1400" dirty="0">
                <a:solidFill>
                  <a:srgbClr val="00B050"/>
                </a:solidFill>
              </a:rPr>
              <a:t>PA*(Pau*VA1+Pam*VA2+Pad*VA3)</a:t>
            </a:r>
            <a:r>
              <a:rPr lang="en-US" altLang="zh-TW" sz="1400" dirty="0"/>
              <a:t>+</a:t>
            </a:r>
            <a:r>
              <a:rPr lang="en-US" altLang="zh-TW" sz="1400" dirty="0">
                <a:solidFill>
                  <a:srgbClr val="00B050"/>
                </a:solidFill>
              </a:rPr>
              <a:t> </a:t>
            </a:r>
            <a:r>
              <a:rPr lang="en-US" altLang="zh-TW" sz="1400" dirty="0" smtClean="0">
                <a:solidFill>
                  <a:srgbClr val="00B050"/>
                </a:solidFill>
              </a:rPr>
              <a:t>	</a:t>
            </a:r>
            <a:r>
              <a:rPr lang="en-US" altLang="zh-TW" sz="1400" dirty="0" smtClean="0">
                <a:solidFill>
                  <a:srgbClr val="00B0F0"/>
                </a:solidFill>
              </a:rPr>
              <a:t>PB</a:t>
            </a:r>
            <a:r>
              <a:rPr lang="en-US" altLang="zh-TW" sz="1400" dirty="0">
                <a:solidFill>
                  <a:srgbClr val="00B0F0"/>
                </a:solidFill>
              </a:rPr>
              <a:t>*(</a:t>
            </a:r>
            <a:r>
              <a:rPr lang="en-US" altLang="zh-TW" sz="1400" dirty="0" err="1">
                <a:solidFill>
                  <a:srgbClr val="00B0F0"/>
                </a:solidFill>
              </a:rPr>
              <a:t>Pbu</a:t>
            </a:r>
            <a:r>
              <a:rPr lang="en-US" altLang="zh-TW" sz="1400" dirty="0">
                <a:solidFill>
                  <a:srgbClr val="00B0F0"/>
                </a:solidFill>
              </a:rPr>
              <a:t>*VB1+Pbm*VB2+Pbd*VB3</a:t>
            </a:r>
            <a:r>
              <a:rPr lang="en-US" altLang="zh-TW" sz="1400" dirty="0" smtClean="0">
                <a:solidFill>
                  <a:srgbClr val="00B0F0"/>
                </a:solidFill>
              </a:rPr>
              <a:t>)</a:t>
            </a:r>
            <a:r>
              <a:rPr lang="en-US" altLang="zh-TW" sz="1400" dirty="0" smtClean="0"/>
              <a:t>+</a:t>
            </a:r>
          </a:p>
          <a:p>
            <a:pPr eaLnBrk="1" hangingPunct="1"/>
            <a:r>
              <a:rPr lang="en-US" altLang="zh-TW" sz="1400" dirty="0">
                <a:solidFill>
                  <a:srgbClr val="7030A0"/>
                </a:solidFill>
              </a:rPr>
              <a:t>	</a:t>
            </a:r>
            <a:r>
              <a:rPr lang="en-US" altLang="zh-TW" sz="1400" dirty="0" smtClean="0">
                <a:solidFill>
                  <a:srgbClr val="7030A0"/>
                </a:solidFill>
              </a:rPr>
              <a:t>PC</a:t>
            </a:r>
            <a:r>
              <a:rPr lang="en-US" altLang="zh-TW" sz="1400" dirty="0">
                <a:solidFill>
                  <a:srgbClr val="7030A0"/>
                </a:solidFill>
              </a:rPr>
              <a:t>*(</a:t>
            </a:r>
            <a:r>
              <a:rPr lang="en-US" altLang="zh-TW" sz="1400" dirty="0" err="1">
                <a:solidFill>
                  <a:srgbClr val="7030A0"/>
                </a:solidFill>
              </a:rPr>
              <a:t>Pbu</a:t>
            </a:r>
            <a:r>
              <a:rPr lang="en-US" altLang="zh-TW" sz="1400" dirty="0">
                <a:solidFill>
                  <a:srgbClr val="7030A0"/>
                </a:solidFill>
              </a:rPr>
              <a:t>*VC1+Pbm*VC2+Pbd*VC3</a:t>
            </a:r>
            <a:r>
              <a:rPr lang="en-US" altLang="zh-TW" sz="1400" dirty="0" smtClean="0">
                <a:solidFill>
                  <a:srgbClr val="7030A0"/>
                </a:solidFill>
              </a:rPr>
              <a:t>)</a:t>
            </a:r>
            <a:r>
              <a:rPr lang="zh-TW" altLang="en-US" sz="1400" dirty="0" smtClean="0">
                <a:solidFill>
                  <a:srgbClr val="7030A0"/>
                </a:solidFill>
              </a:rPr>
              <a:t>  </a:t>
            </a:r>
            <a:r>
              <a:rPr lang="en-US" altLang="zh-TW" sz="1400" dirty="0" smtClean="0"/>
              <a:t>] *</a:t>
            </a:r>
          </a:p>
          <a:p>
            <a:pPr eaLnBrk="1" hangingPunct="1"/>
            <a:r>
              <a:rPr lang="en-US" altLang="zh-TW" sz="1400" dirty="0"/>
              <a:t>	</a:t>
            </a:r>
            <a:r>
              <a:rPr lang="en-US" altLang="zh-TW" sz="1400" dirty="0" smtClean="0"/>
              <a:t> (</a:t>
            </a:r>
            <a:r>
              <a:rPr lang="zh-TW" altLang="en-US" sz="1400" dirty="0" smtClean="0"/>
              <a:t>區間生存機率</a:t>
            </a:r>
            <a:r>
              <a:rPr lang="en-US" altLang="zh-TW" sz="1400" dirty="0" smtClean="0"/>
              <a:t>) </a:t>
            </a:r>
            <a:r>
              <a:rPr lang="en-US" altLang="zh-TW" sz="1400" dirty="0"/>
              <a:t>* </a:t>
            </a:r>
            <a:r>
              <a:rPr lang="en-US" altLang="zh-TW" sz="1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exp</a:t>
            </a:r>
            <a:r>
              <a:rPr lang="en-US" altLang="zh-TW" sz="1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(-</a:t>
            </a:r>
            <a:r>
              <a:rPr lang="en-US" altLang="zh-TW" sz="1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R(3,2))</a:t>
            </a:r>
            <a:endParaRPr lang="zh-TW" altLang="en-US" sz="1400" dirty="0"/>
          </a:p>
        </p:txBody>
      </p:sp>
      <p:sp>
        <p:nvSpPr>
          <p:cNvPr id="129" name="文字方塊 128"/>
          <p:cNvSpPr txBox="1">
            <a:spLocks noChangeArrowheads="1"/>
          </p:cNvSpPr>
          <p:nvPr/>
        </p:nvSpPr>
        <p:spPr bwMode="auto">
          <a:xfrm>
            <a:off x="2843213" y="5732463"/>
            <a:ext cx="5689600" cy="107721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prstDash val="dashDot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1600" dirty="0"/>
              <a:t>死亡價值 </a:t>
            </a:r>
            <a:r>
              <a:rPr lang="en-US" altLang="zh-TW" sz="1600" dirty="0"/>
              <a:t>=[</a:t>
            </a:r>
            <a:r>
              <a:rPr lang="en-US" altLang="zh-TW" sz="1600" dirty="0">
                <a:solidFill>
                  <a:srgbClr val="00B050"/>
                </a:solidFill>
              </a:rPr>
              <a:t>PA*(Pau*WA1+Pam*WA2+Pad*WA3)</a:t>
            </a:r>
            <a:r>
              <a:rPr lang="en-US" altLang="zh-TW" sz="1600" dirty="0"/>
              <a:t>+</a:t>
            </a:r>
            <a:r>
              <a:rPr lang="en-US" altLang="zh-TW" sz="1600" dirty="0">
                <a:solidFill>
                  <a:srgbClr val="00B050"/>
                </a:solidFill>
              </a:rPr>
              <a:t> </a:t>
            </a:r>
            <a:r>
              <a:rPr lang="en-US" altLang="zh-TW" sz="1600" dirty="0" smtClean="0">
                <a:solidFill>
                  <a:srgbClr val="00B050"/>
                </a:solidFill>
              </a:rPr>
              <a:t>	</a:t>
            </a:r>
            <a:r>
              <a:rPr lang="zh-TW" altLang="en-US" sz="1600" dirty="0" smtClean="0">
                <a:solidFill>
                  <a:srgbClr val="00B050"/>
                </a:solidFill>
              </a:rPr>
              <a:t> </a:t>
            </a:r>
            <a:r>
              <a:rPr lang="en-US" altLang="zh-TW" sz="1600" dirty="0" smtClean="0">
                <a:solidFill>
                  <a:srgbClr val="00B050"/>
                </a:solidFill>
              </a:rPr>
              <a:t>	</a:t>
            </a:r>
            <a:r>
              <a:rPr lang="en-US" altLang="zh-TW" sz="1600" dirty="0" smtClean="0">
                <a:solidFill>
                  <a:srgbClr val="00B0F0"/>
                </a:solidFill>
              </a:rPr>
              <a:t>PB</a:t>
            </a:r>
            <a:r>
              <a:rPr lang="en-US" altLang="zh-TW" sz="1600" dirty="0">
                <a:solidFill>
                  <a:srgbClr val="00B0F0"/>
                </a:solidFill>
              </a:rPr>
              <a:t>*(</a:t>
            </a:r>
            <a:r>
              <a:rPr lang="en-US" altLang="zh-TW" sz="1600" dirty="0" err="1">
                <a:solidFill>
                  <a:srgbClr val="00B0F0"/>
                </a:solidFill>
              </a:rPr>
              <a:t>Pbu</a:t>
            </a:r>
            <a:r>
              <a:rPr lang="en-US" altLang="zh-TW" sz="1600" dirty="0">
                <a:solidFill>
                  <a:srgbClr val="00B0F0"/>
                </a:solidFill>
              </a:rPr>
              <a:t>*WB1+Pbm*WB2+Pbd*WB3</a:t>
            </a:r>
            <a:r>
              <a:rPr lang="en-US" altLang="zh-TW" sz="1600" dirty="0" smtClean="0">
                <a:solidFill>
                  <a:srgbClr val="00B0F0"/>
                </a:solidFill>
              </a:rPr>
              <a:t>)</a:t>
            </a:r>
            <a:r>
              <a:rPr lang="en-US" altLang="zh-TW" sz="1600" dirty="0" smtClean="0"/>
              <a:t>+	</a:t>
            </a:r>
            <a:r>
              <a:rPr lang="en-US" altLang="zh-TW" sz="1600" dirty="0" smtClean="0">
                <a:solidFill>
                  <a:srgbClr val="7030A0"/>
                </a:solidFill>
              </a:rPr>
              <a:t>PC</a:t>
            </a:r>
            <a:r>
              <a:rPr lang="en-US" altLang="zh-TW" sz="1600" dirty="0">
                <a:solidFill>
                  <a:srgbClr val="7030A0"/>
                </a:solidFill>
              </a:rPr>
              <a:t>*(</a:t>
            </a:r>
            <a:r>
              <a:rPr lang="en-US" altLang="zh-TW" sz="1600" dirty="0" err="1">
                <a:solidFill>
                  <a:srgbClr val="7030A0"/>
                </a:solidFill>
              </a:rPr>
              <a:t>Pcu</a:t>
            </a:r>
            <a:r>
              <a:rPr lang="en-US" altLang="zh-TW" sz="1600" dirty="0">
                <a:solidFill>
                  <a:srgbClr val="7030A0"/>
                </a:solidFill>
              </a:rPr>
              <a:t>*WC1+Pcm*WC2+Pcd*WC3</a:t>
            </a:r>
            <a:r>
              <a:rPr lang="en-US" altLang="zh-TW" sz="1600" dirty="0" smtClean="0">
                <a:solidFill>
                  <a:srgbClr val="7030A0"/>
                </a:solidFill>
              </a:rPr>
              <a:t>)</a:t>
            </a:r>
            <a:r>
              <a:rPr lang="zh-TW" altLang="en-US" sz="1600" dirty="0" smtClean="0">
                <a:solidFill>
                  <a:srgbClr val="7030A0"/>
                </a:solidFill>
              </a:rPr>
              <a:t>  </a:t>
            </a:r>
            <a:r>
              <a:rPr lang="en-US" altLang="zh-TW" sz="1600" dirty="0" smtClean="0"/>
              <a:t>]</a:t>
            </a:r>
          </a:p>
          <a:p>
            <a:pPr eaLnBrk="1" hangingPunct="1"/>
            <a:r>
              <a:rPr lang="zh-TW" altLang="en-US" sz="1600" dirty="0"/>
              <a:t> </a:t>
            </a:r>
            <a:r>
              <a:rPr lang="zh-TW" altLang="en-US" sz="1600" dirty="0" smtClean="0"/>
              <a:t>               </a:t>
            </a:r>
            <a:r>
              <a:rPr lang="en-US" altLang="zh-TW" sz="1600" dirty="0" smtClean="0"/>
              <a:t> </a:t>
            </a:r>
            <a:r>
              <a:rPr lang="en-US" altLang="zh-TW" sz="1600" dirty="0"/>
              <a:t>* (</a:t>
            </a:r>
            <a:r>
              <a:rPr lang="zh-TW" altLang="en-US" sz="1600" dirty="0" smtClean="0"/>
              <a:t>區間</a:t>
            </a:r>
            <a:r>
              <a:rPr lang="zh-TW" altLang="en-US" sz="1600" dirty="0"/>
              <a:t>死亡</a:t>
            </a:r>
            <a:r>
              <a:rPr lang="zh-TW" altLang="en-US" sz="1600" dirty="0" smtClean="0"/>
              <a:t>機率</a:t>
            </a:r>
            <a:r>
              <a:rPr lang="en-US" altLang="zh-TW" sz="1600" dirty="0"/>
              <a:t>) * </a:t>
            </a:r>
            <a:r>
              <a:rPr lang="en-US" altLang="zh-TW" sz="1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exp</a:t>
            </a:r>
            <a:r>
              <a:rPr lang="en-US" altLang="zh-TW" sz="1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(-</a:t>
            </a:r>
            <a:r>
              <a:rPr lang="en-US" altLang="zh-TW" sz="1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R(3,2))</a:t>
            </a:r>
            <a:endParaRPr lang="zh-TW" altLang="en-US" sz="1600" dirty="0"/>
          </a:p>
        </p:txBody>
      </p:sp>
      <p:sp>
        <p:nvSpPr>
          <p:cNvPr id="24638" name="文字方塊 83"/>
          <p:cNvSpPr txBox="1">
            <a:spLocks noChangeArrowheads="1"/>
          </p:cNvSpPr>
          <p:nvPr/>
        </p:nvSpPr>
        <p:spPr bwMode="auto">
          <a:xfrm>
            <a:off x="5940425" y="3644900"/>
            <a:ext cx="503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PA</a:t>
            </a:r>
            <a:endParaRPr lang="zh-TW" altLang="en-US"/>
          </a:p>
        </p:txBody>
      </p:sp>
      <p:sp>
        <p:nvSpPr>
          <p:cNvPr id="24639" name="文字方塊 84"/>
          <p:cNvSpPr txBox="1">
            <a:spLocks noChangeArrowheads="1"/>
          </p:cNvSpPr>
          <p:nvPr/>
        </p:nvSpPr>
        <p:spPr bwMode="auto">
          <a:xfrm>
            <a:off x="6011863" y="4076700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PB</a:t>
            </a:r>
            <a:endParaRPr lang="zh-TW" altLang="en-US"/>
          </a:p>
        </p:txBody>
      </p:sp>
      <p:sp>
        <p:nvSpPr>
          <p:cNvPr id="24640" name="文字方塊 85"/>
          <p:cNvSpPr txBox="1">
            <a:spLocks noChangeArrowheads="1"/>
          </p:cNvSpPr>
          <p:nvPr/>
        </p:nvSpPr>
        <p:spPr bwMode="auto">
          <a:xfrm>
            <a:off x="5580063" y="4437063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PC</a:t>
            </a:r>
            <a:endParaRPr lang="zh-TW" altLang="en-US"/>
          </a:p>
        </p:txBody>
      </p:sp>
      <p:sp>
        <p:nvSpPr>
          <p:cNvPr id="87" name="文字方塊 86"/>
          <p:cNvSpPr txBox="1"/>
          <p:nvPr/>
        </p:nvSpPr>
        <p:spPr>
          <a:xfrm>
            <a:off x="8602663" y="2124075"/>
            <a:ext cx="649287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Pau</a:t>
            </a:r>
            <a:endParaRPr lang="zh-TW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8596313" y="2636838"/>
            <a:ext cx="649287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Pam</a:t>
            </a:r>
            <a:endParaRPr lang="zh-TW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8583613" y="3141663"/>
            <a:ext cx="649287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Pad</a:t>
            </a:r>
            <a:endParaRPr lang="zh-TW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4644" name="文字方塊 83"/>
          <p:cNvSpPr txBox="1">
            <a:spLocks noChangeArrowheads="1"/>
          </p:cNvSpPr>
          <p:nvPr/>
        </p:nvSpPr>
        <p:spPr bwMode="auto">
          <a:xfrm>
            <a:off x="5651500" y="2133600"/>
            <a:ext cx="576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D1</a:t>
            </a:r>
            <a:endParaRPr lang="zh-TW" altLang="en-US">
              <a:solidFill>
                <a:srgbClr val="7030A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624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1-3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.</a:t>
            </a: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(</a:t>
            </a:r>
            <a:r>
              <a:rPr lang="zh-TW" altLang="en-US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躉繳型</a:t>
            </a:r>
            <a:r>
              <a:rPr lang="en-US" altLang="zh-TW" sz="28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)</a:t>
            </a:r>
            <a:endParaRPr lang="en-US" altLang="zh-TW" sz="2500" b="1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zh-TW" altLang="en-US" sz="25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提前解約：</a:t>
            </a:r>
            <a:r>
              <a:rPr lang="en-US" altLang="zh-TW" sz="25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  <a:endParaRPr lang="zh-TW" altLang="en-US" sz="2500" b="1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02" name="直線接點 101"/>
          <p:cNvCxnSpPr/>
          <p:nvPr/>
        </p:nvCxnSpPr>
        <p:spPr>
          <a:xfrm flipV="1">
            <a:off x="5573713" y="3883025"/>
            <a:ext cx="2492375" cy="904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5586413" y="3986213"/>
            <a:ext cx="1754187" cy="573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 rot="16200000" flipH="1">
            <a:off x="5485606" y="4045745"/>
            <a:ext cx="1190625" cy="1065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  <a:endParaRPr lang="zh-TW" altLang="en-US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9F7243-4EAA-4E41-BB9E-DC1A410F570B}" type="slidenum">
              <a:rPr lang="zh-TW" altLang="en-US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pPr>
                <a:defRPr/>
              </a:pPr>
              <a:t>28</a:t>
            </a:fld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68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69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7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 flipV="1">
            <a:off x="952500" y="2781300"/>
            <a:ext cx="4176713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 rot="5400000">
            <a:off x="-550069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952500" y="5589588"/>
            <a:ext cx="3468688" cy="1262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4" name="文字方塊 36"/>
          <p:cNvSpPr txBox="1">
            <a:spLocks noChangeArrowheads="1"/>
          </p:cNvSpPr>
          <p:nvPr/>
        </p:nvSpPr>
        <p:spPr bwMode="auto">
          <a:xfrm>
            <a:off x="250825" y="4797425"/>
            <a:ext cx="1173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R(t, level)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75" name="文字方塊 37"/>
          <p:cNvSpPr txBox="1">
            <a:spLocks noChangeArrowheads="1"/>
          </p:cNvSpPr>
          <p:nvPr/>
        </p:nvSpPr>
        <p:spPr bwMode="auto">
          <a:xfrm>
            <a:off x="412750" y="2924175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65" name="直線接點 64"/>
          <p:cNvCxnSpPr/>
          <p:nvPr/>
        </p:nvCxnSpPr>
        <p:spPr>
          <a:xfrm rot="16200000" flipH="1">
            <a:off x="5722938" y="2795588"/>
            <a:ext cx="1166812" cy="1111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rot="16200000" flipH="1">
            <a:off x="4631531" y="3059907"/>
            <a:ext cx="1793875" cy="793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 rot="5400000">
            <a:off x="3659187" y="3673476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橢圓 68"/>
          <p:cNvSpPr/>
          <p:nvPr/>
        </p:nvSpPr>
        <p:spPr>
          <a:xfrm>
            <a:off x="5459413" y="3384550"/>
            <a:ext cx="144462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4595813" y="4032250"/>
            <a:ext cx="144462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72" name="直線接點 71"/>
          <p:cNvCxnSpPr/>
          <p:nvPr/>
        </p:nvCxnSpPr>
        <p:spPr>
          <a:xfrm rot="5400000">
            <a:off x="1966912" y="32258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橢圓 72"/>
          <p:cNvSpPr/>
          <p:nvPr/>
        </p:nvSpPr>
        <p:spPr>
          <a:xfrm>
            <a:off x="2916238" y="2781300"/>
            <a:ext cx="142875" cy="1428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77" name="直線接點 76"/>
          <p:cNvCxnSpPr/>
          <p:nvPr/>
        </p:nvCxnSpPr>
        <p:spPr>
          <a:xfrm flipV="1">
            <a:off x="2700338" y="3260725"/>
            <a:ext cx="3784600" cy="2935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63"/>
          <p:cNvGrpSpPr/>
          <p:nvPr/>
        </p:nvGrpSpPr>
        <p:grpSpPr>
          <a:xfrm>
            <a:off x="5460082" y="2304821"/>
            <a:ext cx="148552" cy="1224136"/>
            <a:chOff x="4552950" y="1485908"/>
            <a:chExt cx="148552" cy="1224136"/>
          </a:xfrm>
          <a:solidFill>
            <a:srgbClr val="7030A0"/>
          </a:solidFill>
        </p:grpSpPr>
        <p:sp>
          <p:nvSpPr>
            <p:cNvPr id="90" name="橢圓 89"/>
            <p:cNvSpPr/>
            <p:nvPr/>
          </p:nvSpPr>
          <p:spPr>
            <a:xfrm>
              <a:off x="4557486" y="148590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1" name="橢圓 90"/>
            <p:cNvSpPr/>
            <p:nvPr/>
          </p:nvSpPr>
          <p:spPr>
            <a:xfrm>
              <a:off x="4552950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4552950" y="256602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sp>
        <p:nvSpPr>
          <p:cNvPr id="40985" name="文字方塊 38"/>
          <p:cNvSpPr txBox="1">
            <a:spLocks noChangeArrowheads="1"/>
          </p:cNvSpPr>
          <p:nvPr/>
        </p:nvSpPr>
        <p:spPr bwMode="auto">
          <a:xfrm>
            <a:off x="468313" y="5589588"/>
            <a:ext cx="503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86" name="文字方塊 116"/>
          <p:cNvSpPr txBox="1">
            <a:spLocks noChangeArrowheads="1"/>
          </p:cNvSpPr>
          <p:nvPr/>
        </p:nvSpPr>
        <p:spPr bwMode="auto">
          <a:xfrm>
            <a:off x="4284663" y="4005263"/>
            <a:ext cx="574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FFC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</a:t>
            </a:r>
            <a:endParaRPr lang="zh-TW" altLang="en-US" b="1">
              <a:solidFill>
                <a:srgbClr val="FFC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8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88" name="文字方塊 81"/>
          <p:cNvSpPr txBox="1">
            <a:spLocks noChangeArrowheads="1"/>
          </p:cNvSpPr>
          <p:nvPr/>
        </p:nvSpPr>
        <p:spPr bwMode="auto">
          <a:xfrm>
            <a:off x="5003800" y="4005263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R(3,2)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35" name="直線接點 134"/>
          <p:cNvCxnSpPr/>
          <p:nvPr/>
        </p:nvCxnSpPr>
        <p:spPr>
          <a:xfrm flipV="1">
            <a:off x="4787900" y="3544888"/>
            <a:ext cx="3667125" cy="3311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 rot="5400000">
            <a:off x="788987" y="3963988"/>
            <a:ext cx="2085975" cy="63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rot="5400000">
            <a:off x="3528219" y="2817019"/>
            <a:ext cx="122396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橢圓 146"/>
          <p:cNvSpPr/>
          <p:nvPr/>
        </p:nvSpPr>
        <p:spPr>
          <a:xfrm>
            <a:off x="2916238" y="3213100"/>
            <a:ext cx="142875" cy="1444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48" name="橢圓 147"/>
          <p:cNvSpPr/>
          <p:nvPr/>
        </p:nvSpPr>
        <p:spPr>
          <a:xfrm>
            <a:off x="2916238" y="3644900"/>
            <a:ext cx="142875" cy="1444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94" name="文字方塊 38"/>
          <p:cNvSpPr txBox="1">
            <a:spLocks noChangeArrowheads="1"/>
          </p:cNvSpPr>
          <p:nvPr/>
        </p:nvSpPr>
        <p:spPr bwMode="auto">
          <a:xfrm>
            <a:off x="2122066" y="6248400"/>
            <a:ext cx="793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3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0995" name="文字方塊 81"/>
          <p:cNvSpPr txBox="1">
            <a:spLocks noChangeArrowheads="1"/>
          </p:cNvSpPr>
          <p:nvPr/>
        </p:nvSpPr>
        <p:spPr bwMode="auto">
          <a:xfrm>
            <a:off x="2195513" y="4005263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R(2,1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73" name="直線接點 172"/>
          <p:cNvCxnSpPr/>
          <p:nvPr/>
        </p:nvCxnSpPr>
        <p:spPr>
          <a:xfrm>
            <a:off x="2981325" y="4221163"/>
            <a:ext cx="1677988" cy="463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接點 174"/>
          <p:cNvCxnSpPr/>
          <p:nvPr/>
        </p:nvCxnSpPr>
        <p:spPr>
          <a:xfrm rot="16200000" flipH="1">
            <a:off x="2561432" y="4628356"/>
            <a:ext cx="1339850" cy="525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接點 175"/>
          <p:cNvCxnSpPr/>
          <p:nvPr/>
        </p:nvCxnSpPr>
        <p:spPr>
          <a:xfrm rot="5400000">
            <a:off x="2495550" y="4556126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橢圓 188"/>
          <p:cNvSpPr/>
          <p:nvPr/>
        </p:nvSpPr>
        <p:spPr>
          <a:xfrm>
            <a:off x="3419475" y="4941888"/>
            <a:ext cx="144463" cy="14287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95" name="直線接點 194"/>
          <p:cNvCxnSpPr/>
          <p:nvPr/>
        </p:nvCxnSpPr>
        <p:spPr>
          <a:xfrm rot="16200000" flipH="1">
            <a:off x="7229475" y="3016251"/>
            <a:ext cx="1697037" cy="2381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接點 196"/>
          <p:cNvCxnSpPr/>
          <p:nvPr/>
        </p:nvCxnSpPr>
        <p:spPr>
          <a:xfrm rot="16200000" flipH="1">
            <a:off x="6462713" y="3711575"/>
            <a:ext cx="1697037" cy="2381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接點 197"/>
          <p:cNvCxnSpPr/>
          <p:nvPr/>
        </p:nvCxnSpPr>
        <p:spPr>
          <a:xfrm rot="16200000" flipH="1">
            <a:off x="5764213" y="4324350"/>
            <a:ext cx="1697037" cy="2381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03" name="文字方塊 128"/>
          <p:cNvSpPr txBox="1">
            <a:spLocks noChangeArrowheads="1"/>
          </p:cNvSpPr>
          <p:nvPr/>
        </p:nvSpPr>
        <p:spPr bwMode="auto">
          <a:xfrm>
            <a:off x="3276600" y="1722438"/>
            <a:ext cx="4175125" cy="369887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prstDash val="dashDot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D1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提前解約價值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 G + (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W(D1)-G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)(1-k) 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1004" name="文字方塊 83"/>
          <p:cNvSpPr txBox="1">
            <a:spLocks noChangeArrowheads="1"/>
          </p:cNvSpPr>
          <p:nvPr/>
        </p:nvSpPr>
        <p:spPr bwMode="auto">
          <a:xfrm>
            <a:off x="5651500" y="2133600"/>
            <a:ext cx="576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D1</a:t>
            </a:r>
            <a:endParaRPr lang="zh-TW" altLang="en-US">
              <a:solidFill>
                <a:srgbClr val="7030A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1005" name="文字方塊 84"/>
          <p:cNvSpPr txBox="1">
            <a:spLocks noChangeArrowheads="1"/>
          </p:cNvSpPr>
          <p:nvPr/>
        </p:nvSpPr>
        <p:spPr bwMode="auto">
          <a:xfrm>
            <a:off x="5651500" y="2636838"/>
            <a:ext cx="576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D2</a:t>
            </a:r>
            <a:endParaRPr lang="zh-TW" altLang="en-US">
              <a:solidFill>
                <a:srgbClr val="7030A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1006" name="文字方塊 85"/>
          <p:cNvSpPr txBox="1">
            <a:spLocks noChangeArrowheads="1"/>
          </p:cNvSpPr>
          <p:nvPr/>
        </p:nvSpPr>
        <p:spPr bwMode="auto">
          <a:xfrm>
            <a:off x="5651500" y="3213100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D3</a:t>
            </a:r>
            <a:endParaRPr lang="zh-TW" altLang="en-US">
              <a:solidFill>
                <a:srgbClr val="7030A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 rot="5400000">
            <a:off x="4535487" y="3176588"/>
            <a:ext cx="165576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8" name="直線接點 107"/>
          <p:cNvCxnSpPr>
            <a:stCxn id="40995" idx="3"/>
          </p:cNvCxnSpPr>
          <p:nvPr/>
        </p:nvCxnSpPr>
        <p:spPr>
          <a:xfrm flipV="1">
            <a:off x="2987675" y="3970338"/>
            <a:ext cx="2560638" cy="219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字方塊 113"/>
          <p:cNvSpPr txBox="1">
            <a:spLocks noChangeArrowheads="1"/>
          </p:cNvSpPr>
          <p:nvPr/>
        </p:nvSpPr>
        <p:spPr bwMode="auto">
          <a:xfrm>
            <a:off x="7164388" y="3789363"/>
            <a:ext cx="1511300" cy="830262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prstDash val="dashDot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zh-TW" altLang="en-US" sz="16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時間價值流逝</a:t>
            </a:r>
            <a:endParaRPr lang="en-US" altLang="zh-TW" sz="160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eaLnBrk="1" hangingPunct="1">
              <a:buFont typeface="Arial" charset="0"/>
              <a:buChar char="•"/>
            </a:pPr>
            <a:r>
              <a:rPr lang="zh-TW" altLang="en-US" sz="16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扣繳保費</a:t>
            </a:r>
            <a:endParaRPr lang="en-US" altLang="zh-TW" sz="160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eaLnBrk="1" hangingPunct="1">
              <a:buFont typeface="Arial" charset="0"/>
              <a:buChar char="•"/>
            </a:pPr>
            <a:r>
              <a:rPr lang="zh-TW" altLang="en-US" sz="16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有死亡風險</a:t>
            </a:r>
          </a:p>
        </p:txBody>
      </p:sp>
      <p:cxnSp>
        <p:nvCxnSpPr>
          <p:cNvPr id="120" name="直線單箭頭接點 119"/>
          <p:cNvCxnSpPr/>
          <p:nvPr/>
        </p:nvCxnSpPr>
        <p:spPr>
          <a:xfrm>
            <a:off x="6156325" y="2565400"/>
            <a:ext cx="2519363" cy="100806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1" name="橢圓 120"/>
          <p:cNvSpPr/>
          <p:nvPr/>
        </p:nvSpPr>
        <p:spPr>
          <a:xfrm>
            <a:off x="7020272" y="1773238"/>
            <a:ext cx="168275" cy="3127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030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研究方法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建構死亡力模型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修改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Biffs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死亡力模型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47547554"/>
              </p:ext>
            </p:extLst>
          </p:nvPr>
        </p:nvGraphicFramePr>
        <p:xfrm>
          <a:off x="899592" y="2708920"/>
          <a:ext cx="6111875" cy="3779838"/>
        </p:xfrm>
        <a:graphic>
          <a:graphicData uri="http://schemas.openxmlformats.org/presentationml/2006/ole">
            <p:oleObj spid="_x0000_s68653" name="方程式" r:id="rId4" imgW="2997000" imgH="1854000" progId="Equation.3">
              <p:embed/>
            </p:oleObj>
          </a:graphicData>
        </a:graphic>
      </p:graphicFrame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68089760"/>
              </p:ext>
            </p:extLst>
          </p:nvPr>
        </p:nvGraphicFramePr>
        <p:xfrm>
          <a:off x="5004048" y="2852936"/>
          <a:ext cx="1709737" cy="465137"/>
        </p:xfrm>
        <a:graphic>
          <a:graphicData uri="http://schemas.openxmlformats.org/presentationml/2006/ole">
            <p:oleObj spid="_x0000_s68654" name="方程式" r:id="rId5" imgW="838080" imgH="228600" progId="Equation.3">
              <p:embed/>
            </p:oleObj>
          </a:graphicData>
        </a:graphic>
      </p:graphicFrame>
      <p:sp>
        <p:nvSpPr>
          <p:cNvPr id="6" name="矩形 5"/>
          <p:cNvSpPr/>
          <p:nvPr/>
        </p:nvSpPr>
        <p:spPr>
          <a:xfrm>
            <a:off x="1835696" y="6093296"/>
            <a:ext cx="79208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627784" y="6021288"/>
            <a:ext cx="1368152" cy="43204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70C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043608" y="645333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動態死亡率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2843808" y="645333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002060"/>
                </a:solidFill>
              </a:rPr>
              <a:t>隨機死亡率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9463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研究方法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建構死亡力模型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 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5" name="物件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xmlns="" val="2443312199"/>
              </p:ext>
            </p:extLst>
          </p:nvPr>
        </p:nvGraphicFramePr>
        <p:xfrm>
          <a:off x="539552" y="2216918"/>
          <a:ext cx="6552728" cy="3876378"/>
        </p:xfrm>
        <a:graphic>
          <a:graphicData uri="http://schemas.openxmlformats.org/presentationml/2006/ole">
            <p:oleObj spid="_x0000_s82965" name="方程式" r:id="rId4" imgW="2768400" imgH="1638000" progId="Equation.3">
              <p:embed/>
            </p:oleObj>
          </a:graphicData>
        </a:graphic>
      </p:graphicFrame>
      <p:sp>
        <p:nvSpPr>
          <p:cNvPr id="4" name="矩形 3"/>
          <p:cNvSpPr/>
          <p:nvPr/>
        </p:nvSpPr>
        <p:spPr>
          <a:xfrm>
            <a:off x="2195736" y="3356992"/>
            <a:ext cx="648072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131840" y="3356992"/>
            <a:ext cx="1800200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4795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-1.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求算動態死亡率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GAM94,1994</a:t>
            </a:r>
          </a:p>
          <a:p>
            <a:pPr marL="0" indent="0">
              <a:buNone/>
            </a:pPr>
            <a:r>
              <a:rPr lang="en-US" altLang="zh-TW" sz="2000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美國精算協會所製作的年金評價表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死亡率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:</a:t>
            </a:r>
            <a:endParaRPr lang="en-US" altLang="zh-TW" sz="2000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000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例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計算一個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2005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年購買商品的保戶，投保年齡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65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歲。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en-US" altLang="zh-TW" sz="2000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   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則該投保人在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65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歲的死亡率計算如下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:</a:t>
            </a:r>
          </a:p>
          <a:p>
            <a:pPr marL="0" indent="0">
              <a:buNone/>
            </a:pP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  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00833093"/>
              </p:ext>
            </p:extLst>
          </p:nvPr>
        </p:nvGraphicFramePr>
        <p:xfrm>
          <a:off x="3707904" y="1558925"/>
          <a:ext cx="457200" cy="506413"/>
        </p:xfrm>
        <a:graphic>
          <a:graphicData uri="http://schemas.openxmlformats.org/presentationml/2006/ole">
            <p:oleObj spid="_x0000_s45269" name="方程式" r:id="rId3" imgW="228600" imgH="253800" progId="Equation.3">
              <p:embed/>
            </p:oleObj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06391395"/>
              </p:ext>
            </p:extLst>
          </p:nvPr>
        </p:nvGraphicFramePr>
        <p:xfrm>
          <a:off x="1763713" y="2938463"/>
          <a:ext cx="2736850" cy="527050"/>
        </p:xfrm>
        <a:graphic>
          <a:graphicData uri="http://schemas.openxmlformats.org/presentationml/2006/ole">
            <p:oleObj spid="_x0000_s45270" name="方程式" r:id="rId4" imgW="1447560" imgH="279360" progId="Equation.3">
              <p:embed/>
            </p:oleObj>
          </a:graphicData>
        </a:graphic>
      </p:graphicFrame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29218190"/>
              </p:ext>
            </p:extLst>
          </p:nvPr>
        </p:nvGraphicFramePr>
        <p:xfrm>
          <a:off x="1282700" y="4186238"/>
          <a:ext cx="3289300" cy="527050"/>
        </p:xfrm>
        <a:graphic>
          <a:graphicData uri="http://schemas.openxmlformats.org/presentationml/2006/ole">
            <p:oleObj spid="_x0000_s45271" name="方程式" r:id="rId5" imgW="1739880" imgH="279360" progId="Equation.3">
              <p:embed/>
            </p:oleObj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05571295"/>
              </p:ext>
            </p:extLst>
          </p:nvPr>
        </p:nvGraphicFramePr>
        <p:xfrm>
          <a:off x="1258888" y="4703738"/>
          <a:ext cx="3313112" cy="525462"/>
        </p:xfrm>
        <a:graphic>
          <a:graphicData uri="http://schemas.openxmlformats.org/presentationml/2006/ole">
            <p:oleObj spid="_x0000_s45272" name="方程式" r:id="rId6" imgW="1752480" imgH="279360" progId="Equation.3">
              <p:embed/>
            </p:oleObj>
          </a:graphicData>
        </a:graphic>
      </p:graphicFrame>
      <p:graphicFrame>
        <p:nvGraphicFramePr>
          <p:cNvPr id="9" name="物件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66586834"/>
              </p:ext>
            </p:extLst>
          </p:nvPr>
        </p:nvGraphicFramePr>
        <p:xfrm>
          <a:off x="1209675" y="6057900"/>
          <a:ext cx="3362325" cy="525463"/>
        </p:xfrm>
        <a:graphic>
          <a:graphicData uri="http://schemas.openxmlformats.org/presentationml/2006/ole">
            <p:oleObj spid="_x0000_s45273" name="方程式" r:id="rId7" imgW="1777680" imgH="279360" progId="Equation.3">
              <p:embed/>
            </p:oleObj>
          </a:graphicData>
        </a:graphic>
      </p:graphicFrame>
      <p:graphicFrame>
        <p:nvGraphicFramePr>
          <p:cNvPr id="10" name="物件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62489702"/>
              </p:ext>
            </p:extLst>
          </p:nvPr>
        </p:nvGraphicFramePr>
        <p:xfrm>
          <a:off x="2483768" y="5302473"/>
          <a:ext cx="142875" cy="358775"/>
        </p:xfrm>
        <a:graphic>
          <a:graphicData uri="http://schemas.openxmlformats.org/presentationml/2006/ole">
            <p:oleObj spid="_x0000_s45274" name="方程式" r:id="rId8" imgW="75960" imgH="190440" progId="Equation.3">
              <p:embed/>
            </p:oleObj>
          </a:graphicData>
        </a:graphic>
      </p:graphicFrame>
      <p:graphicFrame>
        <p:nvGraphicFramePr>
          <p:cNvPr id="11" name="物件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63699235"/>
              </p:ext>
            </p:extLst>
          </p:nvPr>
        </p:nvGraphicFramePr>
        <p:xfrm>
          <a:off x="2483768" y="5589240"/>
          <a:ext cx="142875" cy="358775"/>
        </p:xfrm>
        <a:graphic>
          <a:graphicData uri="http://schemas.openxmlformats.org/presentationml/2006/ole">
            <p:oleObj spid="_x0000_s45275" name="方程式" r:id="rId9" imgW="76101" imgH="190252" progId="Equation.3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3877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-1</a:t>
            </a:r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求算動態死亡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力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dirty="0" smtClean="0"/>
              <a:t>例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92179874"/>
              </p:ext>
            </p:extLst>
          </p:nvPr>
        </p:nvGraphicFramePr>
        <p:xfrm>
          <a:off x="906463" y="2278063"/>
          <a:ext cx="4514850" cy="1150937"/>
        </p:xfrm>
        <a:graphic>
          <a:graphicData uri="http://schemas.openxmlformats.org/presentationml/2006/ole">
            <p:oleObj spid="_x0000_s46202" name="方程式" r:id="rId4" imgW="1993680" imgH="507960" progId="Equation.3">
              <p:embed/>
            </p:oleObj>
          </a:graphicData>
        </a:graphic>
      </p:graphicFrame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00833093"/>
              </p:ext>
            </p:extLst>
          </p:nvPr>
        </p:nvGraphicFramePr>
        <p:xfrm>
          <a:off x="3708400" y="1558925"/>
          <a:ext cx="457200" cy="506413"/>
        </p:xfrm>
        <a:graphic>
          <a:graphicData uri="http://schemas.openxmlformats.org/presentationml/2006/ole">
            <p:oleObj spid="_x0000_s46203" name="方程式" r:id="rId5" imgW="228501" imgH="253890" progId="Equation.3">
              <p:embed/>
            </p:oleObj>
          </a:graphicData>
        </a:graphic>
      </p:graphicFrame>
      <p:graphicFrame>
        <p:nvGraphicFramePr>
          <p:cNvPr id="9" name="物件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18839807"/>
              </p:ext>
            </p:extLst>
          </p:nvPr>
        </p:nvGraphicFramePr>
        <p:xfrm>
          <a:off x="395536" y="3933056"/>
          <a:ext cx="4559262" cy="2376264"/>
        </p:xfrm>
        <a:graphic>
          <a:graphicData uri="http://schemas.openxmlformats.org/presentationml/2006/ole">
            <p:oleObj spid="_x0000_s46204" name="方程式" r:id="rId6" imgW="2412720" imgH="1257120" progId="Equation.3">
              <p:embed/>
            </p:oleObj>
          </a:graphicData>
        </a:graphic>
      </p:graphicFrame>
      <p:sp>
        <p:nvSpPr>
          <p:cNvPr id="11" name="圓角矩形圖說文字 10"/>
          <p:cNvSpPr/>
          <p:nvPr/>
        </p:nvSpPr>
        <p:spPr>
          <a:xfrm>
            <a:off x="6444208" y="1772816"/>
            <a:ext cx="2016224" cy="1656184"/>
          </a:xfrm>
          <a:prstGeom prst="wedgeRoundRectCallout">
            <a:avLst>
              <a:gd name="adj1" fmla="val -51992"/>
              <a:gd name="adj2" fmla="val 6990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rgbClr val="FF0000"/>
                </a:solidFill>
              </a:rPr>
              <a:t>?????????</a:t>
            </a:r>
          </a:p>
          <a:p>
            <a:pPr algn="ctr"/>
            <a:r>
              <a:rPr lang="en-US" altLang="zh-TW" sz="2800" dirty="0" smtClean="0">
                <a:solidFill>
                  <a:srgbClr val="FF0000"/>
                </a:solidFill>
              </a:rPr>
              <a:t>UDD</a:t>
            </a:r>
            <a:r>
              <a:rPr lang="zh-TW" altLang="en-US" sz="2800" dirty="0" smtClean="0">
                <a:solidFill>
                  <a:srgbClr val="FF0000"/>
                </a:solidFill>
              </a:rPr>
              <a:t>假設 </a:t>
            </a:r>
            <a:r>
              <a:rPr lang="en-US" altLang="zh-TW" sz="2800" dirty="0" smtClean="0">
                <a:solidFill>
                  <a:srgbClr val="FF0000"/>
                </a:solidFill>
              </a:rPr>
              <a:t>or</a:t>
            </a:r>
          </a:p>
          <a:p>
            <a:pPr algn="ctr"/>
            <a:r>
              <a:rPr lang="en-US" altLang="zh-TW" sz="2800" dirty="0" smtClean="0">
                <a:solidFill>
                  <a:srgbClr val="FF0000"/>
                </a:solidFill>
              </a:rPr>
              <a:t>CFM</a:t>
            </a:r>
            <a:r>
              <a:rPr lang="zh-TW" altLang="en-US" sz="2800" dirty="0" smtClean="0">
                <a:solidFill>
                  <a:srgbClr val="FF0000"/>
                </a:solidFill>
              </a:rPr>
              <a:t>假設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6" name="物件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xmlns="" val="426966246"/>
              </p:ext>
            </p:extLst>
          </p:nvPr>
        </p:nvGraphicFramePr>
        <p:xfrm>
          <a:off x="4778828" y="4008083"/>
          <a:ext cx="4041644" cy="2589269"/>
        </p:xfrm>
        <a:graphic>
          <a:graphicData uri="http://schemas.openxmlformats.org/presentationml/2006/ole">
            <p:oleObj spid="_x0000_s46205" name="方程式" r:id="rId7" imgW="2260440" imgH="1447560" progId="Equation.3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4810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-2.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求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算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隨機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死亡力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類似於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我們使用</a:t>
            </a:r>
            <a:r>
              <a:rPr lang="en-US" altLang="zh-TW" sz="2400" dirty="0" err="1">
                <a:latin typeface="標楷體" pitchFamily="65" charset="-120"/>
                <a:ea typeface="標楷體" pitchFamily="65" charset="-120"/>
              </a:rPr>
              <a:t>Vasicek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 model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在評價債券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價格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依序算出 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ADJ(0,dt),ADJ(0,2dt)…</a:t>
            </a:r>
            <a:endParaRPr lang="en-US" altLang="zh-TW" sz="2400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09868032"/>
              </p:ext>
            </p:extLst>
          </p:nvPr>
        </p:nvGraphicFramePr>
        <p:xfrm>
          <a:off x="1881535" y="3389089"/>
          <a:ext cx="5138737" cy="2416175"/>
        </p:xfrm>
        <a:graphic>
          <a:graphicData uri="http://schemas.openxmlformats.org/presentationml/2006/ole">
            <p:oleObj spid="_x0000_s50241" name="方程式" r:id="rId4" imgW="3238200" imgH="1523880" progId="Equation.3">
              <p:embed/>
            </p:oleObj>
          </a:graphicData>
        </a:graphic>
      </p:graphicFrame>
      <p:sp>
        <p:nvSpPr>
          <p:cNvPr id="7" name="矩形 6"/>
          <p:cNvSpPr/>
          <p:nvPr/>
        </p:nvSpPr>
        <p:spPr>
          <a:xfrm>
            <a:off x="2915816" y="2492896"/>
            <a:ext cx="208823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868144" y="2420888"/>
            <a:ext cx="1296144" cy="50405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/>
          <p:cNvCxnSpPr/>
          <p:nvPr/>
        </p:nvCxnSpPr>
        <p:spPr>
          <a:xfrm flipH="1">
            <a:off x="2627784" y="2852936"/>
            <a:ext cx="1008112" cy="5040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907704" y="3284984"/>
            <a:ext cx="2664296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1835696" y="3933056"/>
            <a:ext cx="1080120" cy="36004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/>
          <p:cNvCxnSpPr/>
          <p:nvPr/>
        </p:nvCxnSpPr>
        <p:spPr>
          <a:xfrm flipH="1">
            <a:off x="3131840" y="2924944"/>
            <a:ext cx="3096344" cy="936104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72574952"/>
              </p:ext>
            </p:extLst>
          </p:nvPr>
        </p:nvGraphicFramePr>
        <p:xfrm>
          <a:off x="3635896" y="1628800"/>
          <a:ext cx="1624013" cy="455613"/>
        </p:xfrm>
        <a:graphic>
          <a:graphicData uri="http://schemas.openxmlformats.org/presentationml/2006/ole">
            <p:oleObj spid="_x0000_s50242" name="方程式" r:id="rId5" imgW="812520" imgH="228600" progId="Equation.3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795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-2</a:t>
            </a:r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求算隨機死亡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力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死亡率</a:t>
            </a:r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=&gt;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風險中立死亡率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接著 風險中立死亡率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sym typeface="Wingdings" pitchFamily="2" charset="2"/>
              </a:rPr>
              <a:t>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風險中立死亡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力</a:t>
            </a: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 </a:t>
            </a: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zh-TW" altLang="en-US" sz="2400" dirty="0"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4644008" y="2780928"/>
            <a:ext cx="2808312" cy="2160240"/>
            <a:chOff x="2359964" y="3323790"/>
            <a:chExt cx="2906850" cy="2160240"/>
          </a:xfrm>
        </p:grpSpPr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232013319"/>
                </p:ext>
              </p:extLst>
            </p:nvPr>
          </p:nvGraphicFramePr>
          <p:xfrm>
            <a:off x="2633788" y="3438388"/>
            <a:ext cx="2436869" cy="2016125"/>
          </p:xfrm>
          <a:graphic>
            <a:graphicData uri="http://schemas.openxmlformats.org/presentationml/2006/ole">
              <p:oleObj spid="_x0000_s51328" name="方程式" r:id="rId3" imgW="1511280" imgH="1257120" progId="Equation.3">
                <p:embed/>
              </p:oleObj>
            </a:graphicData>
          </a:graphic>
        </p:graphicFrame>
        <p:sp>
          <p:nvSpPr>
            <p:cNvPr id="18" name="矩形 17"/>
            <p:cNvSpPr/>
            <p:nvPr/>
          </p:nvSpPr>
          <p:spPr>
            <a:xfrm>
              <a:off x="2359964" y="3323790"/>
              <a:ext cx="2906850" cy="21602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08437734"/>
              </p:ext>
            </p:extLst>
          </p:nvPr>
        </p:nvGraphicFramePr>
        <p:xfrm>
          <a:off x="3668067" y="1556792"/>
          <a:ext cx="1624013" cy="455613"/>
        </p:xfrm>
        <a:graphic>
          <a:graphicData uri="http://schemas.openxmlformats.org/presentationml/2006/ole">
            <p:oleObj spid="_x0000_s51329" name="方程式" r:id="rId4" imgW="812447" imgH="228501" progId="Equation.3">
              <p:embed/>
            </p:oleObj>
          </a:graphicData>
        </a:graphic>
      </p:graphicFrame>
      <p:grpSp>
        <p:nvGrpSpPr>
          <p:cNvPr id="10" name="群組 9"/>
          <p:cNvGrpSpPr/>
          <p:nvPr/>
        </p:nvGrpSpPr>
        <p:grpSpPr>
          <a:xfrm>
            <a:off x="683568" y="2717304"/>
            <a:ext cx="2808312" cy="1719808"/>
            <a:chOff x="683568" y="2141240"/>
            <a:chExt cx="2808312" cy="1719808"/>
          </a:xfrm>
        </p:grpSpPr>
        <p:graphicFrame>
          <p:nvGraphicFramePr>
            <p:cNvPr id="5" name="物件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287083860"/>
                </p:ext>
              </p:extLst>
            </p:nvPr>
          </p:nvGraphicFramePr>
          <p:xfrm>
            <a:off x="827584" y="2285047"/>
            <a:ext cx="2663825" cy="1435100"/>
          </p:xfrm>
          <a:graphic>
            <a:graphicData uri="http://schemas.openxmlformats.org/presentationml/2006/ole">
              <p:oleObj spid="_x0000_s51330" name="方程式" r:id="rId5" imgW="1612800" imgH="1015920" progId="Equation.3">
                <p:embed/>
              </p:oleObj>
            </a:graphicData>
          </a:graphic>
        </p:graphicFrame>
        <p:sp>
          <p:nvSpPr>
            <p:cNvPr id="23" name="矩形 22"/>
            <p:cNvSpPr/>
            <p:nvPr/>
          </p:nvSpPr>
          <p:spPr>
            <a:xfrm>
              <a:off x="683568" y="2141240"/>
              <a:ext cx="2808312" cy="17198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" name="向右箭號 10"/>
          <p:cNvSpPr/>
          <p:nvPr/>
        </p:nvSpPr>
        <p:spPr>
          <a:xfrm>
            <a:off x="3797914" y="3140968"/>
            <a:ext cx="630070" cy="50405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8530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2-3.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風險中立死亡率</a:t>
            </a:r>
            <a:r>
              <a:rPr lang="en-US" altLang="zh-TW" sz="2400" b="1" dirty="0">
                <a:latin typeface="標楷體" pitchFamily="65" charset="-120"/>
                <a:ea typeface="標楷體" pitchFamily="65" charset="-120"/>
                <a:sym typeface="Wingdings" pitchFamily="2" charset="2"/>
              </a:rPr>
              <a:t>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風險中立死亡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力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例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同樣假定保戶為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x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歲男性，該保戶在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n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年後的生存率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:</a:t>
            </a: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 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依序計算在不同歲數間的死亡力為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:</a:t>
            </a: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zh-TW" altLang="en-US" dirty="0"/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95230023"/>
              </p:ext>
            </p:extLst>
          </p:nvPr>
        </p:nvGraphicFramePr>
        <p:xfrm>
          <a:off x="1149548" y="2590676"/>
          <a:ext cx="2846388" cy="622300"/>
        </p:xfrm>
        <a:graphic>
          <a:graphicData uri="http://schemas.openxmlformats.org/presentationml/2006/ole">
            <p:oleObj spid="_x0000_s69694" name="方程式" r:id="rId4" imgW="1511280" imgH="330120" progId="Equation.3">
              <p:embed/>
            </p:oleObj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13091299"/>
              </p:ext>
            </p:extLst>
          </p:nvPr>
        </p:nvGraphicFramePr>
        <p:xfrm>
          <a:off x="979488" y="3630613"/>
          <a:ext cx="4657725" cy="1871662"/>
        </p:xfrm>
        <a:graphic>
          <a:graphicData uri="http://schemas.openxmlformats.org/presentationml/2006/ole">
            <p:oleObj spid="_x0000_s69695" name="方程式" r:id="rId5" imgW="1904760" imgH="761760" progId="Equation.3">
              <p:embed/>
            </p:oleObj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8032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-3.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風險中立死亡率</a:t>
            </a:r>
            <a:r>
              <a:rPr lang="en-US" altLang="zh-TW" sz="2400" b="1" dirty="0">
                <a:latin typeface="標楷體" pitchFamily="65" charset="-120"/>
                <a:ea typeface="標楷體" pitchFamily="65" charset="-120"/>
                <a:sym typeface="Wingdings" pitchFamily="2" charset="2"/>
              </a:rPr>
              <a:t>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風險中立死亡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力</a:t>
            </a: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 計算保戶在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66~67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歲的死亡力為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:</a:t>
            </a: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29102288"/>
              </p:ext>
            </p:extLst>
          </p:nvPr>
        </p:nvGraphicFramePr>
        <p:xfrm>
          <a:off x="415925" y="2392363"/>
          <a:ext cx="5886450" cy="1806575"/>
        </p:xfrm>
        <a:graphic>
          <a:graphicData uri="http://schemas.openxmlformats.org/presentationml/2006/ole">
            <p:oleObj spid="_x0000_s70718" name="方程式" r:id="rId4" imgW="2476440" imgH="761760" progId="Equation.3">
              <p:embed/>
            </p:oleObj>
          </a:graphicData>
        </a:graphic>
      </p:graphicFrame>
      <p:grpSp>
        <p:nvGrpSpPr>
          <p:cNvPr id="13" name="群組 12"/>
          <p:cNvGrpSpPr/>
          <p:nvPr/>
        </p:nvGrpSpPr>
        <p:grpSpPr>
          <a:xfrm>
            <a:off x="359532" y="5013176"/>
            <a:ext cx="7092788" cy="1224136"/>
            <a:chOff x="179512" y="5301208"/>
            <a:chExt cx="7092788" cy="1224136"/>
          </a:xfrm>
        </p:grpSpPr>
        <p:graphicFrame>
          <p:nvGraphicFramePr>
            <p:cNvPr id="14" name="物件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795665137"/>
                </p:ext>
              </p:extLst>
            </p:nvPr>
          </p:nvGraphicFramePr>
          <p:xfrm>
            <a:off x="388305" y="5417245"/>
            <a:ext cx="6370638" cy="1046162"/>
          </p:xfrm>
          <a:graphic>
            <a:graphicData uri="http://schemas.openxmlformats.org/presentationml/2006/ole">
              <p:oleObj spid="_x0000_s70719" name="方程式" r:id="rId5" imgW="2705040" imgH="444240" progId="Equation.3">
                <p:embed/>
              </p:oleObj>
            </a:graphicData>
          </a:graphic>
        </p:graphicFrame>
        <p:sp>
          <p:nvSpPr>
            <p:cNvPr id="15" name="矩形 14"/>
            <p:cNvSpPr/>
            <p:nvPr/>
          </p:nvSpPr>
          <p:spPr>
            <a:xfrm>
              <a:off x="179512" y="5301208"/>
              <a:ext cx="7092788" cy="12241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圓角矩形圖說文字 15"/>
          <p:cNvSpPr/>
          <p:nvPr/>
        </p:nvSpPr>
        <p:spPr>
          <a:xfrm>
            <a:off x="6732240" y="3225552"/>
            <a:ext cx="2016224" cy="1152128"/>
          </a:xfrm>
          <a:prstGeom prst="wedgeRoundRectCallout">
            <a:avLst>
              <a:gd name="adj1" fmla="val -51992"/>
              <a:gd name="adj2" fmla="val 6990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rgbClr val="FF0000"/>
                </a:solidFill>
              </a:rPr>
              <a:t>區間死亡率固定</a:t>
            </a:r>
            <a:r>
              <a:rPr lang="en-US" altLang="zh-TW" sz="2800" dirty="0">
                <a:solidFill>
                  <a:srgbClr val="FF0000"/>
                </a:solidFill>
              </a:rPr>
              <a:t>??</a:t>
            </a:r>
            <a:endParaRPr lang="en-US" altLang="zh-TW" sz="2800" dirty="0" smtClean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6946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400" b="1" dirty="0">
                <a:latin typeface="標楷體" pitchFamily="65" charset="-120"/>
                <a:ea typeface="標楷體" pitchFamily="65" charset="-120"/>
              </a:rPr>
              <a:t>2-3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風險中立死亡率</a:t>
            </a:r>
            <a:r>
              <a:rPr lang="en-US" altLang="zh-TW" sz="2400" b="1" dirty="0">
                <a:latin typeface="標楷體" pitchFamily="65" charset="-120"/>
                <a:ea typeface="標楷體" pitchFamily="65" charset="-120"/>
                <a:sym typeface="Wingdings" pitchFamily="2" charset="2"/>
              </a:rPr>
              <a:t></a:t>
            </a:r>
            <a:r>
              <a:rPr lang="zh-TW" altLang="en-US" sz="2400" b="1" dirty="0">
                <a:latin typeface="標楷體" pitchFamily="65" charset="-120"/>
                <a:ea typeface="標楷體" pitchFamily="65" charset="-120"/>
              </a:rPr>
              <a:t>風險中立死亡力</a:t>
            </a: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  </a:t>
            </a: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en-US" altLang="zh-TW" sz="2400" b="1" dirty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endParaRPr lang="zh-TW" altLang="en-US" sz="2400" dirty="0"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4644008" y="1988840"/>
            <a:ext cx="2808312" cy="2160240"/>
            <a:chOff x="2359964" y="3323790"/>
            <a:chExt cx="2906850" cy="2160240"/>
          </a:xfrm>
        </p:grpSpPr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4225056037"/>
                </p:ext>
              </p:extLst>
            </p:nvPr>
          </p:nvGraphicFramePr>
          <p:xfrm>
            <a:off x="2623929" y="3438388"/>
            <a:ext cx="2456588" cy="2016125"/>
          </p:xfrm>
          <a:graphic>
            <a:graphicData uri="http://schemas.openxmlformats.org/presentationml/2006/ole">
              <p:oleObj spid="_x0000_s84040" name="方程式" r:id="rId3" imgW="1523880" imgH="1257120" progId="Equation.3">
                <p:embed/>
              </p:oleObj>
            </a:graphicData>
          </a:graphic>
        </p:graphicFrame>
        <p:sp>
          <p:nvSpPr>
            <p:cNvPr id="18" name="矩形 17"/>
            <p:cNvSpPr/>
            <p:nvPr/>
          </p:nvSpPr>
          <p:spPr>
            <a:xfrm>
              <a:off x="2359964" y="3323790"/>
              <a:ext cx="2906850" cy="21602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683568" y="2141240"/>
            <a:ext cx="2808312" cy="1719808"/>
            <a:chOff x="683568" y="2141240"/>
            <a:chExt cx="2808312" cy="1719808"/>
          </a:xfrm>
        </p:grpSpPr>
        <p:graphicFrame>
          <p:nvGraphicFramePr>
            <p:cNvPr id="5" name="物件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3741739122"/>
                </p:ext>
              </p:extLst>
            </p:nvPr>
          </p:nvGraphicFramePr>
          <p:xfrm>
            <a:off x="827584" y="2285047"/>
            <a:ext cx="2663825" cy="1435100"/>
          </p:xfrm>
          <a:graphic>
            <a:graphicData uri="http://schemas.openxmlformats.org/presentationml/2006/ole">
              <p:oleObj spid="_x0000_s84041" name="方程式" r:id="rId4" imgW="1612800" imgH="1015920" progId="Equation.3">
                <p:embed/>
              </p:oleObj>
            </a:graphicData>
          </a:graphic>
        </p:graphicFrame>
        <p:sp>
          <p:nvSpPr>
            <p:cNvPr id="23" name="矩形 22"/>
            <p:cNvSpPr/>
            <p:nvPr/>
          </p:nvSpPr>
          <p:spPr>
            <a:xfrm>
              <a:off x="683568" y="2141240"/>
              <a:ext cx="2808312" cy="17198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" name="向右箭號 10"/>
          <p:cNvSpPr/>
          <p:nvPr/>
        </p:nvSpPr>
        <p:spPr>
          <a:xfrm>
            <a:off x="3797914" y="2780928"/>
            <a:ext cx="630070" cy="50405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9" name="群組 18"/>
          <p:cNvGrpSpPr/>
          <p:nvPr/>
        </p:nvGrpSpPr>
        <p:grpSpPr>
          <a:xfrm>
            <a:off x="647564" y="5229200"/>
            <a:ext cx="7092788" cy="1224136"/>
            <a:chOff x="179512" y="5301208"/>
            <a:chExt cx="7092788" cy="1224136"/>
          </a:xfrm>
        </p:grpSpPr>
        <p:graphicFrame>
          <p:nvGraphicFramePr>
            <p:cNvPr id="20" name="物件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905260760"/>
                </p:ext>
              </p:extLst>
            </p:nvPr>
          </p:nvGraphicFramePr>
          <p:xfrm>
            <a:off x="390786" y="5417121"/>
            <a:ext cx="6372225" cy="1046162"/>
          </p:xfrm>
          <a:graphic>
            <a:graphicData uri="http://schemas.openxmlformats.org/presentationml/2006/ole">
              <p:oleObj spid="_x0000_s84042" name="方程式" r:id="rId5" imgW="2705040" imgH="444240" progId="Equation.3">
                <p:embed/>
              </p:oleObj>
            </a:graphicData>
          </a:graphic>
        </p:graphicFrame>
        <p:sp>
          <p:nvSpPr>
            <p:cNvPr id="21" name="矩形 20"/>
            <p:cNvSpPr/>
            <p:nvPr/>
          </p:nvSpPr>
          <p:spPr>
            <a:xfrm>
              <a:off x="179512" y="5301208"/>
              <a:ext cx="7092788" cy="12241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" name="向下箭號 5"/>
          <p:cNvSpPr/>
          <p:nvPr/>
        </p:nvSpPr>
        <p:spPr>
          <a:xfrm>
            <a:off x="5364088" y="4437112"/>
            <a:ext cx="648072" cy="504056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7886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避險問題</a:t>
            </a:r>
            <a:r>
              <a:rPr lang="en-US" altLang="zh-TW" dirty="0" smtClean="0"/>
              <a:t>		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保險公司發行商品面臨三大風險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長壽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風險、死亡率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改善趨勢風險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、利率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風險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利率風險可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透過長年期債券來避險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死亡率改善趨勢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風險 如何避險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??</a:t>
            </a:r>
          </a:p>
          <a:p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長壽風險透過反向抵押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貸款來避險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反向抵押貸款是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利用房子的價值來取得退休的資金來源，而年金為最常見的給付方式，銀行根據房子的現值、貸款者的年齡計算未來每期的存活機率，再根據公平原則計算每期貸款者可得多少年金。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透過國民年金推測長壽風險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??</a:t>
            </a:r>
            <a:endParaRPr lang="zh-TW" altLang="en-US" sz="24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0638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避險問題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39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90485229"/>
              </p:ext>
            </p:extLst>
          </p:nvPr>
        </p:nvGraphicFramePr>
        <p:xfrm>
          <a:off x="395536" y="1484784"/>
          <a:ext cx="7128792" cy="5403932"/>
        </p:xfrm>
        <a:graphic>
          <a:graphicData uri="http://schemas.openxmlformats.org/presentationml/2006/ole">
            <p:oleObj spid="_x0000_s87046" name="方程式" r:id="rId3" imgW="3987720" imgH="302256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18807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目前研究進度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>
                <a:latin typeface="+mj-ea"/>
                <a:ea typeface="+mj-ea"/>
              </a:rPr>
              <a:t>若沿用學長的死亡率資料</a:t>
            </a:r>
            <a:r>
              <a:rPr lang="en-US" altLang="zh-TW" sz="2400" dirty="0" smtClean="0">
                <a:latin typeface="+mj-ea"/>
                <a:ea typeface="+mj-ea"/>
              </a:rPr>
              <a:t>(USA male ,GAM 94)</a:t>
            </a:r>
            <a:r>
              <a:rPr lang="zh-TW" altLang="en-US" sz="2400" dirty="0" smtClean="0">
                <a:latin typeface="+mj-ea"/>
                <a:ea typeface="+mj-ea"/>
              </a:rPr>
              <a:t>則缺少隨機率死亡率的參數。</a:t>
            </a:r>
            <a:endParaRPr lang="en-US" altLang="zh-TW" sz="2400" dirty="0" smtClean="0">
              <a:latin typeface="+mj-ea"/>
              <a:ea typeface="+mj-ea"/>
            </a:endParaRPr>
          </a:p>
          <a:p>
            <a:r>
              <a:rPr lang="zh-TW" altLang="en-US" sz="2400" dirty="0">
                <a:latin typeface="+mj-ea"/>
                <a:ea typeface="+mj-ea"/>
              </a:rPr>
              <a:t>根據</a:t>
            </a:r>
            <a:r>
              <a:rPr lang="en-US" altLang="zh-TW" sz="2400" dirty="0">
                <a:latin typeface="+mj-ea"/>
                <a:ea typeface="+mj-ea"/>
              </a:rPr>
              <a:t>Biffs</a:t>
            </a:r>
            <a:r>
              <a:rPr lang="zh-TW" altLang="en-US" sz="2400" dirty="0">
                <a:latin typeface="+mj-ea"/>
                <a:ea typeface="+mj-ea"/>
              </a:rPr>
              <a:t>裡</a:t>
            </a:r>
            <a:r>
              <a:rPr lang="zh-TW" altLang="en-US" sz="2400" dirty="0" smtClean="0">
                <a:latin typeface="+mj-ea"/>
                <a:ea typeface="+mj-ea"/>
              </a:rPr>
              <a:t>提到計算動態死亡力的原文如下</a:t>
            </a:r>
            <a:r>
              <a:rPr lang="en-US" altLang="zh-TW" sz="2400" dirty="0" smtClean="0">
                <a:latin typeface="+mj-ea"/>
                <a:ea typeface="+mj-ea"/>
              </a:rPr>
              <a:t>:</a:t>
            </a:r>
          </a:p>
          <a:p>
            <a:pPr marL="0" indent="0">
              <a:buNone/>
            </a:pPr>
            <a:r>
              <a:rPr lang="zh-TW" altLang="en-US" sz="2400" dirty="0">
                <a:latin typeface="+mj-ea"/>
                <a:ea typeface="+mj-ea"/>
              </a:rPr>
              <a:t> </a:t>
            </a:r>
            <a:r>
              <a:rPr lang="zh-TW" altLang="en-US" sz="2400" dirty="0" smtClean="0">
                <a:latin typeface="+mj-ea"/>
                <a:ea typeface="+mj-ea"/>
              </a:rPr>
              <a:t>   </a:t>
            </a:r>
            <a:r>
              <a:rPr lang="en-US" altLang="zh-TW" sz="1800" dirty="0" smtClean="0">
                <a:latin typeface="Times New Roman" pitchFamily="18" charset="0"/>
                <a:ea typeface="+mj-ea"/>
                <a:cs typeface="Times New Roman" pitchFamily="18" charset="0"/>
              </a:rPr>
              <a:t>may be seen as a best estimate assumption or an available demographic basic </a:t>
            </a:r>
          </a:p>
          <a:p>
            <a:pPr marL="0" indent="0">
              <a:buNone/>
            </a:pPr>
            <a:r>
              <a:rPr lang="zh-TW" altLang="en-US" sz="1800" dirty="0">
                <a:latin typeface="Times New Roman" pitchFamily="18" charset="0"/>
                <a:ea typeface="+mj-ea"/>
                <a:cs typeface="Times New Roman" pitchFamily="18" charset="0"/>
              </a:rPr>
              <a:t>是否</a:t>
            </a:r>
            <a:r>
              <a:rPr lang="zh-TW" altLang="en-US" sz="1800" dirty="0" smtClean="0">
                <a:latin typeface="Times New Roman" pitchFamily="18" charset="0"/>
                <a:ea typeface="+mj-ea"/>
                <a:cs typeface="Times New Roman" pitchFamily="18" charset="0"/>
              </a:rPr>
              <a:t>做法可如同本報告的的動態死亡率算法</a:t>
            </a:r>
            <a:r>
              <a:rPr lang="en-US" altLang="zh-TW" sz="1800" dirty="0" smtClean="0">
                <a:latin typeface="Times New Roman" pitchFamily="18" charset="0"/>
                <a:ea typeface="+mj-ea"/>
                <a:cs typeface="Times New Roman" pitchFamily="18" charset="0"/>
              </a:rPr>
              <a:t>??</a:t>
            </a:r>
          </a:p>
          <a:p>
            <a:pPr marL="0" indent="0">
              <a:buNone/>
            </a:pPr>
            <a:r>
              <a:rPr lang="zh-TW" altLang="en-US" sz="1800" dirty="0"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endParaRPr lang="en-US" altLang="zh-TW" sz="1800" dirty="0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indent="0">
              <a:buNone/>
            </a:pPr>
            <a:r>
              <a:rPr lang="zh-TW" altLang="en-US" sz="1800" dirty="0" smtClean="0">
                <a:latin typeface="Times New Roman" pitchFamily="18" charset="0"/>
                <a:ea typeface="+mj-ea"/>
                <a:cs typeface="Times New Roman" pitchFamily="18" charset="0"/>
              </a:rPr>
              <a:t>請老師幫我看一下死亡力的算法是否有誤</a:t>
            </a:r>
            <a:r>
              <a:rPr lang="en-US" altLang="zh-TW" sz="1800" dirty="0" smtClean="0">
                <a:latin typeface="Times New Roman" pitchFamily="18" charset="0"/>
                <a:ea typeface="+mj-ea"/>
                <a:cs typeface="Times New Roman" pitchFamily="18" charset="0"/>
              </a:rPr>
              <a:t>??</a:t>
            </a:r>
          </a:p>
          <a:p>
            <a:pPr marL="0" indent="0">
              <a:buNone/>
            </a:pPr>
            <a:endParaRPr lang="en-US" altLang="zh-TW" sz="1800" dirty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TW" sz="1800" dirty="0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TW" sz="1800" dirty="0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2400" dirty="0" smtClean="0">
              <a:latin typeface="+mj-ea"/>
              <a:ea typeface="+mj-ea"/>
            </a:endParaRPr>
          </a:p>
          <a:p>
            <a:endParaRPr lang="zh-TW" altLang="en-US" sz="2400" dirty="0">
              <a:latin typeface="+mj-ea"/>
              <a:ea typeface="+mj-ea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43387433"/>
              </p:ext>
            </p:extLst>
          </p:nvPr>
        </p:nvGraphicFramePr>
        <p:xfrm>
          <a:off x="7092280" y="1988840"/>
          <a:ext cx="1954744" cy="792088"/>
        </p:xfrm>
        <a:graphic>
          <a:graphicData uri="http://schemas.openxmlformats.org/presentationml/2006/ole">
            <p:oleObj spid="_x0000_s86033" name="方程式" r:id="rId3" imgW="863280" imgH="241200" progId="Equation.3">
              <p:embed/>
            </p:oleObj>
          </a:graphicData>
        </a:graphic>
      </p:graphicFrame>
      <p:sp>
        <p:nvSpPr>
          <p:cNvPr id="5" name="矩形 4"/>
          <p:cNvSpPr/>
          <p:nvPr/>
        </p:nvSpPr>
        <p:spPr>
          <a:xfrm>
            <a:off x="7812360" y="2132856"/>
            <a:ext cx="79208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4572000" y="2132856"/>
            <a:ext cx="3240360" cy="28803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635896" y="2429272"/>
            <a:ext cx="1440160" cy="423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10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41</a:t>
            </a:fld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719138" y="2565400"/>
            <a:ext cx="5797078" cy="3887936"/>
            <a:chOff x="719138" y="2565400"/>
            <a:chExt cx="5797078" cy="3887936"/>
          </a:xfrm>
        </p:grpSpPr>
        <p:cxnSp>
          <p:nvCxnSpPr>
            <p:cNvPr id="6" name="直線接點 5"/>
            <p:cNvCxnSpPr/>
            <p:nvPr/>
          </p:nvCxnSpPr>
          <p:spPr>
            <a:xfrm>
              <a:off x="2735263" y="4221163"/>
              <a:ext cx="972641" cy="4319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/>
            <p:cNvCxnSpPr/>
            <p:nvPr/>
          </p:nvCxnSpPr>
          <p:spPr>
            <a:xfrm flipV="1">
              <a:off x="2735263" y="4185444"/>
              <a:ext cx="1692721" cy="357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/>
            <p:cNvCxnSpPr/>
            <p:nvPr/>
          </p:nvCxnSpPr>
          <p:spPr>
            <a:xfrm flipV="1">
              <a:off x="762959" y="2781300"/>
              <a:ext cx="4176712" cy="28082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 rot="5400000">
              <a:off x="-783431" y="4067969"/>
              <a:ext cx="3024188" cy="19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2735263" y="4221163"/>
              <a:ext cx="324569" cy="8640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 flipV="1">
              <a:off x="1763688" y="3140968"/>
              <a:ext cx="4176712" cy="28082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flipV="1">
              <a:off x="3060229" y="3745061"/>
              <a:ext cx="3455987" cy="27082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8714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42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2735263" y="4221163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735263" y="4185444"/>
            <a:ext cx="1692721" cy="35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735263" y="4221163"/>
            <a:ext cx="324569" cy="864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763688" y="314096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060229" y="374506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743375" y="4616847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743375" y="4616850"/>
            <a:ext cx="1692721" cy="18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43375" y="4616847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463455" y="4184799"/>
            <a:ext cx="972641" cy="431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4463455" y="4166940"/>
            <a:ext cx="1476945" cy="1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4463455" y="4184799"/>
            <a:ext cx="324767" cy="9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3059832" y="5085259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3059832" y="5085060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059832" y="5085259"/>
            <a:ext cx="432048" cy="1044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868144" y="4149080"/>
            <a:ext cx="1152128" cy="467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4823247" y="5103043"/>
            <a:ext cx="1044847" cy="46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823247" y="5103046"/>
            <a:ext cx="1548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4823247" y="5103043"/>
            <a:ext cx="360313" cy="93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5471319" y="4653136"/>
            <a:ext cx="900881" cy="43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36096" y="4616772"/>
            <a:ext cx="158417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5415295" y="4634828"/>
            <a:ext cx="452799" cy="918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139704" y="5571455"/>
            <a:ext cx="1043856" cy="468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4139704" y="5571256"/>
            <a:ext cx="1728390" cy="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139704" y="5571455"/>
            <a:ext cx="323751" cy="1025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491880" y="6165304"/>
            <a:ext cx="971575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4211960" y="4105101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37"/>
          <p:cNvSpPr txBox="1">
            <a:spLocks noChangeArrowheads="1"/>
          </p:cNvSpPr>
          <p:nvPr/>
        </p:nvSpPr>
        <p:spPr bwMode="auto">
          <a:xfrm>
            <a:off x="755378" y="2492896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1" name="內容版面配置區 1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12" name="文字方塊 38"/>
          <p:cNvSpPr txBox="1">
            <a:spLocks noChangeArrowheads="1"/>
          </p:cNvSpPr>
          <p:nvPr/>
        </p:nvSpPr>
        <p:spPr bwMode="auto">
          <a:xfrm>
            <a:off x="539229" y="572340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3" name="文字方塊 38"/>
          <p:cNvSpPr txBox="1">
            <a:spLocks noChangeArrowheads="1"/>
          </p:cNvSpPr>
          <p:nvPr/>
        </p:nvSpPr>
        <p:spPr bwMode="auto">
          <a:xfrm>
            <a:off x="1403648" y="5877272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4" name="文字方塊 38"/>
          <p:cNvSpPr txBox="1">
            <a:spLocks noChangeArrowheads="1"/>
          </p:cNvSpPr>
          <p:nvPr/>
        </p:nvSpPr>
        <p:spPr bwMode="auto">
          <a:xfrm>
            <a:off x="467544" y="5445224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5" name="文字方塊 38"/>
          <p:cNvSpPr txBox="1">
            <a:spLocks noChangeArrowheads="1"/>
          </p:cNvSpPr>
          <p:nvPr/>
        </p:nvSpPr>
        <p:spPr bwMode="auto">
          <a:xfrm>
            <a:off x="2771477" y="6443488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6" name="文字方塊 37"/>
          <p:cNvSpPr txBox="1">
            <a:spLocks noChangeArrowheads="1"/>
          </p:cNvSpPr>
          <p:nvPr/>
        </p:nvSpPr>
        <p:spPr bwMode="auto">
          <a:xfrm>
            <a:off x="4355778" y="2564904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(t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5171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</a:t>
            </a:r>
            <a:r>
              <a:rPr lang="zh-TW" altLang="en-US" dirty="0" smtClean="0"/>
              <a:t>方法</a:t>
            </a:r>
            <a:endParaRPr lang="zh-TW" altLang="en-US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3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	</a:t>
            </a:r>
            <a:r>
              <a:rPr lang="en-US" altLang="zh-TW" sz="24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-3.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(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躉繳型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>
              <a:buFont typeface="Arial" charset="0"/>
              <a:buNone/>
            </a:pPr>
            <a:r>
              <a:rPr lang="en-US" altLang="zh-TW" sz="25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	</a:t>
            </a:r>
            <a:endParaRPr lang="zh-TW" altLang="en-US" sz="2500" b="1" dirty="0" smtClean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6DF9EC-FBE6-4592-A15D-4F5450635754}" type="slidenum">
              <a:rPr lang="zh-TW" altLang="en-US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pPr>
                <a:defRPr/>
              </a:pPr>
              <a:t>43</a:t>
            </a:fld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41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42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1" name="直線接點 10"/>
          <p:cNvCxnSpPr/>
          <p:nvPr/>
        </p:nvCxnSpPr>
        <p:spPr>
          <a:xfrm>
            <a:off x="2735263" y="4221163"/>
            <a:ext cx="2092325" cy="70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2735263" y="4070350"/>
            <a:ext cx="3365500" cy="150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rot="5400000">
            <a:off x="2311400" y="489426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rot="5400000">
            <a:off x="3810000" y="38862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55"/>
          <p:cNvGrpSpPr/>
          <p:nvPr/>
        </p:nvGrpSpPr>
        <p:grpSpPr>
          <a:xfrm>
            <a:off x="4764905" y="3381376"/>
            <a:ext cx="148552" cy="872497"/>
            <a:chOff x="4705350" y="2142364"/>
            <a:chExt cx="148552" cy="872497"/>
          </a:xfrm>
          <a:solidFill>
            <a:srgbClr val="FF0000"/>
          </a:solidFill>
        </p:grpSpPr>
        <p:sp>
          <p:nvSpPr>
            <p:cNvPr id="17" name="橢圓 16"/>
            <p:cNvSpPr/>
            <p:nvPr/>
          </p:nvSpPr>
          <p:spPr>
            <a:xfrm>
              <a:off x="4709886" y="21423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4705350" y="25012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3" name="群組 62"/>
          <p:cNvGrpSpPr/>
          <p:nvPr/>
        </p:nvGrpSpPr>
        <p:grpSpPr>
          <a:xfrm>
            <a:off x="3259087" y="4660408"/>
            <a:ext cx="148552" cy="872497"/>
            <a:chOff x="4705350" y="2142364"/>
            <a:chExt cx="148552" cy="872497"/>
          </a:xfrm>
          <a:solidFill>
            <a:srgbClr val="00B050"/>
          </a:solidFill>
        </p:grpSpPr>
        <p:sp>
          <p:nvSpPr>
            <p:cNvPr id="24" name="橢圓 23"/>
            <p:cNvSpPr/>
            <p:nvPr/>
          </p:nvSpPr>
          <p:spPr>
            <a:xfrm>
              <a:off x="4709886" y="21423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4705350" y="25012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26" name="橢圓 25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cxnSp>
        <p:nvCxnSpPr>
          <p:cNvPr id="30" name="直線接點 29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 rot="16200000" flipH="1">
            <a:off x="2159794" y="4796632"/>
            <a:ext cx="1727200" cy="576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763838" y="350043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55" name="文字方塊 36"/>
          <p:cNvSpPr txBox="1">
            <a:spLocks noChangeArrowheads="1"/>
          </p:cNvSpPr>
          <p:nvPr/>
        </p:nvSpPr>
        <p:spPr bwMode="auto">
          <a:xfrm>
            <a:off x="790575" y="4652963"/>
            <a:ext cx="1171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R(t, level)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56" name="文字方塊 37"/>
          <p:cNvSpPr txBox="1">
            <a:spLocks noChangeArrowheads="1"/>
          </p:cNvSpPr>
          <p:nvPr/>
        </p:nvSpPr>
        <p:spPr bwMode="auto">
          <a:xfrm>
            <a:off x="179388" y="2924175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57" name="文字方塊 38"/>
          <p:cNvSpPr txBox="1">
            <a:spLocks noChangeArrowheads="1"/>
          </p:cNvSpPr>
          <p:nvPr/>
        </p:nvSpPr>
        <p:spPr bwMode="auto">
          <a:xfrm>
            <a:off x="234950" y="5445125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37" name="直線接點 36"/>
          <p:cNvCxnSpPr/>
          <p:nvPr/>
        </p:nvCxnSpPr>
        <p:spPr>
          <a:xfrm rot="5400000">
            <a:off x="5102225" y="3068638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63"/>
          <p:cNvGrpSpPr/>
          <p:nvPr/>
        </p:nvGrpSpPr>
        <p:grpSpPr>
          <a:xfrm>
            <a:off x="6048349" y="2579996"/>
            <a:ext cx="148552" cy="872497"/>
            <a:chOff x="4552950" y="1989964"/>
            <a:chExt cx="148552" cy="872497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9" name="橢圓 38"/>
            <p:cNvSpPr/>
            <p:nvPr/>
          </p:nvSpPr>
          <p:spPr>
            <a:xfrm>
              <a:off x="4557486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4552950" y="23488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41" name="橢圓 40"/>
            <p:cNvSpPr/>
            <p:nvPr/>
          </p:nvSpPr>
          <p:spPr>
            <a:xfrm>
              <a:off x="4552950" y="27184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6354763" y="2363788"/>
            <a:ext cx="649287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A1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354763" y="2713038"/>
            <a:ext cx="792162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A2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354763" y="3146425"/>
            <a:ext cx="649287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A3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403600" y="3779838"/>
            <a:ext cx="6477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64" name="文字方塊 78"/>
          <p:cNvSpPr txBox="1">
            <a:spLocks noChangeArrowheads="1"/>
          </p:cNvSpPr>
          <p:nvPr/>
        </p:nvSpPr>
        <p:spPr bwMode="auto">
          <a:xfrm>
            <a:off x="2898775" y="4211638"/>
            <a:ext cx="647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PB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65" name="文字方塊 79"/>
          <p:cNvSpPr txBox="1">
            <a:spLocks noChangeArrowheads="1"/>
          </p:cNvSpPr>
          <p:nvPr/>
        </p:nvSpPr>
        <p:spPr bwMode="auto">
          <a:xfrm>
            <a:off x="2447925" y="4572000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B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PC</a:t>
            </a:r>
            <a:endParaRPr lang="zh-TW" altLang="en-US">
              <a:solidFill>
                <a:srgbClr val="00B05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66" name="文字方塊 81"/>
          <p:cNvSpPr txBox="1">
            <a:spLocks noChangeArrowheads="1"/>
          </p:cNvSpPr>
          <p:nvPr/>
        </p:nvSpPr>
        <p:spPr bwMode="auto">
          <a:xfrm>
            <a:off x="1962150" y="4005263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R(0,0)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6042025" y="3716338"/>
            <a:ext cx="144463" cy="14446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4770438" y="4508500"/>
            <a:ext cx="144462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3259138" y="5661025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51" name="直線接點 50"/>
          <p:cNvCxnSpPr/>
          <p:nvPr/>
        </p:nvCxnSpPr>
        <p:spPr>
          <a:xfrm>
            <a:off x="6113463" y="4064000"/>
            <a:ext cx="2546350" cy="157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6113463" y="4064000"/>
            <a:ext cx="1754187" cy="733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rot="16200000" flipH="1">
            <a:off x="5831681" y="4345782"/>
            <a:ext cx="1452563" cy="889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弧形箭號 (下彎) 62"/>
          <p:cNvSpPr/>
          <p:nvPr/>
        </p:nvSpPr>
        <p:spPr>
          <a:xfrm>
            <a:off x="6210300" y="1989138"/>
            <a:ext cx="1368425" cy="360362"/>
          </a:xfrm>
          <a:prstGeom prst="curved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65" name="直線接點 64"/>
          <p:cNvCxnSpPr/>
          <p:nvPr/>
        </p:nvCxnSpPr>
        <p:spPr>
          <a:xfrm rot="5400000">
            <a:off x="7639050" y="32131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rot="5400000">
            <a:off x="6751637" y="3681413"/>
            <a:ext cx="2232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 rot="5400000">
            <a:off x="5994400" y="45085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橢圓 68"/>
          <p:cNvSpPr/>
          <p:nvPr/>
        </p:nvSpPr>
        <p:spPr>
          <a:xfrm>
            <a:off x="8564563" y="3632200"/>
            <a:ext cx="144462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6931025" y="4868863"/>
            <a:ext cx="144463" cy="14446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80" name="文字方塊 70"/>
          <p:cNvSpPr txBox="1">
            <a:spLocks noChangeArrowheads="1"/>
          </p:cNvSpPr>
          <p:nvPr/>
        </p:nvSpPr>
        <p:spPr bwMode="auto">
          <a:xfrm>
            <a:off x="2178050" y="3644900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X(0)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72" name="直線接點 71"/>
          <p:cNvCxnSpPr/>
          <p:nvPr/>
        </p:nvCxnSpPr>
        <p:spPr>
          <a:xfrm rot="5400000">
            <a:off x="1733550" y="32258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橢圓 72"/>
          <p:cNvSpPr/>
          <p:nvPr/>
        </p:nvSpPr>
        <p:spPr>
          <a:xfrm>
            <a:off x="2682875" y="4148138"/>
            <a:ext cx="144463" cy="144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83" name="文字方塊 81"/>
          <p:cNvSpPr txBox="1">
            <a:spLocks noChangeArrowheads="1"/>
          </p:cNvSpPr>
          <p:nvPr/>
        </p:nvSpPr>
        <p:spPr bwMode="auto">
          <a:xfrm>
            <a:off x="5851525" y="4221163"/>
            <a:ext cx="790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R(1,1)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84" name="文字方塊 81"/>
          <p:cNvSpPr txBox="1">
            <a:spLocks noChangeArrowheads="1"/>
          </p:cNvSpPr>
          <p:nvPr/>
        </p:nvSpPr>
        <p:spPr bwMode="auto">
          <a:xfrm>
            <a:off x="4914900" y="4868863"/>
            <a:ext cx="790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R(1,0)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85" name="文字方塊 81"/>
          <p:cNvSpPr txBox="1">
            <a:spLocks noChangeArrowheads="1"/>
          </p:cNvSpPr>
          <p:nvPr/>
        </p:nvSpPr>
        <p:spPr bwMode="auto">
          <a:xfrm>
            <a:off x="3402013" y="5876925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R(1,-1)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77" name="直線接點 76"/>
          <p:cNvCxnSpPr/>
          <p:nvPr/>
        </p:nvCxnSpPr>
        <p:spPr>
          <a:xfrm flipV="1">
            <a:off x="5275263" y="4149725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63"/>
          <p:cNvGrpSpPr/>
          <p:nvPr/>
        </p:nvGrpSpPr>
        <p:grpSpPr>
          <a:xfrm>
            <a:off x="8565330" y="2552378"/>
            <a:ext cx="183134" cy="1224136"/>
            <a:chOff x="4552950" y="1485908"/>
            <a:chExt cx="183134" cy="1224136"/>
          </a:xfrm>
          <a:solidFill>
            <a:srgbClr val="7030A0"/>
          </a:solidFill>
        </p:grpSpPr>
        <p:sp>
          <p:nvSpPr>
            <p:cNvPr id="90" name="橢圓 89"/>
            <p:cNvSpPr/>
            <p:nvPr/>
          </p:nvSpPr>
          <p:spPr>
            <a:xfrm>
              <a:off x="4557486" y="148590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1" name="橢圓 90"/>
            <p:cNvSpPr/>
            <p:nvPr/>
          </p:nvSpPr>
          <p:spPr>
            <a:xfrm>
              <a:off x="4552950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4592068" y="256602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7" name="群組 63"/>
          <p:cNvGrpSpPr/>
          <p:nvPr/>
        </p:nvGrpSpPr>
        <p:grpSpPr>
          <a:xfrm>
            <a:off x="8564563" y="2898623"/>
            <a:ext cx="148552" cy="1343100"/>
            <a:chOff x="4552950" y="1773940"/>
            <a:chExt cx="148552" cy="1343100"/>
          </a:xfrm>
          <a:solidFill>
            <a:srgbClr val="00B0F0"/>
          </a:solidFill>
        </p:grpSpPr>
        <p:sp>
          <p:nvSpPr>
            <p:cNvPr id="95" name="橢圓 94"/>
            <p:cNvSpPr/>
            <p:nvPr/>
          </p:nvSpPr>
          <p:spPr>
            <a:xfrm>
              <a:off x="4557486" y="177394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6" name="橢圓 95"/>
            <p:cNvSpPr/>
            <p:nvPr/>
          </p:nvSpPr>
          <p:spPr>
            <a:xfrm>
              <a:off x="4552950" y="2277996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7" name="橢圓 96"/>
            <p:cNvSpPr/>
            <p:nvPr/>
          </p:nvSpPr>
          <p:spPr>
            <a:xfrm>
              <a:off x="4552950" y="29730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cxnSp>
        <p:nvCxnSpPr>
          <p:cNvPr id="99" name="直線單箭頭接點 98"/>
          <p:cNvCxnSpPr/>
          <p:nvPr/>
        </p:nvCxnSpPr>
        <p:spPr>
          <a:xfrm rot="5400000">
            <a:off x="8533607" y="2804319"/>
            <a:ext cx="215900" cy="158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 rot="5400000">
            <a:off x="8528050" y="3308350"/>
            <a:ext cx="217488" cy="158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 rot="5400000">
            <a:off x="8470107" y="3944144"/>
            <a:ext cx="334962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4" name="橢圓 113"/>
          <p:cNvSpPr/>
          <p:nvPr/>
        </p:nvSpPr>
        <p:spPr>
          <a:xfrm>
            <a:off x="8421688" y="3992563"/>
            <a:ext cx="503237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93" name="文字方塊 38"/>
          <p:cNvSpPr txBox="1">
            <a:spLocks noChangeArrowheads="1"/>
          </p:cNvSpPr>
          <p:nvPr/>
        </p:nvSpPr>
        <p:spPr bwMode="auto">
          <a:xfrm>
            <a:off x="2251075" y="6237288"/>
            <a:ext cx="503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7" name="文字方塊 116"/>
          <p:cNvSpPr txBox="1">
            <a:spLocks noChangeArrowheads="1"/>
          </p:cNvSpPr>
          <p:nvPr/>
        </p:nvSpPr>
        <p:spPr bwMode="auto">
          <a:xfrm>
            <a:off x="6643688" y="4652963"/>
            <a:ext cx="43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FFC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</a:t>
            </a:r>
            <a:endParaRPr lang="zh-TW" altLang="en-US" b="1">
              <a:solidFill>
                <a:srgbClr val="FFC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32" name="橢圓 131"/>
          <p:cNvSpPr/>
          <p:nvPr/>
        </p:nvSpPr>
        <p:spPr>
          <a:xfrm>
            <a:off x="7794625" y="4292600"/>
            <a:ext cx="144463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96" name="文字方塊 80"/>
          <p:cNvSpPr txBox="1">
            <a:spLocks noChangeArrowheads="1"/>
          </p:cNvSpPr>
          <p:nvPr/>
        </p:nvSpPr>
        <p:spPr bwMode="auto">
          <a:xfrm>
            <a:off x="4482149" y="1636713"/>
            <a:ext cx="2376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(T1,T2)=(1,2), m=1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9239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47" grpId="0" animBg="1"/>
      <p:bldP spid="48" grpId="0" animBg="1"/>
      <p:bldP spid="49" grpId="0" animBg="1"/>
      <p:bldP spid="63" grpId="0" animBg="1"/>
      <p:bldP spid="69" grpId="0" animBg="1"/>
      <p:bldP spid="70" grpId="0" animBg="1"/>
      <p:bldP spid="114" grpId="0" animBg="1"/>
      <p:bldP spid="117" grpId="0"/>
      <p:bldP spid="1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</a:t>
            </a:r>
            <a:r>
              <a:rPr lang="zh-TW" altLang="en-US" dirty="0" smtClean="0"/>
              <a:t>方法</a:t>
            </a:r>
            <a:endParaRPr lang="zh-TW" altLang="en-US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3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	</a:t>
            </a:r>
            <a:r>
              <a:rPr lang="en-US" altLang="zh-TW" sz="2400" b="1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-3.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建構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樹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(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躉繳型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>
              <a:buFont typeface="Arial" charset="0"/>
              <a:buNone/>
            </a:pPr>
            <a:r>
              <a:rPr lang="en-US" altLang="zh-TW" sz="2500" b="1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	</a:t>
            </a:r>
            <a:endParaRPr lang="zh-TW" altLang="en-US" sz="2500" b="1" dirty="0" smtClean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6DF9EC-FBE6-4592-A15D-4F5450635754}" type="slidenum">
              <a:rPr lang="zh-TW" altLang="en-US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pPr>
                <a:defRPr/>
              </a:pPr>
              <a:t>44</a:t>
            </a:fld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41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42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11" name="直線接點 10"/>
          <p:cNvCxnSpPr/>
          <p:nvPr/>
        </p:nvCxnSpPr>
        <p:spPr>
          <a:xfrm>
            <a:off x="2735263" y="4221163"/>
            <a:ext cx="2092325" cy="70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2735263" y="4070350"/>
            <a:ext cx="3365500" cy="150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762959" y="2781300"/>
            <a:ext cx="4176712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rot="5400000">
            <a:off x="2311400" y="4894263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rot="5400000">
            <a:off x="3810000" y="38862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55"/>
          <p:cNvGrpSpPr/>
          <p:nvPr/>
        </p:nvGrpSpPr>
        <p:grpSpPr>
          <a:xfrm>
            <a:off x="4764905" y="3381376"/>
            <a:ext cx="148552" cy="872497"/>
            <a:chOff x="4705350" y="2142364"/>
            <a:chExt cx="148552" cy="872497"/>
          </a:xfrm>
          <a:solidFill>
            <a:srgbClr val="FF0000"/>
          </a:solidFill>
        </p:grpSpPr>
        <p:sp>
          <p:nvSpPr>
            <p:cNvPr id="17" name="橢圓 16"/>
            <p:cNvSpPr/>
            <p:nvPr/>
          </p:nvSpPr>
          <p:spPr>
            <a:xfrm>
              <a:off x="4709886" y="21423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4705350" y="25012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3" name="群組 62"/>
          <p:cNvGrpSpPr/>
          <p:nvPr/>
        </p:nvGrpSpPr>
        <p:grpSpPr>
          <a:xfrm>
            <a:off x="3259087" y="4660408"/>
            <a:ext cx="148552" cy="872497"/>
            <a:chOff x="4705350" y="2142364"/>
            <a:chExt cx="148552" cy="872497"/>
          </a:xfrm>
          <a:solidFill>
            <a:srgbClr val="00B050"/>
          </a:solidFill>
        </p:grpSpPr>
        <p:sp>
          <p:nvSpPr>
            <p:cNvPr id="24" name="橢圓 23"/>
            <p:cNvSpPr/>
            <p:nvPr/>
          </p:nvSpPr>
          <p:spPr>
            <a:xfrm>
              <a:off x="4709886" y="21423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4705350" y="25012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26" name="橢圓 25"/>
            <p:cNvSpPr/>
            <p:nvPr/>
          </p:nvSpPr>
          <p:spPr>
            <a:xfrm>
              <a:off x="4705350" y="28708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92D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cxnSp>
        <p:nvCxnSpPr>
          <p:cNvPr id="30" name="直線接點 29"/>
          <p:cNvCxnSpPr/>
          <p:nvPr/>
        </p:nvCxnSpPr>
        <p:spPr>
          <a:xfrm rot="5400000">
            <a:off x="-783431" y="4067969"/>
            <a:ext cx="3024188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719138" y="5589588"/>
            <a:ext cx="3384550" cy="1223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 rot="16200000" flipH="1">
            <a:off x="2159794" y="4796632"/>
            <a:ext cx="1727200" cy="576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763838" y="3500438"/>
            <a:ext cx="4176712" cy="2808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55" name="文字方塊 36"/>
          <p:cNvSpPr txBox="1">
            <a:spLocks noChangeArrowheads="1"/>
          </p:cNvSpPr>
          <p:nvPr/>
        </p:nvSpPr>
        <p:spPr bwMode="auto">
          <a:xfrm>
            <a:off x="790575" y="4652963"/>
            <a:ext cx="1171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R(t, level)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56" name="文字方塊 37"/>
          <p:cNvSpPr txBox="1">
            <a:spLocks noChangeArrowheads="1"/>
          </p:cNvSpPr>
          <p:nvPr/>
        </p:nvSpPr>
        <p:spPr bwMode="auto">
          <a:xfrm>
            <a:off x="179388" y="2924175"/>
            <a:ext cx="57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X(t)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57" name="文字方塊 38"/>
          <p:cNvSpPr txBox="1">
            <a:spLocks noChangeArrowheads="1"/>
          </p:cNvSpPr>
          <p:nvPr/>
        </p:nvSpPr>
        <p:spPr bwMode="auto">
          <a:xfrm>
            <a:off x="234950" y="5445125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37" name="直線接點 36"/>
          <p:cNvCxnSpPr/>
          <p:nvPr/>
        </p:nvCxnSpPr>
        <p:spPr>
          <a:xfrm rot="5400000">
            <a:off x="5102225" y="3068638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63"/>
          <p:cNvGrpSpPr/>
          <p:nvPr/>
        </p:nvGrpSpPr>
        <p:grpSpPr>
          <a:xfrm>
            <a:off x="6048349" y="2579996"/>
            <a:ext cx="148552" cy="872497"/>
            <a:chOff x="4552950" y="1989964"/>
            <a:chExt cx="148552" cy="872497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9" name="橢圓 38"/>
            <p:cNvSpPr/>
            <p:nvPr/>
          </p:nvSpPr>
          <p:spPr>
            <a:xfrm>
              <a:off x="4557486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4552950" y="234888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41" name="橢圓 40"/>
            <p:cNvSpPr/>
            <p:nvPr/>
          </p:nvSpPr>
          <p:spPr>
            <a:xfrm>
              <a:off x="4552950" y="2718445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6354763" y="2363788"/>
            <a:ext cx="649287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A1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354763" y="2713038"/>
            <a:ext cx="792162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A2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354763" y="3146425"/>
            <a:ext cx="649287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A3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403600" y="3779838"/>
            <a:ext cx="6477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64" name="文字方塊 78"/>
          <p:cNvSpPr txBox="1">
            <a:spLocks noChangeArrowheads="1"/>
          </p:cNvSpPr>
          <p:nvPr/>
        </p:nvSpPr>
        <p:spPr bwMode="auto">
          <a:xfrm>
            <a:off x="2898775" y="4211638"/>
            <a:ext cx="647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PB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65" name="文字方塊 79"/>
          <p:cNvSpPr txBox="1">
            <a:spLocks noChangeArrowheads="1"/>
          </p:cNvSpPr>
          <p:nvPr/>
        </p:nvSpPr>
        <p:spPr bwMode="auto">
          <a:xfrm>
            <a:off x="2447925" y="4572000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B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PC</a:t>
            </a:r>
            <a:endParaRPr lang="zh-TW" altLang="en-US">
              <a:solidFill>
                <a:srgbClr val="00B05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66" name="文字方塊 81"/>
          <p:cNvSpPr txBox="1">
            <a:spLocks noChangeArrowheads="1"/>
          </p:cNvSpPr>
          <p:nvPr/>
        </p:nvSpPr>
        <p:spPr bwMode="auto">
          <a:xfrm>
            <a:off x="1962150" y="4005263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R(0,0)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6042025" y="3716338"/>
            <a:ext cx="144463" cy="14446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4770438" y="4508500"/>
            <a:ext cx="144462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3259138" y="5661025"/>
            <a:ext cx="142875" cy="14446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51" name="直線接點 50"/>
          <p:cNvCxnSpPr/>
          <p:nvPr/>
        </p:nvCxnSpPr>
        <p:spPr>
          <a:xfrm>
            <a:off x="6113463" y="4064000"/>
            <a:ext cx="2546350" cy="157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6113463" y="4064000"/>
            <a:ext cx="1754187" cy="733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rot="16200000" flipH="1">
            <a:off x="5831681" y="4345782"/>
            <a:ext cx="1452563" cy="889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弧形箭號 (下彎) 62"/>
          <p:cNvSpPr/>
          <p:nvPr/>
        </p:nvSpPr>
        <p:spPr>
          <a:xfrm>
            <a:off x="6210300" y="1989138"/>
            <a:ext cx="1368425" cy="360362"/>
          </a:xfrm>
          <a:prstGeom prst="curved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65" name="直線接點 64"/>
          <p:cNvCxnSpPr/>
          <p:nvPr/>
        </p:nvCxnSpPr>
        <p:spPr>
          <a:xfrm rot="5400000">
            <a:off x="7639050" y="32131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rot="5400000">
            <a:off x="6751637" y="3681413"/>
            <a:ext cx="2232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 rot="5400000">
            <a:off x="5994400" y="45085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橢圓 68"/>
          <p:cNvSpPr/>
          <p:nvPr/>
        </p:nvSpPr>
        <p:spPr>
          <a:xfrm>
            <a:off x="8564563" y="3632200"/>
            <a:ext cx="144462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6931025" y="4868863"/>
            <a:ext cx="144463" cy="14446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80" name="文字方塊 70"/>
          <p:cNvSpPr txBox="1">
            <a:spLocks noChangeArrowheads="1"/>
          </p:cNvSpPr>
          <p:nvPr/>
        </p:nvSpPr>
        <p:spPr bwMode="auto">
          <a:xfrm>
            <a:off x="2178050" y="3644900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X(0)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72" name="直線接點 71"/>
          <p:cNvCxnSpPr/>
          <p:nvPr/>
        </p:nvCxnSpPr>
        <p:spPr>
          <a:xfrm rot="5400000">
            <a:off x="1733550" y="3225801"/>
            <a:ext cx="20161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橢圓 72"/>
          <p:cNvSpPr/>
          <p:nvPr/>
        </p:nvSpPr>
        <p:spPr>
          <a:xfrm>
            <a:off x="2682875" y="4148138"/>
            <a:ext cx="144463" cy="144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83" name="文字方塊 81"/>
          <p:cNvSpPr txBox="1">
            <a:spLocks noChangeArrowheads="1"/>
          </p:cNvSpPr>
          <p:nvPr/>
        </p:nvSpPr>
        <p:spPr bwMode="auto">
          <a:xfrm>
            <a:off x="5851525" y="4221163"/>
            <a:ext cx="790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R(1,1)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84" name="文字方塊 81"/>
          <p:cNvSpPr txBox="1">
            <a:spLocks noChangeArrowheads="1"/>
          </p:cNvSpPr>
          <p:nvPr/>
        </p:nvSpPr>
        <p:spPr bwMode="auto">
          <a:xfrm>
            <a:off x="4914900" y="4868863"/>
            <a:ext cx="790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R(1,0)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85" name="文字方塊 81"/>
          <p:cNvSpPr txBox="1">
            <a:spLocks noChangeArrowheads="1"/>
          </p:cNvSpPr>
          <p:nvPr/>
        </p:nvSpPr>
        <p:spPr bwMode="auto">
          <a:xfrm>
            <a:off x="3402013" y="5876925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R(1,-1)</a:t>
            </a: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77" name="直線接點 76"/>
          <p:cNvCxnSpPr/>
          <p:nvPr/>
        </p:nvCxnSpPr>
        <p:spPr>
          <a:xfrm flipV="1">
            <a:off x="5275263" y="4149725"/>
            <a:ext cx="3455987" cy="2708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63"/>
          <p:cNvGrpSpPr/>
          <p:nvPr/>
        </p:nvGrpSpPr>
        <p:grpSpPr>
          <a:xfrm>
            <a:off x="8565330" y="2552378"/>
            <a:ext cx="183134" cy="1224136"/>
            <a:chOff x="4552950" y="1485908"/>
            <a:chExt cx="183134" cy="1224136"/>
          </a:xfrm>
          <a:solidFill>
            <a:srgbClr val="7030A0"/>
          </a:solidFill>
        </p:grpSpPr>
        <p:sp>
          <p:nvSpPr>
            <p:cNvPr id="90" name="橢圓 89"/>
            <p:cNvSpPr/>
            <p:nvPr/>
          </p:nvSpPr>
          <p:spPr>
            <a:xfrm>
              <a:off x="4557486" y="148590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1" name="橢圓 90"/>
            <p:cNvSpPr/>
            <p:nvPr/>
          </p:nvSpPr>
          <p:spPr>
            <a:xfrm>
              <a:off x="4552950" y="198996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4592068" y="2566028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grpSp>
        <p:nvGrpSpPr>
          <p:cNvPr id="7" name="群組 63"/>
          <p:cNvGrpSpPr/>
          <p:nvPr/>
        </p:nvGrpSpPr>
        <p:grpSpPr>
          <a:xfrm>
            <a:off x="8564563" y="2898623"/>
            <a:ext cx="148552" cy="1343100"/>
            <a:chOff x="4552950" y="1773940"/>
            <a:chExt cx="148552" cy="1343100"/>
          </a:xfrm>
          <a:solidFill>
            <a:srgbClr val="00B0F0"/>
          </a:solidFill>
        </p:grpSpPr>
        <p:sp>
          <p:nvSpPr>
            <p:cNvPr id="95" name="橢圓 94"/>
            <p:cNvSpPr/>
            <p:nvPr/>
          </p:nvSpPr>
          <p:spPr>
            <a:xfrm>
              <a:off x="4557486" y="1773940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6" name="橢圓 95"/>
            <p:cNvSpPr/>
            <p:nvPr/>
          </p:nvSpPr>
          <p:spPr>
            <a:xfrm>
              <a:off x="4552950" y="2277996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97" name="橢圓 96"/>
            <p:cNvSpPr/>
            <p:nvPr/>
          </p:nvSpPr>
          <p:spPr>
            <a:xfrm>
              <a:off x="4552950" y="2973024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endParaRPr>
            </a:p>
          </p:txBody>
        </p:sp>
      </p:grpSp>
      <p:cxnSp>
        <p:nvCxnSpPr>
          <p:cNvPr id="99" name="直線單箭頭接點 98"/>
          <p:cNvCxnSpPr/>
          <p:nvPr/>
        </p:nvCxnSpPr>
        <p:spPr>
          <a:xfrm rot="5400000">
            <a:off x="8533607" y="2804319"/>
            <a:ext cx="215900" cy="158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 rot="5400000">
            <a:off x="8528050" y="3308350"/>
            <a:ext cx="217488" cy="158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 rot="5400000">
            <a:off x="8470107" y="3944144"/>
            <a:ext cx="334962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4" name="橢圓 113"/>
          <p:cNvSpPr/>
          <p:nvPr/>
        </p:nvSpPr>
        <p:spPr>
          <a:xfrm>
            <a:off x="8421688" y="3992563"/>
            <a:ext cx="503237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93" name="文字方塊 38"/>
          <p:cNvSpPr txBox="1">
            <a:spLocks noChangeArrowheads="1"/>
          </p:cNvSpPr>
          <p:nvPr/>
        </p:nvSpPr>
        <p:spPr bwMode="auto">
          <a:xfrm>
            <a:off x="2251075" y="6237288"/>
            <a:ext cx="503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17" name="文字方塊 116"/>
          <p:cNvSpPr txBox="1">
            <a:spLocks noChangeArrowheads="1"/>
          </p:cNvSpPr>
          <p:nvPr/>
        </p:nvSpPr>
        <p:spPr bwMode="auto">
          <a:xfrm>
            <a:off x="6643688" y="4652963"/>
            <a:ext cx="43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FFC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</a:t>
            </a:r>
            <a:endParaRPr lang="zh-TW" altLang="en-US" b="1">
              <a:solidFill>
                <a:srgbClr val="FFC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32" name="橢圓 131"/>
          <p:cNvSpPr/>
          <p:nvPr/>
        </p:nvSpPr>
        <p:spPr>
          <a:xfrm>
            <a:off x="7794625" y="4292600"/>
            <a:ext cx="144463" cy="14446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9996" name="文字方塊 80"/>
          <p:cNvSpPr txBox="1">
            <a:spLocks noChangeArrowheads="1"/>
          </p:cNvSpPr>
          <p:nvPr/>
        </p:nvSpPr>
        <p:spPr bwMode="auto">
          <a:xfrm>
            <a:off x="4482149" y="1636713"/>
            <a:ext cx="2376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(T1,T2)=(1,2), m=1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3840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47" grpId="0" animBg="1"/>
      <p:bldP spid="48" grpId="0" animBg="1"/>
      <p:bldP spid="49" grpId="0" animBg="1"/>
      <p:bldP spid="63" grpId="0" animBg="1"/>
      <p:bldP spid="69" grpId="0" animBg="1"/>
      <p:bldP spid="70" grpId="0" animBg="1"/>
      <p:bldP spid="114" grpId="0" animBg="1"/>
      <p:bldP spid="117" grpId="0"/>
      <p:bldP spid="1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512198831"/>
              </p:ext>
            </p:extLst>
          </p:nvPr>
        </p:nvGraphicFramePr>
        <p:xfrm>
          <a:off x="827585" y="1772817"/>
          <a:ext cx="4752528" cy="23042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068"/>
                <a:gridCol w="628468"/>
                <a:gridCol w="887248"/>
                <a:gridCol w="887248"/>
                <a:gridCol w="887248"/>
                <a:gridCol w="887248"/>
              </a:tblGrid>
              <a:tr h="329179">
                <a:tc>
                  <a:txBody>
                    <a:bodyPr/>
                    <a:lstStyle/>
                    <a:p>
                      <a:pPr algn="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2917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level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3291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0.03464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0.03464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0.03464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3291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0.01732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0.01732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0.01732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0.01732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3291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3291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-1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-0.01732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-0.01732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-0.01732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-0.01732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3291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-2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-0.03464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-0.03464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-0.03464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D4A5-0B1F-4C02-B4FD-5FAB96E9F6A2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0244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5300</TotalTime>
  <Words>1666</Words>
  <Application>Microsoft Office PowerPoint</Application>
  <PresentationFormat>如螢幕大小 (4:3)</PresentationFormat>
  <Paragraphs>521</Paragraphs>
  <Slides>45</Slides>
  <Notes>19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45</vt:i4>
      </vt:variant>
    </vt:vector>
  </HeadingPairs>
  <TitlesOfParts>
    <vt:vector size="48" baseType="lpstr">
      <vt:lpstr>Office 佈景主題</vt:lpstr>
      <vt:lpstr>方程式</vt:lpstr>
      <vt:lpstr>Microsoft Equation 3.0</vt:lpstr>
      <vt:lpstr>在Hull-White 隨機利率及隨機死亡率下評價終身保證提領保險附約</vt:lpstr>
      <vt:lpstr>大綱</vt:lpstr>
      <vt:lpstr>GLWB簡介</vt:lpstr>
      <vt:lpstr>Motivation</vt:lpstr>
      <vt:lpstr>論文回顧</vt:lpstr>
      <vt:lpstr>論文回顧-死亡率模型</vt:lpstr>
      <vt:lpstr>論文回顧-死亡率模型</vt:lpstr>
      <vt:lpstr>論文回顧-死亡率模型(參數設定)</vt:lpstr>
      <vt:lpstr>投影片 9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避險問題  </vt:lpstr>
      <vt:lpstr>避險問題</vt:lpstr>
      <vt:lpstr>目前研究進度</vt:lpstr>
      <vt:lpstr>投影片 41</vt:lpstr>
      <vt:lpstr>投影片 42</vt:lpstr>
      <vt:lpstr>研究方法</vt:lpstr>
      <vt:lpstr>研究方法</vt:lpstr>
      <vt:lpstr>投影片 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ares0628</dc:creator>
  <cp:lastModifiedBy>user</cp:lastModifiedBy>
  <cp:revision>168</cp:revision>
  <dcterms:created xsi:type="dcterms:W3CDTF">2011-11-22T07:02:43Z</dcterms:created>
  <dcterms:modified xsi:type="dcterms:W3CDTF">2012-04-16T07:13:12Z</dcterms:modified>
</cp:coreProperties>
</file>