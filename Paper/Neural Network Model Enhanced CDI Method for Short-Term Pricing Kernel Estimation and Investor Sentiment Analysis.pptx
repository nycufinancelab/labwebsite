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5" r:id="rId2"/>
    <p:sldMasterId id="2147483697" r:id="rId3"/>
    <p:sldMasterId id="2147483706" r:id="rId4"/>
  </p:sldMasterIdLst>
  <p:notesMasterIdLst>
    <p:notesMasterId r:id="rId74"/>
  </p:notesMasterIdLst>
  <p:sldIdLst>
    <p:sldId id="256" r:id="rId5"/>
    <p:sldId id="324" r:id="rId6"/>
    <p:sldId id="325" r:id="rId7"/>
    <p:sldId id="258" r:id="rId8"/>
    <p:sldId id="268" r:id="rId9"/>
    <p:sldId id="269" r:id="rId10"/>
    <p:sldId id="326" r:id="rId11"/>
    <p:sldId id="327" r:id="rId12"/>
    <p:sldId id="262" r:id="rId13"/>
    <p:sldId id="270" r:id="rId14"/>
    <p:sldId id="271" r:id="rId15"/>
    <p:sldId id="272" r:id="rId16"/>
    <p:sldId id="273" r:id="rId17"/>
    <p:sldId id="276" r:id="rId18"/>
    <p:sldId id="277" r:id="rId19"/>
    <p:sldId id="278" r:id="rId20"/>
    <p:sldId id="280" r:id="rId21"/>
    <p:sldId id="282" r:id="rId22"/>
    <p:sldId id="263" r:id="rId23"/>
    <p:sldId id="283" r:id="rId24"/>
    <p:sldId id="285" r:id="rId25"/>
    <p:sldId id="328" r:id="rId26"/>
    <p:sldId id="266" r:id="rId27"/>
    <p:sldId id="291" r:id="rId28"/>
    <p:sldId id="323" r:id="rId29"/>
    <p:sldId id="292" r:id="rId30"/>
    <p:sldId id="265" r:id="rId31"/>
    <p:sldId id="293" r:id="rId32"/>
    <p:sldId id="296" r:id="rId33"/>
    <p:sldId id="267" r:id="rId34"/>
    <p:sldId id="297" r:id="rId35"/>
    <p:sldId id="299" r:id="rId36"/>
    <p:sldId id="300" r:id="rId37"/>
    <p:sldId id="301" r:id="rId38"/>
    <p:sldId id="302" r:id="rId39"/>
    <p:sldId id="304" r:id="rId40"/>
    <p:sldId id="329" r:id="rId41"/>
    <p:sldId id="330" r:id="rId42"/>
    <p:sldId id="287" r:id="rId43"/>
    <p:sldId id="288" r:id="rId44"/>
    <p:sldId id="289" r:id="rId45"/>
    <p:sldId id="290" r:id="rId46"/>
    <p:sldId id="260" r:id="rId47"/>
    <p:sldId id="308" r:id="rId48"/>
    <p:sldId id="307" r:id="rId49"/>
    <p:sldId id="306" r:id="rId50"/>
    <p:sldId id="309" r:id="rId51"/>
    <p:sldId id="310" r:id="rId52"/>
    <p:sldId id="311" r:id="rId53"/>
    <p:sldId id="312" r:id="rId54"/>
    <p:sldId id="313" r:id="rId55"/>
    <p:sldId id="314" r:id="rId56"/>
    <p:sldId id="315" r:id="rId57"/>
    <p:sldId id="316" r:id="rId58"/>
    <p:sldId id="261" r:id="rId59"/>
    <p:sldId id="317" r:id="rId60"/>
    <p:sldId id="318" r:id="rId61"/>
    <p:sldId id="331" r:id="rId62"/>
    <p:sldId id="332" r:id="rId63"/>
    <p:sldId id="333" r:id="rId64"/>
    <p:sldId id="334" r:id="rId65"/>
    <p:sldId id="335" r:id="rId66"/>
    <p:sldId id="320" r:id="rId67"/>
    <p:sldId id="286" r:id="rId68"/>
    <p:sldId id="274" r:id="rId69"/>
    <p:sldId id="281" r:id="rId70"/>
    <p:sldId id="322" r:id="rId71"/>
    <p:sldId id="321" r:id="rId72"/>
    <p:sldId id="284" r:id="rId73"/>
  </p:sldIdLst>
  <p:sldSz cx="12192000" cy="6858000"/>
  <p:notesSz cx="6858000" cy="9144000"/>
  <p:defaultText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765" algn="l" defTabSz="913130" rtl="0" eaLnBrk="1" latinLnBrk="0" hangingPunct="1">
      <a:defRPr sz="1800" kern="1200">
        <a:solidFill>
          <a:schemeClr val="tx1"/>
        </a:solidFill>
        <a:latin typeface="+mn-lt"/>
        <a:ea typeface="+mn-ea"/>
        <a:cs typeface="+mn-cs"/>
      </a:defRPr>
    </a:lvl3pPr>
    <a:lvl4pPr marL="1370330" algn="l" defTabSz="913130" rtl="0" eaLnBrk="1" latinLnBrk="0" hangingPunct="1">
      <a:defRPr sz="1800" kern="1200">
        <a:solidFill>
          <a:schemeClr val="tx1"/>
        </a:solidFill>
        <a:latin typeface="+mn-lt"/>
        <a:ea typeface="+mn-ea"/>
        <a:cs typeface="+mn-cs"/>
      </a:defRPr>
    </a:lvl4pPr>
    <a:lvl5pPr marL="1826895" algn="l" defTabSz="913130" rtl="0" eaLnBrk="1" latinLnBrk="0" hangingPunct="1">
      <a:defRPr sz="1800" kern="1200">
        <a:solidFill>
          <a:schemeClr val="tx1"/>
        </a:solidFill>
        <a:latin typeface="+mn-lt"/>
        <a:ea typeface="+mn-ea"/>
        <a:cs typeface="+mn-cs"/>
      </a:defRPr>
    </a:lvl5pPr>
    <a:lvl6pPr marL="2283460" algn="l" defTabSz="913130" rtl="0" eaLnBrk="1" latinLnBrk="0" hangingPunct="1">
      <a:defRPr sz="1800" kern="1200">
        <a:solidFill>
          <a:schemeClr val="tx1"/>
        </a:solidFill>
        <a:latin typeface="+mn-lt"/>
        <a:ea typeface="+mn-ea"/>
        <a:cs typeface="+mn-cs"/>
      </a:defRPr>
    </a:lvl6pPr>
    <a:lvl7pPr marL="2740660" algn="l" defTabSz="913130" rtl="0" eaLnBrk="1" latinLnBrk="0" hangingPunct="1">
      <a:defRPr sz="1800" kern="1200">
        <a:solidFill>
          <a:schemeClr val="tx1"/>
        </a:solidFill>
        <a:latin typeface="+mn-lt"/>
        <a:ea typeface="+mn-ea"/>
        <a:cs typeface="+mn-cs"/>
      </a:defRPr>
    </a:lvl7pPr>
    <a:lvl8pPr marL="3197225" algn="l" defTabSz="913130" rtl="0" eaLnBrk="1" latinLnBrk="0" hangingPunct="1">
      <a:defRPr sz="1800" kern="1200">
        <a:solidFill>
          <a:schemeClr val="tx1"/>
        </a:solidFill>
        <a:latin typeface="+mn-lt"/>
        <a:ea typeface="+mn-ea"/>
        <a:cs typeface="+mn-cs"/>
      </a:defRPr>
    </a:lvl8pPr>
    <a:lvl9pPr marL="3653790" algn="l" defTabSz="9131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26" autoAdjust="0"/>
    <p:restoredTop sz="94826" autoAdjust="0"/>
  </p:normalViewPr>
  <p:slideViewPr>
    <p:cSldViewPr snapToGrid="0">
      <p:cViewPr varScale="1">
        <p:scale>
          <a:sx n="77" d="100"/>
          <a:sy n="77" d="100"/>
        </p:scale>
        <p:origin x="717" y="42"/>
      </p:cViewPr>
      <p:guideLst/>
    </p:cSldViewPr>
  </p:slideViewPr>
  <p:outlineViewPr>
    <p:cViewPr>
      <p:scale>
        <a:sx n="33" d="100"/>
        <a:sy n="33" d="100"/>
      </p:scale>
      <p:origin x="0" y="-57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AA7FE-8AD0-45E8-AB1E-6E1F7885F5F0}" type="datetimeFigureOut">
              <a:rPr lang="zh-TW" altLang="en-US" smtClean="0"/>
              <a:t>2025/8/28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787659-7657-4745-8C17-136187946327}" type="slidenum">
              <a:rPr lang="zh-TW" altLang="en-US" smtClean="0"/>
              <a:t>‹#›</a:t>
            </a:fld>
            <a:endParaRPr lang="zh-TW" altLang="en-US"/>
          </a:p>
        </p:txBody>
      </p:sp>
    </p:spTree>
    <p:extLst>
      <p:ext uri="{BB962C8B-B14F-4D97-AF65-F5344CB8AC3E}">
        <p14:creationId xmlns:p14="http://schemas.microsoft.com/office/powerpoint/2010/main" val="2372211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beta</a:t>
            </a:r>
            <a:r>
              <a:rPr lang="zh-TW" altLang="en-US" dirty="0"/>
              <a:t>指的是 </a:t>
            </a:r>
            <a:r>
              <a:rPr lang="zh-TW" altLang="en-US" b="1" dirty="0"/>
              <a:t>主觀折現因子 </a:t>
            </a:r>
            <a:r>
              <a:rPr lang="en-US" altLang="zh-TW" b="1" dirty="0"/>
              <a:t>(subjective discount factor)</a:t>
            </a:r>
            <a:r>
              <a:rPr lang="zh-TW" altLang="en-US" dirty="0"/>
              <a:t>和主觀時間偏好率 </a:t>
            </a:r>
            <a:r>
              <a:rPr lang="en-US" altLang="zh-TW" dirty="0"/>
              <a:t>ρ</a:t>
            </a:r>
            <a:r>
              <a:rPr lang="zh-TW" altLang="en-US" dirty="0"/>
              <a:t>有關</a:t>
            </a:r>
            <a:r>
              <a:rPr lang="zh-TW" altLang="en-US" b="1" dirty="0"/>
              <a:t>，</a:t>
            </a:r>
            <a:r>
              <a:rPr lang="zh-TW" altLang="en-US" dirty="0"/>
              <a:t>在均衡裡，市場無風險利率 </a:t>
            </a:r>
            <a:r>
              <a:rPr lang="en-US" altLang="zh-TW" dirty="0"/>
              <a:t>rf</a:t>
            </a:r>
            <a:r>
              <a:rPr lang="zh-TW" altLang="en-US" dirty="0"/>
              <a:t>會「對應」到投資人主觀利率 </a:t>
            </a:r>
            <a:r>
              <a:rPr lang="en-US" altLang="zh-TW" dirty="0"/>
              <a:t>ρ</a:t>
            </a:r>
            <a:r>
              <a:rPr lang="zh-TW" altLang="en-US" dirty="0"/>
              <a:t>，讓 </a:t>
            </a:r>
            <a:r>
              <a:rPr lang="en-US" altLang="zh-TW" dirty="0"/>
              <a:t>β </a:t>
            </a:r>
            <a:r>
              <a:rPr lang="zh-TW" altLang="en-US" dirty="0"/>
              <a:t>與 </a:t>
            </a:r>
            <a:r>
              <a:rPr lang="en-US" altLang="zh-TW" dirty="0" err="1"/>
              <a:t>r_f</a:t>
            </a:r>
            <a:r>
              <a:rPr lang="en-US" altLang="zh-TW" dirty="0"/>
              <a:t> </a:t>
            </a:r>
            <a:r>
              <a:rPr lang="zh-TW" altLang="en-US" dirty="0"/>
              <a:t>之間產生關聯</a:t>
            </a:r>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6</a:t>
            </a:fld>
            <a:endParaRPr lang="zh-TW" altLang="en-US"/>
          </a:p>
        </p:txBody>
      </p:sp>
    </p:spTree>
    <p:extLst>
      <p:ext uri="{BB962C8B-B14F-4D97-AF65-F5344CB8AC3E}">
        <p14:creationId xmlns:p14="http://schemas.microsoft.com/office/powerpoint/2010/main" val="2129685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10</a:t>
            </a:fld>
            <a:endParaRPr lang="zh-TW" altLang="en-US"/>
          </a:p>
        </p:txBody>
      </p:sp>
    </p:spTree>
    <p:extLst>
      <p:ext uri="{BB962C8B-B14F-4D97-AF65-F5344CB8AC3E}">
        <p14:creationId xmlns:p14="http://schemas.microsoft.com/office/powerpoint/2010/main" val="3884435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這張圖已刪除</a:t>
            </a:r>
            <a:r>
              <a:rPr lang="en-US" altLang="zh-TW" dirty="0"/>
              <a:t>IV</a:t>
            </a:r>
            <a:r>
              <a:rPr lang="zh-TW" altLang="en-US" dirty="0"/>
              <a:t> </a:t>
            </a:r>
            <a:r>
              <a:rPr lang="en-US" altLang="zh-TW" dirty="0"/>
              <a:t>=</a:t>
            </a:r>
            <a:r>
              <a:rPr lang="zh-TW" altLang="en-US" dirty="0"/>
              <a:t> </a:t>
            </a:r>
            <a:r>
              <a:rPr lang="en-US" altLang="zh-TW" dirty="0" err="1"/>
              <a:t>na</a:t>
            </a:r>
            <a:r>
              <a:rPr lang="zh-TW" altLang="en-US" dirty="0"/>
              <a:t>，以及價格小於</a:t>
            </a:r>
            <a:r>
              <a:rPr lang="en-US" altLang="zh-TW" dirty="0"/>
              <a:t>0.375</a:t>
            </a:r>
            <a:r>
              <a:rPr lang="zh-TW" altLang="en-US" dirty="0"/>
              <a:t>的選擇權，原本買賣權比數相同，履約價</a:t>
            </a:r>
            <a:r>
              <a:rPr lang="en-US" altLang="zh-TW" dirty="0"/>
              <a:t>&gt;1160</a:t>
            </a:r>
            <a:r>
              <a:rPr lang="zh-TW" altLang="en-US" dirty="0"/>
              <a:t>的</a:t>
            </a:r>
            <a:r>
              <a:rPr lang="en-US" altLang="zh-TW" dirty="0"/>
              <a:t>call</a:t>
            </a:r>
            <a:r>
              <a:rPr lang="zh-TW" altLang="en-US" dirty="0"/>
              <a:t>被刪除，價格小於</a:t>
            </a:r>
            <a:r>
              <a:rPr lang="en-US" altLang="zh-TW" dirty="0"/>
              <a:t>900</a:t>
            </a:r>
            <a:r>
              <a:rPr lang="zh-TW" altLang="en-US" dirty="0"/>
              <a:t>的</a:t>
            </a:r>
            <a:r>
              <a:rPr lang="en-US" altLang="zh-TW" dirty="0"/>
              <a:t>put</a:t>
            </a:r>
            <a:r>
              <a:rPr lang="zh-TW" altLang="en-US" dirty="0"/>
              <a:t>被刪除，並且</a:t>
            </a:r>
            <a:r>
              <a:rPr lang="en-US" altLang="zh-TW" dirty="0"/>
              <a:t>call</a:t>
            </a:r>
            <a:r>
              <a:rPr lang="zh-TW" altLang="en-US" dirty="0"/>
              <a:t>有較多的</a:t>
            </a:r>
            <a:r>
              <a:rPr lang="en-US" altLang="zh-TW" dirty="0"/>
              <a:t>IV</a:t>
            </a:r>
            <a:r>
              <a:rPr lang="zh-TW" altLang="en-US" dirty="0"/>
              <a:t>為空值被刪除</a:t>
            </a:r>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13</a:t>
            </a:fld>
            <a:endParaRPr lang="zh-TW" altLang="en-US"/>
          </a:p>
        </p:txBody>
      </p:sp>
    </p:spTree>
    <p:extLst>
      <p:ext uri="{BB962C8B-B14F-4D97-AF65-F5344CB8AC3E}">
        <p14:creationId xmlns:p14="http://schemas.microsoft.com/office/powerpoint/2010/main" val="2164314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14</a:t>
            </a:fld>
            <a:endParaRPr lang="zh-TW" altLang="en-US"/>
          </a:p>
        </p:txBody>
      </p:sp>
    </p:spTree>
    <p:extLst>
      <p:ext uri="{BB962C8B-B14F-4D97-AF65-F5344CB8AC3E}">
        <p14:creationId xmlns:p14="http://schemas.microsoft.com/office/powerpoint/2010/main" val="3432978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15</a:t>
            </a:fld>
            <a:endParaRPr lang="zh-TW" altLang="en-US"/>
          </a:p>
        </p:txBody>
      </p:sp>
    </p:spTree>
    <p:extLst>
      <p:ext uri="{BB962C8B-B14F-4D97-AF65-F5344CB8AC3E}">
        <p14:creationId xmlns:p14="http://schemas.microsoft.com/office/powerpoint/2010/main" val="802448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16</a:t>
            </a:fld>
            <a:endParaRPr lang="zh-TW" altLang="en-US"/>
          </a:p>
        </p:txBody>
      </p:sp>
    </p:spTree>
    <p:extLst>
      <p:ext uri="{BB962C8B-B14F-4D97-AF65-F5344CB8AC3E}">
        <p14:creationId xmlns:p14="http://schemas.microsoft.com/office/powerpoint/2010/main" val="4243040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17</a:t>
            </a:fld>
            <a:endParaRPr lang="zh-TW" altLang="en-US"/>
          </a:p>
        </p:txBody>
      </p:sp>
    </p:spTree>
    <p:extLst>
      <p:ext uri="{BB962C8B-B14F-4D97-AF65-F5344CB8AC3E}">
        <p14:creationId xmlns:p14="http://schemas.microsoft.com/office/powerpoint/2010/main" val="2411875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18</a:t>
            </a:fld>
            <a:endParaRPr lang="zh-TW" altLang="en-US"/>
          </a:p>
        </p:txBody>
      </p:sp>
    </p:spTree>
    <p:extLst>
      <p:ext uri="{BB962C8B-B14F-4D97-AF65-F5344CB8AC3E}">
        <p14:creationId xmlns:p14="http://schemas.microsoft.com/office/powerpoint/2010/main" val="3018045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20</a:t>
            </a:fld>
            <a:endParaRPr lang="zh-TW" altLang="en-US"/>
          </a:p>
        </p:txBody>
      </p:sp>
    </p:spTree>
    <p:extLst>
      <p:ext uri="{BB962C8B-B14F-4D97-AF65-F5344CB8AC3E}">
        <p14:creationId xmlns:p14="http://schemas.microsoft.com/office/powerpoint/2010/main" val="590111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21</a:t>
            </a:fld>
            <a:endParaRPr lang="zh-TW" altLang="en-US"/>
          </a:p>
        </p:txBody>
      </p:sp>
    </p:spTree>
    <p:extLst>
      <p:ext uri="{BB962C8B-B14F-4D97-AF65-F5344CB8AC3E}">
        <p14:creationId xmlns:p14="http://schemas.microsoft.com/office/powerpoint/2010/main" val="3577286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24</a:t>
            </a:fld>
            <a:endParaRPr lang="zh-TW" altLang="en-US"/>
          </a:p>
        </p:txBody>
      </p:sp>
    </p:spTree>
    <p:extLst>
      <p:ext uri="{BB962C8B-B14F-4D97-AF65-F5344CB8AC3E}">
        <p14:creationId xmlns:p14="http://schemas.microsoft.com/office/powerpoint/2010/main" val="1303578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25</a:t>
            </a:fld>
            <a:endParaRPr lang="zh-TW" altLang="en-US"/>
          </a:p>
        </p:txBody>
      </p:sp>
    </p:spTree>
    <p:extLst>
      <p:ext uri="{BB962C8B-B14F-4D97-AF65-F5344CB8AC3E}">
        <p14:creationId xmlns:p14="http://schemas.microsoft.com/office/powerpoint/2010/main" val="2210211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26</a:t>
            </a:fld>
            <a:endParaRPr lang="zh-TW" altLang="en-US"/>
          </a:p>
        </p:txBody>
      </p:sp>
    </p:spTree>
    <p:extLst>
      <p:ext uri="{BB962C8B-B14F-4D97-AF65-F5344CB8AC3E}">
        <p14:creationId xmlns:p14="http://schemas.microsoft.com/office/powerpoint/2010/main" val="3978133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29</a:t>
            </a:fld>
            <a:endParaRPr lang="zh-TW" altLang="en-US"/>
          </a:p>
        </p:txBody>
      </p:sp>
    </p:spTree>
    <p:extLst>
      <p:ext uri="{BB962C8B-B14F-4D97-AF65-F5344CB8AC3E}">
        <p14:creationId xmlns:p14="http://schemas.microsoft.com/office/powerpoint/2010/main" val="2285185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31</a:t>
            </a:fld>
            <a:endParaRPr lang="zh-TW" altLang="en-US"/>
          </a:p>
        </p:txBody>
      </p:sp>
    </p:spTree>
    <p:extLst>
      <p:ext uri="{BB962C8B-B14F-4D97-AF65-F5344CB8AC3E}">
        <p14:creationId xmlns:p14="http://schemas.microsoft.com/office/powerpoint/2010/main" val="224008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32</a:t>
            </a:fld>
            <a:endParaRPr lang="zh-TW" altLang="en-US"/>
          </a:p>
        </p:txBody>
      </p:sp>
    </p:spTree>
    <p:extLst>
      <p:ext uri="{BB962C8B-B14F-4D97-AF65-F5344CB8AC3E}">
        <p14:creationId xmlns:p14="http://schemas.microsoft.com/office/powerpoint/2010/main" val="30209054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35</a:t>
            </a:fld>
            <a:endParaRPr lang="zh-TW" altLang="en-US"/>
          </a:p>
        </p:txBody>
      </p:sp>
    </p:spTree>
    <p:extLst>
      <p:ext uri="{BB962C8B-B14F-4D97-AF65-F5344CB8AC3E}">
        <p14:creationId xmlns:p14="http://schemas.microsoft.com/office/powerpoint/2010/main" val="2769635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36</a:t>
            </a:fld>
            <a:endParaRPr lang="zh-TW" altLang="en-US"/>
          </a:p>
        </p:txBody>
      </p:sp>
    </p:spTree>
    <p:extLst>
      <p:ext uri="{BB962C8B-B14F-4D97-AF65-F5344CB8AC3E}">
        <p14:creationId xmlns:p14="http://schemas.microsoft.com/office/powerpoint/2010/main" val="911976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42</a:t>
            </a:fld>
            <a:endParaRPr lang="zh-TW" altLang="en-US"/>
          </a:p>
        </p:txBody>
      </p:sp>
    </p:spTree>
    <p:extLst>
      <p:ext uri="{BB962C8B-B14F-4D97-AF65-F5344CB8AC3E}">
        <p14:creationId xmlns:p14="http://schemas.microsoft.com/office/powerpoint/2010/main" val="3475160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49</a:t>
            </a:fld>
            <a:endParaRPr lang="zh-TW" altLang="en-US"/>
          </a:p>
        </p:txBody>
      </p:sp>
    </p:spTree>
    <p:extLst>
      <p:ext uri="{BB962C8B-B14F-4D97-AF65-F5344CB8AC3E}">
        <p14:creationId xmlns:p14="http://schemas.microsoft.com/office/powerpoint/2010/main" val="27075880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54</a:t>
            </a:fld>
            <a:endParaRPr lang="zh-TW" altLang="en-US"/>
          </a:p>
        </p:txBody>
      </p:sp>
    </p:spTree>
    <p:extLst>
      <p:ext uri="{BB962C8B-B14F-4D97-AF65-F5344CB8AC3E}">
        <p14:creationId xmlns:p14="http://schemas.microsoft.com/office/powerpoint/2010/main" val="956630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65</a:t>
            </a:fld>
            <a:endParaRPr lang="zh-TW" altLang="en-US"/>
          </a:p>
        </p:txBody>
      </p:sp>
    </p:spTree>
    <p:extLst>
      <p:ext uri="{BB962C8B-B14F-4D97-AF65-F5344CB8AC3E}">
        <p14:creationId xmlns:p14="http://schemas.microsoft.com/office/powerpoint/2010/main" val="3920160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5787659-7657-4745-8C17-136187946327}" type="slidenum">
              <a:rPr lang="zh-TW" altLang="en-US" smtClean="0"/>
              <a:t>66</a:t>
            </a:fld>
            <a:endParaRPr lang="zh-TW" altLang="en-US"/>
          </a:p>
        </p:txBody>
      </p:sp>
    </p:spTree>
    <p:extLst>
      <p:ext uri="{BB962C8B-B14F-4D97-AF65-F5344CB8AC3E}">
        <p14:creationId xmlns:p14="http://schemas.microsoft.com/office/powerpoint/2010/main" val="33151489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3.xml"/><Relationship Id="rId5" Type="http://schemas.openxmlformats.org/officeDocument/2006/relationships/tags" Target="../tags/tag5.xml"/><Relationship Id="rId4" Type="http://schemas.openxmlformats.org/officeDocument/2006/relationships/tags" Target="../tags/tag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4.xml"/><Relationship Id="rId5" Type="http://schemas.openxmlformats.org/officeDocument/2006/relationships/tags" Target="../tags/tag16.xml"/><Relationship Id="rId4" Type="http://schemas.openxmlformats.org/officeDocument/2006/relationships/tags" Target="../tags/tag15.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4.xml"/><Relationship Id="rId5" Type="http://schemas.openxmlformats.org/officeDocument/2006/relationships/tags" Target="../tags/tag21.xml"/><Relationship Id="rId4"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Master" Target="../slideMasters/slideMaster4.xml"/><Relationship Id="rId5" Type="http://schemas.openxmlformats.org/officeDocument/2006/relationships/tags" Target="../tags/tag26.xml"/><Relationship Id="rId4" Type="http://schemas.openxmlformats.org/officeDocument/2006/relationships/tags" Target="../tags/tag25.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slideMaster" Target="../slideMasters/slideMaster4.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5.xml"/><Relationship Id="rId7" Type="http://schemas.openxmlformats.org/officeDocument/2006/relationships/tags" Target="../tags/tag39.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9"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slideMaster" Target="../slideMasters/slideMaster4.xml"/><Relationship Id="rId4" Type="http://schemas.openxmlformats.org/officeDocument/2006/relationships/tags" Target="../tags/tag4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47.xml"/><Relationship Id="rId7" Type="http://schemas.openxmlformats.org/officeDocument/2006/relationships/slideMaster" Target="../slideMasters/slideMaster4.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slideMaster" Target="../slideMasters/slideMaster4.xml"/><Relationship Id="rId5" Type="http://schemas.openxmlformats.org/officeDocument/2006/relationships/tags" Target="../tags/tag55.xml"/><Relationship Id="rId4" Type="http://schemas.openxmlformats.org/officeDocument/2006/relationships/tags" Target="../tags/tag54.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4.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slideMaster" Target="../slideMasters/slideMaster4.xml"/><Relationship Id="rId4" Type="http://schemas.openxmlformats.org/officeDocument/2006/relationships/tags" Target="../tags/tag6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2ED28D-4512-7ABE-B34E-940B8B825548}"/>
              </a:ext>
            </a:extLst>
          </p:cNvPr>
          <p:cNvSpPr>
            <a:spLocks noGrp="1"/>
          </p:cNvSpPr>
          <p:nvPr>
            <p:ph type="title"/>
          </p:nvPr>
        </p:nvSpPr>
        <p:spPr>
          <a:xfrm>
            <a:off x="306184" y="1488098"/>
            <a:ext cx="6499351" cy="1940902"/>
          </a:xfrm>
          <a:prstGeom prst="rect">
            <a:avLst/>
          </a:prstGeom>
        </p:spPr>
        <p:txBody>
          <a:bodyPr/>
          <a:lstStyle>
            <a:lvl1pPr>
              <a:defRPr lang="zh-TW" altLang="en-US" sz="3200" b="1" kern="1200" spc="400" dirty="0">
                <a:solidFill>
                  <a:schemeClr val="accent2"/>
                </a:solidFill>
                <a:latin typeface="思源黑体 CN Light" panose="020B0300000000000000" pitchFamily="34" charset="-122"/>
                <a:ea typeface="思源黑体 CN Light" panose="020B0300000000000000" pitchFamily="34" charset="-122"/>
                <a:cs typeface="+mn-ea"/>
              </a:defRPr>
            </a:lvl1pPr>
          </a:lstStyle>
          <a:p>
            <a:r>
              <a:rPr lang="zh-TW" altLang="en-US" dirty="0"/>
              <a:t>按一下以編輯母片標題樣式</a:t>
            </a:r>
          </a:p>
        </p:txBody>
      </p:sp>
      <p:pic>
        <p:nvPicPr>
          <p:cNvPr id="3" name="圖片 2" descr="一張含有 黑色, 黑暗 的圖片&#10;&#10;自動產生的描述">
            <a:extLst>
              <a:ext uri="{FF2B5EF4-FFF2-40B4-BE49-F238E27FC236}">
                <a16:creationId xmlns:a16="http://schemas.microsoft.com/office/drawing/2014/main" id="{62893F27-8040-E89C-904A-D7710D2195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2" y="0"/>
            <a:ext cx="1419622" cy="1419622"/>
          </a:xfrm>
          <a:prstGeom prst="rect">
            <a:avLst/>
          </a:prstGeom>
        </p:spPr>
      </p:pic>
      <p:sp>
        <p:nvSpPr>
          <p:cNvPr id="6" name="內容版面配置區 5">
            <a:extLst>
              <a:ext uri="{FF2B5EF4-FFF2-40B4-BE49-F238E27FC236}">
                <a16:creationId xmlns:a16="http://schemas.microsoft.com/office/drawing/2014/main" id="{B3F2E03F-4CEF-2E89-EAED-996E0CA8B691}"/>
              </a:ext>
            </a:extLst>
          </p:cNvPr>
          <p:cNvSpPr>
            <a:spLocks noGrp="1"/>
          </p:cNvSpPr>
          <p:nvPr>
            <p:ph sz="quarter" idx="10"/>
          </p:nvPr>
        </p:nvSpPr>
        <p:spPr>
          <a:xfrm>
            <a:off x="1295549" y="3745951"/>
            <a:ext cx="4520620" cy="909175"/>
          </a:xfrm>
          <a:prstGeom prst="rect">
            <a:avLst/>
          </a:prstGeom>
        </p:spPr>
        <p:txBody>
          <a:bodyPr/>
          <a:lstStyle>
            <a:lvl1pPr marL="0" indent="0">
              <a:buNone/>
              <a:defRPr lang="zh-TW" altLang="en-US" sz="1800" kern="1200" spc="400" dirty="0" smtClean="0">
                <a:solidFill>
                  <a:schemeClr val="accent2"/>
                </a:solidFill>
                <a:uFillTx/>
                <a:latin typeface="思源黑体 CN Light" panose="020B0300000000000000" pitchFamily="34" charset="-122"/>
                <a:ea typeface="思源黑体 CN Light" panose="020B0300000000000000" pitchFamily="34" charset="-122"/>
                <a:cs typeface="+mn-ea"/>
              </a:defRPr>
            </a:lvl1pPr>
          </a:lstStyle>
          <a:p>
            <a:pPr lvl="0"/>
            <a:r>
              <a:rPr lang="zh-TW" altLang="en-US" dirty="0"/>
              <a:t>按一下以編輯母片文字樣</a:t>
            </a:r>
          </a:p>
        </p:txBody>
      </p:sp>
    </p:spTree>
    <p:extLst>
      <p:ext uri="{BB962C8B-B14F-4D97-AF65-F5344CB8AC3E}">
        <p14:creationId xmlns:p14="http://schemas.microsoft.com/office/powerpoint/2010/main" val="3262809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2ED28D-4512-7ABE-B34E-940B8B825548}"/>
              </a:ext>
            </a:extLst>
          </p:cNvPr>
          <p:cNvSpPr>
            <a:spLocks noGrp="1"/>
          </p:cNvSpPr>
          <p:nvPr>
            <p:ph type="title"/>
          </p:nvPr>
        </p:nvSpPr>
        <p:spPr>
          <a:xfrm>
            <a:off x="306184" y="1488098"/>
            <a:ext cx="6499351" cy="1940902"/>
          </a:xfrm>
          <a:prstGeom prst="rect">
            <a:avLst/>
          </a:prstGeom>
        </p:spPr>
        <p:txBody>
          <a:bodyPr/>
          <a:lstStyle>
            <a:lvl1pPr>
              <a:defRPr lang="zh-TW" altLang="en-US" sz="3200" b="1" kern="1200" spc="400" dirty="0">
                <a:solidFill>
                  <a:schemeClr val="accent2"/>
                </a:solidFill>
                <a:latin typeface="思源黑体 CN Light" panose="020B0300000000000000" pitchFamily="34" charset="-122"/>
                <a:ea typeface="思源黑体 CN Light" panose="020B0300000000000000" pitchFamily="34" charset="-122"/>
                <a:cs typeface="+mn-ea"/>
              </a:defRPr>
            </a:lvl1pPr>
          </a:lstStyle>
          <a:p>
            <a:r>
              <a:rPr lang="zh-TW" altLang="en-US" dirty="0"/>
              <a:t>按一下以編輯母片標題樣式</a:t>
            </a:r>
          </a:p>
        </p:txBody>
      </p:sp>
      <p:pic>
        <p:nvPicPr>
          <p:cNvPr id="3" name="圖片 2" descr="一張含有 黑色, 黑暗 的圖片&#10;&#10;自動產生的描述">
            <a:extLst>
              <a:ext uri="{FF2B5EF4-FFF2-40B4-BE49-F238E27FC236}">
                <a16:creationId xmlns:a16="http://schemas.microsoft.com/office/drawing/2014/main" id="{62893F27-8040-E89C-904A-D7710D2195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2" y="0"/>
            <a:ext cx="1419622" cy="1419622"/>
          </a:xfrm>
          <a:prstGeom prst="rect">
            <a:avLst/>
          </a:prstGeom>
        </p:spPr>
      </p:pic>
      <p:sp>
        <p:nvSpPr>
          <p:cNvPr id="6" name="內容版面配置區 5">
            <a:extLst>
              <a:ext uri="{FF2B5EF4-FFF2-40B4-BE49-F238E27FC236}">
                <a16:creationId xmlns:a16="http://schemas.microsoft.com/office/drawing/2014/main" id="{B3F2E03F-4CEF-2E89-EAED-996E0CA8B691}"/>
              </a:ext>
            </a:extLst>
          </p:cNvPr>
          <p:cNvSpPr>
            <a:spLocks noGrp="1"/>
          </p:cNvSpPr>
          <p:nvPr>
            <p:ph sz="quarter" idx="10"/>
          </p:nvPr>
        </p:nvSpPr>
        <p:spPr>
          <a:xfrm>
            <a:off x="1295549" y="3745951"/>
            <a:ext cx="4520620" cy="909175"/>
          </a:xfrm>
          <a:prstGeom prst="rect">
            <a:avLst/>
          </a:prstGeom>
        </p:spPr>
        <p:txBody>
          <a:bodyPr/>
          <a:lstStyle>
            <a:lvl1pPr marL="0" indent="0">
              <a:buNone/>
              <a:defRPr lang="zh-TW" altLang="en-US" sz="1800" kern="1200" spc="400" dirty="0" smtClean="0">
                <a:solidFill>
                  <a:schemeClr val="accent2"/>
                </a:solidFill>
                <a:uFillTx/>
                <a:latin typeface="思源黑体 CN Light" panose="020B0300000000000000" pitchFamily="34" charset="-122"/>
                <a:ea typeface="思源黑体 CN Light" panose="020B0300000000000000" pitchFamily="34" charset="-122"/>
                <a:cs typeface="+mn-ea"/>
              </a:defRPr>
            </a:lvl1pPr>
          </a:lstStyle>
          <a:p>
            <a:pPr lvl="0"/>
            <a:r>
              <a:rPr lang="zh-TW" altLang="en-US" dirty="0"/>
              <a:t>按一下以編輯母片文字樣</a:t>
            </a:r>
          </a:p>
        </p:txBody>
      </p:sp>
      <p:sp>
        <p:nvSpPr>
          <p:cNvPr id="9" name="文字方塊 8">
            <a:extLst>
              <a:ext uri="{FF2B5EF4-FFF2-40B4-BE49-F238E27FC236}">
                <a16:creationId xmlns:a16="http://schemas.microsoft.com/office/drawing/2014/main" id="{5BCE9F05-5703-DB1A-C5E5-3F6067F4E1F3}"/>
              </a:ext>
            </a:extLst>
          </p:cNvPr>
          <p:cNvSpPr txBox="1"/>
          <p:nvPr userDrawn="1"/>
        </p:nvSpPr>
        <p:spPr>
          <a:xfrm>
            <a:off x="1160910" y="4972077"/>
            <a:ext cx="4789898" cy="461665"/>
          </a:xfrm>
          <a:prstGeom prst="rect">
            <a:avLst/>
          </a:prstGeom>
          <a:noFill/>
        </p:spPr>
        <p:txBody>
          <a:bodyPr wrap="square">
            <a:spAutoFit/>
          </a:bodyPr>
          <a:lstStyle/>
          <a:p>
            <a:pPr algn="ctr"/>
            <a:r>
              <a:rPr lang="en-US" altLang="zh-CN" sz="2400" b="1" spc="400" dirty="0">
                <a:solidFill>
                  <a:schemeClr val="accent2"/>
                </a:solidFill>
                <a:latin typeface="思源黑体 CN Light" panose="020B0300000000000000" pitchFamily="34" charset="-122"/>
                <a:ea typeface="思源黑体 CN Light" panose="020B0300000000000000" pitchFamily="34" charset="-122"/>
                <a:cs typeface="+mn-ea"/>
                <a:sym typeface="思源宋体 CN Light" panose="02020300000000000000" pitchFamily="18" charset="-122"/>
              </a:rPr>
              <a:t>The End</a:t>
            </a:r>
            <a:endParaRPr lang="zh-CN" altLang="en-US" sz="2400" b="1" spc="400" dirty="0">
              <a:solidFill>
                <a:schemeClr val="accent2"/>
              </a:solidFill>
              <a:uFillTx/>
              <a:latin typeface="思源黑体 CN Light" panose="020B0300000000000000" pitchFamily="34" charset="-122"/>
              <a:ea typeface="思源黑体 CN Light" panose="020B0300000000000000" pitchFamily="34" charset="-122"/>
              <a:cs typeface="+mn-ea"/>
              <a:sym typeface="思源宋体 CN Light" panose="02020300000000000000" pitchFamily="18" charset="-122"/>
            </a:endParaRPr>
          </a:p>
        </p:txBody>
      </p:sp>
    </p:spTree>
    <p:extLst>
      <p:ext uri="{BB962C8B-B14F-4D97-AF65-F5344CB8AC3E}">
        <p14:creationId xmlns:p14="http://schemas.microsoft.com/office/powerpoint/2010/main" val="4283342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lvl1pPr>
              <a:defRPr lang="zh-CN" altLang="en-US" sz="4400" b="1" kern="1200">
                <a:solidFill>
                  <a:schemeClr val="accent2"/>
                </a:solidFill>
                <a:latin typeface="Microsoft JhengHei" panose="020B0604030504040204" pitchFamily="34" charset="-120"/>
                <a:ea typeface="Microsoft JhengHei" panose="020B0604030504040204" pitchFamily="34" charset="-120"/>
                <a:cs typeface="+mn-ea"/>
              </a:defRPr>
            </a:lvl1pPr>
          </a:lstStyle>
          <a:p>
            <a:r>
              <a:rPr lang="zh-TW" altLang="en-US" dirty="0"/>
              <a:t>按一下以編輯母片標題樣式</a:t>
            </a:r>
            <a:endParaRPr lang="zh-CN" altLang="en-US" dirty="0"/>
          </a:p>
        </p:txBody>
      </p:sp>
      <p:sp>
        <p:nvSpPr>
          <p:cNvPr id="3" name="内容占位符 2"/>
          <p:cNvSpPr>
            <a:spLocks noGrp="1"/>
          </p:cNvSpPr>
          <p:nvPr>
            <p:ph idx="1"/>
          </p:nvPr>
        </p:nvSpPr>
        <p:spPr>
          <a:xfrm>
            <a:off x="929639" y="1369137"/>
            <a:ext cx="5056823" cy="4119726"/>
          </a:xfrm>
        </p:spPr>
        <p:txBody>
          <a:bodyPr/>
          <a:lstStyle>
            <a:lvl1pPr marL="514350" indent="-514350">
              <a:buClr>
                <a:schemeClr val="accent1"/>
              </a:buClr>
              <a:buFont typeface="+mj-ea"/>
              <a:buAutoNum type="ea1ChtPeriod"/>
              <a:defRPr lang="zh-TW" altLang="en-US" sz="2800" b="1" kern="1200" dirty="0" smtClean="0">
                <a:solidFill>
                  <a:schemeClr val="tx2"/>
                </a:solidFill>
                <a:latin typeface="Microsoft JhengHei" panose="020B0604030504040204" pitchFamily="34" charset="-120"/>
                <a:ea typeface="Microsoft JhengHei" panose="020B0604030504040204" pitchFamily="34" charset="-120"/>
                <a:cs typeface="+mn-ea"/>
              </a:defRPr>
            </a:lvl1pPr>
            <a:lvl2pPr marL="913542" indent="-457200">
              <a:buClr>
                <a:schemeClr val="accent1"/>
              </a:buClr>
              <a:buFont typeface="+mj-lt"/>
              <a:buAutoNum type="arabicPeriod"/>
              <a:defRPr lang="zh-TW" altLang="en-US" sz="2400" b="1" kern="1200" dirty="0" smtClean="0">
                <a:solidFill>
                  <a:schemeClr val="tx2"/>
                </a:solidFill>
                <a:latin typeface="Microsoft JhengHei" panose="020B0604030504040204" pitchFamily="34" charset="-120"/>
                <a:ea typeface="Microsoft JhengHei" panose="020B0604030504040204" pitchFamily="34" charset="-120"/>
                <a:cs typeface="+mn-ea"/>
              </a:defRPr>
            </a:lvl2pPr>
            <a:lvl3pPr marL="1370731" indent="-457200">
              <a:buClr>
                <a:schemeClr val="accent1"/>
              </a:buClr>
              <a:buFont typeface="+mj-lt"/>
              <a:buAutoNum type="alphaLcPeriod"/>
              <a:defRPr lang="zh-TW" altLang="en-US" sz="2000" b="1" kern="1200" dirty="0">
                <a:solidFill>
                  <a:schemeClr val="tx2"/>
                </a:solidFill>
                <a:latin typeface="Microsoft JhengHei" panose="020B0604030504040204" pitchFamily="34" charset="-120"/>
                <a:ea typeface="Microsoft JhengHei" panose="020B0604030504040204" pitchFamily="34" charset="-120"/>
                <a:cs typeface="+mn-ea"/>
              </a:defRPr>
            </a:lvl3pPr>
            <a:lvl4pPr>
              <a:defRPr>
                <a:solidFill>
                  <a:schemeClr val="accent4">
                    <a:lumMod val="100000"/>
                  </a:schemeClr>
                </a:solidFill>
              </a:defRPr>
            </a:lvl4pPr>
            <a:lvl5pPr>
              <a:defRPr>
                <a:solidFill>
                  <a:schemeClr val="accent4">
                    <a:lumMod val="100000"/>
                  </a:schemeClr>
                </a:solidFill>
              </a:defRPr>
            </a:lvl5pPr>
          </a:lstStyle>
          <a:p>
            <a:pPr lvl="0"/>
            <a:r>
              <a:rPr lang="zh-TW" altLang="en-US" dirty="0"/>
              <a:t>按一下以編輯母片文字樣式</a:t>
            </a:r>
          </a:p>
          <a:p>
            <a:pPr lvl="1"/>
            <a:r>
              <a:rPr lang="zh-TW" altLang="en-US" dirty="0"/>
              <a:t>第二層</a:t>
            </a:r>
          </a:p>
          <a:p>
            <a:pPr lvl="2"/>
            <a:r>
              <a:rPr lang="zh-TW" altLang="en-US" dirty="0"/>
              <a:t>第三層</a:t>
            </a:r>
          </a:p>
        </p:txBody>
      </p:sp>
      <p:sp>
        <p:nvSpPr>
          <p:cNvPr id="4" name="矩形 3">
            <a:extLst>
              <a:ext uri="{FF2B5EF4-FFF2-40B4-BE49-F238E27FC236}">
                <a16:creationId xmlns:a16="http://schemas.microsoft.com/office/drawing/2014/main" id="{DE5619D3-8B01-9D88-17E6-6AE0F70024A1}"/>
              </a:ext>
            </a:extLst>
          </p:cNvPr>
          <p:cNvSpPr/>
          <p:nvPr userDrawn="1"/>
        </p:nvSpPr>
        <p:spPr>
          <a:xfrm>
            <a:off x="519143" y="5488863"/>
            <a:ext cx="1197569" cy="1369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11032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6" name="內容版面配置區 5">
            <a:extLst>
              <a:ext uri="{FF2B5EF4-FFF2-40B4-BE49-F238E27FC236}">
                <a16:creationId xmlns:a16="http://schemas.microsoft.com/office/drawing/2014/main" id="{5458063A-B8E8-8492-FDE5-8CAB1F3E3908}"/>
              </a:ext>
            </a:extLst>
          </p:cNvPr>
          <p:cNvSpPr>
            <a:spLocks noGrp="1"/>
          </p:cNvSpPr>
          <p:nvPr>
            <p:ph sz="quarter" idx="10" hasCustomPrompt="1"/>
          </p:nvPr>
        </p:nvSpPr>
        <p:spPr>
          <a:xfrm>
            <a:off x="6422304" y="2843357"/>
            <a:ext cx="3608387" cy="1171286"/>
          </a:xfrm>
          <a:prstGeom prst="rect">
            <a:avLst/>
          </a:prstGeom>
        </p:spPr>
        <p:txBody>
          <a:bodyPr/>
          <a:lstStyle>
            <a:lvl1pPr marL="742950" indent="-742950">
              <a:buClr>
                <a:schemeClr val="accent1"/>
              </a:buClr>
              <a:buFont typeface="+mj-ea"/>
              <a:buAutoNum type="ea1ChtPeriod"/>
              <a:defRPr kumimoji="1" lang="zh-TW" altLang="en-US" sz="4400" b="1" kern="1200" dirty="0" smtClean="0">
                <a:solidFill>
                  <a:schemeClr val="accent2"/>
                </a:solidFill>
                <a:latin typeface="Microsoft JhengHei" panose="020B0604030504040204" pitchFamily="34" charset="-120"/>
                <a:ea typeface="Microsoft JhengHei" panose="020B0604030504040204" pitchFamily="34" charset="-120"/>
                <a:cs typeface="+mn-cs"/>
              </a:defRPr>
            </a:lvl1pPr>
          </a:lstStyle>
          <a:p>
            <a:pPr lvl="0"/>
            <a:r>
              <a:rPr lang="zh-TW" altLang="en-US" dirty="0"/>
              <a:t> 按一下以編輯母片文字樣式</a:t>
            </a:r>
          </a:p>
        </p:txBody>
      </p:sp>
    </p:spTree>
    <p:extLst>
      <p:ext uri="{BB962C8B-B14F-4D97-AF65-F5344CB8AC3E}">
        <p14:creationId xmlns:p14="http://schemas.microsoft.com/office/powerpoint/2010/main" val="2549124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6" name="內容版面配置區 5">
            <a:extLst>
              <a:ext uri="{FF2B5EF4-FFF2-40B4-BE49-F238E27FC236}">
                <a16:creationId xmlns:a16="http://schemas.microsoft.com/office/drawing/2014/main" id="{5458063A-B8E8-8492-FDE5-8CAB1F3E3908}"/>
              </a:ext>
            </a:extLst>
          </p:cNvPr>
          <p:cNvSpPr>
            <a:spLocks noGrp="1"/>
          </p:cNvSpPr>
          <p:nvPr>
            <p:ph sz="quarter" idx="10"/>
          </p:nvPr>
        </p:nvSpPr>
        <p:spPr>
          <a:xfrm>
            <a:off x="3935413" y="2843357"/>
            <a:ext cx="7917151" cy="1171286"/>
          </a:xfrm>
          <a:prstGeom prst="rect">
            <a:avLst/>
          </a:prstGeom>
        </p:spPr>
        <p:txBody>
          <a:bodyPr/>
          <a:lstStyle>
            <a:lvl1pPr marL="742950" indent="-742950">
              <a:buClr>
                <a:schemeClr val="accent1"/>
              </a:buClr>
              <a:buFont typeface="+mj-lt"/>
              <a:buAutoNum type="arabicPeriod"/>
              <a:defRPr kumimoji="1" lang="zh-TW" altLang="en-US" sz="4400" b="1" kern="1200" dirty="0" smtClean="0">
                <a:solidFill>
                  <a:schemeClr val="accent2"/>
                </a:solidFill>
                <a:latin typeface="Microsoft JhengHei" panose="020B0604030504040204" pitchFamily="34" charset="-120"/>
                <a:ea typeface="Microsoft JhengHei" panose="020B0604030504040204" pitchFamily="34" charset="-120"/>
                <a:cs typeface="+mn-cs"/>
              </a:defRPr>
            </a:lvl1pPr>
          </a:lstStyle>
          <a:p>
            <a:pPr lvl="0"/>
            <a:r>
              <a:rPr lang="zh-TW" altLang="en-US" dirty="0"/>
              <a:t>按一下以編輯母片文字樣式</a:t>
            </a:r>
          </a:p>
        </p:txBody>
      </p:sp>
    </p:spTree>
    <p:extLst>
      <p:ext uri="{BB962C8B-B14F-4D97-AF65-F5344CB8AC3E}">
        <p14:creationId xmlns:p14="http://schemas.microsoft.com/office/powerpoint/2010/main" val="1549265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DA873B5-E79B-669B-4D3E-A489782243AC}"/>
              </a:ext>
            </a:extLst>
          </p:cNvPr>
          <p:cNvSpPr/>
          <p:nvPr userDrawn="1"/>
        </p:nvSpPr>
        <p:spPr>
          <a:xfrm>
            <a:off x="3185652" y="1421745"/>
            <a:ext cx="1445342" cy="16518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內容版面配置區 5">
            <a:extLst>
              <a:ext uri="{FF2B5EF4-FFF2-40B4-BE49-F238E27FC236}">
                <a16:creationId xmlns:a16="http://schemas.microsoft.com/office/drawing/2014/main" id="{5458063A-B8E8-8492-FDE5-8CAB1F3E3908}"/>
              </a:ext>
            </a:extLst>
          </p:cNvPr>
          <p:cNvSpPr>
            <a:spLocks noGrp="1"/>
          </p:cNvSpPr>
          <p:nvPr>
            <p:ph sz="quarter" idx="10"/>
          </p:nvPr>
        </p:nvSpPr>
        <p:spPr>
          <a:xfrm>
            <a:off x="3935413" y="2843357"/>
            <a:ext cx="7917151" cy="1171286"/>
          </a:xfrm>
          <a:prstGeom prst="rect">
            <a:avLst/>
          </a:prstGeom>
        </p:spPr>
        <p:txBody>
          <a:bodyPr/>
          <a:lstStyle>
            <a:lvl1pPr marL="742950" indent="-742950">
              <a:buClr>
                <a:schemeClr val="accent1"/>
              </a:buClr>
              <a:buFont typeface="+mj-lt"/>
              <a:buAutoNum type="arabicPeriod"/>
              <a:defRPr kumimoji="1" lang="zh-TW" altLang="en-US" sz="4400" b="1" kern="1200" dirty="0" smtClean="0">
                <a:solidFill>
                  <a:schemeClr val="accent2"/>
                </a:solidFill>
                <a:latin typeface="Microsoft JhengHei" panose="020B0604030504040204" pitchFamily="34" charset="-120"/>
                <a:ea typeface="Microsoft JhengHei" panose="020B0604030504040204" pitchFamily="34" charset="-120"/>
                <a:cs typeface="+mn-cs"/>
              </a:defRPr>
            </a:lvl1pPr>
          </a:lstStyle>
          <a:p>
            <a:pPr lvl="0"/>
            <a:r>
              <a:rPr lang="zh-TW" altLang="en-US" dirty="0"/>
              <a:t>按一下以編輯母片文字樣式</a:t>
            </a:r>
          </a:p>
        </p:txBody>
      </p:sp>
    </p:spTree>
    <p:extLst>
      <p:ext uri="{BB962C8B-B14F-4D97-AF65-F5344CB8AC3E}">
        <p14:creationId xmlns:p14="http://schemas.microsoft.com/office/powerpoint/2010/main" val="743988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文字版面配置區 4">
            <a:extLst>
              <a:ext uri="{FF2B5EF4-FFF2-40B4-BE49-F238E27FC236}">
                <a16:creationId xmlns:a16="http://schemas.microsoft.com/office/drawing/2014/main" id="{5DD1C602-2264-3032-C8E9-31FC6209F386}"/>
              </a:ext>
            </a:extLst>
          </p:cNvPr>
          <p:cNvSpPr>
            <a:spLocks noGrp="1"/>
          </p:cNvSpPr>
          <p:nvPr>
            <p:ph type="body" sz="quarter" idx="10"/>
          </p:nvPr>
        </p:nvSpPr>
        <p:spPr>
          <a:xfrm>
            <a:off x="2098386" y="200315"/>
            <a:ext cx="5840413" cy="436563"/>
          </a:xfrm>
          <a:prstGeom prst="rect">
            <a:avLst/>
          </a:prstGeom>
        </p:spPr>
        <p:txBody>
          <a:bodyPr/>
          <a:lstStyle>
            <a:lvl1pPr marL="0" indent="0">
              <a:buNone/>
              <a:defRPr lang="zh-TW" altLang="en-US" sz="3200" b="1" kern="1200" dirty="0" smtClean="0">
                <a:solidFill>
                  <a:schemeClr val="tx2"/>
                </a:solidFill>
                <a:latin typeface="Microsoft JhengHei" panose="020B0604030504040204" pitchFamily="34" charset="-120"/>
                <a:ea typeface="Microsoft JhengHei" panose="020B0604030504040204" pitchFamily="34" charset="-120"/>
                <a:cs typeface="+mn-ea"/>
              </a:defRPr>
            </a:lvl1pPr>
          </a:lstStyle>
          <a:p>
            <a:pPr lvl="0"/>
            <a:r>
              <a:rPr lang="zh-TW" altLang="en-US" dirty="0"/>
              <a:t>按一下以編輯母片文字樣式</a:t>
            </a:r>
          </a:p>
        </p:txBody>
      </p:sp>
      <p:sp>
        <p:nvSpPr>
          <p:cNvPr id="3" name="內容版面配置區 6">
            <a:extLst>
              <a:ext uri="{FF2B5EF4-FFF2-40B4-BE49-F238E27FC236}">
                <a16:creationId xmlns:a16="http://schemas.microsoft.com/office/drawing/2014/main" id="{BA0ACB05-2D81-49FC-EB14-26E38FC0C7FE}"/>
              </a:ext>
            </a:extLst>
          </p:cNvPr>
          <p:cNvSpPr>
            <a:spLocks noGrp="1"/>
          </p:cNvSpPr>
          <p:nvPr>
            <p:ph sz="quarter" idx="11"/>
          </p:nvPr>
        </p:nvSpPr>
        <p:spPr>
          <a:xfrm>
            <a:off x="1268268" y="200314"/>
            <a:ext cx="830118" cy="436564"/>
          </a:xfrm>
          <a:prstGeom prst="rect">
            <a:avLst/>
          </a:prstGeom>
        </p:spPr>
        <p:txBody>
          <a:bodyPr/>
          <a:lstStyle>
            <a:lvl1pPr marL="0" indent="0">
              <a:buNone/>
              <a:defRPr lang="zh-TW" altLang="en-US" sz="3200" b="1" kern="1200" dirty="0" smtClean="0">
                <a:solidFill>
                  <a:schemeClr val="accent1"/>
                </a:solidFill>
                <a:latin typeface="Microsoft JhengHei" panose="020B0604030504040204" pitchFamily="34" charset="-120"/>
                <a:ea typeface="Microsoft JhengHei" panose="020B0604030504040204" pitchFamily="34" charset="-120"/>
                <a:cs typeface="+mn-ea"/>
              </a:defRPr>
            </a:lvl1pPr>
          </a:lstStyle>
          <a:p>
            <a:pPr lvl="0"/>
            <a:r>
              <a:rPr lang="zh-TW" altLang="en-US" dirty="0"/>
              <a:t>按一下以編輯母片文字樣式</a:t>
            </a:r>
          </a:p>
        </p:txBody>
      </p:sp>
    </p:spTree>
    <p:extLst>
      <p:ext uri="{BB962C8B-B14F-4D97-AF65-F5344CB8AC3E}">
        <p14:creationId xmlns:p14="http://schemas.microsoft.com/office/powerpoint/2010/main" val="1074277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文字版面配置區 4">
            <a:extLst>
              <a:ext uri="{FF2B5EF4-FFF2-40B4-BE49-F238E27FC236}">
                <a16:creationId xmlns:a16="http://schemas.microsoft.com/office/drawing/2014/main" id="{ED986BE4-DF25-9D06-526D-01FB13F0487C}"/>
              </a:ext>
            </a:extLst>
          </p:cNvPr>
          <p:cNvSpPr>
            <a:spLocks noGrp="1"/>
          </p:cNvSpPr>
          <p:nvPr>
            <p:ph type="body" sz="quarter" idx="10"/>
          </p:nvPr>
        </p:nvSpPr>
        <p:spPr>
          <a:xfrm>
            <a:off x="2098386" y="200315"/>
            <a:ext cx="5840413" cy="436563"/>
          </a:xfrm>
          <a:prstGeom prst="rect">
            <a:avLst/>
          </a:prstGeom>
        </p:spPr>
        <p:txBody>
          <a:bodyPr/>
          <a:lstStyle>
            <a:lvl1pPr marL="0" indent="0">
              <a:buNone/>
              <a:defRPr lang="zh-TW" altLang="en-US" sz="3200" b="1" kern="1200" dirty="0" smtClean="0">
                <a:solidFill>
                  <a:schemeClr val="tx2"/>
                </a:solidFill>
                <a:latin typeface="Microsoft JhengHei" panose="020B0604030504040204" pitchFamily="34" charset="-120"/>
                <a:ea typeface="Microsoft JhengHei" panose="020B0604030504040204" pitchFamily="34" charset="-120"/>
                <a:cs typeface="+mn-ea"/>
              </a:defRPr>
            </a:lvl1pPr>
          </a:lstStyle>
          <a:p>
            <a:pPr lvl="0"/>
            <a:r>
              <a:rPr lang="zh-TW" altLang="en-US" dirty="0"/>
              <a:t>按一下以編輯母片文字樣式</a:t>
            </a:r>
          </a:p>
        </p:txBody>
      </p:sp>
      <p:sp>
        <p:nvSpPr>
          <p:cNvPr id="7" name="內容版面配置區 6">
            <a:extLst>
              <a:ext uri="{FF2B5EF4-FFF2-40B4-BE49-F238E27FC236}">
                <a16:creationId xmlns:a16="http://schemas.microsoft.com/office/drawing/2014/main" id="{5059B92F-BBB6-02F5-86A6-F54694A4BF53}"/>
              </a:ext>
            </a:extLst>
          </p:cNvPr>
          <p:cNvSpPr>
            <a:spLocks noGrp="1"/>
          </p:cNvSpPr>
          <p:nvPr>
            <p:ph sz="quarter" idx="11"/>
          </p:nvPr>
        </p:nvSpPr>
        <p:spPr>
          <a:xfrm>
            <a:off x="1268268" y="200314"/>
            <a:ext cx="830118" cy="436564"/>
          </a:xfrm>
          <a:prstGeom prst="rect">
            <a:avLst/>
          </a:prstGeom>
        </p:spPr>
        <p:txBody>
          <a:bodyPr/>
          <a:lstStyle>
            <a:lvl1pPr marL="0" indent="0">
              <a:buNone/>
              <a:defRPr lang="zh-TW" altLang="en-US" sz="3200" b="1" kern="1200" dirty="0" smtClean="0">
                <a:solidFill>
                  <a:schemeClr val="accent1"/>
                </a:solidFill>
                <a:latin typeface="Microsoft JhengHei" panose="020B0604030504040204" pitchFamily="34" charset="-120"/>
                <a:ea typeface="Microsoft JhengHei" panose="020B0604030504040204" pitchFamily="34" charset="-120"/>
                <a:cs typeface="+mn-ea"/>
              </a:defRPr>
            </a:lvl1pPr>
          </a:lstStyle>
          <a:p>
            <a:pPr lvl="0"/>
            <a:r>
              <a:rPr lang="zh-TW" altLang="en-US" dirty="0"/>
              <a:t>按一下以編輯母片文字樣式</a:t>
            </a:r>
          </a:p>
        </p:txBody>
      </p:sp>
      <p:sp>
        <p:nvSpPr>
          <p:cNvPr id="8" name="文字版面配置區 4">
            <a:extLst>
              <a:ext uri="{FF2B5EF4-FFF2-40B4-BE49-F238E27FC236}">
                <a16:creationId xmlns:a16="http://schemas.microsoft.com/office/drawing/2014/main" id="{A0259C03-6F25-51F5-F806-9AE030D2F220}"/>
              </a:ext>
            </a:extLst>
          </p:cNvPr>
          <p:cNvSpPr>
            <a:spLocks noGrp="1"/>
          </p:cNvSpPr>
          <p:nvPr>
            <p:ph type="body" sz="quarter" idx="12"/>
          </p:nvPr>
        </p:nvSpPr>
        <p:spPr>
          <a:xfrm>
            <a:off x="1268268" y="1121641"/>
            <a:ext cx="5840413" cy="436563"/>
          </a:xfrm>
          <a:prstGeom prst="rect">
            <a:avLst/>
          </a:prstGeom>
        </p:spPr>
        <p:txBody>
          <a:bodyPr/>
          <a:lstStyle>
            <a:lvl1pPr marL="0" indent="0">
              <a:buNone/>
              <a:defRPr lang="zh-TW" altLang="en-US" sz="2800" b="1" kern="1200" dirty="0" smtClean="0">
                <a:solidFill>
                  <a:schemeClr val="tx2"/>
                </a:solidFill>
                <a:latin typeface="Microsoft JhengHei" panose="020B0604030504040204" pitchFamily="34" charset="-120"/>
                <a:ea typeface="Microsoft JhengHei" panose="020B0604030504040204" pitchFamily="34" charset="-120"/>
                <a:cs typeface="+mn-ea"/>
              </a:defRPr>
            </a:lvl1pPr>
          </a:lstStyle>
          <a:p>
            <a:pPr lvl="0"/>
            <a:r>
              <a:rPr lang="zh-TW" altLang="en-US" dirty="0"/>
              <a:t>按一下以編輯母片文字樣式</a:t>
            </a:r>
          </a:p>
        </p:txBody>
      </p:sp>
      <p:sp>
        <p:nvSpPr>
          <p:cNvPr id="9" name="內容版面配置區 6">
            <a:extLst>
              <a:ext uri="{FF2B5EF4-FFF2-40B4-BE49-F238E27FC236}">
                <a16:creationId xmlns:a16="http://schemas.microsoft.com/office/drawing/2014/main" id="{F55AD2F7-7F10-FCC9-3B3B-80E049634063}"/>
              </a:ext>
            </a:extLst>
          </p:cNvPr>
          <p:cNvSpPr>
            <a:spLocks noGrp="1"/>
          </p:cNvSpPr>
          <p:nvPr>
            <p:ph sz="quarter" idx="13"/>
          </p:nvPr>
        </p:nvSpPr>
        <p:spPr>
          <a:xfrm>
            <a:off x="438150" y="1121640"/>
            <a:ext cx="754495" cy="436564"/>
          </a:xfrm>
          <a:prstGeom prst="rect">
            <a:avLst/>
          </a:prstGeom>
        </p:spPr>
        <p:txBody>
          <a:bodyPr/>
          <a:lstStyle>
            <a:lvl1pPr marL="0" indent="0">
              <a:buNone/>
              <a:defRPr lang="zh-TW" altLang="en-US" sz="2800" b="1" kern="1200" dirty="0" smtClean="0">
                <a:solidFill>
                  <a:schemeClr val="accent1"/>
                </a:solidFill>
                <a:latin typeface="Microsoft JhengHei" panose="020B0604030504040204" pitchFamily="34" charset="-120"/>
                <a:ea typeface="Microsoft JhengHei" panose="020B0604030504040204" pitchFamily="34" charset="-120"/>
                <a:cs typeface="+mn-ea"/>
              </a:defRPr>
            </a:lvl1pPr>
          </a:lstStyle>
          <a:p>
            <a:pPr lvl="0"/>
            <a:r>
              <a:rPr lang="zh-TW" altLang="en-US" dirty="0"/>
              <a:t>按一下以編輯母片文字樣式</a:t>
            </a:r>
          </a:p>
        </p:txBody>
      </p:sp>
      <p:sp>
        <p:nvSpPr>
          <p:cNvPr id="3" name="內容版面配置區 2">
            <a:extLst>
              <a:ext uri="{FF2B5EF4-FFF2-40B4-BE49-F238E27FC236}">
                <a16:creationId xmlns:a16="http://schemas.microsoft.com/office/drawing/2014/main" id="{79DC5D4A-C53C-363D-779F-CA1A7BA72A4D}"/>
              </a:ext>
            </a:extLst>
          </p:cNvPr>
          <p:cNvSpPr>
            <a:spLocks noGrp="1"/>
          </p:cNvSpPr>
          <p:nvPr>
            <p:ph sz="quarter" idx="14"/>
          </p:nvPr>
        </p:nvSpPr>
        <p:spPr>
          <a:xfrm>
            <a:off x="1268413" y="1984375"/>
            <a:ext cx="9998075" cy="4116388"/>
          </a:xfrm>
          <a:prstGeom prst="rect">
            <a:avLst/>
          </a:prstGeom>
        </p:spPr>
        <p:txBody>
          <a:bodyPr/>
          <a:lstStyle>
            <a:lvl1pPr marL="0" indent="0">
              <a:buNone/>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1pPr>
            <a:lvl2pPr marL="913542" indent="-457200">
              <a:buClr>
                <a:schemeClr val="accent1"/>
              </a:buClr>
              <a:buFont typeface="+mj-lt"/>
              <a:buAutoNum type="arabicPeriod"/>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2pPr>
            <a:lvl3pPr>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3pPr>
            <a:lvl4pPr>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4pPr>
            <a:lvl5pPr>
              <a:defRPr lang="zh-TW" altLang="en-US" sz="2000" b="1" kern="1200" dirty="0">
                <a:solidFill>
                  <a:schemeClr val="tx2"/>
                </a:solidFill>
                <a:latin typeface="Microsoft JhengHei" panose="020B0604030504040204" pitchFamily="34" charset="-120"/>
                <a:ea typeface="Microsoft JhengHei" panose="020B0604030504040204" pitchFamily="34" charset="-120"/>
                <a:cs typeface="+mn-ea"/>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40937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文字版面配置區 4">
            <a:extLst>
              <a:ext uri="{FF2B5EF4-FFF2-40B4-BE49-F238E27FC236}">
                <a16:creationId xmlns:a16="http://schemas.microsoft.com/office/drawing/2014/main" id="{5DD1C602-2264-3032-C8E9-31FC6209F386}"/>
              </a:ext>
            </a:extLst>
          </p:cNvPr>
          <p:cNvSpPr>
            <a:spLocks noGrp="1"/>
          </p:cNvSpPr>
          <p:nvPr>
            <p:ph type="body" sz="quarter" idx="10"/>
          </p:nvPr>
        </p:nvSpPr>
        <p:spPr>
          <a:xfrm>
            <a:off x="2098386" y="200315"/>
            <a:ext cx="5840413" cy="436563"/>
          </a:xfrm>
          <a:prstGeom prst="rect">
            <a:avLst/>
          </a:prstGeom>
        </p:spPr>
        <p:txBody>
          <a:bodyPr/>
          <a:lstStyle>
            <a:lvl1pPr marL="0" indent="0">
              <a:buNone/>
              <a:defRPr lang="zh-TW" altLang="en-US" sz="3200" b="1" kern="1200" dirty="0" smtClean="0">
                <a:solidFill>
                  <a:schemeClr val="tx2"/>
                </a:solidFill>
                <a:latin typeface="Microsoft JhengHei" panose="020B0604030504040204" pitchFamily="34" charset="-120"/>
                <a:ea typeface="Microsoft JhengHei" panose="020B0604030504040204" pitchFamily="34" charset="-120"/>
                <a:cs typeface="+mn-ea"/>
              </a:defRPr>
            </a:lvl1pPr>
          </a:lstStyle>
          <a:p>
            <a:pPr lvl="0"/>
            <a:r>
              <a:rPr lang="zh-TW" altLang="en-US" dirty="0"/>
              <a:t>按一下以編輯母片文字樣式</a:t>
            </a:r>
          </a:p>
        </p:txBody>
      </p:sp>
      <p:sp>
        <p:nvSpPr>
          <p:cNvPr id="3" name="內容版面配置區 6">
            <a:extLst>
              <a:ext uri="{FF2B5EF4-FFF2-40B4-BE49-F238E27FC236}">
                <a16:creationId xmlns:a16="http://schemas.microsoft.com/office/drawing/2014/main" id="{BA0ACB05-2D81-49FC-EB14-26E38FC0C7FE}"/>
              </a:ext>
            </a:extLst>
          </p:cNvPr>
          <p:cNvSpPr>
            <a:spLocks noGrp="1"/>
          </p:cNvSpPr>
          <p:nvPr>
            <p:ph sz="quarter" idx="11"/>
          </p:nvPr>
        </p:nvSpPr>
        <p:spPr>
          <a:xfrm>
            <a:off x="1268268" y="200314"/>
            <a:ext cx="830118" cy="436564"/>
          </a:xfrm>
          <a:prstGeom prst="rect">
            <a:avLst/>
          </a:prstGeom>
        </p:spPr>
        <p:txBody>
          <a:bodyPr/>
          <a:lstStyle>
            <a:lvl1pPr marL="0" indent="0">
              <a:buNone/>
              <a:defRPr lang="zh-TW" altLang="en-US" sz="3200" b="1" kern="1200" dirty="0" smtClean="0">
                <a:solidFill>
                  <a:schemeClr val="accent1"/>
                </a:solidFill>
                <a:latin typeface="Microsoft JhengHei" panose="020B0604030504040204" pitchFamily="34" charset="-120"/>
                <a:ea typeface="Microsoft JhengHei" panose="020B0604030504040204" pitchFamily="34" charset="-120"/>
                <a:cs typeface="+mn-ea"/>
              </a:defRPr>
            </a:lvl1pPr>
          </a:lstStyle>
          <a:p>
            <a:pPr lvl="0"/>
            <a:r>
              <a:rPr lang="zh-TW" altLang="en-US" dirty="0"/>
              <a:t>按一下以編輯母片文字樣式</a:t>
            </a:r>
          </a:p>
        </p:txBody>
      </p:sp>
    </p:spTree>
    <p:extLst>
      <p:ext uri="{BB962C8B-B14F-4D97-AF65-F5344CB8AC3E}">
        <p14:creationId xmlns:p14="http://schemas.microsoft.com/office/powerpoint/2010/main" val="343966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4340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416170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348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6745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lvl1pPr>
              <a:defRPr>
                <a:solidFill>
                  <a:schemeClr val="accent4">
                    <a:lumMod val="100000"/>
                  </a:schemeClr>
                </a:solidFill>
              </a:defRPr>
            </a:lvl1pPr>
          </a:lstStyle>
          <a:p>
            <a:r>
              <a:rPr lang="zh-TW" altLang="en-US"/>
              <a:t>按一下以編輯母片標題樣式</a:t>
            </a:r>
            <a:endParaRPr lang="zh-CN" altLang="en-US"/>
          </a:p>
        </p:txBody>
      </p:sp>
      <p:sp>
        <p:nvSpPr>
          <p:cNvPr id="3" name="内容占位符 2"/>
          <p:cNvSpPr>
            <a:spLocks noGrp="1"/>
          </p:cNvSpPr>
          <p:nvPr>
            <p:ph idx="1"/>
          </p:nvPr>
        </p:nvSpPr>
        <p:spPr>
          <a:xfrm>
            <a:off x="838200" y="1825625"/>
            <a:ext cx="10515600" cy="4351339"/>
          </a:xfrm>
        </p:spPr>
        <p:txBody>
          <a:bodyPr/>
          <a:lstStyle>
            <a:lvl1pPr>
              <a:defRPr>
                <a:solidFill>
                  <a:schemeClr val="accent4">
                    <a:lumMod val="100000"/>
                  </a:schemeClr>
                </a:solidFill>
              </a:defRPr>
            </a:lvl1pPr>
            <a:lvl2pPr>
              <a:defRPr>
                <a:solidFill>
                  <a:schemeClr val="accent4">
                    <a:lumMod val="100000"/>
                  </a:schemeClr>
                </a:solidFill>
              </a:defRPr>
            </a:lvl2pPr>
            <a:lvl3pPr>
              <a:defRPr>
                <a:solidFill>
                  <a:schemeClr val="accent4">
                    <a:lumMod val="100000"/>
                  </a:schemeClr>
                </a:solidFill>
              </a:defRPr>
            </a:lvl3pPr>
            <a:lvl4pPr>
              <a:defRPr>
                <a:solidFill>
                  <a:schemeClr val="accent4">
                    <a:lumMod val="100000"/>
                  </a:schemeClr>
                </a:solidFill>
              </a:defRPr>
            </a:lvl4pPr>
            <a:lvl5pPr>
              <a:defRPr>
                <a:solidFill>
                  <a:schemeClr val="accent4">
                    <a:lumMod val="100000"/>
                  </a:schemeClr>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a:p>
        </p:txBody>
      </p:sp>
      <p:sp>
        <p:nvSpPr>
          <p:cNvPr id="4" name="日期占位符 3"/>
          <p:cNvSpPr>
            <a:spLocks noGrp="1"/>
          </p:cNvSpPr>
          <p:nvPr>
            <p:ph type="dt" sz="half" idx="10"/>
          </p:nvPr>
        </p:nvSpPr>
        <p:spPr>
          <a:xfrm>
            <a:off x="838200" y="6356351"/>
            <a:ext cx="2743200" cy="365125"/>
          </a:xfrm>
        </p:spPr>
        <p:txBody>
          <a:bodyPr/>
          <a:lstStyle>
            <a:lvl1pPr>
              <a:defRPr>
                <a:solidFill>
                  <a:schemeClr val="accent4">
                    <a:lumMod val="100000"/>
                  </a:schemeClr>
                </a:solidFill>
              </a:defRPr>
            </a:lvl1pPr>
          </a:lstStyle>
          <a:p>
            <a:endParaRPr lang="zh-CN" altLang="en-US"/>
          </a:p>
        </p:txBody>
      </p:sp>
      <p:sp>
        <p:nvSpPr>
          <p:cNvPr id="5" name="页脚占位符 4"/>
          <p:cNvSpPr>
            <a:spLocks noGrp="1"/>
          </p:cNvSpPr>
          <p:nvPr>
            <p:ph type="ftr" sz="quarter" idx="11"/>
          </p:nvPr>
        </p:nvSpPr>
        <p:spPr>
          <a:xfrm>
            <a:off x="4038600" y="6356351"/>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1"/>
            <a:ext cx="2743200" cy="365125"/>
          </a:xfrm>
        </p:spPr>
        <p:txBody>
          <a:bodyPr/>
          <a:lstStyle>
            <a:lvl1pPr>
              <a:defRPr>
                <a:solidFill>
                  <a:schemeClr val="accent4">
                    <a:lumMod val="100000"/>
                  </a:schemeClr>
                </a:solidFill>
              </a:defRPr>
            </a:lvl1pPr>
          </a:lstStyle>
          <a:p>
            <a:fld id="{C202D614-3122-4AE3-B731-49486E389976}" type="slidenum">
              <a:rPr lang="zh-CN" altLang="en-US" smtClean="0"/>
              <a:pPr/>
              <a:t>‹#›</a:t>
            </a:fld>
            <a:endParaRPr lang="zh-CN" altLang="en-US"/>
          </a:p>
        </p:txBody>
      </p:sp>
    </p:spTree>
    <p:extLst>
      <p:ext uri="{BB962C8B-B14F-4D97-AF65-F5344CB8AC3E}">
        <p14:creationId xmlns:p14="http://schemas.microsoft.com/office/powerpoint/2010/main" val="17226074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3" y="2588282"/>
            <a:ext cx="10852237" cy="899167"/>
          </a:xfrm>
        </p:spPr>
        <p:txBody>
          <a:bodyPr lIns="101600" tIns="38100" rIns="25400" bIns="38100" anchor="t" anchorCtr="0">
            <a:noAutofit/>
          </a:bodyPr>
          <a:lstStyle>
            <a:lvl1pPr algn="ctr">
              <a:defRPr sz="5400" b="0" spc="800">
                <a:solidFill>
                  <a:schemeClr val="accent4">
                    <a:lumMod val="100000"/>
                  </a:schemeClr>
                </a:solidFill>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3"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67" normalizeH="0" baseline="0">
                <a:solidFill>
                  <a:schemeClr val="accent4">
                    <a:lumMod val="100000"/>
                  </a:schemeClr>
                </a:solidFill>
                <a:uFillTx/>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lvl1pPr>
              <a:defRPr>
                <a:solidFill>
                  <a:schemeClr val="accent4">
                    <a:lumMod val="100000"/>
                    <a:tint val="75000"/>
                  </a:schemeClr>
                </a:solidFill>
              </a:defRPr>
            </a:lvl1pPr>
          </a:lstStyle>
          <a:p>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lvl1pPr>
              <a:defRPr>
                <a:solidFill>
                  <a:schemeClr val="accent4">
                    <a:lumMod val="100000"/>
                    <a:tint val="75000"/>
                  </a:schemeClr>
                </a:solidFill>
              </a:defRPr>
            </a:lvl1pPr>
          </a:lstStyle>
          <a:p>
            <a:fld id="{49AE70B2-8BF9-45C0-BB95-33D1B9D3A854}" type="slidenum">
              <a:rPr lang="zh-CN" altLang="en-US" smtClean="0"/>
              <a:pPr/>
              <a:t>‹#›</a:t>
            </a:fld>
            <a:endParaRPr lang="zh-CN" altLang="en-US" dirty="0"/>
          </a:p>
        </p:txBody>
      </p:sp>
    </p:spTree>
    <p:extLst>
      <p:ext uri="{BB962C8B-B14F-4D97-AF65-F5344CB8AC3E}">
        <p14:creationId xmlns:p14="http://schemas.microsoft.com/office/powerpoint/2010/main" val="9969903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2ED28D-4512-7ABE-B34E-940B8B825548}"/>
              </a:ext>
            </a:extLst>
          </p:cNvPr>
          <p:cNvSpPr>
            <a:spLocks noGrp="1"/>
          </p:cNvSpPr>
          <p:nvPr>
            <p:ph type="title"/>
          </p:nvPr>
        </p:nvSpPr>
        <p:spPr>
          <a:xfrm>
            <a:off x="306184" y="1488098"/>
            <a:ext cx="6499351" cy="1940902"/>
          </a:xfrm>
          <a:prstGeom prst="rect">
            <a:avLst/>
          </a:prstGeom>
        </p:spPr>
        <p:txBody>
          <a:bodyPr/>
          <a:lstStyle>
            <a:lvl1pPr>
              <a:defRPr lang="zh-TW" altLang="en-US" sz="3200" b="1" kern="1200" spc="400" dirty="0">
                <a:solidFill>
                  <a:schemeClr val="accent2"/>
                </a:solidFill>
                <a:latin typeface="思源黑体 CN Light" panose="020B0300000000000000" pitchFamily="34" charset="-122"/>
                <a:ea typeface="思源黑体 CN Light" panose="020B0300000000000000" pitchFamily="34" charset="-122"/>
                <a:cs typeface="+mn-ea"/>
              </a:defRPr>
            </a:lvl1pPr>
          </a:lstStyle>
          <a:p>
            <a:r>
              <a:rPr lang="zh-TW" altLang="en-US" dirty="0"/>
              <a:t>按一下以編輯母片標題樣式</a:t>
            </a:r>
          </a:p>
        </p:txBody>
      </p:sp>
      <p:pic>
        <p:nvPicPr>
          <p:cNvPr id="3" name="圖片 2" descr="一張含有 黑色, 黑暗 的圖片&#10;&#10;自動產生的描述">
            <a:extLst>
              <a:ext uri="{FF2B5EF4-FFF2-40B4-BE49-F238E27FC236}">
                <a16:creationId xmlns:a16="http://schemas.microsoft.com/office/drawing/2014/main" id="{62893F27-8040-E89C-904A-D7710D2195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2" y="0"/>
            <a:ext cx="1419622" cy="1419622"/>
          </a:xfrm>
          <a:prstGeom prst="rect">
            <a:avLst/>
          </a:prstGeom>
        </p:spPr>
      </p:pic>
      <p:sp>
        <p:nvSpPr>
          <p:cNvPr id="6" name="內容版面配置區 5">
            <a:extLst>
              <a:ext uri="{FF2B5EF4-FFF2-40B4-BE49-F238E27FC236}">
                <a16:creationId xmlns:a16="http://schemas.microsoft.com/office/drawing/2014/main" id="{B3F2E03F-4CEF-2E89-EAED-996E0CA8B691}"/>
              </a:ext>
            </a:extLst>
          </p:cNvPr>
          <p:cNvSpPr>
            <a:spLocks noGrp="1"/>
          </p:cNvSpPr>
          <p:nvPr>
            <p:ph sz="quarter" idx="10"/>
          </p:nvPr>
        </p:nvSpPr>
        <p:spPr>
          <a:xfrm>
            <a:off x="1295549" y="3745951"/>
            <a:ext cx="4520620" cy="909175"/>
          </a:xfrm>
          <a:prstGeom prst="rect">
            <a:avLst/>
          </a:prstGeom>
        </p:spPr>
        <p:txBody>
          <a:bodyPr/>
          <a:lstStyle>
            <a:lvl1pPr marL="0" indent="0">
              <a:buNone/>
              <a:defRPr lang="zh-TW" altLang="en-US" sz="1800" kern="1200" spc="400" dirty="0" smtClean="0">
                <a:solidFill>
                  <a:schemeClr val="accent2"/>
                </a:solidFill>
                <a:uFillTx/>
                <a:latin typeface="思源黑体 CN Light" panose="020B0300000000000000" pitchFamily="34" charset="-122"/>
                <a:ea typeface="思源黑体 CN Light" panose="020B0300000000000000" pitchFamily="34" charset="-122"/>
                <a:cs typeface="+mn-ea"/>
              </a:defRPr>
            </a:lvl1pPr>
          </a:lstStyle>
          <a:p>
            <a:pPr lvl="0"/>
            <a:r>
              <a:rPr lang="zh-TW" altLang="en-US" dirty="0"/>
              <a:t>按一下以編輯母片文字樣</a:t>
            </a:r>
          </a:p>
        </p:txBody>
      </p:sp>
    </p:spTree>
    <p:extLst>
      <p:ext uri="{BB962C8B-B14F-4D97-AF65-F5344CB8AC3E}">
        <p14:creationId xmlns:p14="http://schemas.microsoft.com/office/powerpoint/2010/main" val="3455319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3" y="2588282"/>
            <a:ext cx="10852237" cy="899167"/>
          </a:xfrm>
        </p:spPr>
        <p:txBody>
          <a:bodyPr lIns="101600" tIns="38100" rIns="25400" bIns="38100" anchor="t" anchorCtr="0">
            <a:noAutofit/>
          </a:bodyPr>
          <a:lstStyle>
            <a:lvl1pPr algn="ctr">
              <a:defRPr sz="5400" b="0" spc="800">
                <a:solidFill>
                  <a:schemeClr val="accent4">
                    <a:lumMod val="100000"/>
                  </a:schemeClr>
                </a:solidFill>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3"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67" normalizeH="0" baseline="0">
                <a:solidFill>
                  <a:schemeClr val="accent4">
                    <a:lumMod val="100000"/>
                  </a:schemeClr>
                </a:solidFill>
                <a:uFillTx/>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lvl1pPr>
              <a:defRPr>
                <a:solidFill>
                  <a:schemeClr val="accent4">
                    <a:lumMod val="100000"/>
                    <a:tint val="75000"/>
                  </a:schemeClr>
                </a:solidFill>
              </a:defRPr>
            </a:lvl1pPr>
          </a:lstStyle>
          <a:p>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lvl1pPr>
              <a:defRPr>
                <a:solidFill>
                  <a:schemeClr val="accent4">
                    <a:lumMod val="100000"/>
                    <a:tint val="75000"/>
                  </a:schemeClr>
                </a:solidFill>
              </a:defRPr>
            </a:lvl1pPr>
          </a:lstStyle>
          <a:p>
            <a:fld id="{49AE70B2-8BF9-45C0-BB95-33D1B9D3A854}" type="slidenum">
              <a:rPr lang="zh-CN" altLang="en-US" smtClean="0"/>
              <a:pPr/>
              <a:t>‹#›</a:t>
            </a:fld>
            <a:endParaRPr lang="zh-CN" altLang="en-US" dirty="0"/>
          </a:p>
        </p:txBody>
      </p:sp>
    </p:spTree>
    <p:extLst>
      <p:ext uri="{BB962C8B-B14F-4D97-AF65-F5344CB8AC3E}">
        <p14:creationId xmlns:p14="http://schemas.microsoft.com/office/powerpoint/2010/main" val="35311590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3" y="432000"/>
            <a:ext cx="10852237" cy="648000"/>
          </a:xfrm>
        </p:spPr>
        <p:txBody>
          <a:bodyPr vert="horz" lIns="101600" tIns="38100" rIns="76200" bIns="38100" rtlCol="0" anchor="ctr" anchorCtr="0">
            <a:noAutofit/>
          </a:bodyPr>
          <a:lstStyle>
            <a:lvl1pPr marL="0" marR="0" algn="l" defTabSz="1219170" rtl="0" eaLnBrk="1" fontAlgn="auto" latinLnBrk="0" hangingPunct="1">
              <a:lnSpc>
                <a:spcPct val="100000"/>
              </a:lnSpc>
              <a:buNone/>
              <a:defRPr kumimoji="0" lang="zh-CN" altLang="en-US" sz="2800" b="1" i="0" u="none" strike="noStrike" kern="1200" cap="none" spc="267" normalizeH="0" baseline="0" noProof="1" dirty="0">
                <a:solidFill>
                  <a:schemeClr val="accent4">
                    <a:lumMod val="100000"/>
                  </a:schemeClr>
                </a:solidFill>
                <a:uFillTx/>
                <a:latin typeface="+mj-lt"/>
                <a:ea typeface="+mj-ea"/>
                <a:cs typeface="+mj-cs"/>
                <a:sym typeface="+mn-ea"/>
              </a:defRPr>
            </a:lvl1pPr>
          </a:lstStyle>
          <a:p>
            <a:pPr lvl="0"/>
            <a:r>
              <a:rPr lang="zh-TW" altLang="en-US">
                <a:sym typeface="+mn-ea"/>
              </a:rPr>
              <a:t>按一下以編輯母片標題樣式</a:t>
            </a:r>
            <a:endParaRPr dirty="0">
              <a:sym typeface="+mn-ea"/>
            </a:endParaRPr>
          </a:p>
        </p:txBody>
      </p:sp>
      <p:sp>
        <p:nvSpPr>
          <p:cNvPr id="3" name="内容占位符 2"/>
          <p:cNvSpPr>
            <a:spLocks noGrp="1"/>
          </p:cNvSpPr>
          <p:nvPr>
            <p:ph idx="1"/>
            <p:custDataLst>
              <p:tags r:id="rId2"/>
            </p:custDataLst>
          </p:nvPr>
        </p:nvSpPr>
        <p:spPr>
          <a:xfrm>
            <a:off x="669883" y="1296000"/>
            <a:ext cx="10852237" cy="5041355"/>
          </a:xfrm>
        </p:spPr>
        <p:txBody>
          <a:bodyPr vert="horz" lIns="101600" tIns="0" rIns="82550" bIns="0" rtlCol="0">
            <a:noAutofit/>
          </a:bodyPr>
          <a:lstStyle>
            <a:lvl1pPr marL="228594" marR="0" lvl="0"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1pPr>
            <a:lvl2pPr marL="685783" marR="0" lvl="1" indent="-228594" algn="l" defTabSz="1219170" rtl="0" eaLnBrk="1" fontAlgn="auto" latinLnBrk="0" hangingPunct="1">
              <a:lnSpc>
                <a:spcPct val="130000"/>
              </a:lnSpc>
              <a:spcBef>
                <a:spcPts val="0"/>
              </a:spcBef>
              <a:spcAft>
                <a:spcPts val="1333"/>
              </a:spcAft>
              <a:buFont typeface="Arial" panose="020B0604020202020204" pitchFamily="34" charset="0"/>
              <a:buChar char="•"/>
              <a:tabLst>
                <a:tab pos="2146246" algn="l"/>
              </a:tabLst>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2pPr>
            <a:lvl3pPr marL="1142971" marR="0" lvl="2"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3pPr>
            <a:lvl4pPr marL="1600160" marR="0" lvl="3"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4pPr>
            <a:lvl5pPr marL="2057349" marR="0" lvl="4"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5pPr>
          </a:lstStyle>
          <a:p>
            <a:pPr lvl="0"/>
            <a:r>
              <a:rPr lang="zh-TW" altLang="en-US">
                <a:sym typeface="+mn-ea"/>
              </a:rPr>
              <a:t>按一下以編輯母片文字樣式</a:t>
            </a:r>
          </a:p>
          <a:p>
            <a:pPr lvl="1"/>
            <a:r>
              <a:rPr lang="zh-TW" altLang="en-US">
                <a:sym typeface="+mn-ea"/>
              </a:rPr>
              <a:t>第二層</a:t>
            </a:r>
          </a:p>
          <a:p>
            <a:pPr lvl="2"/>
            <a:r>
              <a:rPr lang="zh-TW" altLang="en-US">
                <a:sym typeface="+mn-ea"/>
              </a:rPr>
              <a:t>第三層</a:t>
            </a:r>
          </a:p>
          <a:p>
            <a:pPr lvl="3"/>
            <a:r>
              <a:rPr lang="zh-TW" altLang="en-US">
                <a:sym typeface="+mn-ea"/>
              </a:rPr>
              <a:t>第四層</a:t>
            </a:r>
          </a:p>
          <a:p>
            <a:pPr lvl="4"/>
            <a:r>
              <a:rPr lang="zh-TW" altLang="en-US">
                <a:sym typeface="+mn-ea"/>
              </a:rPr>
              <a:t>第五層</a:t>
            </a:r>
            <a:endParaRPr dirty="0">
              <a:sym typeface="+mn-ea"/>
            </a:endParaRPr>
          </a:p>
        </p:txBody>
      </p:sp>
      <p:sp>
        <p:nvSpPr>
          <p:cNvPr id="4" name="日期占位符 3"/>
          <p:cNvSpPr>
            <a:spLocks noGrp="1"/>
          </p:cNvSpPr>
          <p:nvPr>
            <p:ph type="dt" sz="half" idx="10"/>
            <p:custDataLst>
              <p:tags r:id="rId3"/>
            </p:custDataLst>
          </p:nvPr>
        </p:nvSpPr>
        <p:spPr/>
        <p:txBody>
          <a:bodyPr/>
          <a:lstStyle>
            <a:lvl1pPr>
              <a:defRPr>
                <a:solidFill>
                  <a:schemeClr val="accent4">
                    <a:lumMod val="100000"/>
                    <a:tint val="75000"/>
                  </a:schemeClr>
                </a:solidFill>
              </a:defRPr>
            </a:lvl1pPr>
          </a:lstStyle>
          <a:p>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lvl1pPr>
              <a:defRPr>
                <a:solidFill>
                  <a:schemeClr val="accent4">
                    <a:lumMod val="100000"/>
                    <a:tint val="75000"/>
                  </a:schemeClr>
                </a:solidFill>
              </a:defRPr>
            </a:lvl1pPr>
          </a:lstStyle>
          <a:p>
            <a:fld id="{49AE70B2-8BF9-45C0-BB95-33D1B9D3A854}" type="slidenum">
              <a:rPr lang="zh-CN" altLang="en-US" smtClean="0"/>
              <a:pPr/>
              <a:t>‹#›</a:t>
            </a:fld>
            <a:endParaRPr lang="zh-CN" altLang="en-US"/>
          </a:p>
        </p:txBody>
      </p:sp>
    </p:spTree>
    <p:extLst>
      <p:ext uri="{BB962C8B-B14F-4D97-AF65-F5344CB8AC3E}">
        <p14:creationId xmlns:p14="http://schemas.microsoft.com/office/powerpoint/2010/main" val="9349643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1" y="3808731"/>
            <a:ext cx="10852237" cy="624845"/>
          </a:xfrm>
        </p:spPr>
        <p:txBody>
          <a:bodyPr lIns="101600" tIns="38100" rIns="63500" bIns="38100" anchor="t" anchorCtr="0">
            <a:noAutofit/>
          </a:bodyPr>
          <a:lstStyle>
            <a:lvl1pPr>
              <a:defRPr sz="3600" b="0" u="none" strike="noStrike" kern="1200" cap="none" spc="400" normalizeH="0">
                <a:solidFill>
                  <a:schemeClr val="accent4">
                    <a:lumMod val="100000"/>
                  </a:schemeClr>
                </a:solidFill>
                <a:effectLst>
                  <a:outerShdw blurRad="38100" dist="38100" dir="2700000" algn="tl">
                    <a:srgbClr val="000000">
                      <a:alpha val="43137"/>
                    </a:srgbClr>
                  </a:outerShdw>
                </a:effectLst>
                <a:uFillTx/>
              </a:defRPr>
            </a:lvl1pPr>
          </a:lstStyle>
          <a:p>
            <a:r>
              <a:rPr lang="zh-TW" altLang="en-US"/>
              <a:t>按一下以編輯母片標題樣式</a:t>
            </a:r>
            <a:endParaRPr lang="zh-CN" altLang="en-US" dirty="0"/>
          </a:p>
        </p:txBody>
      </p:sp>
      <p:sp>
        <p:nvSpPr>
          <p:cNvPr id="3" name="文本占位符 2"/>
          <p:cNvSpPr>
            <a:spLocks noGrp="1"/>
          </p:cNvSpPr>
          <p:nvPr>
            <p:ph type="body" idx="1"/>
            <p:custDataLst>
              <p:tags r:id="rId2"/>
            </p:custDataLst>
          </p:nvPr>
        </p:nvSpPr>
        <p:spPr>
          <a:xfrm>
            <a:off x="669926" y="4511676"/>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200" normalizeH="0" baseline="0" noProof="1">
                <a:solidFill>
                  <a:schemeClr val="accent4">
                    <a:lumMod val="100000"/>
                  </a:schemeClr>
                </a:solidFill>
                <a:uFillTx/>
                <a:latin typeface="+mn-lt"/>
                <a:ea typeface="+mn-ea"/>
                <a:cs typeface="+mn-cs"/>
                <a:sym typeface="+mn-ea"/>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按一下以編輯母片文字樣式</a:t>
            </a:r>
          </a:p>
        </p:txBody>
      </p:sp>
      <p:sp>
        <p:nvSpPr>
          <p:cNvPr id="4" name="日期占位符 3"/>
          <p:cNvSpPr>
            <a:spLocks noGrp="1"/>
          </p:cNvSpPr>
          <p:nvPr>
            <p:ph type="dt" sz="half" idx="10"/>
            <p:custDataLst>
              <p:tags r:id="rId3"/>
            </p:custDataLst>
          </p:nvPr>
        </p:nvSpPr>
        <p:spPr/>
        <p:txBody>
          <a:bodyPr/>
          <a:lstStyle>
            <a:lvl1pPr>
              <a:defRPr>
                <a:solidFill>
                  <a:schemeClr val="accent4">
                    <a:lumMod val="100000"/>
                    <a:tint val="75000"/>
                  </a:schemeClr>
                </a:solidFill>
              </a:defRPr>
            </a:lvl1pPr>
          </a:lstStyle>
          <a:p>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lvl1pPr>
              <a:defRPr>
                <a:solidFill>
                  <a:schemeClr val="accent4">
                    <a:lumMod val="100000"/>
                    <a:tint val="75000"/>
                  </a:schemeClr>
                </a:solidFill>
              </a:defRPr>
            </a:lvl1pPr>
          </a:lstStyle>
          <a:p>
            <a:fld id="{49AE70B2-8BF9-45C0-BB95-33D1B9D3A854}" type="slidenum">
              <a:rPr lang="zh-CN" altLang="en-US" smtClean="0"/>
              <a:pPr/>
              <a:t>‹#›</a:t>
            </a:fld>
            <a:endParaRPr lang="zh-CN" altLang="en-US"/>
          </a:p>
        </p:txBody>
      </p:sp>
    </p:spTree>
    <p:extLst>
      <p:ext uri="{BB962C8B-B14F-4D97-AF65-F5344CB8AC3E}">
        <p14:creationId xmlns:p14="http://schemas.microsoft.com/office/powerpoint/2010/main" val="36636380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3" y="432000"/>
            <a:ext cx="10852237" cy="648000"/>
          </a:xfrm>
        </p:spPr>
        <p:txBody>
          <a:bodyPr vert="horz" lIns="101600" tIns="38100" rIns="76200" bIns="38100" rtlCol="0" anchor="ctr" anchorCtr="0">
            <a:noAutofit/>
          </a:bodyPr>
          <a:lstStyle>
            <a:lvl1pPr marL="0" marR="0" lvl="0" algn="l" defTabSz="1219170" rtl="0" eaLnBrk="1" fontAlgn="auto" latinLnBrk="0" hangingPunct="1">
              <a:lnSpc>
                <a:spcPct val="100000"/>
              </a:lnSpc>
              <a:buNone/>
              <a:defRPr kumimoji="0" lang="zh-CN" altLang="en-US" sz="2800" b="1" i="0" u="none" strike="noStrike" kern="1200" cap="none" spc="267" normalizeH="0" baseline="0" noProof="1" dirty="0">
                <a:solidFill>
                  <a:schemeClr val="accent4">
                    <a:lumMod val="100000"/>
                  </a:schemeClr>
                </a:solidFill>
                <a:uFillTx/>
                <a:latin typeface="+mj-lt"/>
                <a:ea typeface="+mj-ea"/>
                <a:cs typeface="+mj-cs"/>
                <a:sym typeface="+mn-ea"/>
              </a:defRPr>
            </a:lvl1pPr>
          </a:lstStyle>
          <a:p>
            <a:pPr lvl="0"/>
            <a:r>
              <a:rPr lang="zh-TW" altLang="en-US">
                <a:sym typeface="+mn-ea"/>
              </a:rPr>
              <a:t>按一下以編輯母片標題樣式</a:t>
            </a:r>
            <a:endParaRPr dirty="0">
              <a:sym typeface="+mn-ea"/>
            </a:endParaRPr>
          </a:p>
        </p:txBody>
      </p:sp>
      <p:sp>
        <p:nvSpPr>
          <p:cNvPr id="3" name="内容占位符 2"/>
          <p:cNvSpPr>
            <a:spLocks noGrp="1"/>
          </p:cNvSpPr>
          <p:nvPr>
            <p:ph sz="half" idx="1"/>
            <p:custDataLst>
              <p:tags r:id="rId2"/>
            </p:custDataLst>
          </p:nvPr>
        </p:nvSpPr>
        <p:spPr>
          <a:xfrm>
            <a:off x="669930" y="1296000"/>
            <a:ext cx="5283243" cy="5040000"/>
          </a:xfrm>
        </p:spPr>
        <p:txBody>
          <a:bodyPr vert="horz" lIns="101600" tIns="0" rIns="82550" bIns="0" rtlCol="0">
            <a:noAutofit/>
          </a:bodyPr>
          <a:lstStyle>
            <a:lvl1pPr marL="228594" marR="0" lvl="0"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1pPr>
            <a:lvl2pPr marL="685783" marR="0" lvl="1" indent="-228594" algn="l" defTabSz="1219170" rtl="0" eaLnBrk="1" fontAlgn="auto" latinLnBrk="0" hangingPunct="1">
              <a:lnSpc>
                <a:spcPct val="130000"/>
              </a:lnSpc>
              <a:spcBef>
                <a:spcPts val="0"/>
              </a:spcBef>
              <a:spcAft>
                <a:spcPts val="1333"/>
              </a:spcAft>
              <a:buFont typeface="Arial" panose="020B0604020202020204" pitchFamily="34" charset="0"/>
              <a:buChar char="•"/>
              <a:tabLst>
                <a:tab pos="2146246" algn="l"/>
              </a:tabLst>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2pPr>
            <a:lvl3pPr marL="1142971" marR="0" lvl="2"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3pPr>
            <a:lvl4pPr marL="1600160" marR="0" lvl="3"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4pPr>
            <a:lvl5pPr marL="2057349" marR="0" lvl="4"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5pPr>
          </a:lstStyle>
          <a:p>
            <a:pPr lvl="0"/>
            <a:r>
              <a:rPr lang="zh-TW" altLang="en-US">
                <a:sym typeface="+mn-ea"/>
              </a:rPr>
              <a:t>按一下以編輯母片文字樣式</a:t>
            </a:r>
          </a:p>
          <a:p>
            <a:pPr lvl="1"/>
            <a:r>
              <a:rPr lang="zh-TW" altLang="en-US">
                <a:sym typeface="+mn-ea"/>
              </a:rPr>
              <a:t>第二層</a:t>
            </a:r>
          </a:p>
          <a:p>
            <a:pPr lvl="2"/>
            <a:r>
              <a:rPr lang="zh-TW" altLang="en-US">
                <a:sym typeface="+mn-ea"/>
              </a:rPr>
              <a:t>第三層</a:t>
            </a:r>
          </a:p>
          <a:p>
            <a:pPr lvl="3"/>
            <a:r>
              <a:rPr lang="zh-TW" altLang="en-US">
                <a:sym typeface="+mn-ea"/>
              </a:rPr>
              <a:t>第四層</a:t>
            </a:r>
          </a:p>
          <a:p>
            <a:pPr lvl="4"/>
            <a:r>
              <a:rPr lang="zh-TW" altLang="en-US">
                <a:sym typeface="+mn-ea"/>
              </a:rPr>
              <a:t>第五層</a:t>
            </a:r>
            <a:endParaRPr dirty="0">
              <a:sym typeface="+mn-ea"/>
            </a:endParaRPr>
          </a:p>
        </p:txBody>
      </p:sp>
      <p:sp>
        <p:nvSpPr>
          <p:cNvPr id="4" name="内容占位符 3"/>
          <p:cNvSpPr>
            <a:spLocks noGrp="1"/>
          </p:cNvSpPr>
          <p:nvPr>
            <p:ph sz="half" idx="2"/>
            <p:custDataLst>
              <p:tags r:id="rId3"/>
            </p:custDataLst>
          </p:nvPr>
        </p:nvSpPr>
        <p:spPr>
          <a:xfrm>
            <a:off x="6238877" y="1296000"/>
            <a:ext cx="5283243" cy="5040000"/>
          </a:xfrm>
        </p:spPr>
        <p:txBody>
          <a:bodyPr>
            <a:noAutofit/>
          </a:bodyPr>
          <a:lstStyle>
            <a:lvl1pPr>
              <a:defRPr sz="1600">
                <a:solidFill>
                  <a:schemeClr val="accent4">
                    <a:lumMod val="75000"/>
                    <a:lumOff val="25000"/>
                  </a:schemeClr>
                </a:solidFill>
              </a:defRPr>
            </a:lvl1pPr>
            <a:lvl2pPr>
              <a:defRPr sz="1600">
                <a:solidFill>
                  <a:schemeClr val="accent4">
                    <a:lumMod val="75000"/>
                    <a:lumOff val="25000"/>
                  </a:schemeClr>
                </a:solidFill>
              </a:defRPr>
            </a:lvl2pPr>
            <a:lvl3pPr>
              <a:defRPr sz="1600">
                <a:solidFill>
                  <a:schemeClr val="accent4">
                    <a:lumMod val="75000"/>
                    <a:lumOff val="25000"/>
                  </a:schemeClr>
                </a:solidFill>
              </a:defRPr>
            </a:lvl3pPr>
            <a:lvl4pPr>
              <a:defRPr sz="1600">
                <a:solidFill>
                  <a:schemeClr val="accent4">
                    <a:lumMod val="75000"/>
                    <a:lumOff val="25000"/>
                  </a:schemeClr>
                </a:solidFill>
              </a:defRPr>
            </a:lvl4pPr>
            <a:lvl5pPr>
              <a:defRPr sz="1600">
                <a:solidFill>
                  <a:schemeClr val="accent4">
                    <a:lumMod val="75000"/>
                    <a:lumOff val="25000"/>
                  </a:schemeClr>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dirty="0"/>
          </a:p>
        </p:txBody>
      </p:sp>
      <p:sp>
        <p:nvSpPr>
          <p:cNvPr id="5" name="日期占位符 4"/>
          <p:cNvSpPr>
            <a:spLocks noGrp="1"/>
          </p:cNvSpPr>
          <p:nvPr>
            <p:ph type="dt" sz="half" idx="10"/>
            <p:custDataLst>
              <p:tags r:id="rId4"/>
            </p:custDataLst>
          </p:nvPr>
        </p:nvSpPr>
        <p:spPr/>
        <p:txBody>
          <a:bodyPr/>
          <a:lstStyle>
            <a:lvl1pPr>
              <a:defRPr>
                <a:solidFill>
                  <a:schemeClr val="accent4">
                    <a:lumMod val="100000"/>
                    <a:tint val="75000"/>
                  </a:schemeClr>
                </a:solidFill>
              </a:defRPr>
            </a:lvl1pPr>
          </a:lstStyle>
          <a:p>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lvl1pPr>
              <a:defRPr>
                <a:solidFill>
                  <a:schemeClr val="accent4">
                    <a:lumMod val="100000"/>
                    <a:tint val="75000"/>
                  </a:schemeClr>
                </a:solidFill>
              </a:defRPr>
            </a:lvl1pPr>
          </a:lstStyle>
          <a:p>
            <a:fld id="{49AE70B2-8BF9-45C0-BB95-33D1B9D3A854}" type="slidenum">
              <a:rPr lang="zh-CN" altLang="en-US" smtClean="0"/>
              <a:pPr/>
              <a:t>‹#›</a:t>
            </a:fld>
            <a:endParaRPr lang="zh-CN" altLang="en-US"/>
          </a:p>
        </p:txBody>
      </p:sp>
    </p:spTree>
    <p:extLst>
      <p:ext uri="{BB962C8B-B14F-4D97-AF65-F5344CB8AC3E}">
        <p14:creationId xmlns:p14="http://schemas.microsoft.com/office/powerpoint/2010/main" val="10894983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3" y="432000"/>
            <a:ext cx="10852237" cy="648000"/>
          </a:xfrm>
        </p:spPr>
        <p:txBody>
          <a:bodyPr vert="horz" lIns="101600" tIns="38100" rIns="76200" bIns="38100" rtlCol="0" anchor="ctr" anchorCtr="0">
            <a:noAutofit/>
          </a:bodyPr>
          <a:lstStyle>
            <a:lvl1pPr marL="0" marR="0" lvl="0" algn="l" defTabSz="1219170" rtl="0" eaLnBrk="1" fontAlgn="auto" latinLnBrk="0" hangingPunct="1">
              <a:lnSpc>
                <a:spcPct val="100000"/>
              </a:lnSpc>
              <a:buNone/>
              <a:defRPr kumimoji="0" lang="zh-CN" altLang="en-US" sz="2800" b="1" i="0" u="none" strike="noStrike" kern="1200" cap="none" spc="267" normalizeH="0" baseline="0" noProof="1" dirty="0">
                <a:solidFill>
                  <a:schemeClr val="accent4">
                    <a:lumMod val="100000"/>
                  </a:schemeClr>
                </a:solidFill>
                <a:uFillTx/>
                <a:latin typeface="+mj-lt"/>
                <a:ea typeface="+mj-ea"/>
                <a:cs typeface="+mj-cs"/>
                <a:sym typeface="+mn-ea"/>
              </a:defRPr>
            </a:lvl1pPr>
          </a:lstStyle>
          <a:p>
            <a:pPr lvl="0"/>
            <a:r>
              <a:rPr lang="zh-TW" altLang="en-US">
                <a:sym typeface="+mn-ea"/>
              </a:rPr>
              <a:t>按一下以編輯母片標題樣式</a:t>
            </a:r>
            <a:endParaRPr dirty="0">
              <a:sym typeface="+mn-ea"/>
            </a:endParaRPr>
          </a:p>
        </p:txBody>
      </p:sp>
      <p:sp>
        <p:nvSpPr>
          <p:cNvPr id="3" name="文本占位符 2"/>
          <p:cNvSpPr>
            <a:spLocks noGrp="1"/>
          </p:cNvSpPr>
          <p:nvPr>
            <p:ph type="body" idx="1" hasCustomPrompt="1"/>
            <p:custDataLst>
              <p:tags r:id="rId2"/>
            </p:custDataLst>
          </p:nvPr>
        </p:nvSpPr>
        <p:spPr>
          <a:xfrm>
            <a:off x="669930" y="1296000"/>
            <a:ext cx="5283243"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67" normalizeH="0" baseline="0">
                <a:solidFill>
                  <a:schemeClr val="accent4">
                    <a:lumMod val="100000"/>
                  </a:schemeClr>
                </a:solidFill>
                <a:uFillTx/>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789043"/>
            <a:ext cx="5283200" cy="4552235"/>
          </a:xfrm>
        </p:spPr>
        <p:txBody>
          <a:bodyPr vert="horz" lIns="101600" tIns="0" rIns="82550" bIns="0" rtlCol="0">
            <a:noAutofit/>
          </a:bodyPr>
          <a:lstStyle>
            <a:lvl1pPr marL="228594" marR="0" lvl="0"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1pPr>
            <a:lvl2pPr marL="685783" marR="0" lvl="1" indent="-228594" algn="l" defTabSz="1219170" rtl="0" eaLnBrk="1" fontAlgn="auto" latinLnBrk="0" hangingPunct="1">
              <a:lnSpc>
                <a:spcPct val="130000"/>
              </a:lnSpc>
              <a:spcBef>
                <a:spcPts val="0"/>
              </a:spcBef>
              <a:spcAft>
                <a:spcPts val="1333"/>
              </a:spcAft>
              <a:buFont typeface="Arial" panose="020B0604020202020204" pitchFamily="34" charset="0"/>
              <a:buChar char="•"/>
              <a:tabLst>
                <a:tab pos="2146246" algn="l"/>
              </a:tabLst>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2pPr>
            <a:lvl3pPr marL="1142971" marR="0" lvl="2"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3pPr>
            <a:lvl4pPr marL="1600160" marR="0" lvl="3"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4pPr>
            <a:lvl5pPr marL="2057349" marR="0" lvl="4"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5pPr>
          </a:lstStyle>
          <a:p>
            <a:pPr lvl="0"/>
            <a:r>
              <a:rPr lang="zh-TW" altLang="en-US">
                <a:sym typeface="+mn-ea"/>
              </a:rPr>
              <a:t>按一下以編輯母片文字樣式</a:t>
            </a:r>
          </a:p>
          <a:p>
            <a:pPr lvl="1"/>
            <a:r>
              <a:rPr lang="zh-TW" altLang="en-US">
                <a:sym typeface="+mn-ea"/>
              </a:rPr>
              <a:t>第二層</a:t>
            </a:r>
          </a:p>
          <a:p>
            <a:pPr lvl="2"/>
            <a:r>
              <a:rPr lang="zh-TW" altLang="en-US">
                <a:sym typeface="+mn-ea"/>
              </a:rPr>
              <a:t>第三層</a:t>
            </a:r>
          </a:p>
          <a:p>
            <a:pPr lvl="3"/>
            <a:r>
              <a:rPr lang="zh-TW" altLang="en-US">
                <a:sym typeface="+mn-ea"/>
              </a:rPr>
              <a:t>第四層</a:t>
            </a:r>
          </a:p>
          <a:p>
            <a:pPr lvl="4"/>
            <a:r>
              <a:rPr lang="zh-TW" altLang="en-US">
                <a:sym typeface="+mn-ea"/>
              </a:rPr>
              <a:t>第五層</a:t>
            </a:r>
            <a:endParaRPr dirty="0">
              <a:sym typeface="+mn-ea"/>
            </a:endParaRPr>
          </a:p>
        </p:txBody>
      </p:sp>
      <p:sp>
        <p:nvSpPr>
          <p:cNvPr id="5" name="文本占位符 4"/>
          <p:cNvSpPr>
            <a:spLocks noGrp="1"/>
          </p:cNvSpPr>
          <p:nvPr>
            <p:ph type="body" sz="quarter" idx="3" hasCustomPrompt="1"/>
            <p:custDataLst>
              <p:tags r:id="rId4"/>
            </p:custDataLst>
          </p:nvPr>
        </p:nvSpPr>
        <p:spPr>
          <a:xfrm>
            <a:off x="6235751" y="1296000"/>
            <a:ext cx="5283243" cy="381003"/>
          </a:xfrm>
        </p:spPr>
        <p:txBody>
          <a:bodyPr vert="horz" lIns="101600" tIns="38100" rIns="76200" bIns="38100" rtlCol="0" anchor="t" anchorCtr="0">
            <a:noAutofit/>
          </a:bodyPr>
          <a:lstStyle>
            <a:lvl1pPr marL="0" marR="0" lvl="0" indent="0" algn="l" defTabSz="121917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67" normalizeH="0" baseline="0" noProof="1" dirty="0">
                <a:solidFill>
                  <a:schemeClr val="accent4">
                    <a:lumMod val="100000"/>
                  </a:schemeClr>
                </a:solidFill>
                <a:uFillTx/>
                <a:latin typeface="+mn-lt"/>
                <a:ea typeface="+mn-ea"/>
                <a:cs typeface="+mn-cs"/>
                <a:sym typeface="+mn-ea"/>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1" y="1789043"/>
            <a:ext cx="5283243" cy="4552235"/>
          </a:xfrm>
        </p:spPr>
        <p:txBody>
          <a:bodyPr vert="horz" lIns="101600" tIns="0" rIns="82550" bIns="0" rtlCol="0">
            <a:noAutofit/>
          </a:bodyPr>
          <a:lstStyle>
            <a:lvl1pPr marL="228594" marR="0" lvl="0"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1pPr>
            <a:lvl2pPr marL="685783" marR="0" lvl="1" indent="-228594" algn="l" defTabSz="1219170" rtl="0" eaLnBrk="1" fontAlgn="auto" latinLnBrk="0" hangingPunct="1">
              <a:lnSpc>
                <a:spcPct val="130000"/>
              </a:lnSpc>
              <a:spcBef>
                <a:spcPts val="0"/>
              </a:spcBef>
              <a:spcAft>
                <a:spcPts val="1333"/>
              </a:spcAft>
              <a:buFont typeface="Arial" panose="020B0604020202020204" pitchFamily="34" charset="0"/>
              <a:buChar char="•"/>
              <a:tabLst>
                <a:tab pos="2146246" algn="l"/>
              </a:tabLst>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2pPr>
            <a:lvl3pPr marL="1142971" marR="0" lvl="2"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3pPr>
            <a:lvl4pPr marL="1600160" marR="0" lvl="3"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4pPr>
            <a:lvl5pPr marL="2057349" marR="0" lvl="4"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5pPr>
          </a:lstStyle>
          <a:p>
            <a:pPr lvl="0"/>
            <a:r>
              <a:rPr lang="zh-TW" altLang="en-US">
                <a:sym typeface="+mn-ea"/>
              </a:rPr>
              <a:t>按一下以編輯母片文字樣式</a:t>
            </a:r>
          </a:p>
          <a:p>
            <a:pPr lvl="1"/>
            <a:r>
              <a:rPr lang="zh-TW" altLang="en-US">
                <a:sym typeface="+mn-ea"/>
              </a:rPr>
              <a:t>第二層</a:t>
            </a:r>
          </a:p>
          <a:p>
            <a:pPr lvl="2"/>
            <a:r>
              <a:rPr lang="zh-TW" altLang="en-US">
                <a:sym typeface="+mn-ea"/>
              </a:rPr>
              <a:t>第三層</a:t>
            </a:r>
          </a:p>
          <a:p>
            <a:pPr lvl="3"/>
            <a:r>
              <a:rPr lang="zh-TW" altLang="en-US">
                <a:sym typeface="+mn-ea"/>
              </a:rPr>
              <a:t>第四層</a:t>
            </a:r>
          </a:p>
          <a:p>
            <a:pPr lvl="4"/>
            <a:r>
              <a:rPr lang="zh-TW" altLang="en-US">
                <a:sym typeface="+mn-ea"/>
              </a:rPr>
              <a:t>第五層</a:t>
            </a:r>
            <a:endParaRPr dirty="0">
              <a:sym typeface="+mn-ea"/>
            </a:endParaRPr>
          </a:p>
        </p:txBody>
      </p:sp>
      <p:sp>
        <p:nvSpPr>
          <p:cNvPr id="7" name="日期占位符 6"/>
          <p:cNvSpPr>
            <a:spLocks noGrp="1"/>
          </p:cNvSpPr>
          <p:nvPr>
            <p:ph type="dt" sz="half" idx="10"/>
            <p:custDataLst>
              <p:tags r:id="rId6"/>
            </p:custDataLst>
          </p:nvPr>
        </p:nvSpPr>
        <p:spPr/>
        <p:txBody>
          <a:bodyPr/>
          <a:lstStyle>
            <a:lvl1pPr>
              <a:defRPr>
                <a:solidFill>
                  <a:schemeClr val="accent4">
                    <a:lumMod val="100000"/>
                    <a:tint val="75000"/>
                  </a:schemeClr>
                </a:solidFill>
              </a:defRPr>
            </a:lvl1pPr>
          </a:lstStyle>
          <a:p>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lvl1pPr>
              <a:defRPr>
                <a:solidFill>
                  <a:schemeClr val="accent4">
                    <a:lumMod val="100000"/>
                    <a:tint val="75000"/>
                  </a:schemeClr>
                </a:solidFill>
              </a:defRPr>
            </a:lvl1pPr>
          </a:lstStyle>
          <a:p>
            <a:fld id="{49AE70B2-8BF9-45C0-BB95-33D1B9D3A854}" type="slidenum">
              <a:rPr lang="zh-CN" altLang="en-US" smtClean="0"/>
              <a:pPr/>
              <a:t>‹#›</a:t>
            </a:fld>
            <a:endParaRPr lang="zh-CN" altLang="en-US"/>
          </a:p>
        </p:txBody>
      </p:sp>
    </p:spTree>
    <p:extLst>
      <p:ext uri="{BB962C8B-B14F-4D97-AF65-F5344CB8AC3E}">
        <p14:creationId xmlns:p14="http://schemas.microsoft.com/office/powerpoint/2010/main" val="34849441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ctr" anchorCtr="0">
            <a:noAutofit/>
          </a:bodyPr>
          <a:lstStyle>
            <a:lvl1pPr marL="0" marR="0" lvl="0" algn="l" defTabSz="1219170" rtl="0" eaLnBrk="1" fontAlgn="auto" latinLnBrk="0" hangingPunct="1">
              <a:lnSpc>
                <a:spcPct val="100000"/>
              </a:lnSpc>
              <a:buNone/>
              <a:defRPr kumimoji="0" lang="zh-CN" altLang="en-US" sz="2800" b="1" i="0" u="none" strike="noStrike" kern="1200" cap="none" spc="267" normalizeH="0" baseline="0" noProof="1" dirty="0">
                <a:solidFill>
                  <a:schemeClr val="accent4">
                    <a:lumMod val="100000"/>
                  </a:schemeClr>
                </a:solidFill>
                <a:uFillTx/>
                <a:latin typeface="+mj-lt"/>
                <a:ea typeface="+mj-ea"/>
                <a:cs typeface="+mj-cs"/>
                <a:sym typeface="+mn-ea"/>
              </a:defRPr>
            </a:lvl1pPr>
          </a:lstStyle>
          <a:p>
            <a:pPr lvl="0"/>
            <a:r>
              <a:rPr lang="zh-TW" altLang="en-US">
                <a:sym typeface="+mn-ea"/>
              </a:rPr>
              <a:t>按一下以編輯母片標題樣式</a:t>
            </a:r>
            <a:endParaRPr>
              <a:sym typeface="+mn-ea"/>
            </a:endParaRPr>
          </a:p>
        </p:txBody>
      </p:sp>
      <p:sp>
        <p:nvSpPr>
          <p:cNvPr id="3" name="日期占位符 2"/>
          <p:cNvSpPr>
            <a:spLocks noGrp="1"/>
          </p:cNvSpPr>
          <p:nvPr>
            <p:ph type="dt" sz="half" idx="10"/>
            <p:custDataLst>
              <p:tags r:id="rId2"/>
            </p:custDataLst>
          </p:nvPr>
        </p:nvSpPr>
        <p:spPr/>
        <p:txBody>
          <a:bodyPr/>
          <a:lstStyle>
            <a:lvl1pPr>
              <a:defRPr>
                <a:solidFill>
                  <a:schemeClr val="accent4">
                    <a:lumMod val="100000"/>
                    <a:tint val="75000"/>
                  </a:schemeClr>
                </a:solidFill>
              </a:defRPr>
            </a:lvl1pPr>
          </a:lstStyle>
          <a:p>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lvl1pPr>
              <a:defRPr>
                <a:solidFill>
                  <a:schemeClr val="accent4">
                    <a:lumMod val="100000"/>
                    <a:tint val="75000"/>
                  </a:schemeClr>
                </a:solidFill>
              </a:defRPr>
            </a:lvl1pPr>
          </a:lstStyle>
          <a:p>
            <a:fld id="{49AE70B2-8BF9-45C0-BB95-33D1B9D3A854}" type="slidenum">
              <a:rPr lang="zh-CN" altLang="en-US" smtClean="0"/>
              <a:pPr/>
              <a:t>‹#›</a:t>
            </a:fld>
            <a:endParaRPr lang="zh-CN" altLang="en-US"/>
          </a:p>
        </p:txBody>
      </p:sp>
    </p:spTree>
    <p:extLst>
      <p:ext uri="{BB962C8B-B14F-4D97-AF65-F5344CB8AC3E}">
        <p14:creationId xmlns:p14="http://schemas.microsoft.com/office/powerpoint/2010/main" val="12582476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文字版面配置區 4">
            <a:extLst>
              <a:ext uri="{FF2B5EF4-FFF2-40B4-BE49-F238E27FC236}">
                <a16:creationId xmlns:a16="http://schemas.microsoft.com/office/drawing/2014/main" id="{EBDC297A-8EE8-3CCC-45AA-D002E9F2E311}"/>
              </a:ext>
            </a:extLst>
          </p:cNvPr>
          <p:cNvSpPr>
            <a:spLocks noGrp="1"/>
          </p:cNvSpPr>
          <p:nvPr>
            <p:ph type="body" sz="quarter" idx="13"/>
          </p:nvPr>
        </p:nvSpPr>
        <p:spPr>
          <a:xfrm>
            <a:off x="1486545" y="83354"/>
            <a:ext cx="5840413" cy="436563"/>
          </a:xfrm>
          <a:prstGeom prst="rect">
            <a:avLst/>
          </a:prstGeom>
        </p:spPr>
        <p:txBody>
          <a:bodyPr/>
          <a:lstStyle>
            <a:lvl1pPr marL="0" indent="0">
              <a:buNone/>
              <a:defRPr lang="zh-TW" altLang="en-US" sz="2800" b="1" kern="1200" dirty="0" smtClean="0">
                <a:solidFill>
                  <a:schemeClr val="tx2"/>
                </a:solidFill>
                <a:latin typeface="Microsoft JhengHei" panose="020B0604030504040204" pitchFamily="34" charset="-120"/>
                <a:ea typeface="Microsoft JhengHei" panose="020B0604030504040204" pitchFamily="34" charset="-120"/>
                <a:cs typeface="+mn-ea"/>
              </a:defRPr>
            </a:lvl1pPr>
          </a:lstStyle>
          <a:p>
            <a:pPr lvl="0"/>
            <a:r>
              <a:rPr lang="zh-TW" altLang="en-US" dirty="0"/>
              <a:t>按一下以編輯母片文字樣式</a:t>
            </a:r>
          </a:p>
        </p:txBody>
      </p:sp>
      <p:sp>
        <p:nvSpPr>
          <p:cNvPr id="6" name="內容版面配置區 6">
            <a:extLst>
              <a:ext uri="{FF2B5EF4-FFF2-40B4-BE49-F238E27FC236}">
                <a16:creationId xmlns:a16="http://schemas.microsoft.com/office/drawing/2014/main" id="{8EF71DC9-E3D2-6185-EB00-0283F87C2A3F}"/>
              </a:ext>
            </a:extLst>
          </p:cNvPr>
          <p:cNvSpPr>
            <a:spLocks noGrp="1"/>
          </p:cNvSpPr>
          <p:nvPr>
            <p:ph sz="quarter" idx="14"/>
          </p:nvPr>
        </p:nvSpPr>
        <p:spPr>
          <a:xfrm>
            <a:off x="107787" y="83354"/>
            <a:ext cx="1260863" cy="436564"/>
          </a:xfrm>
          <a:prstGeom prst="rect">
            <a:avLst/>
          </a:prstGeom>
        </p:spPr>
        <p:txBody>
          <a:bodyPr/>
          <a:lstStyle>
            <a:lvl1pPr marL="0" indent="0">
              <a:buNone/>
              <a:defRPr lang="zh-TW" altLang="en-US" sz="2800" b="1" kern="1200" dirty="0" smtClean="0">
                <a:solidFill>
                  <a:schemeClr val="accent1"/>
                </a:solidFill>
                <a:latin typeface="Microsoft JhengHei" panose="020B0604030504040204" pitchFamily="34" charset="-120"/>
                <a:ea typeface="Microsoft JhengHei" panose="020B0604030504040204" pitchFamily="34" charset="-120"/>
                <a:cs typeface="+mn-ea"/>
              </a:defRPr>
            </a:lvl1pPr>
          </a:lstStyle>
          <a:p>
            <a:pPr lvl="0"/>
            <a:r>
              <a:rPr lang="zh-TW" altLang="en-US" dirty="0"/>
              <a:t>按一下以編輯母片文字樣式</a:t>
            </a:r>
          </a:p>
        </p:txBody>
      </p:sp>
    </p:spTree>
    <p:extLst>
      <p:ext uri="{BB962C8B-B14F-4D97-AF65-F5344CB8AC3E}">
        <p14:creationId xmlns:p14="http://schemas.microsoft.com/office/powerpoint/2010/main" val="1891460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69930" y="1296000"/>
            <a:ext cx="5283243" cy="5040000"/>
          </a:xfrm>
        </p:spPr>
        <p:txBody>
          <a:bodyPr vert="horz" lIns="101600" tIns="0" rIns="82550" bIns="0" rtlCol="0">
            <a:noAutofit/>
          </a:bodyPr>
          <a:lstStyle>
            <a:lvl1pPr marL="0" marR="0" lvl="0" indent="0" algn="l" defTabSz="1219170" rtl="0" eaLnBrk="1" fontAlgn="auto" latinLnBrk="0" hangingPunct="1">
              <a:lnSpc>
                <a:spcPct val="130000"/>
              </a:lnSpc>
              <a:spcBef>
                <a:spcPts val="0"/>
              </a:spcBef>
              <a:spcAft>
                <a:spcPts val="1333"/>
              </a:spcAft>
              <a:buFont typeface="Arial" panose="020B0604020202020204" pitchFamily="34" charset="0"/>
              <a:buNone/>
              <a:defRPr kumimoji="0" lang="zh-CN" altLang="en-US" sz="1600" b="0" i="0" u="none" strike="noStrike" kern="1200" cap="none" spc="200" normalizeH="0" baseline="0" noProof="1" dirty="0">
                <a:solidFill>
                  <a:schemeClr val="tx1">
                    <a:lumMod val="75000"/>
                    <a:lumOff val="25000"/>
                  </a:schemeClr>
                </a:solidFill>
                <a:uFillTx/>
                <a:latin typeface="+mn-lt"/>
                <a:ea typeface="+mn-ea"/>
                <a:cs typeface="+mn-cs"/>
                <a:sym typeface="+mn-ea"/>
              </a:defRPr>
            </a:lvl1pPr>
            <a:lvl2pPr marL="685783" marR="0" lvl="1" indent="-228594" algn="l" defTabSz="1219170" rtl="0" eaLnBrk="1" fontAlgn="auto" latinLnBrk="0" hangingPunct="1">
              <a:lnSpc>
                <a:spcPct val="130000"/>
              </a:lnSpc>
              <a:spcBef>
                <a:spcPts val="0"/>
              </a:spcBef>
              <a:spcAft>
                <a:spcPts val="1333"/>
              </a:spcAft>
              <a:buFont typeface="Arial" panose="020B0604020202020204" pitchFamily="34" charset="0"/>
              <a:buChar char="•"/>
              <a:tabLst>
                <a:tab pos="2146246" algn="l"/>
              </a:tabLst>
              <a:defRPr kumimoji="0" lang="zh-CN" altLang="en-US" sz="1600" b="0" i="0" u="none" strike="noStrike" kern="1200" cap="none" spc="200" normalizeH="0" baseline="0" noProof="1" dirty="0">
                <a:solidFill>
                  <a:schemeClr val="tx1"/>
                </a:solidFill>
                <a:uFillTx/>
                <a:latin typeface="+mn-lt"/>
                <a:ea typeface="+mn-ea"/>
                <a:cs typeface="+mn-cs"/>
                <a:sym typeface="+mn-ea"/>
              </a:defRPr>
            </a:lvl2pPr>
            <a:lvl3pPr marL="1142971" marR="0" lvl="2"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tx1"/>
                </a:solidFill>
                <a:uFillTx/>
                <a:latin typeface="+mn-lt"/>
                <a:ea typeface="+mn-ea"/>
                <a:cs typeface="+mn-cs"/>
                <a:sym typeface="+mn-ea"/>
              </a:defRPr>
            </a:lvl3pPr>
            <a:lvl4pPr marL="1600160" marR="0" lvl="3"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tx1"/>
                </a:solidFill>
                <a:uFillTx/>
                <a:latin typeface="+mn-lt"/>
                <a:ea typeface="+mn-ea"/>
                <a:cs typeface="+mn-cs"/>
                <a:sym typeface="+mn-ea"/>
              </a:defRPr>
            </a:lvl4pPr>
            <a:lvl5pPr marL="2057349" marR="0" lvl="4"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tx1"/>
                </a:solidFill>
                <a:uFillTx/>
                <a:latin typeface="+mn-lt"/>
                <a:ea typeface="+mn-ea"/>
                <a:cs typeface="+mn-cs"/>
                <a:sym typeface="+mn-ea"/>
              </a:defRPr>
            </a:lvl5pPr>
          </a:lstStyle>
          <a:p>
            <a:pPr lvl="0"/>
            <a:r>
              <a:rPr lang="zh-TW" altLang="en-US">
                <a:sym typeface="+mn-ea"/>
              </a:rPr>
              <a:t>按一下圖示以新增圖片</a:t>
            </a:r>
            <a:endParaRPr dirty="0">
              <a:sym typeface="+mn-ea"/>
            </a:endParaRPr>
          </a:p>
        </p:txBody>
      </p:sp>
      <p:sp>
        <p:nvSpPr>
          <p:cNvPr id="4" name="文本占位符 3"/>
          <p:cNvSpPr>
            <a:spLocks noGrp="1"/>
          </p:cNvSpPr>
          <p:nvPr>
            <p:ph type="body" sz="half" idx="2"/>
            <p:custDataLst>
              <p:tags r:id="rId2"/>
            </p:custDataLst>
          </p:nvPr>
        </p:nvSpPr>
        <p:spPr>
          <a:xfrm>
            <a:off x="6238925" y="1296000"/>
            <a:ext cx="5283243" cy="5040000"/>
          </a:xfrm>
        </p:spPr>
        <p:txBody>
          <a:bodyPr vert="horz" lIns="101600" tIns="0" rIns="82550" bIns="0" rtlCol="0">
            <a:normAutofit/>
          </a:bodyPr>
          <a:lstStyle>
            <a:lvl1pPr marL="228594" marR="0" lvl="0" indent="-228594" algn="l" defTabSz="1219170" rtl="0" eaLnBrk="1" fontAlgn="auto" latinLnBrk="0" hangingPunct="1">
              <a:lnSpc>
                <a:spcPct val="130000"/>
              </a:lnSpc>
              <a:spcBef>
                <a:spcPts val="0"/>
              </a:spcBef>
              <a:spcAft>
                <a:spcPts val="1333"/>
              </a:spcAft>
              <a:buFont typeface="Arial" panose="020B0604020202020204" pitchFamily="34" charset="0"/>
              <a:buChar char="•"/>
              <a:defRPr kumimoji="0" lang="zh-CN" altLang="en-US" sz="1600" b="0" i="0" u="none" strike="noStrike" kern="1200" cap="none" spc="200" normalizeH="0" baseline="0" noProof="1" dirty="0">
                <a:solidFill>
                  <a:schemeClr val="accent4">
                    <a:lumMod val="75000"/>
                    <a:lumOff val="25000"/>
                  </a:schemeClr>
                </a:solidFill>
                <a:uFillTx/>
                <a:latin typeface="+mn-lt"/>
                <a:ea typeface="+mn-ea"/>
                <a:cs typeface="+mn-cs"/>
                <a:sym typeface="+mn-ea"/>
              </a:defRPr>
            </a:lvl1pPr>
          </a:lstStyle>
          <a:p>
            <a:pPr lvl="0"/>
            <a:r>
              <a:rPr lang="zh-TW" altLang="en-US">
                <a:sym typeface="+mn-ea"/>
              </a:rPr>
              <a:t>按一下以編輯母片文字樣式</a:t>
            </a:r>
          </a:p>
        </p:txBody>
      </p:sp>
      <p:sp>
        <p:nvSpPr>
          <p:cNvPr id="5" name="日期占位符 4"/>
          <p:cNvSpPr>
            <a:spLocks noGrp="1"/>
          </p:cNvSpPr>
          <p:nvPr>
            <p:ph type="dt" sz="half" idx="10"/>
            <p:custDataLst>
              <p:tags r:id="rId3"/>
            </p:custDataLst>
          </p:nvPr>
        </p:nvSpPr>
        <p:spPr/>
        <p:txBody>
          <a:bodyPr/>
          <a:lstStyle>
            <a:lvl1pPr>
              <a:defRPr>
                <a:solidFill>
                  <a:schemeClr val="accent4">
                    <a:lumMod val="100000"/>
                    <a:tint val="75000"/>
                  </a:schemeClr>
                </a:solidFill>
              </a:defRPr>
            </a:lvl1pPr>
          </a:lstStyle>
          <a:p>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lvl1pPr>
              <a:defRPr>
                <a:solidFill>
                  <a:schemeClr val="accent4">
                    <a:lumMod val="100000"/>
                    <a:tint val="75000"/>
                  </a:schemeClr>
                </a:solidFill>
              </a:defRPr>
            </a:lvl1pPr>
          </a:lstStyle>
          <a:p>
            <a:fld id="{FABC47A4-756D-490B-A52F-7D9E2C9FC05F}" type="slidenum">
              <a:rPr lang="zh-CN" altLang="en-US" smtClean="0"/>
              <a:pPr/>
              <a:t>‹#›</a:t>
            </a:fld>
            <a:endParaRPr lang="zh-CN" altLang="en-US"/>
          </a:p>
        </p:txBody>
      </p:sp>
      <p:sp>
        <p:nvSpPr>
          <p:cNvPr id="9" name="标题 8"/>
          <p:cNvSpPr>
            <a:spLocks noGrp="1"/>
          </p:cNvSpPr>
          <p:nvPr>
            <p:ph type="title"/>
            <p:custDataLst>
              <p:tags r:id="rId6"/>
            </p:custDataLst>
          </p:nvPr>
        </p:nvSpPr>
        <p:spPr/>
        <p:txBody>
          <a:bodyPr/>
          <a:lstStyle>
            <a:lvl1pPr>
              <a:defRPr>
                <a:solidFill>
                  <a:schemeClr val="accent4">
                    <a:lumMod val="100000"/>
                  </a:schemeClr>
                </a:solidFill>
              </a:defRPr>
            </a:lvl1pPr>
          </a:lstStyle>
          <a:p>
            <a:r>
              <a:rPr lang="zh-TW" altLang="en-US"/>
              <a:t>按一下以編輯母片標題樣式</a:t>
            </a:r>
            <a:endParaRPr lang="zh-CN" altLang="en-US"/>
          </a:p>
        </p:txBody>
      </p:sp>
    </p:spTree>
    <p:extLst>
      <p:ext uri="{BB962C8B-B14F-4D97-AF65-F5344CB8AC3E}">
        <p14:creationId xmlns:p14="http://schemas.microsoft.com/office/powerpoint/2010/main" val="26834632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1219170" rtl="0" eaLnBrk="1" fontAlgn="auto" latinLnBrk="0" hangingPunct="1">
              <a:lnSpc>
                <a:spcPct val="100000"/>
              </a:lnSpc>
              <a:spcAft>
                <a:spcPts val="0"/>
              </a:spcAft>
              <a:buNone/>
              <a:defRPr kumimoji="0" lang="zh-CN" altLang="en-US" sz="2400" b="1" i="0" u="none" strike="noStrike" kern="1200" cap="none" spc="267" normalizeH="0" baseline="0" noProof="1" dirty="0">
                <a:solidFill>
                  <a:schemeClr val="accent4">
                    <a:lumMod val="100000"/>
                  </a:schemeClr>
                </a:solidFill>
                <a:uFillTx/>
                <a:latin typeface="+mj-lt"/>
                <a:ea typeface="+mj-ea"/>
                <a:cs typeface="+mj-cs"/>
                <a:sym typeface="+mn-ea"/>
              </a:defRPr>
            </a:lvl1pPr>
          </a:lstStyle>
          <a:p>
            <a:pPr lvl="0"/>
            <a:r>
              <a:rPr lang="zh-TW" altLang="en-US">
                <a:sym typeface="+mn-ea"/>
              </a:rPr>
              <a:t>按一下以編輯母片標題樣式</a:t>
            </a:r>
            <a:endParaRPr>
              <a:sym typeface="+mn-ea"/>
            </a:endParaRPr>
          </a:p>
        </p:txBody>
      </p:sp>
      <p:sp>
        <p:nvSpPr>
          <p:cNvPr id="3" name="竖排文字占位符 2"/>
          <p:cNvSpPr>
            <a:spLocks noGrp="1"/>
          </p:cNvSpPr>
          <p:nvPr>
            <p:ph type="body" orient="vert" idx="1"/>
            <p:custDataLst>
              <p:tags r:id="rId2"/>
            </p:custDataLst>
          </p:nvPr>
        </p:nvSpPr>
        <p:spPr>
          <a:xfrm>
            <a:off x="669926" y="952500"/>
            <a:ext cx="9828101" cy="5388907"/>
          </a:xfrm>
        </p:spPr>
        <p:txBody>
          <a:bodyPr vert="eaVert"/>
          <a:lstStyle>
            <a:lvl1pPr indent="0" eaLnBrk="1" fontAlgn="auto" latinLnBrk="0" hangingPunct="1">
              <a:defRPr>
                <a:solidFill>
                  <a:schemeClr val="accent4">
                    <a:lumMod val="75000"/>
                    <a:lumOff val="25000"/>
                  </a:schemeClr>
                </a:solidFill>
              </a:defRPr>
            </a:lvl1pPr>
            <a:lvl2pPr indent="0" eaLnBrk="1" fontAlgn="auto" latinLnBrk="0" hangingPunct="1">
              <a:defRPr>
                <a:solidFill>
                  <a:schemeClr val="accent4">
                    <a:lumMod val="75000"/>
                    <a:lumOff val="25000"/>
                  </a:schemeClr>
                </a:solidFill>
              </a:defRPr>
            </a:lvl2pPr>
            <a:lvl3pPr indent="0" eaLnBrk="1" fontAlgn="auto" latinLnBrk="0" hangingPunct="1">
              <a:defRPr>
                <a:solidFill>
                  <a:schemeClr val="accent4">
                    <a:lumMod val="75000"/>
                    <a:lumOff val="25000"/>
                  </a:schemeClr>
                </a:solidFill>
              </a:defRPr>
            </a:lvl3pPr>
            <a:lvl4pPr indent="0" eaLnBrk="1" fontAlgn="auto" latinLnBrk="0" hangingPunct="1">
              <a:defRPr>
                <a:solidFill>
                  <a:schemeClr val="accent4">
                    <a:lumMod val="75000"/>
                    <a:lumOff val="25000"/>
                  </a:schemeClr>
                </a:solidFill>
              </a:defRPr>
            </a:lvl4pPr>
            <a:lvl5pPr indent="0" eaLnBrk="1" fontAlgn="auto" latinLnBrk="0" hangingPunct="1">
              <a:defRPr>
                <a:solidFill>
                  <a:schemeClr val="accent4">
                    <a:lumMod val="75000"/>
                    <a:lumOff val="25000"/>
                  </a:schemeClr>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dirty="0"/>
          </a:p>
        </p:txBody>
      </p:sp>
      <p:sp>
        <p:nvSpPr>
          <p:cNvPr id="4" name="日期占位符 3"/>
          <p:cNvSpPr>
            <a:spLocks noGrp="1"/>
          </p:cNvSpPr>
          <p:nvPr>
            <p:ph type="dt" sz="half" idx="10"/>
            <p:custDataLst>
              <p:tags r:id="rId3"/>
            </p:custDataLst>
          </p:nvPr>
        </p:nvSpPr>
        <p:spPr/>
        <p:txBody>
          <a:bodyPr/>
          <a:lstStyle>
            <a:lvl1pPr>
              <a:defRPr>
                <a:solidFill>
                  <a:schemeClr val="accent4">
                    <a:lumMod val="100000"/>
                    <a:tint val="75000"/>
                  </a:schemeClr>
                </a:solidFill>
              </a:defRPr>
            </a:lvl1pPr>
          </a:lstStyle>
          <a:p>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lvl1pPr>
              <a:defRPr>
                <a:solidFill>
                  <a:schemeClr val="accent4">
                    <a:lumMod val="100000"/>
                    <a:tint val="75000"/>
                  </a:schemeClr>
                </a:solidFill>
              </a:defRPr>
            </a:lvl1pPr>
          </a:lstStyle>
          <a:p>
            <a:fld id="{49AE70B2-8BF9-45C0-BB95-33D1B9D3A854}" type="slidenum">
              <a:rPr lang="zh-CN" altLang="en-US" smtClean="0"/>
              <a:pPr/>
              <a:t>‹#›</a:t>
            </a:fld>
            <a:endParaRPr lang="zh-CN" altLang="en-US"/>
          </a:p>
        </p:txBody>
      </p:sp>
    </p:spTree>
    <p:extLst>
      <p:ext uri="{BB962C8B-B14F-4D97-AF65-F5344CB8AC3E}">
        <p14:creationId xmlns:p14="http://schemas.microsoft.com/office/powerpoint/2010/main" val="555853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lvl1pPr>
              <a:defRPr>
                <a:solidFill>
                  <a:schemeClr val="accent4">
                    <a:lumMod val="100000"/>
                    <a:tint val="75000"/>
                  </a:schemeClr>
                </a:solidFill>
              </a:defRPr>
            </a:lvl1pPr>
          </a:lstStyle>
          <a:p>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lvl1pPr>
              <a:defRPr>
                <a:solidFill>
                  <a:schemeClr val="accent4">
                    <a:lumMod val="100000"/>
                    <a:tint val="75000"/>
                  </a:schemeClr>
                </a:solidFill>
              </a:defRPr>
            </a:lvl1pPr>
          </a:lstStyle>
          <a:p>
            <a:fld id="{49AE70B2-8BF9-45C0-BB95-33D1B9D3A854}" type="slidenum">
              <a:rPr lang="zh-CN" altLang="en-US" smtClean="0"/>
              <a:pPr/>
              <a:t>‹#›</a:t>
            </a:fld>
            <a:endParaRPr lang="zh-CN" altLang="en-US"/>
          </a:p>
        </p:txBody>
      </p:sp>
      <p:sp>
        <p:nvSpPr>
          <p:cNvPr id="7" name="内容占位符 6"/>
          <p:cNvSpPr>
            <a:spLocks noGrp="1"/>
          </p:cNvSpPr>
          <p:nvPr>
            <p:ph sz="quarter" idx="13"/>
            <p:custDataLst>
              <p:tags r:id="rId4"/>
            </p:custDataLst>
          </p:nvPr>
        </p:nvSpPr>
        <p:spPr>
          <a:xfrm>
            <a:off x="669931" y="952508"/>
            <a:ext cx="10852237" cy="5040000"/>
          </a:xfrm>
        </p:spPr>
        <p:txBody>
          <a:bodyPr/>
          <a:lstStyle>
            <a:lvl1pPr>
              <a:defRPr>
                <a:solidFill>
                  <a:schemeClr val="accent4">
                    <a:lumMod val="75000"/>
                    <a:lumOff val="25000"/>
                  </a:schemeClr>
                </a:solidFill>
              </a:defRPr>
            </a:lvl1pPr>
            <a:lvl2pPr>
              <a:defRPr>
                <a:solidFill>
                  <a:schemeClr val="accent4">
                    <a:lumMod val="75000"/>
                    <a:lumOff val="25000"/>
                  </a:schemeClr>
                </a:solidFill>
              </a:defRPr>
            </a:lvl2pPr>
            <a:lvl3pPr>
              <a:defRPr>
                <a:solidFill>
                  <a:schemeClr val="accent4">
                    <a:lumMod val="75000"/>
                    <a:lumOff val="25000"/>
                  </a:schemeClr>
                </a:solidFill>
              </a:defRPr>
            </a:lvl3pPr>
            <a:lvl4pPr>
              <a:defRPr>
                <a:solidFill>
                  <a:schemeClr val="accent4">
                    <a:lumMod val="75000"/>
                    <a:lumOff val="25000"/>
                  </a:schemeClr>
                </a:solidFill>
              </a:defRPr>
            </a:lvl4pPr>
            <a:lvl5pPr>
              <a:defRPr>
                <a:solidFill>
                  <a:schemeClr val="accent4">
                    <a:lumMod val="75000"/>
                    <a:lumOff val="25000"/>
                  </a:schemeClr>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CN" altLang="en-US" dirty="0"/>
          </a:p>
        </p:txBody>
      </p:sp>
    </p:spTree>
    <p:extLst>
      <p:ext uri="{BB962C8B-B14F-4D97-AF65-F5344CB8AC3E}">
        <p14:creationId xmlns:p14="http://schemas.microsoft.com/office/powerpoint/2010/main" val="7605418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lvl1pPr>
              <a:defRPr>
                <a:solidFill>
                  <a:schemeClr val="accent4">
                    <a:lumMod val="100000"/>
                    <a:tint val="75000"/>
                  </a:schemeClr>
                </a:solidFill>
              </a:defRPr>
            </a:lvl1pPr>
          </a:lstStyle>
          <a:p>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lvl1pPr>
              <a:defRPr>
                <a:solidFill>
                  <a:schemeClr val="accent4">
                    <a:lumMod val="100000"/>
                    <a:tint val="75000"/>
                  </a:schemeClr>
                </a:solidFill>
              </a:defRPr>
            </a:lvl1pPr>
          </a:lstStyle>
          <a:p>
            <a:fld id="{49AE70B2-8BF9-45C0-BB95-33D1B9D3A854}" type="slidenum">
              <a:rPr lang="zh-CN" altLang="en-US" smtClean="0"/>
              <a:pPr/>
              <a:t>‹#›</a:t>
            </a:fld>
            <a:endParaRPr lang="zh-CN" altLang="en-US"/>
          </a:p>
        </p:txBody>
      </p:sp>
      <p:sp>
        <p:nvSpPr>
          <p:cNvPr id="2" name="标题 1"/>
          <p:cNvSpPr>
            <a:spLocks noGrp="1"/>
          </p:cNvSpPr>
          <p:nvPr>
            <p:ph type="title" hasCustomPrompt="1"/>
            <p:custDataLst>
              <p:tags r:id="rId4"/>
            </p:custDataLst>
          </p:nvPr>
        </p:nvSpPr>
        <p:spPr>
          <a:xfrm>
            <a:off x="669883" y="2588282"/>
            <a:ext cx="10852237" cy="899167"/>
          </a:xfrm>
        </p:spPr>
        <p:txBody>
          <a:bodyPr vert="horz" lIns="101600" tIns="38100" rIns="25400" bIns="38100" rtlCol="0" anchor="t" anchorCtr="0">
            <a:noAutofit/>
          </a:bodyPr>
          <a:lstStyle>
            <a:lvl1pPr marL="0" marR="0" algn="ctr" defTabSz="1219170" rtl="0" eaLnBrk="1" fontAlgn="auto" latinLnBrk="0" hangingPunct="1">
              <a:lnSpc>
                <a:spcPct val="100000"/>
              </a:lnSpc>
              <a:buNone/>
              <a:defRPr kumimoji="0" lang="zh-CN" altLang="en-US" sz="5400" b="0" i="0" u="none" strike="noStrike" kern="1200" cap="none" spc="800" normalizeH="0" baseline="0" noProof="1" dirty="0">
                <a:solidFill>
                  <a:schemeClr val="accent4">
                    <a:lumMod val="100000"/>
                  </a:schemeClr>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21854154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theme" Target="../theme/theme3.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6.xml"/><Relationship Id="rId18" Type="http://schemas.openxmlformats.org/officeDocument/2006/relationships/tags" Target="../tags/tag1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4.xml"/><Relationship Id="rId17" Type="http://schemas.openxmlformats.org/officeDocument/2006/relationships/tags" Target="../tags/tag10.xml"/><Relationship Id="rId2" Type="http://schemas.openxmlformats.org/officeDocument/2006/relationships/slideLayout" Target="../slideLayouts/slideLayout18.xml"/><Relationship Id="rId16" Type="http://schemas.openxmlformats.org/officeDocument/2006/relationships/tags" Target="../tags/tag9.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ags" Target="../tags/tag8.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ags" Target="../tags/tag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1">
            <a:extLst>
              <a:ext uri="{FF2B5EF4-FFF2-40B4-BE49-F238E27FC236}">
                <a16:creationId xmlns:a16="http://schemas.microsoft.com/office/drawing/2014/main" id="{3E5BDF66-AA4A-55C5-5D74-FB9EAB22DA7F}"/>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4453" t="7457" r="8516" b="14161"/>
          <a:stretch/>
        </p:blipFill>
        <p:spPr>
          <a:xfrm>
            <a:off x="28304" y="0"/>
            <a:ext cx="12192000" cy="6858000"/>
          </a:xfrm>
          <a:prstGeom prst="rect">
            <a:avLst/>
          </a:prstGeom>
        </p:spPr>
      </p:pic>
    </p:spTree>
    <p:extLst>
      <p:ext uri="{BB962C8B-B14F-4D97-AF65-F5344CB8AC3E}">
        <p14:creationId xmlns:p14="http://schemas.microsoft.com/office/powerpoint/2010/main" val="2566586881"/>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67" r:id="rId3"/>
  </p:sldLayoutIdLst>
  <p:txStyles>
    <p:titleStyle>
      <a:lvl1pPr algn="l" defTabSz="91268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268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4936" indent="-228594" algn="l" defTabSz="91268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125" indent="-228594" algn="l" defTabSz="91268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8467"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4pPr>
      <a:lvl5pPr marL="2055655"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5pPr>
      <a:lvl6pPr marL="2511997"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69186"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5528"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1870"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p:bodyStyle>
    <p:otherStyle>
      <a:defPPr>
        <a:defRPr lang="zh-CN"/>
      </a:defPPr>
      <a:lvl1pPr marL="0" algn="l" defTabSz="912684" rtl="0" eaLnBrk="1" latinLnBrk="0" hangingPunct="1">
        <a:defRPr sz="1867" kern="1200">
          <a:solidFill>
            <a:schemeClr val="tx1"/>
          </a:solidFill>
          <a:latin typeface="+mn-lt"/>
          <a:ea typeface="+mn-ea"/>
          <a:cs typeface="+mn-cs"/>
        </a:defRPr>
      </a:lvl1pPr>
      <a:lvl2pPr marL="456342" algn="l" defTabSz="912684" rtl="0" eaLnBrk="1" latinLnBrk="0" hangingPunct="1">
        <a:defRPr sz="1867" kern="1200">
          <a:solidFill>
            <a:schemeClr val="tx1"/>
          </a:solidFill>
          <a:latin typeface="+mn-lt"/>
          <a:ea typeface="+mn-ea"/>
          <a:cs typeface="+mn-cs"/>
        </a:defRPr>
      </a:lvl2pPr>
      <a:lvl3pPr marL="913530" algn="l" defTabSz="912684" rtl="0" eaLnBrk="1" latinLnBrk="0" hangingPunct="1">
        <a:defRPr sz="1867" kern="1200">
          <a:solidFill>
            <a:schemeClr val="tx1"/>
          </a:solidFill>
          <a:latin typeface="+mn-lt"/>
          <a:ea typeface="+mn-ea"/>
          <a:cs typeface="+mn-cs"/>
        </a:defRPr>
      </a:lvl3pPr>
      <a:lvl4pPr marL="1369872" algn="l" defTabSz="912684" rtl="0" eaLnBrk="1" latinLnBrk="0" hangingPunct="1">
        <a:defRPr sz="1867" kern="1200">
          <a:solidFill>
            <a:schemeClr val="tx1"/>
          </a:solidFill>
          <a:latin typeface="+mn-lt"/>
          <a:ea typeface="+mn-ea"/>
          <a:cs typeface="+mn-cs"/>
        </a:defRPr>
      </a:lvl4pPr>
      <a:lvl5pPr marL="1827061" algn="l" defTabSz="912684" rtl="0" eaLnBrk="1" latinLnBrk="0" hangingPunct="1">
        <a:defRPr sz="1867" kern="1200">
          <a:solidFill>
            <a:schemeClr val="tx1"/>
          </a:solidFill>
          <a:latin typeface="+mn-lt"/>
          <a:ea typeface="+mn-ea"/>
          <a:cs typeface="+mn-cs"/>
        </a:defRPr>
      </a:lvl5pPr>
      <a:lvl6pPr marL="2283403" algn="l" defTabSz="912684" rtl="0" eaLnBrk="1" latinLnBrk="0" hangingPunct="1">
        <a:defRPr sz="1867" kern="1200">
          <a:solidFill>
            <a:schemeClr val="tx1"/>
          </a:solidFill>
          <a:latin typeface="+mn-lt"/>
          <a:ea typeface="+mn-ea"/>
          <a:cs typeface="+mn-cs"/>
        </a:defRPr>
      </a:lvl6pPr>
      <a:lvl7pPr marL="2740591" algn="l" defTabSz="912684" rtl="0" eaLnBrk="1" latinLnBrk="0" hangingPunct="1">
        <a:defRPr sz="1867" kern="1200">
          <a:solidFill>
            <a:schemeClr val="tx1"/>
          </a:solidFill>
          <a:latin typeface="+mn-lt"/>
          <a:ea typeface="+mn-ea"/>
          <a:cs typeface="+mn-cs"/>
        </a:defRPr>
      </a:lvl7pPr>
      <a:lvl8pPr marL="3196933" algn="l" defTabSz="912684" rtl="0" eaLnBrk="1" latinLnBrk="0" hangingPunct="1">
        <a:defRPr sz="1867" kern="1200">
          <a:solidFill>
            <a:schemeClr val="tx1"/>
          </a:solidFill>
          <a:latin typeface="+mn-lt"/>
          <a:ea typeface="+mn-ea"/>
          <a:cs typeface="+mn-cs"/>
        </a:defRPr>
      </a:lvl8pPr>
      <a:lvl9pPr marL="3654122" algn="l" defTabSz="912684" rtl="0" eaLnBrk="1" latinLnBrk="0" hangingPunct="1">
        <a:defRPr sz="186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3">
            <a:extLst>
              <a:ext uri="{FF2B5EF4-FFF2-40B4-BE49-F238E27FC236}">
                <a16:creationId xmlns:a16="http://schemas.microsoft.com/office/drawing/2014/main" id="{13C894BB-0C66-5CB1-E03F-E26DA015F600}"/>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4454" t="7457" r="14512" b="19561"/>
          <a:stretch/>
        </p:blipFill>
        <p:spPr>
          <a:xfrm flipH="1">
            <a:off x="0" y="0"/>
            <a:ext cx="12192001" cy="6858000"/>
          </a:xfrm>
          <a:prstGeom prst="rect">
            <a:avLst/>
          </a:prstGeom>
        </p:spPr>
      </p:pic>
      <p:sp>
        <p:nvSpPr>
          <p:cNvPr id="3" name="標題版面配置區 2">
            <a:extLst>
              <a:ext uri="{FF2B5EF4-FFF2-40B4-BE49-F238E27FC236}">
                <a16:creationId xmlns:a16="http://schemas.microsoft.com/office/drawing/2014/main" id="{910C4F6E-2517-B7F6-CBB3-EFA8DDCECFCE}"/>
              </a:ext>
            </a:extLst>
          </p:cNvPr>
          <p:cNvSpPr>
            <a:spLocks noGrp="1"/>
          </p:cNvSpPr>
          <p:nvPr>
            <p:ph type="title"/>
          </p:nvPr>
        </p:nvSpPr>
        <p:spPr>
          <a:xfrm>
            <a:off x="4793672" y="2498726"/>
            <a:ext cx="7162801" cy="1325563"/>
          </a:xfrm>
          <a:prstGeom prst="rect">
            <a:avLst/>
          </a:prstGeom>
        </p:spPr>
        <p:txBody>
          <a:bodyPr vert="horz" lIns="91440" tIns="45720" rIns="91440" bIns="45720" rtlCol="0" anchor="ctr">
            <a:normAutofit/>
          </a:bodyPr>
          <a:lstStyle/>
          <a:p>
            <a:r>
              <a:rPr lang="zh-TW" altLang="en-US" dirty="0"/>
              <a:t>按一下以編輯母片標題樣式</a:t>
            </a:r>
          </a:p>
        </p:txBody>
      </p:sp>
    </p:spTree>
    <p:extLst>
      <p:ext uri="{BB962C8B-B14F-4D97-AF65-F5344CB8AC3E}">
        <p14:creationId xmlns:p14="http://schemas.microsoft.com/office/powerpoint/2010/main" val="1674900566"/>
      </p:ext>
    </p:extLst>
  </p:cSld>
  <p:clrMap bg1="lt1" tx1="dk1" bg2="lt2" tx2="dk2" accent1="accent1" accent2="accent2" accent3="accent3" accent4="accent4" accent5="accent5" accent6="accent6" hlink="hlink" folHlink="folHlink"/>
  <p:sldLayoutIdLst>
    <p:sldLayoutId id="2147483696" r:id="rId1"/>
    <p:sldLayoutId id="2147483718" r:id="rId2"/>
    <p:sldLayoutId id="2147483720" r:id="rId3"/>
    <p:sldLayoutId id="2147483719" r:id="rId4"/>
  </p:sldLayoutIdLst>
  <p:txStyles>
    <p:titleStyle>
      <a:lvl1pPr algn="l" defTabSz="912684" rtl="0" eaLnBrk="1" latinLnBrk="0" hangingPunct="1">
        <a:lnSpc>
          <a:spcPct val="90000"/>
        </a:lnSpc>
        <a:spcBef>
          <a:spcPct val="0"/>
        </a:spcBef>
        <a:buNone/>
        <a:defRPr kumimoji="1" lang="zh-TW" altLang="en-US" sz="4400" b="1" kern="1200" dirty="0">
          <a:solidFill>
            <a:schemeClr val="accent2"/>
          </a:solidFill>
          <a:latin typeface="Microsoft JhengHei" panose="020B0604030504040204" pitchFamily="34" charset="-120"/>
          <a:ea typeface="Microsoft JhengHei" panose="020B0604030504040204" pitchFamily="34" charset="-120"/>
          <a:cs typeface="+mn-cs"/>
        </a:defRPr>
      </a:lvl1pPr>
    </p:titleStyle>
    <p:bodyStyle>
      <a:lvl1pPr marL="228594" indent="-228594" algn="l" defTabSz="91268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4936" indent="-228594" algn="l" defTabSz="91268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125" indent="-228594" algn="l" defTabSz="91268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8467"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4pPr>
      <a:lvl5pPr marL="2055655"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5pPr>
      <a:lvl6pPr marL="2511997"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69186"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5528"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1870"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p:bodyStyle>
    <p:otherStyle>
      <a:defPPr>
        <a:defRPr lang="zh-CN"/>
      </a:defPPr>
      <a:lvl1pPr marL="0" algn="l" defTabSz="912684" rtl="0" eaLnBrk="1" latinLnBrk="0" hangingPunct="1">
        <a:defRPr sz="1867" kern="1200">
          <a:solidFill>
            <a:schemeClr val="tx1"/>
          </a:solidFill>
          <a:latin typeface="+mn-lt"/>
          <a:ea typeface="+mn-ea"/>
          <a:cs typeface="+mn-cs"/>
        </a:defRPr>
      </a:lvl1pPr>
      <a:lvl2pPr marL="456342" algn="l" defTabSz="912684" rtl="0" eaLnBrk="1" latinLnBrk="0" hangingPunct="1">
        <a:defRPr sz="1867" kern="1200">
          <a:solidFill>
            <a:schemeClr val="tx1"/>
          </a:solidFill>
          <a:latin typeface="+mn-lt"/>
          <a:ea typeface="+mn-ea"/>
          <a:cs typeface="+mn-cs"/>
        </a:defRPr>
      </a:lvl2pPr>
      <a:lvl3pPr marL="913530" algn="l" defTabSz="912684" rtl="0" eaLnBrk="1" latinLnBrk="0" hangingPunct="1">
        <a:defRPr sz="1867" kern="1200">
          <a:solidFill>
            <a:schemeClr val="tx1"/>
          </a:solidFill>
          <a:latin typeface="+mn-lt"/>
          <a:ea typeface="+mn-ea"/>
          <a:cs typeface="+mn-cs"/>
        </a:defRPr>
      </a:lvl3pPr>
      <a:lvl4pPr marL="1369872" algn="l" defTabSz="912684" rtl="0" eaLnBrk="1" latinLnBrk="0" hangingPunct="1">
        <a:defRPr sz="1867" kern="1200">
          <a:solidFill>
            <a:schemeClr val="tx1"/>
          </a:solidFill>
          <a:latin typeface="+mn-lt"/>
          <a:ea typeface="+mn-ea"/>
          <a:cs typeface="+mn-cs"/>
        </a:defRPr>
      </a:lvl4pPr>
      <a:lvl5pPr marL="1827061" algn="l" defTabSz="912684" rtl="0" eaLnBrk="1" latinLnBrk="0" hangingPunct="1">
        <a:defRPr sz="1867" kern="1200">
          <a:solidFill>
            <a:schemeClr val="tx1"/>
          </a:solidFill>
          <a:latin typeface="+mn-lt"/>
          <a:ea typeface="+mn-ea"/>
          <a:cs typeface="+mn-cs"/>
        </a:defRPr>
      </a:lvl5pPr>
      <a:lvl6pPr marL="2283403" algn="l" defTabSz="912684" rtl="0" eaLnBrk="1" latinLnBrk="0" hangingPunct="1">
        <a:defRPr sz="1867" kern="1200">
          <a:solidFill>
            <a:schemeClr val="tx1"/>
          </a:solidFill>
          <a:latin typeface="+mn-lt"/>
          <a:ea typeface="+mn-ea"/>
          <a:cs typeface="+mn-cs"/>
        </a:defRPr>
      </a:lvl6pPr>
      <a:lvl7pPr marL="2740591" algn="l" defTabSz="912684" rtl="0" eaLnBrk="1" latinLnBrk="0" hangingPunct="1">
        <a:defRPr sz="1867" kern="1200">
          <a:solidFill>
            <a:schemeClr val="tx1"/>
          </a:solidFill>
          <a:latin typeface="+mn-lt"/>
          <a:ea typeface="+mn-ea"/>
          <a:cs typeface="+mn-cs"/>
        </a:defRPr>
      </a:lvl7pPr>
      <a:lvl8pPr marL="3196933" algn="l" defTabSz="912684" rtl="0" eaLnBrk="1" latinLnBrk="0" hangingPunct="1">
        <a:defRPr sz="1867" kern="1200">
          <a:solidFill>
            <a:schemeClr val="tx1"/>
          </a:solidFill>
          <a:latin typeface="+mn-lt"/>
          <a:ea typeface="+mn-ea"/>
          <a:cs typeface="+mn-cs"/>
        </a:defRPr>
      </a:lvl8pPr>
      <a:lvl9pPr marL="3654122" algn="l" defTabSz="912684" rtl="0" eaLnBrk="1" latinLnBrk="0" hangingPunct="1">
        <a:defRPr sz="1867"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9D500C2-A576-6B8B-5A5F-E710A98568D7}"/>
              </a:ext>
            </a:extLst>
          </p:cNvPr>
          <p:cNvGrpSpPr/>
          <p:nvPr userDrawn="1"/>
        </p:nvGrpSpPr>
        <p:grpSpPr>
          <a:xfrm>
            <a:off x="180138" y="313178"/>
            <a:ext cx="11831724" cy="423839"/>
            <a:chOff x="371" y="507"/>
            <a:chExt cx="13493" cy="492"/>
          </a:xfrm>
        </p:grpSpPr>
        <p:sp>
          <p:nvSpPr>
            <p:cNvPr id="3" name="箭头: V 形 3">
              <a:extLst>
                <a:ext uri="{FF2B5EF4-FFF2-40B4-BE49-F238E27FC236}">
                  <a16:creationId xmlns:a16="http://schemas.microsoft.com/office/drawing/2014/main" id="{470A420B-06DE-5AE7-9E5C-8BDB31357ECE}"/>
                </a:ext>
              </a:extLst>
            </p:cNvPr>
            <p:cNvSpPr/>
            <p:nvPr/>
          </p:nvSpPr>
          <p:spPr>
            <a:xfrm>
              <a:off x="713" y="514"/>
              <a:ext cx="419" cy="485"/>
            </a:xfrm>
            <a:prstGeom prst="chevr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350" dirty="0">
                <a:solidFill>
                  <a:schemeClr val="tx1"/>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4" name="箭头: V 形 4">
              <a:extLst>
                <a:ext uri="{FF2B5EF4-FFF2-40B4-BE49-F238E27FC236}">
                  <a16:creationId xmlns:a16="http://schemas.microsoft.com/office/drawing/2014/main" id="{AB32D118-38ED-86A2-B8C0-38B98ADE3EAE}"/>
                </a:ext>
              </a:extLst>
            </p:cNvPr>
            <p:cNvSpPr/>
            <p:nvPr/>
          </p:nvSpPr>
          <p:spPr>
            <a:xfrm>
              <a:off x="1014" y="507"/>
              <a:ext cx="419" cy="48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tx1"/>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5" name="直接连接符 6">
              <a:extLst>
                <a:ext uri="{FF2B5EF4-FFF2-40B4-BE49-F238E27FC236}">
                  <a16:creationId xmlns:a16="http://schemas.microsoft.com/office/drawing/2014/main" id="{D1D552F2-3B0E-1CCC-A459-AB90CF4018EB}"/>
                </a:ext>
              </a:extLst>
            </p:cNvPr>
            <p:cNvCxnSpPr/>
            <p:nvPr/>
          </p:nvCxnSpPr>
          <p:spPr>
            <a:xfrm>
              <a:off x="1609" y="992"/>
              <a:ext cx="12255" cy="0"/>
            </a:xfrm>
            <a:prstGeom prst="line">
              <a:avLst/>
            </a:prstGeom>
            <a:ln>
              <a:solidFill>
                <a:schemeClr val="accent2"/>
              </a:solidFill>
              <a:prstDash val="lgDash"/>
              <a:tailEnd type="oval"/>
            </a:ln>
          </p:spPr>
          <p:style>
            <a:lnRef idx="1">
              <a:schemeClr val="accent1"/>
            </a:lnRef>
            <a:fillRef idx="0">
              <a:schemeClr val="accent1"/>
            </a:fillRef>
            <a:effectRef idx="0">
              <a:schemeClr val="accent1"/>
            </a:effectRef>
            <a:fontRef idx="minor">
              <a:schemeClr val="tx1"/>
            </a:fontRef>
          </p:style>
        </p:cxnSp>
        <p:sp>
          <p:nvSpPr>
            <p:cNvPr id="7" name="箭头: V 形 8">
              <a:extLst>
                <a:ext uri="{FF2B5EF4-FFF2-40B4-BE49-F238E27FC236}">
                  <a16:creationId xmlns:a16="http://schemas.microsoft.com/office/drawing/2014/main" id="{8F4A7F1C-84A5-7684-3F76-66337113605D}"/>
                </a:ext>
              </a:extLst>
            </p:cNvPr>
            <p:cNvSpPr/>
            <p:nvPr/>
          </p:nvSpPr>
          <p:spPr>
            <a:xfrm>
              <a:off x="371" y="507"/>
              <a:ext cx="419" cy="485"/>
            </a:xfrm>
            <a:prstGeom prst="chevr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350" dirty="0">
                <a:solidFill>
                  <a:schemeClr val="tx1"/>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grpSp>
      <p:sp>
        <p:nvSpPr>
          <p:cNvPr id="8" name="標題版面配置區 7">
            <a:extLst>
              <a:ext uri="{FF2B5EF4-FFF2-40B4-BE49-F238E27FC236}">
                <a16:creationId xmlns:a16="http://schemas.microsoft.com/office/drawing/2014/main" id="{5C9C2DD6-B5F0-3B88-C75C-CAD9AF7300A4}"/>
              </a:ext>
            </a:extLst>
          </p:cNvPr>
          <p:cNvSpPr>
            <a:spLocks noGrp="1"/>
          </p:cNvSpPr>
          <p:nvPr>
            <p:ph type="title"/>
          </p:nvPr>
        </p:nvSpPr>
        <p:spPr>
          <a:xfrm>
            <a:off x="1986152" y="292549"/>
            <a:ext cx="4179122" cy="438438"/>
          </a:xfrm>
          <a:prstGeom prst="rect">
            <a:avLst/>
          </a:prstGeom>
        </p:spPr>
        <p:txBody>
          <a:bodyPr vert="horz" lIns="91440" tIns="45720" rIns="91440" bIns="45720" rtlCol="0" anchor="ctr">
            <a:normAutofit/>
          </a:bodyPr>
          <a:lstStyle/>
          <a:p>
            <a:r>
              <a:rPr lang="zh-TW" altLang="en-US" dirty="0"/>
              <a:t>按一下以編輯母片標題樣式</a:t>
            </a:r>
          </a:p>
        </p:txBody>
      </p:sp>
    </p:spTree>
    <p:extLst>
      <p:ext uri="{BB962C8B-B14F-4D97-AF65-F5344CB8AC3E}">
        <p14:creationId xmlns:p14="http://schemas.microsoft.com/office/powerpoint/2010/main" val="401784007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21" r:id="rId9"/>
  </p:sldLayoutIdLst>
  <p:hf hdr="0" ftr="0" dt="0"/>
  <p:txStyles>
    <p:titleStyle>
      <a:lvl1pPr algn="l" defTabSz="912684" rtl="0" eaLnBrk="1" latinLnBrk="0" hangingPunct="1">
        <a:lnSpc>
          <a:spcPct val="90000"/>
        </a:lnSpc>
        <a:spcBef>
          <a:spcPct val="0"/>
        </a:spcBef>
        <a:buNone/>
        <a:defRPr lang="zh-TW" altLang="en-US" sz="2400" b="1" kern="1200" dirty="0">
          <a:solidFill>
            <a:schemeClr val="tx2"/>
          </a:solidFill>
          <a:latin typeface="Microsoft JhengHei" panose="020B0604030504040204" pitchFamily="34" charset="-120"/>
          <a:ea typeface="Microsoft JhengHei" panose="020B0604030504040204" pitchFamily="34" charset="-120"/>
          <a:cs typeface="+mn-ea"/>
        </a:defRPr>
      </a:lvl1pPr>
    </p:titleStyle>
    <p:bodyStyle>
      <a:lvl1pPr marL="228594" indent="-228594" algn="l" defTabSz="91268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4936" indent="-228594" algn="l" defTabSz="91268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125" indent="-228594" algn="l" defTabSz="91268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8467"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4pPr>
      <a:lvl5pPr marL="2055655"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5pPr>
      <a:lvl6pPr marL="2511997"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69186"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5528"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1870"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p:bodyStyle>
    <p:otherStyle>
      <a:defPPr>
        <a:defRPr lang="zh-CN"/>
      </a:defPPr>
      <a:lvl1pPr marL="0" algn="l" defTabSz="912684" rtl="0" eaLnBrk="1" latinLnBrk="0" hangingPunct="1">
        <a:defRPr sz="1867" kern="1200">
          <a:solidFill>
            <a:schemeClr val="tx1"/>
          </a:solidFill>
          <a:latin typeface="+mn-lt"/>
          <a:ea typeface="+mn-ea"/>
          <a:cs typeface="+mn-cs"/>
        </a:defRPr>
      </a:lvl1pPr>
      <a:lvl2pPr marL="456342" algn="l" defTabSz="912684" rtl="0" eaLnBrk="1" latinLnBrk="0" hangingPunct="1">
        <a:defRPr sz="1867" kern="1200">
          <a:solidFill>
            <a:schemeClr val="tx1"/>
          </a:solidFill>
          <a:latin typeface="+mn-lt"/>
          <a:ea typeface="+mn-ea"/>
          <a:cs typeface="+mn-cs"/>
        </a:defRPr>
      </a:lvl2pPr>
      <a:lvl3pPr marL="913530" algn="l" defTabSz="912684" rtl="0" eaLnBrk="1" latinLnBrk="0" hangingPunct="1">
        <a:defRPr sz="1867" kern="1200">
          <a:solidFill>
            <a:schemeClr val="tx1"/>
          </a:solidFill>
          <a:latin typeface="+mn-lt"/>
          <a:ea typeface="+mn-ea"/>
          <a:cs typeface="+mn-cs"/>
        </a:defRPr>
      </a:lvl3pPr>
      <a:lvl4pPr marL="1369872" algn="l" defTabSz="912684" rtl="0" eaLnBrk="1" latinLnBrk="0" hangingPunct="1">
        <a:defRPr sz="1867" kern="1200">
          <a:solidFill>
            <a:schemeClr val="tx1"/>
          </a:solidFill>
          <a:latin typeface="+mn-lt"/>
          <a:ea typeface="+mn-ea"/>
          <a:cs typeface="+mn-cs"/>
        </a:defRPr>
      </a:lvl4pPr>
      <a:lvl5pPr marL="1827061" algn="l" defTabSz="912684" rtl="0" eaLnBrk="1" latinLnBrk="0" hangingPunct="1">
        <a:defRPr sz="1867" kern="1200">
          <a:solidFill>
            <a:schemeClr val="tx1"/>
          </a:solidFill>
          <a:latin typeface="+mn-lt"/>
          <a:ea typeface="+mn-ea"/>
          <a:cs typeface="+mn-cs"/>
        </a:defRPr>
      </a:lvl5pPr>
      <a:lvl6pPr marL="2283403" algn="l" defTabSz="912684" rtl="0" eaLnBrk="1" latinLnBrk="0" hangingPunct="1">
        <a:defRPr sz="1867" kern="1200">
          <a:solidFill>
            <a:schemeClr val="tx1"/>
          </a:solidFill>
          <a:latin typeface="+mn-lt"/>
          <a:ea typeface="+mn-ea"/>
          <a:cs typeface="+mn-cs"/>
        </a:defRPr>
      </a:lvl6pPr>
      <a:lvl7pPr marL="2740591" algn="l" defTabSz="912684" rtl="0" eaLnBrk="1" latinLnBrk="0" hangingPunct="1">
        <a:defRPr sz="1867" kern="1200">
          <a:solidFill>
            <a:schemeClr val="tx1"/>
          </a:solidFill>
          <a:latin typeface="+mn-lt"/>
          <a:ea typeface="+mn-ea"/>
          <a:cs typeface="+mn-cs"/>
        </a:defRPr>
      </a:lvl7pPr>
      <a:lvl8pPr marL="3196933" algn="l" defTabSz="912684" rtl="0" eaLnBrk="1" latinLnBrk="0" hangingPunct="1">
        <a:defRPr sz="1867" kern="1200">
          <a:solidFill>
            <a:schemeClr val="tx1"/>
          </a:solidFill>
          <a:latin typeface="+mn-lt"/>
          <a:ea typeface="+mn-ea"/>
          <a:cs typeface="+mn-cs"/>
        </a:defRPr>
      </a:lvl8pPr>
      <a:lvl9pPr marL="3654122" algn="l" defTabSz="912684" rtl="0" eaLnBrk="1" latinLnBrk="0" hangingPunct="1">
        <a:defRPr sz="1867"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69883"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69883"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879743" y="6349833"/>
            <a:ext cx="2700000" cy="316800"/>
          </a:xfrm>
          <a:prstGeom prst="rect">
            <a:avLst/>
          </a:prstGeom>
        </p:spPr>
        <p:txBody>
          <a:bodyPr vert="horz" lIns="91440" tIns="45720" rIns="91440" bIns="45720" rtlCol="0" anchor="ctr">
            <a:normAutofit/>
          </a:bodyPr>
          <a:lstStyle>
            <a:lvl1pPr algn="l">
              <a:defRPr sz="1200">
                <a:solidFill>
                  <a:schemeClr val="accent4">
                    <a:lumMod val="100000"/>
                    <a:tint val="75000"/>
                  </a:schemeClr>
                </a:solidFill>
              </a:defRPr>
            </a:lvl1pPr>
          </a:lstStyle>
          <a:p>
            <a:endParaRPr lang="zh-CN" altLang="en-US"/>
          </a:p>
        </p:txBody>
      </p:sp>
      <p:sp>
        <p:nvSpPr>
          <p:cNvPr id="5" name="页脚占位符 4"/>
          <p:cNvSpPr>
            <a:spLocks noGrp="1"/>
          </p:cNvSpPr>
          <p:nvPr>
            <p:ph type="ftr" sz="quarter" idx="3"/>
            <p:custDataLst>
              <p:tags r:id="rId16"/>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accent4">
                    <a:lumMod val="100000"/>
                    <a:tint val="75000"/>
                  </a:schemeClr>
                </a:solidFill>
              </a:defRPr>
            </a:lvl1pPr>
          </a:lstStyle>
          <a:p>
            <a:fld id="{49AE70B2-8BF9-45C0-BB95-33D1B9D3A854}" type="slidenum">
              <a:rPr lang="zh-CN" altLang="en-US" smtClean="0"/>
              <a:pPr/>
              <a:t>‹#›</a:t>
            </a:fld>
            <a:endParaRPr lang="zh-CN" altLang="en-US" dirty="0"/>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2953267744"/>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hdr="0" ftr="0" dt="0"/>
  <p:txStyles>
    <p:titleStyle>
      <a:lvl1pPr algn="l" defTabSz="914377" rtl="0" eaLnBrk="1" fontAlgn="auto" latinLnBrk="0" hangingPunct="1">
        <a:lnSpc>
          <a:spcPct val="100000"/>
        </a:lnSpc>
        <a:spcBef>
          <a:spcPct val="0"/>
        </a:spcBef>
        <a:buNone/>
        <a:defRPr sz="2800" b="1" u="none" strike="noStrike" kern="1200" cap="none" spc="267" normalizeH="0">
          <a:solidFill>
            <a:schemeClr val="accent4">
              <a:lumMod val="100000"/>
            </a:schemeClr>
          </a:solidFill>
          <a:uFillTx/>
          <a:latin typeface="+mj-lt"/>
          <a:ea typeface="+mj-ea"/>
          <a:cs typeface="+mj-cs"/>
        </a:defRPr>
      </a:lvl1pPr>
    </p:titleStyle>
    <p:bodyStyle>
      <a:lvl1pPr marL="228594" indent="-228594" algn="l" defTabSz="914377" rtl="0" eaLnBrk="1" fontAlgn="auto" latinLnBrk="0" hangingPunct="1">
        <a:lnSpc>
          <a:spcPct val="130000"/>
        </a:lnSpc>
        <a:spcBef>
          <a:spcPts val="0"/>
        </a:spcBef>
        <a:spcAft>
          <a:spcPts val="1333"/>
        </a:spcAft>
        <a:buFont typeface="Arial" panose="020B0604020202020204" pitchFamily="34" charset="0"/>
        <a:buChar char="•"/>
        <a:defRPr sz="1600" u="none" strike="noStrike" kern="1200" cap="none" spc="200" normalizeH="0" baseline="0">
          <a:solidFill>
            <a:schemeClr val="accent4">
              <a:lumMod val="100000"/>
            </a:schemeClr>
          </a:solidFill>
          <a:uFillTx/>
          <a:latin typeface="+mn-lt"/>
          <a:ea typeface="+mn-ea"/>
          <a:cs typeface="+mn-cs"/>
        </a:defRPr>
      </a:lvl1pPr>
      <a:lvl2pPr marL="685783" indent="-228594" algn="l" defTabSz="914377" rtl="0" eaLnBrk="1" fontAlgn="auto" latinLnBrk="0" hangingPunct="1">
        <a:lnSpc>
          <a:spcPct val="130000"/>
        </a:lnSpc>
        <a:spcBef>
          <a:spcPts val="0"/>
        </a:spcBef>
        <a:spcAft>
          <a:spcPts val="1333"/>
        </a:spcAft>
        <a:buFont typeface="Arial" panose="020B0604020202020204" pitchFamily="34" charset="0"/>
        <a:buChar char="•"/>
        <a:tabLst>
          <a:tab pos="1609473" algn="l"/>
        </a:tabLst>
        <a:defRPr sz="1600" u="none" strike="noStrike" kern="1200" cap="none" spc="200" normalizeH="0" baseline="0">
          <a:solidFill>
            <a:schemeClr val="accent4">
              <a:lumMod val="100000"/>
            </a:schemeClr>
          </a:solidFill>
          <a:uFillTx/>
          <a:latin typeface="+mn-lt"/>
          <a:ea typeface="+mn-ea"/>
          <a:cs typeface="+mn-cs"/>
        </a:defRPr>
      </a:lvl2pPr>
      <a:lvl3pPr marL="1142971" indent="-228594" algn="l" defTabSz="914377" rtl="0" eaLnBrk="1" fontAlgn="auto" latinLnBrk="0" hangingPunct="1">
        <a:lnSpc>
          <a:spcPct val="130000"/>
        </a:lnSpc>
        <a:spcBef>
          <a:spcPts val="0"/>
        </a:spcBef>
        <a:spcAft>
          <a:spcPts val="1333"/>
        </a:spcAft>
        <a:buFont typeface="Arial" panose="020B0604020202020204" pitchFamily="34" charset="0"/>
        <a:buChar char="•"/>
        <a:defRPr sz="1600" u="none" strike="noStrike" kern="1200" cap="none" spc="200" normalizeH="0" baseline="0">
          <a:solidFill>
            <a:schemeClr val="accent4">
              <a:lumMod val="100000"/>
            </a:schemeClr>
          </a:solidFill>
          <a:uFillTx/>
          <a:latin typeface="+mn-lt"/>
          <a:ea typeface="+mn-ea"/>
          <a:cs typeface="+mn-cs"/>
        </a:defRPr>
      </a:lvl3pPr>
      <a:lvl4pPr marL="1600160" indent="-228594" algn="l" defTabSz="914377" rtl="0" eaLnBrk="1" fontAlgn="auto" latinLnBrk="0" hangingPunct="1">
        <a:lnSpc>
          <a:spcPct val="130000"/>
        </a:lnSpc>
        <a:spcBef>
          <a:spcPts val="0"/>
        </a:spcBef>
        <a:spcAft>
          <a:spcPts val="1333"/>
        </a:spcAft>
        <a:buFont typeface="Arial" panose="020B0604020202020204" pitchFamily="34" charset="0"/>
        <a:buChar char="•"/>
        <a:defRPr sz="1600" u="none" strike="noStrike" kern="1200" cap="none" spc="200" normalizeH="0" baseline="0">
          <a:solidFill>
            <a:schemeClr val="accent4">
              <a:lumMod val="100000"/>
            </a:schemeClr>
          </a:solidFill>
          <a:uFillTx/>
          <a:latin typeface="+mn-lt"/>
          <a:ea typeface="+mn-ea"/>
          <a:cs typeface="+mn-cs"/>
        </a:defRPr>
      </a:lvl4pPr>
      <a:lvl5pPr marL="2057349" indent="-228594" algn="l" defTabSz="914377" rtl="0" eaLnBrk="1" fontAlgn="auto" latinLnBrk="0" hangingPunct="1">
        <a:lnSpc>
          <a:spcPct val="130000"/>
        </a:lnSpc>
        <a:spcBef>
          <a:spcPts val="0"/>
        </a:spcBef>
        <a:spcAft>
          <a:spcPts val="1333"/>
        </a:spcAft>
        <a:buFont typeface="Arial" panose="020B0604020202020204" pitchFamily="34" charset="0"/>
        <a:buChar char="•"/>
        <a:defRPr sz="1600" u="none" strike="noStrike" kern="1200" cap="none" spc="200" normalizeH="0" baseline="0">
          <a:solidFill>
            <a:schemeClr val="accent4">
              <a:lumMod val="100000"/>
            </a:schemeClr>
          </a:solidFill>
          <a:uFillTx/>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slide" Target="slide33.xml"/><Relationship Id="rId3" Type="http://schemas.openxmlformats.org/officeDocument/2006/relationships/slide" Target="slide5.xml"/><Relationship Id="rId7" Type="http://schemas.openxmlformats.org/officeDocument/2006/relationships/slide" Target="slide9.xml"/><Relationship Id="rId12" Type="http://schemas.openxmlformats.org/officeDocument/2006/relationships/slide" Target="slide30.xml"/><Relationship Id="rId2" Type="http://schemas.openxmlformats.org/officeDocument/2006/relationships/slide" Target="slide4.xml"/><Relationship Id="rId1" Type="http://schemas.openxmlformats.org/officeDocument/2006/relationships/slideLayout" Target="../slideLayouts/slideLayout3.xml"/><Relationship Id="rId6" Type="http://schemas.openxmlformats.org/officeDocument/2006/relationships/slide" Target="slide8.xml"/><Relationship Id="rId11" Type="http://schemas.openxmlformats.org/officeDocument/2006/relationships/slide" Target="slide27.xml"/><Relationship Id="rId5" Type="http://schemas.openxmlformats.org/officeDocument/2006/relationships/slide" Target="slide7.xml"/><Relationship Id="rId10" Type="http://schemas.openxmlformats.org/officeDocument/2006/relationships/slide" Target="slide23.xml"/><Relationship Id="rId4" Type="http://schemas.openxmlformats.org/officeDocument/2006/relationships/slide" Target="slide6.xml"/><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slide" Target="slide53.xml"/><Relationship Id="rId3" Type="http://schemas.openxmlformats.org/officeDocument/2006/relationships/slide" Target="slide38.xml"/><Relationship Id="rId7" Type="http://schemas.openxmlformats.org/officeDocument/2006/relationships/slide" Target="slide50.xml"/><Relationship Id="rId2" Type="http://schemas.openxmlformats.org/officeDocument/2006/relationships/slide" Target="slide37.xml"/><Relationship Id="rId1" Type="http://schemas.openxmlformats.org/officeDocument/2006/relationships/slideLayout" Target="../slideLayouts/slideLayout3.xml"/><Relationship Id="rId6" Type="http://schemas.openxmlformats.org/officeDocument/2006/relationships/slide" Target="slide48.xml"/><Relationship Id="rId11" Type="http://schemas.openxmlformats.org/officeDocument/2006/relationships/slide" Target="slide57.xml"/><Relationship Id="rId5" Type="http://schemas.openxmlformats.org/officeDocument/2006/relationships/slide" Target="slide22.xml"/><Relationship Id="rId10" Type="http://schemas.openxmlformats.org/officeDocument/2006/relationships/slide" Target="slide56.xml"/><Relationship Id="rId4" Type="http://schemas.openxmlformats.org/officeDocument/2006/relationships/slide" Target="slide45.xml"/><Relationship Id="rId9" Type="http://schemas.openxmlformats.org/officeDocument/2006/relationships/slide" Target="slide5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26.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 Id="rId5" Type="http://schemas.openxmlformats.org/officeDocument/2006/relationships/image" Target="../media/image28.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 Id="rId5" Type="http://schemas.openxmlformats.org/officeDocument/2006/relationships/image" Target="../media/image30.png"/><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9.xml"/><Relationship Id="rId5" Type="http://schemas.openxmlformats.org/officeDocument/2006/relationships/image" Target="../media/image37.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33.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 Target="slide67.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44.png"/><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23.xml"/><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51.png"/><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image" Target="../media/image52.png"/><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23.xml"/><Relationship Id="rId4"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550.png"/><Relationship Id="rId1" Type="http://schemas.openxmlformats.org/officeDocument/2006/relationships/slideLayout" Target="../slideLayouts/slideLayout9.xml"/><Relationship Id="rId6" Type="http://schemas.openxmlformats.org/officeDocument/2006/relationships/image" Target="../media/image300.png"/><Relationship Id="rId5" Type="http://schemas.openxmlformats.org/officeDocument/2006/relationships/slide" Target="slide21.xml"/><Relationship Id="rId4" Type="http://schemas.openxmlformats.org/officeDocument/2006/relationships/image" Target="../media/image290.png"/></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image" Target="../media/image570.png"/><Relationship Id="rId5" Type="http://schemas.openxmlformats.org/officeDocument/2006/relationships/slide" Target="slide13.xml"/><Relationship Id="rId4" Type="http://schemas.openxmlformats.org/officeDocument/2006/relationships/image" Target="../media/image63.png"/></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9.xml"/><Relationship Id="rId6" Type="http://schemas.openxmlformats.org/officeDocument/2006/relationships/image" Target="../media/image350.png"/><Relationship Id="rId5" Type="http://schemas.openxmlformats.org/officeDocument/2006/relationships/slide" Target="slide17.xml"/><Relationship Id="rId4" Type="http://schemas.openxmlformats.org/officeDocument/2006/relationships/image" Target="../media/image65.png"/></Relationships>
</file>

<file path=ppt/slides/_rels/slide67.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image" Target="../media/image66.png"/><Relationship Id="rId1" Type="http://schemas.openxmlformats.org/officeDocument/2006/relationships/slideLayout" Target="../slideLayouts/slideLayout9.xml"/><Relationship Id="rId4" Type="http://schemas.openxmlformats.org/officeDocument/2006/relationships/image" Target="../media/image67.png"/></Relationships>
</file>

<file path=ppt/slides/_rels/slide68.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image" Target="../media/image68.png"/><Relationship Id="rId1" Type="http://schemas.openxmlformats.org/officeDocument/2006/relationships/slideLayout" Target="../slideLayouts/slideLayout9.xml"/><Relationship Id="rId4" Type="http://schemas.openxmlformats.org/officeDocument/2006/relationships/image" Target="../media/image69.png"/></Relationships>
</file>

<file path=ppt/slides/_rels/slide69.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image" Target="../media/image70.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B7EACD14-CB89-E6F8-127D-86DF105579B3}"/>
              </a:ext>
            </a:extLst>
          </p:cNvPr>
          <p:cNvSpPr>
            <a:spLocks noGrp="1"/>
          </p:cNvSpPr>
          <p:nvPr>
            <p:ph type="title"/>
          </p:nvPr>
        </p:nvSpPr>
        <p:spPr>
          <a:xfrm>
            <a:off x="306185" y="1488098"/>
            <a:ext cx="6343998" cy="2342684"/>
          </a:xfrm>
        </p:spPr>
        <p:txBody>
          <a:bodyPr/>
          <a:lstStyle/>
          <a:p>
            <a:pPr algn="ctr">
              <a:lnSpc>
                <a:spcPct val="100000"/>
              </a:lnSpc>
            </a:pPr>
            <a:r>
              <a:rPr lang="zh-TW" altLang="en-US" sz="3600" dirty="0"/>
              <a:t>神經網路模型改良</a:t>
            </a:r>
            <a:r>
              <a:rPr lang="en-US" altLang="zh-TW" sz="3600" dirty="0"/>
              <a:t>CDI</a:t>
            </a:r>
            <a:r>
              <a:rPr lang="zh-TW" altLang="en-US" sz="3600" dirty="0"/>
              <a:t>方法之短期定價核估計</a:t>
            </a:r>
            <a:br>
              <a:rPr lang="en-US" altLang="zh-TW" sz="3600" dirty="0"/>
            </a:br>
            <a:r>
              <a:rPr lang="zh-TW" altLang="en-US" sz="3600" dirty="0"/>
              <a:t>與</a:t>
            </a:r>
            <a:br>
              <a:rPr lang="en-US" altLang="zh-TW" sz="3600" dirty="0"/>
            </a:br>
            <a:r>
              <a:rPr lang="zh-TW" altLang="en-US" sz="3600" dirty="0"/>
              <a:t>投資者情緒分析</a:t>
            </a:r>
          </a:p>
        </p:txBody>
      </p:sp>
      <p:sp>
        <p:nvSpPr>
          <p:cNvPr id="5" name="內容版面配置區 4">
            <a:extLst>
              <a:ext uri="{FF2B5EF4-FFF2-40B4-BE49-F238E27FC236}">
                <a16:creationId xmlns:a16="http://schemas.microsoft.com/office/drawing/2014/main" id="{0F7408DE-D5A4-3E64-02DE-61FA2996CB28}"/>
              </a:ext>
            </a:extLst>
          </p:cNvPr>
          <p:cNvSpPr>
            <a:spLocks noGrp="1"/>
          </p:cNvSpPr>
          <p:nvPr>
            <p:ph sz="quarter" idx="10"/>
          </p:nvPr>
        </p:nvSpPr>
        <p:spPr>
          <a:xfrm>
            <a:off x="1217874" y="3981479"/>
            <a:ext cx="4520620" cy="909175"/>
          </a:xfrm>
        </p:spPr>
        <p:txBody>
          <a:bodyPr/>
          <a:lstStyle/>
          <a:p>
            <a:pPr algn="dist"/>
            <a:r>
              <a:rPr lang="zh-CN" altLang="en-US" sz="2400" dirty="0">
                <a:sym typeface="思源宋体 CN Light" panose="02020300000000000000" pitchFamily="18" charset="-122"/>
              </a:rPr>
              <a:t>指導教</a:t>
            </a:r>
            <a:r>
              <a:rPr lang="zh-TW" altLang="en-US" sz="2400" dirty="0">
                <a:sym typeface="思源宋体 CN Light" panose="02020300000000000000" pitchFamily="18" charset="-122"/>
              </a:rPr>
              <a:t>授</a:t>
            </a:r>
            <a:r>
              <a:rPr lang="en-US" altLang="zh-TW" sz="2400" dirty="0">
                <a:sym typeface="思源宋体 CN Light" panose="02020300000000000000" pitchFamily="18" charset="-122"/>
              </a:rPr>
              <a:t>:</a:t>
            </a:r>
            <a:r>
              <a:rPr lang="zh-CN" altLang="en-US" sz="2400" dirty="0">
                <a:sym typeface="思源宋体 CN Light" panose="02020300000000000000" pitchFamily="18" charset="-122"/>
              </a:rPr>
              <a:t>戴天時 教授</a:t>
            </a:r>
          </a:p>
          <a:p>
            <a:pPr algn="ctr"/>
            <a:r>
              <a:rPr lang="zh-CN" altLang="en-US" sz="2400" dirty="0">
                <a:sym typeface="思源宋体 CN Light" panose="02020300000000000000" pitchFamily="18" charset="-122"/>
              </a:rPr>
              <a:t>研究生</a:t>
            </a:r>
            <a:r>
              <a:rPr lang="en-US" altLang="zh-CN" sz="2400" dirty="0">
                <a:sym typeface="思源宋体 CN Light" panose="02020300000000000000" pitchFamily="18" charset="-122"/>
              </a:rPr>
              <a:t>:</a:t>
            </a:r>
            <a:r>
              <a:rPr lang="zh-TW" altLang="en-US" sz="2400" dirty="0">
                <a:sym typeface="思源宋体 CN Light" panose="02020300000000000000" pitchFamily="18" charset="-122"/>
              </a:rPr>
              <a:t>張祐慈</a:t>
            </a:r>
            <a:endParaRPr lang="zh-CN" altLang="en-US" sz="2400" dirty="0">
              <a:sym typeface="思源宋体 CN Light" panose="02020300000000000000" pitchFamily="18" charset="-122"/>
            </a:endParaRPr>
          </a:p>
        </p:txBody>
      </p:sp>
    </p:spTree>
    <p:extLst>
      <p:ext uri="{BB962C8B-B14F-4D97-AF65-F5344CB8AC3E}">
        <p14:creationId xmlns:p14="http://schemas.microsoft.com/office/powerpoint/2010/main" val="1202563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25C584A2-B12E-F4BB-C55D-BF05E1F9E85B}"/>
              </a:ext>
            </a:extLst>
          </p:cNvPr>
          <p:cNvSpPr>
            <a:spLocks noGrp="1"/>
          </p:cNvSpPr>
          <p:nvPr>
            <p:ph type="title"/>
          </p:nvPr>
        </p:nvSpPr>
        <p:spPr>
          <a:xfrm>
            <a:off x="496038" y="164549"/>
            <a:ext cx="2022764" cy="777874"/>
          </a:xfrm>
        </p:spPr>
        <p:txBody>
          <a:bodyPr/>
          <a:lstStyle/>
          <a:p>
            <a:pPr algn="dist"/>
            <a:r>
              <a:rPr lang="zh-TW" altLang="en-US" sz="6000" dirty="0"/>
              <a:t>目錄</a:t>
            </a:r>
          </a:p>
        </p:txBody>
      </p:sp>
      <p:sp>
        <p:nvSpPr>
          <p:cNvPr id="7" name="內容版面配置區 6">
            <a:extLst>
              <a:ext uri="{FF2B5EF4-FFF2-40B4-BE49-F238E27FC236}">
                <a16:creationId xmlns:a16="http://schemas.microsoft.com/office/drawing/2014/main" id="{B7E03F20-F558-0149-820A-0FAEC6403399}"/>
              </a:ext>
            </a:extLst>
          </p:cNvPr>
          <p:cNvSpPr>
            <a:spLocks noGrp="1"/>
          </p:cNvSpPr>
          <p:nvPr>
            <p:ph idx="1"/>
          </p:nvPr>
        </p:nvSpPr>
        <p:spPr>
          <a:xfrm>
            <a:off x="575677" y="1025793"/>
            <a:ext cx="6960525" cy="5717170"/>
          </a:xfrm>
        </p:spPr>
        <p:txBody>
          <a:bodyPr/>
          <a:lstStyle/>
          <a:p>
            <a:pPr>
              <a:lnSpc>
                <a:spcPct val="150000"/>
              </a:lnSpc>
            </a:pPr>
            <a:r>
              <a:rPr lang="en-US" altLang="zh-TW" sz="2400" dirty="0">
                <a:hlinkClick r:id="rId2" action="ppaction://hlinksldjump"/>
              </a:rPr>
              <a:t>Introduction</a:t>
            </a:r>
            <a:endParaRPr lang="en-US" altLang="zh-TW" sz="2400" dirty="0"/>
          </a:p>
          <a:p>
            <a:pPr lvl="1">
              <a:lnSpc>
                <a:spcPct val="150000"/>
              </a:lnSpc>
            </a:pPr>
            <a:r>
              <a:rPr lang="zh-TW" altLang="en-US" sz="2000" dirty="0">
                <a:hlinkClick r:id="rId3" action="ppaction://hlinksldjump"/>
              </a:rPr>
              <a:t>主要研究結果</a:t>
            </a:r>
            <a:endParaRPr lang="en-US" altLang="zh-TW" sz="2000" dirty="0"/>
          </a:p>
          <a:p>
            <a:pPr lvl="1">
              <a:lnSpc>
                <a:spcPct val="150000"/>
              </a:lnSpc>
            </a:pPr>
            <a:r>
              <a:rPr lang="zh-TW" altLang="en-US" sz="2000" dirty="0">
                <a:hlinkClick r:id="rId4" action="ppaction://hlinksldjump"/>
              </a:rPr>
              <a:t>定價核公式</a:t>
            </a:r>
            <a:endParaRPr lang="en-US" altLang="zh-TW" sz="2000" dirty="0"/>
          </a:p>
          <a:p>
            <a:pPr>
              <a:lnSpc>
                <a:spcPct val="150000"/>
              </a:lnSpc>
            </a:pPr>
            <a:r>
              <a:rPr lang="zh-TW" altLang="en-US" sz="2400" dirty="0">
                <a:hlinkClick r:id="rId5" action="ppaction://hlinksldjump"/>
              </a:rPr>
              <a:t>定價核估計</a:t>
            </a:r>
            <a:endParaRPr lang="en-US" altLang="zh-TW" sz="2400" dirty="0"/>
          </a:p>
          <a:p>
            <a:pPr lvl="1">
              <a:lnSpc>
                <a:spcPct val="150000"/>
              </a:lnSpc>
            </a:pPr>
            <a:r>
              <a:rPr lang="zh-TW" altLang="en-US" sz="2000" dirty="0">
                <a:hlinkClick r:id="rId6" action="ppaction://hlinksldjump"/>
              </a:rPr>
              <a:t>研究方法</a:t>
            </a:r>
            <a:endParaRPr lang="en-US" altLang="zh-TW" sz="2000" dirty="0"/>
          </a:p>
          <a:p>
            <a:pPr lvl="2">
              <a:lnSpc>
                <a:spcPct val="150000"/>
              </a:lnSpc>
              <a:buFont typeface="Wingdings" panose="05000000000000000000" pitchFamily="2" charset="2"/>
              <a:buAutoNum type="circleNumWdWhitePlain"/>
            </a:pPr>
            <a:r>
              <a:rPr lang="zh-TW" altLang="en-US" sz="1600" dirty="0">
                <a:hlinkClick r:id="rId7" action="ppaction://hlinksldjump"/>
              </a:rPr>
              <a:t>定價核估計</a:t>
            </a:r>
            <a:r>
              <a:rPr lang="en-US" altLang="zh-TW" sz="1600" dirty="0">
                <a:hlinkClick r:id="rId7" action="ppaction://hlinksldjump"/>
              </a:rPr>
              <a:t>—CDI </a:t>
            </a:r>
            <a:r>
              <a:rPr lang="zh-TW" altLang="en-US" sz="1600" dirty="0">
                <a:hlinkClick r:id="rId7" action="ppaction://hlinksldjump"/>
              </a:rPr>
              <a:t>方法</a:t>
            </a:r>
            <a:endParaRPr lang="en-US" altLang="zh-TW" sz="1600" dirty="0"/>
          </a:p>
          <a:p>
            <a:pPr lvl="2">
              <a:lnSpc>
                <a:spcPct val="150000"/>
              </a:lnSpc>
              <a:buFont typeface="Wingdings" panose="05000000000000000000" pitchFamily="2" charset="2"/>
              <a:buAutoNum type="circleNumWdWhitePlain"/>
            </a:pPr>
            <a:r>
              <a:rPr lang="zh-TW" altLang="en-US" sz="1600" dirty="0">
                <a:hlinkClick r:id="rId8" action="ppaction://hlinksldjump"/>
              </a:rPr>
              <a:t>神經網路選擇權價格預測模型</a:t>
            </a:r>
            <a:r>
              <a:rPr lang="en-US" altLang="zh-TW" sz="1600" dirty="0">
                <a:hlinkClick r:id="rId8" action="ppaction://hlinksldjump"/>
              </a:rPr>
              <a:t>— CV Model</a:t>
            </a:r>
            <a:endParaRPr lang="zh-TW" altLang="en-US" sz="1600" dirty="0"/>
          </a:p>
          <a:p>
            <a:pPr lvl="1">
              <a:lnSpc>
                <a:spcPct val="150000"/>
              </a:lnSpc>
            </a:pPr>
            <a:r>
              <a:rPr lang="zh-TW" altLang="en-US" sz="2000" dirty="0">
                <a:hlinkClick r:id="rId9" action="ppaction://hlinksldjump"/>
              </a:rPr>
              <a:t>實驗結果</a:t>
            </a:r>
            <a:endParaRPr lang="en-US" altLang="zh-TW" sz="2000" dirty="0"/>
          </a:p>
          <a:p>
            <a:pPr lvl="2">
              <a:lnSpc>
                <a:spcPct val="100000"/>
              </a:lnSpc>
              <a:buFont typeface="Wingdings" panose="05000000000000000000" pitchFamily="2" charset="2"/>
              <a:buAutoNum type="circleNumWdWhitePlain"/>
            </a:pPr>
            <a:r>
              <a:rPr lang="en-US" altLang="zh-TW" sz="1600" dirty="0">
                <a:hlinkClick r:id="rId10" action="ppaction://hlinksldjump"/>
              </a:rPr>
              <a:t>CDI</a:t>
            </a:r>
            <a:r>
              <a:rPr lang="zh-TW" altLang="en-US" sz="1600" dirty="0">
                <a:hlinkClick r:id="rId10" action="ppaction://hlinksldjump"/>
              </a:rPr>
              <a:t>方法 復現實驗</a:t>
            </a:r>
            <a:endParaRPr lang="zh-TW" altLang="en-US" sz="1600" dirty="0"/>
          </a:p>
          <a:p>
            <a:pPr lvl="2">
              <a:lnSpc>
                <a:spcPct val="100000"/>
              </a:lnSpc>
              <a:buFont typeface="Wingdings" panose="05000000000000000000" pitchFamily="2" charset="2"/>
              <a:buAutoNum type="circleNumWdWhitePlain"/>
            </a:pPr>
            <a:r>
              <a:rPr lang="en-US" altLang="zh-TW" sz="1600" dirty="0">
                <a:hlinkClick r:id="rId11" action="ppaction://hlinksldjump"/>
              </a:rPr>
              <a:t>CDI </a:t>
            </a:r>
            <a:r>
              <a:rPr lang="zh-TW" altLang="en-US" sz="1600" dirty="0">
                <a:hlinkClick r:id="rId11" action="ppaction://hlinksldjump"/>
              </a:rPr>
              <a:t>方法</a:t>
            </a:r>
            <a:r>
              <a:rPr lang="en-US" altLang="zh-TW" sz="1600" dirty="0">
                <a:hlinkClick r:id="rId11" action="ppaction://hlinksldjump"/>
              </a:rPr>
              <a:t>— </a:t>
            </a:r>
            <a:r>
              <a:rPr lang="zh-TW" altLang="en-US" sz="1600" dirty="0">
                <a:hlinkClick r:id="rId11" action="ppaction://hlinksldjump"/>
              </a:rPr>
              <a:t>𝝉</a:t>
            </a:r>
            <a:r>
              <a:rPr lang="en-US" altLang="zh-TW" sz="1600" dirty="0">
                <a:hlinkClick r:id="rId11" action="ppaction://hlinksldjump"/>
              </a:rPr>
              <a:t>=10</a:t>
            </a:r>
            <a:endParaRPr lang="en-US" altLang="zh-TW" sz="1600" dirty="0"/>
          </a:p>
          <a:p>
            <a:pPr lvl="2">
              <a:lnSpc>
                <a:spcPct val="100000"/>
              </a:lnSpc>
              <a:buFont typeface="Wingdings" panose="05000000000000000000" pitchFamily="2" charset="2"/>
              <a:buAutoNum type="circleNumWdWhitePlain"/>
            </a:pPr>
            <a:r>
              <a:rPr lang="en-US" altLang="zh-TW" sz="1600" dirty="0">
                <a:hlinkClick r:id="rId12" action="ppaction://hlinksldjump"/>
              </a:rPr>
              <a:t>CDI </a:t>
            </a:r>
            <a:r>
              <a:rPr lang="zh-TW" altLang="en-US" sz="1600" dirty="0">
                <a:hlinkClick r:id="rId12" action="ppaction://hlinksldjump"/>
              </a:rPr>
              <a:t>方法</a:t>
            </a:r>
            <a:r>
              <a:rPr lang="en-US" altLang="zh-TW" sz="1600" dirty="0">
                <a:hlinkClick r:id="rId12" action="ppaction://hlinksldjump"/>
              </a:rPr>
              <a:t>— </a:t>
            </a:r>
            <a:r>
              <a:rPr lang="zh-TW" altLang="en-US" sz="1600" dirty="0">
                <a:hlinkClick r:id="rId12" action="ppaction://hlinksldjump"/>
              </a:rPr>
              <a:t>𝝉</a:t>
            </a:r>
            <a:r>
              <a:rPr lang="en-US" altLang="zh-TW" sz="1600" dirty="0">
                <a:hlinkClick r:id="rId12" action="ppaction://hlinksldjump"/>
              </a:rPr>
              <a:t>=1</a:t>
            </a:r>
            <a:endParaRPr lang="en-US" altLang="zh-TW" sz="1600" dirty="0"/>
          </a:p>
          <a:p>
            <a:pPr lvl="2">
              <a:lnSpc>
                <a:spcPct val="100000"/>
              </a:lnSpc>
              <a:buFont typeface="Wingdings" panose="05000000000000000000" pitchFamily="2" charset="2"/>
              <a:buAutoNum type="circleNumWdWhitePlain"/>
            </a:pPr>
            <a:r>
              <a:rPr lang="en-US" altLang="zh-TW" sz="1600" dirty="0" err="1">
                <a:hlinkClick r:id="rId13" action="ppaction://hlinksldjump"/>
              </a:rPr>
              <a:t>CVModel</a:t>
            </a:r>
            <a:r>
              <a:rPr lang="zh-TW" altLang="en-US" sz="1600" dirty="0">
                <a:hlinkClick r:id="rId13" action="ppaction://hlinksldjump"/>
              </a:rPr>
              <a:t>優化</a:t>
            </a:r>
            <a:r>
              <a:rPr lang="en-US" altLang="zh-TW" sz="1600" dirty="0">
                <a:hlinkClick r:id="rId13" action="ppaction://hlinksldjump"/>
              </a:rPr>
              <a:t>CDI</a:t>
            </a:r>
            <a:r>
              <a:rPr lang="zh-TW" altLang="en-US" sz="1600" dirty="0">
                <a:hlinkClick r:id="rId13" action="ppaction://hlinksldjump"/>
              </a:rPr>
              <a:t>方法</a:t>
            </a:r>
            <a:r>
              <a:rPr lang="en-US" altLang="zh-TW" sz="1600" dirty="0">
                <a:hlinkClick r:id="rId13" action="ppaction://hlinksldjump"/>
              </a:rPr>
              <a:t>— </a:t>
            </a:r>
            <a:r>
              <a:rPr lang="zh-TW" altLang="en-US" sz="1600" dirty="0">
                <a:hlinkClick r:id="rId13" action="ppaction://hlinksldjump"/>
              </a:rPr>
              <a:t>𝝉</a:t>
            </a:r>
            <a:r>
              <a:rPr lang="en-US" altLang="zh-TW" sz="1600" dirty="0">
                <a:hlinkClick r:id="rId13" action="ppaction://hlinksldjump"/>
              </a:rPr>
              <a:t>=1</a:t>
            </a:r>
            <a:endParaRPr lang="en-US" altLang="zh-TW" sz="1600" dirty="0"/>
          </a:p>
          <a:p>
            <a:pPr lvl="2">
              <a:lnSpc>
                <a:spcPct val="150000"/>
              </a:lnSpc>
              <a:buFont typeface="Wingdings" panose="05000000000000000000" pitchFamily="2" charset="2"/>
              <a:buAutoNum type="circleNumWdWhitePlain"/>
            </a:pPr>
            <a:endParaRPr lang="en-US" altLang="zh-TW" sz="1600" dirty="0"/>
          </a:p>
        </p:txBody>
      </p:sp>
    </p:spTree>
    <p:extLst>
      <p:ext uri="{BB962C8B-B14F-4D97-AF65-F5344CB8AC3E}">
        <p14:creationId xmlns:p14="http://schemas.microsoft.com/office/powerpoint/2010/main" val="1614781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25C584A2-B12E-F4BB-C55D-BF05E1F9E85B}"/>
              </a:ext>
            </a:extLst>
          </p:cNvPr>
          <p:cNvSpPr>
            <a:spLocks noGrp="1"/>
          </p:cNvSpPr>
          <p:nvPr>
            <p:ph type="title"/>
          </p:nvPr>
        </p:nvSpPr>
        <p:spPr>
          <a:xfrm>
            <a:off x="496038" y="164549"/>
            <a:ext cx="2022764" cy="777874"/>
          </a:xfrm>
        </p:spPr>
        <p:txBody>
          <a:bodyPr/>
          <a:lstStyle/>
          <a:p>
            <a:pPr algn="dist"/>
            <a:r>
              <a:rPr lang="zh-TW" altLang="en-US" sz="6000" dirty="0"/>
              <a:t>目錄</a:t>
            </a:r>
          </a:p>
        </p:txBody>
      </p:sp>
      <p:sp>
        <p:nvSpPr>
          <p:cNvPr id="7" name="內容版面配置區 6">
            <a:extLst>
              <a:ext uri="{FF2B5EF4-FFF2-40B4-BE49-F238E27FC236}">
                <a16:creationId xmlns:a16="http://schemas.microsoft.com/office/drawing/2014/main" id="{B7E03F20-F558-0149-820A-0FAEC6403399}"/>
              </a:ext>
            </a:extLst>
          </p:cNvPr>
          <p:cNvSpPr>
            <a:spLocks noGrp="1"/>
          </p:cNvSpPr>
          <p:nvPr>
            <p:ph idx="1"/>
          </p:nvPr>
        </p:nvSpPr>
        <p:spPr>
          <a:xfrm>
            <a:off x="496038" y="1122788"/>
            <a:ext cx="6960525" cy="5240689"/>
          </a:xfrm>
        </p:spPr>
        <p:txBody>
          <a:bodyPr/>
          <a:lstStyle/>
          <a:p>
            <a:pPr>
              <a:lnSpc>
                <a:spcPct val="150000"/>
              </a:lnSpc>
              <a:buFont typeface="+mj-ea"/>
              <a:buAutoNum type="ea1ChtPeriod" startAt="3"/>
            </a:pPr>
            <a:r>
              <a:rPr lang="zh-TW" altLang="en-US" sz="2400" dirty="0">
                <a:hlinkClick r:id="rId2" action="ppaction://hlinksldjump"/>
              </a:rPr>
              <a:t>投資者情緒分析</a:t>
            </a:r>
            <a:endParaRPr lang="zh-TW" altLang="en-US" sz="2400" dirty="0"/>
          </a:p>
          <a:p>
            <a:pPr lvl="1">
              <a:lnSpc>
                <a:spcPct val="150000"/>
              </a:lnSpc>
            </a:pPr>
            <a:r>
              <a:rPr lang="zh-TW" altLang="en-US" sz="2000" dirty="0">
                <a:hlinkClick r:id="rId3" action="ppaction://hlinksldjump"/>
              </a:rPr>
              <a:t>研究方法─定價核轉換投資者情緒代理變數</a:t>
            </a:r>
            <a:endParaRPr lang="zh-TW" altLang="en-US" sz="2000" dirty="0">
              <a:hlinkClick r:id="rId4" action="ppaction://hlinksldjump"/>
            </a:endParaRPr>
          </a:p>
          <a:p>
            <a:pPr lvl="1">
              <a:lnSpc>
                <a:spcPct val="150000"/>
              </a:lnSpc>
            </a:pPr>
            <a:r>
              <a:rPr lang="zh-TW" altLang="en-US" sz="2000" dirty="0">
                <a:solidFill>
                  <a:schemeClr val="tx1"/>
                </a:solidFill>
                <a:hlinkClick r:id="rId5" action="ppaction://hlinksldjump"/>
              </a:rPr>
              <a:t>實驗結果</a:t>
            </a:r>
            <a:endParaRPr lang="en-US" altLang="zh-TW" sz="2000" dirty="0">
              <a:solidFill>
                <a:schemeClr val="tx1"/>
              </a:solidFill>
              <a:hlinkClick r:id="rId4" action="ppaction://hlinksldjump">
                <a:extLst>
                  <a:ext uri="{A12FA001-AC4F-418D-AE19-62706E023703}">
                    <ahyp:hlinkClr xmlns:ahyp="http://schemas.microsoft.com/office/drawing/2018/hyperlinkcolor" val="tx"/>
                  </a:ext>
                </a:extLst>
              </a:hlinkClick>
            </a:endParaRPr>
          </a:p>
          <a:p>
            <a:pPr lvl="2">
              <a:lnSpc>
                <a:spcPct val="150000"/>
              </a:lnSpc>
              <a:buFont typeface="Wingdings" panose="05000000000000000000" pitchFamily="2" charset="2"/>
              <a:buAutoNum type="circleNumWdWhitePlain"/>
            </a:pPr>
            <a:r>
              <a:rPr lang="zh-TW" altLang="en-US" sz="1600" dirty="0">
                <a:hlinkClick r:id="rId4" action="ppaction://hlinksldjump"/>
              </a:rPr>
              <a:t>短期市場動態與投資人過度樂觀情緒之關聯</a:t>
            </a:r>
            <a:endParaRPr lang="zh-TW" altLang="en-US" sz="1600" dirty="0"/>
          </a:p>
          <a:p>
            <a:pPr lvl="2">
              <a:lnSpc>
                <a:spcPct val="150000"/>
              </a:lnSpc>
              <a:buFont typeface="Wingdings" panose="05000000000000000000" pitchFamily="2" charset="2"/>
              <a:buAutoNum type="circleNumWdWhitePlain"/>
            </a:pPr>
            <a:r>
              <a:rPr lang="zh-TW" altLang="en-US" sz="1600" dirty="0">
                <a:hlinkClick r:id="rId6" action="ppaction://hlinksldjump"/>
              </a:rPr>
              <a:t>投資人過度樂觀情緒與未來短期市場之關聯</a:t>
            </a:r>
            <a:endParaRPr lang="en-US" altLang="zh-TW" sz="1600" dirty="0"/>
          </a:p>
          <a:p>
            <a:pPr lvl="2">
              <a:lnSpc>
                <a:spcPct val="150000"/>
              </a:lnSpc>
              <a:buFont typeface="Wingdings" panose="05000000000000000000" pitchFamily="2" charset="2"/>
              <a:buAutoNum type="circleNumWdWhitePlain"/>
            </a:pPr>
            <a:r>
              <a:rPr lang="zh-TW" altLang="en-US" sz="1600" dirty="0">
                <a:hlinkClick r:id="rId7" action="ppaction://hlinksldjump"/>
              </a:rPr>
              <a:t>短期市場動態與投資人過度自信情緒之關聯</a:t>
            </a:r>
            <a:endParaRPr lang="en-US" altLang="zh-TW" sz="1600" dirty="0"/>
          </a:p>
          <a:p>
            <a:pPr lvl="2">
              <a:lnSpc>
                <a:spcPct val="150000"/>
              </a:lnSpc>
              <a:buFont typeface="Wingdings" panose="05000000000000000000" pitchFamily="2" charset="2"/>
              <a:buAutoNum type="circleNumWdWhitePlain"/>
            </a:pPr>
            <a:r>
              <a:rPr lang="zh-TW" altLang="en-US" sz="1600" dirty="0">
                <a:hlinkClick r:id="rId8" action="ppaction://hlinksldjump"/>
              </a:rPr>
              <a:t>投資人過度自信情緒與未來短期市場之關聯</a:t>
            </a:r>
            <a:endParaRPr lang="en-US" altLang="zh-TW" sz="1600" dirty="0"/>
          </a:p>
          <a:p>
            <a:pPr>
              <a:lnSpc>
                <a:spcPct val="150000"/>
              </a:lnSpc>
              <a:buAutoNum type="ea1ChtPeriod" startAt="3"/>
            </a:pPr>
            <a:r>
              <a:rPr lang="zh-TW" altLang="en-US" sz="2400" dirty="0">
                <a:hlinkClick r:id="rId9" action="ppaction://hlinksldjump"/>
              </a:rPr>
              <a:t>結論與未來研究建議</a:t>
            </a:r>
            <a:endParaRPr lang="en-US" altLang="zh-TW" sz="2400" dirty="0"/>
          </a:p>
          <a:p>
            <a:pPr lvl="1">
              <a:lnSpc>
                <a:spcPct val="150000"/>
              </a:lnSpc>
            </a:pPr>
            <a:r>
              <a:rPr lang="zh-TW" altLang="en-US" sz="2000" dirty="0">
                <a:hlinkClick r:id="rId10" action="ppaction://hlinksldjump"/>
              </a:rPr>
              <a:t>結論</a:t>
            </a:r>
            <a:endParaRPr lang="en-US" altLang="zh-TW" sz="2000" dirty="0"/>
          </a:p>
          <a:p>
            <a:pPr lvl="1">
              <a:lnSpc>
                <a:spcPct val="150000"/>
              </a:lnSpc>
            </a:pPr>
            <a:r>
              <a:rPr lang="zh-TW" altLang="en-US" sz="2000" dirty="0">
                <a:hlinkClick r:id="rId11" action="ppaction://hlinksldjump"/>
              </a:rPr>
              <a:t>未來研究建議</a:t>
            </a:r>
            <a:endParaRPr lang="zh-TW" altLang="en-US" sz="2000" dirty="0"/>
          </a:p>
        </p:txBody>
      </p:sp>
    </p:spTree>
    <p:extLst>
      <p:ext uri="{BB962C8B-B14F-4D97-AF65-F5344CB8AC3E}">
        <p14:creationId xmlns:p14="http://schemas.microsoft.com/office/powerpoint/2010/main" val="1750896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496AC006-FBBD-578C-80AD-C87FE7C4362F}"/>
              </a:ext>
            </a:extLst>
          </p:cNvPr>
          <p:cNvSpPr>
            <a:spLocks noGrp="1"/>
          </p:cNvSpPr>
          <p:nvPr>
            <p:ph sz="quarter" idx="10"/>
          </p:nvPr>
        </p:nvSpPr>
        <p:spPr>
          <a:xfrm>
            <a:off x="5639522" y="2843357"/>
            <a:ext cx="5173951" cy="1171286"/>
          </a:xfrm>
        </p:spPr>
        <p:txBody>
          <a:bodyPr/>
          <a:lstStyle/>
          <a:p>
            <a:r>
              <a:rPr lang="zh-TW" altLang="en-US" dirty="0"/>
              <a:t> </a:t>
            </a:r>
            <a:r>
              <a:rPr lang="en-US" altLang="zh-TW" dirty="0"/>
              <a:t>Introduction</a:t>
            </a:r>
            <a:endParaRPr lang="zh-TW" altLang="en-US" dirty="0"/>
          </a:p>
        </p:txBody>
      </p:sp>
    </p:spTree>
    <p:extLst>
      <p:ext uri="{BB962C8B-B14F-4D97-AF65-F5344CB8AC3E}">
        <p14:creationId xmlns:p14="http://schemas.microsoft.com/office/powerpoint/2010/main" val="1479421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E05FCEEE-F83C-A082-FFF4-800457A1F803}"/>
              </a:ext>
            </a:extLst>
          </p:cNvPr>
          <p:cNvSpPr>
            <a:spLocks noGrp="1"/>
          </p:cNvSpPr>
          <p:nvPr>
            <p:ph type="body" sz="quarter" idx="10"/>
          </p:nvPr>
        </p:nvSpPr>
        <p:spPr/>
        <p:txBody>
          <a:bodyPr/>
          <a:lstStyle/>
          <a:p>
            <a:r>
              <a:rPr lang="zh-TW" altLang="en-US" dirty="0"/>
              <a:t>主要研究結果</a:t>
            </a:r>
          </a:p>
          <a:p>
            <a:endParaRPr lang="zh-TW" altLang="en-US" dirty="0"/>
          </a:p>
        </p:txBody>
      </p:sp>
      <p:sp>
        <p:nvSpPr>
          <p:cNvPr id="4" name="內容版面配置區 3">
            <a:extLst>
              <a:ext uri="{FF2B5EF4-FFF2-40B4-BE49-F238E27FC236}">
                <a16:creationId xmlns:a16="http://schemas.microsoft.com/office/drawing/2014/main" id="{AD4F2BE1-788C-0A47-0E9A-EC7C224EF781}"/>
              </a:ext>
            </a:extLst>
          </p:cNvPr>
          <p:cNvSpPr>
            <a:spLocks noGrp="1"/>
          </p:cNvSpPr>
          <p:nvPr>
            <p:ph sz="quarter" idx="11"/>
          </p:nvPr>
        </p:nvSpPr>
        <p:spPr/>
        <p:txBody>
          <a:bodyPr/>
          <a:lstStyle/>
          <a:p>
            <a:r>
              <a:rPr lang="en-US" altLang="zh-TW" dirty="0"/>
              <a:t>1.1</a:t>
            </a:r>
            <a:endParaRPr lang="zh-TW" altLang="en-US" dirty="0"/>
          </a:p>
        </p:txBody>
      </p:sp>
      <p:sp>
        <p:nvSpPr>
          <p:cNvPr id="5" name="內容版面配置區 4">
            <a:extLst>
              <a:ext uri="{FF2B5EF4-FFF2-40B4-BE49-F238E27FC236}">
                <a16:creationId xmlns:a16="http://schemas.microsoft.com/office/drawing/2014/main" id="{462A12AF-7EFF-ABCB-61B5-FD75AC035A3B}"/>
              </a:ext>
            </a:extLst>
          </p:cNvPr>
          <p:cNvSpPr>
            <a:spLocks noGrp="1"/>
          </p:cNvSpPr>
          <p:nvPr>
            <p:ph sz="quarter" idx="13"/>
          </p:nvPr>
        </p:nvSpPr>
        <p:spPr>
          <a:xfrm>
            <a:off x="388387" y="1308252"/>
            <a:ext cx="754495" cy="436564"/>
          </a:xfrm>
        </p:spPr>
        <p:txBody>
          <a:bodyPr/>
          <a:lstStyle/>
          <a:p>
            <a:r>
              <a:rPr lang="en-US" altLang="zh-TW" dirty="0"/>
              <a:t>1.</a:t>
            </a:r>
            <a:endParaRPr lang="zh-TW" altLang="en-US" dirty="0"/>
          </a:p>
        </p:txBody>
      </p:sp>
      <p:sp>
        <p:nvSpPr>
          <p:cNvPr id="10" name="內容版面配置區 9">
            <a:extLst>
              <a:ext uri="{FF2B5EF4-FFF2-40B4-BE49-F238E27FC236}">
                <a16:creationId xmlns:a16="http://schemas.microsoft.com/office/drawing/2014/main" id="{06D45F4C-4C4D-F022-40E6-18595FD54D58}"/>
              </a:ext>
            </a:extLst>
          </p:cNvPr>
          <p:cNvSpPr>
            <a:spLocks noGrp="1"/>
          </p:cNvSpPr>
          <p:nvPr>
            <p:ph sz="quarter" idx="14"/>
          </p:nvPr>
        </p:nvSpPr>
        <p:spPr>
          <a:xfrm>
            <a:off x="1094764" y="1308252"/>
            <a:ext cx="10754472" cy="2032107"/>
          </a:xfrm>
        </p:spPr>
        <p:txBody>
          <a:bodyPr/>
          <a:lstStyle/>
          <a:p>
            <a:r>
              <a:rPr lang="zh-TW" altLang="en-US" b="0" dirty="0"/>
              <a:t>本論文利用</a:t>
            </a:r>
            <a:r>
              <a:rPr lang="en-US" altLang="zh-TW" b="0" dirty="0"/>
              <a:t>Hsu et al. (2024) </a:t>
            </a:r>
            <a:r>
              <a:rPr lang="zh-TW" altLang="en-US" b="0" dirty="0"/>
              <a:t>提出之神經網路選擇權價格預測模型 </a:t>
            </a:r>
            <a:r>
              <a:rPr lang="en-US" altLang="zh-TW" b="0" dirty="0"/>
              <a:t>(</a:t>
            </a:r>
            <a:r>
              <a:rPr lang="zh-TW" altLang="en-US" b="0" dirty="0"/>
              <a:t> </a:t>
            </a:r>
            <a:r>
              <a:rPr lang="en-US" altLang="zh-TW" b="0" dirty="0"/>
              <a:t>CV</a:t>
            </a:r>
            <a:r>
              <a:rPr lang="zh-TW" altLang="en-US" b="0" dirty="0"/>
              <a:t> </a:t>
            </a:r>
            <a:r>
              <a:rPr lang="en-US" altLang="zh-TW" b="0" dirty="0"/>
              <a:t>Model</a:t>
            </a:r>
            <a:r>
              <a:rPr lang="zh-TW" altLang="en-US" b="0" dirty="0"/>
              <a:t> </a:t>
            </a:r>
            <a:r>
              <a:rPr lang="en-US" altLang="zh-TW" b="0" dirty="0"/>
              <a:t>)</a:t>
            </a:r>
            <a:r>
              <a:rPr lang="zh-TW" altLang="en-US" b="0" dirty="0"/>
              <a:t>改善</a:t>
            </a:r>
            <a:r>
              <a:rPr lang="en-US" altLang="zh-TW" b="0" dirty="0"/>
              <a:t>Linn et al.(2017) </a:t>
            </a:r>
            <a:r>
              <a:rPr lang="zh-TW" altLang="en-US" b="0" dirty="0"/>
              <a:t>提出之定價核估計方法</a:t>
            </a:r>
            <a:r>
              <a:rPr lang="en-US" altLang="zh-TW" b="0" dirty="0"/>
              <a:t>Conditional Density Integration Method</a:t>
            </a:r>
            <a:r>
              <a:rPr lang="zh-TW" altLang="en-US" b="0" dirty="0"/>
              <a:t> </a:t>
            </a:r>
            <a:r>
              <a:rPr lang="en-US" altLang="zh-TW" b="0" dirty="0"/>
              <a:t>(</a:t>
            </a:r>
            <a:r>
              <a:rPr lang="zh-TW" altLang="en-US" b="0" dirty="0"/>
              <a:t> </a:t>
            </a:r>
            <a:r>
              <a:rPr lang="en-US" altLang="zh-TW" b="0" dirty="0"/>
              <a:t>CDI</a:t>
            </a:r>
            <a:r>
              <a:rPr lang="zh-TW" altLang="en-US" b="0" dirty="0"/>
              <a:t> </a:t>
            </a:r>
            <a:r>
              <a:rPr lang="en-US" altLang="zh-TW" b="0" dirty="0"/>
              <a:t>Method</a:t>
            </a:r>
            <a:r>
              <a:rPr lang="zh-TW" altLang="en-US" b="0" dirty="0"/>
              <a:t> </a:t>
            </a:r>
            <a:r>
              <a:rPr lang="en-US" altLang="zh-TW" b="0" dirty="0"/>
              <a:t>)</a:t>
            </a:r>
            <a:r>
              <a:rPr lang="zh-TW" altLang="en-US" b="0" dirty="0"/>
              <a:t>，並估計</a:t>
            </a:r>
            <a:r>
              <a:rPr lang="en-US" altLang="zh-TW" b="0" dirty="0"/>
              <a:t>S&amp;P 500</a:t>
            </a:r>
            <a:r>
              <a:rPr lang="zh-TW" altLang="en-US" b="0" dirty="0"/>
              <a:t>指數之短期定價核，比較改善後定價核估計方法與原始方法之效果。</a:t>
            </a:r>
            <a:endParaRPr lang="en-US" altLang="zh-TW" b="0" dirty="0"/>
          </a:p>
          <a:p>
            <a:endParaRPr lang="en-US" altLang="zh-TW" sz="900" b="0" dirty="0"/>
          </a:p>
          <a:p>
            <a:r>
              <a:rPr lang="zh-TW" altLang="en-US" b="0" dirty="0"/>
              <a:t>→透過實驗驗證，在估計</a:t>
            </a:r>
            <a:r>
              <a:rPr lang="en-US" altLang="zh-TW" b="0" dirty="0"/>
              <a:t>S&amp;P 500</a:t>
            </a:r>
            <a:r>
              <a:rPr lang="zh-TW" altLang="en-US" b="0" dirty="0"/>
              <a:t>指數之短期定價核方面，我們提出之以</a:t>
            </a:r>
            <a:r>
              <a:rPr lang="en-US" altLang="zh-TW" b="0" dirty="0"/>
              <a:t>CV Model</a:t>
            </a:r>
            <a:r>
              <a:rPr lang="zh-TW" altLang="en-US" b="0" dirty="0"/>
              <a:t>改良並加入權重限制式的</a:t>
            </a:r>
            <a:r>
              <a:rPr lang="en-US" altLang="zh-TW" b="0" dirty="0"/>
              <a:t>CDI</a:t>
            </a:r>
            <a:r>
              <a:rPr lang="zh-TW" altLang="en-US" b="0" dirty="0"/>
              <a:t>方法其確實存在較優異之估計效果。</a:t>
            </a:r>
            <a:endParaRPr lang="en-US" altLang="zh-TW" b="0" dirty="0"/>
          </a:p>
          <a:p>
            <a:endParaRPr lang="zh-TW" altLang="en-US" dirty="0"/>
          </a:p>
        </p:txBody>
      </p:sp>
      <p:sp>
        <p:nvSpPr>
          <p:cNvPr id="6" name="內容版面配置區 4">
            <a:extLst>
              <a:ext uri="{FF2B5EF4-FFF2-40B4-BE49-F238E27FC236}">
                <a16:creationId xmlns:a16="http://schemas.microsoft.com/office/drawing/2014/main" id="{72C6B62A-58A4-700F-EC9B-0231C1D1385E}"/>
              </a:ext>
            </a:extLst>
          </p:cNvPr>
          <p:cNvSpPr txBox="1">
            <a:spLocks/>
          </p:cNvSpPr>
          <p:nvPr/>
        </p:nvSpPr>
        <p:spPr>
          <a:xfrm>
            <a:off x="388387" y="3757196"/>
            <a:ext cx="754495" cy="436564"/>
          </a:xfrm>
          <a:prstGeom prst="rect">
            <a:avLst/>
          </a:prstGeom>
        </p:spPr>
        <p:txBody>
          <a:bodyPr/>
          <a:lstStyle>
            <a:lvl1pPr marL="0" indent="0" algn="l" defTabSz="912684" rtl="0" eaLnBrk="1" latinLnBrk="0" hangingPunct="1">
              <a:lnSpc>
                <a:spcPct val="90000"/>
              </a:lnSpc>
              <a:spcBef>
                <a:spcPts val="1000"/>
              </a:spcBef>
              <a:buFont typeface="Arial" panose="020B0604020202020204" pitchFamily="34" charset="0"/>
              <a:buNone/>
              <a:defRPr lang="zh-TW" altLang="en-US" sz="2800" b="1" kern="1200" dirty="0" smtClean="0">
                <a:solidFill>
                  <a:schemeClr val="accent1"/>
                </a:solidFill>
                <a:latin typeface="Microsoft JhengHei" panose="020B0604030504040204" pitchFamily="34" charset="-120"/>
                <a:ea typeface="Microsoft JhengHei" panose="020B0604030504040204" pitchFamily="34" charset="-120"/>
                <a:cs typeface="+mn-ea"/>
              </a:defRPr>
            </a:lvl1pPr>
            <a:lvl2pPr marL="684936" indent="-228594" algn="l" defTabSz="91268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125" indent="-228594" algn="l" defTabSz="91268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8467"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4pPr>
            <a:lvl5pPr marL="2055655"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5pPr>
            <a:lvl6pPr marL="2511997"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69186"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5528"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1870"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a:lstStyle>
          <a:p>
            <a:r>
              <a:rPr lang="en-US" altLang="zh-TW" dirty="0"/>
              <a:t>2.</a:t>
            </a:r>
            <a:endParaRPr lang="en-US" dirty="0"/>
          </a:p>
        </p:txBody>
      </p:sp>
      <p:sp>
        <p:nvSpPr>
          <p:cNvPr id="7" name="內容版面配置區 9">
            <a:extLst>
              <a:ext uri="{FF2B5EF4-FFF2-40B4-BE49-F238E27FC236}">
                <a16:creationId xmlns:a16="http://schemas.microsoft.com/office/drawing/2014/main" id="{C6D7FFD8-6870-3AFF-D09C-2DE9E2C180AC}"/>
              </a:ext>
            </a:extLst>
          </p:cNvPr>
          <p:cNvSpPr txBox="1">
            <a:spLocks/>
          </p:cNvSpPr>
          <p:nvPr/>
        </p:nvSpPr>
        <p:spPr>
          <a:xfrm>
            <a:off x="1142881" y="3757196"/>
            <a:ext cx="10706355" cy="2092797"/>
          </a:xfrm>
          <a:prstGeom prst="rect">
            <a:avLst/>
          </a:prstGeom>
        </p:spPr>
        <p:txBody>
          <a:bodyPr/>
          <a:lstStyle>
            <a:lvl1pPr marL="0" indent="0" algn="l" defTabSz="912684" rtl="0" eaLnBrk="1" latinLnBrk="0" hangingPunct="1">
              <a:lnSpc>
                <a:spcPct val="90000"/>
              </a:lnSpc>
              <a:spcBef>
                <a:spcPts val="1000"/>
              </a:spcBef>
              <a:buFont typeface="Arial" panose="020B0604020202020204" pitchFamily="34" charset="0"/>
              <a:buNone/>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1pPr>
            <a:lvl2pPr marL="913542" indent="-457200" algn="l" defTabSz="912684" rtl="0" eaLnBrk="1" latinLnBrk="0" hangingPunct="1">
              <a:lnSpc>
                <a:spcPct val="90000"/>
              </a:lnSpc>
              <a:spcBef>
                <a:spcPts val="500"/>
              </a:spcBef>
              <a:buClr>
                <a:schemeClr val="accent1"/>
              </a:buClr>
              <a:buFont typeface="+mj-lt"/>
              <a:buAutoNum type="arabicPeriod"/>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2pPr>
            <a:lvl3pPr marL="1142125" indent="-228594" algn="l" defTabSz="912684" rtl="0" eaLnBrk="1" latinLnBrk="0" hangingPunct="1">
              <a:lnSpc>
                <a:spcPct val="90000"/>
              </a:lnSpc>
              <a:spcBef>
                <a:spcPts val="500"/>
              </a:spcBef>
              <a:buFont typeface="Arial" panose="020B0604020202020204" pitchFamily="34" charset="0"/>
              <a:buChar char="•"/>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3pPr>
            <a:lvl4pPr marL="1598467" indent="-228594" algn="l" defTabSz="912684" rtl="0" eaLnBrk="1" latinLnBrk="0" hangingPunct="1">
              <a:lnSpc>
                <a:spcPct val="90000"/>
              </a:lnSpc>
              <a:spcBef>
                <a:spcPts val="500"/>
              </a:spcBef>
              <a:buFont typeface="Arial" panose="020B0604020202020204" pitchFamily="34" charset="0"/>
              <a:buChar char="•"/>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4pPr>
            <a:lvl5pPr marL="2055655" indent="-228594" algn="l" defTabSz="912684" rtl="0" eaLnBrk="1" latinLnBrk="0" hangingPunct="1">
              <a:lnSpc>
                <a:spcPct val="90000"/>
              </a:lnSpc>
              <a:spcBef>
                <a:spcPts val="500"/>
              </a:spcBef>
              <a:buFont typeface="Arial" panose="020B0604020202020204" pitchFamily="34" charset="0"/>
              <a:buChar char="•"/>
              <a:defRPr lang="zh-TW" altLang="en-US" sz="2000" b="1" kern="1200" dirty="0">
                <a:solidFill>
                  <a:schemeClr val="tx2"/>
                </a:solidFill>
                <a:latin typeface="Microsoft JhengHei" panose="020B0604030504040204" pitchFamily="34" charset="-120"/>
                <a:ea typeface="Microsoft JhengHei" panose="020B0604030504040204" pitchFamily="34" charset="-120"/>
                <a:cs typeface="+mn-ea"/>
              </a:defRPr>
            </a:lvl5pPr>
            <a:lvl6pPr marL="2511997"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69186"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5528"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1870"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a:lstStyle>
          <a:p>
            <a:r>
              <a:rPr lang="zh-TW" altLang="en-US" b="0" dirty="0"/>
              <a:t>後續，本研究運用</a:t>
            </a:r>
            <a:r>
              <a:rPr lang="en-US" altLang="zh-TW" b="0" dirty="0"/>
              <a:t>Barone-</a:t>
            </a:r>
            <a:r>
              <a:rPr lang="en-US" altLang="zh-TW" b="0" dirty="0" err="1"/>
              <a:t>Adesi</a:t>
            </a:r>
            <a:r>
              <a:rPr lang="zh-TW" altLang="en-US" b="0" dirty="0"/>
              <a:t> </a:t>
            </a:r>
            <a:r>
              <a:rPr lang="en-US" altLang="zh-TW" b="0" dirty="0"/>
              <a:t>et al. (2017)</a:t>
            </a:r>
            <a:r>
              <a:rPr lang="zh-TW" altLang="en-US" b="0" dirty="0"/>
              <a:t>提出之方法，將</a:t>
            </a:r>
            <a:r>
              <a:rPr lang="en-US" altLang="zh-TW" b="0" dirty="0"/>
              <a:t>S&amp;P 500</a:t>
            </a:r>
            <a:r>
              <a:rPr lang="zh-TW" altLang="en-US" b="0" dirty="0"/>
              <a:t>指數之短期定價核估計結果轉換為投資人的短期情緒代理變數，以回歸分析方式，檢查投資人的短期情緒代理變數與</a:t>
            </a:r>
            <a:r>
              <a:rPr lang="en-US" altLang="zh-TW" b="0" dirty="0"/>
              <a:t>S&amp;P 500</a:t>
            </a:r>
            <a:r>
              <a:rPr lang="zh-TW" altLang="en-US" b="0" dirty="0"/>
              <a:t>指數之短期市場動態代理變數是否存在顯著關係。</a:t>
            </a:r>
            <a:endParaRPr lang="en-US" altLang="zh-TW" b="0" dirty="0"/>
          </a:p>
          <a:p>
            <a:endParaRPr lang="zh-TW" altLang="en-US" sz="900" b="0" dirty="0"/>
          </a:p>
          <a:p>
            <a:r>
              <a:rPr lang="zh-TW" altLang="en-US" b="0" dirty="0"/>
              <a:t>→透過回歸分析實驗證實，透過經</a:t>
            </a:r>
            <a:r>
              <a:rPr lang="en-US" altLang="zh-TW" b="0" dirty="0"/>
              <a:t>CV Model</a:t>
            </a:r>
            <a:r>
              <a:rPr lang="zh-TW" altLang="en-US" b="0" dirty="0"/>
              <a:t>改良並加入權重限制式的</a:t>
            </a:r>
            <a:r>
              <a:rPr lang="en-US" altLang="zh-TW" b="0" dirty="0"/>
              <a:t>CDI</a:t>
            </a:r>
            <a:r>
              <a:rPr lang="zh-TW" altLang="en-US" b="0" dirty="0"/>
              <a:t>方法估計之短期定價核估計結果得到之投資人的短期情緒代理變數確實與真實</a:t>
            </a:r>
            <a:r>
              <a:rPr lang="en-US" altLang="zh-TW" b="0" dirty="0"/>
              <a:t>S&amp;P 500</a:t>
            </a:r>
            <a:r>
              <a:rPr lang="zh-TW" altLang="en-US" b="0" dirty="0"/>
              <a:t>指數之短期市場表現存在顯著相關性。</a:t>
            </a:r>
          </a:p>
        </p:txBody>
      </p:sp>
    </p:spTree>
    <p:extLst>
      <p:ext uri="{BB962C8B-B14F-4D97-AF65-F5344CB8AC3E}">
        <p14:creationId xmlns:p14="http://schemas.microsoft.com/office/powerpoint/2010/main" val="3464381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E05FCEEE-F83C-A082-FFF4-800457A1F803}"/>
              </a:ext>
            </a:extLst>
          </p:cNvPr>
          <p:cNvSpPr>
            <a:spLocks noGrp="1"/>
          </p:cNvSpPr>
          <p:nvPr>
            <p:ph type="body" sz="quarter" idx="10"/>
          </p:nvPr>
        </p:nvSpPr>
        <p:spPr/>
        <p:txBody>
          <a:bodyPr/>
          <a:lstStyle/>
          <a:p>
            <a:r>
              <a:rPr lang="zh-TW" altLang="en-US" dirty="0"/>
              <a:t>定價核公式</a:t>
            </a:r>
          </a:p>
          <a:p>
            <a:endParaRPr lang="zh-TW" altLang="en-US" dirty="0"/>
          </a:p>
          <a:p>
            <a:endParaRPr lang="zh-TW" altLang="en-US" dirty="0"/>
          </a:p>
        </p:txBody>
      </p:sp>
      <p:sp>
        <p:nvSpPr>
          <p:cNvPr id="4" name="內容版面配置區 3">
            <a:extLst>
              <a:ext uri="{FF2B5EF4-FFF2-40B4-BE49-F238E27FC236}">
                <a16:creationId xmlns:a16="http://schemas.microsoft.com/office/drawing/2014/main" id="{AD4F2BE1-788C-0A47-0E9A-EC7C224EF781}"/>
              </a:ext>
            </a:extLst>
          </p:cNvPr>
          <p:cNvSpPr>
            <a:spLocks noGrp="1"/>
          </p:cNvSpPr>
          <p:nvPr>
            <p:ph sz="quarter" idx="11"/>
          </p:nvPr>
        </p:nvSpPr>
        <p:spPr/>
        <p:txBody>
          <a:bodyPr/>
          <a:lstStyle/>
          <a:p>
            <a:r>
              <a:rPr lang="en-US" altLang="zh-TW" dirty="0"/>
              <a:t>1.2</a:t>
            </a:r>
            <a:endParaRPr lang="zh-TW" altLang="en-US" dirty="0"/>
          </a:p>
        </p:txBody>
      </p:sp>
      <p:sp>
        <p:nvSpPr>
          <p:cNvPr id="10" name="內容版面配置區 9">
            <a:extLst>
              <a:ext uri="{FF2B5EF4-FFF2-40B4-BE49-F238E27FC236}">
                <a16:creationId xmlns:a16="http://schemas.microsoft.com/office/drawing/2014/main" id="{06D45F4C-4C4D-F022-40E6-18595FD54D58}"/>
              </a:ext>
            </a:extLst>
          </p:cNvPr>
          <p:cNvSpPr>
            <a:spLocks noGrp="1"/>
          </p:cNvSpPr>
          <p:nvPr>
            <p:ph sz="quarter" idx="14"/>
          </p:nvPr>
        </p:nvSpPr>
        <p:spPr>
          <a:xfrm>
            <a:off x="390332" y="985447"/>
            <a:ext cx="10754472" cy="1420982"/>
          </a:xfrm>
        </p:spPr>
        <p:txBody>
          <a:bodyPr/>
          <a:lstStyle/>
          <a:p>
            <a:pPr>
              <a:lnSpc>
                <a:spcPct val="100000"/>
              </a:lnSpc>
            </a:pPr>
            <a:r>
              <a:rPr lang="zh-TW" altLang="en-US" dirty="0"/>
              <a:t>定價核 </a:t>
            </a:r>
            <a:r>
              <a:rPr lang="en-US" altLang="zh-TW" dirty="0"/>
              <a:t>(</a:t>
            </a:r>
            <a:r>
              <a:rPr lang="zh-TW" altLang="en-US" dirty="0"/>
              <a:t> </a:t>
            </a:r>
            <a:r>
              <a:rPr lang="en-US" altLang="zh-TW" dirty="0"/>
              <a:t>Pricing</a:t>
            </a:r>
            <a:r>
              <a:rPr lang="zh-TW" altLang="en-US" dirty="0"/>
              <a:t> </a:t>
            </a:r>
            <a:r>
              <a:rPr lang="en-US" altLang="zh-TW" dirty="0"/>
              <a:t>Kernel</a:t>
            </a:r>
            <a:r>
              <a:rPr lang="zh-TW" altLang="en-US" dirty="0"/>
              <a:t> </a:t>
            </a:r>
            <a:r>
              <a:rPr lang="en-US" altLang="zh-TW" dirty="0"/>
              <a:t>)</a:t>
            </a:r>
            <a:r>
              <a:rPr lang="zh-TW" altLang="en-US" dirty="0"/>
              <a:t>，又稱為隨機貼現因子（</a:t>
            </a:r>
            <a:r>
              <a:rPr lang="en-US" altLang="zh-TW" dirty="0"/>
              <a:t>Stochastic Discount Factor, SDF</a:t>
            </a:r>
            <a:r>
              <a:rPr lang="zh-TW" altLang="en-US" dirty="0"/>
              <a:t>）為反映市場參與者對「未來某段時間內」標的資產報酬分配看法的函數。</a:t>
            </a:r>
            <a:endParaRPr lang="en-US" altLang="zh-TW" dirty="0"/>
          </a:p>
          <a:p>
            <a:endParaRPr lang="en-US" altLang="zh-TW" sz="800" dirty="0"/>
          </a:p>
          <a:p>
            <a:r>
              <a:rPr lang="zh-TW" altLang="en-US" dirty="0"/>
              <a:t>以下列出定價核常見公式：</a:t>
            </a:r>
          </a:p>
        </p:txBody>
      </p:sp>
      <mc:AlternateContent xmlns:mc="http://schemas.openxmlformats.org/markup-compatibility/2006" xmlns:a14="http://schemas.microsoft.com/office/drawing/2010/main">
        <mc:Choice Requires="a14">
          <p:sp>
            <p:nvSpPr>
              <p:cNvPr id="7" name="內容版面配置區 9">
                <a:extLst>
                  <a:ext uri="{FF2B5EF4-FFF2-40B4-BE49-F238E27FC236}">
                    <a16:creationId xmlns:a16="http://schemas.microsoft.com/office/drawing/2014/main" id="{C6D7FFD8-6870-3AFF-D09C-2DE9E2C180AC}"/>
                  </a:ext>
                </a:extLst>
              </p:cNvPr>
              <p:cNvSpPr txBox="1">
                <a:spLocks/>
              </p:cNvSpPr>
              <p:nvPr/>
            </p:nvSpPr>
            <p:spPr>
              <a:xfrm>
                <a:off x="390332" y="2495427"/>
                <a:ext cx="11721044" cy="4029259"/>
              </a:xfrm>
              <a:prstGeom prst="rect">
                <a:avLst/>
              </a:prstGeom>
            </p:spPr>
            <p:txBody>
              <a:bodyPr/>
              <a:lstStyle>
                <a:lvl1pPr marL="0" indent="0" algn="l" defTabSz="912684" rtl="0" eaLnBrk="1" latinLnBrk="0" hangingPunct="1">
                  <a:lnSpc>
                    <a:spcPct val="90000"/>
                  </a:lnSpc>
                  <a:spcBef>
                    <a:spcPts val="1000"/>
                  </a:spcBef>
                  <a:buFont typeface="Arial" panose="020B0604020202020204" pitchFamily="34" charset="0"/>
                  <a:buNone/>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1pPr>
                <a:lvl2pPr marL="913542" indent="-457200" algn="l" defTabSz="912684" rtl="0" eaLnBrk="1" latinLnBrk="0" hangingPunct="1">
                  <a:lnSpc>
                    <a:spcPct val="90000"/>
                  </a:lnSpc>
                  <a:spcBef>
                    <a:spcPts val="500"/>
                  </a:spcBef>
                  <a:buClr>
                    <a:schemeClr val="accent1"/>
                  </a:buClr>
                  <a:buFont typeface="+mj-lt"/>
                  <a:buAutoNum type="arabicPeriod"/>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2pPr>
                <a:lvl3pPr marL="1142125" indent="-228594" algn="l" defTabSz="912684" rtl="0" eaLnBrk="1" latinLnBrk="0" hangingPunct="1">
                  <a:lnSpc>
                    <a:spcPct val="90000"/>
                  </a:lnSpc>
                  <a:spcBef>
                    <a:spcPts val="500"/>
                  </a:spcBef>
                  <a:buFont typeface="Arial" panose="020B0604020202020204" pitchFamily="34" charset="0"/>
                  <a:buChar char="•"/>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3pPr>
                <a:lvl4pPr marL="1598467" indent="-228594" algn="l" defTabSz="912684" rtl="0" eaLnBrk="1" latinLnBrk="0" hangingPunct="1">
                  <a:lnSpc>
                    <a:spcPct val="90000"/>
                  </a:lnSpc>
                  <a:spcBef>
                    <a:spcPts val="500"/>
                  </a:spcBef>
                  <a:buFont typeface="Arial" panose="020B0604020202020204" pitchFamily="34" charset="0"/>
                  <a:buChar char="•"/>
                  <a:defRPr lang="zh-TW" altLang="en-US" sz="2000" b="1" kern="1200" dirty="0" smtClean="0">
                    <a:solidFill>
                      <a:schemeClr val="tx2"/>
                    </a:solidFill>
                    <a:latin typeface="Microsoft JhengHei" panose="020B0604030504040204" pitchFamily="34" charset="-120"/>
                    <a:ea typeface="Microsoft JhengHei" panose="020B0604030504040204" pitchFamily="34" charset="-120"/>
                    <a:cs typeface="+mn-ea"/>
                  </a:defRPr>
                </a:lvl4pPr>
                <a:lvl5pPr marL="2055655" indent="-228594" algn="l" defTabSz="912684" rtl="0" eaLnBrk="1" latinLnBrk="0" hangingPunct="1">
                  <a:lnSpc>
                    <a:spcPct val="90000"/>
                  </a:lnSpc>
                  <a:spcBef>
                    <a:spcPts val="500"/>
                  </a:spcBef>
                  <a:buFont typeface="Arial" panose="020B0604020202020204" pitchFamily="34" charset="0"/>
                  <a:buChar char="•"/>
                  <a:defRPr lang="zh-TW" altLang="en-US" sz="2000" b="1" kern="1200" dirty="0">
                    <a:solidFill>
                      <a:schemeClr val="tx2"/>
                    </a:solidFill>
                    <a:latin typeface="Microsoft JhengHei" panose="020B0604030504040204" pitchFamily="34" charset="-120"/>
                    <a:ea typeface="Microsoft JhengHei" panose="020B0604030504040204" pitchFamily="34" charset="-120"/>
                    <a:cs typeface="+mn-ea"/>
                  </a:defRPr>
                </a:lvl5pPr>
                <a:lvl6pPr marL="2511997"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69186"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5528"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1870" indent="-228594" algn="l" defTabSz="912684"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a:lstStyle>
              <a:p>
                <a:pPr marL="457200" indent="-457200">
                  <a:buClr>
                    <a:schemeClr val="accent1"/>
                  </a:buClr>
                  <a:buFont typeface="+mj-lt"/>
                  <a:buAutoNum type="arabicPeriod"/>
                </a:pPr>
                <a14:m>
                  <m:oMath xmlns:m="http://schemas.openxmlformats.org/officeDocument/2006/math">
                    <m:r>
                      <a:rPr lang="en-US" altLang="zh-TW" sz="2400" b="1" i="0" smtClean="0">
                        <a:latin typeface="Cambria Math" panose="02040503050406030204" pitchFamily="18" charset="0"/>
                      </a:rPr>
                      <m:t>𝐦</m:t>
                    </m:r>
                    <m:r>
                      <a:rPr lang="en-US" altLang="zh-TW" sz="2400" b="1" i="0" smtClean="0">
                        <a:latin typeface="Cambria Math" panose="02040503050406030204" pitchFamily="18" charset="0"/>
                      </a:rPr>
                      <m:t>= </m:t>
                    </m:r>
                    <m:f>
                      <m:fPr>
                        <m:ctrlPr>
                          <a:rPr lang="en-US" altLang="zh-TW" sz="2400" i="1" smtClean="0">
                            <a:latin typeface="Cambria Math" panose="02040503050406030204" pitchFamily="18" charset="0"/>
                          </a:rPr>
                        </m:ctrlPr>
                      </m:fPr>
                      <m:num>
                        <m:r>
                          <a:rPr lang="zh-TW" altLang="en-US" sz="2400" b="1" i="0" smtClean="0">
                            <a:latin typeface="Cambria Math" panose="02040503050406030204" pitchFamily="18" charset="0"/>
                          </a:rPr>
                          <m:t>𝛑</m:t>
                        </m:r>
                      </m:num>
                      <m:den>
                        <m:r>
                          <a:rPr lang="en-US" altLang="zh-TW" sz="2400" b="1" i="1">
                            <a:latin typeface="Cambria Math" panose="02040503050406030204" pitchFamily="18" charset="0"/>
                          </a:rPr>
                          <m:t>𝑷</m:t>
                        </m:r>
                      </m:den>
                    </m:f>
                  </m:oMath>
                </a14:m>
                <a:r>
                  <a:rPr lang="zh-TW" altLang="en-US" b="0" dirty="0">
                    <a:latin typeface="微軟正黑體" panose="020B0604030504040204" pitchFamily="34" charset="-120"/>
                    <a:ea typeface="微軟正黑體" panose="020B0604030504040204" pitchFamily="34" charset="-120"/>
                  </a:rPr>
                  <a:t>，</a:t>
                </a:r>
                <a:r>
                  <a:rPr lang="en-US" altLang="zh-TW" b="0" dirty="0">
                    <a:latin typeface="微軟正黑體" panose="020B0604030504040204" pitchFamily="34" charset="-120"/>
                    <a:ea typeface="微軟正黑體" panose="020B0604030504040204" pitchFamily="34" charset="-120"/>
                  </a:rPr>
                  <a:t> </a:t>
                </a:r>
                <a14:m>
                  <m:oMath xmlns:m="http://schemas.openxmlformats.org/officeDocument/2006/math">
                    <m:r>
                      <a:rPr lang="en-US" altLang="zh-TW" b="0" i="1">
                        <a:latin typeface="Cambria Math" panose="02040503050406030204" pitchFamily="18" charset="0"/>
                      </a:rPr>
                      <m:t>𝑚</m:t>
                    </m:r>
                  </m:oMath>
                </a14:m>
                <a:r>
                  <a:rPr lang="zh-TW" altLang="en-US" b="0" dirty="0">
                    <a:latin typeface="微軟正黑體" panose="020B0604030504040204" pitchFamily="34" charset="-120"/>
                    <a:ea typeface="微軟正黑體" panose="020B0604030504040204" pitchFamily="34" charset="-120"/>
                  </a:rPr>
                  <a:t>表示定價核，</a:t>
                </a:r>
                <a14:m>
                  <m:oMath xmlns:m="http://schemas.openxmlformats.org/officeDocument/2006/math">
                    <m:r>
                      <a:rPr lang="zh-TW" altLang="en-US" b="0" i="1">
                        <a:latin typeface="Cambria Math" panose="02040503050406030204" pitchFamily="18" charset="0"/>
                      </a:rPr>
                      <m:t>𝜋</m:t>
                    </m:r>
                  </m:oMath>
                </a14:m>
                <a:r>
                  <a:rPr lang="zh-TW" altLang="en-US" b="0" dirty="0">
                    <a:latin typeface="微軟正黑體" panose="020B0604030504040204" pitchFamily="34" charset="-120"/>
                    <a:ea typeface="微軟正黑體" panose="020B0604030504040204" pitchFamily="34" charset="-120"/>
                  </a:rPr>
                  <a:t>表示狀態價格，</a:t>
                </a:r>
                <a14:m>
                  <m:oMath xmlns:m="http://schemas.openxmlformats.org/officeDocument/2006/math">
                    <m:r>
                      <m:rPr>
                        <m:sty m:val="p"/>
                      </m:rPr>
                      <a:rPr lang="en-US" altLang="zh-TW" b="0" i="1" dirty="0">
                        <a:latin typeface="Cambria Math" panose="02040503050406030204" pitchFamily="18" charset="0"/>
                        <a:ea typeface="微軟正黑體" panose="020B0604030504040204" pitchFamily="34" charset="-120"/>
                      </a:rPr>
                      <m:t>P</m:t>
                    </m:r>
                  </m:oMath>
                </a14:m>
                <a:r>
                  <a:rPr lang="zh-TW" altLang="en-US" b="0" dirty="0">
                    <a:latin typeface="微軟正黑體" panose="020B0604030504040204" pitchFamily="34" charset="-120"/>
                    <a:ea typeface="微軟正黑體" panose="020B0604030504040204" pitchFamily="34" charset="-120"/>
                  </a:rPr>
                  <a:t>表示真實世界機率 </a:t>
                </a:r>
                <a:r>
                  <a:rPr lang="en-US" altLang="zh-TW" b="0" dirty="0">
                    <a:latin typeface="微軟正黑體" panose="020B0604030504040204" pitchFamily="34" charset="-120"/>
                    <a:ea typeface="微軟正黑體" panose="020B0604030504040204" pitchFamily="34" charset="-120"/>
                  </a:rPr>
                  <a:t>(Physical Probability)</a:t>
                </a:r>
              </a:p>
              <a:p>
                <a:pPr marL="457200" indent="-457200">
                  <a:buClr>
                    <a:schemeClr val="accent1"/>
                  </a:buClr>
                  <a:buFont typeface="+mj-lt"/>
                  <a:buAutoNum type="arabicPeriod"/>
                </a:pPr>
                <a14:m>
                  <m:oMath xmlns:m="http://schemas.openxmlformats.org/officeDocument/2006/math">
                    <m:r>
                      <a:rPr lang="en-US" altLang="zh-TW" sz="2400" b="1" i="0">
                        <a:latin typeface="Cambria Math" panose="02040503050406030204" pitchFamily="18" charset="0"/>
                      </a:rPr>
                      <m:t>𝐦</m:t>
                    </m:r>
                    <m:r>
                      <a:rPr lang="en-US" altLang="zh-TW" sz="2400" b="1" i="0">
                        <a:latin typeface="Cambria Math" panose="02040503050406030204" pitchFamily="18" charset="0"/>
                      </a:rPr>
                      <m:t>= </m:t>
                    </m:r>
                    <m:sSup>
                      <m:sSupPr>
                        <m:ctrlPr>
                          <a:rPr lang="en-US" altLang="zh-TW" sz="2400" i="1" smtClean="0">
                            <a:latin typeface="Cambria Math" panose="02040503050406030204" pitchFamily="18" charset="0"/>
                          </a:rPr>
                        </m:ctrlPr>
                      </m:sSupPr>
                      <m:e>
                        <m:r>
                          <a:rPr lang="en-US" altLang="zh-TW" sz="2400" b="1" i="0" smtClean="0">
                            <a:latin typeface="Cambria Math" panose="02040503050406030204" pitchFamily="18" charset="0"/>
                          </a:rPr>
                          <m:t>𝐞</m:t>
                        </m:r>
                      </m:e>
                      <m:sup>
                        <m:r>
                          <a:rPr lang="en-US" altLang="zh-TW" sz="2400" b="1" i="0"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en-US" altLang="zh-TW" sz="2400" b="1" i="0" smtClean="0">
                                <a:latin typeface="Cambria Math" panose="02040503050406030204" pitchFamily="18" charset="0"/>
                              </a:rPr>
                              <m:t>𝐫</m:t>
                            </m:r>
                          </m:e>
                          <m:sub>
                            <m:r>
                              <a:rPr lang="en-US" altLang="zh-TW" sz="2400" b="1" i="0" smtClean="0">
                                <a:latin typeface="Cambria Math" panose="02040503050406030204" pitchFamily="18" charset="0"/>
                              </a:rPr>
                              <m:t>𝐟</m:t>
                            </m:r>
                          </m:sub>
                        </m:sSub>
                      </m:sup>
                    </m:sSup>
                    <m:f>
                      <m:fPr>
                        <m:ctrlPr>
                          <a:rPr lang="en-US" altLang="zh-TW" sz="2400" i="1">
                            <a:latin typeface="Cambria Math" panose="02040503050406030204" pitchFamily="18" charset="0"/>
                          </a:rPr>
                        </m:ctrlPr>
                      </m:fPr>
                      <m:num>
                        <m:r>
                          <a:rPr lang="en-US" altLang="zh-TW" sz="2400" b="1" i="0" smtClean="0">
                            <a:latin typeface="Cambria Math" panose="02040503050406030204" pitchFamily="18" charset="0"/>
                          </a:rPr>
                          <m:t>𝐐</m:t>
                        </m:r>
                      </m:num>
                      <m:den>
                        <m:r>
                          <a:rPr lang="en-US" altLang="zh-TW" sz="2400" b="1" i="0" smtClean="0">
                            <a:latin typeface="Cambria Math" panose="02040503050406030204" pitchFamily="18" charset="0"/>
                          </a:rPr>
                          <m:t>𝐏</m:t>
                        </m:r>
                      </m:den>
                    </m:f>
                  </m:oMath>
                </a14:m>
                <a:r>
                  <a:rPr lang="zh-TW" altLang="en-US" b="0"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b="0" i="1">
                            <a:latin typeface="Cambria Math" panose="02040503050406030204" pitchFamily="18" charset="0"/>
                          </a:rPr>
                        </m:ctrlPr>
                      </m:sSubPr>
                      <m:e>
                        <m:r>
                          <a:rPr lang="en-US" altLang="zh-TW" b="0" i="1">
                            <a:latin typeface="Cambria Math" panose="02040503050406030204" pitchFamily="18" charset="0"/>
                          </a:rPr>
                          <m:t>𝑟</m:t>
                        </m:r>
                      </m:e>
                      <m:sub>
                        <m:r>
                          <a:rPr lang="en-US" altLang="zh-TW" b="0" i="1">
                            <a:latin typeface="Cambria Math" panose="02040503050406030204" pitchFamily="18" charset="0"/>
                          </a:rPr>
                          <m:t>𝑓</m:t>
                        </m:r>
                      </m:sub>
                    </m:sSub>
                  </m:oMath>
                </a14:m>
                <a:r>
                  <a:rPr lang="zh-TW" altLang="en-US" b="0" dirty="0">
                    <a:latin typeface="微軟正黑體" panose="020B0604030504040204" pitchFamily="34" charset="-120"/>
                    <a:ea typeface="微軟正黑體" panose="020B0604030504040204" pitchFamily="34" charset="-120"/>
                  </a:rPr>
                  <a:t>表示無風險利率</a:t>
                </a:r>
                <a:r>
                  <a:rPr lang="en-US" altLang="zh-TW" b="0" dirty="0">
                    <a:latin typeface="微軟正黑體" panose="020B0604030504040204" pitchFamily="34" charset="-120"/>
                    <a:ea typeface="微軟正黑體" panose="020B0604030504040204" pitchFamily="34" charset="-120"/>
                  </a:rPr>
                  <a:t>(Risk-free Rate)</a:t>
                </a:r>
                <a:r>
                  <a:rPr lang="zh-TW" altLang="en-US" b="0" dirty="0">
                    <a:latin typeface="微軟正黑體" panose="020B0604030504040204" pitchFamily="34" charset="-120"/>
                    <a:ea typeface="微軟正黑體" panose="020B0604030504040204" pitchFamily="34" charset="-120"/>
                  </a:rPr>
                  <a:t>，</a:t>
                </a:r>
                <a:r>
                  <a:rPr lang="en-US" altLang="zh-TW" b="0" dirty="0"/>
                  <a:t> </a:t>
                </a:r>
                <a14:m>
                  <m:oMath xmlns:m="http://schemas.openxmlformats.org/officeDocument/2006/math">
                    <m:r>
                      <m:rPr>
                        <m:sty m:val="p"/>
                      </m:rPr>
                      <a:rPr lang="en-US" altLang="zh-TW" b="0" i="1" dirty="0" smtClean="0">
                        <a:latin typeface="Cambria Math" panose="02040503050406030204" pitchFamily="18" charset="0"/>
                      </a:rPr>
                      <m:t>Q</m:t>
                    </m:r>
                  </m:oMath>
                </a14:m>
                <a:r>
                  <a:rPr lang="zh-TW" altLang="en-US" b="0" dirty="0">
                    <a:latin typeface="微軟正黑體" panose="020B0604030504040204" pitchFamily="34" charset="-120"/>
                    <a:ea typeface="微軟正黑體" panose="020B0604030504040204" pitchFamily="34" charset="-120"/>
                  </a:rPr>
                  <a:t>表示風險中立機率</a:t>
                </a:r>
                <a:r>
                  <a:rPr lang="en-US" altLang="zh-TW" b="0" dirty="0">
                    <a:latin typeface="微軟正黑體" panose="020B0604030504040204" pitchFamily="34" charset="-120"/>
                    <a:ea typeface="微軟正黑體" panose="020B0604030504040204" pitchFamily="34" charset="-120"/>
                  </a:rPr>
                  <a:t>(Risk-neutral Probability)</a:t>
                </a:r>
              </a:p>
              <a:p>
                <a:pPr marL="457200" indent="-457200">
                  <a:lnSpc>
                    <a:spcPct val="100000"/>
                  </a:lnSpc>
                  <a:buClr>
                    <a:schemeClr val="accent1"/>
                  </a:buClr>
                  <a:buFont typeface="+mj-lt"/>
                  <a:buAutoNum type="arabicPeriod"/>
                </a:pPr>
                <a14:m>
                  <m:oMath xmlns:m="http://schemas.openxmlformats.org/officeDocument/2006/math">
                    <m:sSub>
                      <m:sSubPr>
                        <m:ctrlPr>
                          <a:rPr lang="en-US" altLang="zh-TW" sz="2400" i="1" dirty="0">
                            <a:latin typeface="Cambria Math" panose="02040503050406030204" pitchFamily="18" charset="0"/>
                          </a:rPr>
                        </m:ctrlPr>
                      </m:sSubPr>
                      <m:e>
                        <m:r>
                          <a:rPr lang="en-US" altLang="zh-TW" sz="2400" b="1" i="0" dirty="0">
                            <a:latin typeface="Cambria Math" panose="02040503050406030204" pitchFamily="18" charset="0"/>
                          </a:rPr>
                          <m:t>𝐦</m:t>
                        </m:r>
                      </m:e>
                      <m:sub>
                        <m:r>
                          <a:rPr lang="en-US" altLang="zh-TW" sz="2400" b="1" i="0" dirty="0">
                            <a:latin typeface="Cambria Math" panose="02040503050406030204" pitchFamily="18" charset="0"/>
                          </a:rPr>
                          <m:t>𝐢</m:t>
                        </m:r>
                      </m:sub>
                    </m:sSub>
                    <m:r>
                      <a:rPr lang="en-US" altLang="zh-TW" sz="2400" b="1" i="0" dirty="0">
                        <a:latin typeface="Cambria Math" panose="02040503050406030204" pitchFamily="18" charset="0"/>
                      </a:rPr>
                      <m:t>= </m:t>
                    </m:r>
                    <m:sSup>
                      <m:sSupPr>
                        <m:ctrlPr>
                          <a:rPr lang="en-US" altLang="zh-TW" sz="2400" i="1" dirty="0">
                            <a:latin typeface="Cambria Math" panose="02040503050406030204" pitchFamily="18" charset="0"/>
                          </a:rPr>
                        </m:ctrlPr>
                      </m:sSupPr>
                      <m:e>
                        <m:r>
                          <a:rPr lang="en-US" altLang="zh-TW" sz="2400" b="1" i="0" dirty="0">
                            <a:latin typeface="Cambria Math" panose="02040503050406030204" pitchFamily="18" charset="0"/>
                          </a:rPr>
                          <m:t>𝐞</m:t>
                        </m:r>
                      </m:e>
                      <m:sup>
                        <m:r>
                          <a:rPr lang="en-US" altLang="zh-TW" sz="2400" b="1" i="0" dirty="0">
                            <a:latin typeface="Cambria Math" panose="02040503050406030204" pitchFamily="18" charset="0"/>
                          </a:rPr>
                          <m:t>−</m:t>
                        </m:r>
                        <m:sSub>
                          <m:sSubPr>
                            <m:ctrlPr>
                              <a:rPr lang="en-US" altLang="zh-TW" sz="2400" i="1" dirty="0">
                                <a:latin typeface="Cambria Math" panose="02040503050406030204" pitchFamily="18" charset="0"/>
                              </a:rPr>
                            </m:ctrlPr>
                          </m:sSubPr>
                          <m:e>
                            <m:r>
                              <a:rPr lang="en-US" altLang="zh-TW" sz="2400" b="1" i="0" dirty="0">
                                <a:latin typeface="Cambria Math" panose="02040503050406030204" pitchFamily="18" charset="0"/>
                              </a:rPr>
                              <m:t>𝐫</m:t>
                            </m:r>
                          </m:e>
                          <m:sub>
                            <m:r>
                              <a:rPr lang="en-US" altLang="zh-TW" sz="2400" b="1" i="0" dirty="0">
                                <a:latin typeface="Cambria Math" panose="02040503050406030204" pitchFamily="18" charset="0"/>
                              </a:rPr>
                              <m:t>𝐟</m:t>
                            </m:r>
                          </m:sub>
                        </m:sSub>
                      </m:sup>
                    </m:sSup>
                    <m:f>
                      <m:fPr>
                        <m:ctrlPr>
                          <a:rPr lang="en-US" altLang="zh-TW" sz="2400" i="1" dirty="0">
                            <a:latin typeface="Cambria Math" panose="02040503050406030204" pitchFamily="18" charset="0"/>
                          </a:rPr>
                        </m:ctrlPr>
                      </m:fPr>
                      <m:num>
                        <m:r>
                          <a:rPr lang="en-US" altLang="zh-TW" sz="2400" b="1" i="0" dirty="0">
                            <a:latin typeface="Cambria Math" panose="02040503050406030204" pitchFamily="18" charset="0"/>
                          </a:rPr>
                          <m:t>𝐔</m:t>
                        </m:r>
                        <m:r>
                          <a:rPr lang="en-US" altLang="zh-TW" sz="2400" b="1" i="0" dirty="0">
                            <a:latin typeface="Cambria Math" panose="02040503050406030204" pitchFamily="18" charset="0"/>
                          </a:rPr>
                          <m:t>‘(</m:t>
                        </m:r>
                        <m:sSub>
                          <m:sSubPr>
                            <m:ctrlPr>
                              <a:rPr lang="en-US" altLang="zh-TW" sz="2400" i="1" dirty="0">
                                <a:latin typeface="Cambria Math" panose="02040503050406030204" pitchFamily="18" charset="0"/>
                              </a:rPr>
                            </m:ctrlPr>
                          </m:sSubPr>
                          <m:e>
                            <m:r>
                              <a:rPr lang="en-US" altLang="zh-TW" sz="2400" b="1" i="0" dirty="0">
                                <a:latin typeface="Cambria Math" panose="02040503050406030204" pitchFamily="18" charset="0"/>
                              </a:rPr>
                              <m:t>𝐡</m:t>
                            </m:r>
                          </m:e>
                          <m:sub>
                            <m:r>
                              <a:rPr lang="en-US" altLang="zh-TW" sz="2400" b="1" i="0" dirty="0">
                                <a:latin typeface="Cambria Math" panose="02040503050406030204" pitchFamily="18" charset="0"/>
                              </a:rPr>
                              <m:t>𝐢</m:t>
                            </m:r>
                          </m:sub>
                        </m:sSub>
                        <m:r>
                          <a:rPr lang="en-US" altLang="zh-TW" sz="2400" b="1" i="0" dirty="0">
                            <a:latin typeface="Cambria Math" panose="02040503050406030204" pitchFamily="18" charset="0"/>
                          </a:rPr>
                          <m:t>)</m:t>
                        </m:r>
                      </m:num>
                      <m:den>
                        <m:sSub>
                          <m:sSubPr>
                            <m:ctrlPr>
                              <a:rPr lang="en-US" altLang="zh-TW" sz="2400" i="1" dirty="0">
                                <a:latin typeface="Cambria Math" panose="02040503050406030204" pitchFamily="18" charset="0"/>
                              </a:rPr>
                            </m:ctrlPr>
                          </m:sSubPr>
                          <m:e>
                            <m:r>
                              <a:rPr lang="zh-TW" altLang="en-US" sz="2400" b="1" i="0" dirty="0">
                                <a:latin typeface="Cambria Math" panose="02040503050406030204" pitchFamily="18" charset="0"/>
                              </a:rPr>
                              <m:t>𝔼</m:t>
                            </m:r>
                          </m:e>
                          <m:sub>
                            <m:r>
                              <a:rPr lang="en-US" altLang="zh-TW" sz="2400" b="1" i="0" dirty="0">
                                <a:latin typeface="Cambria Math" panose="02040503050406030204" pitchFamily="18" charset="0"/>
                              </a:rPr>
                              <m:t>𝐏</m:t>
                            </m:r>
                          </m:sub>
                        </m:sSub>
                        <m:r>
                          <a:rPr lang="en-US" altLang="zh-TW" sz="2400" b="1" i="0" dirty="0">
                            <a:latin typeface="Cambria Math" panose="02040503050406030204" pitchFamily="18" charset="0"/>
                          </a:rPr>
                          <m:t>[</m:t>
                        </m:r>
                        <m:r>
                          <a:rPr lang="en-US" altLang="zh-TW" sz="2400" b="1" i="0" dirty="0">
                            <a:latin typeface="Cambria Math" panose="02040503050406030204" pitchFamily="18" charset="0"/>
                          </a:rPr>
                          <m:t>𝐔</m:t>
                        </m:r>
                        <m:r>
                          <a:rPr lang="en-US" altLang="zh-TW" sz="2400" b="1" i="0" dirty="0">
                            <a:latin typeface="Cambria Math" panose="02040503050406030204" pitchFamily="18" charset="0"/>
                          </a:rPr>
                          <m:t>’(</m:t>
                        </m:r>
                        <m:r>
                          <a:rPr lang="en-US" altLang="zh-TW" sz="2400" b="1" i="0" dirty="0">
                            <a:latin typeface="Cambria Math" panose="02040503050406030204" pitchFamily="18" charset="0"/>
                          </a:rPr>
                          <m:t>𝐡</m:t>
                        </m:r>
                        <m:r>
                          <a:rPr lang="en-US" altLang="zh-TW" sz="2400" b="1" i="0" dirty="0">
                            <a:latin typeface="Cambria Math" panose="02040503050406030204" pitchFamily="18" charset="0"/>
                          </a:rPr>
                          <m:t>)]</m:t>
                        </m:r>
                      </m:den>
                    </m:f>
                  </m:oMath>
                </a14:m>
                <a:r>
                  <a:rPr lang="zh-TW" altLang="en-US" b="0" dirty="0">
                    <a:latin typeface="Cambria Math" panose="02040503050406030204" pitchFamily="18" charset="0"/>
                  </a:rPr>
                  <a:t>，</a:t>
                </a:r>
                <a:r>
                  <a:rPr lang="en-US" altLang="zh-TW" b="0" dirty="0">
                    <a:latin typeface="Cambria Math" panose="02040503050406030204" pitchFamily="18" charset="0"/>
                  </a:rPr>
                  <a:t> </a:t>
                </a:r>
                <a14:m>
                  <m:oMath xmlns:m="http://schemas.openxmlformats.org/officeDocument/2006/math">
                    <m:r>
                      <m:rPr>
                        <m:sty m:val="p"/>
                      </m:rPr>
                      <a:rPr lang="en-US" altLang="zh-TW" b="0" i="0" dirty="0">
                        <a:latin typeface="Cambria Math" panose="02040503050406030204" pitchFamily="18" charset="0"/>
                      </a:rPr>
                      <m:t>i</m:t>
                    </m:r>
                  </m:oMath>
                </a14:m>
                <a:r>
                  <a:rPr lang="zh-TW" altLang="en-US" b="0" dirty="0">
                    <a:latin typeface="Cambria Math" panose="02040503050406030204" pitchFamily="18" charset="0"/>
                  </a:rPr>
                  <a:t>表示期末狀態，</a:t>
                </a:r>
                <a:r>
                  <a:rPr lang="en-US" altLang="zh-TW" b="0" dirty="0">
                    <a:latin typeface="Cambria Math" panose="02040503050406030204" pitchFamily="18" charset="0"/>
                  </a:rPr>
                  <a:t> </a:t>
                </a:r>
                <a14:m>
                  <m:oMath xmlns:m="http://schemas.openxmlformats.org/officeDocument/2006/math">
                    <m:r>
                      <m:rPr>
                        <m:sty m:val="p"/>
                      </m:rPr>
                      <a:rPr lang="en-US" altLang="zh-TW" b="0" i="0" dirty="0">
                        <a:latin typeface="Cambria Math" panose="02040503050406030204" pitchFamily="18" charset="0"/>
                      </a:rPr>
                      <m:t>U</m:t>
                    </m:r>
                    <m:r>
                      <a:rPr lang="en-US" altLang="zh-TW" b="0" i="0" dirty="0">
                        <a:latin typeface="Cambria Math" panose="02040503050406030204" pitchFamily="18" charset="0"/>
                      </a:rPr>
                      <m:t>(∙)</m:t>
                    </m:r>
                  </m:oMath>
                </a14:m>
                <a:r>
                  <a:rPr lang="zh-TW" altLang="en-US" b="0" dirty="0">
                    <a:latin typeface="Cambria Math" panose="02040503050406030204" pitchFamily="18" charset="0"/>
                  </a:rPr>
                  <a:t>表示期末效用函數，</a:t>
                </a:r>
                <a:r>
                  <a:rPr lang="en-US" altLang="zh-TW" b="0" dirty="0">
                    <a:latin typeface="Cambria Math" panose="02040503050406030204" pitchFamily="18" charset="0"/>
                  </a:rPr>
                  <a:t> </a:t>
                </a:r>
                <a14:m>
                  <m:oMath xmlns:m="http://schemas.openxmlformats.org/officeDocument/2006/math">
                    <m:r>
                      <m:rPr>
                        <m:sty m:val="p"/>
                      </m:rPr>
                      <a:rPr lang="en-US" altLang="zh-TW" b="0" i="0" dirty="0">
                        <a:latin typeface="Cambria Math" panose="02040503050406030204" pitchFamily="18" charset="0"/>
                      </a:rPr>
                      <m:t>h</m:t>
                    </m:r>
                  </m:oMath>
                </a14:m>
                <a:r>
                  <a:rPr lang="zh-TW" altLang="en-US" b="0" dirty="0">
                    <a:latin typeface="Cambria Math" panose="02040503050406030204" pitchFamily="18" charset="0"/>
                  </a:rPr>
                  <a:t>表示期末時獲取</a:t>
                </a:r>
                <a14:m>
                  <m:oMath xmlns:m="http://schemas.openxmlformats.org/officeDocument/2006/math">
                    <m:r>
                      <m:rPr>
                        <m:sty m:val="p"/>
                      </m:rPr>
                      <a:rPr lang="en-US" altLang="zh-TW" b="0" i="0" dirty="0">
                        <a:latin typeface="Cambria Math" panose="02040503050406030204" pitchFamily="18" charset="0"/>
                      </a:rPr>
                      <m:t>h</m:t>
                    </m:r>
                  </m:oMath>
                </a14:m>
                <a:r>
                  <a:rPr lang="zh-TW" altLang="en-US" b="0" dirty="0">
                    <a:latin typeface="Cambria Math" panose="02040503050406030204" pitchFamily="18" charset="0"/>
                  </a:rPr>
                  <a:t>單位之報酬，</a:t>
                </a:r>
                <a:r>
                  <a:rPr lang="en-US" altLang="zh-TW" b="0" dirty="0">
                    <a:latin typeface="Cambria Math" panose="02040503050406030204" pitchFamily="18" charset="0"/>
                  </a:rPr>
                  <a:t> </a:t>
                </a:r>
                <a14:m>
                  <m:oMath xmlns:m="http://schemas.openxmlformats.org/officeDocument/2006/math">
                    <m:sSub>
                      <m:sSubPr>
                        <m:ctrlPr>
                          <a:rPr lang="en-US" altLang="zh-TW" b="0" i="1" dirty="0">
                            <a:latin typeface="Cambria Math" panose="02040503050406030204" pitchFamily="18" charset="0"/>
                          </a:rPr>
                        </m:ctrlPr>
                      </m:sSubPr>
                      <m:e>
                        <m:r>
                          <a:rPr lang="zh-TW" altLang="en-US" b="0" i="0" dirty="0">
                            <a:latin typeface="Cambria Math" panose="02040503050406030204" pitchFamily="18" charset="0"/>
                          </a:rPr>
                          <m:t>𝔼</m:t>
                        </m:r>
                      </m:e>
                      <m:sub>
                        <m:r>
                          <m:rPr>
                            <m:sty m:val="p"/>
                          </m:rPr>
                          <a:rPr lang="en-US" altLang="zh-TW" b="0" i="0" dirty="0">
                            <a:latin typeface="Cambria Math" panose="02040503050406030204" pitchFamily="18" charset="0"/>
                          </a:rPr>
                          <m:t>P</m:t>
                        </m:r>
                      </m:sub>
                    </m:sSub>
                    <m:r>
                      <a:rPr lang="en-US" altLang="zh-TW" b="0" i="0" dirty="0">
                        <a:latin typeface="Cambria Math" panose="02040503050406030204" pitchFamily="18" charset="0"/>
                      </a:rPr>
                      <m:t>[∙]</m:t>
                    </m:r>
                  </m:oMath>
                </a14:m>
                <a:r>
                  <a:rPr lang="zh-TW" altLang="en-US" b="0" dirty="0">
                    <a:latin typeface="Cambria Math" panose="02040503050406030204" pitchFamily="18" charset="0"/>
                  </a:rPr>
                  <a:t>表示在真實世界機率測度下求取期望值</a:t>
                </a:r>
                <a:endParaRPr lang="en-US" altLang="zh-TW" b="0" dirty="0">
                  <a:latin typeface="Cambria Math" panose="02040503050406030204" pitchFamily="18" charset="0"/>
                </a:endParaRPr>
              </a:p>
              <a:p>
                <a:pPr marL="457200" indent="-457200">
                  <a:lnSpc>
                    <a:spcPct val="100000"/>
                  </a:lnSpc>
                  <a:buClr>
                    <a:schemeClr val="accent1"/>
                  </a:buClr>
                  <a:buFont typeface="+mj-lt"/>
                  <a:buAutoNum type="arabicPeriod"/>
                </a:pPr>
                <a14:m>
                  <m:oMath xmlns:m="http://schemas.openxmlformats.org/officeDocument/2006/math">
                    <m:sSub>
                      <m:sSubPr>
                        <m:ctrlPr>
                          <a:rPr lang="en-US" altLang="zh-TW" sz="2400" i="1" dirty="0">
                            <a:latin typeface="Cambria Math" panose="02040503050406030204" pitchFamily="18" charset="0"/>
                          </a:rPr>
                        </m:ctrlPr>
                      </m:sSubPr>
                      <m:e>
                        <m:r>
                          <a:rPr lang="en-US" altLang="zh-TW" sz="2400" b="1" i="0" dirty="0">
                            <a:latin typeface="Cambria Math" panose="02040503050406030204" pitchFamily="18" charset="0"/>
                          </a:rPr>
                          <m:t>𝐦</m:t>
                        </m:r>
                      </m:e>
                      <m:sub>
                        <m:r>
                          <a:rPr lang="en-US" altLang="zh-TW" sz="2400" b="1" i="0" dirty="0">
                            <a:latin typeface="Cambria Math" panose="02040503050406030204" pitchFamily="18" charset="0"/>
                          </a:rPr>
                          <m:t>𝐢</m:t>
                        </m:r>
                      </m:sub>
                    </m:sSub>
                    <m:r>
                      <a:rPr lang="en-US" altLang="zh-TW" sz="2400" b="1" i="0" dirty="0">
                        <a:latin typeface="Cambria Math" panose="02040503050406030204" pitchFamily="18" charset="0"/>
                      </a:rPr>
                      <m:t>= </m:t>
                    </m:r>
                    <m:r>
                      <a:rPr lang="zh-TW" altLang="en-US" sz="2400" b="1" i="0" dirty="0">
                        <a:latin typeface="Cambria Math" panose="02040503050406030204" pitchFamily="18" charset="0"/>
                      </a:rPr>
                      <m:t>𝛃</m:t>
                    </m:r>
                    <m:f>
                      <m:fPr>
                        <m:ctrlPr>
                          <a:rPr lang="en-US" altLang="zh-TW" sz="2400" i="1" dirty="0">
                            <a:latin typeface="Cambria Math" panose="02040503050406030204" pitchFamily="18" charset="0"/>
                          </a:rPr>
                        </m:ctrlPr>
                      </m:fPr>
                      <m:num>
                        <m:r>
                          <a:rPr lang="en-US" altLang="zh-TW" sz="2400" b="1" i="0" dirty="0">
                            <a:latin typeface="Cambria Math" panose="02040503050406030204" pitchFamily="18" charset="0"/>
                          </a:rPr>
                          <m:t>𝐮</m:t>
                        </m:r>
                        <m:r>
                          <a:rPr lang="en-US" altLang="zh-TW" sz="2400" b="1" i="0" dirty="0">
                            <a:latin typeface="Cambria Math" panose="02040503050406030204" pitchFamily="18" charset="0"/>
                          </a:rPr>
                          <m:t>‘(</m:t>
                        </m:r>
                        <m:sSub>
                          <m:sSubPr>
                            <m:ctrlPr>
                              <a:rPr lang="en-US" altLang="zh-TW" sz="2400" i="1" dirty="0">
                                <a:latin typeface="Cambria Math" panose="02040503050406030204" pitchFamily="18" charset="0"/>
                              </a:rPr>
                            </m:ctrlPr>
                          </m:sSubPr>
                          <m:e>
                            <m:r>
                              <a:rPr lang="en-US" altLang="zh-TW" sz="2400" b="1" i="0" dirty="0">
                                <a:latin typeface="Cambria Math" panose="02040503050406030204" pitchFamily="18" charset="0"/>
                              </a:rPr>
                              <m:t>𝐜</m:t>
                            </m:r>
                          </m:e>
                          <m:sub>
                            <m:r>
                              <a:rPr lang="en-US" altLang="zh-TW" sz="2400" b="1" i="0" dirty="0">
                                <a:latin typeface="Cambria Math" panose="02040503050406030204" pitchFamily="18" charset="0"/>
                              </a:rPr>
                              <m:t>𝐭</m:t>
                            </m:r>
                            <m:r>
                              <a:rPr lang="en-US" altLang="zh-TW" sz="2400" b="1" i="0" dirty="0">
                                <a:latin typeface="Cambria Math" panose="02040503050406030204" pitchFamily="18" charset="0"/>
                              </a:rPr>
                              <m:t>+</m:t>
                            </m:r>
                            <m:r>
                              <a:rPr lang="en-US" altLang="zh-TW" sz="2400" b="1" i="0" dirty="0">
                                <a:latin typeface="Cambria Math" panose="02040503050406030204" pitchFamily="18" charset="0"/>
                              </a:rPr>
                              <m:t>𝟏</m:t>
                            </m:r>
                            <m:r>
                              <a:rPr lang="en-US" altLang="zh-TW" sz="2400" b="1" i="0" dirty="0">
                                <a:latin typeface="Cambria Math" panose="02040503050406030204" pitchFamily="18" charset="0"/>
                              </a:rPr>
                              <m:t>,</m:t>
                            </m:r>
                            <m:r>
                              <a:rPr lang="en-US" altLang="zh-TW" sz="2400" b="1" i="0" dirty="0">
                                <a:latin typeface="Cambria Math" panose="02040503050406030204" pitchFamily="18" charset="0"/>
                              </a:rPr>
                              <m:t>𝐢</m:t>
                            </m:r>
                          </m:sub>
                        </m:sSub>
                        <m:r>
                          <a:rPr lang="en-US" altLang="zh-TW" sz="2400" b="1" i="0" dirty="0">
                            <a:latin typeface="Cambria Math" panose="02040503050406030204" pitchFamily="18" charset="0"/>
                          </a:rPr>
                          <m:t>)</m:t>
                        </m:r>
                      </m:num>
                      <m:den>
                        <m:r>
                          <a:rPr lang="en-US" altLang="zh-TW" sz="2400" b="1" i="0" dirty="0">
                            <a:latin typeface="Cambria Math" panose="02040503050406030204" pitchFamily="18" charset="0"/>
                          </a:rPr>
                          <m:t>𝐮</m:t>
                        </m:r>
                        <m:r>
                          <a:rPr lang="en-US" altLang="zh-TW" sz="2400" b="1" i="0" dirty="0">
                            <a:latin typeface="Cambria Math" panose="02040503050406030204" pitchFamily="18" charset="0"/>
                          </a:rPr>
                          <m:t>‘(</m:t>
                        </m:r>
                        <m:sSub>
                          <m:sSubPr>
                            <m:ctrlPr>
                              <a:rPr lang="en-US" altLang="zh-TW" sz="2400" i="1" dirty="0">
                                <a:latin typeface="Cambria Math" panose="02040503050406030204" pitchFamily="18" charset="0"/>
                              </a:rPr>
                            </m:ctrlPr>
                          </m:sSubPr>
                          <m:e>
                            <m:r>
                              <a:rPr lang="en-US" altLang="zh-TW" sz="2400" b="1" i="0" dirty="0">
                                <a:latin typeface="Cambria Math" panose="02040503050406030204" pitchFamily="18" charset="0"/>
                              </a:rPr>
                              <m:t>𝐜</m:t>
                            </m:r>
                          </m:e>
                          <m:sub>
                            <m:r>
                              <a:rPr lang="en-US" altLang="zh-TW" sz="2400" b="1" i="0" dirty="0">
                                <a:latin typeface="Cambria Math" panose="02040503050406030204" pitchFamily="18" charset="0"/>
                              </a:rPr>
                              <m:t>𝐭</m:t>
                            </m:r>
                          </m:sub>
                        </m:sSub>
                        <m:r>
                          <a:rPr lang="en-US" altLang="zh-TW" sz="2400" b="1" i="0" dirty="0">
                            <a:latin typeface="Cambria Math" panose="02040503050406030204" pitchFamily="18" charset="0"/>
                          </a:rPr>
                          <m:t>)</m:t>
                        </m:r>
                      </m:den>
                    </m:f>
                  </m:oMath>
                </a14:m>
                <a:r>
                  <a:rPr lang="zh-TW" altLang="en-US" b="0" dirty="0">
                    <a:latin typeface="Cambria Math" panose="02040503050406030204" pitchFamily="18" charset="0"/>
                  </a:rPr>
                  <a:t>，</a:t>
                </a:r>
                <a:r>
                  <a:rPr lang="en-US" altLang="zh-TW" b="0" dirty="0">
                    <a:latin typeface="Cambria Math" panose="02040503050406030204" pitchFamily="18" charset="0"/>
                  </a:rPr>
                  <a:t> </a:t>
                </a:r>
                <a14:m>
                  <m:oMath xmlns:m="http://schemas.openxmlformats.org/officeDocument/2006/math">
                    <m:r>
                      <m:rPr>
                        <m:sty m:val="p"/>
                      </m:rPr>
                      <a:rPr lang="zh-TW" altLang="en-US" b="0" i="0">
                        <a:latin typeface="Cambria Math" panose="02040503050406030204" pitchFamily="18" charset="0"/>
                      </a:rPr>
                      <m:t>β</m:t>
                    </m:r>
                  </m:oMath>
                </a14:m>
                <a:r>
                  <a:rPr lang="zh-TW" altLang="en-US" b="0" dirty="0">
                    <a:latin typeface="Cambria Math" panose="02040503050406030204" pitchFamily="18" charset="0"/>
                  </a:rPr>
                  <a:t>表示折現因子，</a:t>
                </a:r>
                <a:r>
                  <a:rPr lang="en-US" altLang="zh-TW" b="0" dirty="0">
                    <a:latin typeface="Cambria Math" panose="02040503050406030204" pitchFamily="18" charset="0"/>
                  </a:rPr>
                  <a:t> </a:t>
                </a:r>
                <a14:m>
                  <m:oMath xmlns:m="http://schemas.openxmlformats.org/officeDocument/2006/math">
                    <m:r>
                      <m:rPr>
                        <m:sty m:val="p"/>
                      </m:rPr>
                      <a:rPr lang="en-US" altLang="zh-TW" b="0" i="0">
                        <a:latin typeface="Cambria Math" panose="02040503050406030204" pitchFamily="18" charset="0"/>
                      </a:rPr>
                      <m:t>t</m:t>
                    </m:r>
                  </m:oMath>
                </a14:m>
                <a:r>
                  <a:rPr lang="zh-TW" altLang="en-US" b="0" dirty="0">
                    <a:latin typeface="Cambria Math" panose="02040503050406030204" pitchFamily="18" charset="0"/>
                  </a:rPr>
                  <a:t>表示當期時間，</a:t>
                </a:r>
                <a:r>
                  <a:rPr lang="en-US" altLang="zh-TW" b="0" dirty="0">
                    <a:latin typeface="Cambria Math" panose="02040503050406030204" pitchFamily="18" charset="0"/>
                  </a:rPr>
                  <a:t> </a:t>
                </a:r>
                <a14:m>
                  <m:oMath xmlns:m="http://schemas.openxmlformats.org/officeDocument/2006/math">
                    <m:r>
                      <m:rPr>
                        <m:sty m:val="p"/>
                      </m:rPr>
                      <a:rPr lang="en-US" altLang="zh-TW" b="0" i="0" dirty="0">
                        <a:latin typeface="Cambria Math" panose="02040503050406030204" pitchFamily="18" charset="0"/>
                      </a:rPr>
                      <m:t>u</m:t>
                    </m:r>
                    <m:r>
                      <a:rPr lang="en-US" altLang="zh-TW" b="0" i="0" dirty="0">
                        <a:latin typeface="Cambria Math" panose="02040503050406030204" pitchFamily="18" charset="0"/>
                      </a:rPr>
                      <m:t>(∙)</m:t>
                    </m:r>
                  </m:oMath>
                </a14:m>
                <a:r>
                  <a:rPr lang="zh-TW" altLang="en-US" b="0" dirty="0">
                    <a:latin typeface="Cambria Math" panose="02040503050406030204" pitchFamily="18" charset="0"/>
                  </a:rPr>
                  <a:t>表示某一期之效用函數，</a:t>
                </a:r>
                <a:r>
                  <a:rPr lang="en-US" altLang="zh-TW" b="0" dirty="0">
                    <a:latin typeface="Cambria Math" panose="02040503050406030204" pitchFamily="18" charset="0"/>
                  </a:rPr>
                  <a:t> </a:t>
                </a:r>
                <a14:m>
                  <m:oMath xmlns:m="http://schemas.openxmlformats.org/officeDocument/2006/math">
                    <m:r>
                      <m:rPr>
                        <m:sty m:val="p"/>
                      </m:rPr>
                      <a:rPr lang="en-US" altLang="zh-TW" b="0" i="0">
                        <a:latin typeface="Cambria Math" panose="02040503050406030204" pitchFamily="18" charset="0"/>
                      </a:rPr>
                      <m:t>c</m:t>
                    </m:r>
                  </m:oMath>
                </a14:m>
                <a:r>
                  <a:rPr lang="zh-TW" altLang="en-US" b="0" dirty="0">
                    <a:latin typeface="Cambria Math" panose="02040503050406030204" pitchFamily="18" charset="0"/>
                  </a:rPr>
                  <a:t>表示消費</a:t>
                </a:r>
                <a:endParaRPr lang="en-US" altLang="zh-TW" b="0" dirty="0">
                  <a:latin typeface="Cambria Math" panose="02040503050406030204" pitchFamily="18" charset="0"/>
                </a:endParaRPr>
              </a:p>
              <a:p>
                <a:pPr marL="457200" indent="-457200">
                  <a:lnSpc>
                    <a:spcPct val="100000"/>
                  </a:lnSpc>
                  <a:buClr>
                    <a:schemeClr val="accent1"/>
                  </a:buClr>
                  <a:buFont typeface="+mj-lt"/>
                  <a:buAutoNum type="arabicPeriod"/>
                </a:pPr>
                <a:r>
                  <a:rPr lang="zh-TW" altLang="en-US" sz="2400" dirty="0">
                    <a:latin typeface="Cambria Math" panose="02040503050406030204" pitchFamily="18" charset="0"/>
                  </a:rPr>
                  <a:t> </a:t>
                </a:r>
                <a:r>
                  <a:rPr lang="zh-TW" altLang="en-US" b="0" dirty="0">
                    <a:latin typeface="Cambria Math" panose="02040503050406030204" pitchFamily="18" charset="0"/>
                  </a:rPr>
                  <a:t>將</a:t>
                </a:r>
                <a:r>
                  <a:rPr lang="en-US" altLang="zh-TW" b="0" dirty="0">
                    <a:latin typeface="Cambria Math" panose="02040503050406030204" pitchFamily="18" charset="0"/>
                  </a:rPr>
                  <a:t>4.</a:t>
                </a:r>
                <a:r>
                  <a:rPr lang="zh-TW" altLang="en-US" b="0" dirty="0">
                    <a:latin typeface="Cambria Math" panose="02040503050406030204" pitchFamily="18" charset="0"/>
                  </a:rPr>
                  <a:t>之</a:t>
                </a:r>
                <a14:m>
                  <m:oMath xmlns:m="http://schemas.openxmlformats.org/officeDocument/2006/math">
                    <m:r>
                      <m:rPr>
                        <m:sty m:val="p"/>
                      </m:rPr>
                      <a:rPr lang="en-US" altLang="zh-TW" b="0" i="0" dirty="0">
                        <a:latin typeface="Cambria Math" panose="02040503050406030204" pitchFamily="18" charset="0"/>
                      </a:rPr>
                      <m:t>u</m:t>
                    </m:r>
                    <m:r>
                      <a:rPr lang="en-US" altLang="zh-TW" b="0" i="0" dirty="0">
                        <a:latin typeface="Cambria Math" panose="02040503050406030204" pitchFamily="18" charset="0"/>
                      </a:rPr>
                      <m:t>(∙)</m:t>
                    </m:r>
                  </m:oMath>
                </a14:m>
                <a:r>
                  <a:rPr lang="zh-TW" altLang="en-US" b="0" dirty="0">
                    <a:latin typeface="Cambria Math" panose="02040503050406030204" pitchFamily="18" charset="0"/>
                  </a:rPr>
                  <a:t>以</a:t>
                </a:r>
                <a:r>
                  <a:rPr lang="en-US" altLang="zh-TW" b="0" dirty="0">
                    <a:latin typeface="Cambria Math" panose="02040503050406030204" pitchFamily="18" charset="0"/>
                  </a:rPr>
                  <a:t>CRRA</a:t>
                </a:r>
                <a:r>
                  <a:rPr lang="zh-TW" altLang="en-US" b="0" dirty="0">
                    <a:latin typeface="Cambria Math" panose="02040503050406030204" pitchFamily="18" charset="0"/>
                  </a:rPr>
                  <a:t>效用函數</a:t>
                </a:r>
                <a14:m>
                  <m:oMath xmlns:m="http://schemas.openxmlformats.org/officeDocument/2006/math">
                    <m:r>
                      <m:rPr>
                        <m:sty m:val="p"/>
                      </m:rPr>
                      <a:rPr lang="en-US" altLang="zh-TW" b="0" i="0" dirty="0">
                        <a:latin typeface="Cambria Math" panose="02040503050406030204" pitchFamily="18" charset="0"/>
                      </a:rPr>
                      <m:t>u</m:t>
                    </m:r>
                    <m:r>
                      <a:rPr lang="en-US" altLang="zh-TW" b="0" i="0" dirty="0">
                        <a:latin typeface="Cambria Math" panose="02040503050406030204" pitchFamily="18" charset="0"/>
                      </a:rPr>
                      <m:t>’(</m:t>
                    </m:r>
                    <m:sSub>
                      <m:sSubPr>
                        <m:ctrlPr>
                          <a:rPr lang="en-US" altLang="zh-TW" b="0" i="1" dirty="0">
                            <a:latin typeface="Cambria Math" panose="02040503050406030204" pitchFamily="18" charset="0"/>
                          </a:rPr>
                        </m:ctrlPr>
                      </m:sSubPr>
                      <m:e>
                        <m:r>
                          <m:rPr>
                            <m:sty m:val="p"/>
                          </m:rPr>
                          <a:rPr lang="en-US" altLang="zh-TW" b="0" i="0" dirty="0">
                            <a:latin typeface="Cambria Math" panose="02040503050406030204" pitchFamily="18" charset="0"/>
                          </a:rPr>
                          <m:t>c</m:t>
                        </m:r>
                      </m:e>
                      <m:sub>
                        <m:r>
                          <m:rPr>
                            <m:sty m:val="p"/>
                          </m:rPr>
                          <a:rPr lang="en-US" altLang="zh-TW" b="0" i="0" dirty="0">
                            <a:latin typeface="Cambria Math" panose="02040503050406030204" pitchFamily="18" charset="0"/>
                          </a:rPr>
                          <m:t>t</m:t>
                        </m:r>
                      </m:sub>
                    </m:sSub>
                    <m:r>
                      <a:rPr lang="en-US" altLang="zh-TW" b="0" i="0" dirty="0">
                        <a:latin typeface="Cambria Math" panose="02040503050406030204" pitchFamily="18" charset="0"/>
                      </a:rPr>
                      <m:t>)=</m:t>
                    </m:r>
                    <m:r>
                      <a:rPr lang="zh-TW" altLang="en-US" b="0" i="0" dirty="0">
                        <a:latin typeface="Cambria Math" panose="02040503050406030204" pitchFamily="18" charset="0"/>
                      </a:rPr>
                      <m:t> </m:t>
                    </m:r>
                    <m:sSubSup>
                      <m:sSubSupPr>
                        <m:ctrlPr>
                          <a:rPr lang="en-US" altLang="zh-TW" b="0" i="1" dirty="0">
                            <a:latin typeface="Cambria Math" panose="02040503050406030204" pitchFamily="18" charset="0"/>
                          </a:rPr>
                        </m:ctrlPr>
                      </m:sSubSupPr>
                      <m:e>
                        <m:r>
                          <m:rPr>
                            <m:sty m:val="p"/>
                          </m:rPr>
                          <a:rPr lang="en-US" altLang="zh-TW" b="0" i="0" dirty="0">
                            <a:latin typeface="Cambria Math" panose="02040503050406030204" pitchFamily="18" charset="0"/>
                          </a:rPr>
                          <m:t>c</m:t>
                        </m:r>
                      </m:e>
                      <m:sub>
                        <m:r>
                          <m:rPr>
                            <m:sty m:val="p"/>
                          </m:rPr>
                          <a:rPr lang="en-US" altLang="zh-TW" b="0" i="0" dirty="0">
                            <a:latin typeface="Cambria Math" panose="02040503050406030204" pitchFamily="18" charset="0"/>
                          </a:rPr>
                          <m:t>t</m:t>
                        </m:r>
                      </m:sub>
                      <m:sup>
                        <m:r>
                          <a:rPr lang="en-US" altLang="zh-TW" b="0" i="0" dirty="0">
                            <a:latin typeface="Cambria Math" panose="02040503050406030204" pitchFamily="18" charset="0"/>
                          </a:rPr>
                          <m:t>−</m:t>
                        </m:r>
                        <m:r>
                          <m:rPr>
                            <m:sty m:val="p"/>
                          </m:rPr>
                          <a:rPr lang="zh-TW" altLang="en-US" b="0" i="0" dirty="0">
                            <a:latin typeface="Cambria Math" panose="02040503050406030204" pitchFamily="18" charset="0"/>
                          </a:rPr>
                          <m:t>γ</m:t>
                        </m:r>
                      </m:sup>
                    </m:sSubSup>
                  </m:oMath>
                </a14:m>
                <a:r>
                  <a:rPr lang="zh-TW" altLang="en-US" b="0" dirty="0">
                    <a:latin typeface="Cambria Math" panose="02040503050406030204" pitchFamily="18" charset="0"/>
                  </a:rPr>
                  <a:t>，</a:t>
                </a:r>
                <a:r>
                  <a:rPr lang="en-US" altLang="zh-TW" b="0" dirty="0">
                    <a:latin typeface="Cambria Math" panose="02040503050406030204" pitchFamily="18" charset="0"/>
                  </a:rPr>
                  <a:t> </a:t>
                </a:r>
                <a14:m>
                  <m:oMath xmlns:m="http://schemas.openxmlformats.org/officeDocument/2006/math">
                    <m:r>
                      <m:rPr>
                        <m:sty m:val="p"/>
                      </m:rPr>
                      <a:rPr lang="zh-TW" altLang="en-US" b="0" i="0">
                        <a:latin typeface="Cambria Math" panose="02040503050406030204" pitchFamily="18" charset="0"/>
                      </a:rPr>
                      <m:t>γ</m:t>
                    </m:r>
                  </m:oMath>
                </a14:m>
                <a:r>
                  <a:rPr lang="zh-TW" altLang="en-US" b="0" dirty="0">
                    <a:latin typeface="Cambria Math" panose="02040503050406030204" pitchFamily="18" charset="0"/>
                  </a:rPr>
                  <a:t>表示相對風險厭惡係數代入，並將消費</a:t>
                </a:r>
                <a14:m>
                  <m:oMath xmlns:m="http://schemas.openxmlformats.org/officeDocument/2006/math">
                    <m:r>
                      <m:rPr>
                        <m:sty m:val="p"/>
                      </m:rPr>
                      <a:rPr lang="en-US" altLang="zh-TW" b="0" i="0" dirty="0">
                        <a:latin typeface="Cambria Math" panose="02040503050406030204" pitchFamily="18" charset="0"/>
                      </a:rPr>
                      <m:t>c</m:t>
                    </m:r>
                  </m:oMath>
                </a14:m>
                <a:r>
                  <a:rPr lang="zh-TW" altLang="en-US" b="0" dirty="0">
                    <a:latin typeface="Cambria Math" panose="02040503050406030204" pitchFamily="18" charset="0"/>
                  </a:rPr>
                  <a:t>以標的物價格</a:t>
                </a:r>
                <a14:m>
                  <m:oMath xmlns:m="http://schemas.openxmlformats.org/officeDocument/2006/math">
                    <m:r>
                      <m:rPr>
                        <m:sty m:val="p"/>
                      </m:rPr>
                      <a:rPr lang="en-US" altLang="zh-TW" b="0" i="0" dirty="0">
                        <a:latin typeface="Cambria Math" panose="02040503050406030204" pitchFamily="18" charset="0"/>
                      </a:rPr>
                      <m:t>S</m:t>
                    </m:r>
                  </m:oMath>
                </a14:m>
                <a:r>
                  <a:rPr lang="zh-TW" altLang="en-US" b="0" dirty="0">
                    <a:latin typeface="Cambria Math" panose="02040503050406030204" pitchFamily="18" charset="0"/>
                  </a:rPr>
                  <a:t>表示，可得</a:t>
                </a:r>
                <a:r>
                  <a:rPr lang="en-US" altLang="zh-TW" b="0" dirty="0">
                    <a:latin typeface="Cambria Math" panose="02040503050406030204" pitchFamily="18" charset="0"/>
                  </a:rPr>
                  <a:t>CRRA</a:t>
                </a:r>
                <a:r>
                  <a:rPr lang="zh-TW" altLang="en-US" b="0" dirty="0">
                    <a:latin typeface="Cambria Math" panose="02040503050406030204" pitchFamily="18" charset="0"/>
                  </a:rPr>
                  <a:t>定價核</a:t>
                </a:r>
                <a14:m>
                  <m:oMath xmlns:m="http://schemas.openxmlformats.org/officeDocument/2006/math">
                    <m:r>
                      <a:rPr lang="en-US" altLang="zh-TW" sz="2400" b="1" i="1" dirty="0">
                        <a:latin typeface="Cambria Math" panose="02040503050406030204" pitchFamily="18" charset="0"/>
                      </a:rPr>
                      <m:t>𝐦</m:t>
                    </m:r>
                    <m:r>
                      <a:rPr lang="en-US" altLang="zh-TW" sz="2400" b="1" dirty="0">
                        <a:latin typeface="Cambria Math" panose="02040503050406030204" pitchFamily="18" charset="0"/>
                      </a:rPr>
                      <m:t>=</m:t>
                    </m:r>
                    <m:r>
                      <a:rPr lang="zh-TW" altLang="en-US" sz="2400" b="1" i="1" dirty="0">
                        <a:latin typeface="Cambria Math" panose="02040503050406030204" pitchFamily="18" charset="0"/>
                      </a:rPr>
                      <m:t>𝛃</m:t>
                    </m:r>
                    <m:sSup>
                      <m:sSupPr>
                        <m:ctrlPr>
                          <a:rPr lang="en-US" altLang="zh-TW" sz="2400" i="1" dirty="0">
                            <a:latin typeface="Cambria Math" panose="02040503050406030204" pitchFamily="18" charset="0"/>
                          </a:rPr>
                        </m:ctrlPr>
                      </m:sSupPr>
                      <m:e>
                        <m:r>
                          <a:rPr lang="en-US" altLang="zh-TW" sz="2400" b="1" dirty="0">
                            <a:latin typeface="Cambria Math" panose="02040503050406030204" pitchFamily="18" charset="0"/>
                          </a:rPr>
                          <m:t>(</m:t>
                        </m:r>
                        <m:f>
                          <m:fPr>
                            <m:ctrlPr>
                              <a:rPr lang="en-US" altLang="zh-TW" sz="2400" i="1" dirty="0">
                                <a:latin typeface="Cambria Math" panose="02040503050406030204" pitchFamily="18" charset="0"/>
                              </a:rPr>
                            </m:ctrlPr>
                          </m:fPr>
                          <m:num>
                            <m:sSub>
                              <m:sSubPr>
                                <m:ctrlPr>
                                  <a:rPr lang="en-US" altLang="zh-TW" sz="2400" i="1" dirty="0">
                                    <a:latin typeface="Cambria Math" panose="02040503050406030204" pitchFamily="18" charset="0"/>
                                  </a:rPr>
                                </m:ctrlPr>
                              </m:sSubPr>
                              <m:e>
                                <m:r>
                                  <a:rPr lang="en-US" altLang="zh-TW" sz="2400" b="1" i="1" dirty="0">
                                    <a:latin typeface="Cambria Math" panose="02040503050406030204" pitchFamily="18" charset="0"/>
                                  </a:rPr>
                                  <m:t>𝐒</m:t>
                                </m:r>
                              </m:e>
                              <m:sub>
                                <m:r>
                                  <a:rPr lang="en-US" altLang="zh-TW" sz="2400" b="1" i="1" dirty="0">
                                    <a:latin typeface="Cambria Math" panose="02040503050406030204" pitchFamily="18" charset="0"/>
                                  </a:rPr>
                                  <m:t>𝐭</m:t>
                                </m:r>
                                <m:r>
                                  <a:rPr lang="en-US" altLang="zh-TW" sz="2400" b="1" dirty="0">
                                    <a:latin typeface="Cambria Math" panose="02040503050406030204" pitchFamily="18" charset="0"/>
                                  </a:rPr>
                                  <m:t>+</m:t>
                                </m:r>
                                <m:r>
                                  <a:rPr lang="en-US" altLang="zh-TW" sz="2400" b="1" i="1" dirty="0">
                                    <a:latin typeface="Cambria Math" panose="02040503050406030204" pitchFamily="18" charset="0"/>
                                  </a:rPr>
                                  <m:t>𝟏</m:t>
                                </m:r>
                              </m:sub>
                            </m:sSub>
                          </m:num>
                          <m:den>
                            <m:sSub>
                              <m:sSubPr>
                                <m:ctrlPr>
                                  <a:rPr lang="en-US" altLang="zh-TW" sz="2400" i="1" dirty="0">
                                    <a:latin typeface="Cambria Math" panose="02040503050406030204" pitchFamily="18" charset="0"/>
                                  </a:rPr>
                                </m:ctrlPr>
                              </m:sSubPr>
                              <m:e>
                                <m:r>
                                  <a:rPr lang="en-US" altLang="zh-TW" sz="2400" b="1" i="1" dirty="0">
                                    <a:latin typeface="Cambria Math" panose="02040503050406030204" pitchFamily="18" charset="0"/>
                                  </a:rPr>
                                  <m:t>𝐒</m:t>
                                </m:r>
                              </m:e>
                              <m:sub>
                                <m:r>
                                  <a:rPr lang="en-US" altLang="zh-TW" sz="2400" b="1" i="1" dirty="0">
                                    <a:latin typeface="Cambria Math" panose="02040503050406030204" pitchFamily="18" charset="0"/>
                                  </a:rPr>
                                  <m:t>𝐭</m:t>
                                </m:r>
                              </m:sub>
                            </m:sSub>
                          </m:den>
                        </m:f>
                        <m:r>
                          <a:rPr lang="en-US" altLang="zh-TW" sz="2400" b="1" dirty="0">
                            <a:latin typeface="Cambria Math" panose="02040503050406030204" pitchFamily="18" charset="0"/>
                          </a:rPr>
                          <m:t>)</m:t>
                        </m:r>
                      </m:e>
                      <m:sup>
                        <m:r>
                          <a:rPr lang="en-US" altLang="zh-TW" sz="2400" b="1" dirty="0">
                            <a:latin typeface="Cambria Math" panose="02040503050406030204" pitchFamily="18" charset="0"/>
                          </a:rPr>
                          <m:t>−</m:t>
                        </m:r>
                        <m:r>
                          <a:rPr lang="zh-TW" altLang="en-US" sz="2400" b="1" i="1" dirty="0">
                            <a:latin typeface="Cambria Math" panose="02040503050406030204" pitchFamily="18" charset="0"/>
                          </a:rPr>
                          <m:t>𝛄</m:t>
                        </m:r>
                      </m:sup>
                    </m:sSup>
                  </m:oMath>
                </a14:m>
                <a:endParaRPr lang="en-US" altLang="zh-TW" sz="2400" dirty="0">
                  <a:latin typeface="Cambria Math" panose="02040503050406030204" pitchFamily="18" charset="0"/>
                </a:endParaRPr>
              </a:p>
            </p:txBody>
          </p:sp>
        </mc:Choice>
        <mc:Fallback xmlns="">
          <p:sp>
            <p:nvSpPr>
              <p:cNvPr id="7" name="內容版面配置區 9">
                <a:extLst>
                  <a:ext uri="{FF2B5EF4-FFF2-40B4-BE49-F238E27FC236}">
                    <a16:creationId xmlns:a16="http://schemas.microsoft.com/office/drawing/2014/main" id="{C6D7FFD8-6870-3AFF-D09C-2DE9E2C180AC}"/>
                  </a:ext>
                </a:extLst>
              </p:cNvPr>
              <p:cNvSpPr txBox="1">
                <a:spLocks noRot="1" noChangeAspect="1" noMove="1" noResize="1" noEditPoints="1" noAdjustHandles="1" noChangeArrowheads="1" noChangeShapeType="1" noTextEdit="1"/>
              </p:cNvSpPr>
              <p:nvPr/>
            </p:nvSpPr>
            <p:spPr>
              <a:xfrm>
                <a:off x="390332" y="2495427"/>
                <a:ext cx="11721044" cy="4029259"/>
              </a:xfrm>
              <a:prstGeom prst="rect">
                <a:avLst/>
              </a:prstGeom>
              <a:blipFill>
                <a:blip r:embed="rId3"/>
                <a:stretch>
                  <a:fillRect l="-78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59423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FE2B530-C5AE-903E-089E-5845F6C3A47B}"/>
              </a:ext>
            </a:extLst>
          </p:cNvPr>
          <p:cNvSpPr>
            <a:spLocks noGrp="1"/>
          </p:cNvSpPr>
          <p:nvPr>
            <p:ph sz="quarter" idx="10"/>
          </p:nvPr>
        </p:nvSpPr>
        <p:spPr>
          <a:xfrm>
            <a:off x="6422304" y="2843357"/>
            <a:ext cx="3866251" cy="1171286"/>
          </a:xfrm>
        </p:spPr>
        <p:txBody>
          <a:bodyPr/>
          <a:lstStyle/>
          <a:p>
            <a:pPr>
              <a:buFont typeface="+mj-ea"/>
              <a:buAutoNum type="ea1ChtPeriod" startAt="2"/>
            </a:pPr>
            <a:r>
              <a:rPr lang="zh-TW" altLang="en-US" dirty="0"/>
              <a:t>定價核估計</a:t>
            </a:r>
            <a:endParaRPr lang="en-US" altLang="zh-TW" dirty="0"/>
          </a:p>
        </p:txBody>
      </p:sp>
    </p:spTree>
    <p:extLst>
      <p:ext uri="{BB962C8B-B14F-4D97-AF65-F5344CB8AC3E}">
        <p14:creationId xmlns:p14="http://schemas.microsoft.com/office/powerpoint/2010/main" val="3025012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B74DC22B-D3DF-BED7-FD31-7A926A048918}"/>
              </a:ext>
            </a:extLst>
          </p:cNvPr>
          <p:cNvSpPr>
            <a:spLocks noGrp="1"/>
          </p:cNvSpPr>
          <p:nvPr>
            <p:ph sz="quarter" idx="10"/>
          </p:nvPr>
        </p:nvSpPr>
        <p:spPr>
          <a:xfrm>
            <a:off x="4752831" y="2843357"/>
            <a:ext cx="7917151" cy="1171286"/>
          </a:xfrm>
        </p:spPr>
        <p:txBody>
          <a:bodyPr/>
          <a:lstStyle/>
          <a:p>
            <a:r>
              <a:rPr lang="zh-TW" altLang="en-US" dirty="0"/>
              <a:t>研究方法</a:t>
            </a:r>
          </a:p>
        </p:txBody>
      </p:sp>
    </p:spTree>
    <p:extLst>
      <p:ext uri="{BB962C8B-B14F-4D97-AF65-F5344CB8AC3E}">
        <p14:creationId xmlns:p14="http://schemas.microsoft.com/office/powerpoint/2010/main" val="417986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B74DC22B-D3DF-BED7-FD31-7A926A048918}"/>
              </a:ext>
            </a:extLst>
          </p:cNvPr>
          <p:cNvSpPr>
            <a:spLocks noGrp="1"/>
          </p:cNvSpPr>
          <p:nvPr>
            <p:ph sz="quarter" idx="10"/>
          </p:nvPr>
        </p:nvSpPr>
        <p:spPr>
          <a:xfrm>
            <a:off x="4752831" y="2843357"/>
            <a:ext cx="7917151" cy="1171286"/>
          </a:xfrm>
        </p:spPr>
        <p:txBody>
          <a:bodyPr/>
          <a:lstStyle/>
          <a:p>
            <a:pPr>
              <a:buFont typeface="Wingdings" panose="05000000000000000000" pitchFamily="2" charset="2"/>
              <a:buAutoNum type="circleNumWdWhitePlain"/>
            </a:pPr>
            <a:r>
              <a:rPr lang="zh-TW" altLang="en-US" dirty="0"/>
              <a:t>定價核估計</a:t>
            </a:r>
            <a:r>
              <a:rPr lang="en-US" altLang="zh-TW" dirty="0"/>
              <a:t>—CDI </a:t>
            </a:r>
            <a:r>
              <a:rPr lang="zh-TW" altLang="en-US" dirty="0"/>
              <a:t>方法</a:t>
            </a:r>
          </a:p>
        </p:txBody>
      </p:sp>
    </p:spTree>
    <p:extLst>
      <p:ext uri="{BB962C8B-B14F-4D97-AF65-F5344CB8AC3E}">
        <p14:creationId xmlns:p14="http://schemas.microsoft.com/office/powerpoint/2010/main" val="135443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46894FB1-5719-C53F-929A-2AD2109EF650}"/>
              </a:ext>
            </a:extLst>
          </p:cNvPr>
          <p:cNvSpPr>
            <a:spLocks noGrp="1"/>
          </p:cNvSpPr>
          <p:nvPr>
            <p:ph type="body" sz="quarter" idx="10"/>
          </p:nvPr>
        </p:nvSpPr>
        <p:spPr>
          <a:xfrm>
            <a:off x="2444620" y="207796"/>
            <a:ext cx="5840413" cy="436563"/>
          </a:xfrm>
        </p:spPr>
        <p:txBody>
          <a:bodyPr/>
          <a:lstStyle/>
          <a:p>
            <a:r>
              <a:rPr lang="zh-TW" altLang="en-US" dirty="0"/>
              <a:t>定價核估計</a:t>
            </a:r>
            <a:r>
              <a:rPr lang="en-US" altLang="zh-TW" dirty="0"/>
              <a:t>—CDI</a:t>
            </a:r>
            <a:r>
              <a:rPr lang="zh-TW" altLang="en-US" dirty="0"/>
              <a:t> 方法</a:t>
            </a:r>
            <a:endParaRPr lang="en-US" altLang="zh-TW" dirty="0"/>
          </a:p>
          <a:p>
            <a:endParaRPr lang="zh-TW" altLang="en-US" dirty="0"/>
          </a:p>
        </p:txBody>
      </p:sp>
      <p:sp>
        <p:nvSpPr>
          <p:cNvPr id="4" name="內容版面配置區 3">
            <a:extLst>
              <a:ext uri="{FF2B5EF4-FFF2-40B4-BE49-F238E27FC236}">
                <a16:creationId xmlns:a16="http://schemas.microsoft.com/office/drawing/2014/main" id="{717C96EB-1120-D869-F5EE-EC65A805254C}"/>
              </a:ext>
            </a:extLst>
          </p:cNvPr>
          <p:cNvSpPr>
            <a:spLocks noGrp="1"/>
          </p:cNvSpPr>
          <p:nvPr>
            <p:ph sz="quarter" idx="11"/>
          </p:nvPr>
        </p:nvSpPr>
        <p:spPr>
          <a:xfrm>
            <a:off x="1268268" y="200314"/>
            <a:ext cx="1176352" cy="436564"/>
          </a:xfrm>
        </p:spPr>
        <p:txBody>
          <a:bodyPr/>
          <a:lstStyle/>
          <a:p>
            <a:r>
              <a:rPr lang="en-US" altLang="zh-TW" dirty="0"/>
              <a:t>2.1.1</a:t>
            </a:r>
            <a:endParaRPr lang="zh-TW" altLang="en-US" dirty="0"/>
          </a:p>
        </p:txBody>
      </p:sp>
      <mc:AlternateContent xmlns:mc="http://schemas.openxmlformats.org/markup-compatibility/2006" xmlns:a14="http://schemas.microsoft.com/office/drawing/2010/main">
        <mc:Choice Requires="a14">
          <p:sp>
            <p:nvSpPr>
              <p:cNvPr id="8" name="內容版面配置區 7">
                <a:extLst>
                  <a:ext uri="{FF2B5EF4-FFF2-40B4-BE49-F238E27FC236}">
                    <a16:creationId xmlns:a16="http://schemas.microsoft.com/office/drawing/2014/main" id="{B6F64FCE-E038-5403-ADF2-178EDAEAE773}"/>
                  </a:ext>
                </a:extLst>
              </p:cNvPr>
              <p:cNvSpPr txBox="1">
                <a:spLocks noGrp="1"/>
              </p:cNvSpPr>
              <p:nvPr>
                <p:ph sz="quarter" idx="14"/>
              </p:nvPr>
            </p:nvSpPr>
            <p:spPr>
              <a:xfrm>
                <a:off x="204998" y="1281469"/>
                <a:ext cx="11782003" cy="4816318"/>
              </a:xfrm>
              <a:prstGeom prst="rect">
                <a:avLst/>
              </a:prstGeom>
              <a:noFill/>
            </p:spPr>
            <p:txBody>
              <a:bodyPr wrap="square" rtlCol="0">
                <a:spAutoFit/>
              </a:bodyPr>
              <a:lstStyle/>
              <a:p>
                <a:pPr>
                  <a:lnSpc>
                    <a:spcPct val="150000"/>
                  </a:lnSpc>
                </a:pPr>
                <a:r>
                  <a:rPr lang="en-US" altLang="zh-TW" b="0" dirty="0"/>
                  <a:t>Linn et al.(2017)</a:t>
                </a:r>
                <a:r>
                  <a:rPr lang="zh-TW" altLang="en-US" b="0" dirty="0"/>
                  <a:t>提出</a:t>
                </a:r>
                <a:r>
                  <a:rPr lang="en-US" altLang="zh-TW" b="0" dirty="0"/>
                  <a:t>Conditional Density Integration Method ( CDI Method )</a:t>
                </a:r>
                <a:r>
                  <a:rPr lang="zh-TW" altLang="en-US" b="0" dirty="0"/>
                  <a:t>估計</a:t>
                </a:r>
                <a:r>
                  <a:rPr lang="en-US" altLang="zh-TW" b="0" dirty="0"/>
                  <a:t>Pricing Kernel</a:t>
                </a:r>
              </a:p>
              <a:p>
                <a:pPr marL="456342" lvl="1" indent="0">
                  <a:buNone/>
                </a:pPr>
                <a:r>
                  <a:rPr lang="en-US" altLang="zh-TW" dirty="0"/>
                  <a:t>Pricing Kernel </a:t>
                </a:r>
                <a:r>
                  <a:rPr lang="zh-TW" altLang="en-US" dirty="0"/>
                  <a:t>：</a:t>
                </a:r>
                <a14:m>
                  <m:oMath xmlns:m="http://schemas.openxmlformats.org/officeDocument/2006/math">
                    <m:sSub>
                      <m:sSubPr>
                        <m:ctrlPr>
                          <a:rPr lang="en-US" altLang="zh-TW" i="1">
                            <a:latin typeface="Cambria Math" panose="02040503050406030204" pitchFamily="18" charset="0"/>
                          </a:rPr>
                        </m:ctrlPr>
                      </m:sSubPr>
                      <m:e>
                        <m:r>
                          <a:rPr lang="en-US" altLang="zh-TW">
                            <a:latin typeface="Cambria Math" panose="02040503050406030204" pitchFamily="18" charset="0"/>
                          </a:rPr>
                          <m:t>𝐦</m:t>
                        </m:r>
                      </m:e>
                      <m:sub>
                        <m:r>
                          <a:rPr lang="en-US" altLang="zh-TW">
                            <a:latin typeface="Cambria Math" panose="02040503050406030204" pitchFamily="18" charset="0"/>
                          </a:rPr>
                          <m:t>𝐭</m:t>
                        </m:r>
                      </m:sub>
                    </m:sSub>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a:latin typeface="Cambria Math" panose="02040503050406030204" pitchFamily="18" charset="0"/>
                              </a:rPr>
                              <m:t>𝐱</m:t>
                            </m:r>
                          </m:e>
                          <m:sub>
                            <m:r>
                              <a:rPr lang="en-US" altLang="zh-TW">
                                <a:latin typeface="Cambria Math" panose="02040503050406030204" pitchFamily="18" charset="0"/>
                              </a:rPr>
                              <m:t>𝐭</m:t>
                            </m:r>
                            <m:r>
                              <a:rPr lang="en-US" altLang="zh-TW">
                                <a:latin typeface="Cambria Math" panose="02040503050406030204" pitchFamily="18" charset="0"/>
                              </a:rPr>
                              <m:t>+</m:t>
                            </m:r>
                            <m:r>
                              <a:rPr lang="zh-TW" altLang="en-US">
                                <a:latin typeface="Cambria Math" panose="02040503050406030204" pitchFamily="18" charset="0"/>
                              </a:rPr>
                              <m:t>𝝉</m:t>
                            </m:r>
                          </m:sub>
                        </m:sSub>
                      </m:e>
                    </m:d>
                    <m:r>
                      <a:rPr lang="en-US" altLang="zh-TW">
                        <a:latin typeface="Cambria Math" panose="02040503050406030204" pitchFamily="18" charset="0"/>
                      </a:rPr>
                      <m:t>= </m:t>
                    </m:r>
                    <m:sSup>
                      <m:sSupPr>
                        <m:ctrlPr>
                          <a:rPr lang="en-US" altLang="zh-TW" i="1">
                            <a:latin typeface="Cambria Math" panose="02040503050406030204" pitchFamily="18" charset="0"/>
                          </a:rPr>
                        </m:ctrlPr>
                      </m:sSupPr>
                      <m:e>
                        <m:r>
                          <a:rPr lang="en-US" altLang="zh-TW">
                            <a:latin typeface="Cambria Math" panose="02040503050406030204" pitchFamily="18" charset="0"/>
                          </a:rPr>
                          <m:t>𝐞</m:t>
                        </m:r>
                      </m:e>
                      <m:sup>
                        <m:r>
                          <a:rPr lang="en-US" altLang="zh-TW">
                            <a:latin typeface="Cambria Math" panose="02040503050406030204" pitchFamily="18" charset="0"/>
                          </a:rPr>
                          <m:t>−</m:t>
                        </m:r>
                        <m:r>
                          <a:rPr lang="en-US" altLang="zh-TW">
                            <a:latin typeface="Cambria Math" panose="02040503050406030204" pitchFamily="18" charset="0"/>
                          </a:rPr>
                          <m:t>𝐫</m:t>
                        </m:r>
                        <m:r>
                          <a:rPr lang="zh-TW" altLang="en-US" dirty="0">
                            <a:latin typeface="Cambria Math" panose="02040503050406030204" pitchFamily="18" charset="0"/>
                          </a:rPr>
                          <m:t>𝝉</m:t>
                        </m:r>
                      </m:sup>
                    </m:sSup>
                    <m:f>
                      <m:fPr>
                        <m:ctrlPr>
                          <a:rPr lang="en-US" altLang="zh-TW" i="1">
                            <a:latin typeface="Cambria Math" panose="02040503050406030204" pitchFamily="18" charset="0"/>
                          </a:rPr>
                        </m:ctrlPr>
                      </m:fPr>
                      <m:num>
                        <m:r>
                          <a:rPr lang="en-US" altLang="zh-TW">
                            <a:latin typeface="Cambria Math" panose="02040503050406030204" pitchFamily="18" charset="0"/>
                          </a:rPr>
                          <m:t>𝐝</m:t>
                        </m:r>
                        <m:sSup>
                          <m:sSupPr>
                            <m:ctrlPr>
                              <a:rPr lang="en-US" altLang="zh-TW" i="1">
                                <a:latin typeface="Cambria Math" panose="02040503050406030204" pitchFamily="18" charset="0"/>
                              </a:rPr>
                            </m:ctrlPr>
                          </m:sSupPr>
                          <m:e>
                            <m:r>
                              <a:rPr lang="zh-TW" altLang="en-US">
                                <a:latin typeface="Cambria Math" panose="02040503050406030204" pitchFamily="18" charset="0"/>
                              </a:rPr>
                              <m:t>𝔽</m:t>
                            </m:r>
                          </m:e>
                          <m:sup>
                            <m:r>
                              <a:rPr lang="en-US" altLang="zh-TW">
                                <a:latin typeface="Cambria Math" panose="02040503050406030204" pitchFamily="18" charset="0"/>
                              </a:rPr>
                              <m:t>𝐐</m:t>
                            </m:r>
                          </m:sup>
                        </m:sSup>
                        <m:r>
                          <a:rPr lang="en-US" altLang="zh-TW">
                            <a:latin typeface="Cambria Math" panose="02040503050406030204" pitchFamily="18" charset="0"/>
                          </a:rPr>
                          <m:t>(</m:t>
                        </m:r>
                        <m:sSub>
                          <m:sSubPr>
                            <m:ctrlPr>
                              <a:rPr lang="en-US" altLang="zh-TW" i="1">
                                <a:latin typeface="Cambria Math" panose="02040503050406030204" pitchFamily="18" charset="0"/>
                              </a:rPr>
                            </m:ctrlPr>
                          </m:sSubPr>
                          <m:e>
                            <m:r>
                              <a:rPr lang="en-US" altLang="zh-TW">
                                <a:latin typeface="Cambria Math" panose="02040503050406030204" pitchFamily="18" charset="0"/>
                              </a:rPr>
                              <m:t>𝐱</m:t>
                            </m:r>
                          </m:e>
                          <m:sub>
                            <m:r>
                              <a:rPr lang="en-US" altLang="zh-TW">
                                <a:latin typeface="Cambria Math" panose="02040503050406030204" pitchFamily="18" charset="0"/>
                              </a:rPr>
                              <m:t>𝐭</m:t>
                            </m:r>
                            <m:r>
                              <a:rPr lang="en-US" altLang="zh-TW">
                                <a:latin typeface="Cambria Math" panose="02040503050406030204" pitchFamily="18" charset="0"/>
                              </a:rPr>
                              <m:t>+</m:t>
                            </m:r>
                            <m:r>
                              <a:rPr lang="zh-TW" altLang="en-US" dirty="0">
                                <a:latin typeface="Cambria Math" panose="02040503050406030204" pitchFamily="18" charset="0"/>
                              </a:rPr>
                              <m:t>𝝉</m:t>
                            </m:r>
                          </m:sub>
                        </m:sSub>
                        <m:r>
                          <a:rPr lang="en-US" altLang="zh-TW">
                            <a:latin typeface="Cambria Math" panose="02040503050406030204" pitchFamily="18" charset="0"/>
                          </a:rPr>
                          <m:t>|</m:t>
                        </m:r>
                        <m:sSub>
                          <m:sSubPr>
                            <m:ctrlPr>
                              <a:rPr lang="en-US" altLang="zh-TW" i="1">
                                <a:latin typeface="Cambria Math" panose="02040503050406030204" pitchFamily="18" charset="0"/>
                              </a:rPr>
                            </m:ctrlPr>
                          </m:sSubPr>
                          <m:e>
                            <m:r>
                              <a:rPr lang="en-US" altLang="zh-TW">
                                <a:latin typeface="Cambria Math" panose="02040503050406030204" pitchFamily="18" charset="0"/>
                              </a:rPr>
                              <m:t>𝓕</m:t>
                            </m:r>
                          </m:e>
                          <m:sub>
                            <m:r>
                              <a:rPr lang="en-US" altLang="zh-TW">
                                <a:latin typeface="Cambria Math" panose="02040503050406030204" pitchFamily="18" charset="0"/>
                              </a:rPr>
                              <m:t>𝐭</m:t>
                            </m:r>
                          </m:sub>
                        </m:sSub>
                        <m:r>
                          <a:rPr lang="en-US" altLang="zh-TW">
                            <a:latin typeface="Cambria Math" panose="02040503050406030204" pitchFamily="18" charset="0"/>
                          </a:rPr>
                          <m:t>)</m:t>
                        </m:r>
                      </m:num>
                      <m:den>
                        <m:r>
                          <a:rPr lang="en-US" altLang="zh-TW">
                            <a:latin typeface="Cambria Math" panose="02040503050406030204" pitchFamily="18" charset="0"/>
                          </a:rPr>
                          <m:t>𝐝</m:t>
                        </m:r>
                        <m:sSup>
                          <m:sSupPr>
                            <m:ctrlPr>
                              <a:rPr lang="en-US" altLang="zh-TW" i="1">
                                <a:latin typeface="Cambria Math" panose="02040503050406030204" pitchFamily="18" charset="0"/>
                              </a:rPr>
                            </m:ctrlPr>
                          </m:sSupPr>
                          <m:e>
                            <m:r>
                              <a:rPr lang="zh-TW" altLang="en-US">
                                <a:latin typeface="Cambria Math" panose="02040503050406030204" pitchFamily="18" charset="0"/>
                              </a:rPr>
                              <m:t>𝔽</m:t>
                            </m:r>
                          </m:e>
                          <m:sup>
                            <m:r>
                              <a:rPr lang="en-US" altLang="zh-TW">
                                <a:latin typeface="Cambria Math" panose="02040503050406030204" pitchFamily="18" charset="0"/>
                              </a:rPr>
                              <m:t>𝐏</m:t>
                            </m:r>
                          </m:sup>
                        </m:sSup>
                        <m:r>
                          <a:rPr lang="en-US" altLang="zh-TW">
                            <a:latin typeface="Cambria Math" panose="02040503050406030204" pitchFamily="18" charset="0"/>
                          </a:rPr>
                          <m:t>(</m:t>
                        </m:r>
                        <m:sSub>
                          <m:sSubPr>
                            <m:ctrlPr>
                              <a:rPr lang="en-US" altLang="zh-TW" i="1">
                                <a:latin typeface="Cambria Math" panose="02040503050406030204" pitchFamily="18" charset="0"/>
                              </a:rPr>
                            </m:ctrlPr>
                          </m:sSubPr>
                          <m:e>
                            <m:r>
                              <a:rPr lang="en-US" altLang="zh-TW">
                                <a:latin typeface="Cambria Math" panose="02040503050406030204" pitchFamily="18" charset="0"/>
                              </a:rPr>
                              <m:t>𝐱</m:t>
                            </m:r>
                          </m:e>
                          <m:sub>
                            <m:r>
                              <a:rPr lang="en-US" altLang="zh-TW">
                                <a:latin typeface="Cambria Math" panose="02040503050406030204" pitchFamily="18" charset="0"/>
                              </a:rPr>
                              <m:t>𝐭</m:t>
                            </m:r>
                            <m:r>
                              <a:rPr lang="en-US" altLang="zh-TW">
                                <a:latin typeface="Cambria Math" panose="02040503050406030204" pitchFamily="18" charset="0"/>
                              </a:rPr>
                              <m:t>+</m:t>
                            </m:r>
                            <m:r>
                              <a:rPr lang="zh-TW" altLang="en-US" dirty="0">
                                <a:latin typeface="Cambria Math" panose="02040503050406030204" pitchFamily="18" charset="0"/>
                              </a:rPr>
                              <m:t>𝝉</m:t>
                            </m:r>
                          </m:sub>
                        </m:sSub>
                        <m:r>
                          <a:rPr lang="en-US" altLang="zh-TW">
                            <a:latin typeface="Cambria Math" panose="02040503050406030204" pitchFamily="18" charset="0"/>
                          </a:rPr>
                          <m:t>|</m:t>
                        </m:r>
                        <m:sSub>
                          <m:sSubPr>
                            <m:ctrlPr>
                              <a:rPr lang="en-US" altLang="zh-TW" i="1">
                                <a:latin typeface="Cambria Math" panose="02040503050406030204" pitchFamily="18" charset="0"/>
                              </a:rPr>
                            </m:ctrlPr>
                          </m:sSubPr>
                          <m:e>
                            <m:r>
                              <a:rPr lang="en-US" altLang="zh-TW">
                                <a:latin typeface="Cambria Math" panose="02040503050406030204" pitchFamily="18" charset="0"/>
                              </a:rPr>
                              <m:t>𝓕</m:t>
                            </m:r>
                          </m:e>
                          <m:sub>
                            <m:r>
                              <a:rPr lang="en-US" altLang="zh-TW">
                                <a:latin typeface="Cambria Math" panose="02040503050406030204" pitchFamily="18" charset="0"/>
                              </a:rPr>
                              <m:t>𝐭</m:t>
                            </m:r>
                          </m:sub>
                        </m:sSub>
                        <m:r>
                          <a:rPr lang="en-US" altLang="zh-TW">
                            <a:latin typeface="Cambria Math" panose="02040503050406030204" pitchFamily="18" charset="0"/>
                          </a:rPr>
                          <m:t>)</m:t>
                        </m:r>
                      </m:den>
                    </m:f>
                  </m:oMath>
                </a14:m>
                <a:endParaRPr lang="en-US" altLang="zh-TW" dirty="0"/>
              </a:p>
              <a:p>
                <a:pPr marL="456342" lvl="1" indent="0">
                  <a:buNone/>
                </a:pPr>
                <a:r>
                  <a:rPr lang="zh-TW" altLang="en-US" b="0" dirty="0"/>
                  <a:t>以</a:t>
                </a:r>
                <a:r>
                  <a:rPr lang="en-US" altLang="zh-TW" b="0" dirty="0"/>
                  <a:t>S&amp;P</a:t>
                </a:r>
                <a:r>
                  <a:rPr lang="zh-TW" altLang="en-US" b="0" dirty="0"/>
                  <a:t> </a:t>
                </a:r>
                <a:r>
                  <a:rPr lang="en-US" altLang="zh-TW" b="0" dirty="0"/>
                  <a:t>500</a:t>
                </a:r>
                <a:r>
                  <a:rPr lang="zh-TW" altLang="en-US" b="0" dirty="0"/>
                  <a:t>指數為標的，</a:t>
                </a:r>
                <a:r>
                  <a:rPr lang="en-US" altLang="zh-TW" b="0" dirty="0"/>
                  <a:t> </a:t>
                </a:r>
                <a:r>
                  <a:rPr lang="zh-TW" altLang="en-US" b="0" dirty="0"/>
                  <a:t>其中</a:t>
                </a:r>
                <a14:m>
                  <m:oMath xmlns:m="http://schemas.openxmlformats.org/officeDocument/2006/math">
                    <m:r>
                      <m:rPr>
                        <m:sty m:val="p"/>
                      </m:rPr>
                      <a:rPr lang="en-US" altLang="zh-TW" b="0">
                        <a:latin typeface="Cambria Math" panose="02040503050406030204" pitchFamily="18" charset="0"/>
                      </a:rPr>
                      <m:t>x</m:t>
                    </m:r>
                  </m:oMath>
                </a14:m>
                <a:r>
                  <a:rPr lang="zh-TW" altLang="en-US" b="0" dirty="0"/>
                  <a:t>表示</a:t>
                </a:r>
                <a:r>
                  <a:rPr lang="en-US" altLang="zh-TW" b="0" dirty="0"/>
                  <a:t>Return</a:t>
                </a:r>
                <a:r>
                  <a:rPr lang="zh-TW" altLang="en-US" b="0" dirty="0"/>
                  <a:t>，本研究中使用對數報酬率，</a:t>
                </a:r>
                <a14:m>
                  <m:oMath xmlns:m="http://schemas.openxmlformats.org/officeDocument/2006/math">
                    <m:r>
                      <a:rPr lang="en-US" altLang="zh-TW" b="0" i="1" smtClean="0">
                        <a:latin typeface="Cambria Math" panose="02040503050406030204" pitchFamily="18" charset="0"/>
                      </a:rPr>
                      <m:t>𝑡</m:t>
                    </m:r>
                  </m:oMath>
                </a14:m>
                <a:r>
                  <a:rPr lang="zh-TW" altLang="en-US" b="0" dirty="0"/>
                  <a:t>表示當前時間，</a:t>
                </a:r>
                <a14:m>
                  <m:oMath xmlns:m="http://schemas.openxmlformats.org/officeDocument/2006/math">
                    <m:r>
                      <a:rPr lang="zh-TW" altLang="en-US" b="0" i="1">
                        <a:latin typeface="Cambria Math" panose="02040503050406030204" pitchFamily="18" charset="0"/>
                      </a:rPr>
                      <m:t>𝜏</m:t>
                    </m:r>
                  </m:oMath>
                </a14:m>
                <a:r>
                  <a:rPr lang="zh-TW" altLang="en-US" b="0" dirty="0"/>
                  <a:t>為未來一段時間，</a:t>
                </a:r>
                <a14:m>
                  <m:oMath xmlns:m="http://schemas.openxmlformats.org/officeDocument/2006/math">
                    <m:sSup>
                      <m:sSupPr>
                        <m:ctrlPr>
                          <a:rPr lang="en-US" altLang="zh-TW" b="0" i="1" dirty="0">
                            <a:latin typeface="Cambria Math" panose="02040503050406030204" pitchFamily="18" charset="0"/>
                          </a:rPr>
                        </m:ctrlPr>
                      </m:sSupPr>
                      <m:e>
                        <m:r>
                          <a:rPr lang="zh-TW" altLang="en-US" b="0" dirty="0">
                            <a:latin typeface="Cambria Math" panose="02040503050406030204" pitchFamily="18" charset="0"/>
                          </a:rPr>
                          <m:t>𝔽</m:t>
                        </m:r>
                      </m:e>
                      <m:sup>
                        <m:r>
                          <m:rPr>
                            <m:sty m:val="p"/>
                          </m:rPr>
                          <a:rPr lang="en-US" altLang="zh-TW" b="0" dirty="0">
                            <a:latin typeface="Cambria Math" panose="02040503050406030204" pitchFamily="18" charset="0"/>
                          </a:rPr>
                          <m:t>Q</m:t>
                        </m:r>
                      </m:sup>
                    </m:sSup>
                  </m:oMath>
                </a14:m>
                <a:r>
                  <a:rPr lang="en-US" altLang="zh-TW" b="0" dirty="0"/>
                  <a:t> </a:t>
                </a:r>
                <a:r>
                  <a:rPr lang="zh-TW" altLang="en-US" b="0" dirty="0"/>
                  <a:t>、</a:t>
                </a:r>
                <a14:m>
                  <m:oMath xmlns:m="http://schemas.openxmlformats.org/officeDocument/2006/math">
                    <m:sSup>
                      <m:sSupPr>
                        <m:ctrlPr>
                          <a:rPr lang="en-US" altLang="zh-TW" b="0" i="1" dirty="0">
                            <a:latin typeface="Cambria Math" panose="02040503050406030204" pitchFamily="18" charset="0"/>
                          </a:rPr>
                        </m:ctrlPr>
                      </m:sSupPr>
                      <m:e>
                        <m:r>
                          <a:rPr lang="zh-TW" altLang="en-US" b="0" dirty="0">
                            <a:latin typeface="Cambria Math" panose="02040503050406030204" pitchFamily="18" charset="0"/>
                          </a:rPr>
                          <m:t>𝔽</m:t>
                        </m:r>
                      </m:e>
                      <m:sup>
                        <m:r>
                          <a:rPr lang="en-US" altLang="zh-TW" b="0" dirty="0">
                            <a:latin typeface="Cambria Math" panose="02040503050406030204" pitchFamily="18" charset="0"/>
                          </a:rPr>
                          <m:t>𝑃</m:t>
                        </m:r>
                      </m:sup>
                    </m:sSup>
                  </m:oMath>
                </a14:m>
                <a:r>
                  <a:rPr lang="en-US" altLang="zh-TW" b="0" dirty="0"/>
                  <a:t> </a:t>
                </a:r>
                <a:r>
                  <a:rPr lang="zh-TW" altLang="en-US" b="0" dirty="0"/>
                  <a:t>分別表示風險中立機率與真實世界機率的累積分配函數</a:t>
                </a:r>
                <a:r>
                  <a:rPr lang="en-US" altLang="zh-TW" b="0" dirty="0"/>
                  <a:t>(CDF)</a:t>
                </a:r>
              </a:p>
              <a:p>
                <a:pPr marL="456342" lvl="1" indent="0">
                  <a:buNone/>
                </a:pPr>
                <a:endParaRPr lang="en-US" altLang="zh-TW" sz="800" b="0" dirty="0"/>
              </a:p>
              <a:p>
                <a:pPr marL="1027825" lvl="2" indent="-342900">
                  <a:buClr>
                    <a:schemeClr val="accent1"/>
                  </a:buClr>
                </a:pPr>
                <a14:m>
                  <m:oMath xmlns:m="http://schemas.openxmlformats.org/officeDocument/2006/math">
                    <m:sSup>
                      <m:sSupPr>
                        <m:ctrlPr>
                          <a:rPr lang="en-US" altLang="zh-TW" b="0" i="1" dirty="0">
                            <a:latin typeface="Cambria Math" panose="02040503050406030204" pitchFamily="18" charset="0"/>
                          </a:rPr>
                        </m:ctrlPr>
                      </m:sSupPr>
                      <m:e>
                        <m:r>
                          <m:rPr>
                            <m:sty m:val="p"/>
                          </m:rPr>
                          <a:rPr lang="en-US" altLang="zh-TW" b="0" i="0" dirty="0" smtClean="0">
                            <a:latin typeface="Cambria Math" panose="02040503050406030204" pitchFamily="18" charset="0"/>
                          </a:rPr>
                          <m:t>d</m:t>
                        </m:r>
                        <m:r>
                          <a:rPr lang="zh-TW" altLang="en-US" b="0" dirty="0">
                            <a:latin typeface="Cambria Math" panose="02040503050406030204" pitchFamily="18" charset="0"/>
                          </a:rPr>
                          <m:t>𝔽</m:t>
                        </m:r>
                      </m:e>
                      <m:sup>
                        <m:r>
                          <m:rPr>
                            <m:sty m:val="p"/>
                          </m:rPr>
                          <a:rPr lang="en-US" altLang="zh-TW" b="0" dirty="0">
                            <a:latin typeface="Cambria Math" panose="02040503050406030204" pitchFamily="18" charset="0"/>
                          </a:rPr>
                          <m:t>Q</m:t>
                        </m:r>
                      </m:sup>
                    </m:sSup>
                  </m:oMath>
                </a14:m>
                <a:r>
                  <a:rPr lang="zh-TW" altLang="en-US" b="0" dirty="0"/>
                  <a:t>：風險中立機率密度函數</a:t>
                </a:r>
                <a:r>
                  <a:rPr lang="en-US" altLang="zh-TW" b="0" dirty="0"/>
                  <a:t>(PDF)</a:t>
                </a:r>
                <a:r>
                  <a:rPr lang="zh-TW" altLang="en-US" b="0" dirty="0"/>
                  <a:t>，其估計方法會在後續章節介紹</a:t>
                </a:r>
                <a:endParaRPr lang="en-US" altLang="zh-TW" b="0" dirty="0"/>
              </a:p>
              <a:p>
                <a:pPr marL="1027825" lvl="2" indent="-342900">
                  <a:buClr>
                    <a:schemeClr val="accent1"/>
                  </a:buClr>
                </a:pPr>
                <a:endParaRPr lang="en-US" altLang="zh-TW" b="0" dirty="0"/>
              </a:p>
              <a:p>
                <a:pPr marL="1027825" lvl="2" indent="-342900">
                  <a:buClr>
                    <a:schemeClr val="accent1"/>
                  </a:buClr>
                </a:pPr>
                <a14:m>
                  <m:oMath xmlns:m="http://schemas.openxmlformats.org/officeDocument/2006/math">
                    <m:r>
                      <m:rPr>
                        <m:sty m:val="p"/>
                      </m:rPr>
                      <a:rPr lang="en-US" altLang="zh-TW" b="0" i="1" dirty="0">
                        <a:latin typeface="Cambria Math" panose="02040503050406030204" pitchFamily="18" charset="0"/>
                      </a:rPr>
                      <m:t>d</m:t>
                    </m:r>
                    <m:sSup>
                      <m:sSupPr>
                        <m:ctrlPr>
                          <a:rPr lang="en-US" altLang="zh-TW" b="0" i="1" dirty="0">
                            <a:latin typeface="Cambria Math" panose="02040503050406030204" pitchFamily="18" charset="0"/>
                          </a:rPr>
                        </m:ctrlPr>
                      </m:sSupPr>
                      <m:e>
                        <m:r>
                          <a:rPr lang="zh-TW" altLang="en-US" b="0" dirty="0">
                            <a:latin typeface="Cambria Math" panose="02040503050406030204" pitchFamily="18" charset="0"/>
                          </a:rPr>
                          <m:t>𝔽</m:t>
                        </m:r>
                      </m:e>
                      <m:sup>
                        <m:r>
                          <a:rPr lang="en-US" altLang="zh-TW" b="0" dirty="0">
                            <a:latin typeface="Cambria Math" panose="02040503050406030204" pitchFamily="18" charset="0"/>
                          </a:rPr>
                          <m:t>𝑃</m:t>
                        </m:r>
                      </m:sup>
                    </m:sSup>
                  </m:oMath>
                </a14:m>
                <a:r>
                  <a:rPr lang="zh-TW" altLang="en-US" b="0" dirty="0"/>
                  <a:t>：真實世界機率密度函數，目前尚無已知方法在考慮投資者於時間</a:t>
                </a:r>
                <a14:m>
                  <m:oMath xmlns:m="http://schemas.openxmlformats.org/officeDocument/2006/math">
                    <m:r>
                      <a:rPr lang="en-US" altLang="zh-TW" b="0" i="1">
                        <a:latin typeface="Cambria Math" panose="02040503050406030204" pitchFamily="18" charset="0"/>
                      </a:rPr>
                      <m:t>𝑡</m:t>
                    </m:r>
                  </m:oMath>
                </a14:m>
                <a:r>
                  <a:rPr lang="zh-TW" altLang="en-US" b="0" dirty="0"/>
                  <a:t>所擁有的全部資訊</a:t>
                </a:r>
                <a:r>
                  <a:rPr lang="en-US" altLang="zh-TW" b="0" dirty="0"/>
                  <a:t>(</a:t>
                </a:r>
                <a:r>
                  <a:rPr lang="zh-TW" altLang="en-US" b="0" dirty="0"/>
                  <a:t>過去</a:t>
                </a:r>
                <a:r>
                  <a:rPr lang="en-US" altLang="zh-TW" b="0" dirty="0"/>
                  <a:t>+</a:t>
                </a:r>
                <a:r>
                  <a:rPr lang="zh-TW" altLang="en-US" b="0" dirty="0"/>
                  <a:t>未來</a:t>
                </a:r>
                <a:r>
                  <a:rPr lang="en-US" altLang="zh-TW" b="0" dirty="0"/>
                  <a:t>)</a:t>
                </a:r>
                <a:r>
                  <a:rPr lang="zh-TW" altLang="en-US" b="0" dirty="0"/>
                  <a:t>的情況下，去估計</a:t>
                </a:r>
                <a14:m>
                  <m:oMath xmlns:m="http://schemas.openxmlformats.org/officeDocument/2006/math">
                    <m:r>
                      <m:rPr>
                        <m:sty m:val="p"/>
                      </m:rPr>
                      <a:rPr lang="en-US" altLang="zh-TW" b="0" i="0" smtClean="0">
                        <a:latin typeface="Cambria Math" panose="02040503050406030204" pitchFamily="18" charset="0"/>
                      </a:rPr>
                      <m:t>t</m:t>
                    </m:r>
                    <m:r>
                      <a:rPr lang="en-US" altLang="zh-TW" b="0" i="0" smtClean="0">
                        <a:latin typeface="Cambria Math" panose="02040503050406030204" pitchFamily="18" charset="0"/>
                      </a:rPr>
                      <m:t>+</m:t>
                    </m:r>
                    <m:r>
                      <a:rPr lang="zh-TW" altLang="en-US" b="0" i="1">
                        <a:latin typeface="Cambria Math" panose="02040503050406030204" pitchFamily="18" charset="0"/>
                      </a:rPr>
                      <m:t>𝜏</m:t>
                    </m:r>
                  </m:oMath>
                </a14:m>
                <a:r>
                  <a:rPr lang="zh-TW" altLang="en-US" b="0" dirty="0"/>
                  <a:t>的</a:t>
                </a:r>
                <a:r>
                  <a:rPr lang="en-US" altLang="zh-TW" b="0" dirty="0"/>
                  <a:t>Return </a:t>
                </a:r>
                <a:r>
                  <a:rPr lang="zh-TW" altLang="en-US" b="0" dirty="0"/>
                  <a:t>的「真實世界機率分布」，過去研究大都透過對過去的已實現</a:t>
                </a:r>
                <a:r>
                  <a:rPr lang="en-US" altLang="zh-TW" b="0" dirty="0"/>
                  <a:t>Return</a:t>
                </a:r>
                <a:r>
                  <a:rPr lang="zh-TW" altLang="en-US" b="0" dirty="0"/>
                  <a:t>進行平滑或平均來進行估計，無法考慮未來資訊造成估計不準確。</a:t>
                </a:r>
                <a:endParaRPr lang="en-US" altLang="zh-TW" b="0" dirty="0"/>
              </a:p>
              <a:p>
                <a:pPr marL="1027825" lvl="2" indent="-342900">
                  <a:buClr>
                    <a:schemeClr val="accent1"/>
                  </a:buClr>
                </a:pPr>
                <a:endParaRPr lang="en-US" altLang="zh-TW" b="0" dirty="0"/>
              </a:p>
              <a:p>
                <a:pPr marL="456342" lvl="1" indent="0">
                  <a:lnSpc>
                    <a:spcPct val="150000"/>
                  </a:lnSpc>
                  <a:buNone/>
                </a:pPr>
                <a:r>
                  <a:rPr lang="en-US" altLang="zh-TW" b="0" dirty="0"/>
                  <a:t>Linn et al.(2017) </a:t>
                </a:r>
                <a:r>
                  <a:rPr lang="zh-TW" altLang="en-US" b="0" dirty="0"/>
                  <a:t>提出之</a:t>
                </a:r>
                <a:r>
                  <a:rPr lang="en-US" altLang="zh-TW" b="0" dirty="0"/>
                  <a:t>CDI method </a:t>
                </a:r>
                <a:r>
                  <a:rPr lang="zh-TW" altLang="en-US" b="0" dirty="0"/>
                  <a:t>不直接估計真實世界機率分布，而是利用</a:t>
                </a:r>
                <a:r>
                  <a:rPr lang="en-US" altLang="zh-TW" b="0" dirty="0"/>
                  <a:t>CDF</a:t>
                </a:r>
                <a:r>
                  <a:rPr lang="zh-TW" altLang="en-US" b="0" dirty="0"/>
                  <a:t>的特性，使我們可以利用過去的</a:t>
                </a:r>
                <a:r>
                  <a:rPr lang="en-US" altLang="zh-TW" b="0" dirty="0"/>
                  <a:t>Realized</a:t>
                </a:r>
                <a:r>
                  <a:rPr lang="zh-TW" altLang="en-US" b="0" dirty="0"/>
                  <a:t> </a:t>
                </a:r>
                <a:r>
                  <a:rPr lang="en-US" altLang="zh-TW" b="0" dirty="0"/>
                  <a:t>Return </a:t>
                </a:r>
                <a:r>
                  <a:rPr lang="zh-TW" altLang="en-US" b="0" dirty="0"/>
                  <a:t>和對應的</a:t>
                </a:r>
                <a14:m>
                  <m:oMath xmlns:m="http://schemas.openxmlformats.org/officeDocument/2006/math">
                    <m:r>
                      <a:rPr lang="en-US" altLang="zh-TW" b="0" i="1" smtClean="0">
                        <a:latin typeface="Cambria Math" panose="02040503050406030204" pitchFamily="18" charset="0"/>
                      </a:rPr>
                      <m:t>𝑑</m:t>
                    </m:r>
                    <m:sSup>
                      <m:sSupPr>
                        <m:ctrlPr>
                          <a:rPr lang="en-US" altLang="zh-TW" b="0" i="1">
                            <a:latin typeface="Cambria Math" panose="02040503050406030204" pitchFamily="18" charset="0"/>
                          </a:rPr>
                        </m:ctrlPr>
                      </m:sSupPr>
                      <m:e>
                        <m:r>
                          <a:rPr lang="zh-TW" altLang="en-US" b="0" i="1" smtClean="0">
                            <a:latin typeface="Cambria Math" panose="02040503050406030204" pitchFamily="18" charset="0"/>
                          </a:rPr>
                          <m:t>𝔽</m:t>
                        </m:r>
                      </m:e>
                      <m:sup>
                        <m:r>
                          <a:rPr lang="en-US" altLang="zh-TW" b="0" i="1" smtClean="0">
                            <a:latin typeface="Cambria Math" panose="02040503050406030204" pitchFamily="18" charset="0"/>
                          </a:rPr>
                          <m:t>𝑄</m:t>
                        </m:r>
                      </m:sup>
                    </m:sSup>
                  </m:oMath>
                </a14:m>
                <a:r>
                  <a:rPr lang="zh-TW" altLang="en-US" b="0" dirty="0"/>
                  <a:t>樣本去估計</a:t>
                </a:r>
                <a:r>
                  <a:rPr lang="en-US" altLang="zh-TW" b="0" dirty="0"/>
                  <a:t>Pricing Kernel</a:t>
                </a:r>
              </a:p>
            </p:txBody>
          </p:sp>
        </mc:Choice>
        <mc:Fallback xmlns="">
          <p:sp>
            <p:nvSpPr>
              <p:cNvPr id="8" name="內容版面配置區 7">
                <a:extLst>
                  <a:ext uri="{FF2B5EF4-FFF2-40B4-BE49-F238E27FC236}">
                    <a16:creationId xmlns:a16="http://schemas.microsoft.com/office/drawing/2014/main" id="{B6F64FCE-E038-5403-ADF2-178EDAEAE773}"/>
                  </a:ext>
                </a:extLst>
              </p:cNvPr>
              <p:cNvSpPr txBox="1">
                <a:spLocks noGrp="1" noRot="1" noChangeAspect="1" noMove="1" noResize="1" noEditPoints="1" noAdjustHandles="1" noChangeArrowheads="1" noChangeShapeType="1" noTextEdit="1"/>
              </p:cNvSpPr>
              <p:nvPr>
                <p:ph sz="quarter" idx="14"/>
              </p:nvPr>
            </p:nvSpPr>
            <p:spPr>
              <a:xfrm>
                <a:off x="204998" y="1281469"/>
                <a:ext cx="11782003" cy="4816318"/>
              </a:xfrm>
              <a:prstGeom prst="rect">
                <a:avLst/>
              </a:prstGeom>
              <a:blipFill>
                <a:blip r:embed="rId3"/>
                <a:stretch>
                  <a:fillRect l="-569" r="-518" b="-12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32001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群組 1">
            <a:extLst>
              <a:ext uri="{FF2B5EF4-FFF2-40B4-BE49-F238E27FC236}">
                <a16:creationId xmlns:a16="http://schemas.microsoft.com/office/drawing/2014/main" id="{B8AFF293-512E-F759-F6C7-26A8F3D1AC34}"/>
              </a:ext>
            </a:extLst>
          </p:cNvPr>
          <p:cNvGrpSpPr/>
          <p:nvPr/>
        </p:nvGrpSpPr>
        <p:grpSpPr>
          <a:xfrm>
            <a:off x="1490494" y="923267"/>
            <a:ext cx="8958730" cy="1263729"/>
            <a:chOff x="1338729" y="3354691"/>
            <a:chExt cx="9699812" cy="1368267"/>
          </a:xfrm>
        </p:grpSpPr>
        <p:pic>
          <p:nvPicPr>
            <p:cNvPr id="5" name="圖片 4">
              <a:extLst>
                <a:ext uri="{FF2B5EF4-FFF2-40B4-BE49-F238E27FC236}">
                  <a16:creationId xmlns:a16="http://schemas.microsoft.com/office/drawing/2014/main" id="{5630F38B-E312-1FAB-690C-F4612AE087E2}"/>
                </a:ext>
              </a:extLst>
            </p:cNvPr>
            <p:cNvPicPr>
              <a:picLocks noChangeAspect="1"/>
            </p:cNvPicPr>
            <p:nvPr/>
          </p:nvPicPr>
          <p:blipFill>
            <a:blip r:embed="rId2"/>
            <a:srcRect t="5461"/>
            <a:stretch/>
          </p:blipFill>
          <p:spPr>
            <a:xfrm>
              <a:off x="1338729" y="3354691"/>
              <a:ext cx="9699812" cy="1368267"/>
            </a:xfrm>
            <a:prstGeom prst="rect">
              <a:avLst/>
            </a:prstGeom>
          </p:spPr>
        </p:pic>
        <p:sp>
          <p:nvSpPr>
            <p:cNvPr id="6" name="矩形 5">
              <a:extLst>
                <a:ext uri="{FF2B5EF4-FFF2-40B4-BE49-F238E27FC236}">
                  <a16:creationId xmlns:a16="http://schemas.microsoft.com/office/drawing/2014/main" id="{712DBFFA-A06B-6B3C-E14B-EA66EA80D7F1}"/>
                </a:ext>
              </a:extLst>
            </p:cNvPr>
            <p:cNvSpPr/>
            <p:nvPr/>
          </p:nvSpPr>
          <p:spPr>
            <a:xfrm>
              <a:off x="9903012" y="4052047"/>
              <a:ext cx="896470"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 name="群組 9">
            <a:extLst>
              <a:ext uri="{FF2B5EF4-FFF2-40B4-BE49-F238E27FC236}">
                <a16:creationId xmlns:a16="http://schemas.microsoft.com/office/drawing/2014/main" id="{EEE17C3E-283A-6873-31B4-192FD009E0B7}"/>
              </a:ext>
            </a:extLst>
          </p:cNvPr>
          <p:cNvGrpSpPr/>
          <p:nvPr/>
        </p:nvGrpSpPr>
        <p:grpSpPr>
          <a:xfrm>
            <a:off x="510988" y="2130369"/>
            <a:ext cx="11170024" cy="2108526"/>
            <a:chOff x="962211" y="4265756"/>
            <a:chExt cx="11170024" cy="2108526"/>
          </a:xfrm>
        </p:grpSpPr>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90B9828F-BECF-B173-03B3-9F1A14EE8DEB}"/>
                    </a:ext>
                  </a:extLst>
                </p:cNvPr>
                <p:cNvSpPr txBox="1"/>
                <p:nvPr/>
              </p:nvSpPr>
              <p:spPr>
                <a:xfrm>
                  <a:off x="962211" y="4265756"/>
                  <a:ext cx="9752107" cy="2108526"/>
                </a:xfrm>
                <a:prstGeom prst="rect">
                  <a:avLst/>
                </a:prstGeom>
                <a:noFill/>
              </p:spPr>
              <p:txBody>
                <a:bodyPr wrap="square" rtlCol="0">
                  <a:spAutoFit/>
                </a:bodyPr>
                <a:lstStyle/>
                <a:p>
                  <a14:m>
                    <m:oMath xmlns:m="http://schemas.openxmlformats.org/officeDocument/2006/math">
                      <m:sSup>
                        <m:sSupPr>
                          <m:ctrlPr>
                            <a:rPr lang="en-US" altLang="zh-TW" sz="2000" i="1" smtClean="0">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a:rPr lang="en-US" altLang="zh-TW" sz="2000" i="1">
                              <a:solidFill>
                                <a:schemeClr val="tx2"/>
                              </a:solidFill>
                              <a:latin typeface="Cambria Math" panose="02040503050406030204" pitchFamily="18" charset="0"/>
                            </a:rPr>
                            <m:t>𝑃</m:t>
                          </m:r>
                        </m:sup>
                      </m:sSup>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oMath>
                  </a14:m>
                  <a:r>
                    <a:rPr lang="en-US" altLang="zh-TW" sz="2000" i="1" dirty="0">
                      <a:solidFill>
                        <a:schemeClr val="tx2"/>
                      </a:solidFill>
                      <a:latin typeface="Cambria Math" panose="02040503050406030204" pitchFamily="18" charset="0"/>
                    </a:rPr>
                    <a:t>~</a:t>
                  </a:r>
                  <a14:m>
                    <m:oMath xmlns:m="http://schemas.openxmlformats.org/officeDocument/2006/math">
                      <m:r>
                        <m:rPr>
                          <m:sty m:val="p"/>
                        </m:rPr>
                        <a:rPr lang="en-US" altLang="zh-TW" sz="2000" i="1" dirty="0">
                          <a:solidFill>
                            <a:schemeClr val="tx2"/>
                          </a:solidFill>
                          <a:latin typeface="Cambria Math" panose="02040503050406030204" pitchFamily="18" charset="0"/>
                        </a:rPr>
                        <m:t>U</m:t>
                      </m:r>
                      <m:d>
                        <m:dPr>
                          <m:begChr m:val="["/>
                          <m:endChr m:val="]"/>
                          <m:ctrlPr>
                            <a:rPr lang="en-US" altLang="zh-TW" sz="2000" i="1" dirty="0">
                              <a:solidFill>
                                <a:schemeClr val="tx2"/>
                              </a:solidFill>
                              <a:latin typeface="Cambria Math" panose="02040503050406030204" pitchFamily="18" charset="0"/>
                            </a:rPr>
                          </m:ctrlPr>
                        </m:dPr>
                        <m:e>
                          <m:r>
                            <a:rPr lang="en-US" altLang="zh-TW" sz="2000" i="1" dirty="0">
                              <a:solidFill>
                                <a:schemeClr val="tx2"/>
                              </a:solidFill>
                              <a:latin typeface="Cambria Math" panose="02040503050406030204" pitchFamily="18" charset="0"/>
                            </a:rPr>
                            <m:t>0,1</m:t>
                          </m:r>
                        </m:e>
                      </m:d>
                    </m:oMath>
                  </a14:m>
                  <a:r>
                    <a:rPr lang="zh-TW" altLang="en-US" sz="2000" i="1" dirty="0">
                      <a:solidFill>
                        <a:schemeClr val="tx2"/>
                      </a:solidFill>
                      <a:latin typeface="Cambria Math" panose="02040503050406030204" pitchFamily="18" charset="0"/>
                    </a:rPr>
                    <a:t>    →    </a:t>
                  </a:r>
                  <a14:m>
                    <m:oMath xmlns:m="http://schemas.openxmlformats.org/officeDocument/2006/math">
                      <m:nary>
                        <m:naryPr>
                          <m:ctrlPr>
                            <a:rPr lang="zh-TW" altLang="en-US" sz="2000" i="1">
                              <a:solidFill>
                                <a:schemeClr val="tx2"/>
                              </a:solidFill>
                              <a:latin typeface="Cambria Math" panose="02040503050406030204" pitchFamily="18" charset="0"/>
                            </a:rPr>
                          </m:ctrlPr>
                        </m:naryPr>
                        <m:sub>
                          <m:r>
                            <m:rPr>
                              <m:brk m:alnAt="23"/>
                            </m:rPr>
                            <a:rPr lang="en-US" altLang="zh-TW" sz="2000" i="1">
                              <a:solidFill>
                                <a:schemeClr val="tx2"/>
                              </a:solidFill>
                              <a:latin typeface="Cambria Math" panose="02040503050406030204" pitchFamily="18" charset="0"/>
                            </a:rPr>
                            <m:t>−</m:t>
                          </m:r>
                          <m:r>
                            <a:rPr lang="en-US" altLang="zh-TW" sz="2000" i="1">
                              <a:solidFill>
                                <a:schemeClr val="tx2"/>
                              </a:solidFill>
                              <a:latin typeface="Cambria Math" panose="02040503050406030204" pitchFamily="18" charset="0"/>
                            </a:rPr>
                            <m:t>∞</m:t>
                          </m:r>
                        </m:sub>
                        <m:sup>
                          <m:sSub>
                            <m:sSubPr>
                              <m:ctrlPr>
                                <a:rPr lang="en-US" altLang="zh-TW" sz="2000" i="1">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sup>
                        <m:e>
                          <m:r>
                            <a:rPr lang="en-US" altLang="zh-TW" sz="2000" i="1">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a:rPr lang="en-US" altLang="zh-TW" sz="2000" i="1">
                                  <a:solidFill>
                                    <a:schemeClr val="tx2"/>
                                  </a:solidFill>
                                  <a:latin typeface="Cambria Math" panose="02040503050406030204" pitchFamily="18" charset="0"/>
                                </a:rPr>
                                <m:t>𝑃</m:t>
                              </m:r>
                            </m:sup>
                          </m:sSup>
                          <m:r>
                            <a:rPr lang="en-US" altLang="zh-TW" sz="2000" i="1">
                              <a:solidFill>
                                <a:schemeClr val="tx2"/>
                              </a:solidFill>
                              <a:latin typeface="Cambria Math" panose="02040503050406030204" pitchFamily="18" charset="0"/>
                            </a:rPr>
                            <m:t>(</m:t>
                          </m:r>
                          <m:sSub>
                            <m:sSubPr>
                              <m:ctrlPr>
                                <a:rPr lang="en-US" altLang="zh-TW" sz="2000" i="1" smtClean="0">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e>
                      </m:nary>
                      <m:r>
                        <m:rPr>
                          <m:nor/>
                        </m:rPr>
                        <a:rPr lang="en-US" altLang="zh-TW" sz="2000" i="1" dirty="0">
                          <a:solidFill>
                            <a:schemeClr val="tx2"/>
                          </a:solidFill>
                          <a:latin typeface="Cambria Math" panose="02040503050406030204" pitchFamily="18" charset="0"/>
                        </a:rPr>
                        <m:t>~</m:t>
                      </m:r>
                      <m:r>
                        <m:rPr>
                          <m:sty m:val="p"/>
                        </m:rPr>
                        <a:rPr lang="en-US" altLang="zh-TW" sz="2000" i="1" dirty="0">
                          <a:solidFill>
                            <a:schemeClr val="tx2"/>
                          </a:solidFill>
                          <a:latin typeface="Cambria Math" panose="02040503050406030204" pitchFamily="18" charset="0"/>
                        </a:rPr>
                        <m:t>U</m:t>
                      </m:r>
                      <m:d>
                        <m:dPr>
                          <m:begChr m:val="["/>
                          <m:endChr m:val="]"/>
                          <m:ctrlPr>
                            <a:rPr lang="en-US" altLang="zh-TW" sz="2000" i="1" dirty="0">
                              <a:solidFill>
                                <a:schemeClr val="tx2"/>
                              </a:solidFill>
                              <a:latin typeface="Cambria Math" panose="02040503050406030204" pitchFamily="18" charset="0"/>
                            </a:rPr>
                          </m:ctrlPr>
                        </m:dPr>
                        <m:e>
                          <m:r>
                            <a:rPr lang="en-US" altLang="zh-TW" sz="2000" i="1" dirty="0">
                              <a:solidFill>
                                <a:schemeClr val="tx2"/>
                              </a:solidFill>
                              <a:latin typeface="Cambria Math" panose="02040503050406030204" pitchFamily="18" charset="0"/>
                            </a:rPr>
                            <m:t>0,1</m:t>
                          </m:r>
                        </m:e>
                      </m:d>
                    </m:oMath>
                  </a14:m>
                  <a:endParaRPr lang="en-US" altLang="zh-TW" sz="2000" i="1" dirty="0">
                    <a:solidFill>
                      <a:schemeClr val="tx2"/>
                    </a:solidFill>
                    <a:latin typeface="Cambria Math" panose="02040503050406030204" pitchFamily="18" charset="0"/>
                  </a:endParaRPr>
                </a:p>
                <a:p>
                  <a:pPr marL="2330450">
                    <a:lnSpc>
                      <a:spcPct val="150000"/>
                    </a:lnSpc>
                  </a:pPr>
                  <a:r>
                    <a:rPr lang="zh-TW" altLang="en-US" sz="2000" dirty="0">
                      <a:solidFill>
                        <a:schemeClr val="tx2"/>
                      </a:solidFill>
                    </a:rPr>
                    <a:t> →    </a:t>
                  </a:r>
                  <a14:m>
                    <m:oMath xmlns:m="http://schemas.openxmlformats.org/officeDocument/2006/math">
                      <m:nary>
                        <m:naryPr>
                          <m:ctrlPr>
                            <a:rPr lang="zh-TW" altLang="en-US" sz="2000" i="1">
                              <a:solidFill>
                                <a:schemeClr val="tx2"/>
                              </a:solidFill>
                              <a:latin typeface="Cambria Math" panose="02040503050406030204" pitchFamily="18" charset="0"/>
                            </a:rPr>
                          </m:ctrlPr>
                        </m:naryPr>
                        <m:sub>
                          <m:r>
                            <m:rPr>
                              <m:brk m:alnAt="23"/>
                            </m:rPr>
                            <a:rPr lang="en-US" altLang="zh-TW" sz="2000" i="1">
                              <a:solidFill>
                                <a:schemeClr val="tx2"/>
                              </a:solidFill>
                              <a:latin typeface="Cambria Math" panose="02040503050406030204" pitchFamily="18" charset="0"/>
                            </a:rPr>
                            <m:t>−</m:t>
                          </m:r>
                          <m:r>
                            <a:rPr lang="en-US" altLang="zh-TW" sz="2000" i="1">
                              <a:solidFill>
                                <a:schemeClr val="tx2"/>
                              </a:solidFill>
                              <a:latin typeface="Cambria Math" panose="02040503050406030204" pitchFamily="18" charset="0"/>
                            </a:rPr>
                            <m:t>∞</m:t>
                          </m:r>
                        </m:sub>
                        <m:sup>
                          <m:sSub>
                            <m:sSubPr>
                              <m:ctrlPr>
                                <a:rPr lang="en-US" altLang="zh-TW" sz="2000" i="1">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sup>
                        <m:e>
                          <m:f>
                            <m:fPr>
                              <m:ctrlPr>
                                <a:rPr lang="en-US" altLang="zh-TW" sz="2000" i="1">
                                  <a:solidFill>
                                    <a:schemeClr val="tx2"/>
                                  </a:solidFill>
                                  <a:latin typeface="Cambria Math" panose="02040503050406030204" pitchFamily="18" charset="0"/>
                                </a:rPr>
                              </m:ctrlPr>
                            </m:fPr>
                            <m:num>
                              <m:r>
                                <a:rPr lang="en-US" altLang="zh-TW" sz="2000" i="1">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a:rPr lang="en-US" altLang="zh-TW" sz="2000" i="1">
                                      <a:solidFill>
                                        <a:schemeClr val="tx2"/>
                                      </a:solidFill>
                                      <a:latin typeface="Cambria Math" panose="02040503050406030204" pitchFamily="18" charset="0"/>
                                    </a:rPr>
                                    <m:t>𝑃</m:t>
                                  </m:r>
                                </m:sup>
                              </m:sSup>
                              <m:r>
                                <a:rPr lang="en-US" altLang="zh-TW" sz="2000" i="1">
                                  <a:solidFill>
                                    <a:schemeClr val="tx2"/>
                                  </a:solidFill>
                                  <a:latin typeface="Cambria Math" panose="02040503050406030204" pitchFamily="18" charset="0"/>
                                </a:rPr>
                                <m:t>(</m:t>
                              </m:r>
                              <m:sSub>
                                <m:sSubPr>
                                  <m:ctrlPr>
                                    <a:rPr lang="en-US" altLang="zh-TW" sz="2000" i="1" smtClean="0">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num>
                            <m:den>
                              <m:r>
                                <a:rPr lang="en-US" altLang="zh-TW" sz="2000" i="1">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m:rPr>
                                      <m:sty m:val="p"/>
                                    </m:rPr>
                                    <a:rPr lang="en-US" altLang="zh-TW" sz="2000" i="1">
                                      <a:solidFill>
                                        <a:schemeClr val="tx2"/>
                                      </a:solidFill>
                                      <a:latin typeface="Cambria Math" panose="02040503050406030204" pitchFamily="18" charset="0"/>
                                    </a:rPr>
                                    <m:t>Q</m:t>
                                  </m:r>
                                </m:sup>
                              </m:sSup>
                              <m:r>
                                <a:rPr lang="en-US" altLang="zh-TW" sz="2000" i="1">
                                  <a:solidFill>
                                    <a:schemeClr val="tx2"/>
                                  </a:solidFill>
                                  <a:latin typeface="Cambria Math" panose="02040503050406030204" pitchFamily="18" charset="0"/>
                                </a:rPr>
                                <m:t>(</m:t>
                              </m:r>
                              <m:sSub>
                                <m:sSubPr>
                                  <m:ctrlPr>
                                    <a:rPr lang="en-US" altLang="zh-TW" sz="2000" i="1" smtClean="0">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den>
                          </m:f>
                          <m:r>
                            <a:rPr lang="en-US" altLang="zh-TW" sz="2000" i="1">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m:rPr>
                                  <m:sty m:val="p"/>
                                </m:rPr>
                                <a:rPr lang="en-US" altLang="zh-TW" sz="2000" i="1">
                                  <a:solidFill>
                                    <a:schemeClr val="tx2"/>
                                  </a:solidFill>
                                  <a:latin typeface="Cambria Math" panose="02040503050406030204" pitchFamily="18" charset="0"/>
                                </a:rPr>
                                <m:t>Q</m:t>
                              </m:r>
                            </m:sup>
                          </m:sSup>
                          <m:r>
                            <a:rPr lang="en-US" altLang="zh-TW" sz="2000" i="1">
                              <a:solidFill>
                                <a:schemeClr val="tx2"/>
                              </a:solidFill>
                              <a:latin typeface="Cambria Math" panose="02040503050406030204" pitchFamily="18" charset="0"/>
                            </a:rPr>
                            <m:t>(</m:t>
                          </m:r>
                          <m:sSub>
                            <m:sSubPr>
                              <m:ctrlPr>
                                <a:rPr lang="en-US" altLang="zh-TW" sz="2000" i="1" smtClean="0">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e>
                      </m:nary>
                      <m:r>
                        <m:rPr>
                          <m:nor/>
                        </m:rPr>
                        <a:rPr lang="en-US" altLang="zh-TW" sz="2000" i="1" dirty="0">
                          <a:solidFill>
                            <a:schemeClr val="tx2"/>
                          </a:solidFill>
                          <a:latin typeface="Cambria Math" panose="02040503050406030204" pitchFamily="18" charset="0"/>
                        </a:rPr>
                        <m:t>~</m:t>
                      </m:r>
                      <m:r>
                        <m:rPr>
                          <m:sty m:val="p"/>
                        </m:rPr>
                        <a:rPr lang="en-US" altLang="zh-TW" sz="2000" i="1" dirty="0">
                          <a:solidFill>
                            <a:schemeClr val="tx2"/>
                          </a:solidFill>
                          <a:latin typeface="Cambria Math" panose="02040503050406030204" pitchFamily="18" charset="0"/>
                        </a:rPr>
                        <m:t>U</m:t>
                      </m:r>
                      <m:d>
                        <m:dPr>
                          <m:begChr m:val="["/>
                          <m:endChr m:val="]"/>
                          <m:ctrlPr>
                            <a:rPr lang="en-US" altLang="zh-TW" sz="2000" i="1" dirty="0">
                              <a:solidFill>
                                <a:schemeClr val="tx2"/>
                              </a:solidFill>
                              <a:latin typeface="Cambria Math" panose="02040503050406030204" pitchFamily="18" charset="0"/>
                            </a:rPr>
                          </m:ctrlPr>
                        </m:dPr>
                        <m:e>
                          <m:r>
                            <a:rPr lang="en-US" altLang="zh-TW" sz="2000" i="1" dirty="0">
                              <a:solidFill>
                                <a:schemeClr val="tx2"/>
                              </a:solidFill>
                              <a:latin typeface="Cambria Math" panose="02040503050406030204" pitchFamily="18" charset="0"/>
                            </a:rPr>
                            <m:t>0,1</m:t>
                          </m:r>
                        </m:e>
                      </m:d>
                    </m:oMath>
                  </a14:m>
                  <a:endParaRPr lang="en-US" altLang="zh-TW" sz="2000" i="1" dirty="0">
                    <a:solidFill>
                      <a:schemeClr val="tx2"/>
                    </a:solidFill>
                    <a:latin typeface="Cambria Math" panose="02040503050406030204" pitchFamily="18" charset="0"/>
                  </a:endParaRPr>
                </a:p>
                <a:p>
                  <a:pPr marL="2330450">
                    <a:lnSpc>
                      <a:spcPct val="150000"/>
                    </a:lnSpc>
                  </a:pPr>
                  <a:r>
                    <a:rPr lang="zh-TW" altLang="en-US" sz="2000" dirty="0">
                      <a:solidFill>
                        <a:schemeClr val="tx2"/>
                      </a:solidFill>
                    </a:rPr>
                    <a:t> →   </a:t>
                  </a:r>
                  <a14:m>
                    <m:oMath xmlns:m="http://schemas.openxmlformats.org/officeDocument/2006/math">
                      <m:nary>
                        <m:naryPr>
                          <m:ctrlPr>
                            <a:rPr lang="zh-TW" altLang="en-US" sz="2000" i="1">
                              <a:solidFill>
                                <a:schemeClr val="tx2"/>
                              </a:solidFill>
                              <a:latin typeface="Cambria Math" panose="02040503050406030204" pitchFamily="18" charset="0"/>
                            </a:rPr>
                          </m:ctrlPr>
                        </m:naryPr>
                        <m:sub>
                          <m:r>
                            <m:rPr>
                              <m:brk m:alnAt="23"/>
                            </m:rPr>
                            <a:rPr lang="en-US" altLang="zh-TW" sz="2000" i="1">
                              <a:solidFill>
                                <a:schemeClr val="tx2"/>
                              </a:solidFill>
                              <a:latin typeface="Cambria Math" panose="02040503050406030204" pitchFamily="18" charset="0"/>
                            </a:rPr>
                            <m:t>−</m:t>
                          </m:r>
                          <m:r>
                            <a:rPr lang="en-US" altLang="zh-TW" sz="2000" i="1">
                              <a:solidFill>
                                <a:schemeClr val="tx2"/>
                              </a:solidFill>
                              <a:latin typeface="Cambria Math" panose="02040503050406030204" pitchFamily="18" charset="0"/>
                            </a:rPr>
                            <m:t>∞</m:t>
                          </m:r>
                        </m:sub>
                        <m:sup>
                          <m:sSub>
                            <m:sSubPr>
                              <m:ctrlPr>
                                <a:rPr lang="en-US" altLang="zh-TW" sz="2000" i="1">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sup>
                        <m:e>
                          <m:sSup>
                            <m:sSupPr>
                              <m:ctrlPr>
                                <a:rPr lang="en-US" altLang="zh-TW" sz="2000" i="1">
                                  <a:solidFill>
                                    <a:schemeClr val="tx2"/>
                                  </a:solidFill>
                                  <a:latin typeface="Cambria Math" panose="02040503050406030204" pitchFamily="18" charset="0"/>
                                </a:rPr>
                              </m:ctrlPr>
                            </m:sSupPr>
                            <m:e>
                              <m:d>
                                <m:dPr>
                                  <m:ctrlPr>
                                    <a:rPr lang="en-US" altLang="zh-TW" sz="2000" i="1">
                                      <a:solidFill>
                                        <a:schemeClr val="tx2"/>
                                      </a:solidFill>
                                      <a:latin typeface="Cambria Math" panose="02040503050406030204" pitchFamily="18" charset="0"/>
                                    </a:rPr>
                                  </m:ctrlPr>
                                </m:dPr>
                                <m:e>
                                  <m:f>
                                    <m:fPr>
                                      <m:ctrlPr>
                                        <a:rPr lang="en-US" altLang="zh-TW" sz="2000" i="1">
                                          <a:solidFill>
                                            <a:schemeClr val="tx2"/>
                                          </a:solidFill>
                                          <a:latin typeface="Cambria Math" panose="02040503050406030204" pitchFamily="18" charset="0"/>
                                        </a:rPr>
                                      </m:ctrlPr>
                                    </m:fPr>
                                    <m:num>
                                      <m:r>
                                        <a:rPr lang="en-US" altLang="zh-TW" sz="2000" i="1">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m:rPr>
                                              <m:sty m:val="p"/>
                                            </m:rPr>
                                            <a:rPr lang="en-US" altLang="zh-TW" sz="2000" i="1">
                                              <a:solidFill>
                                                <a:schemeClr val="tx2"/>
                                              </a:solidFill>
                                              <a:latin typeface="Cambria Math" panose="02040503050406030204" pitchFamily="18" charset="0"/>
                                            </a:rPr>
                                            <m:t>Q</m:t>
                                          </m:r>
                                        </m:sup>
                                      </m:sSup>
                                      <m:r>
                                        <a:rPr lang="en-US" altLang="zh-TW" sz="2000" i="1">
                                          <a:solidFill>
                                            <a:schemeClr val="tx2"/>
                                          </a:solidFill>
                                          <a:latin typeface="Cambria Math" panose="02040503050406030204" pitchFamily="18" charset="0"/>
                                        </a:rPr>
                                        <m:t>(</m:t>
                                      </m:r>
                                      <m:sSub>
                                        <m:sSubPr>
                                          <m:ctrlPr>
                                            <a:rPr lang="en-US" altLang="zh-TW" sz="2000" i="1" smtClean="0">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num>
                                    <m:den>
                                      <m:r>
                                        <a:rPr lang="en-US" altLang="zh-TW" sz="2000" i="1">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m:rPr>
                                              <m:sty m:val="p"/>
                                            </m:rPr>
                                            <a:rPr lang="en-US" altLang="zh-TW" sz="2000" i="1">
                                              <a:solidFill>
                                                <a:schemeClr val="tx2"/>
                                              </a:solidFill>
                                              <a:latin typeface="Cambria Math" panose="02040503050406030204" pitchFamily="18" charset="0"/>
                                            </a:rPr>
                                            <m:t>P</m:t>
                                          </m:r>
                                        </m:sup>
                                      </m:sSup>
                                      <m:r>
                                        <a:rPr lang="en-US" altLang="zh-TW" sz="2000" i="1">
                                          <a:solidFill>
                                            <a:schemeClr val="tx2"/>
                                          </a:solidFill>
                                          <a:latin typeface="Cambria Math" panose="02040503050406030204" pitchFamily="18" charset="0"/>
                                        </a:rPr>
                                        <m:t>(</m:t>
                                      </m:r>
                                      <m:sSub>
                                        <m:sSubPr>
                                          <m:ctrlPr>
                                            <a:rPr lang="en-US" altLang="zh-TW" sz="2000" i="1" smtClean="0">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den>
                                  </m:f>
                                </m:e>
                              </m:d>
                            </m:e>
                            <m:sup>
                              <m:r>
                                <a:rPr lang="en-US" altLang="zh-TW" sz="2000" i="1">
                                  <a:solidFill>
                                    <a:schemeClr val="tx2"/>
                                  </a:solidFill>
                                  <a:latin typeface="Cambria Math" panose="02040503050406030204" pitchFamily="18" charset="0"/>
                                </a:rPr>
                                <m:t>−1</m:t>
                              </m:r>
                            </m:sup>
                          </m:sSup>
                          <m:r>
                            <a:rPr lang="en-US" altLang="zh-TW" sz="2000" i="1">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m:rPr>
                                  <m:sty m:val="p"/>
                                </m:rPr>
                                <a:rPr lang="en-US" altLang="zh-TW" sz="2000" i="1">
                                  <a:solidFill>
                                    <a:schemeClr val="tx2"/>
                                  </a:solidFill>
                                  <a:latin typeface="Cambria Math" panose="02040503050406030204" pitchFamily="18" charset="0"/>
                                </a:rPr>
                                <m:t>Q</m:t>
                              </m:r>
                            </m:sup>
                          </m:sSup>
                          <m:r>
                            <a:rPr lang="en-US" altLang="zh-TW" sz="2000" i="1">
                              <a:solidFill>
                                <a:schemeClr val="tx2"/>
                              </a:solidFill>
                              <a:latin typeface="Cambria Math" panose="02040503050406030204" pitchFamily="18" charset="0"/>
                            </a:rPr>
                            <m:t>(</m:t>
                          </m:r>
                          <m:sSub>
                            <m:sSubPr>
                              <m:ctrlPr>
                                <a:rPr lang="en-US" altLang="zh-TW" sz="2000" i="1" smtClean="0">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e>
                      </m:nary>
                      <m:r>
                        <m:rPr>
                          <m:nor/>
                        </m:rPr>
                        <a:rPr lang="en-US" altLang="zh-TW" sz="2000" i="1" dirty="0">
                          <a:solidFill>
                            <a:schemeClr val="tx2"/>
                          </a:solidFill>
                          <a:latin typeface="Cambria Math" panose="02040503050406030204" pitchFamily="18" charset="0"/>
                        </a:rPr>
                        <m:t>~</m:t>
                      </m:r>
                      <m:r>
                        <m:rPr>
                          <m:sty m:val="p"/>
                        </m:rPr>
                        <a:rPr lang="en-US" altLang="zh-TW" sz="2000" i="1" dirty="0">
                          <a:solidFill>
                            <a:schemeClr val="tx2"/>
                          </a:solidFill>
                          <a:latin typeface="Cambria Math" panose="02040503050406030204" pitchFamily="18" charset="0"/>
                        </a:rPr>
                        <m:t>U</m:t>
                      </m:r>
                      <m:d>
                        <m:dPr>
                          <m:begChr m:val="["/>
                          <m:endChr m:val="]"/>
                          <m:ctrlPr>
                            <a:rPr lang="en-US" altLang="zh-TW" sz="2000" i="1" dirty="0">
                              <a:solidFill>
                                <a:schemeClr val="tx2"/>
                              </a:solidFill>
                              <a:latin typeface="Cambria Math" panose="02040503050406030204" pitchFamily="18" charset="0"/>
                            </a:rPr>
                          </m:ctrlPr>
                        </m:dPr>
                        <m:e>
                          <m:r>
                            <a:rPr lang="en-US" altLang="zh-TW" sz="2000" i="1" dirty="0">
                              <a:solidFill>
                                <a:schemeClr val="tx2"/>
                              </a:solidFill>
                              <a:latin typeface="Cambria Math" panose="02040503050406030204" pitchFamily="18" charset="0"/>
                            </a:rPr>
                            <m:t>0,1</m:t>
                          </m:r>
                        </m:e>
                      </m:d>
                    </m:oMath>
                  </a14:m>
                  <a:endParaRPr lang="zh-TW" altLang="en-US" sz="2000" i="1" dirty="0">
                    <a:solidFill>
                      <a:schemeClr val="tx2"/>
                    </a:solidFill>
                    <a:latin typeface="Cambria Math" panose="02040503050406030204" pitchFamily="18" charset="0"/>
                  </a:endParaRPr>
                </a:p>
              </p:txBody>
            </p:sp>
          </mc:Choice>
          <mc:Fallback xmlns="">
            <p:sp>
              <p:nvSpPr>
                <p:cNvPr id="11" name="文字方塊 10">
                  <a:extLst>
                    <a:ext uri="{FF2B5EF4-FFF2-40B4-BE49-F238E27FC236}">
                      <a16:creationId xmlns:a16="http://schemas.microsoft.com/office/drawing/2014/main" id="{90B9828F-BECF-B173-03B3-9F1A14EE8DEB}"/>
                    </a:ext>
                  </a:extLst>
                </p:cNvPr>
                <p:cNvSpPr txBox="1">
                  <a:spLocks noRot="1" noChangeAspect="1" noMove="1" noResize="1" noEditPoints="1" noAdjustHandles="1" noChangeArrowheads="1" noChangeShapeType="1" noTextEdit="1"/>
                </p:cNvSpPr>
                <p:nvPr/>
              </p:nvSpPr>
              <p:spPr>
                <a:xfrm>
                  <a:off x="962211" y="4265756"/>
                  <a:ext cx="9752107" cy="2108526"/>
                </a:xfrm>
                <a:prstGeom prst="rect">
                  <a:avLst/>
                </a:prstGeom>
                <a:blipFill>
                  <a:blip r:embed="rId3"/>
                  <a:stretch>
                    <a:fillRect t="-283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439E7740-9352-B202-8E41-F5C411A7CCBA}"/>
                    </a:ext>
                  </a:extLst>
                </p:cNvPr>
                <p:cNvSpPr txBox="1"/>
                <p:nvPr/>
              </p:nvSpPr>
              <p:spPr>
                <a:xfrm>
                  <a:off x="8108577" y="4865966"/>
                  <a:ext cx="2605741" cy="621709"/>
                </a:xfrm>
                <a:prstGeom prst="rect">
                  <a:avLst/>
                </a:prstGeom>
                <a:noFill/>
              </p:spPr>
              <p:txBody>
                <a:bodyPr wrap="square" rtlCol="0">
                  <a:spAutoFit/>
                </a:bodyPr>
                <a:lstStyle/>
                <a:p>
                  <a:r>
                    <a:rPr lang="zh-TW" altLang="en-US" sz="2000" b="1" i="1" dirty="0">
                      <a:solidFill>
                        <a:schemeClr val="accent1"/>
                      </a:solidFill>
                      <a:latin typeface="+mn-lt"/>
                    </a:rPr>
                    <a:t>→</a:t>
                  </a:r>
                  <a:r>
                    <a:rPr lang="en-US" altLang="zh-TW" sz="2000" b="1" i="1" dirty="0">
                      <a:solidFill>
                        <a:schemeClr val="accent1"/>
                      </a:solidFill>
                      <a:latin typeface="+mn-lt"/>
                    </a:rPr>
                    <a:t> </a:t>
                  </a:r>
                  <a14:m>
                    <m:oMath xmlns:m="http://schemas.openxmlformats.org/officeDocument/2006/math">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𝒈</m:t>
                          </m:r>
                        </m:e>
                        <m:sub>
                          <m:r>
                            <a:rPr lang="en-US" altLang="zh-TW" sz="2000" b="1" i="1">
                              <a:solidFill>
                                <a:schemeClr val="accent1"/>
                              </a:solidFill>
                              <a:latin typeface="Cambria Math" panose="02040503050406030204" pitchFamily="18" charset="0"/>
                            </a:rPr>
                            <m:t>𝒕</m:t>
                          </m:r>
                          <m:r>
                            <a:rPr lang="en-US" altLang="zh-TW" sz="2000" b="1" i="1">
                              <a:solidFill>
                                <a:schemeClr val="accent1"/>
                              </a:solidFill>
                              <a:latin typeface="Cambria Math" panose="02040503050406030204" pitchFamily="18" charset="0"/>
                            </a:rPr>
                            <m:t>,</m:t>
                          </m:r>
                          <m:r>
                            <a:rPr lang="zh-TW" altLang="en-US" sz="2000" b="1" i="1">
                              <a:solidFill>
                                <a:schemeClr val="accent1"/>
                              </a:solidFill>
                              <a:latin typeface="Cambria Math" panose="02040503050406030204" pitchFamily="18" charset="0"/>
                            </a:rPr>
                            <m:t>𝝉</m:t>
                          </m:r>
                        </m:sub>
                      </m:sSub>
                      <m:r>
                        <a:rPr lang="zh-TW" altLang="en-US" sz="2000" b="1" i="1">
                          <a:solidFill>
                            <a:schemeClr val="accent1"/>
                          </a:solidFill>
                          <a:latin typeface="Cambria Math" panose="02040503050406030204" pitchFamily="18" charset="0"/>
                        </a:rPr>
                        <m:t> </m:t>
                      </m:r>
                    </m:oMath>
                  </a14:m>
                  <a:r>
                    <a:rPr lang="en-US" altLang="zh-TW" sz="2000" b="1" i="1" dirty="0">
                      <a:solidFill>
                        <a:schemeClr val="accent1"/>
                      </a:solidFill>
                      <a:latin typeface="Cambria Math" panose="02040503050406030204" pitchFamily="18" charset="0"/>
                    </a:rPr>
                    <a:t>= </a:t>
                  </a:r>
                  <a14:m>
                    <m:oMath xmlns:m="http://schemas.openxmlformats.org/officeDocument/2006/math">
                      <m:f>
                        <m:fPr>
                          <m:ctrlPr>
                            <a:rPr lang="en-US" altLang="zh-TW" sz="2000" b="1" i="1">
                              <a:solidFill>
                                <a:schemeClr val="accent1"/>
                              </a:solidFill>
                              <a:latin typeface="Cambria Math" panose="02040503050406030204" pitchFamily="18" charset="0"/>
                            </a:rPr>
                          </m:ctrlPr>
                        </m:fPr>
                        <m:num>
                          <m:r>
                            <a:rPr lang="en-US" altLang="zh-TW" sz="2000" b="1" i="1">
                              <a:solidFill>
                                <a:schemeClr val="accent1"/>
                              </a:solidFill>
                              <a:latin typeface="Cambria Math" panose="02040503050406030204" pitchFamily="18" charset="0"/>
                            </a:rPr>
                            <m:t>𝒅</m:t>
                          </m:r>
                          <m:sSup>
                            <m:sSupPr>
                              <m:ctrlPr>
                                <a:rPr lang="en-US" altLang="zh-TW" sz="2000" b="1" i="1">
                                  <a:solidFill>
                                    <a:schemeClr val="accent1"/>
                                  </a:solidFill>
                                  <a:latin typeface="Cambria Math" panose="02040503050406030204" pitchFamily="18" charset="0"/>
                                </a:rPr>
                              </m:ctrlPr>
                            </m:sSupPr>
                            <m:e>
                              <m:r>
                                <a:rPr lang="zh-TW" altLang="en-US" sz="2000" b="1" i="1">
                                  <a:solidFill>
                                    <a:schemeClr val="accent1"/>
                                  </a:solidFill>
                                  <a:latin typeface="Cambria Math" panose="02040503050406030204" pitchFamily="18" charset="0"/>
                                </a:rPr>
                                <m:t>𝔽</m:t>
                              </m:r>
                            </m:e>
                            <m:sup>
                              <m:r>
                                <a:rPr lang="en-US" altLang="zh-TW" sz="2000" b="1" i="1">
                                  <a:solidFill>
                                    <a:schemeClr val="accent1"/>
                                  </a:solidFill>
                                  <a:latin typeface="Cambria Math" panose="02040503050406030204" pitchFamily="18" charset="0"/>
                                </a:rPr>
                                <m:t>𝑷</m:t>
                              </m:r>
                            </m:sup>
                          </m:sSup>
                          <m:r>
                            <a:rPr lang="en-US" altLang="zh-TW" sz="2000" b="1" i="1">
                              <a:solidFill>
                                <a:schemeClr val="accent1"/>
                              </a:solidFill>
                              <a:latin typeface="Cambria Math" panose="02040503050406030204" pitchFamily="18" charset="0"/>
                            </a:rPr>
                            <m:t>(</m:t>
                          </m:r>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𝒙</m:t>
                              </m:r>
                            </m:e>
                            <m:sub>
                              <m:r>
                                <a:rPr lang="en-US" altLang="zh-TW" sz="2000" b="1" i="1">
                                  <a:solidFill>
                                    <a:schemeClr val="accent1"/>
                                  </a:solidFill>
                                  <a:latin typeface="Cambria Math" panose="02040503050406030204" pitchFamily="18" charset="0"/>
                                </a:rPr>
                                <m:t>𝒕</m:t>
                              </m:r>
                              <m:r>
                                <a:rPr lang="en-US" altLang="zh-TW" sz="2000" b="1" i="1">
                                  <a:solidFill>
                                    <a:schemeClr val="accent1"/>
                                  </a:solidFill>
                                  <a:latin typeface="Cambria Math" panose="02040503050406030204" pitchFamily="18" charset="0"/>
                                </a:rPr>
                                <m:t>+</m:t>
                              </m:r>
                              <m:r>
                                <a:rPr lang="zh-TW" altLang="en-US" sz="2000" b="1" i="1">
                                  <a:solidFill>
                                    <a:schemeClr val="accent1"/>
                                  </a:solidFill>
                                  <a:latin typeface="Cambria Math" panose="02040503050406030204" pitchFamily="18" charset="0"/>
                                </a:rPr>
                                <m:t>𝝉</m:t>
                              </m:r>
                            </m:sub>
                          </m:sSub>
                          <m:r>
                            <a:rPr lang="en-US" altLang="zh-TW" sz="2000" b="1" i="1">
                              <a:solidFill>
                                <a:schemeClr val="accent1"/>
                              </a:solidFill>
                              <a:latin typeface="Cambria Math" panose="02040503050406030204" pitchFamily="18" charset="0"/>
                            </a:rPr>
                            <m:t>|</m:t>
                          </m:r>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𝓕</m:t>
                              </m:r>
                            </m:e>
                            <m:sub>
                              <m:r>
                                <a:rPr lang="en-US" altLang="zh-TW" sz="2000" b="1" i="1">
                                  <a:solidFill>
                                    <a:schemeClr val="accent1"/>
                                  </a:solidFill>
                                  <a:latin typeface="Cambria Math" panose="02040503050406030204" pitchFamily="18" charset="0"/>
                                </a:rPr>
                                <m:t>𝒕</m:t>
                              </m:r>
                            </m:sub>
                          </m:sSub>
                          <m:r>
                            <a:rPr lang="en-US" altLang="zh-TW" sz="2000" b="1" i="1">
                              <a:solidFill>
                                <a:schemeClr val="accent1"/>
                              </a:solidFill>
                              <a:latin typeface="Cambria Math" panose="02040503050406030204" pitchFamily="18" charset="0"/>
                            </a:rPr>
                            <m:t>)</m:t>
                          </m:r>
                        </m:num>
                        <m:den>
                          <m:r>
                            <a:rPr lang="en-US" altLang="zh-TW" sz="2000" b="1" i="1">
                              <a:solidFill>
                                <a:schemeClr val="accent1"/>
                              </a:solidFill>
                              <a:latin typeface="Cambria Math" panose="02040503050406030204" pitchFamily="18" charset="0"/>
                            </a:rPr>
                            <m:t>𝒅</m:t>
                          </m:r>
                          <m:sSup>
                            <m:sSupPr>
                              <m:ctrlPr>
                                <a:rPr lang="en-US" altLang="zh-TW" sz="2000" b="1" i="1">
                                  <a:solidFill>
                                    <a:schemeClr val="accent1"/>
                                  </a:solidFill>
                                  <a:latin typeface="Cambria Math" panose="02040503050406030204" pitchFamily="18" charset="0"/>
                                </a:rPr>
                              </m:ctrlPr>
                            </m:sSupPr>
                            <m:e>
                              <m:r>
                                <a:rPr lang="zh-TW" altLang="en-US" sz="2000" b="1" i="1">
                                  <a:solidFill>
                                    <a:schemeClr val="accent1"/>
                                  </a:solidFill>
                                  <a:latin typeface="Cambria Math" panose="02040503050406030204" pitchFamily="18" charset="0"/>
                                </a:rPr>
                                <m:t>𝔽</m:t>
                              </m:r>
                            </m:e>
                            <m:sup>
                              <m:r>
                                <a:rPr lang="en-US" altLang="zh-TW" sz="2000" b="1" i="1">
                                  <a:solidFill>
                                    <a:schemeClr val="accent1"/>
                                  </a:solidFill>
                                  <a:latin typeface="Cambria Math" panose="02040503050406030204" pitchFamily="18" charset="0"/>
                                </a:rPr>
                                <m:t>𝑸</m:t>
                              </m:r>
                            </m:sup>
                          </m:sSup>
                          <m:r>
                            <a:rPr lang="en-US" altLang="zh-TW" sz="2000" b="1" i="1">
                              <a:solidFill>
                                <a:schemeClr val="accent1"/>
                              </a:solidFill>
                              <a:latin typeface="Cambria Math" panose="02040503050406030204" pitchFamily="18" charset="0"/>
                            </a:rPr>
                            <m:t>(</m:t>
                          </m:r>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𝒙</m:t>
                              </m:r>
                            </m:e>
                            <m:sub>
                              <m:r>
                                <a:rPr lang="en-US" altLang="zh-TW" sz="2000" b="1" i="1">
                                  <a:solidFill>
                                    <a:schemeClr val="accent1"/>
                                  </a:solidFill>
                                  <a:latin typeface="Cambria Math" panose="02040503050406030204" pitchFamily="18" charset="0"/>
                                </a:rPr>
                                <m:t>𝒕</m:t>
                              </m:r>
                              <m:r>
                                <a:rPr lang="en-US" altLang="zh-TW" sz="2000" b="1" i="1">
                                  <a:solidFill>
                                    <a:schemeClr val="accent1"/>
                                  </a:solidFill>
                                  <a:latin typeface="Cambria Math" panose="02040503050406030204" pitchFamily="18" charset="0"/>
                                </a:rPr>
                                <m:t>+</m:t>
                              </m:r>
                              <m:r>
                                <a:rPr lang="zh-TW" altLang="en-US" sz="2000" b="1" i="1">
                                  <a:solidFill>
                                    <a:schemeClr val="accent1"/>
                                  </a:solidFill>
                                  <a:latin typeface="Cambria Math" panose="02040503050406030204" pitchFamily="18" charset="0"/>
                                </a:rPr>
                                <m:t>𝝉</m:t>
                              </m:r>
                            </m:sub>
                          </m:sSub>
                          <m:r>
                            <a:rPr lang="en-US" altLang="zh-TW" sz="2000" b="1" i="1">
                              <a:solidFill>
                                <a:schemeClr val="accent1"/>
                              </a:solidFill>
                              <a:latin typeface="Cambria Math" panose="02040503050406030204" pitchFamily="18" charset="0"/>
                            </a:rPr>
                            <m:t>|</m:t>
                          </m:r>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𝓕</m:t>
                              </m:r>
                            </m:e>
                            <m:sub>
                              <m:r>
                                <a:rPr lang="en-US" altLang="zh-TW" sz="2000" b="1" i="1">
                                  <a:solidFill>
                                    <a:schemeClr val="accent1"/>
                                  </a:solidFill>
                                  <a:latin typeface="Cambria Math" panose="02040503050406030204" pitchFamily="18" charset="0"/>
                                </a:rPr>
                                <m:t>𝒕</m:t>
                              </m:r>
                            </m:sub>
                          </m:sSub>
                          <m:r>
                            <a:rPr lang="en-US" altLang="zh-TW" sz="2000" b="1" i="1">
                              <a:solidFill>
                                <a:schemeClr val="accent1"/>
                              </a:solidFill>
                              <a:latin typeface="Cambria Math" panose="02040503050406030204" pitchFamily="18" charset="0"/>
                            </a:rPr>
                            <m:t>)</m:t>
                          </m:r>
                        </m:den>
                      </m:f>
                    </m:oMath>
                  </a14:m>
                  <a:r>
                    <a:rPr lang="zh-TW" altLang="en-US" dirty="0">
                      <a:solidFill>
                        <a:schemeClr val="tx2"/>
                      </a:solidFill>
                      <a:latin typeface="+mn-lt"/>
                    </a:rPr>
                    <a:t>   </a:t>
                  </a:r>
                </a:p>
              </p:txBody>
            </p:sp>
          </mc:Choice>
          <mc:Fallback xmlns="">
            <p:sp>
              <p:nvSpPr>
                <p:cNvPr id="12" name="文字方塊 11">
                  <a:extLst>
                    <a:ext uri="{FF2B5EF4-FFF2-40B4-BE49-F238E27FC236}">
                      <a16:creationId xmlns:a16="http://schemas.microsoft.com/office/drawing/2014/main" id="{439E7740-9352-B202-8E41-F5C411A7CCBA}"/>
                    </a:ext>
                  </a:extLst>
                </p:cNvPr>
                <p:cNvSpPr txBox="1">
                  <a:spLocks noRot="1" noChangeAspect="1" noMove="1" noResize="1" noEditPoints="1" noAdjustHandles="1" noChangeArrowheads="1" noChangeShapeType="1" noTextEdit="1"/>
                </p:cNvSpPr>
                <p:nvPr/>
              </p:nvSpPr>
              <p:spPr>
                <a:xfrm>
                  <a:off x="8108577" y="4865966"/>
                  <a:ext cx="2605741" cy="621709"/>
                </a:xfrm>
                <a:prstGeom prst="rect">
                  <a:avLst/>
                </a:prstGeom>
                <a:blipFill>
                  <a:blip r:embed="rId4"/>
                  <a:stretch>
                    <a:fillRect l="-233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3D0F2A64-10A9-06FB-F459-14A7A212D242}"/>
                    </a:ext>
                  </a:extLst>
                </p:cNvPr>
                <p:cNvSpPr txBox="1"/>
                <p:nvPr/>
              </p:nvSpPr>
              <p:spPr>
                <a:xfrm>
                  <a:off x="8486922" y="5720403"/>
                  <a:ext cx="3645313" cy="594393"/>
                </a:xfrm>
                <a:prstGeom prst="rect">
                  <a:avLst/>
                </a:prstGeom>
                <a:noFill/>
              </p:spPr>
              <p:txBody>
                <a:bodyPr wrap="square" rtlCol="0">
                  <a:spAutoFit/>
                </a:bodyPr>
                <a:lstStyle/>
                <a:p>
                  <a:r>
                    <a:rPr lang="zh-TW" altLang="en-US" sz="2000" b="1" i="1" dirty="0">
                      <a:solidFill>
                        <a:schemeClr val="accent1"/>
                      </a:solidFill>
                      <a:latin typeface="+mn-lt"/>
                    </a:rPr>
                    <a:t>→</a:t>
                  </a:r>
                  <a:r>
                    <a:rPr lang="en-US" altLang="zh-TW" sz="2000" b="1" i="1" dirty="0">
                      <a:solidFill>
                        <a:schemeClr val="accent1"/>
                      </a:solidFill>
                      <a:latin typeface="+mn-lt"/>
                    </a:rPr>
                    <a:t> P</a:t>
                  </a:r>
                  <a14:m>
                    <m:oMath xmlns:m="http://schemas.openxmlformats.org/officeDocument/2006/math">
                      <m:r>
                        <a:rPr lang="en-US" altLang="zh-TW" sz="2000" b="1" i="1">
                          <a:solidFill>
                            <a:schemeClr val="accent1"/>
                          </a:solidFill>
                          <a:latin typeface="Cambria Math" panose="02040503050406030204" pitchFamily="18" charset="0"/>
                        </a:rPr>
                        <m:t>𝒓𝒊𝒄𝒊𝒏𝒈</m:t>
                      </m:r>
                      <m:r>
                        <a:rPr lang="en-US" altLang="zh-TW" sz="2000" b="1" i="1">
                          <a:solidFill>
                            <a:schemeClr val="accent1"/>
                          </a:solidFill>
                          <a:latin typeface="Cambria Math" panose="02040503050406030204" pitchFamily="18" charset="0"/>
                        </a:rPr>
                        <m:t> </m:t>
                      </m:r>
                      <m:r>
                        <a:rPr lang="en-US" altLang="zh-TW" sz="2000" b="1" i="1">
                          <a:solidFill>
                            <a:schemeClr val="accent1"/>
                          </a:solidFill>
                          <a:latin typeface="Cambria Math" panose="02040503050406030204" pitchFamily="18" charset="0"/>
                        </a:rPr>
                        <m:t>𝑲𝒆𝒓𝒏𝒆𝒍</m:t>
                      </m:r>
                      <m:r>
                        <a:rPr lang="en-US" altLang="zh-TW" sz="2000" b="1" i="1">
                          <a:solidFill>
                            <a:schemeClr val="accent1"/>
                          </a:solidFill>
                          <a:latin typeface="Cambria Math" panose="02040503050406030204" pitchFamily="18" charset="0"/>
                        </a:rPr>
                        <m:t>=</m:t>
                      </m:r>
                      <m:sSup>
                        <m:sSupPr>
                          <m:ctrlPr>
                            <a:rPr lang="en-US" altLang="zh-TW" sz="2000" b="1" i="1">
                              <a:solidFill>
                                <a:schemeClr val="accent1"/>
                              </a:solidFill>
                              <a:latin typeface="Cambria Math" panose="02040503050406030204" pitchFamily="18" charset="0"/>
                            </a:rPr>
                          </m:ctrlPr>
                        </m:sSupPr>
                        <m:e>
                          <m:r>
                            <a:rPr lang="en-US" altLang="zh-TW" sz="2000" b="1" i="1">
                              <a:solidFill>
                                <a:schemeClr val="accent1"/>
                              </a:solidFill>
                              <a:latin typeface="Cambria Math" panose="02040503050406030204" pitchFamily="18" charset="0"/>
                            </a:rPr>
                            <m:t>𝒆</m:t>
                          </m:r>
                        </m:e>
                        <m:sup>
                          <m:r>
                            <a:rPr lang="en-US" altLang="zh-TW" sz="2000" b="1" i="1">
                              <a:solidFill>
                                <a:schemeClr val="accent1"/>
                              </a:solidFill>
                              <a:latin typeface="Cambria Math" panose="02040503050406030204" pitchFamily="18" charset="0"/>
                            </a:rPr>
                            <m:t>−</m:t>
                          </m:r>
                          <m:r>
                            <a:rPr lang="en-US" altLang="zh-TW" sz="2000" b="1" i="1">
                              <a:solidFill>
                                <a:schemeClr val="accent1"/>
                              </a:solidFill>
                              <a:latin typeface="Cambria Math" panose="02040503050406030204" pitchFamily="18" charset="0"/>
                            </a:rPr>
                            <m:t>𝒓</m:t>
                          </m:r>
                          <m:r>
                            <a:rPr lang="zh-TW" altLang="en-US" sz="2000" b="1" i="1">
                              <a:solidFill>
                                <a:schemeClr val="accent1"/>
                              </a:solidFill>
                              <a:latin typeface="Cambria Math" panose="02040503050406030204" pitchFamily="18" charset="0"/>
                            </a:rPr>
                            <m:t>𝝉</m:t>
                          </m:r>
                        </m:sup>
                      </m:sSup>
                      <m:f>
                        <m:fPr>
                          <m:ctrlPr>
                            <a:rPr lang="en-US" altLang="zh-TW" sz="2000" b="1" i="1">
                              <a:solidFill>
                                <a:schemeClr val="accent1"/>
                              </a:solidFill>
                              <a:latin typeface="Cambria Math" panose="02040503050406030204" pitchFamily="18" charset="0"/>
                            </a:rPr>
                          </m:ctrlPr>
                        </m:fPr>
                        <m:num>
                          <m:r>
                            <a:rPr lang="en-US" altLang="zh-TW" sz="2000" b="1" i="1">
                              <a:solidFill>
                                <a:schemeClr val="accent1"/>
                              </a:solidFill>
                              <a:latin typeface="Cambria Math" panose="02040503050406030204" pitchFamily="18" charset="0"/>
                            </a:rPr>
                            <m:t>𝟏</m:t>
                          </m:r>
                        </m:num>
                        <m:den>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𝒈</m:t>
                              </m:r>
                            </m:e>
                            <m:sub>
                              <m:r>
                                <a:rPr lang="en-US" altLang="zh-TW" sz="2000" b="1" i="1">
                                  <a:solidFill>
                                    <a:schemeClr val="accent1"/>
                                  </a:solidFill>
                                  <a:latin typeface="Cambria Math" panose="02040503050406030204" pitchFamily="18" charset="0"/>
                                </a:rPr>
                                <m:t>𝒕</m:t>
                              </m:r>
                              <m:r>
                                <a:rPr lang="en-US" altLang="zh-TW" sz="2000" b="1" i="1">
                                  <a:solidFill>
                                    <a:schemeClr val="accent1"/>
                                  </a:solidFill>
                                  <a:latin typeface="Cambria Math" panose="02040503050406030204" pitchFamily="18" charset="0"/>
                                </a:rPr>
                                <m:t>,</m:t>
                              </m:r>
                              <m:r>
                                <a:rPr lang="zh-TW" altLang="en-US" sz="2000" b="1" i="1">
                                  <a:solidFill>
                                    <a:schemeClr val="accent1"/>
                                  </a:solidFill>
                                  <a:latin typeface="Cambria Math" panose="02040503050406030204" pitchFamily="18" charset="0"/>
                                </a:rPr>
                                <m:t>𝝉</m:t>
                              </m:r>
                            </m:sub>
                          </m:sSub>
                        </m:den>
                      </m:f>
                    </m:oMath>
                  </a14:m>
                  <a:endParaRPr lang="zh-TW" altLang="en-US" sz="2000" b="1" i="1" dirty="0">
                    <a:solidFill>
                      <a:schemeClr val="accent1"/>
                    </a:solidFill>
                    <a:latin typeface="Cambria Math" panose="02040503050406030204" pitchFamily="18" charset="0"/>
                  </a:endParaRPr>
                </a:p>
              </p:txBody>
            </p:sp>
          </mc:Choice>
          <mc:Fallback xmlns="">
            <p:sp>
              <p:nvSpPr>
                <p:cNvPr id="13" name="文字方塊 12">
                  <a:extLst>
                    <a:ext uri="{FF2B5EF4-FFF2-40B4-BE49-F238E27FC236}">
                      <a16:creationId xmlns:a16="http://schemas.microsoft.com/office/drawing/2014/main" id="{3D0F2A64-10A9-06FB-F459-14A7A212D242}"/>
                    </a:ext>
                  </a:extLst>
                </p:cNvPr>
                <p:cNvSpPr txBox="1">
                  <a:spLocks noRot="1" noChangeAspect="1" noMove="1" noResize="1" noEditPoints="1" noAdjustHandles="1" noChangeArrowheads="1" noChangeShapeType="1" noTextEdit="1"/>
                </p:cNvSpPr>
                <p:nvPr/>
              </p:nvSpPr>
              <p:spPr>
                <a:xfrm>
                  <a:off x="8486922" y="5720403"/>
                  <a:ext cx="3645313" cy="594393"/>
                </a:xfrm>
                <a:prstGeom prst="rect">
                  <a:avLst/>
                </a:prstGeom>
                <a:blipFill>
                  <a:blip r:embed="rId5"/>
                  <a:stretch>
                    <a:fillRect l="-1672"/>
                  </a:stretch>
                </a:blipFill>
              </p:spPr>
              <p:txBody>
                <a:bodyPr/>
                <a:lstStyle/>
                <a:p>
                  <a:r>
                    <a:rPr lang="zh-TW" altLang="en-US">
                      <a:noFill/>
                    </a:rPr>
                    <a:t> </a:t>
                  </a:r>
                </a:p>
              </p:txBody>
            </p:sp>
          </mc:Fallback>
        </mc:AlternateContent>
        <p:sp>
          <p:nvSpPr>
            <p:cNvPr id="14" name="矩形 13">
              <a:extLst>
                <a:ext uri="{FF2B5EF4-FFF2-40B4-BE49-F238E27FC236}">
                  <a16:creationId xmlns:a16="http://schemas.microsoft.com/office/drawing/2014/main" id="{78A5754D-A1AC-2830-3C0B-B04B7B675392}"/>
                </a:ext>
              </a:extLst>
            </p:cNvPr>
            <p:cNvSpPr/>
            <p:nvPr/>
          </p:nvSpPr>
          <p:spPr>
            <a:xfrm>
              <a:off x="4438582" y="4865966"/>
              <a:ext cx="1206759" cy="621709"/>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2"/>
                </a:solidFill>
              </a:endParaRPr>
            </a:p>
          </p:txBody>
        </p:sp>
        <p:sp>
          <p:nvSpPr>
            <p:cNvPr id="15" name="矩形 14">
              <a:extLst>
                <a:ext uri="{FF2B5EF4-FFF2-40B4-BE49-F238E27FC236}">
                  <a16:creationId xmlns:a16="http://schemas.microsoft.com/office/drawing/2014/main" id="{410F48DF-C78E-1D18-F74D-379A2F903E80}"/>
                </a:ext>
              </a:extLst>
            </p:cNvPr>
            <p:cNvSpPr/>
            <p:nvPr/>
          </p:nvSpPr>
          <p:spPr>
            <a:xfrm>
              <a:off x="4395039" y="5670897"/>
              <a:ext cx="1716833" cy="671216"/>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2"/>
                </a:solidFill>
              </a:endParaRPr>
            </a:p>
          </p:txBody>
        </p:sp>
      </p:gr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A5DB1632-8718-8C6F-E0A8-F97D6D207EB1}"/>
                  </a:ext>
                </a:extLst>
              </p:cNvPr>
              <p:cNvSpPr txBox="1"/>
              <p:nvPr/>
            </p:nvSpPr>
            <p:spPr>
              <a:xfrm>
                <a:off x="510988" y="4257412"/>
                <a:ext cx="11047445" cy="1010982"/>
              </a:xfrm>
              <a:prstGeom prst="rect">
                <a:avLst/>
              </a:prstGeom>
              <a:noFill/>
            </p:spPr>
            <p:txBody>
              <a:bodyPr wrap="square" rtlCol="0">
                <a:spAutoFit/>
              </a:bodyPr>
              <a:lstStyle/>
              <a:p>
                <a:pPr>
                  <a:lnSpc>
                    <a:spcPct val="150000"/>
                  </a:lnSpc>
                </a:pPr>
                <a:r>
                  <a:rPr lang="en-US" altLang="zh-TW" sz="2000" dirty="0">
                    <a:solidFill>
                      <a:schemeClr val="tx2"/>
                    </a:solidFill>
                    <a:latin typeface="Microsoft JhengHei" panose="020B0604030504040204" pitchFamily="34" charset="-120"/>
                    <a:ea typeface="Microsoft JhengHei" panose="020B0604030504040204" pitchFamily="34" charset="-120"/>
                    <a:cs typeface="+mn-ea"/>
                  </a:rPr>
                  <a:t>Linn et al.(2017)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使用三次</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樣條函數（</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cubic</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B-splines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）來近似</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g</a:t>
                </a:r>
              </a:p>
              <a:p>
                <a:pPr>
                  <a:lnSpc>
                    <a:spcPct val="150000"/>
                  </a:lnSpc>
                </a:pPr>
                <a14:m>
                  <m:oMath xmlns:m="http://schemas.openxmlformats.org/officeDocument/2006/math">
                    <m:r>
                      <a:rPr lang="en-US" altLang="zh-TW" sz="2000" dirty="0">
                        <a:solidFill>
                          <a:schemeClr val="tx2"/>
                        </a:solidFill>
                        <a:latin typeface="Cambria Math" panose="02040503050406030204" pitchFamily="18" charset="0"/>
                        <a:ea typeface="Microsoft JhengHei" panose="020B0604030504040204" pitchFamily="34" charset="-120"/>
                        <a:cs typeface="+mn-ea"/>
                      </a:rPr>
                      <m:t>𝑔</m:t>
                    </m:r>
                    <m:d>
                      <m:dPr>
                        <m:ctrlPr>
                          <a:rPr lang="en-US" altLang="zh-TW" sz="2000" i="1" dirty="0">
                            <a:solidFill>
                              <a:schemeClr val="tx2"/>
                            </a:solidFill>
                            <a:latin typeface="Cambria Math" panose="02040503050406030204" pitchFamily="18" charset="0"/>
                            <a:ea typeface="Microsoft JhengHei" panose="020B0604030504040204" pitchFamily="34" charset="-120"/>
                            <a:cs typeface="+mn-ea"/>
                          </a:rPr>
                        </m:ctrlPr>
                      </m:dPr>
                      <m:e>
                        <m:r>
                          <a:rPr lang="en-US" altLang="zh-TW" sz="2000" dirty="0">
                            <a:solidFill>
                              <a:schemeClr val="tx2"/>
                            </a:solidFill>
                            <a:latin typeface="Cambria Math" panose="02040503050406030204" pitchFamily="18" charset="0"/>
                            <a:ea typeface="Microsoft JhengHei" panose="020B0604030504040204" pitchFamily="34" charset="-120"/>
                            <a:cs typeface="+mn-ea"/>
                          </a:rPr>
                          <m:t>𝑦</m:t>
                        </m:r>
                      </m:e>
                    </m:d>
                    <m:r>
                      <a:rPr lang="en-US" altLang="zh-TW" sz="2000" dirty="0">
                        <a:solidFill>
                          <a:schemeClr val="tx2"/>
                        </a:solidFill>
                        <a:latin typeface="Cambria Math" panose="02040503050406030204" pitchFamily="18" charset="0"/>
                        <a:ea typeface="Microsoft JhengHei" panose="020B0604030504040204" pitchFamily="34" charset="-120"/>
                        <a:cs typeface="+mn-ea"/>
                      </a:rPr>
                      <m:t>≈</m:t>
                    </m:r>
                    <m:nary>
                      <m:naryPr>
                        <m:chr m:val="∑"/>
                        <m:ctrlPr>
                          <a:rPr lang="en-US" altLang="zh-TW" sz="2000" i="1" dirty="0">
                            <a:solidFill>
                              <a:schemeClr val="tx2"/>
                            </a:solidFill>
                            <a:latin typeface="Cambria Math" panose="02040503050406030204" pitchFamily="18" charset="0"/>
                            <a:ea typeface="Microsoft JhengHei" panose="020B0604030504040204" pitchFamily="34" charset="-120"/>
                            <a:cs typeface="+mn-ea"/>
                          </a:rPr>
                        </m:ctrlPr>
                      </m:naryPr>
                      <m:sub>
                        <m:r>
                          <m:rPr>
                            <m:sty m:val="p"/>
                          </m:rPr>
                          <a:rPr lang="en-US" altLang="zh-TW" sz="2000" b="0" i="0" dirty="0" smtClean="0">
                            <a:solidFill>
                              <a:schemeClr val="tx2"/>
                            </a:solidFill>
                            <a:latin typeface="Cambria Math" panose="02040503050406030204" pitchFamily="18" charset="0"/>
                            <a:ea typeface="Microsoft JhengHei" panose="020B0604030504040204" pitchFamily="34" charset="-120"/>
                            <a:cs typeface="+mn-ea"/>
                          </a:rPr>
                          <m:t>i</m:t>
                        </m:r>
                        <m:r>
                          <a:rPr lang="en-US" altLang="zh-TW" sz="2000" dirty="0">
                            <a:solidFill>
                              <a:schemeClr val="tx2"/>
                            </a:solidFill>
                            <a:latin typeface="Cambria Math" panose="02040503050406030204" pitchFamily="18" charset="0"/>
                            <a:ea typeface="Microsoft JhengHei" panose="020B0604030504040204" pitchFamily="34" charset="-120"/>
                            <a:cs typeface="+mn-ea"/>
                          </a:rPr>
                          <m:t>=1</m:t>
                        </m:r>
                      </m:sub>
                      <m:sup>
                        <m:r>
                          <a:rPr lang="en-US" altLang="zh-TW" sz="2000" dirty="0">
                            <a:solidFill>
                              <a:schemeClr val="tx2"/>
                            </a:solidFill>
                            <a:latin typeface="Cambria Math" panose="02040503050406030204" pitchFamily="18" charset="0"/>
                            <a:ea typeface="Microsoft JhengHei" panose="020B0604030504040204" pitchFamily="34" charset="-120"/>
                            <a:cs typeface="+mn-ea"/>
                          </a:rPr>
                          <m:t>𝑏</m:t>
                        </m:r>
                      </m:sup>
                      <m:e>
                        <m:sSub>
                          <m:sSubPr>
                            <m:ctrlPr>
                              <a:rPr lang="en-US" altLang="zh-TW" sz="2000" i="1" dirty="0">
                                <a:solidFill>
                                  <a:schemeClr val="tx2"/>
                                </a:solidFill>
                                <a:latin typeface="Cambria Math" panose="02040503050406030204" pitchFamily="18" charset="0"/>
                                <a:ea typeface="Microsoft JhengHei" panose="020B0604030504040204" pitchFamily="34" charset="-120"/>
                                <a:cs typeface="+mn-ea"/>
                              </a:rPr>
                            </m:ctrlPr>
                          </m:sSubPr>
                          <m:e>
                            <m:r>
                              <a:rPr lang="zh-TW" altLang="en-US" sz="2000" dirty="0">
                                <a:solidFill>
                                  <a:schemeClr val="tx2"/>
                                </a:solidFill>
                                <a:latin typeface="Cambria Math" panose="02040503050406030204" pitchFamily="18" charset="0"/>
                                <a:ea typeface="Microsoft JhengHei" panose="020B0604030504040204" pitchFamily="34" charset="-120"/>
                                <a:cs typeface="+mn-ea"/>
                              </a:rPr>
                              <m:t>𝜃</m:t>
                            </m:r>
                          </m:e>
                          <m:sub>
                            <m:r>
                              <a:rPr lang="en-US" altLang="zh-TW" sz="2000" b="0" i="1" dirty="0" smtClean="0">
                                <a:solidFill>
                                  <a:schemeClr val="tx2"/>
                                </a:solidFill>
                                <a:latin typeface="Cambria Math" panose="02040503050406030204" pitchFamily="18" charset="0"/>
                                <a:ea typeface="Microsoft JhengHei" panose="020B0604030504040204" pitchFamily="34" charset="-120"/>
                                <a:cs typeface="+mn-ea"/>
                              </a:rPr>
                              <m:t>𝑖</m:t>
                            </m:r>
                          </m:sub>
                        </m:sSub>
                        <m:sSub>
                          <m:sSubPr>
                            <m:ctrlPr>
                              <a:rPr lang="en-US" altLang="zh-TW" sz="2000" i="1" dirty="0">
                                <a:solidFill>
                                  <a:schemeClr val="tx2"/>
                                </a:solidFill>
                                <a:latin typeface="Cambria Math" panose="02040503050406030204" pitchFamily="18" charset="0"/>
                                <a:ea typeface="Microsoft JhengHei" panose="020B0604030504040204" pitchFamily="34" charset="-120"/>
                                <a:cs typeface="+mn-ea"/>
                              </a:rPr>
                            </m:ctrlPr>
                          </m:sSubPr>
                          <m:e>
                            <m:r>
                              <a:rPr lang="en-US" altLang="zh-TW" sz="2000" dirty="0">
                                <a:solidFill>
                                  <a:schemeClr val="tx2"/>
                                </a:solidFill>
                                <a:latin typeface="Cambria Math" panose="02040503050406030204" pitchFamily="18" charset="0"/>
                                <a:ea typeface="Microsoft JhengHei" panose="020B0604030504040204" pitchFamily="34" charset="-120"/>
                                <a:cs typeface="+mn-ea"/>
                              </a:rPr>
                              <m:t>𝐵</m:t>
                            </m:r>
                          </m:e>
                          <m:sub>
                            <m:r>
                              <a:rPr lang="en-US" altLang="zh-TW" sz="2000" b="0" i="1" dirty="0" smtClean="0">
                                <a:solidFill>
                                  <a:schemeClr val="tx2"/>
                                </a:solidFill>
                                <a:latin typeface="Cambria Math" panose="02040503050406030204" pitchFamily="18" charset="0"/>
                                <a:ea typeface="Microsoft JhengHei" panose="020B0604030504040204" pitchFamily="34" charset="-120"/>
                                <a:cs typeface="+mn-ea"/>
                              </a:rPr>
                              <m:t>𝑖</m:t>
                            </m:r>
                          </m:sub>
                        </m:sSub>
                        <m:d>
                          <m:dPr>
                            <m:ctrlPr>
                              <a:rPr lang="en-US" altLang="zh-TW" sz="2000" i="1" dirty="0">
                                <a:solidFill>
                                  <a:schemeClr val="tx2"/>
                                </a:solidFill>
                                <a:latin typeface="Cambria Math" panose="02040503050406030204" pitchFamily="18" charset="0"/>
                                <a:ea typeface="Microsoft JhengHei" panose="020B0604030504040204" pitchFamily="34" charset="-120"/>
                                <a:cs typeface="+mn-ea"/>
                              </a:rPr>
                            </m:ctrlPr>
                          </m:dPr>
                          <m:e>
                            <m:r>
                              <a:rPr lang="en-US" altLang="zh-TW" sz="2000" dirty="0">
                                <a:solidFill>
                                  <a:schemeClr val="tx2"/>
                                </a:solidFill>
                                <a:latin typeface="Cambria Math" panose="02040503050406030204" pitchFamily="18" charset="0"/>
                                <a:ea typeface="Microsoft JhengHei" panose="020B0604030504040204" pitchFamily="34" charset="-120"/>
                                <a:cs typeface="+mn-ea"/>
                              </a:rPr>
                              <m:t>𝑦</m:t>
                            </m:r>
                          </m:e>
                        </m:d>
                      </m:e>
                    </m:nary>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 </a:t>
                </a:r>
                <a14:m>
                  <m:oMath xmlns:m="http://schemas.openxmlformats.org/officeDocument/2006/math">
                    <m:sSub>
                      <m:sSubPr>
                        <m:ctrlPr>
                          <a:rPr lang="en-US" altLang="zh-TW" sz="2000" i="1" dirty="0">
                            <a:solidFill>
                              <a:schemeClr val="tx2"/>
                            </a:solidFill>
                            <a:latin typeface="Cambria Math" panose="02040503050406030204" pitchFamily="18" charset="0"/>
                            <a:ea typeface="Microsoft JhengHei" panose="020B0604030504040204" pitchFamily="34" charset="-120"/>
                            <a:cs typeface="+mn-ea"/>
                          </a:rPr>
                        </m:ctrlPr>
                      </m:sSubPr>
                      <m:e>
                        <m:r>
                          <a:rPr lang="en-US" altLang="zh-TW" sz="2000" dirty="0">
                            <a:solidFill>
                              <a:schemeClr val="tx2"/>
                            </a:solidFill>
                            <a:latin typeface="Cambria Math" panose="02040503050406030204" pitchFamily="18" charset="0"/>
                            <a:ea typeface="Microsoft JhengHei" panose="020B0604030504040204" pitchFamily="34" charset="-120"/>
                            <a:cs typeface="+mn-ea"/>
                          </a:rPr>
                          <m:t>𝐵</m:t>
                        </m:r>
                      </m:e>
                      <m:sub>
                        <m:r>
                          <m:rPr>
                            <m:sty m:val="p"/>
                          </m:rPr>
                          <a:rPr lang="en-US" altLang="zh-TW" sz="2000" i="1" dirty="0">
                            <a:solidFill>
                              <a:schemeClr val="tx2"/>
                            </a:solidFill>
                            <a:latin typeface="Cambria Math" panose="02040503050406030204" pitchFamily="18" charset="0"/>
                            <a:ea typeface="Microsoft JhengHei" panose="020B0604030504040204" pitchFamily="34" charset="-120"/>
                            <a:cs typeface="+mn-ea"/>
                          </a:rPr>
                          <m:t>i</m:t>
                        </m:r>
                      </m:sub>
                    </m:sSub>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表示第</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個</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basis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functions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 </a:t>
                </a:r>
                <a14:m>
                  <m:oMath xmlns:m="http://schemas.openxmlformats.org/officeDocument/2006/math">
                    <m:sSub>
                      <m:sSubPr>
                        <m:ctrlPr>
                          <a:rPr lang="en-US" altLang="zh-TW" sz="2000" i="1" dirty="0">
                            <a:solidFill>
                              <a:schemeClr val="tx2"/>
                            </a:solidFill>
                            <a:latin typeface="Cambria Math" panose="02040503050406030204" pitchFamily="18" charset="0"/>
                            <a:ea typeface="Microsoft JhengHei" panose="020B0604030504040204" pitchFamily="34" charset="-120"/>
                            <a:cs typeface="+mn-ea"/>
                          </a:rPr>
                        </m:ctrlPr>
                      </m:sSubPr>
                      <m:e>
                        <m:r>
                          <a:rPr lang="zh-TW" altLang="en-US" sz="2000" dirty="0">
                            <a:solidFill>
                              <a:schemeClr val="tx2"/>
                            </a:solidFill>
                            <a:latin typeface="Cambria Math" panose="02040503050406030204" pitchFamily="18" charset="0"/>
                            <a:ea typeface="Microsoft JhengHei" panose="020B0604030504040204" pitchFamily="34" charset="-120"/>
                            <a:cs typeface="+mn-ea"/>
                          </a:rPr>
                          <m:t>𝜃</m:t>
                        </m:r>
                      </m:e>
                      <m:sub>
                        <m:r>
                          <m:rPr>
                            <m:sty m:val="p"/>
                          </m:rPr>
                          <a:rPr lang="en-US" altLang="zh-TW" sz="2000" i="1" dirty="0">
                            <a:solidFill>
                              <a:schemeClr val="tx2"/>
                            </a:solidFill>
                            <a:latin typeface="Cambria Math" panose="02040503050406030204" pitchFamily="18" charset="0"/>
                            <a:ea typeface="Microsoft JhengHei" panose="020B0604030504040204" pitchFamily="34" charset="-120"/>
                            <a:cs typeface="+mn-ea"/>
                          </a:rPr>
                          <m:t>i</m:t>
                        </m:r>
                      </m:sub>
                    </m:sSub>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表示第</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個</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basis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functions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的係數</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Choice>
        <mc:Fallback xmlns="">
          <p:sp>
            <p:nvSpPr>
              <p:cNvPr id="16" name="文字方塊 15">
                <a:extLst>
                  <a:ext uri="{FF2B5EF4-FFF2-40B4-BE49-F238E27FC236}">
                    <a16:creationId xmlns:a16="http://schemas.microsoft.com/office/drawing/2014/main" id="{A5DB1632-8718-8C6F-E0A8-F97D6D207EB1}"/>
                  </a:ext>
                </a:extLst>
              </p:cNvPr>
              <p:cNvSpPr txBox="1">
                <a:spLocks noRot="1" noChangeAspect="1" noMove="1" noResize="1" noEditPoints="1" noAdjustHandles="1" noChangeArrowheads="1" noChangeShapeType="1" noTextEdit="1"/>
              </p:cNvSpPr>
              <p:nvPr/>
            </p:nvSpPr>
            <p:spPr>
              <a:xfrm>
                <a:off x="510988" y="4257412"/>
                <a:ext cx="11047445" cy="1010982"/>
              </a:xfrm>
              <a:prstGeom prst="rect">
                <a:avLst/>
              </a:prstGeom>
              <a:blipFill>
                <a:blip r:embed="rId6"/>
                <a:stretch>
                  <a:fillRect l="-607" b="-698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4EE48CFB-F26B-A219-162E-F2946BE2048B}"/>
                  </a:ext>
                </a:extLst>
              </p:cNvPr>
              <p:cNvSpPr txBox="1"/>
              <p:nvPr/>
            </p:nvSpPr>
            <p:spPr>
              <a:xfrm>
                <a:off x="1309182" y="5290656"/>
                <a:ext cx="9573636" cy="1424172"/>
              </a:xfrm>
              <a:prstGeom prst="rect">
                <a:avLst/>
              </a:prstGeom>
              <a:noFill/>
            </p:spPr>
            <p:txBody>
              <a:bodyPr wrap="square" rtlCol="0">
                <a:spAutoFit/>
              </a:bodyPr>
              <a:lstStyle/>
              <a:p>
                <a:pPr>
                  <a:lnSpc>
                    <a:spcPct val="150000"/>
                  </a:lnSpc>
                </a:pPr>
                <a14:m>
                  <m:oMath xmlns:m="http://schemas.openxmlformats.org/officeDocument/2006/math">
                    <m:nary>
                      <m:naryPr>
                        <m:ctrlPr>
                          <a:rPr lang="zh-TW" altLang="en-US" sz="2000" i="1" smtClean="0">
                            <a:solidFill>
                              <a:schemeClr val="tx2"/>
                            </a:solidFill>
                            <a:latin typeface="Cambria Math" panose="02040503050406030204" pitchFamily="18" charset="0"/>
                          </a:rPr>
                        </m:ctrlPr>
                      </m:naryPr>
                      <m:sub>
                        <m:r>
                          <m:rPr>
                            <m:brk m:alnAt="23"/>
                          </m:rPr>
                          <a:rPr lang="en-US" altLang="zh-TW" sz="2000" i="1">
                            <a:solidFill>
                              <a:schemeClr val="tx2"/>
                            </a:solidFill>
                            <a:latin typeface="Cambria Math" panose="02040503050406030204" pitchFamily="18" charset="0"/>
                          </a:rPr>
                          <m:t>−</m:t>
                        </m:r>
                        <m:r>
                          <a:rPr lang="en-US" altLang="zh-TW" sz="2000" i="1" smtClean="0">
                            <a:solidFill>
                              <a:schemeClr val="tx2"/>
                            </a:solidFill>
                            <a:latin typeface="Cambria Math" panose="02040503050406030204" pitchFamily="18" charset="0"/>
                            <a:ea typeface="Cambria Math" panose="02040503050406030204" pitchFamily="18" charset="0"/>
                          </a:rPr>
                          <m:t>∞</m:t>
                        </m:r>
                      </m:sub>
                      <m:sup>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𝑥</m:t>
                            </m:r>
                          </m:e>
                          <m:sub>
                            <m:r>
                              <a:rPr lang="en-US" altLang="zh-TW" sz="2000" i="1">
                                <a:solidFill>
                                  <a:schemeClr val="tx2"/>
                                </a:solidFill>
                                <a:latin typeface="Cambria Math" panose="02040503050406030204" pitchFamily="18" charset="0"/>
                              </a:rPr>
                              <m:t>𝑡</m:t>
                            </m:r>
                            <m:r>
                              <a:rPr lang="en-US" altLang="zh-TW" sz="2000" i="1">
                                <a:solidFill>
                                  <a:schemeClr val="tx2"/>
                                </a:solidFill>
                                <a:latin typeface="Cambria Math" panose="02040503050406030204" pitchFamily="18" charset="0"/>
                              </a:rPr>
                              <m:t>+</m:t>
                            </m:r>
                            <m:r>
                              <a:rPr lang="zh-TW" altLang="en-US" sz="2000" i="1">
                                <a:solidFill>
                                  <a:schemeClr val="tx2"/>
                                </a:solidFill>
                                <a:latin typeface="Cambria Math" panose="02040503050406030204" pitchFamily="18" charset="0"/>
                              </a:rPr>
                              <m:t>𝜏</m:t>
                            </m:r>
                          </m:sub>
                        </m:sSub>
                      </m:sup>
                      <m:e>
                        <m:f>
                          <m:fPr>
                            <m:ctrlPr>
                              <a:rPr lang="en-US" altLang="zh-TW" sz="2000" b="1" i="1">
                                <a:solidFill>
                                  <a:schemeClr val="accent1"/>
                                </a:solidFill>
                                <a:latin typeface="Cambria Math" panose="02040503050406030204" pitchFamily="18" charset="0"/>
                              </a:rPr>
                            </m:ctrlPr>
                          </m:fPr>
                          <m:num>
                            <m:r>
                              <a:rPr lang="en-US" altLang="zh-TW" sz="2000" b="1" i="1">
                                <a:solidFill>
                                  <a:schemeClr val="accent1"/>
                                </a:solidFill>
                                <a:latin typeface="Cambria Math" panose="02040503050406030204" pitchFamily="18" charset="0"/>
                              </a:rPr>
                              <m:t>𝒅</m:t>
                            </m:r>
                            <m:sSup>
                              <m:sSupPr>
                                <m:ctrlPr>
                                  <a:rPr lang="en-US" altLang="zh-TW" sz="2000" b="1" i="1">
                                    <a:solidFill>
                                      <a:schemeClr val="accent1"/>
                                    </a:solidFill>
                                    <a:latin typeface="Cambria Math" panose="02040503050406030204" pitchFamily="18" charset="0"/>
                                  </a:rPr>
                                </m:ctrlPr>
                              </m:sSupPr>
                              <m:e>
                                <m:r>
                                  <a:rPr lang="zh-TW" altLang="en-US" sz="2000" b="1" i="1">
                                    <a:solidFill>
                                      <a:schemeClr val="accent1"/>
                                    </a:solidFill>
                                    <a:latin typeface="Cambria Math" panose="02040503050406030204" pitchFamily="18" charset="0"/>
                                  </a:rPr>
                                  <m:t>𝔽</m:t>
                                </m:r>
                              </m:e>
                              <m:sup>
                                <m:r>
                                  <a:rPr lang="en-US" altLang="zh-TW" sz="2000" b="1" i="1">
                                    <a:solidFill>
                                      <a:schemeClr val="accent1"/>
                                    </a:solidFill>
                                    <a:latin typeface="Cambria Math" panose="02040503050406030204" pitchFamily="18" charset="0"/>
                                  </a:rPr>
                                  <m:t>𝑷</m:t>
                                </m:r>
                              </m:sup>
                            </m:sSup>
                            <m:r>
                              <a:rPr lang="en-US" altLang="zh-TW" sz="2000" b="1" i="1">
                                <a:solidFill>
                                  <a:schemeClr val="accent1"/>
                                </a:solidFill>
                                <a:latin typeface="Cambria Math" panose="02040503050406030204" pitchFamily="18" charset="0"/>
                              </a:rPr>
                              <m:t>(</m:t>
                            </m:r>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𝒙</m:t>
                                </m:r>
                              </m:e>
                              <m:sub>
                                <m:r>
                                  <a:rPr lang="en-US" altLang="zh-TW" sz="2000" b="1" i="1">
                                    <a:solidFill>
                                      <a:schemeClr val="accent1"/>
                                    </a:solidFill>
                                    <a:latin typeface="Cambria Math" panose="02040503050406030204" pitchFamily="18" charset="0"/>
                                  </a:rPr>
                                  <m:t>𝒕</m:t>
                                </m:r>
                                <m:r>
                                  <a:rPr lang="en-US" altLang="zh-TW" sz="2000" b="1" i="1">
                                    <a:solidFill>
                                      <a:schemeClr val="accent1"/>
                                    </a:solidFill>
                                    <a:latin typeface="Cambria Math" panose="02040503050406030204" pitchFamily="18" charset="0"/>
                                  </a:rPr>
                                  <m:t>+</m:t>
                                </m:r>
                                <m:r>
                                  <a:rPr lang="zh-TW" altLang="en-US" sz="2000" b="1" i="1">
                                    <a:solidFill>
                                      <a:schemeClr val="accent1"/>
                                    </a:solidFill>
                                    <a:latin typeface="Cambria Math" panose="02040503050406030204" pitchFamily="18" charset="0"/>
                                  </a:rPr>
                                  <m:t>𝝉</m:t>
                                </m:r>
                              </m:sub>
                            </m:sSub>
                            <m:r>
                              <a:rPr lang="en-US" altLang="zh-TW" sz="2000" b="1" i="1">
                                <a:solidFill>
                                  <a:schemeClr val="accent1"/>
                                </a:solidFill>
                                <a:latin typeface="Cambria Math" panose="02040503050406030204" pitchFamily="18" charset="0"/>
                              </a:rPr>
                              <m:t>|</m:t>
                            </m:r>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𝓕</m:t>
                                </m:r>
                              </m:e>
                              <m:sub>
                                <m:r>
                                  <a:rPr lang="en-US" altLang="zh-TW" sz="2000" b="1" i="1">
                                    <a:solidFill>
                                      <a:schemeClr val="accent1"/>
                                    </a:solidFill>
                                    <a:latin typeface="Cambria Math" panose="02040503050406030204" pitchFamily="18" charset="0"/>
                                  </a:rPr>
                                  <m:t>𝒕</m:t>
                                </m:r>
                              </m:sub>
                            </m:sSub>
                            <m:r>
                              <a:rPr lang="en-US" altLang="zh-TW" sz="2000" b="1" i="1">
                                <a:solidFill>
                                  <a:schemeClr val="accent1"/>
                                </a:solidFill>
                                <a:latin typeface="Cambria Math" panose="02040503050406030204" pitchFamily="18" charset="0"/>
                              </a:rPr>
                              <m:t>)</m:t>
                            </m:r>
                          </m:num>
                          <m:den>
                            <m:r>
                              <a:rPr lang="en-US" altLang="zh-TW" sz="2000" b="1" i="1">
                                <a:solidFill>
                                  <a:schemeClr val="accent1"/>
                                </a:solidFill>
                                <a:latin typeface="Cambria Math" panose="02040503050406030204" pitchFamily="18" charset="0"/>
                              </a:rPr>
                              <m:t>𝒅</m:t>
                            </m:r>
                            <m:sSup>
                              <m:sSupPr>
                                <m:ctrlPr>
                                  <a:rPr lang="en-US" altLang="zh-TW" sz="2000" b="1" i="1">
                                    <a:solidFill>
                                      <a:schemeClr val="accent1"/>
                                    </a:solidFill>
                                    <a:latin typeface="Cambria Math" panose="02040503050406030204" pitchFamily="18" charset="0"/>
                                  </a:rPr>
                                </m:ctrlPr>
                              </m:sSupPr>
                              <m:e>
                                <m:r>
                                  <a:rPr lang="zh-TW" altLang="en-US" sz="2000" b="1" i="1">
                                    <a:solidFill>
                                      <a:schemeClr val="accent1"/>
                                    </a:solidFill>
                                    <a:latin typeface="Cambria Math" panose="02040503050406030204" pitchFamily="18" charset="0"/>
                                  </a:rPr>
                                  <m:t>𝔽</m:t>
                                </m:r>
                              </m:e>
                              <m:sup>
                                <m:r>
                                  <a:rPr lang="en-US" altLang="zh-TW" sz="2000" b="1" i="1">
                                    <a:solidFill>
                                      <a:schemeClr val="accent1"/>
                                    </a:solidFill>
                                    <a:latin typeface="Cambria Math" panose="02040503050406030204" pitchFamily="18" charset="0"/>
                                  </a:rPr>
                                  <m:t>𝑸</m:t>
                                </m:r>
                              </m:sup>
                            </m:sSup>
                            <m:r>
                              <a:rPr lang="en-US" altLang="zh-TW" sz="2000" b="1" i="1">
                                <a:solidFill>
                                  <a:schemeClr val="accent1"/>
                                </a:solidFill>
                                <a:latin typeface="Cambria Math" panose="02040503050406030204" pitchFamily="18" charset="0"/>
                              </a:rPr>
                              <m:t>(</m:t>
                            </m:r>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𝒙</m:t>
                                </m:r>
                              </m:e>
                              <m:sub>
                                <m:r>
                                  <a:rPr lang="en-US" altLang="zh-TW" sz="2000" b="1" i="1">
                                    <a:solidFill>
                                      <a:schemeClr val="accent1"/>
                                    </a:solidFill>
                                    <a:latin typeface="Cambria Math" panose="02040503050406030204" pitchFamily="18" charset="0"/>
                                  </a:rPr>
                                  <m:t>𝒕</m:t>
                                </m:r>
                                <m:r>
                                  <a:rPr lang="en-US" altLang="zh-TW" sz="2000" b="1" i="1">
                                    <a:solidFill>
                                      <a:schemeClr val="accent1"/>
                                    </a:solidFill>
                                    <a:latin typeface="Cambria Math" panose="02040503050406030204" pitchFamily="18" charset="0"/>
                                  </a:rPr>
                                  <m:t>+</m:t>
                                </m:r>
                                <m:r>
                                  <a:rPr lang="zh-TW" altLang="en-US" sz="2000" b="1" i="1">
                                    <a:solidFill>
                                      <a:schemeClr val="accent1"/>
                                    </a:solidFill>
                                    <a:latin typeface="Cambria Math" panose="02040503050406030204" pitchFamily="18" charset="0"/>
                                  </a:rPr>
                                  <m:t>𝝉</m:t>
                                </m:r>
                              </m:sub>
                            </m:sSub>
                            <m:r>
                              <a:rPr lang="en-US" altLang="zh-TW" sz="2000" b="1" i="1">
                                <a:solidFill>
                                  <a:schemeClr val="accent1"/>
                                </a:solidFill>
                                <a:latin typeface="Cambria Math" panose="02040503050406030204" pitchFamily="18" charset="0"/>
                              </a:rPr>
                              <m:t>|</m:t>
                            </m:r>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𝓕</m:t>
                                </m:r>
                              </m:e>
                              <m:sub>
                                <m:r>
                                  <a:rPr lang="en-US" altLang="zh-TW" sz="2000" b="1" i="1">
                                    <a:solidFill>
                                      <a:schemeClr val="accent1"/>
                                    </a:solidFill>
                                    <a:latin typeface="Cambria Math" panose="02040503050406030204" pitchFamily="18" charset="0"/>
                                  </a:rPr>
                                  <m:t>𝒕</m:t>
                                </m:r>
                              </m:sub>
                            </m:sSub>
                            <m:r>
                              <a:rPr lang="en-US" altLang="zh-TW" sz="2000" b="1" i="1">
                                <a:solidFill>
                                  <a:schemeClr val="accent1"/>
                                </a:solidFill>
                                <a:latin typeface="Cambria Math" panose="02040503050406030204" pitchFamily="18" charset="0"/>
                              </a:rPr>
                              <m:t>)</m:t>
                            </m:r>
                          </m:den>
                        </m:f>
                        <m:r>
                          <a:rPr lang="en-US" altLang="zh-TW" sz="2000" b="0" i="1" smtClean="0">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m:rPr>
                                <m:sty m:val="p"/>
                              </m:rPr>
                              <a:rPr lang="en-US" altLang="zh-TW" sz="2000" i="1">
                                <a:solidFill>
                                  <a:schemeClr val="tx2"/>
                                </a:solidFill>
                                <a:latin typeface="Cambria Math" panose="02040503050406030204" pitchFamily="18" charset="0"/>
                              </a:rPr>
                              <m:t>Q</m:t>
                            </m:r>
                          </m:sup>
                        </m:sSup>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𝑥</m:t>
                            </m:r>
                          </m:e>
                          <m:sub>
                            <m:r>
                              <a:rPr lang="en-US" altLang="zh-TW" sz="2000" i="1">
                                <a:solidFill>
                                  <a:schemeClr val="tx2"/>
                                </a:solidFill>
                                <a:latin typeface="Cambria Math" panose="02040503050406030204" pitchFamily="18" charset="0"/>
                              </a:rPr>
                              <m:t>𝑡</m:t>
                            </m:r>
                            <m:r>
                              <a:rPr lang="en-US" altLang="zh-TW" sz="2000" i="1">
                                <a:solidFill>
                                  <a:schemeClr val="tx2"/>
                                </a:solidFill>
                                <a:latin typeface="Cambria Math" panose="02040503050406030204" pitchFamily="18" charset="0"/>
                              </a:rPr>
                              <m:t>+</m:t>
                            </m:r>
                            <m:r>
                              <a:rPr lang="zh-TW" altLang="en-US" sz="200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ea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b="0" i="1" smtClean="0">
                            <a:solidFill>
                              <a:schemeClr val="tx2"/>
                            </a:solidFill>
                            <a:latin typeface="Cambria Math" panose="02040503050406030204" pitchFamily="18" charset="0"/>
                          </a:rPr>
                          <m:t>)</m:t>
                        </m:r>
                      </m:e>
                    </m:nary>
                    <m:r>
                      <a:rPr lang="en-US" altLang="zh-TW" sz="2000" i="1">
                        <a:solidFill>
                          <a:schemeClr val="tx2"/>
                        </a:solidFill>
                        <a:latin typeface="Cambria Math" panose="02040503050406030204" pitchFamily="18" charset="0"/>
                      </a:rPr>
                      <m:t>~</m:t>
                    </m:r>
                    <m:r>
                      <m:rPr>
                        <m:sty m:val="p"/>
                      </m:rPr>
                      <a:rPr lang="en-US" altLang="zh-TW" sz="2000" i="1" dirty="0">
                        <a:solidFill>
                          <a:schemeClr val="tx2"/>
                        </a:solidFill>
                        <a:latin typeface="Cambria Math" panose="02040503050406030204" pitchFamily="18" charset="0"/>
                      </a:rPr>
                      <m:t>U</m:t>
                    </m:r>
                    <m:d>
                      <m:dPr>
                        <m:begChr m:val="["/>
                        <m:endChr m:val="]"/>
                        <m:ctrlPr>
                          <a:rPr lang="en-US" altLang="zh-TW" sz="2000" i="1" dirty="0">
                            <a:solidFill>
                              <a:schemeClr val="tx2"/>
                            </a:solidFill>
                            <a:latin typeface="Cambria Math" panose="02040503050406030204" pitchFamily="18" charset="0"/>
                          </a:rPr>
                        </m:ctrlPr>
                      </m:dPr>
                      <m:e>
                        <m:r>
                          <a:rPr lang="en-US" altLang="zh-TW" sz="2000" i="1" dirty="0">
                            <a:solidFill>
                              <a:schemeClr val="tx2"/>
                            </a:solidFill>
                            <a:latin typeface="Cambria Math" panose="02040503050406030204" pitchFamily="18" charset="0"/>
                          </a:rPr>
                          <m:t>0,1</m:t>
                        </m:r>
                      </m:e>
                    </m:d>
                  </m:oMath>
                </a14:m>
                <a:r>
                  <a:rPr lang="zh-TW" altLang="en-US" sz="2000" dirty="0">
                    <a:solidFill>
                      <a:schemeClr val="tx2"/>
                    </a:solidFill>
                  </a:rPr>
                  <a:t> → </a:t>
                </a:r>
                <a14:m>
                  <m:oMath xmlns:m="http://schemas.openxmlformats.org/officeDocument/2006/math">
                    <m:nary>
                      <m:naryPr>
                        <m:ctrlPr>
                          <a:rPr lang="zh-TW" altLang="en-US" sz="2000" i="1">
                            <a:solidFill>
                              <a:schemeClr val="tx2"/>
                            </a:solidFill>
                            <a:latin typeface="Cambria Math" panose="02040503050406030204" pitchFamily="18" charset="0"/>
                          </a:rPr>
                        </m:ctrlPr>
                      </m:naryPr>
                      <m:sub>
                        <m:r>
                          <m:rPr>
                            <m:brk m:alnAt="23"/>
                          </m:rPr>
                          <a:rPr lang="en-US" altLang="zh-TW" sz="2000" i="1">
                            <a:solidFill>
                              <a:schemeClr val="tx2"/>
                            </a:solidFill>
                            <a:latin typeface="Cambria Math" panose="02040503050406030204" pitchFamily="18" charset="0"/>
                          </a:rPr>
                          <m:t>−</m:t>
                        </m:r>
                        <m:r>
                          <a:rPr lang="en-US" altLang="zh-TW" sz="2000" i="1">
                            <a:solidFill>
                              <a:schemeClr val="tx2"/>
                            </a:solidFill>
                            <a:latin typeface="Cambria Math" panose="02040503050406030204" pitchFamily="18" charset="0"/>
                            <a:ea typeface="Cambria Math" panose="02040503050406030204" pitchFamily="18" charset="0"/>
                          </a:rPr>
                          <m:t>∞</m:t>
                        </m:r>
                      </m:sub>
                      <m:sup>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𝑥</m:t>
                            </m:r>
                          </m:e>
                          <m:sub>
                            <m:r>
                              <a:rPr lang="en-US" altLang="zh-TW" sz="2000" i="1">
                                <a:solidFill>
                                  <a:schemeClr val="tx2"/>
                                </a:solidFill>
                                <a:latin typeface="Cambria Math" panose="02040503050406030204" pitchFamily="18" charset="0"/>
                              </a:rPr>
                              <m:t>𝑡</m:t>
                            </m:r>
                            <m:r>
                              <a:rPr lang="en-US" altLang="zh-TW" sz="2000" i="1">
                                <a:solidFill>
                                  <a:schemeClr val="tx2"/>
                                </a:solidFill>
                                <a:latin typeface="Cambria Math" panose="02040503050406030204" pitchFamily="18" charset="0"/>
                              </a:rPr>
                              <m:t>+</m:t>
                            </m:r>
                            <m:r>
                              <a:rPr lang="zh-TW" altLang="en-US" sz="2000" i="1">
                                <a:solidFill>
                                  <a:schemeClr val="tx2"/>
                                </a:solidFill>
                                <a:latin typeface="Cambria Math" panose="02040503050406030204" pitchFamily="18" charset="0"/>
                              </a:rPr>
                              <m:t>𝜏</m:t>
                            </m:r>
                          </m:sub>
                        </m:sSub>
                      </m:sup>
                      <m:e>
                        <m:sSub>
                          <m:sSubPr>
                            <m:ctrlPr>
                              <a:rPr lang="en-US" altLang="zh-TW" sz="2000" b="1" i="1">
                                <a:solidFill>
                                  <a:schemeClr val="accent1"/>
                                </a:solidFill>
                                <a:latin typeface="Cambria Math" panose="02040503050406030204" pitchFamily="18" charset="0"/>
                              </a:rPr>
                            </m:ctrlPr>
                          </m:sSubPr>
                          <m:e>
                            <m:r>
                              <a:rPr lang="en-US" altLang="zh-TW" sz="2000" b="1" i="1">
                                <a:solidFill>
                                  <a:schemeClr val="accent1"/>
                                </a:solidFill>
                                <a:latin typeface="Cambria Math" panose="02040503050406030204" pitchFamily="18" charset="0"/>
                              </a:rPr>
                              <m:t>𝒈</m:t>
                            </m:r>
                          </m:e>
                          <m:sub>
                            <m:r>
                              <a:rPr lang="en-US" altLang="zh-TW" sz="2000" b="1" i="1">
                                <a:solidFill>
                                  <a:schemeClr val="accent1"/>
                                </a:solidFill>
                                <a:latin typeface="Cambria Math" panose="02040503050406030204" pitchFamily="18" charset="0"/>
                              </a:rPr>
                              <m:t>𝒕</m:t>
                            </m:r>
                            <m:r>
                              <a:rPr lang="en-US" altLang="zh-TW" sz="2000" b="1" i="1">
                                <a:solidFill>
                                  <a:schemeClr val="accent1"/>
                                </a:solidFill>
                                <a:latin typeface="Cambria Math" panose="02040503050406030204" pitchFamily="18" charset="0"/>
                              </a:rPr>
                              <m:t>,</m:t>
                            </m:r>
                            <m:r>
                              <a:rPr lang="zh-TW" altLang="en-US" sz="2000" b="1" i="1">
                                <a:solidFill>
                                  <a:schemeClr val="accent1"/>
                                </a:solidFill>
                                <a:latin typeface="Cambria Math" panose="02040503050406030204" pitchFamily="18" charset="0"/>
                              </a:rPr>
                              <m:t>𝝉</m:t>
                            </m:r>
                          </m:sub>
                        </m:sSub>
                        <m:r>
                          <a:rPr lang="en-US" altLang="zh-TW" sz="2000" b="1" i="1">
                            <a:solidFill>
                              <a:schemeClr val="accent1"/>
                            </a:solidFill>
                            <a:latin typeface="Cambria Math" panose="02040503050406030204" pitchFamily="18" charset="0"/>
                          </a:rPr>
                          <m:t>(</m:t>
                        </m:r>
                        <m:r>
                          <a:rPr lang="en-US" altLang="zh-TW" sz="2000" b="1" i="1" smtClean="0">
                            <a:solidFill>
                              <a:schemeClr val="accent1"/>
                            </a:solidFill>
                            <a:latin typeface="Cambria Math" panose="02040503050406030204" pitchFamily="18" charset="0"/>
                          </a:rPr>
                          <m:t>𝒚</m:t>
                        </m:r>
                        <m:r>
                          <a:rPr lang="en-US" altLang="zh-TW" sz="2000" b="1" i="1" smtClean="0">
                            <a:solidFill>
                              <a:schemeClr val="accent1"/>
                            </a:solidFill>
                            <a:latin typeface="Cambria Math" panose="02040503050406030204" pitchFamily="18" charset="0"/>
                          </a:rPr>
                          <m:t>)</m:t>
                        </m:r>
                        <m:r>
                          <a:rPr lang="en-US" altLang="zh-TW" sz="2000" i="1">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m:rPr>
                                <m:sty m:val="p"/>
                              </m:rPr>
                              <a:rPr lang="en-US" altLang="zh-TW" sz="2000" i="1">
                                <a:solidFill>
                                  <a:schemeClr val="tx2"/>
                                </a:solidFill>
                                <a:latin typeface="Cambria Math" panose="02040503050406030204" pitchFamily="18" charset="0"/>
                              </a:rPr>
                              <m:t>Q</m:t>
                            </m:r>
                          </m:sup>
                        </m:sSup>
                        <m:r>
                          <a:rPr lang="en-US" altLang="zh-TW" sz="2000" i="1">
                            <a:solidFill>
                              <a:schemeClr val="tx2"/>
                            </a:solidFill>
                            <a:latin typeface="Cambria Math" panose="02040503050406030204" pitchFamily="18" charset="0"/>
                          </a:rPr>
                          <m:t>(</m:t>
                        </m:r>
                        <m:r>
                          <a:rPr lang="en-US" altLang="zh-TW" sz="2000" b="0" i="1" smtClean="0">
                            <a:solidFill>
                              <a:schemeClr val="tx2"/>
                            </a:solidFill>
                            <a:latin typeface="Cambria Math" panose="02040503050406030204" pitchFamily="18" charset="0"/>
                          </a:rPr>
                          <m:t>𝑦</m:t>
                        </m:r>
                        <m:r>
                          <a:rPr lang="en-US" altLang="zh-TW" sz="2000" i="1" smtClean="0">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ea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e>
                    </m:nary>
                    <m:r>
                      <a:rPr lang="en-US" altLang="zh-TW" sz="2000" i="1">
                        <a:solidFill>
                          <a:schemeClr val="tx2"/>
                        </a:solidFill>
                        <a:latin typeface="Cambria Math" panose="02040503050406030204" pitchFamily="18" charset="0"/>
                      </a:rPr>
                      <m:t>~</m:t>
                    </m:r>
                    <m:r>
                      <m:rPr>
                        <m:sty m:val="p"/>
                      </m:rPr>
                      <a:rPr lang="en-US" altLang="zh-TW" sz="2000" i="1" dirty="0">
                        <a:solidFill>
                          <a:schemeClr val="tx2"/>
                        </a:solidFill>
                        <a:latin typeface="Cambria Math" panose="02040503050406030204" pitchFamily="18" charset="0"/>
                      </a:rPr>
                      <m:t>U</m:t>
                    </m:r>
                    <m:d>
                      <m:dPr>
                        <m:begChr m:val="["/>
                        <m:endChr m:val="]"/>
                        <m:ctrlPr>
                          <a:rPr lang="en-US" altLang="zh-TW" sz="2000" i="1" dirty="0">
                            <a:solidFill>
                              <a:schemeClr val="tx2"/>
                            </a:solidFill>
                            <a:latin typeface="Cambria Math" panose="02040503050406030204" pitchFamily="18" charset="0"/>
                          </a:rPr>
                        </m:ctrlPr>
                      </m:dPr>
                      <m:e>
                        <m:r>
                          <a:rPr lang="en-US" altLang="zh-TW" sz="2000" i="1" dirty="0">
                            <a:solidFill>
                              <a:schemeClr val="tx2"/>
                            </a:solidFill>
                            <a:latin typeface="Cambria Math" panose="02040503050406030204" pitchFamily="18" charset="0"/>
                          </a:rPr>
                          <m:t>0,1</m:t>
                        </m:r>
                      </m:e>
                    </m:d>
                  </m:oMath>
                </a14:m>
                <a:endParaRPr lang="en-US" altLang="zh-TW" sz="2000" dirty="0">
                  <a:solidFill>
                    <a:schemeClr val="tx2"/>
                  </a:solidFill>
                </a:endParaRPr>
              </a:p>
              <a:p>
                <a:pPr lvl="1">
                  <a:lnSpc>
                    <a:spcPct val="150000"/>
                  </a:lnSpc>
                  <a:tabLst>
                    <a:tab pos="2239963" algn="l"/>
                  </a:tabLst>
                </a:pPr>
                <a:r>
                  <a:rPr lang="en-US" altLang="zh-TW" sz="2000" dirty="0">
                    <a:solidFill>
                      <a:schemeClr val="tx2"/>
                    </a:solidFill>
                  </a:rPr>
                  <a:t>				</a:t>
                </a:r>
                <a:r>
                  <a:rPr lang="zh-TW" altLang="en-US" sz="2000" dirty="0">
                    <a:solidFill>
                      <a:schemeClr val="tx2"/>
                    </a:solidFill>
                  </a:rPr>
                  <a:t>       → </a:t>
                </a:r>
                <a14:m>
                  <m:oMath xmlns:m="http://schemas.openxmlformats.org/officeDocument/2006/math">
                    <m:nary>
                      <m:naryPr>
                        <m:ctrlPr>
                          <a:rPr lang="zh-TW" altLang="en-US" sz="2000" i="1">
                            <a:solidFill>
                              <a:schemeClr val="tx2"/>
                            </a:solidFill>
                            <a:latin typeface="Cambria Math" panose="02040503050406030204" pitchFamily="18" charset="0"/>
                          </a:rPr>
                        </m:ctrlPr>
                      </m:naryPr>
                      <m:sub>
                        <m:r>
                          <m:rPr>
                            <m:brk m:alnAt="23"/>
                          </m:rPr>
                          <a:rPr lang="en-US" altLang="zh-TW" sz="2000" i="1">
                            <a:solidFill>
                              <a:schemeClr val="tx2"/>
                            </a:solidFill>
                            <a:latin typeface="Cambria Math" panose="02040503050406030204" pitchFamily="18" charset="0"/>
                          </a:rPr>
                          <m:t>−</m:t>
                        </m:r>
                        <m:r>
                          <a:rPr lang="en-US" altLang="zh-TW" sz="2000" i="1">
                            <a:solidFill>
                              <a:schemeClr val="tx2"/>
                            </a:solidFill>
                            <a:latin typeface="Cambria Math" panose="02040503050406030204" pitchFamily="18" charset="0"/>
                            <a:ea typeface="Cambria Math" panose="02040503050406030204" pitchFamily="18" charset="0"/>
                          </a:rPr>
                          <m:t>∞</m:t>
                        </m:r>
                      </m:sub>
                      <m:sup>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𝑥</m:t>
                            </m:r>
                          </m:e>
                          <m:sub>
                            <m:r>
                              <a:rPr lang="en-US" altLang="zh-TW" sz="2000" i="1">
                                <a:solidFill>
                                  <a:schemeClr val="tx2"/>
                                </a:solidFill>
                                <a:latin typeface="Cambria Math" panose="02040503050406030204" pitchFamily="18" charset="0"/>
                              </a:rPr>
                              <m:t>𝑡</m:t>
                            </m:r>
                            <m:r>
                              <a:rPr lang="en-US" altLang="zh-TW" sz="2000" i="1">
                                <a:solidFill>
                                  <a:schemeClr val="tx2"/>
                                </a:solidFill>
                                <a:latin typeface="Cambria Math" panose="02040503050406030204" pitchFamily="18" charset="0"/>
                              </a:rPr>
                              <m:t>+</m:t>
                            </m:r>
                            <m:r>
                              <a:rPr lang="zh-TW" altLang="en-US" sz="2000" i="1">
                                <a:solidFill>
                                  <a:schemeClr val="tx2"/>
                                </a:solidFill>
                                <a:latin typeface="Cambria Math" panose="02040503050406030204" pitchFamily="18" charset="0"/>
                              </a:rPr>
                              <m:t>𝜏</m:t>
                            </m:r>
                          </m:sub>
                        </m:sSub>
                      </m:sup>
                      <m:e>
                        <m:sSub>
                          <m:sSubPr>
                            <m:ctrlPr>
                              <a:rPr lang="en-US" altLang="zh-TW" sz="2000" b="1" i="1" smtClean="0">
                                <a:solidFill>
                                  <a:schemeClr val="accent1"/>
                                </a:solidFill>
                                <a:latin typeface="Cambria Math" panose="02040503050406030204" pitchFamily="18" charset="0"/>
                                <a:ea typeface="Cambria Math" panose="02040503050406030204" pitchFamily="18" charset="0"/>
                              </a:rPr>
                            </m:ctrlPr>
                          </m:sSubPr>
                          <m:e>
                            <m:nary>
                              <m:naryPr>
                                <m:chr m:val="∑"/>
                                <m:ctrlPr>
                                  <a:rPr lang="en-US" altLang="zh-TW" sz="2000" b="1" i="1">
                                    <a:solidFill>
                                      <a:schemeClr val="accent1"/>
                                    </a:solidFill>
                                    <a:latin typeface="Cambria Math" panose="02040503050406030204" pitchFamily="18" charset="0"/>
                                    <a:ea typeface="Cambria Math" panose="02040503050406030204" pitchFamily="18" charset="0"/>
                                  </a:rPr>
                                </m:ctrlPr>
                              </m:naryPr>
                              <m:sub>
                                <m:r>
                                  <a:rPr lang="en-US" altLang="zh-TW" sz="2000" b="1" i="1">
                                    <a:solidFill>
                                      <a:schemeClr val="accent1"/>
                                    </a:solidFill>
                                    <a:latin typeface="Cambria Math" panose="02040503050406030204" pitchFamily="18" charset="0"/>
                                    <a:ea typeface="Cambria Math" panose="02040503050406030204" pitchFamily="18" charset="0"/>
                                  </a:rPr>
                                  <m:t>𝒊</m:t>
                                </m:r>
                                <m:r>
                                  <a:rPr lang="en-US" altLang="zh-TW" sz="2000" b="1" i="1">
                                    <a:solidFill>
                                      <a:schemeClr val="accent1"/>
                                    </a:solidFill>
                                    <a:latin typeface="Cambria Math" panose="02040503050406030204" pitchFamily="18" charset="0"/>
                                    <a:ea typeface="Cambria Math" panose="02040503050406030204" pitchFamily="18" charset="0"/>
                                  </a:rPr>
                                  <m:t>=</m:t>
                                </m:r>
                                <m:r>
                                  <a:rPr lang="en-US" altLang="zh-TW" sz="2000" b="1" i="1">
                                    <a:solidFill>
                                      <a:schemeClr val="accent1"/>
                                    </a:solidFill>
                                    <a:latin typeface="Cambria Math" panose="02040503050406030204" pitchFamily="18" charset="0"/>
                                    <a:ea typeface="Cambria Math" panose="02040503050406030204" pitchFamily="18" charset="0"/>
                                  </a:rPr>
                                  <m:t>𝟏</m:t>
                                </m:r>
                              </m:sub>
                              <m:sup>
                                <m:r>
                                  <a:rPr lang="en-US" altLang="zh-TW" sz="2000" b="1" i="1">
                                    <a:solidFill>
                                      <a:schemeClr val="accent1"/>
                                    </a:solidFill>
                                    <a:latin typeface="Cambria Math" panose="02040503050406030204" pitchFamily="18" charset="0"/>
                                    <a:ea typeface="Cambria Math" panose="02040503050406030204" pitchFamily="18" charset="0"/>
                                  </a:rPr>
                                  <m:t>𝒃</m:t>
                                </m:r>
                              </m:sup>
                              <m:e>
                                <m:sSub>
                                  <m:sSubPr>
                                    <m:ctrlPr>
                                      <a:rPr lang="en-US" altLang="zh-TW" sz="2000" b="1" i="1">
                                        <a:solidFill>
                                          <a:schemeClr val="accent1"/>
                                        </a:solidFill>
                                        <a:latin typeface="Cambria Math" panose="02040503050406030204" pitchFamily="18" charset="0"/>
                                        <a:ea typeface="Cambria Math" panose="02040503050406030204" pitchFamily="18" charset="0"/>
                                      </a:rPr>
                                    </m:ctrlPr>
                                  </m:sSubPr>
                                  <m:e>
                                    <m:r>
                                      <a:rPr lang="zh-TW" altLang="en-US" sz="2000" b="1" i="1">
                                        <a:solidFill>
                                          <a:schemeClr val="accent1"/>
                                        </a:solidFill>
                                        <a:latin typeface="Cambria Math" panose="02040503050406030204" pitchFamily="18" charset="0"/>
                                        <a:ea typeface="Cambria Math" panose="02040503050406030204" pitchFamily="18" charset="0"/>
                                      </a:rPr>
                                      <m:t>𝜽</m:t>
                                    </m:r>
                                  </m:e>
                                  <m:sub>
                                    <m:r>
                                      <a:rPr lang="en-US" altLang="zh-TW" sz="2000" b="1" i="1">
                                        <a:solidFill>
                                          <a:schemeClr val="accent1"/>
                                        </a:solidFill>
                                        <a:latin typeface="Cambria Math" panose="02040503050406030204" pitchFamily="18" charset="0"/>
                                        <a:ea typeface="Cambria Math" panose="02040503050406030204" pitchFamily="18" charset="0"/>
                                      </a:rPr>
                                      <m:t>𝒊</m:t>
                                    </m:r>
                                  </m:sub>
                                </m:sSub>
                              </m:e>
                            </m:nary>
                            <m:r>
                              <a:rPr lang="en-US" altLang="zh-TW" sz="2000" b="1" i="1">
                                <a:solidFill>
                                  <a:schemeClr val="accent1"/>
                                </a:solidFill>
                                <a:latin typeface="Cambria Math" panose="02040503050406030204" pitchFamily="18" charset="0"/>
                                <a:ea typeface="Cambria Math" panose="02040503050406030204" pitchFamily="18" charset="0"/>
                              </a:rPr>
                              <m:t>𝑩</m:t>
                            </m:r>
                          </m:e>
                          <m:sub>
                            <m:r>
                              <a:rPr lang="en-US" altLang="zh-TW" sz="2000" b="1" i="1" smtClean="0">
                                <a:solidFill>
                                  <a:schemeClr val="accent1"/>
                                </a:solidFill>
                                <a:latin typeface="Cambria Math" panose="02040503050406030204" pitchFamily="18" charset="0"/>
                                <a:ea typeface="Cambria Math" panose="02040503050406030204" pitchFamily="18" charset="0"/>
                              </a:rPr>
                              <m:t>𝒊</m:t>
                            </m:r>
                          </m:sub>
                        </m:sSub>
                        <m:d>
                          <m:dPr>
                            <m:ctrlPr>
                              <a:rPr lang="en-US" altLang="zh-TW" sz="2000" b="1" i="1" smtClean="0">
                                <a:solidFill>
                                  <a:schemeClr val="accent1"/>
                                </a:solidFill>
                                <a:latin typeface="Cambria Math" panose="02040503050406030204" pitchFamily="18" charset="0"/>
                                <a:ea typeface="Cambria Math" panose="02040503050406030204" pitchFamily="18" charset="0"/>
                              </a:rPr>
                            </m:ctrlPr>
                          </m:dPr>
                          <m:e>
                            <m:r>
                              <a:rPr lang="en-US" altLang="zh-TW" sz="2000" b="1" i="1" smtClean="0">
                                <a:solidFill>
                                  <a:schemeClr val="accent1"/>
                                </a:solidFill>
                                <a:latin typeface="Cambria Math" panose="02040503050406030204" pitchFamily="18" charset="0"/>
                                <a:ea typeface="Cambria Math" panose="02040503050406030204" pitchFamily="18" charset="0"/>
                              </a:rPr>
                              <m:t>𝒚</m:t>
                            </m:r>
                          </m:e>
                        </m:d>
                        <m:r>
                          <a:rPr lang="en-US" altLang="zh-TW" sz="2000" i="1" smtClean="0">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m:rPr>
                                <m:sty m:val="p"/>
                              </m:rPr>
                              <a:rPr lang="en-US" altLang="zh-TW" sz="2000" i="1">
                                <a:solidFill>
                                  <a:schemeClr val="tx2"/>
                                </a:solidFill>
                                <a:latin typeface="Cambria Math" panose="02040503050406030204" pitchFamily="18" charset="0"/>
                              </a:rPr>
                              <m:t>Q</m:t>
                            </m:r>
                          </m:sup>
                        </m:sSup>
                        <m:r>
                          <a:rPr lang="en-US" altLang="zh-TW" sz="2000" i="1">
                            <a:solidFill>
                              <a:schemeClr val="tx2"/>
                            </a:solidFill>
                            <a:latin typeface="Cambria Math" panose="02040503050406030204" pitchFamily="18" charset="0"/>
                          </a:rPr>
                          <m:t>(</m:t>
                        </m:r>
                        <m:r>
                          <a:rPr lang="en-US" altLang="zh-TW" sz="2000" i="1" smtClean="0">
                            <a:solidFill>
                              <a:schemeClr val="tx2"/>
                            </a:solidFill>
                            <a:latin typeface="Cambria Math" panose="02040503050406030204" pitchFamily="18" charset="0"/>
                          </a:rPr>
                          <m:t>𝑦</m:t>
                        </m:r>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ea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e>
                    </m:nary>
                    <m:r>
                      <a:rPr lang="en-US" altLang="zh-TW" sz="2000" i="1">
                        <a:solidFill>
                          <a:schemeClr val="tx2"/>
                        </a:solidFill>
                        <a:latin typeface="Cambria Math" panose="02040503050406030204" pitchFamily="18" charset="0"/>
                      </a:rPr>
                      <m:t>~</m:t>
                    </m:r>
                    <m:r>
                      <m:rPr>
                        <m:sty m:val="p"/>
                      </m:rPr>
                      <a:rPr lang="en-US" altLang="zh-TW" sz="2000" i="1" dirty="0">
                        <a:solidFill>
                          <a:schemeClr val="tx2"/>
                        </a:solidFill>
                        <a:latin typeface="Cambria Math" panose="02040503050406030204" pitchFamily="18" charset="0"/>
                      </a:rPr>
                      <m:t>U</m:t>
                    </m:r>
                    <m:d>
                      <m:dPr>
                        <m:begChr m:val="["/>
                        <m:endChr m:val="]"/>
                        <m:ctrlPr>
                          <a:rPr lang="en-US" altLang="zh-TW" sz="2000" i="1" dirty="0">
                            <a:solidFill>
                              <a:schemeClr val="tx2"/>
                            </a:solidFill>
                            <a:latin typeface="Cambria Math" panose="02040503050406030204" pitchFamily="18" charset="0"/>
                          </a:rPr>
                        </m:ctrlPr>
                      </m:dPr>
                      <m:e>
                        <m:r>
                          <a:rPr lang="en-US" altLang="zh-TW" sz="2000" i="1" dirty="0">
                            <a:solidFill>
                              <a:schemeClr val="tx2"/>
                            </a:solidFill>
                            <a:latin typeface="Cambria Math" panose="02040503050406030204" pitchFamily="18" charset="0"/>
                          </a:rPr>
                          <m:t>0,1</m:t>
                        </m:r>
                      </m:e>
                    </m:d>
                  </m:oMath>
                </a14:m>
                <a:endParaRPr lang="en-US" altLang="zh-TW" sz="2000" dirty="0"/>
              </a:p>
            </p:txBody>
          </p:sp>
        </mc:Choice>
        <mc:Fallback xmlns="">
          <p:sp>
            <p:nvSpPr>
              <p:cNvPr id="17" name="文字方塊 16">
                <a:extLst>
                  <a:ext uri="{FF2B5EF4-FFF2-40B4-BE49-F238E27FC236}">
                    <a16:creationId xmlns:a16="http://schemas.microsoft.com/office/drawing/2014/main" id="{4EE48CFB-F26B-A219-162E-F2946BE2048B}"/>
                  </a:ext>
                </a:extLst>
              </p:cNvPr>
              <p:cNvSpPr txBox="1">
                <a:spLocks noRot="1" noChangeAspect="1" noMove="1" noResize="1" noEditPoints="1" noAdjustHandles="1" noChangeArrowheads="1" noChangeShapeType="1" noTextEdit="1"/>
              </p:cNvSpPr>
              <p:nvPr/>
            </p:nvSpPr>
            <p:spPr>
              <a:xfrm>
                <a:off x="1309182" y="5290656"/>
                <a:ext cx="9573636" cy="1424172"/>
              </a:xfrm>
              <a:prstGeom prst="rect">
                <a:avLst/>
              </a:prstGeom>
              <a:blipFill>
                <a:blip r:embed="rId7"/>
                <a:stretch>
                  <a:fillRect b="-61538"/>
                </a:stretch>
              </a:blipFill>
            </p:spPr>
            <p:txBody>
              <a:bodyPr/>
              <a:lstStyle/>
              <a:p>
                <a:r>
                  <a:rPr lang="zh-TW" altLang="en-US">
                    <a:noFill/>
                  </a:rPr>
                  <a:t> </a:t>
                </a:r>
              </a:p>
            </p:txBody>
          </p:sp>
        </mc:Fallback>
      </mc:AlternateContent>
      <p:sp>
        <p:nvSpPr>
          <p:cNvPr id="21" name="文字版面配置區 2">
            <a:extLst>
              <a:ext uri="{FF2B5EF4-FFF2-40B4-BE49-F238E27FC236}">
                <a16:creationId xmlns:a16="http://schemas.microsoft.com/office/drawing/2014/main" id="{2ABCBFA4-C540-C08B-8157-A55A83848AC7}"/>
              </a:ext>
            </a:extLst>
          </p:cNvPr>
          <p:cNvSpPr>
            <a:spLocks noGrp="1"/>
          </p:cNvSpPr>
          <p:nvPr>
            <p:ph type="body" sz="quarter" idx="10"/>
          </p:nvPr>
        </p:nvSpPr>
        <p:spPr>
          <a:xfrm>
            <a:off x="2444620" y="207796"/>
            <a:ext cx="5840413" cy="436563"/>
          </a:xfrm>
        </p:spPr>
        <p:txBody>
          <a:bodyPr/>
          <a:lstStyle/>
          <a:p>
            <a:r>
              <a:rPr lang="zh-TW" altLang="en-US" dirty="0"/>
              <a:t>定價核估計</a:t>
            </a:r>
            <a:r>
              <a:rPr lang="en-US" altLang="zh-TW" dirty="0"/>
              <a:t>—CDI</a:t>
            </a:r>
            <a:r>
              <a:rPr lang="zh-TW" altLang="en-US" dirty="0"/>
              <a:t> 方法</a:t>
            </a:r>
            <a:endParaRPr lang="en-US" altLang="zh-TW" dirty="0"/>
          </a:p>
          <a:p>
            <a:endParaRPr lang="zh-TW" altLang="en-US" dirty="0"/>
          </a:p>
        </p:txBody>
      </p:sp>
      <p:sp>
        <p:nvSpPr>
          <p:cNvPr id="22" name="內容版面配置區 3">
            <a:extLst>
              <a:ext uri="{FF2B5EF4-FFF2-40B4-BE49-F238E27FC236}">
                <a16:creationId xmlns:a16="http://schemas.microsoft.com/office/drawing/2014/main" id="{B178817D-2595-15BC-11FE-64F2A9D593BD}"/>
              </a:ext>
            </a:extLst>
          </p:cNvPr>
          <p:cNvSpPr>
            <a:spLocks noGrp="1"/>
          </p:cNvSpPr>
          <p:nvPr>
            <p:ph sz="quarter" idx="11"/>
          </p:nvPr>
        </p:nvSpPr>
        <p:spPr>
          <a:xfrm>
            <a:off x="1268268" y="200314"/>
            <a:ext cx="1176352" cy="436564"/>
          </a:xfrm>
        </p:spPr>
        <p:txBody>
          <a:bodyPr/>
          <a:lstStyle/>
          <a:p>
            <a:r>
              <a:rPr lang="en-US" altLang="zh-TW" dirty="0"/>
              <a:t>2.1.1</a:t>
            </a:r>
            <a:endParaRPr lang="zh-TW" altLang="en-US" dirty="0"/>
          </a:p>
        </p:txBody>
      </p:sp>
    </p:spTree>
    <p:extLst>
      <p:ext uri="{BB962C8B-B14F-4D97-AF65-F5344CB8AC3E}">
        <p14:creationId xmlns:p14="http://schemas.microsoft.com/office/powerpoint/2010/main" val="1081033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70D2BF0-1F9D-C8A9-0498-98490504A8C3}"/>
                  </a:ext>
                </a:extLst>
              </p:cNvPr>
              <p:cNvSpPr txBox="1"/>
              <p:nvPr/>
            </p:nvSpPr>
            <p:spPr>
              <a:xfrm>
                <a:off x="115740" y="418596"/>
                <a:ext cx="12132244" cy="5939318"/>
              </a:xfrm>
              <a:prstGeom prst="rect">
                <a:avLst/>
              </a:prstGeom>
              <a:noFill/>
            </p:spPr>
            <p:txBody>
              <a:bodyPr wrap="square" rtlCol="0">
                <a:spAutoFit/>
              </a:bodyPr>
              <a:lstStyle/>
              <a:p>
                <a:pPr>
                  <a:lnSpc>
                    <a:spcPct val="150000"/>
                  </a:lnSpc>
                </a:pPr>
                <a14:m>
                  <m:oMathPara xmlns:m="http://schemas.openxmlformats.org/officeDocument/2006/math">
                    <m:oMathParaPr>
                      <m:jc m:val="left"/>
                    </m:oMathParaPr>
                    <m:oMath xmlns:m="http://schemas.openxmlformats.org/officeDocument/2006/math">
                      <m:nary>
                        <m:naryPr>
                          <m:ctrlPr>
                            <a:rPr lang="zh-TW" altLang="en-US" sz="2000" i="1" smtClean="0">
                              <a:solidFill>
                                <a:srgbClr val="44546A"/>
                              </a:solidFill>
                              <a:latin typeface="Cambria Math" panose="02040503050406030204" pitchFamily="18" charset="0"/>
                            </a:rPr>
                          </m:ctrlPr>
                        </m:naryPr>
                        <m:sub>
                          <m:r>
                            <m:rPr>
                              <m:brk m:alnAt="23"/>
                            </m:rPr>
                            <a:rPr lang="en-US" altLang="zh-TW" sz="2000" i="1">
                              <a:solidFill>
                                <a:srgbClr val="44546A"/>
                              </a:solidFill>
                              <a:latin typeface="Cambria Math" panose="02040503050406030204" pitchFamily="18" charset="0"/>
                            </a:rPr>
                            <m:t>−</m:t>
                          </m:r>
                          <m:r>
                            <a:rPr lang="en-US" altLang="zh-TW" sz="2000" i="1">
                              <a:solidFill>
                                <a:srgbClr val="44546A"/>
                              </a:solidFill>
                              <a:latin typeface="Cambria Math" panose="02040503050406030204" pitchFamily="18" charset="0"/>
                              <a:ea typeface="Cambria Math" panose="02040503050406030204" pitchFamily="18" charset="0"/>
                            </a:rPr>
                            <m:t>∞</m:t>
                          </m:r>
                        </m:sub>
                        <m:sup>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𝑥</m:t>
                              </m:r>
                            </m:e>
                            <m:sub>
                              <m:r>
                                <a:rPr lang="en-US" altLang="zh-TW" sz="2000" i="1">
                                  <a:solidFill>
                                    <a:schemeClr val="tx2"/>
                                  </a:solidFill>
                                  <a:latin typeface="Cambria Math" panose="02040503050406030204" pitchFamily="18" charset="0"/>
                                </a:rPr>
                                <m:t>𝑡</m:t>
                              </m:r>
                              <m:r>
                                <a:rPr lang="en-US" altLang="zh-TW" sz="2000" i="1">
                                  <a:solidFill>
                                    <a:schemeClr val="tx2"/>
                                  </a:solidFill>
                                  <a:latin typeface="Cambria Math" panose="02040503050406030204" pitchFamily="18" charset="0"/>
                                </a:rPr>
                                <m:t>+</m:t>
                              </m:r>
                              <m:r>
                                <a:rPr lang="zh-TW" altLang="en-US" sz="2000" i="1">
                                  <a:solidFill>
                                    <a:schemeClr val="tx2"/>
                                  </a:solidFill>
                                  <a:latin typeface="Cambria Math" panose="02040503050406030204" pitchFamily="18" charset="0"/>
                                </a:rPr>
                                <m:t>𝝉</m:t>
                              </m:r>
                            </m:sub>
                          </m:sSub>
                        </m:sup>
                        <m:e>
                          <m:nary>
                            <m:naryPr>
                              <m:chr m:val="∑"/>
                              <m:ctrlPr>
                                <a:rPr lang="en-US" altLang="zh-TW" sz="2000" b="1" i="1">
                                  <a:solidFill>
                                    <a:srgbClr val="BA8D2D"/>
                                  </a:solidFill>
                                  <a:latin typeface="Cambria Math" panose="02040503050406030204" pitchFamily="18" charset="0"/>
                                  <a:ea typeface="Cambria Math" panose="02040503050406030204" pitchFamily="18" charset="0"/>
                                </a:rPr>
                              </m:ctrlPr>
                            </m:naryPr>
                            <m:sub>
                              <m:r>
                                <a:rPr lang="en-US" altLang="zh-TW" sz="2000" b="1" i="1">
                                  <a:solidFill>
                                    <a:srgbClr val="BA8D2D"/>
                                  </a:solidFill>
                                  <a:latin typeface="Cambria Math" panose="02040503050406030204" pitchFamily="18" charset="0"/>
                                  <a:ea typeface="Cambria Math" panose="02040503050406030204" pitchFamily="18" charset="0"/>
                                </a:rPr>
                                <m:t>𝒊</m:t>
                              </m:r>
                              <m:r>
                                <a:rPr lang="en-US" altLang="zh-TW" sz="2000" b="1" i="1">
                                  <a:solidFill>
                                    <a:srgbClr val="BA8D2D"/>
                                  </a:solidFill>
                                  <a:latin typeface="Cambria Math" panose="02040503050406030204" pitchFamily="18" charset="0"/>
                                  <a:ea typeface="Cambria Math" panose="02040503050406030204" pitchFamily="18" charset="0"/>
                                </a:rPr>
                                <m:t>=</m:t>
                              </m:r>
                              <m:r>
                                <a:rPr lang="en-US" altLang="zh-TW" sz="2000" b="1" i="1">
                                  <a:solidFill>
                                    <a:srgbClr val="BA8D2D"/>
                                  </a:solidFill>
                                  <a:latin typeface="Cambria Math" panose="02040503050406030204" pitchFamily="18" charset="0"/>
                                  <a:ea typeface="Cambria Math" panose="02040503050406030204" pitchFamily="18" charset="0"/>
                                </a:rPr>
                                <m:t>𝟏</m:t>
                              </m:r>
                            </m:sub>
                            <m:sup>
                              <m:r>
                                <a:rPr lang="en-US" altLang="zh-TW" sz="2000" b="1" i="1">
                                  <a:solidFill>
                                    <a:srgbClr val="BA8D2D"/>
                                  </a:solidFill>
                                  <a:latin typeface="Cambria Math" panose="02040503050406030204" pitchFamily="18" charset="0"/>
                                  <a:ea typeface="Cambria Math" panose="02040503050406030204" pitchFamily="18" charset="0"/>
                                </a:rPr>
                                <m:t>𝒃</m:t>
                              </m:r>
                            </m:sup>
                            <m:e>
                              <m:sSub>
                                <m:sSubPr>
                                  <m:ctrlPr>
                                    <a:rPr lang="en-US" altLang="zh-TW" sz="2000" b="1" i="1">
                                      <a:solidFill>
                                        <a:srgbClr val="BA8D2D"/>
                                      </a:solidFill>
                                      <a:latin typeface="Cambria Math" panose="02040503050406030204" pitchFamily="18" charset="0"/>
                                      <a:ea typeface="Cambria Math" panose="02040503050406030204" pitchFamily="18" charset="0"/>
                                    </a:rPr>
                                  </m:ctrlPr>
                                </m:sSubPr>
                                <m:e>
                                  <m:r>
                                    <a:rPr lang="zh-TW" altLang="en-US" sz="2000" b="1" i="1">
                                      <a:solidFill>
                                        <a:srgbClr val="BA8D2D"/>
                                      </a:solidFill>
                                      <a:latin typeface="Cambria Math" panose="02040503050406030204" pitchFamily="18" charset="0"/>
                                      <a:ea typeface="Cambria Math" panose="02040503050406030204" pitchFamily="18" charset="0"/>
                                    </a:rPr>
                                    <m:t>𝜽</m:t>
                                  </m:r>
                                </m:e>
                                <m:sub>
                                  <m:r>
                                    <a:rPr lang="en-US" altLang="zh-TW" sz="2000" b="1" i="1">
                                      <a:solidFill>
                                        <a:srgbClr val="BA8D2D"/>
                                      </a:solidFill>
                                      <a:latin typeface="Cambria Math" panose="02040503050406030204" pitchFamily="18" charset="0"/>
                                      <a:ea typeface="Cambria Math" panose="02040503050406030204" pitchFamily="18" charset="0"/>
                                    </a:rPr>
                                    <m:t>𝒊</m:t>
                                  </m:r>
                                </m:sub>
                              </m:sSub>
                            </m:e>
                          </m:nary>
                          <m:sSub>
                            <m:sSubPr>
                              <m:ctrlPr>
                                <a:rPr lang="en-US" altLang="zh-TW" sz="2000" b="1" i="1">
                                  <a:solidFill>
                                    <a:srgbClr val="BA8D2D"/>
                                  </a:solidFill>
                                  <a:latin typeface="Cambria Math" panose="02040503050406030204" pitchFamily="18" charset="0"/>
                                  <a:ea typeface="Cambria Math" panose="02040503050406030204" pitchFamily="18" charset="0"/>
                                </a:rPr>
                              </m:ctrlPr>
                            </m:sSubPr>
                            <m:e>
                              <m:r>
                                <a:rPr lang="en-US" altLang="zh-TW" sz="2000" b="1" i="1">
                                  <a:solidFill>
                                    <a:srgbClr val="BA8D2D"/>
                                  </a:solidFill>
                                  <a:latin typeface="Cambria Math" panose="02040503050406030204" pitchFamily="18" charset="0"/>
                                  <a:ea typeface="Cambria Math" panose="02040503050406030204" pitchFamily="18" charset="0"/>
                                </a:rPr>
                                <m:t>𝑩</m:t>
                              </m:r>
                            </m:e>
                            <m:sub>
                              <m:r>
                                <a:rPr lang="en-US" altLang="zh-TW" sz="2000" b="1" i="1" smtClean="0">
                                  <a:solidFill>
                                    <a:srgbClr val="BA8D2D"/>
                                  </a:solidFill>
                                  <a:latin typeface="Cambria Math" panose="02040503050406030204" pitchFamily="18" charset="0"/>
                                  <a:ea typeface="Cambria Math" panose="02040503050406030204" pitchFamily="18" charset="0"/>
                                </a:rPr>
                                <m:t>𝒊</m:t>
                              </m:r>
                            </m:sub>
                          </m:sSub>
                          <m:d>
                            <m:dPr>
                              <m:ctrlPr>
                                <a:rPr lang="en-US" altLang="zh-TW" sz="2000" b="1" i="1">
                                  <a:solidFill>
                                    <a:srgbClr val="BA8D2D"/>
                                  </a:solidFill>
                                  <a:latin typeface="Cambria Math" panose="02040503050406030204" pitchFamily="18" charset="0"/>
                                  <a:ea typeface="Cambria Math" panose="02040503050406030204" pitchFamily="18" charset="0"/>
                                </a:rPr>
                              </m:ctrlPr>
                            </m:dPr>
                            <m:e>
                              <m:r>
                                <a:rPr lang="en-US" altLang="zh-TW" sz="2000" b="1" i="1" smtClean="0">
                                  <a:solidFill>
                                    <a:srgbClr val="BA8D2D"/>
                                  </a:solidFill>
                                  <a:latin typeface="Cambria Math" panose="02040503050406030204" pitchFamily="18" charset="0"/>
                                  <a:ea typeface="Cambria Math" panose="02040503050406030204" pitchFamily="18" charset="0"/>
                                </a:rPr>
                                <m:t>𝒚</m:t>
                              </m:r>
                            </m:e>
                          </m:d>
                          <m:r>
                            <a:rPr lang="en-US" altLang="zh-TW" sz="2000" i="1" smtClean="0">
                              <a:solidFill>
                                <a:schemeClr val="tx2"/>
                              </a:solidFill>
                              <a:latin typeface="Cambria Math" panose="02040503050406030204" pitchFamily="18" charset="0"/>
                            </a:rPr>
                            <m:t>𝑑</m:t>
                          </m:r>
                          <m:sSup>
                            <m:sSupPr>
                              <m:ctrlPr>
                                <a:rPr lang="en-US" altLang="zh-TW" sz="2000" i="1">
                                  <a:solidFill>
                                    <a:srgbClr val="44546A"/>
                                  </a:solidFill>
                                  <a:latin typeface="Cambria Math" panose="02040503050406030204" pitchFamily="18" charset="0"/>
                                </a:rPr>
                              </m:ctrlPr>
                            </m:sSupPr>
                            <m:e>
                              <m:r>
                                <a:rPr lang="zh-TW" altLang="en-US" sz="2000" i="1">
                                  <a:solidFill>
                                    <a:srgbClr val="44546A"/>
                                  </a:solidFill>
                                  <a:latin typeface="Cambria Math" panose="02040503050406030204" pitchFamily="18" charset="0"/>
                                </a:rPr>
                                <m:t>𝔽</m:t>
                              </m:r>
                            </m:e>
                            <m:sup>
                              <m:r>
                                <m:rPr>
                                  <m:sty m:val="p"/>
                                </m:rPr>
                                <a:rPr lang="en-US" altLang="zh-TW" sz="2000" i="1">
                                  <a:solidFill>
                                    <a:srgbClr val="44546A"/>
                                  </a:solidFill>
                                  <a:latin typeface="Cambria Math" panose="02040503050406030204" pitchFamily="18" charset="0"/>
                                </a:rPr>
                                <m:t>Q</m:t>
                              </m:r>
                            </m:sup>
                          </m:sSup>
                          <m:r>
                            <a:rPr lang="en-US" altLang="zh-TW" sz="2000" i="1">
                              <a:solidFill>
                                <a:srgbClr val="44546A"/>
                              </a:solidFill>
                              <a:latin typeface="Cambria Math" panose="02040503050406030204" pitchFamily="18" charset="0"/>
                            </a:rPr>
                            <m:t>(</m:t>
                          </m:r>
                          <m:r>
                            <a:rPr lang="en-US" altLang="zh-TW" sz="2000" i="1" smtClean="0">
                              <a:solidFill>
                                <a:srgbClr val="44546A"/>
                              </a:solidFill>
                              <a:latin typeface="Cambria Math" panose="02040503050406030204" pitchFamily="18" charset="0"/>
                            </a:rPr>
                            <m:t>𝑦</m:t>
                          </m:r>
                          <m:r>
                            <a:rPr lang="en-US" altLang="zh-TW" sz="2000" i="1">
                              <a:solidFill>
                                <a:srgbClr val="44546A"/>
                              </a:solidFill>
                              <a:latin typeface="Cambria Math" panose="02040503050406030204" pitchFamily="18" charset="0"/>
                            </a:rPr>
                            <m:t>|</m:t>
                          </m:r>
                          <m:sSub>
                            <m:sSubPr>
                              <m:ctrlPr>
                                <a:rPr lang="en-US" altLang="zh-TW" sz="2000" i="1">
                                  <a:solidFill>
                                    <a:srgbClr val="44546A"/>
                                  </a:solidFill>
                                  <a:latin typeface="Cambria Math" panose="02040503050406030204" pitchFamily="18" charset="0"/>
                                </a:rPr>
                              </m:ctrlPr>
                            </m:sSubPr>
                            <m:e>
                              <m:r>
                                <a:rPr lang="en-US" altLang="zh-TW" sz="2000" i="1">
                                  <a:solidFill>
                                    <a:srgbClr val="44546A"/>
                                  </a:solidFill>
                                  <a:latin typeface="Cambria Math" panose="02040503050406030204" pitchFamily="18" charset="0"/>
                                  <a:ea typeface="Cambria Math" panose="02040503050406030204" pitchFamily="18" charset="0"/>
                                </a:rPr>
                                <m:t>ℱ</m:t>
                              </m:r>
                            </m:e>
                            <m:sub>
                              <m:r>
                                <a:rPr lang="en-US" altLang="zh-TW" sz="2000" i="1">
                                  <a:solidFill>
                                    <a:srgbClr val="44546A"/>
                                  </a:solidFill>
                                  <a:latin typeface="Cambria Math" panose="02040503050406030204" pitchFamily="18" charset="0"/>
                                </a:rPr>
                                <m:t>𝑡</m:t>
                              </m:r>
                            </m:sub>
                          </m:sSub>
                          <m:r>
                            <a:rPr lang="en-US" altLang="zh-TW" sz="2000" i="1">
                              <a:solidFill>
                                <a:srgbClr val="44546A"/>
                              </a:solidFill>
                              <a:latin typeface="Cambria Math" panose="02040503050406030204" pitchFamily="18" charset="0"/>
                            </a:rPr>
                            <m:t>)</m:t>
                          </m:r>
                        </m:e>
                      </m:nary>
                      <m:r>
                        <a:rPr lang="en-US" altLang="zh-TW" sz="2000" i="1">
                          <a:solidFill>
                            <a:srgbClr val="44546A"/>
                          </a:solidFill>
                          <a:latin typeface="Cambria Math" panose="02040503050406030204" pitchFamily="18" charset="0"/>
                        </a:rPr>
                        <m:t>~</m:t>
                      </m:r>
                      <m:r>
                        <m:rPr>
                          <m:sty m:val="p"/>
                        </m:rPr>
                        <a:rPr lang="en-US" altLang="zh-TW" sz="2000" i="1" dirty="0">
                          <a:solidFill>
                            <a:srgbClr val="44546A"/>
                          </a:solidFill>
                          <a:latin typeface="Cambria Math" panose="02040503050406030204" pitchFamily="18" charset="0"/>
                        </a:rPr>
                        <m:t>U</m:t>
                      </m:r>
                      <m:d>
                        <m:dPr>
                          <m:begChr m:val="["/>
                          <m:endChr m:val="]"/>
                          <m:ctrlPr>
                            <a:rPr lang="en-US" altLang="zh-TW" sz="2000" i="1" dirty="0">
                              <a:solidFill>
                                <a:srgbClr val="44546A"/>
                              </a:solidFill>
                              <a:latin typeface="Cambria Math" panose="02040503050406030204" pitchFamily="18" charset="0"/>
                            </a:rPr>
                          </m:ctrlPr>
                        </m:dPr>
                        <m:e>
                          <m:r>
                            <a:rPr lang="en-US" altLang="zh-TW" sz="2000" i="1" dirty="0">
                              <a:solidFill>
                                <a:srgbClr val="44546A"/>
                              </a:solidFill>
                              <a:latin typeface="Cambria Math" panose="02040503050406030204" pitchFamily="18" charset="0"/>
                            </a:rPr>
                            <m:t>0,1</m:t>
                          </m:r>
                        </m:e>
                      </m:d>
                    </m:oMath>
                  </m:oMathPara>
                </a14:m>
                <a:endParaRPr lang="en-US" altLang="zh-TW" sz="2000" dirty="0">
                  <a:solidFill>
                    <a:schemeClr val="tx2"/>
                  </a:solidFill>
                </a:endParaRPr>
              </a:p>
              <a:p>
                <a:pPr>
                  <a:lnSpc>
                    <a:spcPct val="150000"/>
                  </a:lnSpc>
                </a:pPr>
                <a:r>
                  <a:rPr lang="zh-TW" altLang="en-US" sz="2000" dirty="0">
                    <a:solidFill>
                      <a:schemeClr val="tx2"/>
                    </a:solidFill>
                  </a:rPr>
                  <a:t>利用</a:t>
                </a:r>
                <a:r>
                  <a:rPr lang="en-US" altLang="zh-TW" sz="2000" dirty="0">
                    <a:solidFill>
                      <a:schemeClr val="tx2"/>
                    </a:solidFill>
                  </a:rPr>
                  <a:t>Uniform</a:t>
                </a:r>
                <a:r>
                  <a:rPr lang="zh-TW" altLang="en-US" sz="2000" dirty="0">
                    <a:solidFill>
                      <a:schemeClr val="tx2"/>
                    </a:solidFill>
                  </a:rPr>
                  <a:t>分配特性：在</a:t>
                </a:r>
                <a:r>
                  <a:rPr lang="en-US" altLang="zh-TW" sz="2000" dirty="0">
                    <a:solidFill>
                      <a:schemeClr val="tx2"/>
                    </a:solidFill>
                  </a:rPr>
                  <a:t>[0,1]</a:t>
                </a:r>
                <a:r>
                  <a:rPr lang="zh-TW" altLang="en-US" sz="2000" dirty="0">
                    <a:solidFill>
                      <a:schemeClr val="tx2"/>
                    </a:solidFill>
                  </a:rPr>
                  <a:t>上的第</a:t>
                </a:r>
                <a:r>
                  <a:rPr lang="en-US" altLang="zh-TW" sz="2000" dirty="0">
                    <a:solidFill>
                      <a:schemeClr val="tx2"/>
                    </a:solidFill>
                  </a:rPr>
                  <a:t>j</a:t>
                </a:r>
                <a:r>
                  <a:rPr lang="zh-TW" altLang="en-US" sz="2000" dirty="0">
                    <a:solidFill>
                      <a:schemeClr val="tx2"/>
                    </a:solidFill>
                  </a:rPr>
                  <a:t>階原動差為</a:t>
                </a:r>
                <a14:m>
                  <m:oMath xmlns:m="http://schemas.openxmlformats.org/officeDocument/2006/math">
                    <m:f>
                      <m:fPr>
                        <m:ctrlPr>
                          <a:rPr lang="en-US" altLang="zh-TW" sz="2000" i="1" smtClean="0">
                            <a:solidFill>
                              <a:schemeClr val="tx2"/>
                            </a:solidFill>
                            <a:latin typeface="Cambria Math" panose="02040503050406030204" pitchFamily="18" charset="0"/>
                          </a:rPr>
                        </m:ctrlPr>
                      </m:fPr>
                      <m:num>
                        <m:r>
                          <a:rPr lang="en-US" altLang="zh-TW" sz="2000" b="0" i="1" smtClean="0">
                            <a:solidFill>
                              <a:schemeClr val="tx2"/>
                            </a:solidFill>
                            <a:latin typeface="Cambria Math" panose="02040503050406030204" pitchFamily="18" charset="0"/>
                          </a:rPr>
                          <m:t>1</m:t>
                        </m:r>
                      </m:num>
                      <m:den>
                        <m:r>
                          <a:rPr lang="en-US" altLang="zh-TW" sz="2000" b="0" i="1" smtClean="0">
                            <a:solidFill>
                              <a:schemeClr val="tx2"/>
                            </a:solidFill>
                            <a:latin typeface="Cambria Math" panose="02040503050406030204" pitchFamily="18" charset="0"/>
                          </a:rPr>
                          <m:t>𝑗</m:t>
                        </m:r>
                        <m:r>
                          <a:rPr lang="en-US" altLang="zh-TW" sz="2000" b="0" i="1" smtClean="0">
                            <a:solidFill>
                              <a:schemeClr val="tx2"/>
                            </a:solidFill>
                            <a:latin typeface="Cambria Math" panose="02040503050406030204" pitchFamily="18" charset="0"/>
                          </a:rPr>
                          <m:t>+1</m:t>
                        </m:r>
                      </m:den>
                    </m:f>
                    <m:r>
                      <a:rPr lang="zh-TW" altLang="en-US" sz="2000" i="1">
                        <a:solidFill>
                          <a:schemeClr val="tx2"/>
                        </a:solidFill>
                        <a:latin typeface="Cambria Math" panose="02040503050406030204" pitchFamily="18" charset="0"/>
                      </a:rPr>
                      <m:t> </m:t>
                    </m:r>
                  </m:oMath>
                </a14:m>
                <a:r>
                  <a:rPr lang="zh-TW" altLang="en-US" sz="2000" dirty="0">
                    <a:solidFill>
                      <a:schemeClr val="tx2"/>
                    </a:solidFill>
                  </a:rPr>
                  <a:t> →  </a:t>
                </a:r>
                <a14:m>
                  <m:oMath xmlns:m="http://schemas.openxmlformats.org/officeDocument/2006/math">
                    <m:r>
                      <a:rPr lang="en-US" altLang="zh-TW" sz="2000" b="0" i="1" dirty="0" smtClean="0">
                        <a:solidFill>
                          <a:schemeClr val="tx2"/>
                        </a:solidFill>
                        <a:latin typeface="Cambria Math" panose="02040503050406030204" pitchFamily="18" charset="0"/>
                      </a:rPr>
                      <m:t>𝐸</m:t>
                    </m:r>
                    <m:d>
                      <m:dPr>
                        <m:begChr m:val="["/>
                        <m:endChr m:val="]"/>
                        <m:ctrlPr>
                          <a:rPr lang="en-US" altLang="zh-TW" sz="2000" b="0" i="1" dirty="0" smtClean="0">
                            <a:solidFill>
                              <a:schemeClr val="tx2"/>
                            </a:solidFill>
                            <a:latin typeface="Cambria Math" panose="02040503050406030204" pitchFamily="18" charset="0"/>
                          </a:rPr>
                        </m:ctrlPr>
                      </m:dPr>
                      <m:e>
                        <m:sSup>
                          <m:sSupPr>
                            <m:ctrlPr>
                              <a:rPr lang="en-US" altLang="zh-TW" sz="2000" b="0" i="1" dirty="0" smtClean="0">
                                <a:solidFill>
                                  <a:schemeClr val="tx2"/>
                                </a:solidFill>
                                <a:latin typeface="Cambria Math" panose="02040503050406030204" pitchFamily="18" charset="0"/>
                              </a:rPr>
                            </m:ctrlPr>
                          </m:sSupPr>
                          <m:e>
                            <m:r>
                              <a:rPr lang="en-US" altLang="zh-TW" sz="2000" b="0" i="1" dirty="0" smtClean="0">
                                <a:solidFill>
                                  <a:schemeClr val="tx2"/>
                                </a:solidFill>
                                <a:latin typeface="Cambria Math" panose="02040503050406030204" pitchFamily="18" charset="0"/>
                              </a:rPr>
                              <m:t>𝑥</m:t>
                            </m:r>
                          </m:e>
                          <m:sup>
                            <m:r>
                              <a:rPr lang="en-US" altLang="zh-TW" sz="2000" b="0" i="1" dirty="0" smtClean="0">
                                <a:solidFill>
                                  <a:schemeClr val="tx2"/>
                                </a:solidFill>
                                <a:latin typeface="Cambria Math" panose="02040503050406030204" pitchFamily="18" charset="0"/>
                              </a:rPr>
                              <m:t>𝑗</m:t>
                            </m:r>
                          </m:sup>
                        </m:sSup>
                      </m:e>
                    </m:d>
                    <m:r>
                      <a:rPr lang="en-US" altLang="zh-TW" sz="2000" b="0" i="1" dirty="0" smtClean="0">
                        <a:solidFill>
                          <a:schemeClr val="tx2"/>
                        </a:solidFill>
                        <a:latin typeface="Cambria Math" panose="02040503050406030204" pitchFamily="18" charset="0"/>
                      </a:rPr>
                      <m:t>=</m:t>
                    </m:r>
                    <m:f>
                      <m:fPr>
                        <m:ctrlPr>
                          <a:rPr lang="en-US" altLang="zh-TW" sz="2000" i="1">
                            <a:solidFill>
                              <a:schemeClr val="tx2"/>
                            </a:solidFill>
                            <a:latin typeface="Cambria Math" panose="02040503050406030204" pitchFamily="18" charset="0"/>
                          </a:rPr>
                        </m:ctrlPr>
                      </m:fPr>
                      <m:num>
                        <m:r>
                          <a:rPr lang="en-US" altLang="zh-TW" sz="2000" i="1">
                            <a:solidFill>
                              <a:schemeClr val="tx2"/>
                            </a:solidFill>
                            <a:latin typeface="Cambria Math" panose="02040503050406030204" pitchFamily="18" charset="0"/>
                          </a:rPr>
                          <m:t>1</m:t>
                        </m:r>
                      </m:num>
                      <m:den>
                        <m:r>
                          <a:rPr lang="en-US" altLang="zh-TW" sz="2000" b="0" i="1" smtClean="0">
                            <a:solidFill>
                              <a:schemeClr val="tx2"/>
                            </a:solidFill>
                            <a:latin typeface="Cambria Math" panose="02040503050406030204" pitchFamily="18" charset="0"/>
                          </a:rPr>
                          <m:t>𝑗</m:t>
                        </m:r>
                        <m:r>
                          <a:rPr lang="en-US" altLang="zh-TW" sz="2000" i="1">
                            <a:solidFill>
                              <a:schemeClr val="tx2"/>
                            </a:solidFill>
                            <a:latin typeface="Cambria Math" panose="02040503050406030204" pitchFamily="18" charset="0"/>
                          </a:rPr>
                          <m:t>+1</m:t>
                        </m:r>
                      </m:den>
                    </m:f>
                  </m:oMath>
                </a14:m>
                <a:endParaRPr lang="en-US" altLang="zh-TW" sz="2000" dirty="0">
                  <a:solidFill>
                    <a:schemeClr val="tx2"/>
                  </a:solidFill>
                </a:endParaRPr>
              </a:p>
              <a:p>
                <a:pPr>
                  <a:lnSpc>
                    <a:spcPct val="150000"/>
                  </a:lnSpc>
                </a:pPr>
                <a:r>
                  <a:rPr lang="zh-TW" altLang="en-US" sz="2000" dirty="0">
                    <a:solidFill>
                      <a:schemeClr val="tx2"/>
                    </a:solidFill>
                    <a:latin typeface="+mn-lt"/>
                  </a:rPr>
                  <a:t>利用</a:t>
                </a:r>
                <a:r>
                  <a:rPr lang="en-US" altLang="zh-TW" sz="2000" dirty="0">
                    <a:solidFill>
                      <a:schemeClr val="tx2"/>
                    </a:solidFill>
                    <a:latin typeface="+mn-lt"/>
                  </a:rPr>
                  <a:t>GMM</a:t>
                </a:r>
                <a:r>
                  <a:rPr lang="zh-TW" altLang="en-US" sz="2000" dirty="0">
                    <a:solidFill>
                      <a:schemeClr val="tx2"/>
                    </a:solidFill>
                    <a:latin typeface="+mn-lt"/>
                  </a:rPr>
                  <a:t> </a:t>
                </a:r>
                <a:r>
                  <a:rPr lang="en-US" altLang="zh-TW" sz="2000" dirty="0">
                    <a:solidFill>
                      <a:schemeClr val="tx2"/>
                    </a:solidFill>
                    <a:latin typeface="+mn-lt"/>
                  </a:rPr>
                  <a:t>optimization</a:t>
                </a:r>
                <a:r>
                  <a:rPr lang="zh-TW" altLang="en-US" sz="2000" dirty="0">
                    <a:solidFill>
                      <a:schemeClr val="tx2"/>
                    </a:solidFill>
                    <a:latin typeface="+mn-lt"/>
                  </a:rPr>
                  <a:t>可估計</a:t>
                </a:r>
                <a14:m>
                  <m:oMath xmlns:m="http://schemas.openxmlformats.org/officeDocument/2006/math">
                    <m:acc>
                      <m:accPr>
                        <m:chr m:val="̂"/>
                        <m:ctrlPr>
                          <a:rPr lang="en-US" altLang="zh-TW" sz="2000" i="1" smtClean="0">
                            <a:solidFill>
                              <a:schemeClr val="tx2"/>
                            </a:solidFill>
                            <a:latin typeface="Cambria Math" panose="02040503050406030204" pitchFamily="18" charset="0"/>
                          </a:rPr>
                        </m:ctrlPr>
                      </m:accPr>
                      <m:e>
                        <m:r>
                          <a:rPr lang="zh-TW" altLang="en-US" sz="2000" i="1" smtClean="0">
                            <a:solidFill>
                              <a:schemeClr val="tx2"/>
                            </a:solidFill>
                            <a:latin typeface="Cambria Math" panose="02040503050406030204" pitchFamily="18" charset="0"/>
                          </a:rPr>
                          <m:t>𝜃</m:t>
                        </m:r>
                      </m:e>
                    </m:acc>
                    <m:r>
                      <a:rPr lang="en-US" altLang="zh-TW" sz="2000" i="1">
                        <a:solidFill>
                          <a:schemeClr val="tx2"/>
                        </a:solidFill>
                        <a:latin typeface="Cambria Math" panose="02040503050406030204" pitchFamily="18" charset="0"/>
                      </a:rPr>
                      <m:t>=</m:t>
                    </m:r>
                    <m:m>
                      <m:mPr>
                        <m:mcs>
                          <m:mc>
                            <m:mcPr>
                              <m:count m:val="1"/>
                              <m:mcJc m:val="center"/>
                            </m:mcPr>
                          </m:mc>
                        </m:mcs>
                        <m:ctrlPr>
                          <a:rPr lang="en-US" altLang="zh-TW" sz="2000" i="1" smtClean="0">
                            <a:solidFill>
                              <a:schemeClr val="tx2"/>
                            </a:solidFill>
                            <a:latin typeface="Cambria Math" panose="02040503050406030204" pitchFamily="18" charset="0"/>
                          </a:rPr>
                        </m:ctrlPr>
                      </m:mPr>
                      <m:mr>
                        <m:e>
                          <m:r>
                            <m:rPr>
                              <m:brk m:alnAt="7"/>
                            </m:rPr>
                            <a:rPr lang="en-US" altLang="zh-TW" sz="2000" b="0" i="1" smtClean="0">
                              <a:solidFill>
                                <a:schemeClr val="tx2"/>
                              </a:solidFill>
                              <a:latin typeface="Cambria Math" panose="02040503050406030204" pitchFamily="18" charset="0"/>
                            </a:rPr>
                            <m:t>𝑎</m:t>
                          </m:r>
                          <m:r>
                            <a:rPr lang="en-US" altLang="zh-TW" sz="2000" b="0" i="1" smtClean="0">
                              <a:solidFill>
                                <a:schemeClr val="tx2"/>
                              </a:solidFill>
                              <a:latin typeface="Cambria Math" panose="02040503050406030204" pitchFamily="18" charset="0"/>
                            </a:rPr>
                            <m:t>𝑟𝑔𝑚𝑖𝑛</m:t>
                          </m:r>
                        </m:e>
                      </m:mr>
                      <m:mr>
                        <m:e>
                          <m:r>
                            <a:rPr lang="zh-TW" altLang="en-US" sz="2000" i="1" smtClean="0">
                              <a:solidFill>
                                <a:schemeClr val="tx2"/>
                              </a:solidFill>
                              <a:latin typeface="Cambria Math" panose="02040503050406030204" pitchFamily="18" charset="0"/>
                            </a:rPr>
                            <m:t>𝜃</m:t>
                          </m:r>
                          <m:r>
                            <a:rPr lang="zh-TW" altLang="en-US" sz="2000" i="1" smtClean="0">
                              <a:solidFill>
                                <a:schemeClr val="tx2"/>
                              </a:solidFill>
                              <a:latin typeface="Cambria Math" panose="02040503050406030204" pitchFamily="18" charset="0"/>
                            </a:rPr>
                            <m:t>∈</m:t>
                          </m:r>
                          <m:sSup>
                            <m:sSupPr>
                              <m:ctrlPr>
                                <a:rPr lang="en-US" altLang="zh-TW" sz="2000" i="1" smtClean="0">
                                  <a:solidFill>
                                    <a:schemeClr val="tx2"/>
                                  </a:solidFill>
                                  <a:latin typeface="Cambria Math" panose="02040503050406030204" pitchFamily="18" charset="0"/>
                                </a:rPr>
                              </m:ctrlPr>
                            </m:sSupPr>
                            <m:e>
                              <m:r>
                                <a:rPr lang="en-US" altLang="zh-TW" sz="2000" b="0" i="1" smtClean="0">
                                  <a:solidFill>
                                    <a:schemeClr val="tx2"/>
                                  </a:solidFill>
                                  <a:latin typeface="Cambria Math" panose="02040503050406030204" pitchFamily="18" charset="0"/>
                                </a:rPr>
                                <m:t>𝑅</m:t>
                              </m:r>
                            </m:e>
                            <m:sup>
                              <m:r>
                                <a:rPr lang="en-US" altLang="zh-TW" sz="2000" b="0" i="1" smtClean="0">
                                  <a:solidFill>
                                    <a:schemeClr val="tx2"/>
                                  </a:solidFill>
                                  <a:latin typeface="Cambria Math" panose="02040503050406030204" pitchFamily="18" charset="0"/>
                                </a:rPr>
                                <m:t>𝑏</m:t>
                              </m:r>
                            </m:sup>
                          </m:sSup>
                        </m:e>
                      </m:mr>
                    </m:m>
                    <m:nary>
                      <m:naryPr>
                        <m:chr m:val="∑"/>
                        <m:ctrlPr>
                          <a:rPr lang="en-US" altLang="zh-TW" sz="2000" i="1" smtClean="0">
                            <a:solidFill>
                              <a:schemeClr val="tx2"/>
                            </a:solidFill>
                            <a:latin typeface="Cambria Math" panose="02040503050406030204" pitchFamily="18" charset="0"/>
                          </a:rPr>
                        </m:ctrlPr>
                      </m:naryPr>
                      <m:sub>
                        <m:r>
                          <a:rPr lang="en-US" altLang="zh-TW" sz="2000" b="0" i="1" smtClean="0">
                            <a:solidFill>
                              <a:schemeClr val="tx2"/>
                            </a:solidFill>
                            <a:latin typeface="Cambria Math" panose="02040503050406030204" pitchFamily="18" charset="0"/>
                          </a:rPr>
                          <m:t>𝑗</m:t>
                        </m:r>
                        <m:r>
                          <a:rPr lang="en-US" altLang="zh-TW" sz="2000" b="0" i="1" smtClean="0">
                            <a:solidFill>
                              <a:schemeClr val="tx2"/>
                            </a:solidFill>
                            <a:latin typeface="Cambria Math" panose="02040503050406030204" pitchFamily="18" charset="0"/>
                          </a:rPr>
                          <m:t>=1</m:t>
                        </m:r>
                      </m:sub>
                      <m:sup>
                        <m:r>
                          <a:rPr lang="en-US" altLang="zh-TW" sz="2000" b="0" i="1" smtClean="0">
                            <a:solidFill>
                              <a:schemeClr val="tx2"/>
                            </a:solidFill>
                            <a:latin typeface="Cambria Math" panose="02040503050406030204" pitchFamily="18" charset="0"/>
                          </a:rPr>
                          <m:t>𝑚</m:t>
                        </m:r>
                      </m:sup>
                      <m:e>
                        <m:sSup>
                          <m:sSupPr>
                            <m:ctrlPr>
                              <a:rPr lang="en-US" altLang="zh-TW" sz="2000" i="1" smtClean="0">
                                <a:solidFill>
                                  <a:schemeClr val="tx2"/>
                                </a:solidFill>
                                <a:latin typeface="Cambria Math" panose="02040503050406030204" pitchFamily="18" charset="0"/>
                              </a:rPr>
                            </m:ctrlPr>
                          </m:sSupPr>
                          <m:e>
                            <m:d>
                              <m:dPr>
                                <m:ctrlPr>
                                  <a:rPr lang="en-US" altLang="zh-TW" sz="2000" i="1">
                                    <a:solidFill>
                                      <a:schemeClr val="tx2"/>
                                    </a:solidFill>
                                    <a:latin typeface="Cambria Math" panose="02040503050406030204" pitchFamily="18" charset="0"/>
                                  </a:rPr>
                                </m:ctrlPr>
                              </m:dPr>
                              <m:e>
                                <m:nary>
                                  <m:naryPr>
                                    <m:chr m:val="∑"/>
                                    <m:ctrlPr>
                                      <a:rPr lang="en-US" altLang="zh-TW" sz="2000" i="1">
                                        <a:solidFill>
                                          <a:schemeClr val="tx2"/>
                                        </a:solidFill>
                                        <a:latin typeface="Cambria Math" panose="02040503050406030204" pitchFamily="18" charset="0"/>
                                      </a:rPr>
                                    </m:ctrlPr>
                                  </m:naryPr>
                                  <m:sub>
                                    <m:r>
                                      <m:rPr>
                                        <m:brk m:alnAt="23"/>
                                      </m:rPr>
                                      <a:rPr lang="en-US" altLang="zh-TW" sz="2000" i="1">
                                        <a:solidFill>
                                          <a:schemeClr val="tx2"/>
                                        </a:solidFill>
                                        <a:latin typeface="Cambria Math" panose="02040503050406030204" pitchFamily="18" charset="0"/>
                                      </a:rPr>
                                      <m:t>𝑡</m:t>
                                    </m:r>
                                    <m:r>
                                      <a:rPr lang="en-US" altLang="zh-TW" sz="2000" i="1">
                                        <a:solidFill>
                                          <a:schemeClr val="tx2"/>
                                        </a:solidFill>
                                        <a:latin typeface="Cambria Math" panose="02040503050406030204" pitchFamily="18" charset="0"/>
                                      </a:rPr>
                                      <m:t>=1</m:t>
                                    </m:r>
                                  </m:sub>
                                  <m:sup>
                                    <m:r>
                                      <a:rPr lang="en-US" altLang="zh-TW" sz="2000" i="1">
                                        <a:solidFill>
                                          <a:schemeClr val="tx2"/>
                                        </a:solidFill>
                                        <a:latin typeface="Cambria Math" panose="02040503050406030204" pitchFamily="18" charset="0"/>
                                      </a:rPr>
                                      <m:t>𝑇</m:t>
                                    </m:r>
                                  </m:sup>
                                  <m:e>
                                    <m:sSup>
                                      <m:sSupPr>
                                        <m:ctrlPr>
                                          <a:rPr lang="en-US" altLang="zh-TW" sz="2000" i="1">
                                            <a:solidFill>
                                              <a:schemeClr val="tx2"/>
                                            </a:solidFill>
                                            <a:latin typeface="Cambria Math" panose="02040503050406030204" pitchFamily="18" charset="0"/>
                                          </a:rPr>
                                        </m:ctrlPr>
                                      </m:sSupPr>
                                      <m:e>
                                        <m:d>
                                          <m:dPr>
                                            <m:ctrlPr>
                                              <a:rPr lang="en-US" altLang="zh-TW" sz="2000" i="1">
                                                <a:solidFill>
                                                  <a:schemeClr val="tx2"/>
                                                </a:solidFill>
                                                <a:latin typeface="Cambria Math" panose="02040503050406030204" pitchFamily="18" charset="0"/>
                                              </a:rPr>
                                            </m:ctrlPr>
                                          </m:dPr>
                                          <m:e>
                                            <m:nary>
                                              <m:naryPr>
                                                <m:ctrlPr>
                                                  <a:rPr lang="zh-TW" altLang="en-US" sz="2000" i="1">
                                                    <a:solidFill>
                                                      <a:schemeClr val="tx2"/>
                                                    </a:solidFill>
                                                    <a:latin typeface="Cambria Math" panose="02040503050406030204" pitchFamily="18" charset="0"/>
                                                  </a:rPr>
                                                </m:ctrlPr>
                                              </m:naryPr>
                                              <m:sub>
                                                <m:r>
                                                  <m:rPr>
                                                    <m:brk m:alnAt="23"/>
                                                  </m:rPr>
                                                  <a:rPr lang="en-US" altLang="zh-TW" sz="2000" i="1">
                                                    <a:solidFill>
                                                      <a:schemeClr val="tx2"/>
                                                    </a:solidFill>
                                                    <a:latin typeface="Cambria Math" panose="02040503050406030204" pitchFamily="18" charset="0"/>
                                                  </a:rPr>
                                                  <m:t>−</m:t>
                                                </m:r>
                                                <m:r>
                                                  <a:rPr lang="en-US" altLang="zh-TW" sz="2000" i="1">
                                                    <a:solidFill>
                                                      <a:schemeClr val="tx2"/>
                                                    </a:solidFill>
                                                    <a:latin typeface="Cambria Math" panose="02040503050406030204" pitchFamily="18" charset="0"/>
                                                    <a:ea typeface="Cambria Math" panose="02040503050406030204" pitchFamily="18" charset="0"/>
                                                  </a:rPr>
                                                  <m:t>∞</m:t>
                                                </m:r>
                                              </m:sub>
                                              <m:sup>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𝑥</m:t>
                                                    </m:r>
                                                  </m:e>
                                                  <m:sub>
                                                    <m:r>
                                                      <a:rPr lang="en-US" altLang="zh-TW" sz="2000" i="1">
                                                        <a:solidFill>
                                                          <a:schemeClr val="tx2"/>
                                                        </a:solidFill>
                                                        <a:latin typeface="Cambria Math" panose="02040503050406030204" pitchFamily="18" charset="0"/>
                                                      </a:rPr>
                                                      <m:t>𝑡</m:t>
                                                    </m:r>
                                                    <m:r>
                                                      <a:rPr lang="en-US" altLang="zh-TW" sz="2000" i="1">
                                                        <a:solidFill>
                                                          <a:schemeClr val="tx2"/>
                                                        </a:solidFill>
                                                        <a:latin typeface="Cambria Math" panose="02040503050406030204" pitchFamily="18" charset="0"/>
                                                      </a:rPr>
                                                      <m:t>+</m:t>
                                                    </m:r>
                                                    <m:r>
                                                      <a:rPr lang="zh-TW" altLang="en-US" sz="2000" i="1">
                                                        <a:solidFill>
                                                          <a:schemeClr val="tx2"/>
                                                        </a:solidFill>
                                                        <a:latin typeface="Cambria Math" panose="02040503050406030204" pitchFamily="18" charset="0"/>
                                                      </a:rPr>
                                                      <m:t>𝝉</m:t>
                                                    </m:r>
                                                  </m:sub>
                                                </m:sSub>
                                              </m:sup>
                                              <m:e>
                                                <m:sSub>
                                                  <m:sSubPr>
                                                    <m:ctrlPr>
                                                      <a:rPr lang="en-US" altLang="zh-TW" sz="2000" b="1" i="1" smtClean="0">
                                                        <a:solidFill>
                                                          <a:schemeClr val="accent1"/>
                                                        </a:solidFill>
                                                        <a:latin typeface="Cambria Math" panose="02040503050406030204" pitchFamily="18" charset="0"/>
                                                        <a:ea typeface="Cambria Math" panose="02040503050406030204" pitchFamily="18" charset="0"/>
                                                      </a:rPr>
                                                    </m:ctrlPr>
                                                  </m:sSubPr>
                                                  <m:e>
                                                    <m:nary>
                                                      <m:naryPr>
                                                        <m:chr m:val="∑"/>
                                                        <m:ctrlPr>
                                                          <a:rPr lang="en-US" altLang="zh-TW" sz="2000" b="1" i="1">
                                                            <a:solidFill>
                                                              <a:schemeClr val="accent1"/>
                                                            </a:solidFill>
                                                            <a:latin typeface="Cambria Math" panose="02040503050406030204" pitchFamily="18" charset="0"/>
                                                            <a:ea typeface="Cambria Math" panose="02040503050406030204" pitchFamily="18" charset="0"/>
                                                          </a:rPr>
                                                        </m:ctrlPr>
                                                      </m:naryPr>
                                                      <m:sub>
                                                        <m:r>
                                                          <a:rPr lang="en-US" altLang="zh-TW" sz="2000" b="1" i="1" smtClean="0">
                                                            <a:solidFill>
                                                              <a:schemeClr val="accent1"/>
                                                            </a:solidFill>
                                                            <a:latin typeface="Cambria Math" panose="02040503050406030204" pitchFamily="18" charset="0"/>
                                                            <a:ea typeface="Cambria Math" panose="02040503050406030204" pitchFamily="18" charset="0"/>
                                                          </a:rPr>
                                                          <m:t>𝒊</m:t>
                                                        </m:r>
                                                        <m:r>
                                                          <a:rPr lang="en-US" altLang="zh-TW" sz="2000" b="1" i="1">
                                                            <a:solidFill>
                                                              <a:schemeClr val="accent1"/>
                                                            </a:solidFill>
                                                            <a:latin typeface="Cambria Math" panose="02040503050406030204" pitchFamily="18" charset="0"/>
                                                            <a:ea typeface="Cambria Math" panose="02040503050406030204" pitchFamily="18" charset="0"/>
                                                          </a:rPr>
                                                          <m:t>=</m:t>
                                                        </m:r>
                                                        <m:r>
                                                          <a:rPr lang="en-US" altLang="zh-TW" sz="2000" b="1" i="1">
                                                            <a:solidFill>
                                                              <a:schemeClr val="accent1"/>
                                                            </a:solidFill>
                                                            <a:latin typeface="Cambria Math" panose="02040503050406030204" pitchFamily="18" charset="0"/>
                                                            <a:ea typeface="Cambria Math" panose="02040503050406030204" pitchFamily="18" charset="0"/>
                                                          </a:rPr>
                                                          <m:t>𝟏</m:t>
                                                        </m:r>
                                                      </m:sub>
                                                      <m:sup>
                                                        <m:r>
                                                          <a:rPr lang="en-US" altLang="zh-TW" sz="2000" b="1" i="1">
                                                            <a:solidFill>
                                                              <a:schemeClr val="accent1"/>
                                                            </a:solidFill>
                                                            <a:latin typeface="Cambria Math" panose="02040503050406030204" pitchFamily="18" charset="0"/>
                                                            <a:ea typeface="Cambria Math" panose="02040503050406030204" pitchFamily="18" charset="0"/>
                                                          </a:rPr>
                                                          <m:t>𝒃</m:t>
                                                        </m:r>
                                                      </m:sup>
                                                      <m:e>
                                                        <m:sSub>
                                                          <m:sSubPr>
                                                            <m:ctrlPr>
                                                              <a:rPr lang="en-US" altLang="zh-TW" sz="2000" b="1" i="1">
                                                                <a:solidFill>
                                                                  <a:schemeClr val="accent1"/>
                                                                </a:solidFill>
                                                                <a:latin typeface="Cambria Math" panose="02040503050406030204" pitchFamily="18" charset="0"/>
                                                                <a:ea typeface="Cambria Math" panose="02040503050406030204" pitchFamily="18" charset="0"/>
                                                              </a:rPr>
                                                            </m:ctrlPr>
                                                          </m:sSubPr>
                                                          <m:e>
                                                            <m:r>
                                                              <a:rPr lang="zh-TW" altLang="en-US" sz="2000" b="1" i="1">
                                                                <a:solidFill>
                                                                  <a:schemeClr val="accent1"/>
                                                                </a:solidFill>
                                                                <a:latin typeface="Cambria Math" panose="02040503050406030204" pitchFamily="18" charset="0"/>
                                                                <a:ea typeface="Cambria Math" panose="02040503050406030204" pitchFamily="18" charset="0"/>
                                                              </a:rPr>
                                                              <m:t>𝜽</m:t>
                                                            </m:r>
                                                          </m:e>
                                                          <m:sub>
                                                            <m:r>
                                                              <a:rPr lang="en-US" altLang="zh-TW" sz="2000" b="1" i="1" smtClean="0">
                                                                <a:solidFill>
                                                                  <a:schemeClr val="accent1"/>
                                                                </a:solidFill>
                                                                <a:latin typeface="Cambria Math" panose="02040503050406030204" pitchFamily="18" charset="0"/>
                                                                <a:ea typeface="Cambria Math" panose="02040503050406030204" pitchFamily="18" charset="0"/>
                                                              </a:rPr>
                                                              <m:t>𝒊</m:t>
                                                            </m:r>
                                                          </m:sub>
                                                        </m:sSub>
                                                      </m:e>
                                                    </m:nary>
                                                    <m:r>
                                                      <a:rPr lang="en-US" altLang="zh-TW" sz="2000" b="1" i="1">
                                                        <a:solidFill>
                                                          <a:schemeClr val="accent1"/>
                                                        </a:solidFill>
                                                        <a:latin typeface="Cambria Math" panose="02040503050406030204" pitchFamily="18" charset="0"/>
                                                        <a:ea typeface="Cambria Math" panose="02040503050406030204" pitchFamily="18" charset="0"/>
                                                      </a:rPr>
                                                      <m:t>𝑩</m:t>
                                                    </m:r>
                                                  </m:e>
                                                  <m:sub>
                                                    <m:r>
                                                      <a:rPr lang="en-US" altLang="zh-TW" sz="2000" b="1" i="1" smtClean="0">
                                                        <a:solidFill>
                                                          <a:schemeClr val="accent1"/>
                                                        </a:solidFill>
                                                        <a:latin typeface="Cambria Math" panose="02040503050406030204" pitchFamily="18" charset="0"/>
                                                        <a:ea typeface="Cambria Math" panose="02040503050406030204" pitchFamily="18" charset="0"/>
                                                      </a:rPr>
                                                      <m:t>𝒊</m:t>
                                                    </m:r>
                                                  </m:sub>
                                                </m:sSub>
                                                <m:d>
                                                  <m:dPr>
                                                    <m:ctrlPr>
                                                      <a:rPr lang="en-US" altLang="zh-TW" sz="2000" b="1" i="1">
                                                        <a:solidFill>
                                                          <a:schemeClr val="accent1"/>
                                                        </a:solidFill>
                                                        <a:latin typeface="Cambria Math" panose="02040503050406030204" pitchFamily="18" charset="0"/>
                                                        <a:ea typeface="Cambria Math" panose="02040503050406030204" pitchFamily="18" charset="0"/>
                                                      </a:rPr>
                                                    </m:ctrlPr>
                                                  </m:dPr>
                                                  <m:e>
                                                    <m:r>
                                                      <a:rPr lang="en-US" altLang="zh-TW" sz="2000" b="1" i="1" smtClean="0">
                                                        <a:solidFill>
                                                          <a:schemeClr val="accent1"/>
                                                        </a:solidFill>
                                                        <a:latin typeface="Cambria Math" panose="02040503050406030204" pitchFamily="18" charset="0"/>
                                                        <a:ea typeface="Cambria Math" panose="02040503050406030204" pitchFamily="18" charset="0"/>
                                                      </a:rPr>
                                                      <m:t>𝒚</m:t>
                                                    </m:r>
                                                  </m:e>
                                                </m:d>
                                                <m:r>
                                                  <a:rPr lang="en-US" altLang="zh-TW" sz="2000" i="1">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m:rPr>
                                                        <m:sty m:val="p"/>
                                                      </m:rPr>
                                                      <a:rPr lang="en-US" altLang="zh-TW" sz="2000" i="1">
                                                        <a:solidFill>
                                                          <a:schemeClr val="tx2"/>
                                                        </a:solidFill>
                                                        <a:latin typeface="Cambria Math" panose="02040503050406030204" pitchFamily="18" charset="0"/>
                                                      </a:rPr>
                                                      <m:t>Q</m:t>
                                                    </m:r>
                                                  </m:sup>
                                                </m:sSup>
                                                <m:r>
                                                  <a:rPr lang="en-US" altLang="zh-TW" sz="2000" i="1">
                                                    <a:solidFill>
                                                      <a:schemeClr val="tx2"/>
                                                    </a:solidFill>
                                                    <a:latin typeface="Cambria Math" panose="02040503050406030204" pitchFamily="18" charset="0"/>
                                                  </a:rPr>
                                                  <m:t>(</m:t>
                                                </m:r>
                                                <m:r>
                                                  <a:rPr lang="en-US" altLang="zh-TW" sz="2000" i="1" smtClean="0">
                                                    <a:solidFill>
                                                      <a:schemeClr val="tx2"/>
                                                    </a:solidFill>
                                                    <a:latin typeface="Cambria Math" panose="02040503050406030204" pitchFamily="18" charset="0"/>
                                                  </a:rPr>
                                                  <m:t>𝑦</m:t>
                                                </m:r>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ea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e>
                                            </m:nary>
                                          </m:e>
                                        </m:d>
                                      </m:e>
                                      <m:sup>
                                        <m:r>
                                          <a:rPr lang="en-US" altLang="zh-TW" sz="2000" b="0" i="1" smtClean="0">
                                            <a:solidFill>
                                              <a:schemeClr val="tx2"/>
                                            </a:solidFill>
                                            <a:latin typeface="Cambria Math" panose="02040503050406030204" pitchFamily="18" charset="0"/>
                                          </a:rPr>
                                          <m:t>𝑗</m:t>
                                        </m:r>
                                      </m:sup>
                                    </m:sSup>
                                    <m:r>
                                      <a:rPr lang="en-US" altLang="zh-TW" sz="2000" i="1">
                                        <a:solidFill>
                                          <a:schemeClr val="tx2"/>
                                        </a:solidFill>
                                        <a:latin typeface="Cambria Math" panose="02040503050406030204" pitchFamily="18" charset="0"/>
                                      </a:rPr>
                                      <m:t>−</m:t>
                                    </m:r>
                                    <m:f>
                                      <m:fPr>
                                        <m:ctrlPr>
                                          <a:rPr lang="en-US" altLang="zh-TW" sz="2000" i="1">
                                            <a:solidFill>
                                              <a:schemeClr val="tx2"/>
                                            </a:solidFill>
                                            <a:latin typeface="Cambria Math" panose="02040503050406030204" pitchFamily="18" charset="0"/>
                                          </a:rPr>
                                        </m:ctrlPr>
                                      </m:fPr>
                                      <m:num>
                                        <m:r>
                                          <a:rPr lang="en-US" altLang="zh-TW" sz="2000" i="1">
                                            <a:solidFill>
                                              <a:schemeClr val="tx2"/>
                                            </a:solidFill>
                                            <a:latin typeface="Cambria Math" panose="02040503050406030204" pitchFamily="18" charset="0"/>
                                          </a:rPr>
                                          <m:t>1</m:t>
                                        </m:r>
                                      </m:num>
                                      <m:den>
                                        <m:r>
                                          <a:rPr lang="en-US" altLang="zh-TW" sz="2000" b="0" i="1" smtClean="0">
                                            <a:solidFill>
                                              <a:schemeClr val="tx2"/>
                                            </a:solidFill>
                                            <a:latin typeface="Cambria Math" panose="02040503050406030204" pitchFamily="18" charset="0"/>
                                          </a:rPr>
                                          <m:t>𝑗</m:t>
                                        </m:r>
                                        <m:r>
                                          <a:rPr lang="en-US" altLang="zh-TW" sz="2000" i="1">
                                            <a:solidFill>
                                              <a:schemeClr val="tx2"/>
                                            </a:solidFill>
                                            <a:latin typeface="Cambria Math" panose="02040503050406030204" pitchFamily="18" charset="0"/>
                                          </a:rPr>
                                          <m:t>+1</m:t>
                                        </m:r>
                                      </m:den>
                                    </m:f>
                                  </m:e>
                                </m:nary>
                              </m:e>
                            </m:d>
                          </m:e>
                          <m:sup>
                            <m:r>
                              <a:rPr lang="en-US" altLang="zh-TW" sz="2000" b="0" i="1" smtClean="0">
                                <a:solidFill>
                                  <a:schemeClr val="tx2"/>
                                </a:solidFill>
                                <a:latin typeface="Cambria Math" panose="02040503050406030204" pitchFamily="18" charset="0"/>
                              </a:rPr>
                              <m:t>2</m:t>
                            </m:r>
                          </m:sup>
                        </m:sSup>
                      </m:e>
                    </m:nary>
                  </m:oMath>
                </a14:m>
                <a:endParaRPr lang="en-US" altLang="zh-TW" sz="2000" dirty="0">
                  <a:solidFill>
                    <a:schemeClr val="tx2"/>
                  </a:solidFill>
                  <a:latin typeface="+mn-lt"/>
                </a:endParaRPr>
              </a:p>
              <a:p>
                <a:pPr>
                  <a:lnSpc>
                    <a:spcPct val="150000"/>
                  </a:lnSpc>
                </a:pPr>
                <a:r>
                  <a:rPr lang="zh-TW" altLang="en-US" sz="2000" dirty="0">
                    <a:solidFill>
                      <a:schemeClr val="tx2"/>
                    </a:solidFill>
                    <a:latin typeface="+mn-lt"/>
                  </a:rPr>
                  <a:t>其中</a:t>
                </a:r>
                <a:r>
                  <a:rPr lang="en-US" altLang="zh-TW" sz="2000" dirty="0">
                    <a:solidFill>
                      <a:schemeClr val="tx2"/>
                    </a:solidFill>
                    <a:latin typeface="+mn-lt"/>
                  </a:rPr>
                  <a:t>m</a:t>
                </a:r>
                <a:r>
                  <a:rPr lang="zh-TW" altLang="en-US" sz="2000" dirty="0">
                    <a:solidFill>
                      <a:schemeClr val="tx2"/>
                    </a:solidFill>
                    <a:latin typeface="+mn-lt"/>
                  </a:rPr>
                  <a:t>表示計算至第</a:t>
                </a:r>
                <a:r>
                  <a:rPr lang="en-US" altLang="zh-TW" sz="2000" dirty="0">
                    <a:solidFill>
                      <a:schemeClr val="tx2"/>
                    </a:solidFill>
                    <a:latin typeface="+mn-lt"/>
                  </a:rPr>
                  <a:t>m</a:t>
                </a:r>
                <a:r>
                  <a:rPr lang="zh-TW" altLang="en-US" sz="2000" dirty="0">
                    <a:solidFill>
                      <a:schemeClr val="tx2"/>
                    </a:solidFill>
                    <a:latin typeface="+mn-lt"/>
                  </a:rPr>
                  <a:t>階動差，</a:t>
                </a:r>
                <a:r>
                  <a:rPr lang="en-US" altLang="zh-TW" sz="2000" dirty="0">
                    <a:solidFill>
                      <a:schemeClr val="tx2"/>
                    </a:solidFill>
                    <a:latin typeface="+mn-lt"/>
                  </a:rPr>
                  <a:t>Linn et al.(2017)</a:t>
                </a:r>
                <a:r>
                  <a:rPr lang="zh-TW" altLang="en-US" sz="2000" dirty="0">
                    <a:solidFill>
                      <a:schemeClr val="tx2"/>
                    </a:solidFill>
                    <a:latin typeface="+mn-lt"/>
                  </a:rPr>
                  <a:t>表示應選擇</a:t>
                </a:r>
                <a:r>
                  <a:rPr lang="en-US" altLang="zh-TW" sz="2000" dirty="0">
                    <a:solidFill>
                      <a:schemeClr val="tx2"/>
                    </a:solidFill>
                    <a:latin typeface="+mn-lt"/>
                  </a:rPr>
                  <a:t>m = b</a:t>
                </a:r>
                <a:r>
                  <a:rPr lang="zh-TW" altLang="en-US" sz="2000" dirty="0">
                    <a:solidFill>
                      <a:schemeClr val="tx2"/>
                    </a:solidFill>
                    <a:latin typeface="+mn-lt"/>
                  </a:rPr>
                  <a:t>，即</a:t>
                </a:r>
                <a:r>
                  <a:rPr lang="en-US" altLang="zh-TW" sz="2000" dirty="0">
                    <a:solidFill>
                      <a:schemeClr val="tx2"/>
                    </a:solidFill>
                    <a:latin typeface="+mn-lt"/>
                  </a:rPr>
                  <a:t>basis</a:t>
                </a:r>
                <a:r>
                  <a:rPr lang="zh-TW" altLang="en-US" sz="2000" dirty="0">
                    <a:solidFill>
                      <a:schemeClr val="tx2"/>
                    </a:solidFill>
                    <a:latin typeface="+mn-lt"/>
                  </a:rPr>
                  <a:t> </a:t>
                </a:r>
                <a:r>
                  <a:rPr lang="en-US" altLang="zh-TW" sz="2000" dirty="0">
                    <a:solidFill>
                      <a:schemeClr val="tx2"/>
                    </a:solidFill>
                    <a:latin typeface="+mn-lt"/>
                  </a:rPr>
                  <a:t>functions</a:t>
                </a:r>
                <a:r>
                  <a:rPr lang="zh-TW" altLang="en-US" sz="2000" dirty="0">
                    <a:solidFill>
                      <a:schemeClr val="tx2"/>
                    </a:solidFill>
                    <a:latin typeface="+mn-lt"/>
                  </a:rPr>
                  <a:t>的數量，本研究中以</a:t>
                </a:r>
                <a:r>
                  <a:rPr lang="en-US" altLang="zh-TW" sz="2000" b="1" dirty="0">
                    <a:solidFill>
                      <a:schemeClr val="tx2"/>
                    </a:solidFill>
                    <a:latin typeface="+mn-lt"/>
                  </a:rPr>
                  <a:t>base</a:t>
                </a:r>
                <a:r>
                  <a:rPr lang="zh-TW" altLang="en-US" sz="2000" dirty="0">
                    <a:solidFill>
                      <a:schemeClr val="tx2"/>
                    </a:solidFill>
                    <a:latin typeface="+mn-lt"/>
                  </a:rPr>
                  <a:t>代指此參數</a:t>
                </a:r>
                <a:r>
                  <a:rPr lang="zh-TW" altLang="en-US" sz="2000" dirty="0">
                    <a:solidFill>
                      <a:schemeClr val="tx2"/>
                    </a:solidFill>
                  </a:rPr>
                  <a:t>，而</a:t>
                </a:r>
                <a:r>
                  <a:rPr lang="en-US" altLang="zh-TW" sz="2000" dirty="0">
                    <a:solidFill>
                      <a:schemeClr val="tx2"/>
                    </a:solidFill>
                  </a:rPr>
                  <a:t>T</a:t>
                </a:r>
                <a:r>
                  <a:rPr lang="zh-TW" altLang="en-US" sz="2000" dirty="0">
                    <a:solidFill>
                      <a:schemeClr val="tx2"/>
                    </a:solidFill>
                  </a:rPr>
                  <a:t>表示擷取之樣本日期數量，本研究中以</a:t>
                </a:r>
                <a:r>
                  <a:rPr lang="en-US" altLang="zh-TW" sz="2000" b="1" dirty="0" err="1">
                    <a:solidFill>
                      <a:schemeClr val="tx2"/>
                    </a:solidFill>
                  </a:rPr>
                  <a:t>datasize</a:t>
                </a:r>
                <a:r>
                  <a:rPr lang="zh-TW" altLang="en-US" sz="2000" dirty="0">
                    <a:solidFill>
                      <a:schemeClr val="tx2"/>
                    </a:solidFill>
                  </a:rPr>
                  <a:t>代指此參數</a:t>
                </a:r>
                <a:endParaRPr lang="en-US" altLang="zh-TW" sz="2000" dirty="0">
                  <a:solidFill>
                    <a:schemeClr val="tx2"/>
                  </a:solidFill>
                  <a:latin typeface="+mn-lt"/>
                </a:endParaRPr>
              </a:p>
              <a:p>
                <a:pPr>
                  <a:lnSpc>
                    <a:spcPct val="150000"/>
                  </a:lnSpc>
                </a:pPr>
                <a:r>
                  <a:rPr lang="zh-TW" altLang="en-US" sz="2000" dirty="0">
                    <a:solidFill>
                      <a:schemeClr val="tx2"/>
                    </a:solidFill>
                  </a:rPr>
                  <a:t>欲使用</a:t>
                </a:r>
                <a:r>
                  <a:rPr lang="en-US" altLang="zh-TW" sz="2000" dirty="0">
                    <a:solidFill>
                      <a:schemeClr val="tx2"/>
                    </a:solidFill>
                  </a:rPr>
                  <a:t>GMM</a:t>
                </a:r>
                <a:r>
                  <a:rPr lang="zh-TW" altLang="en-US" sz="2000" dirty="0">
                    <a:solidFill>
                      <a:schemeClr val="tx2"/>
                    </a:solidFill>
                  </a:rPr>
                  <a:t> </a:t>
                </a:r>
                <a:r>
                  <a:rPr lang="en-US" altLang="zh-TW" sz="2000" dirty="0">
                    <a:solidFill>
                      <a:schemeClr val="tx2"/>
                    </a:solidFill>
                  </a:rPr>
                  <a:t>optimization</a:t>
                </a:r>
                <a:r>
                  <a:rPr lang="zh-TW" altLang="en-US" sz="2000" dirty="0">
                    <a:solidFill>
                      <a:schemeClr val="tx2"/>
                    </a:solidFill>
                  </a:rPr>
                  <a:t>估計</a:t>
                </a:r>
                <a14:m>
                  <m:oMath xmlns:m="http://schemas.openxmlformats.org/officeDocument/2006/math">
                    <m:acc>
                      <m:accPr>
                        <m:chr m:val="̂"/>
                        <m:ctrlPr>
                          <a:rPr lang="en-US" altLang="zh-TW" sz="2000" i="1">
                            <a:solidFill>
                              <a:schemeClr val="tx2"/>
                            </a:solidFill>
                            <a:latin typeface="Cambria Math" panose="02040503050406030204" pitchFamily="18" charset="0"/>
                          </a:rPr>
                        </m:ctrlPr>
                      </m:accPr>
                      <m:e>
                        <m:r>
                          <a:rPr lang="zh-TW" altLang="en-US" sz="2000" i="1">
                            <a:solidFill>
                              <a:schemeClr val="tx2"/>
                            </a:solidFill>
                            <a:latin typeface="Cambria Math" panose="02040503050406030204" pitchFamily="18" charset="0"/>
                          </a:rPr>
                          <m:t>𝜃</m:t>
                        </m:r>
                      </m:e>
                    </m:acc>
                  </m:oMath>
                </a14:m>
                <a:r>
                  <a:rPr lang="zh-TW" altLang="en-US" sz="2000" dirty="0">
                    <a:solidFill>
                      <a:schemeClr val="tx2"/>
                    </a:solidFill>
                    <a:latin typeface="+mn-lt"/>
                  </a:rPr>
                  <a:t>，需要</a:t>
                </a:r>
                <a14:m>
                  <m:oMath xmlns:m="http://schemas.openxmlformats.org/officeDocument/2006/math">
                    <m:sSub>
                      <m:sSubPr>
                        <m:ctrlPr>
                          <a:rPr lang="en-US" altLang="zh-TW" sz="2000" b="1" i="1">
                            <a:solidFill>
                              <a:schemeClr val="tx2"/>
                            </a:solidFill>
                            <a:latin typeface="Cambria Math" panose="02040503050406030204" pitchFamily="18" charset="0"/>
                            <a:ea typeface="Cambria Math" panose="02040503050406030204" pitchFamily="18" charset="0"/>
                          </a:rPr>
                        </m:ctrlPr>
                      </m:sSubPr>
                      <m:e>
                        <m:r>
                          <a:rPr lang="en-US" altLang="zh-TW" sz="2000" b="1" i="1">
                            <a:solidFill>
                              <a:schemeClr val="tx2"/>
                            </a:solidFill>
                            <a:latin typeface="Cambria Math" panose="02040503050406030204" pitchFamily="18" charset="0"/>
                            <a:ea typeface="Cambria Math" panose="02040503050406030204" pitchFamily="18" charset="0"/>
                          </a:rPr>
                          <m:t>𝒙</m:t>
                        </m:r>
                      </m:e>
                      <m:sub>
                        <m:r>
                          <a:rPr lang="en-US" altLang="zh-TW" sz="2000" b="1" i="1">
                            <a:solidFill>
                              <a:schemeClr val="tx2"/>
                            </a:solidFill>
                            <a:latin typeface="Cambria Math" panose="02040503050406030204" pitchFamily="18" charset="0"/>
                            <a:ea typeface="Cambria Math" panose="02040503050406030204" pitchFamily="18" charset="0"/>
                          </a:rPr>
                          <m:t>𝒕</m:t>
                        </m:r>
                        <m:r>
                          <a:rPr lang="en-US" altLang="zh-TW" sz="2000" b="1" i="1">
                            <a:solidFill>
                              <a:schemeClr val="tx2"/>
                            </a:solidFill>
                            <a:latin typeface="Cambria Math" panose="02040503050406030204" pitchFamily="18" charset="0"/>
                            <a:ea typeface="Cambria Math" panose="02040503050406030204" pitchFamily="18" charset="0"/>
                          </a:rPr>
                          <m:t>+</m:t>
                        </m:r>
                        <m:r>
                          <a:rPr lang="zh-TW" altLang="en-US" sz="2000" b="1" i="1">
                            <a:solidFill>
                              <a:schemeClr val="tx2"/>
                            </a:solidFill>
                            <a:latin typeface="Cambria Math" panose="02040503050406030204" pitchFamily="18" charset="0"/>
                            <a:ea typeface="Cambria Math" panose="02040503050406030204" pitchFamily="18" charset="0"/>
                          </a:rPr>
                          <m:t>𝝉</m:t>
                        </m:r>
                      </m:sub>
                    </m:sSub>
                    <m:r>
                      <a:rPr lang="zh-TW" altLang="en-US" sz="2000" b="1" i="1">
                        <a:solidFill>
                          <a:schemeClr val="tx2"/>
                        </a:solidFill>
                        <a:latin typeface="Cambria Math" panose="02040503050406030204" pitchFamily="18" charset="0"/>
                        <a:ea typeface="Cambria Math" panose="02040503050406030204" pitchFamily="18" charset="0"/>
                      </a:rPr>
                      <m:t>、</m:t>
                    </m:r>
                  </m:oMath>
                </a14:m>
                <a:r>
                  <a:rPr lang="en-US" altLang="zh-TW" sz="2000" b="1" dirty="0">
                    <a:solidFill>
                      <a:schemeClr val="tx2"/>
                    </a:solidFill>
                    <a:ea typeface="Cambria Math" panose="02040503050406030204" pitchFamily="18" charset="0"/>
                  </a:rPr>
                  <a:t> </a:t>
                </a:r>
                <a14:m>
                  <m:oMath xmlns:m="http://schemas.openxmlformats.org/officeDocument/2006/math">
                    <m:r>
                      <a:rPr lang="en-US" altLang="zh-TW" sz="2000" b="1" i="1">
                        <a:solidFill>
                          <a:schemeClr val="tx2"/>
                        </a:solidFill>
                        <a:latin typeface="Cambria Math" panose="02040503050406030204" pitchFamily="18" charset="0"/>
                        <a:ea typeface="Cambria Math" panose="02040503050406030204" pitchFamily="18" charset="0"/>
                      </a:rPr>
                      <m:t>𝑩</m:t>
                    </m:r>
                    <m:d>
                      <m:dPr>
                        <m:ctrlPr>
                          <a:rPr lang="en-US" altLang="zh-TW" sz="2000" b="1" i="1">
                            <a:solidFill>
                              <a:schemeClr val="tx2"/>
                            </a:solidFill>
                            <a:latin typeface="Cambria Math" panose="02040503050406030204" pitchFamily="18" charset="0"/>
                            <a:ea typeface="Cambria Math" panose="02040503050406030204" pitchFamily="18" charset="0"/>
                          </a:rPr>
                        </m:ctrlPr>
                      </m:dPr>
                      <m:e>
                        <m:r>
                          <a:rPr lang="en-US" altLang="zh-TW" sz="2000" b="1" i="1">
                            <a:solidFill>
                              <a:schemeClr val="tx2"/>
                            </a:solidFill>
                            <a:latin typeface="Cambria Math" panose="02040503050406030204" pitchFamily="18" charset="0"/>
                            <a:ea typeface="Cambria Math" panose="02040503050406030204" pitchFamily="18" charset="0"/>
                          </a:rPr>
                          <m:t>𝒚</m:t>
                        </m:r>
                      </m:e>
                    </m:d>
                  </m:oMath>
                </a14:m>
                <a:r>
                  <a:rPr lang="zh-TW" altLang="en-US" sz="2000" b="1" dirty="0">
                    <a:solidFill>
                      <a:schemeClr val="tx2"/>
                    </a:solidFill>
                  </a:rPr>
                  <a:t>、</a:t>
                </a:r>
                <a:r>
                  <a:rPr lang="en-US" altLang="zh-TW" sz="2000" b="1" dirty="0">
                    <a:solidFill>
                      <a:schemeClr val="tx2"/>
                    </a:solidFill>
                  </a:rPr>
                  <a:t> </a:t>
                </a:r>
                <a14:m>
                  <m:oMath xmlns:m="http://schemas.openxmlformats.org/officeDocument/2006/math">
                    <m:r>
                      <a:rPr lang="en-US" altLang="zh-TW" sz="2000" b="1" i="1">
                        <a:solidFill>
                          <a:schemeClr val="tx2"/>
                        </a:solidFill>
                        <a:latin typeface="Cambria Math" panose="02040503050406030204" pitchFamily="18" charset="0"/>
                      </a:rPr>
                      <m:t>𝒅</m:t>
                    </m:r>
                    <m:sSup>
                      <m:sSupPr>
                        <m:ctrlPr>
                          <a:rPr lang="en-US" altLang="zh-TW" sz="2000" b="1" i="1">
                            <a:solidFill>
                              <a:schemeClr val="tx2"/>
                            </a:solidFill>
                            <a:latin typeface="Cambria Math" panose="02040503050406030204" pitchFamily="18" charset="0"/>
                          </a:rPr>
                        </m:ctrlPr>
                      </m:sSupPr>
                      <m:e>
                        <m:r>
                          <a:rPr lang="zh-TW" altLang="en-US" sz="2000" b="1" i="1">
                            <a:solidFill>
                              <a:schemeClr val="tx2"/>
                            </a:solidFill>
                            <a:latin typeface="Cambria Math" panose="02040503050406030204" pitchFamily="18" charset="0"/>
                          </a:rPr>
                          <m:t>𝔽</m:t>
                        </m:r>
                      </m:e>
                      <m:sup>
                        <m:r>
                          <a:rPr lang="en-US" altLang="zh-TW" sz="2000" b="1" i="1">
                            <a:solidFill>
                              <a:schemeClr val="tx2"/>
                            </a:solidFill>
                            <a:latin typeface="Cambria Math" panose="02040503050406030204" pitchFamily="18" charset="0"/>
                          </a:rPr>
                          <m:t>𝑸</m:t>
                        </m:r>
                      </m:sup>
                    </m:sSup>
                    <m:r>
                      <a:rPr lang="en-US" altLang="zh-TW" sz="2000" b="1" i="1">
                        <a:solidFill>
                          <a:schemeClr val="tx2"/>
                        </a:solidFill>
                        <a:latin typeface="Cambria Math" panose="02040503050406030204" pitchFamily="18" charset="0"/>
                      </a:rPr>
                      <m:t>(</m:t>
                    </m:r>
                    <m:r>
                      <a:rPr lang="en-US" altLang="zh-TW" sz="2000" b="1" i="1">
                        <a:solidFill>
                          <a:schemeClr val="tx2"/>
                        </a:solidFill>
                        <a:latin typeface="Cambria Math" panose="02040503050406030204" pitchFamily="18" charset="0"/>
                      </a:rPr>
                      <m:t>𝒚</m:t>
                    </m:r>
                    <m:r>
                      <a:rPr lang="en-US" altLang="zh-TW" sz="2000" b="1" i="1">
                        <a:solidFill>
                          <a:schemeClr val="tx2"/>
                        </a:solidFill>
                        <a:latin typeface="Cambria Math" panose="02040503050406030204" pitchFamily="18" charset="0"/>
                      </a:rPr>
                      <m:t>|</m:t>
                    </m:r>
                    <m:sSub>
                      <m:sSubPr>
                        <m:ctrlPr>
                          <a:rPr lang="en-US" altLang="zh-TW" sz="2000" b="1" i="1">
                            <a:solidFill>
                              <a:schemeClr val="tx2"/>
                            </a:solidFill>
                            <a:latin typeface="Cambria Math" panose="02040503050406030204" pitchFamily="18" charset="0"/>
                          </a:rPr>
                        </m:ctrlPr>
                      </m:sSubPr>
                      <m:e>
                        <m:r>
                          <a:rPr lang="en-US" altLang="zh-TW" sz="2000" b="1" i="1">
                            <a:solidFill>
                              <a:schemeClr val="tx2"/>
                            </a:solidFill>
                            <a:latin typeface="Cambria Math" panose="02040503050406030204" pitchFamily="18" charset="0"/>
                            <a:ea typeface="Cambria Math" panose="02040503050406030204" pitchFamily="18" charset="0"/>
                          </a:rPr>
                          <m:t>𝓕</m:t>
                        </m:r>
                      </m:e>
                      <m:sub>
                        <m:r>
                          <a:rPr lang="en-US" altLang="zh-TW" sz="2000" b="1" i="1">
                            <a:solidFill>
                              <a:schemeClr val="tx2"/>
                            </a:solidFill>
                            <a:latin typeface="Cambria Math" panose="02040503050406030204" pitchFamily="18" charset="0"/>
                          </a:rPr>
                          <m:t>𝒕</m:t>
                        </m:r>
                      </m:sub>
                    </m:sSub>
                    <m:r>
                      <a:rPr lang="en-US" altLang="zh-TW" sz="2000" b="1" i="1">
                        <a:solidFill>
                          <a:schemeClr val="tx2"/>
                        </a:solidFill>
                        <a:latin typeface="Cambria Math" panose="02040503050406030204" pitchFamily="18" charset="0"/>
                      </a:rPr>
                      <m:t>)</m:t>
                    </m:r>
                  </m:oMath>
                </a14:m>
                <a:endParaRPr lang="en-US" altLang="zh-TW" sz="2000" b="1" dirty="0">
                  <a:solidFill>
                    <a:schemeClr val="tx2"/>
                  </a:solidFill>
                </a:endParaRPr>
              </a:p>
              <a:p>
                <a:pPr marL="799465" lvl="1" indent="-342900">
                  <a:lnSpc>
                    <a:spcPct val="150000"/>
                  </a:lnSpc>
                  <a:buClr>
                    <a:schemeClr val="accent1"/>
                  </a:buClr>
                  <a:buFont typeface="Arial" panose="020B0604020202020204" pitchFamily="34" charset="0"/>
                  <a:buChar char="•"/>
                </a:pPr>
                <a:r>
                  <a:rPr lang="zh-TW" altLang="en-US" sz="2000" dirty="0">
                    <a:solidFill>
                      <a:schemeClr val="tx2"/>
                    </a:solidFill>
                  </a:rPr>
                  <a:t>三次</a:t>
                </a:r>
                <a:r>
                  <a:rPr lang="en-US" altLang="zh-TW" sz="2000" dirty="0">
                    <a:solidFill>
                      <a:schemeClr val="tx2"/>
                    </a:solidFill>
                  </a:rPr>
                  <a:t>B</a:t>
                </a:r>
                <a:r>
                  <a:rPr lang="zh-TW" altLang="en-US" sz="2000" dirty="0">
                    <a:solidFill>
                      <a:schemeClr val="tx2"/>
                    </a:solidFill>
                  </a:rPr>
                  <a:t>樣條函數之基底函數</a:t>
                </a:r>
                <a14:m>
                  <m:oMath xmlns:m="http://schemas.openxmlformats.org/officeDocument/2006/math">
                    <m:r>
                      <a:rPr lang="en-US" altLang="zh-TW" sz="2000" b="1" i="1">
                        <a:solidFill>
                          <a:schemeClr val="tx2"/>
                        </a:solidFill>
                        <a:latin typeface="Cambria Math" panose="02040503050406030204" pitchFamily="18" charset="0"/>
                        <a:ea typeface="Cambria Math" panose="02040503050406030204" pitchFamily="18" charset="0"/>
                      </a:rPr>
                      <m:t>𝑩</m:t>
                    </m:r>
                    <m:d>
                      <m:dPr>
                        <m:ctrlPr>
                          <a:rPr lang="en-US" altLang="zh-TW" sz="2000" b="1" i="1">
                            <a:solidFill>
                              <a:schemeClr val="tx2"/>
                            </a:solidFill>
                            <a:latin typeface="Cambria Math" panose="02040503050406030204" pitchFamily="18" charset="0"/>
                            <a:ea typeface="Cambria Math" panose="02040503050406030204" pitchFamily="18" charset="0"/>
                          </a:rPr>
                        </m:ctrlPr>
                      </m:dPr>
                      <m:e>
                        <m:r>
                          <a:rPr lang="en-US" altLang="zh-TW" sz="2000" b="1" i="1">
                            <a:solidFill>
                              <a:schemeClr val="tx2"/>
                            </a:solidFill>
                            <a:latin typeface="Cambria Math" panose="02040503050406030204" pitchFamily="18" charset="0"/>
                            <a:ea typeface="Cambria Math" panose="02040503050406030204" pitchFamily="18" charset="0"/>
                          </a:rPr>
                          <m:t>𝒚</m:t>
                        </m:r>
                      </m:e>
                    </m:d>
                  </m:oMath>
                </a14:m>
                <a:r>
                  <a:rPr lang="zh-TW" altLang="en-US" sz="2000" dirty="0">
                    <a:solidFill>
                      <a:schemeClr val="tx2"/>
                    </a:solidFill>
                  </a:rPr>
                  <a:t>，透過</a:t>
                </a:r>
                <a:r>
                  <a:rPr lang="en-US" altLang="zh-TW" sz="2000" dirty="0">
                    <a:solidFill>
                      <a:schemeClr val="tx2"/>
                    </a:solidFill>
                  </a:rPr>
                  <a:t>Cox–deBoor</a:t>
                </a:r>
                <a:r>
                  <a:rPr lang="zh-TW" altLang="en-US" sz="2000" dirty="0">
                    <a:solidFill>
                      <a:schemeClr val="tx2"/>
                    </a:solidFill>
                  </a:rPr>
                  <a:t>遞迴公式（</a:t>
                </a:r>
                <a:r>
                  <a:rPr lang="en-US" altLang="zh-TW" sz="2000" dirty="0">
                    <a:solidFill>
                      <a:schemeClr val="tx2"/>
                    </a:solidFill>
                  </a:rPr>
                  <a:t>Cox–deBoorrecursion formula</a:t>
                </a:r>
                <a:r>
                  <a:rPr lang="zh-TW" altLang="en-US" sz="2000" dirty="0">
                    <a:solidFill>
                      <a:schemeClr val="tx2"/>
                    </a:solidFill>
                  </a:rPr>
                  <a:t>）定義而成</a:t>
                </a:r>
                <a:endParaRPr lang="en-US" altLang="zh-TW" sz="2000" dirty="0">
                  <a:solidFill>
                    <a:schemeClr val="tx2"/>
                  </a:solidFill>
                </a:endParaRPr>
              </a:p>
              <a:p>
                <a:pPr marL="799465" lvl="1" indent="-342900">
                  <a:lnSpc>
                    <a:spcPct val="150000"/>
                  </a:lnSpc>
                  <a:buClr>
                    <a:schemeClr val="accent1"/>
                  </a:buClr>
                  <a:buFont typeface="Arial" panose="020B0604020202020204" pitchFamily="34" charset="0"/>
                  <a:buChar char="•"/>
                </a:pPr>
                <a14:m>
                  <m:oMath xmlns:m="http://schemas.openxmlformats.org/officeDocument/2006/math">
                    <m:sSub>
                      <m:sSubPr>
                        <m:ctrlPr>
                          <a:rPr lang="en-US" altLang="zh-TW" sz="2000" b="1" i="1">
                            <a:solidFill>
                              <a:schemeClr val="tx2"/>
                            </a:solidFill>
                            <a:latin typeface="Cambria Math" panose="02040503050406030204" pitchFamily="18" charset="0"/>
                          </a:rPr>
                        </m:ctrlPr>
                      </m:sSubPr>
                      <m:e>
                        <m:r>
                          <a:rPr lang="en-US" altLang="zh-TW" sz="2000" b="1" i="1">
                            <a:solidFill>
                              <a:schemeClr val="tx2"/>
                            </a:solidFill>
                            <a:latin typeface="Cambria Math" panose="02040503050406030204" pitchFamily="18" charset="0"/>
                          </a:rPr>
                          <m:t>𝒙</m:t>
                        </m:r>
                      </m:e>
                      <m:sub>
                        <m:r>
                          <a:rPr lang="en-US" altLang="zh-TW" sz="2000" b="1" i="1">
                            <a:solidFill>
                              <a:schemeClr val="tx2"/>
                            </a:solidFill>
                            <a:latin typeface="Cambria Math" panose="02040503050406030204" pitchFamily="18" charset="0"/>
                          </a:rPr>
                          <m:t>𝒕</m:t>
                        </m:r>
                        <m:r>
                          <a:rPr lang="en-US" altLang="zh-TW" sz="2000" b="1" i="1">
                            <a:solidFill>
                              <a:schemeClr val="tx2"/>
                            </a:solidFill>
                            <a:latin typeface="Cambria Math" panose="02040503050406030204" pitchFamily="18" charset="0"/>
                          </a:rPr>
                          <m:t>+</m:t>
                        </m:r>
                        <m:r>
                          <a:rPr lang="zh-TW" altLang="en-US" sz="2000" b="1" i="1">
                            <a:solidFill>
                              <a:schemeClr val="tx2"/>
                            </a:solidFill>
                            <a:latin typeface="Cambria Math" panose="02040503050406030204" pitchFamily="18" charset="0"/>
                          </a:rPr>
                          <m:t>𝝉</m:t>
                        </m:r>
                      </m:sub>
                    </m:sSub>
                  </m:oMath>
                </a14:m>
                <a:r>
                  <a:rPr lang="zh-TW" altLang="en-US" sz="2000" dirty="0">
                    <a:solidFill>
                      <a:schemeClr val="tx2"/>
                    </a:solidFill>
                  </a:rPr>
                  <a:t>表示過去已實現報酬，本研究中使用已實現對數報酬率，可利用</a:t>
                </a:r>
                <a:r>
                  <a:rPr lang="en-US" altLang="zh-TW" sz="2000" dirty="0" err="1">
                    <a:solidFill>
                      <a:schemeClr val="tx2"/>
                    </a:solidFill>
                  </a:rPr>
                  <a:t>OptionMetrics</a:t>
                </a:r>
                <a:r>
                  <a:rPr lang="zh-TW" altLang="en-US" sz="2000" dirty="0">
                    <a:solidFill>
                      <a:schemeClr val="tx2"/>
                    </a:solidFill>
                  </a:rPr>
                  <a:t>等資料庫獲得</a:t>
                </a:r>
                <a:endParaRPr lang="en-US" altLang="zh-TW" sz="2000" dirty="0">
                  <a:solidFill>
                    <a:schemeClr val="tx2"/>
                  </a:solidFill>
                </a:endParaRPr>
              </a:p>
              <a:p>
                <a:pPr marL="799465" lvl="1" indent="-342900">
                  <a:lnSpc>
                    <a:spcPct val="150000"/>
                  </a:lnSpc>
                  <a:buClr>
                    <a:schemeClr val="accent1"/>
                  </a:buClr>
                  <a:buFont typeface="Arial" panose="020B0604020202020204" pitchFamily="34" charset="0"/>
                  <a:buChar char="•"/>
                </a:pPr>
                <a14:m>
                  <m:oMath xmlns:m="http://schemas.openxmlformats.org/officeDocument/2006/math">
                    <m:r>
                      <a:rPr lang="en-US" altLang="zh-TW" sz="2000" b="1" i="1">
                        <a:solidFill>
                          <a:schemeClr val="tx2"/>
                        </a:solidFill>
                        <a:latin typeface="Cambria Math" panose="02040503050406030204" pitchFamily="18" charset="0"/>
                      </a:rPr>
                      <m:t>𝒅</m:t>
                    </m:r>
                    <m:sSup>
                      <m:sSupPr>
                        <m:ctrlPr>
                          <a:rPr lang="en-US" altLang="zh-TW" sz="2000" b="1" i="1">
                            <a:solidFill>
                              <a:schemeClr val="tx2"/>
                            </a:solidFill>
                            <a:latin typeface="Cambria Math" panose="02040503050406030204" pitchFamily="18" charset="0"/>
                          </a:rPr>
                        </m:ctrlPr>
                      </m:sSupPr>
                      <m:e>
                        <m:r>
                          <a:rPr lang="zh-TW" altLang="en-US" sz="2000" b="1" i="1">
                            <a:solidFill>
                              <a:schemeClr val="tx2"/>
                            </a:solidFill>
                            <a:latin typeface="Cambria Math" panose="02040503050406030204" pitchFamily="18" charset="0"/>
                          </a:rPr>
                          <m:t>𝔽</m:t>
                        </m:r>
                      </m:e>
                      <m:sup>
                        <m:r>
                          <a:rPr lang="en-US" altLang="zh-TW" sz="2000" b="1" i="1">
                            <a:solidFill>
                              <a:schemeClr val="tx2"/>
                            </a:solidFill>
                            <a:latin typeface="Cambria Math" panose="02040503050406030204" pitchFamily="18" charset="0"/>
                          </a:rPr>
                          <m:t>𝑸</m:t>
                        </m:r>
                      </m:sup>
                    </m:sSup>
                    <m:r>
                      <a:rPr lang="en-US" altLang="zh-TW" sz="2000" b="1" i="1">
                        <a:solidFill>
                          <a:schemeClr val="tx2"/>
                        </a:solidFill>
                        <a:latin typeface="Cambria Math" panose="02040503050406030204" pitchFamily="18" charset="0"/>
                      </a:rPr>
                      <m:t>(</m:t>
                    </m:r>
                    <m:r>
                      <a:rPr lang="en-US" altLang="zh-TW" sz="2000" b="1" i="1">
                        <a:solidFill>
                          <a:schemeClr val="tx2"/>
                        </a:solidFill>
                        <a:latin typeface="Cambria Math" panose="02040503050406030204" pitchFamily="18" charset="0"/>
                      </a:rPr>
                      <m:t>𝒚</m:t>
                    </m:r>
                    <m:r>
                      <a:rPr lang="en-US" altLang="zh-TW" sz="2000" b="1" i="1">
                        <a:solidFill>
                          <a:schemeClr val="tx2"/>
                        </a:solidFill>
                        <a:latin typeface="Cambria Math" panose="02040503050406030204" pitchFamily="18" charset="0"/>
                      </a:rPr>
                      <m:t>|</m:t>
                    </m:r>
                    <m:sSub>
                      <m:sSubPr>
                        <m:ctrlPr>
                          <a:rPr lang="en-US" altLang="zh-TW" sz="2000" b="1" i="1">
                            <a:solidFill>
                              <a:schemeClr val="tx2"/>
                            </a:solidFill>
                            <a:latin typeface="Cambria Math" panose="02040503050406030204" pitchFamily="18" charset="0"/>
                          </a:rPr>
                        </m:ctrlPr>
                      </m:sSubPr>
                      <m:e>
                        <m:r>
                          <a:rPr lang="en-US" altLang="zh-TW" sz="2000" b="1" i="1">
                            <a:solidFill>
                              <a:schemeClr val="tx2"/>
                            </a:solidFill>
                            <a:latin typeface="Cambria Math" panose="02040503050406030204" pitchFamily="18" charset="0"/>
                            <a:ea typeface="Cambria Math" panose="02040503050406030204" pitchFamily="18" charset="0"/>
                          </a:rPr>
                          <m:t>𝓕</m:t>
                        </m:r>
                      </m:e>
                      <m:sub>
                        <m:r>
                          <a:rPr lang="en-US" altLang="zh-TW" sz="2000" b="1" i="1">
                            <a:solidFill>
                              <a:schemeClr val="tx2"/>
                            </a:solidFill>
                            <a:latin typeface="Cambria Math" panose="02040503050406030204" pitchFamily="18" charset="0"/>
                          </a:rPr>
                          <m:t>𝒕</m:t>
                        </m:r>
                      </m:sub>
                    </m:sSub>
                    <m:r>
                      <a:rPr lang="en-US" altLang="zh-TW" sz="2000" b="1" i="1">
                        <a:solidFill>
                          <a:schemeClr val="tx2"/>
                        </a:solidFill>
                        <a:latin typeface="Cambria Math" panose="02040503050406030204" pitchFamily="18" charset="0"/>
                      </a:rPr>
                      <m:t>)</m:t>
                    </m:r>
                  </m:oMath>
                </a14:m>
                <a:r>
                  <a:rPr lang="zh-TW" altLang="en-US" sz="2000" b="1" dirty="0">
                    <a:solidFill>
                      <a:schemeClr val="tx2"/>
                    </a:solidFill>
                  </a:rPr>
                  <a:t>為風險中立機率密度函數，參考</a:t>
                </a:r>
                <a:r>
                  <a:rPr lang="en-US" altLang="zh-TW" sz="2000" b="1" dirty="0" err="1">
                    <a:solidFill>
                      <a:schemeClr val="tx2"/>
                    </a:solidFill>
                  </a:rPr>
                  <a:t>Figlewski</a:t>
                </a:r>
                <a:r>
                  <a:rPr lang="zh-TW" altLang="en-US" sz="2000" b="1" dirty="0">
                    <a:solidFill>
                      <a:schemeClr val="tx2"/>
                    </a:solidFill>
                  </a:rPr>
                  <a:t> </a:t>
                </a:r>
                <a:r>
                  <a:rPr lang="en-US" altLang="zh-TW" sz="2000" b="1" dirty="0">
                    <a:solidFill>
                      <a:schemeClr val="tx2"/>
                    </a:solidFill>
                  </a:rPr>
                  <a:t>(2009) </a:t>
                </a:r>
                <a:r>
                  <a:rPr lang="zh-TW" altLang="en-US" sz="2000" b="1" dirty="0">
                    <a:solidFill>
                      <a:schemeClr val="tx2"/>
                    </a:solidFill>
                  </a:rPr>
                  <a:t>提出之方法估計</a:t>
                </a:r>
                <a:endParaRPr lang="en-US" altLang="zh-TW" sz="2000" b="1" dirty="0">
                  <a:solidFill>
                    <a:schemeClr val="tx2"/>
                  </a:solidFill>
                </a:endParaRPr>
              </a:p>
            </p:txBody>
          </p:sp>
        </mc:Choice>
        <mc:Fallback xmlns="">
          <p:sp>
            <p:nvSpPr>
              <p:cNvPr id="7" name="文字方塊 6">
                <a:extLst>
                  <a:ext uri="{FF2B5EF4-FFF2-40B4-BE49-F238E27FC236}">
                    <a16:creationId xmlns:a16="http://schemas.microsoft.com/office/drawing/2014/main" id="{970D2BF0-1F9D-C8A9-0498-98490504A8C3}"/>
                  </a:ext>
                </a:extLst>
              </p:cNvPr>
              <p:cNvSpPr txBox="1">
                <a:spLocks noRot="1" noChangeAspect="1" noMove="1" noResize="1" noEditPoints="1" noAdjustHandles="1" noChangeArrowheads="1" noChangeShapeType="1" noTextEdit="1"/>
              </p:cNvSpPr>
              <p:nvPr/>
            </p:nvSpPr>
            <p:spPr>
              <a:xfrm>
                <a:off x="115740" y="418596"/>
                <a:ext cx="12132244" cy="5939318"/>
              </a:xfrm>
              <a:prstGeom prst="rect">
                <a:avLst/>
              </a:prstGeom>
              <a:blipFill>
                <a:blip r:embed="rId2"/>
                <a:stretch>
                  <a:fillRect l="-553" r="-452" b="-1848"/>
                </a:stretch>
              </a:blipFill>
            </p:spPr>
            <p:txBody>
              <a:bodyPr/>
              <a:lstStyle/>
              <a:p>
                <a:r>
                  <a:rPr lang="zh-TW" altLang="en-US">
                    <a:noFill/>
                  </a:rPr>
                  <a:t> </a:t>
                </a:r>
              </a:p>
            </p:txBody>
          </p:sp>
        </mc:Fallback>
      </mc:AlternateContent>
      <p:sp>
        <p:nvSpPr>
          <p:cNvPr id="9" name="文字版面配置區 2">
            <a:extLst>
              <a:ext uri="{FF2B5EF4-FFF2-40B4-BE49-F238E27FC236}">
                <a16:creationId xmlns:a16="http://schemas.microsoft.com/office/drawing/2014/main" id="{30925242-CE61-083D-F737-C029949E5D62}"/>
              </a:ext>
            </a:extLst>
          </p:cNvPr>
          <p:cNvSpPr>
            <a:spLocks noGrp="1"/>
          </p:cNvSpPr>
          <p:nvPr>
            <p:ph type="body" sz="quarter" idx="10"/>
          </p:nvPr>
        </p:nvSpPr>
        <p:spPr>
          <a:xfrm>
            <a:off x="2444620" y="207796"/>
            <a:ext cx="5840413" cy="436563"/>
          </a:xfrm>
        </p:spPr>
        <p:txBody>
          <a:bodyPr/>
          <a:lstStyle/>
          <a:p>
            <a:r>
              <a:rPr lang="zh-TW" altLang="en-US" dirty="0"/>
              <a:t>定價核估計</a:t>
            </a:r>
            <a:r>
              <a:rPr lang="en-US" altLang="zh-TW" dirty="0"/>
              <a:t>—CDI</a:t>
            </a:r>
            <a:r>
              <a:rPr lang="zh-TW" altLang="en-US" dirty="0"/>
              <a:t> 方法</a:t>
            </a:r>
            <a:endParaRPr lang="en-US" altLang="zh-TW" dirty="0"/>
          </a:p>
          <a:p>
            <a:endParaRPr lang="zh-TW" altLang="en-US" dirty="0"/>
          </a:p>
        </p:txBody>
      </p:sp>
      <p:sp>
        <p:nvSpPr>
          <p:cNvPr id="10" name="內容版面配置區 3">
            <a:extLst>
              <a:ext uri="{FF2B5EF4-FFF2-40B4-BE49-F238E27FC236}">
                <a16:creationId xmlns:a16="http://schemas.microsoft.com/office/drawing/2014/main" id="{57976172-93BD-6349-62C4-9991DB8BF791}"/>
              </a:ext>
            </a:extLst>
          </p:cNvPr>
          <p:cNvSpPr>
            <a:spLocks noGrp="1"/>
          </p:cNvSpPr>
          <p:nvPr>
            <p:ph sz="quarter" idx="11"/>
          </p:nvPr>
        </p:nvSpPr>
        <p:spPr>
          <a:xfrm>
            <a:off x="1268268" y="200314"/>
            <a:ext cx="1176352" cy="436564"/>
          </a:xfrm>
        </p:spPr>
        <p:txBody>
          <a:bodyPr/>
          <a:lstStyle/>
          <a:p>
            <a:r>
              <a:rPr lang="en-US" altLang="zh-TW" dirty="0"/>
              <a:t>2.1.1</a:t>
            </a:r>
            <a:endParaRPr lang="zh-TW" altLang="en-US" dirty="0"/>
          </a:p>
        </p:txBody>
      </p:sp>
    </p:spTree>
    <p:extLst>
      <p:ext uri="{BB962C8B-B14F-4D97-AF65-F5344CB8AC3E}">
        <p14:creationId xmlns:p14="http://schemas.microsoft.com/office/powerpoint/2010/main" val="3645325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A0757753-E8BB-0CC1-FB2E-87B38092E64C}"/>
              </a:ext>
            </a:extLst>
          </p:cNvPr>
          <p:cNvSpPr txBox="1"/>
          <p:nvPr/>
        </p:nvSpPr>
        <p:spPr>
          <a:xfrm>
            <a:off x="261257" y="889519"/>
            <a:ext cx="11246498" cy="3600986"/>
          </a:xfrm>
          <a:prstGeom prst="rect">
            <a:avLst/>
          </a:prstGeom>
          <a:noFill/>
        </p:spPr>
        <p:txBody>
          <a:bodyPr wrap="square" rtlCol="0">
            <a:spAutoFit/>
          </a:bodyPr>
          <a:lstStyle/>
          <a:p>
            <a:r>
              <a:rPr lang="zh-TW" altLang="en-US" sz="2400" b="1" dirty="0">
                <a:solidFill>
                  <a:schemeClr val="tx2"/>
                </a:solidFill>
              </a:rPr>
              <a:t>估計風險中立機率密度函數</a:t>
            </a:r>
            <a:endParaRPr lang="en-US" altLang="zh-TW" sz="2400" b="1"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使用來自</a:t>
            </a:r>
            <a:r>
              <a:rPr lang="en-US" altLang="zh-TW" sz="2000" dirty="0" err="1">
                <a:solidFill>
                  <a:schemeClr val="tx2"/>
                </a:solidFill>
              </a:rPr>
              <a:t>OptionMetrics</a:t>
            </a:r>
            <a:r>
              <a:rPr lang="zh-TW" altLang="en-US" sz="2000" dirty="0">
                <a:solidFill>
                  <a:schemeClr val="tx2"/>
                </a:solidFill>
              </a:rPr>
              <a:t>中</a:t>
            </a:r>
            <a:r>
              <a:rPr lang="en-US" altLang="zh-TW" sz="2000" dirty="0">
                <a:solidFill>
                  <a:schemeClr val="tx2"/>
                </a:solidFill>
              </a:rPr>
              <a:t>1996</a:t>
            </a:r>
            <a:r>
              <a:rPr lang="zh-TW" altLang="en-US" sz="2000" dirty="0">
                <a:solidFill>
                  <a:schemeClr val="tx2"/>
                </a:solidFill>
              </a:rPr>
              <a:t>年</a:t>
            </a:r>
            <a:r>
              <a:rPr lang="en-US" altLang="zh-TW" sz="2000" dirty="0">
                <a:solidFill>
                  <a:schemeClr val="tx2"/>
                </a:solidFill>
              </a:rPr>
              <a:t>1</a:t>
            </a:r>
            <a:r>
              <a:rPr lang="zh-TW" altLang="en-US" sz="2000" dirty="0">
                <a:solidFill>
                  <a:schemeClr val="tx2"/>
                </a:solidFill>
              </a:rPr>
              <a:t>月至</a:t>
            </a:r>
            <a:r>
              <a:rPr lang="en-US" altLang="zh-TW" sz="2000" dirty="0">
                <a:solidFill>
                  <a:schemeClr val="tx2"/>
                </a:solidFill>
              </a:rPr>
              <a:t>2014</a:t>
            </a:r>
            <a:r>
              <a:rPr lang="zh-TW" altLang="en-US" sz="2000" dirty="0">
                <a:solidFill>
                  <a:schemeClr val="tx2"/>
                </a:solidFill>
              </a:rPr>
              <a:t>年</a:t>
            </a:r>
            <a:r>
              <a:rPr lang="en-US" altLang="zh-TW" sz="2000" dirty="0">
                <a:solidFill>
                  <a:schemeClr val="tx2"/>
                </a:solidFill>
              </a:rPr>
              <a:t>12</a:t>
            </a:r>
            <a:r>
              <a:rPr lang="zh-TW" altLang="en-US" sz="2000" dirty="0">
                <a:solidFill>
                  <a:schemeClr val="tx2"/>
                </a:solidFill>
              </a:rPr>
              <a:t>月的每日</a:t>
            </a:r>
            <a:r>
              <a:rPr lang="en-US" altLang="zh-TW" sz="2000" dirty="0">
                <a:solidFill>
                  <a:schemeClr val="tx2"/>
                </a:solidFill>
              </a:rPr>
              <a:t>S&amp;P</a:t>
            </a:r>
            <a:r>
              <a:rPr lang="zh-TW" altLang="en-US" sz="2000" dirty="0">
                <a:solidFill>
                  <a:schemeClr val="tx2"/>
                </a:solidFill>
              </a:rPr>
              <a:t> </a:t>
            </a:r>
            <a:r>
              <a:rPr lang="en-US" altLang="zh-TW" sz="2000" dirty="0">
                <a:solidFill>
                  <a:schemeClr val="tx2"/>
                </a:solidFill>
              </a:rPr>
              <a:t>500</a:t>
            </a:r>
            <a:r>
              <a:rPr lang="zh-TW" altLang="en-US" sz="2000" dirty="0">
                <a:solidFill>
                  <a:schemeClr val="tx2"/>
                </a:solidFill>
              </a:rPr>
              <a:t>指數選擇權資料，</a:t>
            </a:r>
            <a:endParaRPr lang="en-US" altLang="zh-TW" sz="2000"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每月擷取距到期日時間為一個月的買權及賣權選擇權資料</a:t>
            </a:r>
            <a:r>
              <a:rPr lang="en-US" altLang="zh-TW" sz="2000" dirty="0">
                <a:solidFill>
                  <a:schemeClr val="tx2"/>
                </a:solidFill>
              </a:rPr>
              <a:t>(</a:t>
            </a:r>
            <a:r>
              <a:rPr lang="zh-TW" altLang="en-US" sz="2000" dirty="0">
                <a:solidFill>
                  <a:schemeClr val="tx2"/>
                </a:solidFill>
              </a:rPr>
              <a:t>共</a:t>
            </a:r>
            <a:r>
              <a:rPr lang="en-US" altLang="zh-TW" sz="2000" dirty="0">
                <a:solidFill>
                  <a:schemeClr val="tx2"/>
                </a:solidFill>
              </a:rPr>
              <a:t>228</a:t>
            </a:r>
            <a:r>
              <a:rPr lang="zh-TW" altLang="en-US" sz="2000" dirty="0">
                <a:solidFill>
                  <a:schemeClr val="tx2"/>
                </a:solidFill>
              </a:rPr>
              <a:t>個月份，</a:t>
            </a:r>
            <a:r>
              <a:rPr lang="en-US" altLang="zh-TW" sz="2000" dirty="0" err="1">
                <a:solidFill>
                  <a:schemeClr val="tx2"/>
                </a:solidFill>
              </a:rPr>
              <a:t>datasize</a:t>
            </a:r>
            <a:r>
              <a:rPr lang="zh-TW" altLang="en-US" sz="2000" dirty="0">
                <a:solidFill>
                  <a:schemeClr val="tx2"/>
                </a:solidFill>
              </a:rPr>
              <a:t> </a:t>
            </a:r>
            <a:r>
              <a:rPr lang="en-US" altLang="zh-TW" sz="2000" dirty="0">
                <a:solidFill>
                  <a:schemeClr val="tx2"/>
                </a:solidFill>
              </a:rPr>
              <a:t>=</a:t>
            </a:r>
            <a:r>
              <a:rPr lang="zh-TW" altLang="en-US" sz="2000" dirty="0">
                <a:solidFill>
                  <a:schemeClr val="tx2"/>
                </a:solidFill>
              </a:rPr>
              <a:t> </a:t>
            </a:r>
            <a:r>
              <a:rPr lang="en-US" altLang="zh-TW" sz="2000" dirty="0">
                <a:solidFill>
                  <a:schemeClr val="tx2"/>
                </a:solidFill>
              </a:rPr>
              <a:t>228)</a:t>
            </a:r>
            <a:r>
              <a:rPr lang="zh-TW" altLang="en-US" sz="2000" dirty="0">
                <a:solidFill>
                  <a:schemeClr val="tx2"/>
                </a:solidFill>
              </a:rPr>
              <a:t> </a:t>
            </a:r>
            <a:endParaRPr lang="en-US" altLang="zh-TW" sz="2000"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構成一組非重疊（</a:t>
            </a:r>
            <a:r>
              <a:rPr lang="en-US" altLang="zh-TW" sz="2000" dirty="0">
                <a:solidFill>
                  <a:schemeClr val="tx2"/>
                </a:solidFill>
              </a:rPr>
              <a:t>nonoverlapping</a:t>
            </a:r>
            <a:r>
              <a:rPr lang="zh-TW" altLang="en-US" sz="2000" dirty="0">
                <a:solidFill>
                  <a:schemeClr val="tx2"/>
                </a:solidFill>
              </a:rPr>
              <a:t>）的時間序列資料 </a:t>
            </a:r>
            <a:r>
              <a:rPr lang="en-US" altLang="zh-TW" sz="2000" dirty="0">
                <a:solidFill>
                  <a:schemeClr val="tx2"/>
                </a:solidFill>
              </a:rPr>
              <a:t>(</a:t>
            </a:r>
            <a:r>
              <a:rPr lang="en-US" altLang="zh-TW" sz="2000" dirty="0">
                <a:solidFill>
                  <a:schemeClr val="tx2"/>
                </a:solidFill>
                <a:hlinkClick r:id="rId3" action="ppaction://hlinksldjump"/>
              </a:rPr>
              <a:t>*</a:t>
            </a:r>
            <a:r>
              <a:rPr lang="en-US" altLang="zh-TW" sz="2000" dirty="0">
                <a:solidFill>
                  <a:schemeClr val="tx2"/>
                </a:solidFill>
              </a:rPr>
              <a:t>)</a:t>
            </a:r>
          </a:p>
          <a:p>
            <a:pPr marL="799465" lvl="1" indent="-342900">
              <a:buClr>
                <a:schemeClr val="accent1"/>
              </a:buClr>
              <a:buFont typeface="Arial" panose="020B0604020202020204" pitchFamily="34" charset="0"/>
              <a:buChar char="•"/>
            </a:pPr>
            <a:r>
              <a:rPr lang="zh-TW" altLang="en-US" sz="2000" dirty="0">
                <a:solidFill>
                  <a:schemeClr val="tx2"/>
                </a:solidFill>
              </a:rPr>
              <a:t>刻意以每月頻率擷取月選擇權資料，其目的為月選擇權反映了投資者對下個月標的物報酬之預期信念，為確保每個預期信念反映期間的獨立性，因此需避免讓預期信念的反映期間相互重疊</a:t>
            </a:r>
            <a:endParaRPr lang="en-US" altLang="zh-TW" sz="2000" dirty="0">
              <a:solidFill>
                <a:schemeClr val="tx2"/>
              </a:solidFill>
            </a:endParaRPr>
          </a:p>
          <a:p>
            <a:pPr marL="799465" lvl="1" indent="-342900">
              <a:buClr>
                <a:schemeClr val="accent1"/>
              </a:buClr>
              <a:buFont typeface="Arial" panose="020B0604020202020204" pitchFamily="34" charset="0"/>
              <a:buChar char="•"/>
            </a:pPr>
            <a:endParaRPr lang="en-US" altLang="zh-TW" sz="2000"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刪除價格極小的選擇權後</a:t>
            </a:r>
            <a:endParaRPr lang="en-US" altLang="zh-TW" sz="2000" dirty="0">
              <a:solidFill>
                <a:schemeClr val="tx2"/>
              </a:solidFill>
            </a:endParaRPr>
          </a:p>
          <a:p>
            <a:pPr marL="912813" lvl="2" indent="-104775">
              <a:buClr>
                <a:schemeClr val="accent1"/>
              </a:buClr>
            </a:pPr>
            <a:r>
              <a:rPr lang="zh-TW" altLang="en-US" sz="2000" dirty="0">
                <a:solidFill>
                  <a:schemeClr val="tx2"/>
                </a:solidFill>
              </a:rPr>
              <a:t>計算買權及賣權之隱含波動度</a:t>
            </a:r>
            <a:endParaRPr lang="en-US" altLang="zh-TW" sz="2000" dirty="0">
              <a:solidFill>
                <a:schemeClr val="tx2"/>
              </a:solidFill>
            </a:endParaRPr>
          </a:p>
          <a:p>
            <a:r>
              <a:rPr lang="en-US" altLang="zh-TW" sz="2400" b="1" dirty="0">
                <a:solidFill>
                  <a:schemeClr val="tx2"/>
                </a:solidFill>
              </a:rPr>
              <a:t>	</a:t>
            </a:r>
            <a:endParaRPr lang="zh-TW" altLang="en-US" sz="2400" b="1" dirty="0">
              <a:solidFill>
                <a:schemeClr val="tx2"/>
              </a:solidFill>
            </a:endParaRPr>
          </a:p>
        </p:txBody>
      </p:sp>
      <p:pic>
        <p:nvPicPr>
          <p:cNvPr id="6" name="圖片 5" descr="一張含有 螢幕擷取畫面, 行, 圖表, 繪圖 的圖片&#10;&#10;AI 產生的內容可能不正確。">
            <a:extLst>
              <a:ext uri="{FF2B5EF4-FFF2-40B4-BE49-F238E27FC236}">
                <a16:creationId xmlns:a16="http://schemas.microsoft.com/office/drawing/2014/main" id="{CAFC6E18-81DA-3CAE-50A3-DD0E6A1447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03366" y="2536123"/>
            <a:ext cx="7504389" cy="4502634"/>
          </a:xfrm>
          <a:prstGeom prst="rect">
            <a:avLst/>
          </a:prstGeom>
        </p:spPr>
      </p:pic>
      <p:sp>
        <p:nvSpPr>
          <p:cNvPr id="10" name="文字版面配置區 2">
            <a:extLst>
              <a:ext uri="{FF2B5EF4-FFF2-40B4-BE49-F238E27FC236}">
                <a16:creationId xmlns:a16="http://schemas.microsoft.com/office/drawing/2014/main" id="{E28C71FB-B52C-B0E0-0B80-480279B80EEF}"/>
              </a:ext>
            </a:extLst>
          </p:cNvPr>
          <p:cNvSpPr>
            <a:spLocks noGrp="1"/>
          </p:cNvSpPr>
          <p:nvPr>
            <p:ph type="body" sz="quarter" idx="10"/>
          </p:nvPr>
        </p:nvSpPr>
        <p:spPr>
          <a:xfrm>
            <a:off x="2444620" y="207796"/>
            <a:ext cx="5840413" cy="436563"/>
          </a:xfrm>
        </p:spPr>
        <p:txBody>
          <a:bodyPr/>
          <a:lstStyle/>
          <a:p>
            <a:r>
              <a:rPr lang="zh-TW" altLang="en-US" dirty="0"/>
              <a:t>定價核估計</a:t>
            </a:r>
            <a:r>
              <a:rPr lang="en-US" altLang="zh-TW" dirty="0"/>
              <a:t>—CDI</a:t>
            </a:r>
            <a:r>
              <a:rPr lang="zh-TW" altLang="en-US" dirty="0"/>
              <a:t> 方法</a:t>
            </a:r>
            <a:endParaRPr lang="en-US" altLang="zh-TW" dirty="0"/>
          </a:p>
          <a:p>
            <a:endParaRPr lang="zh-TW" altLang="en-US" dirty="0"/>
          </a:p>
        </p:txBody>
      </p:sp>
      <p:sp>
        <p:nvSpPr>
          <p:cNvPr id="11" name="內容版面配置區 3">
            <a:extLst>
              <a:ext uri="{FF2B5EF4-FFF2-40B4-BE49-F238E27FC236}">
                <a16:creationId xmlns:a16="http://schemas.microsoft.com/office/drawing/2014/main" id="{2FA68749-B1E3-8271-465D-D0076A21E161}"/>
              </a:ext>
            </a:extLst>
          </p:cNvPr>
          <p:cNvSpPr>
            <a:spLocks noGrp="1"/>
          </p:cNvSpPr>
          <p:nvPr>
            <p:ph sz="quarter" idx="11"/>
          </p:nvPr>
        </p:nvSpPr>
        <p:spPr>
          <a:xfrm>
            <a:off x="1268268" y="200314"/>
            <a:ext cx="1176352" cy="436564"/>
          </a:xfrm>
        </p:spPr>
        <p:txBody>
          <a:bodyPr/>
          <a:lstStyle/>
          <a:p>
            <a:r>
              <a:rPr lang="en-US" altLang="zh-TW" dirty="0"/>
              <a:t>2.1.1</a:t>
            </a:r>
            <a:endParaRPr lang="zh-TW" altLang="en-US" dirty="0"/>
          </a:p>
        </p:txBody>
      </p:sp>
    </p:spTree>
    <p:extLst>
      <p:ext uri="{BB962C8B-B14F-4D97-AF65-F5344CB8AC3E}">
        <p14:creationId xmlns:p14="http://schemas.microsoft.com/office/powerpoint/2010/main" val="2798720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A0757753-E8BB-0CC1-FB2E-87B38092E64C}"/>
              </a:ext>
            </a:extLst>
          </p:cNvPr>
          <p:cNvSpPr txBox="1"/>
          <p:nvPr/>
        </p:nvSpPr>
        <p:spPr>
          <a:xfrm>
            <a:off x="261256" y="889519"/>
            <a:ext cx="11632163" cy="2308324"/>
          </a:xfrm>
          <a:prstGeom prst="rect">
            <a:avLst/>
          </a:prstGeom>
          <a:noFill/>
        </p:spPr>
        <p:txBody>
          <a:bodyPr wrap="square" rtlCol="0">
            <a:spAutoFit/>
          </a:bodyPr>
          <a:lstStyle/>
          <a:p>
            <a:r>
              <a:rPr lang="zh-TW" altLang="en-US" sz="2400" b="1" dirty="0">
                <a:solidFill>
                  <a:schemeClr val="tx2"/>
                </a:solidFill>
              </a:rPr>
              <a:t>估計風險中立機率密度函數</a:t>
            </a:r>
            <a:endParaRPr lang="en-US" altLang="zh-TW" sz="2000"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刪除價內選擇權</a:t>
            </a:r>
            <a:endParaRPr lang="en-US" altLang="zh-TW" sz="2000"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價平處：使用邏輯斯諦函數</a:t>
            </a:r>
            <a:r>
              <a:rPr lang="en-US" altLang="zh-TW" sz="2000" dirty="0">
                <a:solidFill>
                  <a:schemeClr val="tx2"/>
                </a:solidFill>
              </a:rPr>
              <a:t>(logistic function)</a:t>
            </a:r>
            <a:r>
              <a:rPr lang="zh-TW" altLang="en-US" sz="2000" dirty="0">
                <a:solidFill>
                  <a:schemeClr val="tx2"/>
                </a:solidFill>
              </a:rPr>
              <a:t>當作加權係數結合買賣權的隱含波動度產生價平處的隱含波動度</a:t>
            </a:r>
            <a:endParaRPr lang="en-US" altLang="zh-TW" sz="2000"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連接價外買權隱含波動度、價外賣權隱含波動度、價平處的隱含波動度，得到離散的隱含波動度曲線</a:t>
            </a:r>
            <a:endParaRPr lang="en-US" altLang="zh-TW" sz="2000"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使用四次樣條函數擬合出連續的隱含波動度曲線</a:t>
            </a:r>
            <a:endParaRPr lang="zh-TW" altLang="en-US" sz="2400" b="1" dirty="0">
              <a:solidFill>
                <a:schemeClr val="tx2"/>
              </a:solidFill>
            </a:endParaRPr>
          </a:p>
        </p:txBody>
      </p:sp>
      <p:pic>
        <p:nvPicPr>
          <p:cNvPr id="6" name="圖片 5">
            <a:extLst>
              <a:ext uri="{FF2B5EF4-FFF2-40B4-BE49-F238E27FC236}">
                <a16:creationId xmlns:a16="http://schemas.microsoft.com/office/drawing/2014/main" id="{CAFC6E18-81DA-3CAE-50A3-DD0E6A14472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8186" y="2863942"/>
            <a:ext cx="6848668" cy="4109200"/>
          </a:xfrm>
          <a:prstGeom prst="rect">
            <a:avLst/>
          </a:prstGeom>
        </p:spPr>
      </p:pic>
      <p:pic>
        <p:nvPicPr>
          <p:cNvPr id="5" name="圖片 4">
            <a:extLst>
              <a:ext uri="{FF2B5EF4-FFF2-40B4-BE49-F238E27FC236}">
                <a16:creationId xmlns:a16="http://schemas.microsoft.com/office/drawing/2014/main" id="{33848A3B-50CE-89D8-F17B-0319B46C4F7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825414" y="2863942"/>
            <a:ext cx="6848666" cy="4109200"/>
          </a:xfrm>
          <a:prstGeom prst="rect">
            <a:avLst/>
          </a:prstGeom>
        </p:spPr>
      </p:pic>
      <p:sp>
        <p:nvSpPr>
          <p:cNvPr id="11" name="文字版面配置區 2">
            <a:extLst>
              <a:ext uri="{FF2B5EF4-FFF2-40B4-BE49-F238E27FC236}">
                <a16:creationId xmlns:a16="http://schemas.microsoft.com/office/drawing/2014/main" id="{F694D211-A6C6-2A71-DBCF-BE8647AF7430}"/>
              </a:ext>
            </a:extLst>
          </p:cNvPr>
          <p:cNvSpPr>
            <a:spLocks noGrp="1"/>
          </p:cNvSpPr>
          <p:nvPr>
            <p:ph type="body" sz="quarter" idx="10"/>
          </p:nvPr>
        </p:nvSpPr>
        <p:spPr>
          <a:xfrm>
            <a:off x="2444620" y="207796"/>
            <a:ext cx="5840413" cy="436563"/>
          </a:xfrm>
        </p:spPr>
        <p:txBody>
          <a:bodyPr/>
          <a:lstStyle/>
          <a:p>
            <a:r>
              <a:rPr lang="zh-TW" altLang="en-US" dirty="0"/>
              <a:t>定價核估計</a:t>
            </a:r>
            <a:r>
              <a:rPr lang="en-US" altLang="zh-TW" dirty="0"/>
              <a:t>—CDI</a:t>
            </a:r>
            <a:r>
              <a:rPr lang="zh-TW" altLang="en-US" dirty="0"/>
              <a:t> 方法</a:t>
            </a:r>
            <a:endParaRPr lang="en-US" altLang="zh-TW" dirty="0"/>
          </a:p>
          <a:p>
            <a:endParaRPr lang="zh-TW" altLang="en-US" dirty="0"/>
          </a:p>
        </p:txBody>
      </p:sp>
      <p:sp>
        <p:nvSpPr>
          <p:cNvPr id="12" name="內容版面配置區 3">
            <a:extLst>
              <a:ext uri="{FF2B5EF4-FFF2-40B4-BE49-F238E27FC236}">
                <a16:creationId xmlns:a16="http://schemas.microsoft.com/office/drawing/2014/main" id="{BE030942-DCEC-E25E-4D49-21FC8118A0D5}"/>
              </a:ext>
            </a:extLst>
          </p:cNvPr>
          <p:cNvSpPr>
            <a:spLocks noGrp="1"/>
          </p:cNvSpPr>
          <p:nvPr>
            <p:ph sz="quarter" idx="11"/>
          </p:nvPr>
        </p:nvSpPr>
        <p:spPr>
          <a:xfrm>
            <a:off x="1268268" y="200314"/>
            <a:ext cx="1176352" cy="436564"/>
          </a:xfrm>
        </p:spPr>
        <p:txBody>
          <a:bodyPr/>
          <a:lstStyle/>
          <a:p>
            <a:r>
              <a:rPr lang="en-US" altLang="zh-TW" dirty="0"/>
              <a:t>2.1.1</a:t>
            </a:r>
            <a:endParaRPr lang="zh-TW" altLang="en-US" dirty="0"/>
          </a:p>
        </p:txBody>
      </p:sp>
    </p:spTree>
    <p:extLst>
      <p:ext uri="{BB962C8B-B14F-4D97-AF65-F5344CB8AC3E}">
        <p14:creationId xmlns:p14="http://schemas.microsoft.com/office/powerpoint/2010/main" val="3581554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A0757753-E8BB-0CC1-FB2E-87B38092E64C}"/>
              </a:ext>
            </a:extLst>
          </p:cNvPr>
          <p:cNvSpPr txBox="1"/>
          <p:nvPr/>
        </p:nvSpPr>
        <p:spPr>
          <a:xfrm>
            <a:off x="167950" y="877078"/>
            <a:ext cx="11874760" cy="2308324"/>
          </a:xfrm>
          <a:prstGeom prst="rect">
            <a:avLst/>
          </a:prstGeom>
          <a:noFill/>
        </p:spPr>
        <p:txBody>
          <a:bodyPr wrap="square" rtlCol="0">
            <a:spAutoFit/>
          </a:bodyPr>
          <a:lstStyle/>
          <a:p>
            <a:r>
              <a:rPr lang="zh-TW" altLang="en-US" sz="2400" b="1" dirty="0">
                <a:solidFill>
                  <a:schemeClr val="tx2"/>
                </a:solidFill>
              </a:rPr>
              <a:t>估計風險中立機率密度函數</a:t>
            </a:r>
            <a:endParaRPr lang="en-US" altLang="zh-TW" sz="2000"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使用連續隱含波動度曲線及</a:t>
            </a:r>
            <a:r>
              <a:rPr lang="en-US" altLang="zh-TW" sz="2000" dirty="0">
                <a:solidFill>
                  <a:schemeClr val="tx2"/>
                </a:solidFill>
              </a:rPr>
              <a:t>Black-Scholes</a:t>
            </a:r>
            <a:r>
              <a:rPr lang="zh-TW" altLang="en-US" sz="2000" dirty="0">
                <a:solidFill>
                  <a:schemeClr val="tx2"/>
                </a:solidFill>
              </a:rPr>
              <a:t>公式算出連續的買權價格曲線後，利用</a:t>
            </a:r>
            <a:r>
              <a:rPr lang="en-US" altLang="zh-TW" sz="2000" dirty="0">
                <a:solidFill>
                  <a:schemeClr val="tx2"/>
                </a:solidFill>
              </a:rPr>
              <a:t>Breeden</a:t>
            </a:r>
            <a:r>
              <a:rPr lang="zh-TW" altLang="en-US" sz="2000" dirty="0">
                <a:solidFill>
                  <a:schemeClr val="tx2"/>
                </a:solidFill>
              </a:rPr>
              <a:t> </a:t>
            </a:r>
            <a:r>
              <a:rPr lang="en-US" altLang="zh-TW" sz="2000" dirty="0">
                <a:solidFill>
                  <a:schemeClr val="tx2"/>
                </a:solidFill>
              </a:rPr>
              <a:t>and</a:t>
            </a:r>
            <a:r>
              <a:rPr lang="zh-TW" altLang="en-US" sz="2000" dirty="0">
                <a:solidFill>
                  <a:schemeClr val="tx2"/>
                </a:solidFill>
              </a:rPr>
              <a:t> </a:t>
            </a:r>
            <a:r>
              <a:rPr lang="en-US" altLang="zh-TW" sz="2000" dirty="0">
                <a:solidFill>
                  <a:schemeClr val="tx2"/>
                </a:solidFill>
              </a:rPr>
              <a:t>Litzenberger(1978)</a:t>
            </a:r>
            <a:r>
              <a:rPr lang="zh-TW" altLang="en-US" sz="2000" dirty="0">
                <a:solidFill>
                  <a:schemeClr val="tx2"/>
                </a:solidFill>
              </a:rPr>
              <a:t>提出的風險中立機率密度函數估計方法 </a:t>
            </a:r>
            <a:r>
              <a:rPr lang="en-US" altLang="zh-TW" sz="2000" dirty="0">
                <a:solidFill>
                  <a:schemeClr val="tx2"/>
                </a:solidFill>
              </a:rPr>
              <a:t>(</a:t>
            </a:r>
            <a:r>
              <a:rPr lang="en-US" altLang="zh-TW" sz="2000" dirty="0">
                <a:solidFill>
                  <a:schemeClr val="tx2"/>
                </a:solidFill>
                <a:hlinkClick r:id="rId3" action="ppaction://hlinksldjump"/>
              </a:rPr>
              <a:t>*</a:t>
            </a:r>
            <a:r>
              <a:rPr lang="en-US" altLang="zh-TW" sz="2000" dirty="0">
                <a:solidFill>
                  <a:schemeClr val="tx2"/>
                </a:solidFill>
              </a:rPr>
              <a:t>)</a:t>
            </a:r>
            <a:r>
              <a:rPr lang="zh-TW" altLang="en-US" sz="2000" dirty="0">
                <a:solidFill>
                  <a:schemeClr val="tx2"/>
                </a:solidFill>
              </a:rPr>
              <a:t>，得到風險中立機率密度的連續函數</a:t>
            </a:r>
            <a:endParaRPr lang="en-US" altLang="zh-TW" sz="2000"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因為選擇權資訊經過清洗與篩選或是原始交易數據量不足，經過前述步驟得出的風險中立密度函數會於右尾部出現截斷現象</a:t>
            </a:r>
            <a:endParaRPr lang="en-US" altLang="zh-TW" sz="2000" dirty="0">
              <a:solidFill>
                <a:schemeClr val="tx2"/>
              </a:solidFill>
            </a:endParaRPr>
          </a:p>
          <a:p>
            <a:pPr marL="799465" lvl="1" indent="-342900">
              <a:buClr>
                <a:schemeClr val="accent1"/>
              </a:buClr>
              <a:buFont typeface="Arial" panose="020B0604020202020204" pitchFamily="34" charset="0"/>
              <a:buChar char="•"/>
            </a:pPr>
            <a:r>
              <a:rPr lang="zh-TW" altLang="en-US" sz="2000" dirty="0">
                <a:solidFill>
                  <a:schemeClr val="tx2"/>
                </a:solidFill>
              </a:rPr>
              <a:t>利用廣義帕雷托分布</a:t>
            </a:r>
            <a:r>
              <a:rPr lang="en-US" altLang="zh-TW" sz="2000" dirty="0">
                <a:solidFill>
                  <a:schemeClr val="tx2"/>
                </a:solidFill>
              </a:rPr>
              <a:t>(Generalized Pareto Distribution)</a:t>
            </a:r>
            <a:r>
              <a:rPr lang="zh-TW" altLang="en-US" sz="2000" dirty="0">
                <a:solidFill>
                  <a:schemeClr val="tx2"/>
                </a:solidFill>
              </a:rPr>
              <a:t>估計右尾部，將估計結果拼接上被截斷的風險中立密度函數分布以補足整體機率密度函數</a:t>
            </a:r>
          </a:p>
        </p:txBody>
      </p:sp>
      <p:pic>
        <p:nvPicPr>
          <p:cNvPr id="6" name="圖片 5">
            <a:extLst>
              <a:ext uri="{FF2B5EF4-FFF2-40B4-BE49-F238E27FC236}">
                <a16:creationId xmlns:a16="http://schemas.microsoft.com/office/drawing/2014/main" id="{CAFC6E18-81DA-3CAE-50A3-DD0E6A14472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26572" y="2897068"/>
            <a:ext cx="6848666" cy="4109200"/>
          </a:xfrm>
          <a:prstGeom prst="rect">
            <a:avLst/>
          </a:prstGeom>
        </p:spPr>
      </p:pic>
      <p:pic>
        <p:nvPicPr>
          <p:cNvPr id="5" name="圖片 4">
            <a:extLst>
              <a:ext uri="{FF2B5EF4-FFF2-40B4-BE49-F238E27FC236}">
                <a16:creationId xmlns:a16="http://schemas.microsoft.com/office/drawing/2014/main" id="{33848A3B-50CE-89D8-F17B-0319B46C4F7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589039" y="2897068"/>
            <a:ext cx="6848666" cy="4109199"/>
          </a:xfrm>
          <a:prstGeom prst="rect">
            <a:avLst/>
          </a:prstGeom>
        </p:spPr>
      </p:pic>
      <p:sp>
        <p:nvSpPr>
          <p:cNvPr id="11" name="文字版面配置區 2">
            <a:extLst>
              <a:ext uri="{FF2B5EF4-FFF2-40B4-BE49-F238E27FC236}">
                <a16:creationId xmlns:a16="http://schemas.microsoft.com/office/drawing/2014/main" id="{B73671EF-3948-F381-DE96-2E131047C2C8}"/>
              </a:ext>
            </a:extLst>
          </p:cNvPr>
          <p:cNvSpPr>
            <a:spLocks noGrp="1"/>
          </p:cNvSpPr>
          <p:nvPr>
            <p:ph type="body" sz="quarter" idx="10"/>
          </p:nvPr>
        </p:nvSpPr>
        <p:spPr>
          <a:xfrm>
            <a:off x="2444620" y="207796"/>
            <a:ext cx="5840413" cy="436563"/>
          </a:xfrm>
        </p:spPr>
        <p:txBody>
          <a:bodyPr/>
          <a:lstStyle/>
          <a:p>
            <a:r>
              <a:rPr lang="zh-TW" altLang="en-US" dirty="0"/>
              <a:t>定價核估計</a:t>
            </a:r>
            <a:r>
              <a:rPr lang="en-US" altLang="zh-TW" dirty="0"/>
              <a:t>—CDI</a:t>
            </a:r>
            <a:r>
              <a:rPr lang="zh-TW" altLang="en-US" dirty="0"/>
              <a:t> 方法</a:t>
            </a:r>
            <a:endParaRPr lang="en-US" altLang="zh-TW" dirty="0"/>
          </a:p>
          <a:p>
            <a:endParaRPr lang="zh-TW" altLang="en-US" dirty="0"/>
          </a:p>
        </p:txBody>
      </p:sp>
      <p:sp>
        <p:nvSpPr>
          <p:cNvPr id="12" name="內容版面配置區 3">
            <a:extLst>
              <a:ext uri="{FF2B5EF4-FFF2-40B4-BE49-F238E27FC236}">
                <a16:creationId xmlns:a16="http://schemas.microsoft.com/office/drawing/2014/main" id="{53C6D77A-324D-FB98-28BE-D87298ADDAED}"/>
              </a:ext>
            </a:extLst>
          </p:cNvPr>
          <p:cNvSpPr>
            <a:spLocks noGrp="1"/>
          </p:cNvSpPr>
          <p:nvPr>
            <p:ph sz="quarter" idx="11"/>
          </p:nvPr>
        </p:nvSpPr>
        <p:spPr>
          <a:xfrm>
            <a:off x="1268268" y="200314"/>
            <a:ext cx="1176352" cy="436564"/>
          </a:xfrm>
        </p:spPr>
        <p:txBody>
          <a:bodyPr/>
          <a:lstStyle/>
          <a:p>
            <a:r>
              <a:rPr lang="en-US" altLang="zh-TW" dirty="0"/>
              <a:t>2.1.1</a:t>
            </a:r>
            <a:endParaRPr lang="zh-TW" altLang="en-US" dirty="0"/>
          </a:p>
        </p:txBody>
      </p:sp>
    </p:spTree>
    <p:extLst>
      <p:ext uri="{BB962C8B-B14F-4D97-AF65-F5344CB8AC3E}">
        <p14:creationId xmlns:p14="http://schemas.microsoft.com/office/powerpoint/2010/main" val="1443808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A0757753-E8BB-0CC1-FB2E-87B38092E64C}"/>
                  </a:ext>
                </a:extLst>
              </p:cNvPr>
              <p:cNvSpPr txBox="1"/>
              <p:nvPr/>
            </p:nvSpPr>
            <p:spPr>
              <a:xfrm>
                <a:off x="279918" y="884534"/>
                <a:ext cx="11632163" cy="5776261"/>
              </a:xfrm>
              <a:prstGeom prst="rect">
                <a:avLst/>
              </a:prstGeom>
              <a:noFill/>
            </p:spPr>
            <p:txBody>
              <a:bodyPr wrap="square" rtlCol="0">
                <a:spAutoFit/>
              </a:bodyPr>
              <a:lstStyle/>
              <a:p>
                <a:r>
                  <a:rPr lang="en-US" altLang="zh-TW" sz="2400" b="1" dirty="0">
                    <a:solidFill>
                      <a:schemeClr val="tx2"/>
                    </a:solidFill>
                  </a:rPr>
                  <a:t>Linn et al.(2017)</a:t>
                </a:r>
                <a:r>
                  <a:rPr lang="zh-TW" altLang="en-US" sz="2400" b="1" dirty="0">
                    <a:solidFill>
                      <a:schemeClr val="tx2"/>
                    </a:solidFill>
                  </a:rPr>
                  <a:t>之</a:t>
                </a:r>
                <a:r>
                  <a:rPr lang="en-US" altLang="zh-TW" sz="2400" b="1" dirty="0">
                    <a:solidFill>
                      <a:schemeClr val="tx2"/>
                    </a:solidFill>
                  </a:rPr>
                  <a:t>CDI</a:t>
                </a:r>
                <a:r>
                  <a:rPr lang="zh-TW" altLang="en-US" sz="2400" b="1" dirty="0">
                    <a:solidFill>
                      <a:schemeClr val="tx2"/>
                    </a:solidFill>
                  </a:rPr>
                  <a:t> 定價核估計方法</a:t>
                </a:r>
                <a:endParaRPr lang="en-US" altLang="zh-TW" sz="2400" b="1" dirty="0">
                  <a:solidFill>
                    <a:schemeClr val="tx2"/>
                  </a:solidFill>
                </a:endParaRPr>
              </a:p>
              <a:p>
                <a:pPr marL="913765" lvl="1" indent="-457200">
                  <a:lnSpc>
                    <a:spcPct val="150000"/>
                  </a:lnSpc>
                  <a:buClr>
                    <a:schemeClr val="accent1"/>
                  </a:buClr>
                  <a:buFont typeface="+mj-lt"/>
                  <a:buAutoNum type="arabicPeriod"/>
                </a:pPr>
                <a:r>
                  <a:rPr lang="zh-TW" altLang="en-US" sz="2000" dirty="0">
                    <a:solidFill>
                      <a:schemeClr val="tx2"/>
                    </a:solidFill>
                  </a:rPr>
                  <a:t>蒐集每日</a:t>
                </a:r>
                <a:r>
                  <a:rPr lang="en-US" altLang="zh-TW" sz="2000" dirty="0">
                    <a:solidFill>
                      <a:schemeClr val="tx2"/>
                    </a:solidFill>
                  </a:rPr>
                  <a:t>S&amp;P 500</a:t>
                </a:r>
                <a:r>
                  <a:rPr lang="zh-TW" altLang="en-US" sz="2000" dirty="0">
                    <a:solidFill>
                      <a:schemeClr val="tx2"/>
                    </a:solidFill>
                  </a:rPr>
                  <a:t>指數及指數選擇權數據</a:t>
                </a:r>
                <a:endParaRPr lang="en-US" altLang="zh-TW" sz="2000" dirty="0">
                  <a:solidFill>
                    <a:schemeClr val="tx2"/>
                  </a:solidFill>
                </a:endParaRPr>
              </a:p>
              <a:p>
                <a:pPr marL="913765" lvl="1" indent="-457200">
                  <a:lnSpc>
                    <a:spcPct val="150000"/>
                  </a:lnSpc>
                  <a:buClr>
                    <a:schemeClr val="accent1"/>
                  </a:buClr>
                  <a:buFont typeface="+mj-lt"/>
                  <a:buAutoNum type="arabicPeriod"/>
                </a:pPr>
                <a:r>
                  <a:rPr lang="zh-TW" altLang="en-US" sz="2000" dirty="0">
                    <a:solidFill>
                      <a:schemeClr val="tx2"/>
                    </a:solidFill>
                  </a:rPr>
                  <a:t>每月擷取距到期日時間為一個月的選擇權資料</a:t>
                </a:r>
                <a:r>
                  <a:rPr lang="en-US" altLang="zh-TW" sz="2000" dirty="0">
                    <a:solidFill>
                      <a:schemeClr val="tx2"/>
                    </a:solidFill>
                  </a:rPr>
                  <a:t>(</a:t>
                </a:r>
                <a:r>
                  <a:rPr lang="en-US" altLang="zh-TW" sz="2000" dirty="0" err="1">
                    <a:solidFill>
                      <a:schemeClr val="tx2"/>
                    </a:solidFill>
                  </a:rPr>
                  <a:t>datasize</a:t>
                </a:r>
                <a:r>
                  <a:rPr lang="en-US" altLang="zh-TW" sz="2000" dirty="0">
                    <a:solidFill>
                      <a:schemeClr val="tx2"/>
                    </a:solidFill>
                  </a:rPr>
                  <a:t> = 228) </a:t>
                </a:r>
                <a:r>
                  <a:rPr lang="zh-TW" altLang="en-US" sz="2000" dirty="0">
                    <a:solidFill>
                      <a:schemeClr val="tx2"/>
                    </a:solidFill>
                  </a:rPr>
                  <a:t>構成非重疊的時間序列資料，並轉換為為風險中立機率密度函數</a:t>
                </a:r>
                <a14:m>
                  <m:oMath xmlns:m="http://schemas.openxmlformats.org/officeDocument/2006/math">
                    <m:r>
                      <a:rPr lang="en-US" altLang="zh-TW" sz="2000" b="1" i="1">
                        <a:solidFill>
                          <a:schemeClr val="tx2"/>
                        </a:solidFill>
                        <a:latin typeface="Cambria Math" panose="02040503050406030204" pitchFamily="18" charset="0"/>
                      </a:rPr>
                      <m:t>𝒅</m:t>
                    </m:r>
                    <m:sSup>
                      <m:sSupPr>
                        <m:ctrlPr>
                          <a:rPr lang="en-US" altLang="zh-TW" sz="2000" b="1" i="1">
                            <a:solidFill>
                              <a:schemeClr val="tx2"/>
                            </a:solidFill>
                            <a:latin typeface="Cambria Math" panose="02040503050406030204" pitchFamily="18" charset="0"/>
                          </a:rPr>
                        </m:ctrlPr>
                      </m:sSupPr>
                      <m:e>
                        <m:r>
                          <a:rPr lang="zh-TW" altLang="en-US" sz="2000" b="1" i="1">
                            <a:solidFill>
                              <a:schemeClr val="tx2"/>
                            </a:solidFill>
                            <a:latin typeface="Cambria Math" panose="02040503050406030204" pitchFamily="18" charset="0"/>
                          </a:rPr>
                          <m:t>𝔽</m:t>
                        </m:r>
                      </m:e>
                      <m:sup>
                        <m:r>
                          <a:rPr lang="en-US" altLang="zh-TW" sz="2000" b="1" i="1">
                            <a:solidFill>
                              <a:schemeClr val="tx2"/>
                            </a:solidFill>
                            <a:latin typeface="Cambria Math" panose="02040503050406030204" pitchFamily="18" charset="0"/>
                          </a:rPr>
                          <m:t>𝑸</m:t>
                        </m:r>
                      </m:sup>
                    </m:sSup>
                  </m:oMath>
                </a14:m>
                <a:endParaRPr lang="en-US" altLang="zh-TW" sz="2000" dirty="0">
                  <a:solidFill>
                    <a:schemeClr val="tx2"/>
                  </a:solidFill>
                </a:endParaRPr>
              </a:p>
              <a:p>
                <a:pPr marL="913765" lvl="1" indent="-457200">
                  <a:lnSpc>
                    <a:spcPct val="150000"/>
                  </a:lnSpc>
                  <a:buClr>
                    <a:schemeClr val="accent1"/>
                  </a:buClr>
                  <a:buFont typeface="+mj-lt"/>
                  <a:buAutoNum type="arabicPeriod"/>
                </a:pPr>
                <a:r>
                  <a:rPr lang="zh-TW" altLang="en-US" sz="2000" dirty="0">
                    <a:solidFill>
                      <a:schemeClr val="tx2"/>
                    </a:solidFill>
                  </a:rPr>
                  <a:t>利用每日指數數據計算風險中立機率密度函數對應之已實現對數報酬率</a:t>
                </a:r>
                <a14:m>
                  <m:oMath xmlns:m="http://schemas.openxmlformats.org/officeDocument/2006/math">
                    <m:sSub>
                      <m:sSubPr>
                        <m:ctrlPr>
                          <a:rPr lang="en-US" altLang="zh-TW" sz="2000" b="1" i="1">
                            <a:solidFill>
                              <a:schemeClr val="tx2"/>
                            </a:solidFill>
                            <a:latin typeface="Cambria Math" panose="02040503050406030204" pitchFamily="18" charset="0"/>
                          </a:rPr>
                        </m:ctrlPr>
                      </m:sSubPr>
                      <m:e>
                        <m:r>
                          <a:rPr lang="en-US" altLang="zh-TW" sz="2000" b="1" i="1">
                            <a:solidFill>
                              <a:schemeClr val="tx2"/>
                            </a:solidFill>
                            <a:latin typeface="Cambria Math" panose="02040503050406030204" pitchFamily="18" charset="0"/>
                          </a:rPr>
                          <m:t>𝒙</m:t>
                        </m:r>
                      </m:e>
                      <m:sub>
                        <m:r>
                          <a:rPr lang="en-US" altLang="zh-TW" sz="2000" b="1" i="1">
                            <a:solidFill>
                              <a:schemeClr val="tx2"/>
                            </a:solidFill>
                            <a:latin typeface="Cambria Math" panose="02040503050406030204" pitchFamily="18" charset="0"/>
                          </a:rPr>
                          <m:t>𝒕</m:t>
                        </m:r>
                        <m:r>
                          <a:rPr lang="en-US" altLang="zh-TW" sz="2000" b="1" i="1">
                            <a:solidFill>
                              <a:schemeClr val="tx2"/>
                            </a:solidFill>
                            <a:latin typeface="Cambria Math" panose="02040503050406030204" pitchFamily="18" charset="0"/>
                          </a:rPr>
                          <m:t>+</m:t>
                        </m:r>
                        <m:r>
                          <a:rPr lang="zh-TW" altLang="en-US" sz="2000" b="1" i="1">
                            <a:solidFill>
                              <a:schemeClr val="tx2"/>
                            </a:solidFill>
                            <a:latin typeface="Cambria Math" panose="02040503050406030204" pitchFamily="18" charset="0"/>
                          </a:rPr>
                          <m:t>𝝉</m:t>
                        </m:r>
                      </m:sub>
                    </m:sSub>
                  </m:oMath>
                </a14:m>
                <a:endParaRPr lang="en-US" altLang="zh-TW" sz="2000" b="1" dirty="0">
                  <a:solidFill>
                    <a:schemeClr val="tx2"/>
                  </a:solidFill>
                </a:endParaRPr>
              </a:p>
              <a:p>
                <a:pPr marL="913765" lvl="1" indent="-457200">
                  <a:lnSpc>
                    <a:spcPct val="150000"/>
                  </a:lnSpc>
                  <a:buClr>
                    <a:schemeClr val="accent1"/>
                  </a:buClr>
                  <a:buFont typeface="+mj-lt"/>
                  <a:buAutoNum type="arabicPeriod"/>
                </a:pPr>
                <a:r>
                  <a:rPr lang="zh-TW" altLang="en-US" sz="2000" dirty="0">
                    <a:solidFill>
                      <a:schemeClr val="tx2"/>
                    </a:solidFill>
                  </a:rPr>
                  <a:t>利用以上數據與設定</a:t>
                </a:r>
                <a:r>
                  <a:rPr lang="en-US" altLang="zh-TW" sz="2000" dirty="0">
                    <a:solidFill>
                      <a:schemeClr val="tx2"/>
                    </a:solidFill>
                  </a:rPr>
                  <a:t>base</a:t>
                </a:r>
                <a:r>
                  <a:rPr lang="zh-TW" altLang="en-US" sz="2000" dirty="0">
                    <a:solidFill>
                      <a:schemeClr val="tx2"/>
                    </a:solidFill>
                  </a:rPr>
                  <a:t>數量之三次</a:t>
                </a:r>
                <a:r>
                  <a:rPr lang="en-US" altLang="zh-TW" sz="2000" dirty="0">
                    <a:solidFill>
                      <a:schemeClr val="tx2"/>
                    </a:solidFill>
                  </a:rPr>
                  <a:t>B</a:t>
                </a:r>
                <a:r>
                  <a:rPr lang="zh-TW" altLang="en-US" sz="2000" dirty="0">
                    <a:solidFill>
                      <a:schemeClr val="tx2"/>
                    </a:solidFill>
                  </a:rPr>
                  <a:t>樣條函數基底函數𝑩</a:t>
                </a:r>
                <a:r>
                  <a:rPr lang="en-US" altLang="zh-TW" sz="2000" dirty="0">
                    <a:solidFill>
                      <a:schemeClr val="tx2"/>
                    </a:solidFill>
                  </a:rPr>
                  <a:t>(</a:t>
                </a:r>
                <a:r>
                  <a:rPr lang="zh-TW" altLang="en-US" sz="2000" dirty="0">
                    <a:solidFill>
                      <a:schemeClr val="tx2"/>
                    </a:solidFill>
                  </a:rPr>
                  <a:t>𝒚</a:t>
                </a:r>
                <a:r>
                  <a:rPr lang="en-US" altLang="zh-TW" sz="2000" dirty="0">
                    <a:solidFill>
                      <a:schemeClr val="tx2"/>
                    </a:solidFill>
                  </a:rPr>
                  <a:t>)</a:t>
                </a:r>
                <a:r>
                  <a:rPr lang="zh-TW" altLang="en-US" sz="2000" dirty="0">
                    <a:solidFill>
                      <a:schemeClr val="tx2"/>
                    </a:solidFill>
                  </a:rPr>
                  <a:t>，估計</a:t>
                </a:r>
                <a14:m>
                  <m:oMath xmlns:m="http://schemas.openxmlformats.org/officeDocument/2006/math">
                    <m:r>
                      <a:rPr lang="zh-TW" altLang="en-US" sz="2000" i="1">
                        <a:solidFill>
                          <a:schemeClr val="tx2"/>
                        </a:solidFill>
                        <a:latin typeface="Cambria Math" panose="02040503050406030204" pitchFamily="18" charset="0"/>
                      </a:rPr>
                      <m:t>𝜃</m:t>
                    </m:r>
                  </m:oMath>
                </a14:m>
                <a:endParaRPr lang="en-US" altLang="zh-TW" sz="2000" dirty="0">
                  <a:solidFill>
                    <a:schemeClr val="tx2"/>
                  </a:solidFill>
                </a:endParaRPr>
              </a:p>
              <a:p>
                <a:pPr marL="913765" lvl="1" indent="-457200">
                  <a:lnSpc>
                    <a:spcPct val="150000"/>
                  </a:lnSpc>
                  <a:buClr>
                    <a:schemeClr val="accent1"/>
                  </a:buClr>
                  <a:buFont typeface="+mj-lt"/>
                  <a:buAutoNum type="arabicPeriod"/>
                </a:pPr>
                <a:r>
                  <a:rPr lang="zh-TW" altLang="en-US" sz="2000" dirty="0"/>
                  <a:t>使用</a:t>
                </a:r>
                <a:r>
                  <a:rPr lang="zh-TW" altLang="en-US" sz="2000" dirty="0">
                    <a:solidFill>
                      <a:schemeClr val="tx2"/>
                    </a:solidFill>
                  </a:rPr>
                  <a:t>𝑩</a:t>
                </a:r>
                <a:r>
                  <a:rPr lang="en-US" altLang="zh-TW" sz="2000" dirty="0">
                    <a:solidFill>
                      <a:schemeClr val="tx2"/>
                    </a:solidFill>
                  </a:rPr>
                  <a:t>(</a:t>
                </a:r>
                <a:r>
                  <a:rPr lang="zh-TW" altLang="en-US" sz="2000" dirty="0">
                    <a:solidFill>
                      <a:schemeClr val="tx2"/>
                    </a:solidFill>
                  </a:rPr>
                  <a:t>𝒚</a:t>
                </a:r>
                <a:r>
                  <a:rPr lang="en-US" altLang="zh-TW" sz="2000" dirty="0">
                    <a:solidFill>
                      <a:schemeClr val="tx2"/>
                    </a:solidFill>
                  </a:rPr>
                  <a:t>)</a:t>
                </a:r>
                <a:r>
                  <a:rPr lang="zh-TW" altLang="en-US" sz="2000" dirty="0">
                    <a:solidFill>
                      <a:schemeClr val="tx2"/>
                    </a:solidFill>
                  </a:rPr>
                  <a:t>以及</a:t>
                </a:r>
                <a14:m>
                  <m:oMath xmlns:m="http://schemas.openxmlformats.org/officeDocument/2006/math">
                    <m:r>
                      <a:rPr lang="zh-TW" altLang="en-US" sz="2000">
                        <a:solidFill>
                          <a:schemeClr val="tx2"/>
                        </a:solidFill>
                        <a:latin typeface="Cambria Math" panose="02040503050406030204" pitchFamily="18" charset="0"/>
                      </a:rPr>
                      <m:t>𝜃</m:t>
                    </m:r>
                    <m:r>
                      <a:rPr lang="zh-TW" altLang="en-US" sz="2000">
                        <a:solidFill>
                          <a:schemeClr val="tx2"/>
                        </a:solidFill>
                        <a:latin typeface="Cambria Math" panose="02040503050406030204" pitchFamily="18" charset="0"/>
                      </a:rPr>
                      <m:t>，可得</m:t>
                    </m:r>
                    <m:r>
                      <a:rPr lang="zh-TW" altLang="en-US" sz="2000">
                        <a:solidFill>
                          <a:schemeClr val="tx2"/>
                        </a:solidFill>
                        <a:latin typeface="Cambria Math" panose="02040503050406030204" pitchFamily="18" charset="0"/>
                      </a:rPr>
                      <m:t> </m:t>
                    </m:r>
                    <m:r>
                      <a:rPr lang="en-US" altLang="zh-TW" sz="2000">
                        <a:solidFill>
                          <a:schemeClr val="tx2"/>
                        </a:solidFill>
                        <a:latin typeface="Cambria Math" panose="02040503050406030204" pitchFamily="18" charset="0"/>
                      </a:rPr>
                      <m:t>𝑔</m:t>
                    </m:r>
                    <m:d>
                      <m:dPr>
                        <m:ctrlPr>
                          <a:rPr lang="en-US" altLang="zh-TW" sz="2000" i="1">
                            <a:solidFill>
                              <a:schemeClr val="tx2"/>
                            </a:solidFill>
                            <a:latin typeface="Cambria Math" panose="02040503050406030204" pitchFamily="18" charset="0"/>
                          </a:rPr>
                        </m:ctrlPr>
                      </m:dPr>
                      <m:e>
                        <m:r>
                          <a:rPr lang="en-US" altLang="zh-TW" sz="2000">
                            <a:solidFill>
                              <a:schemeClr val="tx2"/>
                            </a:solidFill>
                            <a:latin typeface="Cambria Math" panose="02040503050406030204" pitchFamily="18" charset="0"/>
                          </a:rPr>
                          <m:t>𝑦</m:t>
                        </m:r>
                      </m:e>
                    </m:d>
                    <m:r>
                      <a:rPr lang="en-US" altLang="zh-TW" sz="2000" i="1">
                        <a:solidFill>
                          <a:schemeClr val="tx2"/>
                        </a:solidFill>
                        <a:latin typeface="Cambria Math" panose="02040503050406030204" pitchFamily="18" charset="0"/>
                        <a:ea typeface="Cambria Math" panose="02040503050406030204" pitchFamily="18" charset="0"/>
                      </a:rPr>
                      <m:t>≈</m:t>
                    </m:r>
                    <m:nary>
                      <m:naryPr>
                        <m:chr m:val="∑"/>
                        <m:ctrlPr>
                          <a:rPr lang="en-US" altLang="zh-TW" sz="2000" i="1">
                            <a:solidFill>
                              <a:schemeClr val="tx2"/>
                            </a:solidFill>
                            <a:latin typeface="Cambria Math" panose="02040503050406030204" pitchFamily="18" charset="0"/>
                          </a:rPr>
                        </m:ctrlPr>
                      </m:naryPr>
                      <m:sub>
                        <m:r>
                          <m:rPr>
                            <m:sty m:val="p"/>
                          </m:rPr>
                          <a:rPr lang="en-US" altLang="zh-TW" sz="2000" i="1">
                            <a:solidFill>
                              <a:schemeClr val="tx2"/>
                            </a:solidFill>
                            <a:latin typeface="Cambria Math" panose="02040503050406030204" pitchFamily="18" charset="0"/>
                          </a:rPr>
                          <m:t>i</m:t>
                        </m:r>
                        <m:r>
                          <a:rPr lang="en-US" altLang="zh-TW" sz="2000">
                            <a:solidFill>
                              <a:schemeClr val="tx2"/>
                            </a:solidFill>
                            <a:latin typeface="Cambria Math" panose="02040503050406030204" pitchFamily="18" charset="0"/>
                          </a:rPr>
                          <m:t>=1</m:t>
                        </m:r>
                      </m:sub>
                      <m:sup>
                        <m:r>
                          <a:rPr lang="en-US" altLang="zh-TW" sz="2000">
                            <a:solidFill>
                              <a:schemeClr val="tx2"/>
                            </a:solidFill>
                            <a:latin typeface="Cambria Math" panose="02040503050406030204" pitchFamily="18" charset="0"/>
                          </a:rPr>
                          <m:t>𝑏</m:t>
                        </m:r>
                      </m:sup>
                      <m:e>
                        <m:sSub>
                          <m:sSubPr>
                            <m:ctrlPr>
                              <a:rPr lang="en-US" altLang="zh-TW" sz="2000" i="1">
                                <a:solidFill>
                                  <a:schemeClr val="tx2"/>
                                </a:solidFill>
                                <a:latin typeface="Cambria Math" panose="02040503050406030204" pitchFamily="18" charset="0"/>
                              </a:rPr>
                            </m:ctrlPr>
                          </m:sSubPr>
                          <m:e>
                            <m:r>
                              <a:rPr lang="zh-TW" altLang="en-US" sz="2000">
                                <a:solidFill>
                                  <a:schemeClr val="tx2"/>
                                </a:solidFill>
                                <a:latin typeface="Cambria Math" panose="02040503050406030204" pitchFamily="18" charset="0"/>
                              </a:rPr>
                              <m:t>𝜃</m:t>
                            </m:r>
                          </m:e>
                          <m:sub>
                            <m:r>
                              <m:rPr>
                                <m:sty m:val="p"/>
                              </m:rPr>
                              <a:rPr lang="en-US" altLang="zh-TW" sz="2000" i="1">
                                <a:solidFill>
                                  <a:schemeClr val="tx2"/>
                                </a:solidFill>
                                <a:latin typeface="Cambria Math" panose="02040503050406030204" pitchFamily="18" charset="0"/>
                              </a:rPr>
                              <m:t>i</m:t>
                            </m:r>
                          </m:sub>
                        </m:sSub>
                        <m:sSub>
                          <m:sSubPr>
                            <m:ctrlPr>
                              <a:rPr lang="en-US" altLang="zh-TW" sz="2000" i="1">
                                <a:solidFill>
                                  <a:schemeClr val="tx2"/>
                                </a:solidFill>
                                <a:latin typeface="Cambria Math" panose="02040503050406030204" pitchFamily="18" charset="0"/>
                              </a:rPr>
                            </m:ctrlPr>
                          </m:sSubPr>
                          <m:e>
                            <m:r>
                              <a:rPr lang="en-US" altLang="zh-TW" sz="2000">
                                <a:solidFill>
                                  <a:schemeClr val="tx2"/>
                                </a:solidFill>
                                <a:latin typeface="Cambria Math" panose="02040503050406030204" pitchFamily="18" charset="0"/>
                              </a:rPr>
                              <m:t>𝐵</m:t>
                            </m:r>
                          </m:e>
                          <m:sub>
                            <m:r>
                              <m:rPr>
                                <m:sty m:val="p"/>
                              </m:rPr>
                              <a:rPr lang="en-US" altLang="zh-TW" sz="2000" i="1">
                                <a:solidFill>
                                  <a:schemeClr val="tx2"/>
                                </a:solidFill>
                                <a:latin typeface="Cambria Math" panose="02040503050406030204" pitchFamily="18" charset="0"/>
                              </a:rPr>
                              <m:t>i</m:t>
                            </m:r>
                          </m:sub>
                        </m:sSub>
                        <m:d>
                          <m:dPr>
                            <m:ctrlPr>
                              <a:rPr lang="en-US" altLang="zh-TW" sz="2000" i="1">
                                <a:solidFill>
                                  <a:schemeClr val="tx2"/>
                                </a:solidFill>
                                <a:latin typeface="Cambria Math" panose="02040503050406030204" pitchFamily="18" charset="0"/>
                              </a:rPr>
                            </m:ctrlPr>
                          </m:dPr>
                          <m:e>
                            <m:r>
                              <a:rPr lang="en-US" altLang="zh-TW" sz="2000">
                                <a:solidFill>
                                  <a:schemeClr val="tx2"/>
                                </a:solidFill>
                                <a:latin typeface="Cambria Math" panose="02040503050406030204" pitchFamily="18" charset="0"/>
                              </a:rPr>
                              <m:t>𝑦</m:t>
                            </m:r>
                          </m:e>
                        </m:d>
                      </m:e>
                    </m:nary>
                    <m:r>
                      <a:rPr lang="zh-TW" altLang="en-US" sz="2000">
                        <a:solidFill>
                          <a:schemeClr val="tx2"/>
                        </a:solidFill>
                        <a:latin typeface="Cambria Math" panose="02040503050406030204" pitchFamily="18" charset="0"/>
                      </a:rPr>
                      <m:t>，</m:t>
                    </m:r>
                  </m:oMath>
                </a14:m>
                <a:r>
                  <a:rPr lang="en-US" altLang="zh-TW" sz="2000" dirty="0">
                    <a:solidFill>
                      <a:schemeClr val="tx2"/>
                    </a:solidFill>
                  </a:rPr>
                  <a:t>Pricing Kernel = </a:t>
                </a:r>
                <a14:m>
                  <m:oMath xmlns:m="http://schemas.openxmlformats.org/officeDocument/2006/math">
                    <m:sSup>
                      <m:sSupPr>
                        <m:ctrlPr>
                          <a:rPr lang="en-US" altLang="zh-TW" sz="2000" i="1">
                            <a:solidFill>
                              <a:schemeClr val="tx2"/>
                            </a:solidFill>
                            <a:latin typeface="Cambria Math" panose="02040503050406030204" pitchFamily="18" charset="0"/>
                          </a:rPr>
                        </m:ctrlPr>
                      </m:sSupPr>
                      <m:e>
                        <m:r>
                          <a:rPr lang="en-US" altLang="zh-TW" sz="2000">
                            <a:solidFill>
                              <a:schemeClr val="tx2"/>
                            </a:solidFill>
                            <a:latin typeface="Cambria Math" panose="02040503050406030204" pitchFamily="18" charset="0"/>
                          </a:rPr>
                          <m:t>𝑒</m:t>
                        </m:r>
                      </m:e>
                      <m:sup>
                        <m:r>
                          <a:rPr lang="en-US" altLang="zh-TW" sz="2000">
                            <a:solidFill>
                              <a:schemeClr val="tx2"/>
                            </a:solidFill>
                            <a:latin typeface="Cambria Math" panose="02040503050406030204" pitchFamily="18" charset="0"/>
                          </a:rPr>
                          <m:t>−</m:t>
                        </m:r>
                        <m:r>
                          <a:rPr lang="en-US" altLang="zh-TW" sz="2000">
                            <a:solidFill>
                              <a:schemeClr val="tx2"/>
                            </a:solidFill>
                            <a:latin typeface="Cambria Math" panose="02040503050406030204" pitchFamily="18" charset="0"/>
                          </a:rPr>
                          <m:t>𝑟</m:t>
                        </m:r>
                        <m:r>
                          <m:rPr>
                            <m:sty m:val="p"/>
                          </m:rPr>
                          <a:rPr lang="el-GR" altLang="zh-TW" sz="2000" i="1" smtClean="0">
                            <a:solidFill>
                              <a:schemeClr val="tx2"/>
                            </a:solidFill>
                            <a:latin typeface="Cambria Math" panose="02040503050406030204" pitchFamily="18" charset="0"/>
                            <a:ea typeface="Cambria Math" panose="02040503050406030204" pitchFamily="18" charset="0"/>
                          </a:rPr>
                          <m:t>τ</m:t>
                        </m:r>
                      </m:sup>
                    </m:sSup>
                    <m:f>
                      <m:fPr>
                        <m:ctrlPr>
                          <a:rPr lang="en-US" altLang="zh-TW" sz="2000" i="1">
                            <a:solidFill>
                              <a:schemeClr val="tx2"/>
                            </a:solidFill>
                            <a:latin typeface="Cambria Math" panose="02040503050406030204" pitchFamily="18" charset="0"/>
                          </a:rPr>
                        </m:ctrlPr>
                      </m:fPr>
                      <m:num>
                        <m:r>
                          <a:rPr lang="en-US" altLang="zh-TW" sz="2000">
                            <a:solidFill>
                              <a:schemeClr val="tx2"/>
                            </a:solidFill>
                            <a:latin typeface="Cambria Math" panose="02040503050406030204" pitchFamily="18" charset="0"/>
                          </a:rPr>
                          <m:t>1</m:t>
                        </m:r>
                      </m:num>
                      <m:den>
                        <m:r>
                          <a:rPr lang="en-US" altLang="zh-TW" sz="2000">
                            <a:solidFill>
                              <a:schemeClr val="tx2"/>
                            </a:solidFill>
                            <a:latin typeface="Cambria Math" panose="02040503050406030204" pitchFamily="18" charset="0"/>
                          </a:rPr>
                          <m:t>𝑔</m:t>
                        </m:r>
                        <m:r>
                          <a:rPr lang="en-US" altLang="zh-TW" sz="2000">
                            <a:solidFill>
                              <a:schemeClr val="tx2"/>
                            </a:solidFill>
                            <a:latin typeface="Cambria Math" panose="02040503050406030204" pitchFamily="18" charset="0"/>
                          </a:rPr>
                          <m:t>(</m:t>
                        </m:r>
                        <m:r>
                          <a:rPr lang="en-US" altLang="zh-TW" sz="2000">
                            <a:solidFill>
                              <a:schemeClr val="tx2"/>
                            </a:solidFill>
                            <a:latin typeface="Cambria Math" panose="02040503050406030204" pitchFamily="18" charset="0"/>
                          </a:rPr>
                          <m:t>𝑦</m:t>
                        </m:r>
                        <m:r>
                          <a:rPr lang="en-US" altLang="zh-TW" sz="2000">
                            <a:solidFill>
                              <a:schemeClr val="tx2"/>
                            </a:solidFill>
                            <a:latin typeface="Cambria Math" panose="02040503050406030204" pitchFamily="18" charset="0"/>
                          </a:rPr>
                          <m:t>)</m:t>
                        </m:r>
                      </m:den>
                    </m:f>
                  </m:oMath>
                </a14:m>
                <a:endParaRPr lang="en-US" altLang="zh-TW" sz="2000" dirty="0">
                  <a:solidFill>
                    <a:schemeClr val="tx2"/>
                  </a:solidFill>
                </a:endParaRPr>
              </a:p>
              <a:p>
                <a:pPr marL="913765" lvl="1" indent="-457200">
                  <a:lnSpc>
                    <a:spcPct val="150000"/>
                  </a:lnSpc>
                  <a:buClr>
                    <a:schemeClr val="accent1"/>
                  </a:buClr>
                  <a:buFont typeface="+mj-lt"/>
                  <a:buAutoNum type="arabicPeriod"/>
                </a:pPr>
                <a:endParaRPr lang="en-US" altLang="zh-TW" sz="100" dirty="0">
                  <a:solidFill>
                    <a:schemeClr val="tx2"/>
                  </a:solidFill>
                </a:endParaRPr>
              </a:p>
              <a:p>
                <a:pPr lvl="1">
                  <a:lnSpc>
                    <a:spcPct val="150000"/>
                  </a:lnSpc>
                  <a:buClr>
                    <a:schemeClr val="accent1"/>
                  </a:buClr>
                </a:pPr>
                <a:r>
                  <a:rPr lang="zh-TW" altLang="en-US" sz="2000" b="1" dirty="0">
                    <a:solidFill>
                      <a:schemeClr val="tx2"/>
                    </a:solidFill>
                  </a:rPr>
                  <a:t>𝜽限制式</a:t>
                </a:r>
              </a:p>
              <a:p>
                <a:pPr lvl="1">
                  <a:lnSpc>
                    <a:spcPct val="150000"/>
                  </a:lnSpc>
                  <a:buClr>
                    <a:schemeClr val="accent1"/>
                  </a:buClr>
                </a:pPr>
                <a:r>
                  <a:rPr lang="zh-TW" altLang="en-US" sz="2000" dirty="0">
                    <a:solidFill>
                      <a:schemeClr val="tx2"/>
                    </a:solidFill>
                  </a:rPr>
                  <a:t>我們注意到根據定價核定義，定價核必位於</a:t>
                </a:r>
                <a:r>
                  <a:rPr lang="en-US" altLang="zh-TW" sz="2000" dirty="0">
                    <a:solidFill>
                      <a:schemeClr val="tx2"/>
                    </a:solidFill>
                  </a:rPr>
                  <a:t>[0,∞)</a:t>
                </a:r>
                <a:r>
                  <a:rPr lang="zh-TW" altLang="en-US" sz="2000" dirty="0">
                    <a:solidFill>
                      <a:schemeClr val="tx2"/>
                    </a:solidFill>
                  </a:rPr>
                  <a:t>區間，且三次樣條函數基底函數𝑩</a:t>
                </a:r>
                <a:r>
                  <a:rPr lang="en-US" altLang="zh-TW" sz="2000" dirty="0">
                    <a:solidFill>
                      <a:schemeClr val="tx2"/>
                    </a:solidFill>
                  </a:rPr>
                  <a:t>(</a:t>
                </a:r>
                <a:r>
                  <a:rPr lang="zh-TW" altLang="en-US" sz="2000" dirty="0">
                    <a:solidFill>
                      <a:schemeClr val="tx2"/>
                    </a:solidFill>
                  </a:rPr>
                  <a:t>𝒚</a:t>
                </a:r>
                <a:r>
                  <a:rPr lang="en-US" altLang="zh-TW" sz="2000" dirty="0">
                    <a:solidFill>
                      <a:schemeClr val="tx2"/>
                    </a:solidFill>
                  </a:rPr>
                  <a:t>)</a:t>
                </a:r>
                <a:r>
                  <a:rPr lang="zh-TW" altLang="en-US" sz="2000" dirty="0">
                    <a:solidFill>
                      <a:schemeClr val="tx2"/>
                    </a:solidFill>
                  </a:rPr>
                  <a:t>保證結果非負值，</a:t>
                </a:r>
                <a:r>
                  <a:rPr lang="en-US" altLang="zh-TW" sz="2000" dirty="0">
                    <a:solidFill>
                      <a:schemeClr val="tx2"/>
                    </a:solidFill>
                  </a:rPr>
                  <a:t>Linn et al. (2017)</a:t>
                </a:r>
                <a:r>
                  <a:rPr lang="zh-TW" altLang="en-US" sz="2000" dirty="0">
                    <a:solidFill>
                      <a:schemeClr val="tx2"/>
                    </a:solidFill>
                  </a:rPr>
                  <a:t>在求取權重 </a:t>
                </a:r>
                <a:r>
                  <a:rPr lang="en-US" altLang="zh-TW" sz="2000" dirty="0">
                    <a:solidFill>
                      <a:schemeClr val="tx2"/>
                    </a:solidFill>
                  </a:rPr>
                  <a:t>θ </a:t>
                </a:r>
                <a:r>
                  <a:rPr lang="zh-TW" altLang="en-US" sz="2000" dirty="0">
                    <a:solidFill>
                      <a:schemeClr val="tx2"/>
                    </a:solidFill>
                  </a:rPr>
                  <a:t>時未設任何限制式保證定價核的非負性（</a:t>
                </a:r>
                <a:r>
                  <a:rPr lang="en-US" altLang="zh-TW" sz="2000" dirty="0">
                    <a:solidFill>
                      <a:schemeClr val="tx2"/>
                    </a:solidFill>
                  </a:rPr>
                  <a:t>Linn</a:t>
                </a:r>
                <a:r>
                  <a:rPr lang="zh-TW" altLang="en-US" sz="2000" dirty="0">
                    <a:solidFill>
                      <a:schemeClr val="tx2"/>
                    </a:solidFill>
                  </a:rPr>
                  <a:t> </a:t>
                </a:r>
                <a:r>
                  <a:rPr lang="en-US" altLang="zh-TW" sz="2000" dirty="0">
                    <a:solidFill>
                      <a:schemeClr val="tx2"/>
                    </a:solidFill>
                  </a:rPr>
                  <a:t>et</a:t>
                </a:r>
                <a:r>
                  <a:rPr lang="zh-TW" altLang="en-US" sz="2000" dirty="0">
                    <a:solidFill>
                      <a:schemeClr val="tx2"/>
                    </a:solidFill>
                  </a:rPr>
                  <a:t> </a:t>
                </a:r>
                <a:r>
                  <a:rPr lang="en-US" altLang="zh-TW" sz="2000" dirty="0">
                    <a:solidFill>
                      <a:schemeClr val="tx2"/>
                    </a:solidFill>
                  </a:rPr>
                  <a:t>al.(2017)</a:t>
                </a:r>
                <a:r>
                  <a:rPr lang="zh-TW" altLang="en-US" sz="2000" dirty="0">
                    <a:solidFill>
                      <a:schemeClr val="tx2"/>
                    </a:solidFill>
                  </a:rPr>
                  <a:t>亦在文中腳註</a:t>
                </a:r>
                <a:r>
                  <a:rPr lang="en-US" altLang="zh-TW" sz="2000" dirty="0">
                    <a:solidFill>
                      <a:schemeClr val="tx2"/>
                    </a:solidFill>
                  </a:rPr>
                  <a:t>18</a:t>
                </a:r>
                <a:r>
                  <a:rPr lang="zh-TW" altLang="en-US" sz="2000" dirty="0">
                    <a:solidFill>
                      <a:schemeClr val="tx2"/>
                    </a:solidFill>
                  </a:rPr>
                  <a:t>提及此為刻意選擇不施加），導致</a:t>
                </a:r>
                <a:r>
                  <a:rPr lang="en-US" altLang="zh-TW" sz="2000" dirty="0">
                    <a:solidFill>
                      <a:schemeClr val="tx2"/>
                    </a:solidFill>
                  </a:rPr>
                  <a:t>CDI</a:t>
                </a:r>
                <a:r>
                  <a:rPr lang="zh-TW" altLang="en-US" sz="2000" dirty="0">
                    <a:solidFill>
                      <a:schemeClr val="tx2"/>
                    </a:solidFill>
                  </a:rPr>
                  <a:t>方法的實驗結果有可能出現不合理的負定價核，後續本研究將嘗試加上</a:t>
                </a:r>
                <a:r>
                  <a:rPr lang="en-US" altLang="zh-TW" sz="2000" dirty="0">
                    <a:solidFill>
                      <a:schemeClr val="tx2"/>
                    </a:solidFill>
                  </a:rPr>
                  <a:t>θ&gt;0</a:t>
                </a:r>
                <a:r>
                  <a:rPr lang="zh-TW" altLang="en-US" sz="2000" dirty="0">
                    <a:solidFill>
                      <a:schemeClr val="tx2"/>
                    </a:solidFill>
                  </a:rPr>
                  <a:t>之限制式。</a:t>
                </a:r>
              </a:p>
            </p:txBody>
          </p:sp>
        </mc:Choice>
        <mc:Fallback xmlns="">
          <p:sp>
            <p:nvSpPr>
              <p:cNvPr id="2" name="文字方塊 1">
                <a:extLst>
                  <a:ext uri="{FF2B5EF4-FFF2-40B4-BE49-F238E27FC236}">
                    <a16:creationId xmlns:a16="http://schemas.microsoft.com/office/drawing/2014/main" id="{A0757753-E8BB-0CC1-FB2E-87B38092E64C}"/>
                  </a:ext>
                </a:extLst>
              </p:cNvPr>
              <p:cNvSpPr txBox="1">
                <a:spLocks noRot="1" noChangeAspect="1" noMove="1" noResize="1" noEditPoints="1" noAdjustHandles="1" noChangeArrowheads="1" noChangeShapeType="1" noTextEdit="1"/>
              </p:cNvSpPr>
              <p:nvPr/>
            </p:nvSpPr>
            <p:spPr>
              <a:xfrm>
                <a:off x="279918" y="884534"/>
                <a:ext cx="11632163" cy="5776261"/>
              </a:xfrm>
              <a:prstGeom prst="rect">
                <a:avLst/>
              </a:prstGeom>
              <a:blipFill>
                <a:blip r:embed="rId3"/>
                <a:stretch>
                  <a:fillRect l="-839" t="-949" r="-419" b="-949"/>
                </a:stretch>
              </a:blipFill>
            </p:spPr>
            <p:txBody>
              <a:bodyPr/>
              <a:lstStyle/>
              <a:p>
                <a:r>
                  <a:rPr lang="zh-TW" altLang="en-US">
                    <a:noFill/>
                  </a:rPr>
                  <a:t> </a:t>
                </a:r>
              </a:p>
            </p:txBody>
          </p:sp>
        </mc:Fallback>
      </mc:AlternateContent>
      <p:sp>
        <p:nvSpPr>
          <p:cNvPr id="9" name="文字版面配置區 2">
            <a:extLst>
              <a:ext uri="{FF2B5EF4-FFF2-40B4-BE49-F238E27FC236}">
                <a16:creationId xmlns:a16="http://schemas.microsoft.com/office/drawing/2014/main" id="{6C6011A3-E0A7-A354-3D9A-BC4C0BDF8929}"/>
              </a:ext>
            </a:extLst>
          </p:cNvPr>
          <p:cNvSpPr>
            <a:spLocks noGrp="1"/>
          </p:cNvSpPr>
          <p:nvPr>
            <p:ph type="body" sz="quarter" idx="10"/>
          </p:nvPr>
        </p:nvSpPr>
        <p:spPr>
          <a:xfrm>
            <a:off x="2444620" y="207796"/>
            <a:ext cx="5840413" cy="436563"/>
          </a:xfrm>
        </p:spPr>
        <p:txBody>
          <a:bodyPr/>
          <a:lstStyle/>
          <a:p>
            <a:r>
              <a:rPr lang="zh-TW" altLang="en-US" dirty="0"/>
              <a:t>定價核估計</a:t>
            </a:r>
            <a:r>
              <a:rPr lang="en-US" altLang="zh-TW" dirty="0"/>
              <a:t>—CDI</a:t>
            </a:r>
            <a:r>
              <a:rPr lang="zh-TW" altLang="en-US" dirty="0"/>
              <a:t> 方法</a:t>
            </a:r>
            <a:endParaRPr lang="en-US" altLang="zh-TW" dirty="0"/>
          </a:p>
          <a:p>
            <a:endParaRPr lang="zh-TW" altLang="en-US" dirty="0"/>
          </a:p>
        </p:txBody>
      </p:sp>
      <p:sp>
        <p:nvSpPr>
          <p:cNvPr id="10" name="內容版面配置區 3">
            <a:extLst>
              <a:ext uri="{FF2B5EF4-FFF2-40B4-BE49-F238E27FC236}">
                <a16:creationId xmlns:a16="http://schemas.microsoft.com/office/drawing/2014/main" id="{3BF6B474-8177-BCB6-258E-4D5B618DE96F}"/>
              </a:ext>
            </a:extLst>
          </p:cNvPr>
          <p:cNvSpPr>
            <a:spLocks noGrp="1"/>
          </p:cNvSpPr>
          <p:nvPr>
            <p:ph sz="quarter" idx="11"/>
          </p:nvPr>
        </p:nvSpPr>
        <p:spPr>
          <a:xfrm>
            <a:off x="1268268" y="200314"/>
            <a:ext cx="1176352" cy="436564"/>
          </a:xfrm>
        </p:spPr>
        <p:txBody>
          <a:bodyPr/>
          <a:lstStyle/>
          <a:p>
            <a:r>
              <a:rPr lang="en-US" altLang="zh-TW" dirty="0"/>
              <a:t>2.1.1</a:t>
            </a:r>
            <a:endParaRPr lang="zh-TW" altLang="en-US" dirty="0"/>
          </a:p>
        </p:txBody>
      </p:sp>
    </p:spTree>
    <p:extLst>
      <p:ext uri="{BB962C8B-B14F-4D97-AF65-F5344CB8AC3E}">
        <p14:creationId xmlns:p14="http://schemas.microsoft.com/office/powerpoint/2010/main" val="533369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A0757753-E8BB-0CC1-FB2E-87B38092E64C}"/>
              </a:ext>
            </a:extLst>
          </p:cNvPr>
          <p:cNvSpPr txBox="1"/>
          <p:nvPr/>
        </p:nvSpPr>
        <p:spPr>
          <a:xfrm>
            <a:off x="199053" y="858418"/>
            <a:ext cx="11793894" cy="5478423"/>
          </a:xfrm>
          <a:prstGeom prst="rect">
            <a:avLst/>
          </a:prstGeom>
          <a:noFill/>
        </p:spPr>
        <p:txBody>
          <a:bodyPr wrap="square" rtlCol="0">
            <a:spAutoFit/>
          </a:bodyPr>
          <a:lstStyle/>
          <a:p>
            <a:r>
              <a:rPr lang="zh-TW" altLang="en-US" sz="2400" b="1" dirty="0">
                <a:solidFill>
                  <a:schemeClr val="tx2"/>
                </a:solidFill>
              </a:rPr>
              <a:t>可使用神經網路選擇權價格預測模型改善之處</a:t>
            </a:r>
            <a:endParaRPr lang="en-US" altLang="zh-TW" sz="2400" b="1" dirty="0">
              <a:solidFill>
                <a:schemeClr val="tx2"/>
              </a:solidFill>
            </a:endParaRPr>
          </a:p>
          <a:p>
            <a:pPr lvl="2">
              <a:buClr>
                <a:schemeClr val="accent1"/>
              </a:buClr>
            </a:pPr>
            <a:endParaRPr lang="en-US" altLang="zh-TW" dirty="0">
              <a:solidFill>
                <a:schemeClr val="tx2"/>
              </a:solidFill>
            </a:endParaRPr>
          </a:p>
          <a:p>
            <a:pPr marL="913765" lvl="1" indent="-457200">
              <a:buClr>
                <a:schemeClr val="accent1"/>
              </a:buClr>
              <a:buFont typeface="+mj-lt"/>
              <a:buAutoNum type="arabicPeriod"/>
            </a:pPr>
            <a:r>
              <a:rPr lang="en-US" altLang="zh-TW" sz="2400" b="1" dirty="0">
                <a:solidFill>
                  <a:schemeClr val="tx2"/>
                </a:solidFill>
              </a:rPr>
              <a:t>Dataset shift</a:t>
            </a:r>
          </a:p>
          <a:p>
            <a:pPr marL="895350" lvl="3" indent="361950">
              <a:buClr>
                <a:schemeClr val="accent1"/>
              </a:buClr>
            </a:pPr>
            <a:r>
              <a:rPr lang="zh-TW" altLang="en-US" sz="2000" dirty="0">
                <a:solidFill>
                  <a:schemeClr val="tx2"/>
                </a:solidFill>
              </a:rPr>
              <a:t>本研究將選擇權距到期日剩下交易日天數定義為𝜏，後續將以𝜏 </a:t>
            </a:r>
            <a:r>
              <a:rPr lang="en-US" altLang="zh-TW" sz="2000" dirty="0">
                <a:solidFill>
                  <a:schemeClr val="tx2"/>
                </a:solidFill>
              </a:rPr>
              <a:t>= 22</a:t>
            </a:r>
            <a:r>
              <a:rPr lang="zh-TW" altLang="en-US" sz="2000" dirty="0">
                <a:solidFill>
                  <a:schemeClr val="tx2"/>
                </a:solidFill>
              </a:rPr>
              <a:t>數據嘗試復現</a:t>
            </a:r>
            <a:r>
              <a:rPr lang="en-US" altLang="zh-TW" sz="2000" dirty="0">
                <a:solidFill>
                  <a:schemeClr val="tx2"/>
                </a:solidFill>
              </a:rPr>
              <a:t>Linn et al.(2017)</a:t>
            </a:r>
            <a:r>
              <a:rPr lang="zh-TW" altLang="en-US" sz="2000" dirty="0">
                <a:solidFill>
                  <a:schemeClr val="tx2"/>
                </a:solidFill>
              </a:rPr>
              <a:t>之實驗。同時，我們認為欲研究市場參與者對「未來某段時間內」資產報酬分配的看法，不應單單聚焦於未來一個月內，因此本研究實驗嘗試將𝜏改為</a:t>
            </a:r>
            <a:r>
              <a:rPr lang="en-US" altLang="zh-TW" sz="2000" dirty="0">
                <a:solidFill>
                  <a:schemeClr val="tx2"/>
                </a:solidFill>
              </a:rPr>
              <a:t>10</a:t>
            </a:r>
            <a:r>
              <a:rPr lang="zh-TW" altLang="en-US" sz="2000" dirty="0">
                <a:solidFill>
                  <a:schemeClr val="tx2"/>
                </a:solidFill>
              </a:rPr>
              <a:t>以及</a:t>
            </a:r>
            <a:r>
              <a:rPr lang="en-US" altLang="zh-TW" sz="2000" dirty="0">
                <a:solidFill>
                  <a:schemeClr val="tx2"/>
                </a:solidFill>
              </a:rPr>
              <a:t>1</a:t>
            </a:r>
            <a:r>
              <a:rPr lang="zh-TW" altLang="en-US" sz="2000" dirty="0">
                <a:solidFill>
                  <a:schemeClr val="tx2"/>
                </a:solidFill>
              </a:rPr>
              <a:t>，估計市場參與者對於未來</a:t>
            </a:r>
            <a:r>
              <a:rPr lang="en-US" altLang="zh-TW" sz="2000" dirty="0">
                <a:solidFill>
                  <a:schemeClr val="tx2"/>
                </a:solidFill>
              </a:rPr>
              <a:t>10</a:t>
            </a:r>
            <a:r>
              <a:rPr lang="zh-TW" altLang="en-US" sz="2000" dirty="0">
                <a:solidFill>
                  <a:schemeClr val="tx2"/>
                </a:solidFill>
              </a:rPr>
              <a:t>個交易日與</a:t>
            </a:r>
            <a:r>
              <a:rPr lang="en-US" altLang="zh-TW" sz="2000" dirty="0">
                <a:solidFill>
                  <a:schemeClr val="tx2"/>
                </a:solidFill>
              </a:rPr>
              <a:t>1</a:t>
            </a:r>
            <a:r>
              <a:rPr lang="zh-TW" altLang="en-US" sz="2000" dirty="0">
                <a:solidFill>
                  <a:schemeClr val="tx2"/>
                </a:solidFill>
              </a:rPr>
              <a:t>個交易日的標的資產報酬分配的看法</a:t>
            </a:r>
            <a:endParaRPr lang="en-US" altLang="zh-TW" sz="2000" dirty="0">
              <a:solidFill>
                <a:schemeClr val="tx2"/>
              </a:solidFill>
            </a:endParaRPr>
          </a:p>
          <a:p>
            <a:pPr marL="912813" lvl="2" indent="344488">
              <a:buClr>
                <a:schemeClr val="accent1"/>
              </a:buClr>
            </a:pPr>
            <a:r>
              <a:rPr lang="nb-NO" altLang="zh-TW" sz="2000" dirty="0">
                <a:solidFill>
                  <a:schemeClr val="tx2"/>
                </a:solidFill>
              </a:rPr>
              <a:t>Linn et al.(2017)</a:t>
            </a:r>
            <a:r>
              <a:rPr lang="zh-TW" altLang="en-US" sz="2000" dirty="0">
                <a:solidFill>
                  <a:schemeClr val="tx2"/>
                </a:solidFill>
              </a:rPr>
              <a:t>擷取選擇權數據時，刻意建構非重疊之時間序列，然而，在擷取固定數量的短期選擇權資料時，由於數據並非以固定頻率出現，在預定的擷取日期可能無法找到所需的選擇權數據，為解決此問題，我們採用最接近的日期且具有所需選擇權資料的數據進行替代</a:t>
            </a:r>
            <a:r>
              <a:rPr lang="en-US" altLang="zh-TW" sz="2000" dirty="0">
                <a:solidFill>
                  <a:schemeClr val="tx2"/>
                </a:solidFill>
              </a:rPr>
              <a:t>(</a:t>
            </a:r>
            <a:r>
              <a:rPr lang="en-US" altLang="zh-TW" sz="2000" dirty="0">
                <a:solidFill>
                  <a:schemeClr val="tx2"/>
                </a:solidFill>
                <a:hlinkClick r:id="rId3" action="ppaction://hlinksldjump"/>
              </a:rPr>
              <a:t>*</a:t>
            </a:r>
            <a:r>
              <a:rPr lang="en-US" altLang="zh-TW" sz="2000" dirty="0">
                <a:solidFill>
                  <a:schemeClr val="tx2"/>
                </a:solidFill>
              </a:rPr>
              <a:t>)</a:t>
            </a:r>
            <a:r>
              <a:rPr lang="zh-TW" altLang="en-US" sz="2000" dirty="0">
                <a:solidFill>
                  <a:schemeClr val="tx2"/>
                </a:solidFill>
              </a:rPr>
              <a:t>，此方式使得數據集的時間區間被拉長，我們認為在此做法下，風險中立機率密度函數勢必出現資料分佈飄移</a:t>
            </a:r>
            <a:r>
              <a:rPr lang="en-US" altLang="zh-TW" sz="2000" dirty="0">
                <a:solidFill>
                  <a:schemeClr val="tx2"/>
                </a:solidFill>
              </a:rPr>
              <a:t>(dataset shift) </a:t>
            </a:r>
            <a:r>
              <a:rPr lang="zh-TW" altLang="en-US" sz="2000" dirty="0">
                <a:solidFill>
                  <a:schemeClr val="tx2"/>
                </a:solidFill>
              </a:rPr>
              <a:t>的情形，影響最終定價核結果的準確性。</a:t>
            </a:r>
            <a:endParaRPr lang="en-US" altLang="zh-TW" sz="2000" dirty="0">
              <a:solidFill>
                <a:schemeClr val="tx2"/>
              </a:solidFill>
            </a:endParaRPr>
          </a:p>
          <a:p>
            <a:pPr marL="912813" lvl="2" indent="344488">
              <a:buClr>
                <a:schemeClr val="accent1"/>
              </a:buClr>
            </a:pPr>
            <a:endParaRPr lang="en-US" altLang="zh-TW" sz="2000" dirty="0">
              <a:solidFill>
                <a:schemeClr val="tx2"/>
              </a:solidFill>
            </a:endParaRPr>
          </a:p>
          <a:p>
            <a:pPr marL="912813" lvl="2" indent="344488">
              <a:buClr>
                <a:schemeClr val="accent1"/>
              </a:buClr>
            </a:pPr>
            <a:r>
              <a:rPr lang="da-DK" altLang="zh-TW" sz="2000" dirty="0">
                <a:solidFill>
                  <a:schemeClr val="tx2"/>
                </a:solidFill>
              </a:rPr>
              <a:t>Hsu et al. (2024) </a:t>
            </a:r>
            <a:r>
              <a:rPr lang="zh-TW" altLang="da-DK" sz="2000" dirty="0">
                <a:solidFill>
                  <a:schemeClr val="tx2"/>
                </a:solidFill>
              </a:rPr>
              <a:t>提出之</a:t>
            </a:r>
            <a:r>
              <a:rPr lang="zh-TW" altLang="en-US" sz="2000" dirty="0">
                <a:solidFill>
                  <a:schemeClr val="tx2"/>
                </a:solidFill>
              </a:rPr>
              <a:t>神經網路選擇權價格預測模型能夠即時產生任意𝜏與履約價之選擇權價格，不需等待選擇權資料出現，即可建構原先規劃之選擇權數據非重疊時間序列，大幅提升資料擷取效率，並有效控制資料分布漂移之問題。</a:t>
            </a:r>
            <a:endParaRPr lang="en-US" altLang="zh-TW" sz="2000" dirty="0">
              <a:solidFill>
                <a:schemeClr val="tx2"/>
              </a:solidFill>
            </a:endParaRPr>
          </a:p>
          <a:p>
            <a:pPr marL="913765" lvl="1" indent="-457200">
              <a:buClr>
                <a:schemeClr val="accent1"/>
              </a:buClr>
              <a:buFont typeface="+mj-lt"/>
              <a:buAutoNum type="arabicPeriod"/>
            </a:pPr>
            <a:endParaRPr lang="en-US" altLang="zh-TW" sz="2400" dirty="0">
              <a:solidFill>
                <a:schemeClr val="tx2"/>
              </a:solidFill>
            </a:endParaRPr>
          </a:p>
        </p:txBody>
      </p:sp>
      <p:sp>
        <p:nvSpPr>
          <p:cNvPr id="9" name="文字版面配置區 2">
            <a:extLst>
              <a:ext uri="{FF2B5EF4-FFF2-40B4-BE49-F238E27FC236}">
                <a16:creationId xmlns:a16="http://schemas.microsoft.com/office/drawing/2014/main" id="{70FC376B-7278-FC04-AA90-17CEBBE4DEB4}"/>
              </a:ext>
            </a:extLst>
          </p:cNvPr>
          <p:cNvSpPr>
            <a:spLocks noGrp="1"/>
          </p:cNvSpPr>
          <p:nvPr>
            <p:ph type="body" sz="quarter" idx="10"/>
          </p:nvPr>
        </p:nvSpPr>
        <p:spPr>
          <a:xfrm>
            <a:off x="2444620" y="207796"/>
            <a:ext cx="5840413" cy="436563"/>
          </a:xfrm>
        </p:spPr>
        <p:txBody>
          <a:bodyPr/>
          <a:lstStyle/>
          <a:p>
            <a:r>
              <a:rPr lang="zh-TW" altLang="en-US" dirty="0"/>
              <a:t>定價核估計</a:t>
            </a:r>
            <a:r>
              <a:rPr lang="en-US" altLang="zh-TW" dirty="0"/>
              <a:t>—CDI</a:t>
            </a:r>
            <a:r>
              <a:rPr lang="zh-TW" altLang="en-US" dirty="0"/>
              <a:t> 方法</a:t>
            </a:r>
            <a:endParaRPr lang="en-US" altLang="zh-TW" dirty="0"/>
          </a:p>
          <a:p>
            <a:endParaRPr lang="zh-TW" altLang="en-US" dirty="0"/>
          </a:p>
        </p:txBody>
      </p:sp>
      <p:sp>
        <p:nvSpPr>
          <p:cNvPr id="10" name="內容版面配置區 3">
            <a:extLst>
              <a:ext uri="{FF2B5EF4-FFF2-40B4-BE49-F238E27FC236}">
                <a16:creationId xmlns:a16="http://schemas.microsoft.com/office/drawing/2014/main" id="{21C39FC6-0C24-B7F6-B3D3-D29A4AB11E72}"/>
              </a:ext>
            </a:extLst>
          </p:cNvPr>
          <p:cNvSpPr>
            <a:spLocks noGrp="1"/>
          </p:cNvSpPr>
          <p:nvPr>
            <p:ph sz="quarter" idx="11"/>
          </p:nvPr>
        </p:nvSpPr>
        <p:spPr>
          <a:xfrm>
            <a:off x="1268268" y="200314"/>
            <a:ext cx="1176352" cy="436564"/>
          </a:xfrm>
        </p:spPr>
        <p:txBody>
          <a:bodyPr/>
          <a:lstStyle/>
          <a:p>
            <a:r>
              <a:rPr lang="en-US" altLang="zh-TW" dirty="0"/>
              <a:t>2.1.1</a:t>
            </a:r>
            <a:endParaRPr lang="zh-TW" altLang="en-US" dirty="0"/>
          </a:p>
        </p:txBody>
      </p:sp>
    </p:spTree>
    <p:extLst>
      <p:ext uri="{BB962C8B-B14F-4D97-AF65-F5344CB8AC3E}">
        <p14:creationId xmlns:p14="http://schemas.microsoft.com/office/powerpoint/2010/main" val="3027512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A0757753-E8BB-0CC1-FB2E-87B38092E64C}"/>
              </a:ext>
            </a:extLst>
          </p:cNvPr>
          <p:cNvSpPr txBox="1"/>
          <p:nvPr/>
        </p:nvSpPr>
        <p:spPr>
          <a:xfrm>
            <a:off x="279918" y="889520"/>
            <a:ext cx="11632163" cy="3323987"/>
          </a:xfrm>
          <a:prstGeom prst="rect">
            <a:avLst/>
          </a:prstGeom>
          <a:noFill/>
        </p:spPr>
        <p:txBody>
          <a:bodyPr wrap="square" rtlCol="0">
            <a:spAutoFit/>
          </a:bodyPr>
          <a:lstStyle/>
          <a:p>
            <a:r>
              <a:rPr lang="zh-TW" altLang="en-US" sz="2400" b="1" dirty="0">
                <a:solidFill>
                  <a:schemeClr val="tx2"/>
                </a:solidFill>
              </a:rPr>
              <a:t>可使用神經網路選擇權價格預測模型改善之處</a:t>
            </a:r>
            <a:endParaRPr lang="en-US" altLang="zh-TW" sz="2400" b="1" dirty="0">
              <a:solidFill>
                <a:schemeClr val="tx2"/>
              </a:solidFill>
            </a:endParaRPr>
          </a:p>
          <a:p>
            <a:endParaRPr lang="en-US" altLang="zh-TW" sz="2400" b="1" dirty="0">
              <a:solidFill>
                <a:schemeClr val="tx2"/>
              </a:solidFill>
            </a:endParaRPr>
          </a:p>
          <a:p>
            <a:pPr marL="913765" lvl="1" indent="-457200">
              <a:buClr>
                <a:schemeClr val="accent1"/>
              </a:buClr>
              <a:buFont typeface="+mj-lt"/>
              <a:buAutoNum type="arabicPeriod" startAt="2"/>
            </a:pPr>
            <a:r>
              <a:rPr lang="zh-TW" altLang="en-US" sz="2400" b="1" dirty="0">
                <a:solidFill>
                  <a:schemeClr val="tx2"/>
                </a:solidFill>
              </a:rPr>
              <a:t>風險中立機率密度函數的尾部截斷現象</a:t>
            </a:r>
            <a:endParaRPr lang="en-US" altLang="zh-TW" sz="2400" b="1" dirty="0">
              <a:solidFill>
                <a:schemeClr val="tx2"/>
              </a:solidFill>
            </a:endParaRPr>
          </a:p>
          <a:p>
            <a:pPr marL="912813" lvl="2" indent="344488">
              <a:buClr>
                <a:schemeClr val="accent1"/>
              </a:buClr>
            </a:pPr>
            <a:r>
              <a:rPr lang="nb-NO" altLang="zh-TW" sz="2000" dirty="0">
                <a:solidFill>
                  <a:schemeClr val="tx2"/>
                </a:solidFill>
              </a:rPr>
              <a:t>Linn et al.(2017)</a:t>
            </a:r>
            <a:r>
              <a:rPr lang="zh-TW" altLang="en-US" sz="2000" dirty="0">
                <a:solidFill>
                  <a:schemeClr val="tx2"/>
                </a:solidFill>
              </a:rPr>
              <a:t>在估計風險中立機率密度函數時，受限於數據截取與前處理方式，使得後續計算得到的買權風險中立機率密度函數於右尾出現截斷現象，後續需使用廣義帕雷托分布補足截斷部分。</a:t>
            </a:r>
            <a:endParaRPr lang="en-US" altLang="zh-TW" sz="2000" dirty="0">
              <a:solidFill>
                <a:schemeClr val="tx2"/>
              </a:solidFill>
            </a:endParaRPr>
          </a:p>
          <a:p>
            <a:pPr marL="912813" lvl="2" indent="344488">
              <a:buClr>
                <a:schemeClr val="accent1"/>
              </a:buClr>
            </a:pPr>
            <a:r>
              <a:rPr lang="en-US" altLang="zh-TW" sz="2000" dirty="0">
                <a:solidFill>
                  <a:schemeClr val="tx2"/>
                </a:solidFill>
              </a:rPr>
              <a:t>Hsu et al. (2024) </a:t>
            </a:r>
            <a:r>
              <a:rPr lang="zh-TW" altLang="en-US" sz="2000" dirty="0"/>
              <a:t>提出之</a:t>
            </a:r>
            <a:r>
              <a:rPr lang="zh-TW" altLang="en-US" sz="2000" dirty="0">
                <a:solidFill>
                  <a:schemeClr val="tx2"/>
                </a:solidFill>
              </a:rPr>
              <a:t>神經網路選擇權價格預測模型，訓練時已考慮價外、流動性不足及無套利條件式的訓練集，降低模型在極端價格的錯價風險，即可估計完整風險中立機率密度函數，無需另外對尾部分布進行假設補足。</a:t>
            </a:r>
            <a:endParaRPr lang="en-US" altLang="zh-TW" sz="2000" dirty="0">
              <a:solidFill>
                <a:schemeClr val="tx2"/>
              </a:solidFill>
            </a:endParaRPr>
          </a:p>
          <a:p>
            <a:pPr marL="912813" lvl="2" indent="344488">
              <a:buClr>
                <a:schemeClr val="accent1"/>
              </a:buClr>
            </a:pPr>
            <a:endParaRPr lang="en-US" altLang="zh-TW" dirty="0">
              <a:solidFill>
                <a:schemeClr val="tx2"/>
              </a:solidFill>
            </a:endParaRPr>
          </a:p>
        </p:txBody>
      </p:sp>
      <p:sp>
        <p:nvSpPr>
          <p:cNvPr id="9" name="文字版面配置區 2">
            <a:extLst>
              <a:ext uri="{FF2B5EF4-FFF2-40B4-BE49-F238E27FC236}">
                <a16:creationId xmlns:a16="http://schemas.microsoft.com/office/drawing/2014/main" id="{558DE3C2-9C0F-4ECD-2F07-E6026C290024}"/>
              </a:ext>
            </a:extLst>
          </p:cNvPr>
          <p:cNvSpPr>
            <a:spLocks noGrp="1"/>
          </p:cNvSpPr>
          <p:nvPr>
            <p:ph type="body" sz="quarter" idx="10"/>
          </p:nvPr>
        </p:nvSpPr>
        <p:spPr>
          <a:xfrm>
            <a:off x="2444620" y="207796"/>
            <a:ext cx="5840413" cy="436563"/>
          </a:xfrm>
        </p:spPr>
        <p:txBody>
          <a:bodyPr/>
          <a:lstStyle/>
          <a:p>
            <a:r>
              <a:rPr lang="zh-TW" altLang="en-US" dirty="0"/>
              <a:t>定價核估計</a:t>
            </a:r>
            <a:r>
              <a:rPr lang="en-US" altLang="zh-TW" dirty="0"/>
              <a:t>—CDI</a:t>
            </a:r>
            <a:r>
              <a:rPr lang="zh-TW" altLang="en-US" dirty="0"/>
              <a:t> 方法</a:t>
            </a:r>
            <a:endParaRPr lang="en-US" altLang="zh-TW" dirty="0"/>
          </a:p>
          <a:p>
            <a:endParaRPr lang="zh-TW" altLang="en-US" dirty="0"/>
          </a:p>
        </p:txBody>
      </p:sp>
      <p:sp>
        <p:nvSpPr>
          <p:cNvPr id="10" name="內容版面配置區 3">
            <a:extLst>
              <a:ext uri="{FF2B5EF4-FFF2-40B4-BE49-F238E27FC236}">
                <a16:creationId xmlns:a16="http://schemas.microsoft.com/office/drawing/2014/main" id="{F58A5D3B-1A96-2B44-1529-D7850B78F283}"/>
              </a:ext>
            </a:extLst>
          </p:cNvPr>
          <p:cNvSpPr>
            <a:spLocks noGrp="1"/>
          </p:cNvSpPr>
          <p:nvPr>
            <p:ph sz="quarter" idx="11"/>
          </p:nvPr>
        </p:nvSpPr>
        <p:spPr>
          <a:xfrm>
            <a:off x="1268268" y="200314"/>
            <a:ext cx="1176352" cy="436564"/>
          </a:xfrm>
        </p:spPr>
        <p:txBody>
          <a:bodyPr/>
          <a:lstStyle/>
          <a:p>
            <a:r>
              <a:rPr lang="en-US" altLang="zh-TW" dirty="0"/>
              <a:t>2.1.1</a:t>
            </a:r>
            <a:endParaRPr lang="zh-TW" altLang="en-US" dirty="0"/>
          </a:p>
        </p:txBody>
      </p:sp>
    </p:spTree>
    <p:extLst>
      <p:ext uri="{BB962C8B-B14F-4D97-AF65-F5344CB8AC3E}">
        <p14:creationId xmlns:p14="http://schemas.microsoft.com/office/powerpoint/2010/main" val="804317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61FE1CB3-9DAB-B376-04B6-E7A48E77650F}"/>
              </a:ext>
            </a:extLst>
          </p:cNvPr>
          <p:cNvSpPr>
            <a:spLocks noGrp="1"/>
          </p:cNvSpPr>
          <p:nvPr>
            <p:ph sz="quarter" idx="10"/>
          </p:nvPr>
        </p:nvSpPr>
        <p:spPr>
          <a:xfrm>
            <a:off x="3884942" y="2837136"/>
            <a:ext cx="9078387" cy="1529590"/>
          </a:xfrm>
        </p:spPr>
        <p:txBody>
          <a:bodyPr/>
          <a:lstStyle/>
          <a:p>
            <a:pPr>
              <a:buFont typeface="Wingdings" panose="05000000000000000000" pitchFamily="2" charset="2"/>
              <a:buAutoNum type="circleNumWdWhitePlain" startAt="2"/>
            </a:pPr>
            <a:r>
              <a:rPr lang="zh-TW" altLang="en-US" dirty="0"/>
              <a:t>神經網路選擇權價格預測模型</a:t>
            </a:r>
            <a:endParaRPr lang="en-US" altLang="zh-TW" dirty="0"/>
          </a:p>
          <a:p>
            <a:pPr marL="0" indent="715963">
              <a:buNone/>
            </a:pPr>
            <a:r>
              <a:rPr lang="en-US" altLang="zh-TW" dirty="0"/>
              <a:t> —CV Model</a:t>
            </a:r>
          </a:p>
        </p:txBody>
      </p:sp>
    </p:spTree>
    <p:extLst>
      <p:ext uri="{BB962C8B-B14F-4D97-AF65-F5344CB8AC3E}">
        <p14:creationId xmlns:p14="http://schemas.microsoft.com/office/powerpoint/2010/main" val="4066797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D2236A83-61C2-A2E6-0815-E07F4DA710DC}"/>
              </a:ext>
            </a:extLst>
          </p:cNvPr>
          <p:cNvSpPr>
            <a:spLocks noGrp="1"/>
          </p:cNvSpPr>
          <p:nvPr>
            <p:ph type="body" sz="quarter" idx="10"/>
          </p:nvPr>
        </p:nvSpPr>
        <p:spPr>
          <a:xfrm>
            <a:off x="2388636" y="202953"/>
            <a:ext cx="9309843" cy="436563"/>
          </a:xfrm>
        </p:spPr>
        <p:txBody>
          <a:bodyPr/>
          <a:lstStyle/>
          <a:p>
            <a:r>
              <a:rPr lang="zh-TW" altLang="en-US" dirty="0"/>
              <a:t>神經網路選擇權價格預測模型</a:t>
            </a:r>
            <a:r>
              <a:rPr lang="en-US" altLang="zh-TW" dirty="0"/>
              <a:t>—CV Model</a:t>
            </a:r>
          </a:p>
          <a:p>
            <a:endParaRPr lang="zh-TW" altLang="en-US" dirty="0"/>
          </a:p>
        </p:txBody>
      </p:sp>
      <p:sp>
        <p:nvSpPr>
          <p:cNvPr id="4" name="內容版面配置區 3">
            <a:extLst>
              <a:ext uri="{FF2B5EF4-FFF2-40B4-BE49-F238E27FC236}">
                <a16:creationId xmlns:a16="http://schemas.microsoft.com/office/drawing/2014/main" id="{B50D5E9B-BF5F-47A3-28F1-DD7958F06624}"/>
              </a:ext>
            </a:extLst>
          </p:cNvPr>
          <p:cNvSpPr>
            <a:spLocks noGrp="1"/>
          </p:cNvSpPr>
          <p:nvPr>
            <p:ph sz="quarter" idx="11"/>
          </p:nvPr>
        </p:nvSpPr>
        <p:spPr>
          <a:xfrm>
            <a:off x="1268267" y="200314"/>
            <a:ext cx="1120369" cy="436564"/>
          </a:xfrm>
        </p:spPr>
        <p:txBody>
          <a:bodyPr/>
          <a:lstStyle/>
          <a:p>
            <a:r>
              <a:rPr lang="en-US" altLang="zh-TW" dirty="0"/>
              <a:t>2.1.2</a:t>
            </a:r>
            <a:endParaRPr lang="zh-TW" altLang="en-US" dirty="0"/>
          </a:p>
        </p:txBody>
      </p:sp>
      <p:sp>
        <p:nvSpPr>
          <p:cNvPr id="7" name="內容版面配置區 6">
            <a:extLst>
              <a:ext uri="{FF2B5EF4-FFF2-40B4-BE49-F238E27FC236}">
                <a16:creationId xmlns:a16="http://schemas.microsoft.com/office/drawing/2014/main" id="{60AA75CF-7111-E002-BBCD-233B5066F60A}"/>
              </a:ext>
            </a:extLst>
          </p:cNvPr>
          <p:cNvSpPr>
            <a:spLocks noGrp="1"/>
          </p:cNvSpPr>
          <p:nvPr>
            <p:ph sz="quarter" idx="14"/>
          </p:nvPr>
        </p:nvSpPr>
        <p:spPr>
          <a:xfrm>
            <a:off x="366454" y="1001550"/>
            <a:ext cx="11458542" cy="2121095"/>
          </a:xfrm>
        </p:spPr>
        <p:txBody>
          <a:bodyPr/>
          <a:lstStyle/>
          <a:p>
            <a:pPr>
              <a:lnSpc>
                <a:spcPct val="150000"/>
              </a:lnSpc>
            </a:pPr>
            <a:r>
              <a:rPr lang="da-DK" altLang="zh-TW" b="0" dirty="0"/>
              <a:t>Hsu et al. (2024) </a:t>
            </a:r>
            <a:r>
              <a:rPr lang="zh-TW" altLang="en-US" b="0" dirty="0"/>
              <a:t>提出一神經網路選擇權價格預測模型 </a:t>
            </a:r>
            <a:r>
              <a:rPr lang="en-US" altLang="zh-TW" b="0" dirty="0"/>
              <a:t>(CV</a:t>
            </a:r>
            <a:r>
              <a:rPr lang="zh-TW" altLang="en-US" b="0" dirty="0"/>
              <a:t> </a:t>
            </a:r>
            <a:r>
              <a:rPr lang="en-US" altLang="zh-TW" b="0" dirty="0"/>
              <a:t>Model)</a:t>
            </a:r>
          </a:p>
          <a:p>
            <a:pPr lvl="1">
              <a:lnSpc>
                <a:spcPct val="100000"/>
              </a:lnSpc>
              <a:buFont typeface="Arial" panose="020B0604020202020204" pitchFamily="34" charset="0"/>
              <a:buChar char="•"/>
            </a:pPr>
            <a:r>
              <a:rPr lang="zh-TW" altLang="en-US" b="0" dirty="0"/>
              <a:t>將買權選擇權價格拆為內含價值</a:t>
            </a:r>
            <a:r>
              <a:rPr lang="en-US" altLang="zh-TW" b="0" dirty="0"/>
              <a:t>(IV)+</a:t>
            </a:r>
            <a:r>
              <a:rPr lang="zh-TW" altLang="en-US" b="0" dirty="0"/>
              <a:t>時間價值</a:t>
            </a:r>
            <a:r>
              <a:rPr lang="en-US" altLang="zh-TW" b="0" dirty="0"/>
              <a:t>(TV)</a:t>
            </a:r>
          </a:p>
          <a:p>
            <a:pPr lvl="1">
              <a:lnSpc>
                <a:spcPct val="100000"/>
              </a:lnSpc>
              <a:buFont typeface="Arial" panose="020B0604020202020204" pitchFamily="34" charset="0"/>
              <a:buChar char="•"/>
            </a:pPr>
            <a:r>
              <a:rPr lang="en-US" altLang="zh-TW" b="0" dirty="0"/>
              <a:t>IV</a:t>
            </a:r>
            <a:r>
              <a:rPr lang="zh-TW" altLang="en-US" b="0" dirty="0"/>
              <a:t>使用</a:t>
            </a:r>
            <a:r>
              <a:rPr lang="en-US" altLang="zh-TW" b="0" dirty="0"/>
              <a:t>closed-form</a:t>
            </a:r>
            <a:r>
              <a:rPr lang="zh-TW" altLang="en-US" b="0" dirty="0"/>
              <a:t>公式計算</a:t>
            </a:r>
          </a:p>
          <a:p>
            <a:pPr lvl="1">
              <a:lnSpc>
                <a:spcPct val="100000"/>
              </a:lnSpc>
              <a:buFont typeface="Arial" panose="020B0604020202020204" pitchFamily="34" charset="0"/>
              <a:buChar char="•"/>
            </a:pPr>
            <a:r>
              <a:rPr lang="en-US" altLang="zh-TW" b="0" dirty="0"/>
              <a:t>TV</a:t>
            </a:r>
            <a:r>
              <a:rPr lang="zh-TW" altLang="en-US" b="0" dirty="0"/>
              <a:t>使用符合選擇權無套利限制式之</a:t>
            </a:r>
            <a:r>
              <a:rPr lang="en-US" altLang="zh-TW" b="0" dirty="0"/>
              <a:t>NN model</a:t>
            </a:r>
            <a:r>
              <a:rPr lang="zh-TW" altLang="en-US" b="0" dirty="0"/>
              <a:t>架構計算</a:t>
            </a:r>
          </a:p>
          <a:p>
            <a:pPr lvl="1">
              <a:lnSpc>
                <a:spcPct val="100000"/>
              </a:lnSpc>
              <a:buFont typeface="Arial" panose="020B0604020202020204" pitchFamily="34" charset="0"/>
              <a:buChar char="•"/>
            </a:pPr>
            <a:r>
              <a:rPr lang="zh-TW" altLang="en-US" b="0" dirty="0"/>
              <a:t>將</a:t>
            </a:r>
            <a:r>
              <a:rPr lang="en-US" altLang="zh-TW" b="0" dirty="0"/>
              <a:t>NN model</a:t>
            </a:r>
            <a:r>
              <a:rPr lang="zh-TW" altLang="en-US" b="0" dirty="0"/>
              <a:t>拆為 </a:t>
            </a:r>
            <a:r>
              <a:rPr lang="en-US" altLang="zh-TW" b="0" dirty="0"/>
              <a:t>in the money</a:t>
            </a:r>
            <a:r>
              <a:rPr lang="zh-TW" altLang="en-US" b="0" dirty="0"/>
              <a:t> </a:t>
            </a:r>
            <a:r>
              <a:rPr lang="en-US" altLang="zh-TW" b="0" dirty="0"/>
              <a:t>(ITM)</a:t>
            </a:r>
            <a:r>
              <a:rPr lang="zh-TW" altLang="en-US" b="0" dirty="0"/>
              <a:t> 與 </a:t>
            </a:r>
            <a:r>
              <a:rPr lang="en-US" altLang="zh-TW" b="0" dirty="0"/>
              <a:t>out of the money</a:t>
            </a:r>
            <a:r>
              <a:rPr lang="zh-TW" altLang="en-US" b="0" dirty="0"/>
              <a:t> </a:t>
            </a:r>
            <a:r>
              <a:rPr lang="en-US" altLang="zh-TW" b="0" dirty="0"/>
              <a:t>(OTM)</a:t>
            </a:r>
            <a:r>
              <a:rPr lang="zh-TW" altLang="en-US" b="0" dirty="0"/>
              <a:t> 兩部分</a:t>
            </a:r>
          </a:p>
          <a:p>
            <a:pPr lvl="1">
              <a:buFont typeface="Arial" panose="020B0604020202020204" pitchFamily="34" charset="0"/>
              <a:buChar char="•"/>
            </a:pPr>
            <a:endParaRPr lang="en-US" altLang="zh-TW" b="0" dirty="0"/>
          </a:p>
          <a:p>
            <a:pPr marL="456342" lvl="1" indent="0">
              <a:buNone/>
            </a:pPr>
            <a:endParaRPr lang="zh-TW" altLang="en-US" b="0" dirty="0"/>
          </a:p>
        </p:txBody>
      </p: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64F7939C-B5BB-77F3-5187-8383DA75E45D}"/>
                  </a:ext>
                </a:extLst>
              </p:cNvPr>
              <p:cNvSpPr txBox="1"/>
              <p:nvPr/>
            </p:nvSpPr>
            <p:spPr>
              <a:xfrm>
                <a:off x="177164" y="3195606"/>
                <a:ext cx="5850411" cy="3233578"/>
              </a:xfrm>
              <a:prstGeom prst="rect">
                <a:avLst/>
              </a:prstGeom>
              <a:noFill/>
            </p:spPr>
            <p:txBody>
              <a:bodyPr wrap="square" numCol="1" spcCol="180000" rtlCol="0">
                <a:spAutoFit/>
              </a:bodyPr>
              <a:lstStyle/>
              <a:p>
                <a:pPr>
                  <a:buClr>
                    <a:schemeClr val="accent1"/>
                  </a:buClr>
                </a:pPr>
                <a:r>
                  <a:rPr lang="en-US" altLang="zh-TW" dirty="0">
                    <a:solidFill>
                      <a:schemeClr val="tx2"/>
                    </a:solidFill>
                    <a:latin typeface="Microsoft JhengHei" panose="020B0604030504040204" pitchFamily="34" charset="-120"/>
                    <a:ea typeface="Microsoft JhengHei" panose="020B0604030504040204" pitchFamily="34" charset="-120"/>
                    <a:cs typeface="+mn-ea"/>
                  </a:rPr>
                  <a:t>ITM</a:t>
                </a:r>
                <a:r>
                  <a:rPr lang="zh-TW" altLang="en-US" dirty="0">
                    <a:solidFill>
                      <a:schemeClr val="tx2"/>
                    </a:solidFill>
                    <a:latin typeface="Microsoft JhengHei" panose="020B0604030504040204" pitchFamily="34" charset="-120"/>
                    <a:ea typeface="Microsoft JhengHei" panose="020B0604030504040204" pitchFamily="34" charset="-120"/>
                    <a:cs typeface="+mn-ea"/>
                  </a:rPr>
                  <a:t> </a:t>
                </a:r>
                <a:r>
                  <a:rPr lang="en-US" altLang="zh-TW"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dirty="0">
                    <a:solidFill>
                      <a:schemeClr val="tx2"/>
                    </a:solidFill>
                    <a:latin typeface="Microsoft JhengHei" panose="020B0604030504040204" pitchFamily="34" charset="-120"/>
                    <a:ea typeface="Microsoft JhengHei" panose="020B0604030504040204" pitchFamily="34" charset="-120"/>
                    <a:cs typeface="+mn-ea"/>
                  </a:rPr>
                  <a:t>：</a:t>
                </a:r>
                <a14:m>
                  <m:oMath xmlns:m="http://schemas.openxmlformats.org/officeDocument/2006/math">
                    <m:r>
                      <a:rPr lang="en-US" altLang="zh-TW" b="0" i="1" smtClean="0">
                        <a:solidFill>
                          <a:schemeClr val="tx2"/>
                        </a:solidFill>
                        <a:latin typeface="Cambria Math" panose="02040503050406030204" pitchFamily="18" charset="0"/>
                        <a:ea typeface="Microsoft JhengHei" panose="020B0604030504040204" pitchFamily="34" charset="-120"/>
                        <a:cs typeface="+mn-ea"/>
                      </a:rPr>
                      <m:t>𝑠𝑞𝑢𝑎𝑟𝑒𝑝𝑙𝑢𝑠</m:t>
                    </m:r>
                    <m:d>
                      <m:dPr>
                        <m:ctrlPr>
                          <a:rPr lang="en-US" altLang="zh-TW" b="0" i="1" smtClean="0">
                            <a:solidFill>
                              <a:schemeClr val="tx2"/>
                            </a:solidFill>
                            <a:latin typeface="Cambria Math" panose="02040503050406030204" pitchFamily="18" charset="0"/>
                            <a:ea typeface="Microsoft JhengHei" panose="020B0604030504040204" pitchFamily="34" charset="-120"/>
                            <a:cs typeface="+mn-ea"/>
                          </a:rPr>
                        </m:ctrlPr>
                      </m:dPr>
                      <m:e>
                        <m:acc>
                          <m:accPr>
                            <m:chr m:val="̃"/>
                            <m:ctrlPr>
                              <a:rPr lang="en-US" altLang="zh-TW" b="0" i="1" smtClean="0">
                                <a:solidFill>
                                  <a:schemeClr val="tx2"/>
                                </a:solidFill>
                                <a:latin typeface="Cambria Math" panose="02040503050406030204" pitchFamily="18" charset="0"/>
                                <a:ea typeface="Microsoft JhengHei" panose="020B0604030504040204" pitchFamily="34" charset="-120"/>
                                <a:cs typeface="+mn-ea"/>
                              </a:rPr>
                            </m:ctrlPr>
                          </m:accPr>
                          <m:e>
                            <m:r>
                              <a:rPr lang="en-US" altLang="zh-TW" b="0" i="1" smtClean="0">
                                <a:solidFill>
                                  <a:schemeClr val="tx2"/>
                                </a:solidFill>
                                <a:latin typeface="Cambria Math" panose="02040503050406030204" pitchFamily="18" charset="0"/>
                                <a:ea typeface="Microsoft JhengHei" panose="020B0604030504040204" pitchFamily="34" charset="-120"/>
                                <a:cs typeface="+mn-ea"/>
                              </a:rPr>
                              <m:t>𝑏</m:t>
                            </m:r>
                          </m:e>
                        </m:acc>
                        <m:r>
                          <a:rPr lang="en-US" altLang="zh-TW" b="0" i="1" smtClean="0">
                            <a:solidFill>
                              <a:schemeClr val="tx2"/>
                            </a:solidFill>
                            <a:latin typeface="Cambria Math" panose="02040503050406030204" pitchFamily="18" charset="0"/>
                            <a:ea typeface="Microsoft JhengHei" panose="020B0604030504040204" pitchFamily="34" charset="-120"/>
                            <a:cs typeface="+mn-ea"/>
                          </a:rPr>
                          <m:t>+</m:t>
                        </m:r>
                        <m:r>
                          <a:rPr lang="en-US" altLang="zh-TW" b="0" i="1" smtClean="0">
                            <a:solidFill>
                              <a:schemeClr val="tx2"/>
                            </a:solidFill>
                            <a:latin typeface="Cambria Math" panose="02040503050406030204" pitchFamily="18" charset="0"/>
                            <a:ea typeface="Microsoft JhengHei" panose="020B0604030504040204" pitchFamily="34" charset="-120"/>
                            <a:cs typeface="+mn-ea"/>
                          </a:rPr>
                          <m:t>𝑚</m:t>
                        </m:r>
                        <m:sSup>
                          <m:sSupPr>
                            <m:ctrlPr>
                              <a:rPr lang="en-US" altLang="zh-TW" b="0" i="1" smtClean="0">
                                <a:solidFill>
                                  <a:schemeClr val="tx2"/>
                                </a:solidFill>
                                <a:latin typeface="Cambria Math" panose="02040503050406030204" pitchFamily="18" charset="0"/>
                                <a:ea typeface="Microsoft JhengHei" panose="020B0604030504040204" pitchFamily="34" charset="-120"/>
                                <a:cs typeface="+mn-ea"/>
                              </a:rPr>
                            </m:ctrlPr>
                          </m:sSupPr>
                          <m:e>
                            <m:r>
                              <a:rPr lang="en-US" altLang="zh-TW" b="0" i="1" smtClean="0">
                                <a:solidFill>
                                  <a:schemeClr val="tx2"/>
                                </a:solidFill>
                                <a:latin typeface="Cambria Math" panose="02040503050406030204" pitchFamily="18" charset="0"/>
                                <a:ea typeface="Microsoft JhengHei" panose="020B0604030504040204" pitchFamily="34" charset="-120"/>
                                <a:cs typeface="+mn-ea"/>
                              </a:rPr>
                              <m:t>𝑒</m:t>
                            </m:r>
                          </m:e>
                          <m:sup>
                            <m:acc>
                              <m:accPr>
                                <m:chr m:val="̃"/>
                                <m:ctrlPr>
                                  <a:rPr lang="en-US" altLang="zh-TW" b="0" i="1" smtClean="0">
                                    <a:solidFill>
                                      <a:schemeClr val="tx2"/>
                                    </a:solidFill>
                                    <a:latin typeface="Cambria Math" panose="02040503050406030204" pitchFamily="18" charset="0"/>
                                    <a:ea typeface="Microsoft JhengHei" panose="020B0604030504040204" pitchFamily="34" charset="-120"/>
                                    <a:cs typeface="+mn-ea"/>
                                  </a:rPr>
                                </m:ctrlPr>
                              </m:accPr>
                              <m:e>
                                <m:r>
                                  <a:rPr lang="zh-TW" altLang="en-US" b="0" i="1" smtClean="0">
                                    <a:solidFill>
                                      <a:schemeClr val="tx2"/>
                                    </a:solidFill>
                                    <a:latin typeface="Cambria Math" panose="02040503050406030204" pitchFamily="18" charset="0"/>
                                    <a:ea typeface="Microsoft JhengHei" panose="020B0604030504040204" pitchFamily="34" charset="-120"/>
                                    <a:cs typeface="+mn-ea"/>
                                  </a:rPr>
                                  <m:t>𝜔</m:t>
                                </m:r>
                              </m:e>
                            </m:acc>
                          </m:sup>
                        </m:sSup>
                      </m:e>
                    </m:d>
                    <m:r>
                      <m:rPr>
                        <m:sty m:val="p"/>
                      </m:rPr>
                      <a:rPr lang="en-US" altLang="zh-TW" b="0" i="0" smtClean="0">
                        <a:solidFill>
                          <a:schemeClr val="tx2"/>
                        </a:solidFill>
                        <a:latin typeface="Cambria Math" panose="02040503050406030204" pitchFamily="18" charset="0"/>
                        <a:ea typeface="Microsoft JhengHei" panose="020B0604030504040204" pitchFamily="34" charset="-120"/>
                        <a:cs typeface="+mn-ea"/>
                      </a:rPr>
                      <m:t>sigmoid</m:t>
                    </m:r>
                    <m:d>
                      <m:dPr>
                        <m:ctrlPr>
                          <a:rPr lang="en-US" altLang="zh-TW" b="0" i="1" smtClean="0">
                            <a:solidFill>
                              <a:schemeClr val="tx2"/>
                            </a:solidFill>
                            <a:latin typeface="Cambria Math" panose="02040503050406030204" pitchFamily="18" charset="0"/>
                            <a:ea typeface="Microsoft JhengHei" panose="020B0604030504040204" pitchFamily="34" charset="-120"/>
                            <a:cs typeface="+mn-ea"/>
                          </a:rPr>
                        </m:ctrlPr>
                      </m:dPr>
                      <m:e>
                        <m:acc>
                          <m:accPr>
                            <m:chr m:val="̅"/>
                            <m:ctrlPr>
                              <a:rPr lang="en-US" altLang="zh-TW" b="0" i="1" smtClean="0">
                                <a:solidFill>
                                  <a:schemeClr val="tx2"/>
                                </a:solidFill>
                                <a:latin typeface="Cambria Math" panose="02040503050406030204" pitchFamily="18" charset="0"/>
                                <a:ea typeface="Microsoft JhengHei" panose="020B0604030504040204" pitchFamily="34" charset="-120"/>
                                <a:cs typeface="+mn-ea"/>
                              </a:rPr>
                            </m:ctrlPr>
                          </m:accPr>
                          <m:e>
                            <m:r>
                              <a:rPr lang="en-US" altLang="zh-TW" b="0" i="1" smtClean="0">
                                <a:solidFill>
                                  <a:schemeClr val="tx2"/>
                                </a:solidFill>
                                <a:latin typeface="Cambria Math" panose="02040503050406030204" pitchFamily="18" charset="0"/>
                                <a:ea typeface="Microsoft JhengHei" panose="020B0604030504040204" pitchFamily="34" charset="-120"/>
                                <a:cs typeface="+mn-ea"/>
                              </a:rPr>
                              <m:t>𝑏</m:t>
                            </m:r>
                          </m:e>
                        </m:acc>
                        <m:r>
                          <a:rPr lang="en-US" altLang="zh-TW" b="0" i="1" smtClean="0">
                            <a:solidFill>
                              <a:schemeClr val="tx2"/>
                            </a:solidFill>
                            <a:latin typeface="Cambria Math" panose="02040503050406030204" pitchFamily="18" charset="0"/>
                            <a:ea typeface="Microsoft JhengHei" panose="020B0604030504040204" pitchFamily="34" charset="-120"/>
                            <a:cs typeface="+mn-ea"/>
                          </a:rPr>
                          <m:t>+</m:t>
                        </m:r>
                        <m:r>
                          <a:rPr lang="zh-TW" altLang="en-US" b="0" i="1" smtClean="0">
                            <a:solidFill>
                              <a:schemeClr val="tx2"/>
                            </a:solidFill>
                            <a:latin typeface="Cambria Math" panose="02040503050406030204" pitchFamily="18" charset="0"/>
                            <a:ea typeface="Microsoft JhengHei" panose="020B0604030504040204" pitchFamily="34" charset="-120"/>
                            <a:cs typeface="+mn-ea"/>
                          </a:rPr>
                          <m:t>𝜏</m:t>
                        </m:r>
                        <m:sSup>
                          <m:sSupPr>
                            <m:ctrlPr>
                              <a:rPr lang="en-US" altLang="zh-TW" b="0" i="1" smtClean="0">
                                <a:solidFill>
                                  <a:schemeClr val="tx2"/>
                                </a:solidFill>
                                <a:latin typeface="Cambria Math" panose="02040503050406030204" pitchFamily="18" charset="0"/>
                                <a:ea typeface="Microsoft JhengHei" panose="020B0604030504040204" pitchFamily="34" charset="-120"/>
                                <a:cs typeface="+mn-ea"/>
                              </a:rPr>
                            </m:ctrlPr>
                          </m:sSupPr>
                          <m:e>
                            <m:r>
                              <a:rPr lang="en-US" altLang="zh-TW" b="0" i="1" smtClean="0">
                                <a:solidFill>
                                  <a:schemeClr val="tx2"/>
                                </a:solidFill>
                                <a:latin typeface="Cambria Math" panose="02040503050406030204" pitchFamily="18" charset="0"/>
                                <a:ea typeface="Microsoft JhengHei" panose="020B0604030504040204" pitchFamily="34" charset="-120"/>
                                <a:cs typeface="+mn-ea"/>
                              </a:rPr>
                              <m:t>𝑒</m:t>
                            </m:r>
                          </m:e>
                          <m:sup>
                            <m:acc>
                              <m:accPr>
                                <m:chr m:val="̅"/>
                                <m:ctrlPr>
                                  <a:rPr lang="en-US" altLang="zh-TW" b="0" i="1" smtClean="0">
                                    <a:solidFill>
                                      <a:schemeClr val="tx2"/>
                                    </a:solidFill>
                                    <a:latin typeface="Cambria Math" panose="02040503050406030204" pitchFamily="18" charset="0"/>
                                    <a:ea typeface="Microsoft JhengHei" panose="020B0604030504040204" pitchFamily="34" charset="-120"/>
                                    <a:cs typeface="+mn-ea"/>
                                  </a:rPr>
                                </m:ctrlPr>
                              </m:accPr>
                              <m:e>
                                <m:r>
                                  <a:rPr lang="zh-TW" altLang="en-US" b="0" i="1" smtClean="0">
                                    <a:solidFill>
                                      <a:schemeClr val="tx2"/>
                                    </a:solidFill>
                                    <a:latin typeface="Cambria Math" panose="02040503050406030204" pitchFamily="18" charset="0"/>
                                    <a:ea typeface="Microsoft JhengHei" panose="020B0604030504040204" pitchFamily="34" charset="-120"/>
                                    <a:cs typeface="+mn-ea"/>
                                  </a:rPr>
                                  <m:t>𝜔</m:t>
                                </m:r>
                              </m:e>
                            </m:acc>
                          </m:sup>
                        </m:sSup>
                      </m:e>
                    </m:d>
                    <m:sSup>
                      <m:sSupPr>
                        <m:ctrlPr>
                          <a:rPr lang="en-US" altLang="zh-TW" b="0" i="1" smtClean="0">
                            <a:solidFill>
                              <a:schemeClr val="tx2"/>
                            </a:solidFill>
                            <a:latin typeface="Cambria Math" panose="02040503050406030204" pitchFamily="18" charset="0"/>
                            <a:ea typeface="Microsoft JhengHei" panose="020B0604030504040204" pitchFamily="34" charset="-120"/>
                            <a:cs typeface="+mn-ea"/>
                          </a:rPr>
                        </m:ctrlPr>
                      </m:sSupPr>
                      <m:e>
                        <m:r>
                          <a:rPr lang="en-US" altLang="zh-TW" b="0" i="1" smtClean="0">
                            <a:solidFill>
                              <a:schemeClr val="tx2"/>
                            </a:solidFill>
                            <a:latin typeface="Cambria Math" panose="02040503050406030204" pitchFamily="18" charset="0"/>
                            <a:ea typeface="Microsoft JhengHei" panose="020B0604030504040204" pitchFamily="34" charset="-120"/>
                            <a:cs typeface="+mn-ea"/>
                          </a:rPr>
                          <m:t>𝑒</m:t>
                        </m:r>
                      </m:e>
                      <m:sup>
                        <m:acc>
                          <m:accPr>
                            <m:chr m:val="̂"/>
                            <m:ctrlPr>
                              <a:rPr lang="en-US" altLang="zh-TW" b="0" i="1" smtClean="0">
                                <a:solidFill>
                                  <a:schemeClr val="tx2"/>
                                </a:solidFill>
                                <a:latin typeface="Cambria Math" panose="02040503050406030204" pitchFamily="18" charset="0"/>
                                <a:ea typeface="Microsoft JhengHei" panose="020B0604030504040204" pitchFamily="34" charset="-120"/>
                                <a:cs typeface="+mn-ea"/>
                              </a:rPr>
                            </m:ctrlPr>
                          </m:accPr>
                          <m:e>
                            <m:r>
                              <a:rPr lang="zh-TW" altLang="en-US" b="0" i="1" smtClean="0">
                                <a:solidFill>
                                  <a:schemeClr val="tx2"/>
                                </a:solidFill>
                                <a:latin typeface="Cambria Math" panose="02040503050406030204" pitchFamily="18" charset="0"/>
                                <a:ea typeface="Microsoft JhengHei" panose="020B0604030504040204" pitchFamily="34" charset="-120"/>
                                <a:cs typeface="+mn-ea"/>
                              </a:rPr>
                              <m:t>𝜔</m:t>
                            </m:r>
                          </m:e>
                        </m:acc>
                      </m:sup>
                    </m:sSup>
                  </m:oMath>
                </a14:m>
                <a:endParaRPr lang="en-US" altLang="zh-TW" dirty="0">
                  <a:solidFill>
                    <a:schemeClr val="tx2"/>
                  </a:solidFill>
                  <a:latin typeface="Microsoft JhengHei" panose="020B0604030504040204" pitchFamily="34" charset="-120"/>
                  <a:ea typeface="Microsoft JhengHei" panose="020B0604030504040204" pitchFamily="34" charset="-120"/>
                  <a:cs typeface="+mn-ea"/>
                </a:endParaRPr>
              </a:p>
              <a:p>
                <a:pPr marL="799465" lvl="1" indent="-342900">
                  <a:lnSpc>
                    <a:spcPct val="150000"/>
                  </a:lnSpc>
                  <a:buClr>
                    <a:schemeClr val="accent1"/>
                  </a:buClr>
                  <a:buFont typeface="+mj-lt"/>
                  <a:buAutoNum type="arabicPeriod"/>
                </a:pPr>
                <a14:m>
                  <m:oMath xmlns:m="http://schemas.openxmlformats.org/officeDocument/2006/math">
                    <m:f>
                      <m:fPr>
                        <m:ctrlPr>
                          <a:rPr lang="en-US" altLang="zh-TW" i="1" smtClean="0">
                            <a:solidFill>
                              <a:schemeClr val="tx2"/>
                            </a:solidFill>
                            <a:latin typeface="Cambria Math" panose="02040503050406030204" pitchFamily="18" charset="0"/>
                            <a:ea typeface="Microsoft JhengHei" panose="020B0604030504040204" pitchFamily="34" charset="-120"/>
                            <a:cs typeface="+mn-ea"/>
                          </a:rPr>
                        </m:ctrlPr>
                      </m:fPr>
                      <m:num>
                        <m:r>
                          <a:rPr lang="zh-TW" altLang="en-US" i="1" smtClean="0">
                            <a:solidFill>
                              <a:schemeClr val="tx2"/>
                            </a:solidFill>
                            <a:latin typeface="Cambria Math" panose="02040503050406030204" pitchFamily="18" charset="0"/>
                            <a:ea typeface="Microsoft JhengHei" panose="020B0604030504040204" pitchFamily="34" charset="-120"/>
                            <a:cs typeface="+mn-ea"/>
                          </a:rPr>
                          <m:t>𝜕</m:t>
                        </m:r>
                        <m:r>
                          <a:rPr lang="en-US" altLang="zh-TW" b="0" i="1" smtClean="0">
                            <a:solidFill>
                              <a:schemeClr val="tx2"/>
                            </a:solidFill>
                            <a:latin typeface="Cambria Math" panose="02040503050406030204" pitchFamily="18" charset="0"/>
                            <a:ea typeface="Microsoft JhengHei" panose="020B0604030504040204" pitchFamily="34" charset="-120"/>
                            <a:cs typeface="+mn-ea"/>
                          </a:rPr>
                          <m:t>𝑇𝑉</m:t>
                        </m:r>
                      </m:num>
                      <m:den>
                        <m:r>
                          <a:rPr lang="zh-TW" altLang="en-US" i="1" smtClean="0">
                            <a:solidFill>
                              <a:schemeClr val="tx2"/>
                            </a:solidFill>
                            <a:latin typeface="Cambria Math" panose="02040503050406030204" pitchFamily="18" charset="0"/>
                            <a:ea typeface="Microsoft JhengHei" panose="020B0604030504040204" pitchFamily="34" charset="-120"/>
                            <a:cs typeface="+mn-ea"/>
                          </a:rPr>
                          <m:t>𝜕</m:t>
                        </m:r>
                        <m:r>
                          <a:rPr lang="en-US" altLang="zh-TW" b="0" i="1" smtClean="0">
                            <a:solidFill>
                              <a:schemeClr val="tx2"/>
                            </a:solidFill>
                            <a:latin typeface="Cambria Math" panose="02040503050406030204" pitchFamily="18" charset="0"/>
                            <a:ea typeface="Microsoft JhengHei" panose="020B0604030504040204" pitchFamily="34" charset="-120"/>
                            <a:cs typeface="+mn-ea"/>
                          </a:rPr>
                          <m:t>𝐾</m:t>
                        </m:r>
                      </m:den>
                    </m:f>
                    <m:r>
                      <a:rPr lang="en-US" altLang="zh-TW" i="1" smtClean="0">
                        <a:solidFill>
                          <a:schemeClr val="tx2"/>
                        </a:solidFill>
                        <a:latin typeface="Cambria Math" panose="02040503050406030204" pitchFamily="18" charset="0"/>
                        <a:ea typeface="Cambria Math" panose="02040503050406030204" pitchFamily="18" charset="0"/>
                        <a:cs typeface="+mn-ea"/>
                      </a:rPr>
                      <m:t>≥</m:t>
                    </m:r>
                    <m:r>
                      <a:rPr lang="en-US" altLang="zh-TW" b="0" i="1" smtClean="0">
                        <a:solidFill>
                          <a:schemeClr val="tx2"/>
                        </a:solidFill>
                        <a:latin typeface="Cambria Math" panose="02040503050406030204" pitchFamily="18" charset="0"/>
                        <a:ea typeface="Cambria Math" panose="02040503050406030204" pitchFamily="18" charset="0"/>
                        <a:cs typeface="+mn-ea"/>
                      </a:rPr>
                      <m:t>0</m:t>
                    </m:r>
                  </m:oMath>
                </a14:m>
                <a:endParaRPr lang="en-US" altLang="zh-TW" dirty="0">
                  <a:solidFill>
                    <a:schemeClr val="tx2"/>
                  </a:solidFill>
                  <a:latin typeface="Microsoft JhengHei" panose="020B0604030504040204" pitchFamily="34" charset="-120"/>
                  <a:ea typeface="Microsoft JhengHei" panose="020B0604030504040204" pitchFamily="34" charset="-120"/>
                  <a:cs typeface="+mn-ea"/>
                </a:endParaRPr>
              </a:p>
              <a:p>
                <a:pPr marL="799465" lvl="1" indent="-342900">
                  <a:lnSpc>
                    <a:spcPct val="150000"/>
                  </a:lnSpc>
                  <a:buClr>
                    <a:schemeClr val="accent1"/>
                  </a:buClr>
                  <a:buFont typeface="+mj-lt"/>
                  <a:buAutoNum type="arabicPeriod"/>
                </a:pPr>
                <a14:m>
                  <m:oMath xmlns:m="http://schemas.openxmlformats.org/officeDocument/2006/math">
                    <m:f>
                      <m:fPr>
                        <m:ctrlPr>
                          <a:rPr lang="en-US" altLang="zh-TW" i="1" smtClean="0">
                            <a:solidFill>
                              <a:schemeClr val="tx2"/>
                            </a:solidFill>
                            <a:latin typeface="Cambria Math" panose="02040503050406030204" pitchFamily="18" charset="0"/>
                            <a:ea typeface="Microsoft JhengHei" panose="020B0604030504040204" pitchFamily="34" charset="-120"/>
                            <a:cs typeface="+mn-ea"/>
                          </a:rPr>
                        </m:ctrlPr>
                      </m:fPr>
                      <m:num>
                        <m:sSup>
                          <m:sSupPr>
                            <m:ctrlPr>
                              <a:rPr lang="en-US" altLang="zh-TW" i="1" smtClean="0">
                                <a:solidFill>
                                  <a:schemeClr val="tx2"/>
                                </a:solidFill>
                                <a:latin typeface="Cambria Math" panose="02040503050406030204" pitchFamily="18" charset="0"/>
                                <a:ea typeface="Microsoft JhengHei" panose="020B0604030504040204" pitchFamily="34" charset="-120"/>
                                <a:cs typeface="+mn-ea"/>
                              </a:rPr>
                            </m:ctrlPr>
                          </m:sSupPr>
                          <m:e>
                            <m:r>
                              <a:rPr lang="zh-TW" altLang="en-US" i="1" smtClean="0">
                                <a:solidFill>
                                  <a:schemeClr val="tx2"/>
                                </a:solidFill>
                                <a:latin typeface="Cambria Math" panose="02040503050406030204" pitchFamily="18" charset="0"/>
                                <a:ea typeface="Microsoft JhengHei" panose="020B0604030504040204" pitchFamily="34" charset="-120"/>
                                <a:cs typeface="+mn-ea"/>
                              </a:rPr>
                              <m:t>𝜕</m:t>
                            </m:r>
                          </m:e>
                          <m:sup>
                            <m:r>
                              <a:rPr lang="en-US" altLang="zh-TW" b="0" i="1" smtClean="0">
                                <a:solidFill>
                                  <a:schemeClr val="tx2"/>
                                </a:solidFill>
                                <a:latin typeface="Cambria Math" panose="02040503050406030204" pitchFamily="18" charset="0"/>
                                <a:ea typeface="Microsoft JhengHei" panose="020B0604030504040204" pitchFamily="34" charset="-120"/>
                                <a:cs typeface="+mn-ea"/>
                              </a:rPr>
                              <m:t>2</m:t>
                            </m:r>
                          </m:sup>
                        </m:sSup>
                        <m:r>
                          <a:rPr lang="en-US" altLang="zh-TW" b="0" i="1" smtClean="0">
                            <a:solidFill>
                              <a:schemeClr val="tx2"/>
                            </a:solidFill>
                            <a:latin typeface="Cambria Math" panose="02040503050406030204" pitchFamily="18" charset="0"/>
                            <a:ea typeface="Microsoft JhengHei" panose="020B0604030504040204" pitchFamily="34" charset="-120"/>
                            <a:cs typeface="+mn-ea"/>
                          </a:rPr>
                          <m:t>𝑇𝑉</m:t>
                        </m:r>
                      </m:num>
                      <m:den>
                        <m:sSup>
                          <m:sSupPr>
                            <m:ctrlPr>
                              <a:rPr lang="en-US" altLang="zh-TW" i="1" smtClean="0">
                                <a:solidFill>
                                  <a:schemeClr val="tx2"/>
                                </a:solidFill>
                                <a:latin typeface="Cambria Math" panose="02040503050406030204" pitchFamily="18" charset="0"/>
                                <a:ea typeface="Microsoft JhengHei" panose="020B0604030504040204" pitchFamily="34" charset="-120"/>
                                <a:cs typeface="+mn-ea"/>
                              </a:rPr>
                            </m:ctrlPr>
                          </m:sSupPr>
                          <m:e>
                            <m:r>
                              <a:rPr lang="zh-TW" altLang="en-US" i="1" smtClean="0">
                                <a:solidFill>
                                  <a:schemeClr val="tx2"/>
                                </a:solidFill>
                                <a:latin typeface="Cambria Math" panose="02040503050406030204" pitchFamily="18" charset="0"/>
                                <a:ea typeface="Microsoft JhengHei" panose="020B0604030504040204" pitchFamily="34" charset="-120"/>
                                <a:cs typeface="+mn-ea"/>
                              </a:rPr>
                              <m:t>𝜕</m:t>
                            </m:r>
                          </m:e>
                          <m:sup>
                            <m:r>
                              <a:rPr lang="en-US" altLang="zh-TW" b="0" i="1" smtClean="0">
                                <a:solidFill>
                                  <a:schemeClr val="tx2"/>
                                </a:solidFill>
                                <a:latin typeface="Cambria Math" panose="02040503050406030204" pitchFamily="18" charset="0"/>
                                <a:ea typeface="Microsoft JhengHei" panose="020B0604030504040204" pitchFamily="34" charset="-120"/>
                                <a:cs typeface="+mn-ea"/>
                              </a:rPr>
                              <m:t>2</m:t>
                            </m:r>
                          </m:sup>
                        </m:sSup>
                        <m:r>
                          <a:rPr lang="en-US" altLang="zh-TW" b="0" i="1" smtClean="0">
                            <a:solidFill>
                              <a:schemeClr val="tx2"/>
                            </a:solidFill>
                            <a:latin typeface="Cambria Math" panose="02040503050406030204" pitchFamily="18" charset="0"/>
                            <a:ea typeface="Microsoft JhengHei" panose="020B0604030504040204" pitchFamily="34" charset="-120"/>
                            <a:cs typeface="+mn-ea"/>
                          </a:rPr>
                          <m:t>𝐾</m:t>
                        </m:r>
                      </m:den>
                    </m:f>
                    <m:r>
                      <a:rPr lang="en-US" altLang="zh-TW" i="1" smtClean="0">
                        <a:solidFill>
                          <a:schemeClr val="tx2"/>
                        </a:solidFill>
                        <a:latin typeface="Cambria Math" panose="02040503050406030204" pitchFamily="18" charset="0"/>
                        <a:ea typeface="Cambria Math" panose="02040503050406030204" pitchFamily="18" charset="0"/>
                        <a:cs typeface="+mn-ea"/>
                      </a:rPr>
                      <m:t>≥</m:t>
                    </m:r>
                    <m:r>
                      <a:rPr lang="en-US" altLang="zh-TW" b="0" i="1" smtClean="0">
                        <a:solidFill>
                          <a:schemeClr val="tx2"/>
                        </a:solidFill>
                        <a:latin typeface="Cambria Math" panose="02040503050406030204" pitchFamily="18" charset="0"/>
                        <a:ea typeface="Cambria Math" panose="02040503050406030204" pitchFamily="18" charset="0"/>
                        <a:cs typeface="+mn-ea"/>
                      </a:rPr>
                      <m:t>0</m:t>
                    </m:r>
                  </m:oMath>
                </a14:m>
                <a:endParaRPr lang="en-US" altLang="zh-TW" b="0" dirty="0">
                  <a:solidFill>
                    <a:schemeClr val="tx2"/>
                  </a:solidFill>
                  <a:latin typeface="Microsoft JhengHei" panose="020B0604030504040204" pitchFamily="34" charset="-120"/>
                  <a:ea typeface="Cambria Math" panose="02040503050406030204" pitchFamily="18" charset="0"/>
                  <a:cs typeface="+mn-ea"/>
                </a:endParaRPr>
              </a:p>
              <a:p>
                <a:pPr marL="799465" lvl="1" indent="-342900">
                  <a:lnSpc>
                    <a:spcPct val="150000"/>
                  </a:lnSpc>
                  <a:buClr>
                    <a:schemeClr val="accent1"/>
                  </a:buClr>
                  <a:buFont typeface="+mj-lt"/>
                  <a:buAutoNum type="arabicPeriod"/>
                </a:pPr>
                <a14:m>
                  <m:oMath xmlns:m="http://schemas.openxmlformats.org/officeDocument/2006/math">
                    <m:f>
                      <m:fPr>
                        <m:ctrlPr>
                          <a:rPr lang="en-US" altLang="zh-TW" i="1">
                            <a:solidFill>
                              <a:schemeClr val="tx2"/>
                            </a:solidFill>
                            <a:latin typeface="Cambria Math" panose="02040503050406030204" pitchFamily="18" charset="0"/>
                            <a:ea typeface="Microsoft JhengHei" panose="020B0604030504040204" pitchFamily="34" charset="-120"/>
                            <a:cs typeface="+mn-ea"/>
                          </a:rPr>
                        </m:ctrlPr>
                      </m:fPr>
                      <m:num>
                        <m:r>
                          <a:rPr lang="zh-TW" altLang="en-US" i="1">
                            <a:solidFill>
                              <a:schemeClr val="tx2"/>
                            </a:solidFill>
                            <a:latin typeface="Cambria Math" panose="02040503050406030204" pitchFamily="18" charset="0"/>
                            <a:ea typeface="Microsoft JhengHei" panose="020B0604030504040204" pitchFamily="34" charset="-120"/>
                            <a:cs typeface="+mn-ea"/>
                          </a:rPr>
                          <m:t>𝜕</m:t>
                        </m:r>
                        <m:r>
                          <a:rPr lang="en-US" altLang="zh-TW" i="1">
                            <a:solidFill>
                              <a:schemeClr val="tx2"/>
                            </a:solidFill>
                            <a:latin typeface="Cambria Math" panose="02040503050406030204" pitchFamily="18" charset="0"/>
                            <a:ea typeface="Microsoft JhengHei" panose="020B0604030504040204" pitchFamily="34" charset="-120"/>
                            <a:cs typeface="+mn-ea"/>
                          </a:rPr>
                          <m:t>𝑇𝑉</m:t>
                        </m:r>
                      </m:num>
                      <m:den>
                        <m:r>
                          <a:rPr lang="zh-TW" altLang="en-US" i="1">
                            <a:solidFill>
                              <a:schemeClr val="tx2"/>
                            </a:solidFill>
                            <a:latin typeface="Cambria Math" panose="02040503050406030204" pitchFamily="18" charset="0"/>
                            <a:ea typeface="Microsoft JhengHei" panose="020B0604030504040204" pitchFamily="34" charset="-120"/>
                            <a:cs typeface="+mn-ea"/>
                          </a:rPr>
                          <m:t>𝜕</m:t>
                        </m:r>
                        <m:r>
                          <a:rPr lang="zh-TW" altLang="en-US" i="1" smtClean="0">
                            <a:solidFill>
                              <a:schemeClr val="tx2"/>
                            </a:solidFill>
                            <a:latin typeface="Cambria Math" panose="02040503050406030204" pitchFamily="18" charset="0"/>
                            <a:ea typeface="Microsoft JhengHei" panose="020B0604030504040204" pitchFamily="34" charset="-120"/>
                            <a:cs typeface="+mn-ea"/>
                          </a:rPr>
                          <m:t>𝜏</m:t>
                        </m:r>
                      </m:den>
                    </m:f>
                    <m:r>
                      <a:rPr lang="en-US" altLang="zh-TW" i="1">
                        <a:solidFill>
                          <a:schemeClr val="tx2"/>
                        </a:solidFill>
                        <a:latin typeface="Cambria Math" panose="02040503050406030204" pitchFamily="18" charset="0"/>
                        <a:ea typeface="Cambria Math" panose="02040503050406030204" pitchFamily="18" charset="0"/>
                        <a:cs typeface="+mn-ea"/>
                      </a:rPr>
                      <m:t>≥0</m:t>
                    </m:r>
                  </m:oMath>
                </a14:m>
                <a:endParaRPr lang="en-US" altLang="zh-TW" dirty="0">
                  <a:solidFill>
                    <a:schemeClr val="tx2"/>
                  </a:solidFill>
                  <a:latin typeface="Microsoft JhengHei" panose="020B0604030504040204" pitchFamily="34" charset="-120"/>
                  <a:ea typeface="Microsoft JhengHei" panose="020B0604030504040204" pitchFamily="34" charset="-120"/>
                  <a:cs typeface="+mn-ea"/>
                </a:endParaRPr>
              </a:p>
              <a:p>
                <a:pPr marL="799465" lvl="1" indent="-342900">
                  <a:lnSpc>
                    <a:spcPct val="150000"/>
                  </a:lnSpc>
                  <a:buClr>
                    <a:schemeClr val="accent1"/>
                  </a:buClr>
                  <a:buFont typeface="+mj-lt"/>
                  <a:buAutoNum type="arabicPeriod"/>
                </a:pPr>
                <a14:m>
                  <m:oMath xmlns:m="http://schemas.openxmlformats.org/officeDocument/2006/math">
                    <m:func>
                      <m:funcPr>
                        <m:ctrlPr>
                          <a:rPr lang="en-US" altLang="zh-TW" i="1">
                            <a:solidFill>
                              <a:schemeClr val="tx2"/>
                            </a:solidFill>
                            <a:latin typeface="Cambria Math" panose="02040503050406030204" pitchFamily="18" charset="0"/>
                            <a:ea typeface="Microsoft JhengHei" panose="020B0604030504040204" pitchFamily="34" charset="-120"/>
                            <a:cs typeface="+mn-ea"/>
                          </a:rPr>
                        </m:ctrlPr>
                      </m:funcPr>
                      <m:fName>
                        <m:limLow>
                          <m:limLowPr>
                            <m:ctrlPr>
                              <a:rPr lang="en-US" altLang="zh-TW" i="1">
                                <a:solidFill>
                                  <a:schemeClr val="tx2"/>
                                </a:solidFill>
                                <a:latin typeface="Cambria Math" panose="02040503050406030204" pitchFamily="18" charset="0"/>
                                <a:ea typeface="Microsoft JhengHei" panose="020B0604030504040204" pitchFamily="34" charset="-120"/>
                                <a:cs typeface="+mn-ea"/>
                              </a:rPr>
                            </m:ctrlPr>
                          </m:limLowPr>
                          <m:e>
                            <m:r>
                              <m:rPr>
                                <m:sty m:val="p"/>
                              </m:rPr>
                              <a:rPr lang="en-US" altLang="zh-TW" i="1">
                                <a:solidFill>
                                  <a:schemeClr val="tx2"/>
                                </a:solidFill>
                                <a:latin typeface="Cambria Math" panose="02040503050406030204" pitchFamily="18" charset="0"/>
                                <a:ea typeface="Microsoft JhengHei" panose="020B0604030504040204" pitchFamily="34" charset="-120"/>
                                <a:cs typeface="+mn-ea"/>
                              </a:rPr>
                              <m:t>lim</m:t>
                            </m:r>
                          </m:e>
                          <m:lim>
                            <m:r>
                              <a:rPr lang="en-US" altLang="zh-TW" i="1">
                                <a:solidFill>
                                  <a:schemeClr val="tx2"/>
                                </a:solidFill>
                                <a:latin typeface="Cambria Math" panose="02040503050406030204" pitchFamily="18" charset="0"/>
                                <a:ea typeface="Microsoft JhengHei" panose="020B0604030504040204" pitchFamily="34" charset="-120"/>
                                <a:cs typeface="+mn-ea"/>
                              </a:rPr>
                              <m:t>𝐾</m:t>
                            </m:r>
                            <m:r>
                              <a:rPr lang="en-US" altLang="zh-TW" i="1">
                                <a:solidFill>
                                  <a:schemeClr val="tx2"/>
                                </a:solidFill>
                                <a:latin typeface="Cambria Math" panose="02040503050406030204" pitchFamily="18" charset="0"/>
                                <a:ea typeface="Microsoft JhengHei" panose="020B0604030504040204" pitchFamily="34" charset="-120"/>
                                <a:cs typeface="+mn-ea"/>
                              </a:rPr>
                              <m:t>→0</m:t>
                            </m:r>
                          </m:lim>
                        </m:limLow>
                      </m:fName>
                      <m:e>
                        <m:eqArr>
                          <m:eqArrPr>
                            <m:ctrlPr>
                              <a:rPr lang="en-US" altLang="zh-TW" i="1">
                                <a:solidFill>
                                  <a:schemeClr val="tx2"/>
                                </a:solidFill>
                                <a:latin typeface="Cambria Math" panose="02040503050406030204" pitchFamily="18" charset="0"/>
                                <a:ea typeface="Microsoft JhengHei" panose="020B0604030504040204" pitchFamily="34" charset="-120"/>
                                <a:cs typeface="+mn-ea"/>
                              </a:rPr>
                            </m:ctrlPr>
                          </m:eqArrPr>
                          <m:e>
                            <m:r>
                              <a:rPr lang="en-US" altLang="zh-TW" i="1">
                                <a:solidFill>
                                  <a:schemeClr val="tx2"/>
                                </a:solidFill>
                                <a:latin typeface="Cambria Math" panose="02040503050406030204" pitchFamily="18" charset="0"/>
                                <a:ea typeface="Microsoft JhengHei" panose="020B0604030504040204" pitchFamily="34" charset="-120"/>
                                <a:cs typeface="+mn-ea"/>
                              </a:rPr>
                              <m:t>𝑇𝑉</m:t>
                            </m:r>
                            <m:r>
                              <a:rPr lang="en-US" altLang="zh-TW" i="1">
                                <a:solidFill>
                                  <a:schemeClr val="tx2"/>
                                </a:solidFill>
                                <a:latin typeface="Cambria Math" panose="02040503050406030204" pitchFamily="18" charset="0"/>
                                <a:ea typeface="Microsoft JhengHei" panose="020B0604030504040204" pitchFamily="34" charset="-120"/>
                                <a:cs typeface="+mn-ea"/>
                              </a:rPr>
                              <m:t>=0</m:t>
                            </m:r>
                          </m:e>
                        </m:eqArr>
                      </m:e>
                    </m:func>
                  </m:oMath>
                </a14:m>
                <a:r>
                  <a:rPr lang="zh-TW" altLang="en-US" i="1" dirty="0">
                    <a:solidFill>
                      <a:schemeClr val="tx2"/>
                    </a:solidFill>
                    <a:latin typeface="Cambria Math" panose="02040503050406030204" pitchFamily="18" charset="0"/>
                    <a:ea typeface="Microsoft JhengHei" panose="020B0604030504040204" pitchFamily="34" charset="-120"/>
                    <a:cs typeface="+mn-ea"/>
                  </a:rPr>
                  <a:t>，</a:t>
                </a:r>
                <a:r>
                  <a:rPr lang="en-US" altLang="zh-TW" dirty="0">
                    <a:solidFill>
                      <a:schemeClr val="tx2"/>
                    </a:solidFill>
                    <a:latin typeface="Microsoft JhengHei" panose="020B0604030504040204" pitchFamily="34" charset="-120"/>
                    <a:ea typeface="Microsoft JhengHei" panose="020B0604030504040204" pitchFamily="34" charset="-120"/>
                    <a:cs typeface="+mn-ea"/>
                  </a:rPr>
                  <a:t>deep in the  money</a:t>
                </a:r>
                <a:endParaRPr lang="en-US" altLang="zh-TW" i="1" dirty="0">
                  <a:solidFill>
                    <a:schemeClr val="tx2"/>
                  </a:solidFill>
                  <a:latin typeface="Cambria Math" panose="02040503050406030204" pitchFamily="18" charset="0"/>
                  <a:ea typeface="Microsoft JhengHei" panose="020B0604030504040204" pitchFamily="34" charset="-120"/>
                  <a:cs typeface="+mn-ea"/>
                </a:endParaRPr>
              </a:p>
              <a:p>
                <a:pPr marL="799465" lvl="1" indent="-342900">
                  <a:lnSpc>
                    <a:spcPct val="150000"/>
                  </a:lnSpc>
                  <a:buClr>
                    <a:schemeClr val="accent1"/>
                  </a:buClr>
                  <a:buFont typeface="+mj-lt"/>
                  <a:buAutoNum type="arabicPeriod"/>
                </a:pPr>
                <a14:m>
                  <m:oMath xmlns:m="http://schemas.openxmlformats.org/officeDocument/2006/math">
                    <m:func>
                      <m:funcPr>
                        <m:ctrlPr>
                          <a:rPr lang="en-US" altLang="zh-TW" i="1">
                            <a:solidFill>
                              <a:schemeClr val="tx2"/>
                            </a:solidFill>
                            <a:latin typeface="Cambria Math" panose="02040503050406030204" pitchFamily="18" charset="0"/>
                            <a:ea typeface="Microsoft JhengHei" panose="020B0604030504040204" pitchFamily="34" charset="-120"/>
                            <a:cs typeface="+mn-ea"/>
                          </a:rPr>
                        </m:ctrlPr>
                      </m:funcPr>
                      <m:fName>
                        <m:limLow>
                          <m:limLowPr>
                            <m:ctrlPr>
                              <a:rPr lang="en-US" altLang="zh-TW" i="1">
                                <a:solidFill>
                                  <a:schemeClr val="tx2"/>
                                </a:solidFill>
                                <a:latin typeface="Cambria Math" panose="02040503050406030204" pitchFamily="18" charset="0"/>
                                <a:ea typeface="Microsoft JhengHei" panose="020B0604030504040204" pitchFamily="34" charset="-120"/>
                                <a:cs typeface="+mn-ea"/>
                              </a:rPr>
                            </m:ctrlPr>
                          </m:limLowPr>
                          <m:e>
                            <m:r>
                              <m:rPr>
                                <m:sty m:val="p"/>
                              </m:rPr>
                              <a:rPr lang="en-US" altLang="zh-TW">
                                <a:solidFill>
                                  <a:schemeClr val="tx2"/>
                                </a:solidFill>
                                <a:latin typeface="Cambria Math" panose="02040503050406030204" pitchFamily="18" charset="0"/>
                                <a:ea typeface="Microsoft JhengHei" panose="020B0604030504040204" pitchFamily="34" charset="-120"/>
                                <a:cs typeface="+mn-ea"/>
                              </a:rPr>
                              <m:t>lim</m:t>
                            </m:r>
                          </m:e>
                          <m:lim>
                            <m:r>
                              <a:rPr lang="zh-TW" altLang="en-US" i="1" smtClean="0">
                                <a:solidFill>
                                  <a:schemeClr val="tx2"/>
                                </a:solidFill>
                                <a:latin typeface="Cambria Math" panose="02040503050406030204" pitchFamily="18" charset="0"/>
                                <a:ea typeface="Microsoft JhengHei" panose="020B0604030504040204" pitchFamily="34" charset="-120"/>
                                <a:cs typeface="+mn-ea"/>
                              </a:rPr>
                              <m:t>𝜏</m:t>
                            </m:r>
                            <m:r>
                              <a:rPr lang="en-US" altLang="zh-TW" i="1">
                                <a:solidFill>
                                  <a:schemeClr val="tx2"/>
                                </a:solidFill>
                                <a:latin typeface="Cambria Math" panose="02040503050406030204" pitchFamily="18" charset="0"/>
                                <a:ea typeface="Cambria Math" panose="02040503050406030204" pitchFamily="18" charset="0"/>
                                <a:cs typeface="+mn-ea"/>
                              </a:rPr>
                              <m:t>→0</m:t>
                            </m:r>
                          </m:lim>
                        </m:limLow>
                      </m:fName>
                      <m:e>
                        <m:eqArr>
                          <m:eqArrPr>
                            <m:ctrlPr>
                              <a:rPr lang="en-US" altLang="zh-TW" i="1">
                                <a:solidFill>
                                  <a:schemeClr val="tx2"/>
                                </a:solidFill>
                                <a:latin typeface="Cambria Math" panose="02040503050406030204" pitchFamily="18" charset="0"/>
                                <a:ea typeface="Microsoft JhengHei" panose="020B0604030504040204" pitchFamily="34" charset="-120"/>
                                <a:cs typeface="+mn-ea"/>
                              </a:rPr>
                            </m:ctrlPr>
                          </m:eqArrPr>
                          <m:e>
                            <m:r>
                              <a:rPr lang="en-US" altLang="zh-TW" i="1">
                                <a:solidFill>
                                  <a:schemeClr val="tx2"/>
                                </a:solidFill>
                                <a:latin typeface="Cambria Math" panose="02040503050406030204" pitchFamily="18" charset="0"/>
                                <a:ea typeface="Microsoft JhengHei" panose="020B0604030504040204" pitchFamily="34" charset="-120"/>
                                <a:cs typeface="+mn-ea"/>
                              </a:rPr>
                              <m:t>𝑇𝑉</m:t>
                            </m:r>
                            <m:r>
                              <a:rPr lang="en-US" altLang="zh-TW" i="1">
                                <a:solidFill>
                                  <a:schemeClr val="tx2"/>
                                </a:solidFill>
                                <a:latin typeface="Cambria Math" panose="02040503050406030204" pitchFamily="18" charset="0"/>
                                <a:ea typeface="Microsoft JhengHei" panose="020B0604030504040204" pitchFamily="34" charset="-120"/>
                                <a:cs typeface="+mn-ea"/>
                              </a:rPr>
                              <m:t>=0</m:t>
                            </m:r>
                          </m:e>
                        </m:eqArr>
                      </m:e>
                    </m:func>
                  </m:oMath>
                </a14:m>
                <a:r>
                  <a:rPr lang="zh-TW" altLang="en-US" dirty="0">
                    <a:solidFill>
                      <a:schemeClr val="tx2"/>
                    </a:solidFill>
                    <a:latin typeface="Microsoft JhengHei" panose="020B0604030504040204" pitchFamily="34" charset="-120"/>
                    <a:ea typeface="Microsoft JhengHei" panose="020B0604030504040204" pitchFamily="34" charset="-120"/>
                    <a:cs typeface="+mn-ea"/>
                  </a:rPr>
                  <a:t>，</a:t>
                </a:r>
                <a:r>
                  <a:rPr lang="en-US" altLang="zh-TW" dirty="0">
                    <a:solidFill>
                      <a:schemeClr val="tx2"/>
                    </a:solidFill>
                    <a:latin typeface="Microsoft JhengHei" panose="020B0604030504040204" pitchFamily="34" charset="-120"/>
                    <a:ea typeface="Microsoft JhengHei" panose="020B0604030504040204" pitchFamily="34" charset="-120"/>
                    <a:cs typeface="+mn-ea"/>
                  </a:rPr>
                  <a:t>options nearing expiration</a:t>
                </a:r>
              </a:p>
            </p:txBody>
          </p:sp>
        </mc:Choice>
        <mc:Fallback xmlns="">
          <p:sp>
            <p:nvSpPr>
              <p:cNvPr id="2" name="文字方塊 1">
                <a:extLst>
                  <a:ext uri="{FF2B5EF4-FFF2-40B4-BE49-F238E27FC236}">
                    <a16:creationId xmlns:a16="http://schemas.microsoft.com/office/drawing/2014/main" id="{64F7939C-B5BB-77F3-5187-8383DA75E45D}"/>
                  </a:ext>
                </a:extLst>
              </p:cNvPr>
              <p:cNvSpPr txBox="1">
                <a:spLocks noRot="1" noChangeAspect="1" noMove="1" noResize="1" noEditPoints="1" noAdjustHandles="1" noChangeArrowheads="1" noChangeShapeType="1" noTextEdit="1"/>
              </p:cNvSpPr>
              <p:nvPr/>
            </p:nvSpPr>
            <p:spPr>
              <a:xfrm>
                <a:off x="177164" y="3195606"/>
                <a:ext cx="5850411" cy="3233578"/>
              </a:xfrm>
              <a:prstGeom prst="rect">
                <a:avLst/>
              </a:prstGeom>
              <a:blipFill>
                <a:blip r:embed="rId3"/>
                <a:stretch>
                  <a:fillRect l="-833" t="-377" r="-40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58C69E56-4AE2-5E5C-CF1F-099B5457748C}"/>
                  </a:ext>
                </a:extLst>
              </p:cNvPr>
              <p:cNvSpPr txBox="1"/>
              <p:nvPr/>
            </p:nvSpPr>
            <p:spPr>
              <a:xfrm>
                <a:off x="6273165" y="3195606"/>
                <a:ext cx="5850411" cy="3356816"/>
              </a:xfrm>
              <a:prstGeom prst="rect">
                <a:avLst/>
              </a:prstGeom>
              <a:noFill/>
            </p:spPr>
            <p:txBody>
              <a:bodyPr wrap="square" numCol="1" spcCol="180000" rtlCol="0">
                <a:spAutoFit/>
              </a:bodyPr>
              <a:lstStyle/>
              <a:p>
                <a:pPr>
                  <a:buClr>
                    <a:schemeClr val="accent1"/>
                  </a:buClr>
                </a:pPr>
                <a:r>
                  <a:rPr lang="en-US" altLang="zh-TW" dirty="0">
                    <a:solidFill>
                      <a:schemeClr val="tx2"/>
                    </a:solidFill>
                    <a:latin typeface="Microsoft JhengHei" panose="020B0604030504040204" pitchFamily="34" charset="-120"/>
                    <a:ea typeface="Microsoft JhengHei" panose="020B0604030504040204" pitchFamily="34" charset="-120"/>
                    <a:cs typeface="+mn-ea"/>
                  </a:rPr>
                  <a:t>OTM model</a:t>
                </a:r>
                <a:r>
                  <a:rPr lang="zh-TW" altLang="en-US" dirty="0">
                    <a:solidFill>
                      <a:schemeClr val="tx2"/>
                    </a:solidFill>
                    <a:latin typeface="Microsoft JhengHei" panose="020B0604030504040204" pitchFamily="34" charset="-120"/>
                    <a:ea typeface="Microsoft JhengHei" panose="020B0604030504040204" pitchFamily="34" charset="-120"/>
                    <a:cs typeface="+mn-ea"/>
                  </a:rPr>
                  <a:t>：</a:t>
                </a:r>
                <a:r>
                  <a:rPr lang="en-US" altLang="zh-TW" dirty="0">
                    <a:solidFill>
                      <a:schemeClr val="tx2"/>
                    </a:solidFill>
                    <a:ea typeface="Microsoft JhengHei" panose="020B0604030504040204" pitchFamily="34" charset="-120"/>
                    <a:cs typeface="+mn-ea"/>
                  </a:rPr>
                  <a:t> </a:t>
                </a:r>
                <a14:m>
                  <m:oMath xmlns:m="http://schemas.openxmlformats.org/officeDocument/2006/math">
                    <m:r>
                      <a:rPr lang="en-US" altLang="zh-TW" i="1">
                        <a:solidFill>
                          <a:schemeClr val="tx2"/>
                        </a:solidFill>
                        <a:latin typeface="Cambria Math" panose="02040503050406030204" pitchFamily="18" charset="0"/>
                        <a:ea typeface="Microsoft JhengHei" panose="020B0604030504040204" pitchFamily="34" charset="-120"/>
                        <a:cs typeface="+mn-ea"/>
                      </a:rPr>
                      <m:t>𝑠</m:t>
                    </m:r>
                    <m:r>
                      <a:rPr lang="en-US" altLang="zh-TW" b="0" i="1" smtClean="0">
                        <a:solidFill>
                          <a:schemeClr val="tx2"/>
                        </a:solidFill>
                        <a:latin typeface="Cambria Math" panose="02040503050406030204" pitchFamily="18" charset="0"/>
                        <a:ea typeface="Microsoft JhengHei" panose="020B0604030504040204" pitchFamily="34" charset="-120"/>
                        <a:cs typeface="+mn-ea"/>
                      </a:rPr>
                      <m:t>𝑜𝑓𝑡</m:t>
                    </m:r>
                    <m:r>
                      <a:rPr lang="en-US" altLang="zh-TW" i="1">
                        <a:solidFill>
                          <a:schemeClr val="tx2"/>
                        </a:solidFill>
                        <a:latin typeface="Cambria Math" panose="02040503050406030204" pitchFamily="18" charset="0"/>
                        <a:ea typeface="Microsoft JhengHei" panose="020B0604030504040204" pitchFamily="34" charset="-120"/>
                        <a:cs typeface="+mn-ea"/>
                      </a:rPr>
                      <m:t>𝑝𝑙𝑢𝑠</m:t>
                    </m:r>
                    <m:d>
                      <m:dPr>
                        <m:ctrlPr>
                          <a:rPr lang="en-US" altLang="zh-TW" i="1">
                            <a:solidFill>
                              <a:schemeClr val="tx2"/>
                            </a:solidFill>
                            <a:latin typeface="Cambria Math" panose="02040503050406030204" pitchFamily="18" charset="0"/>
                            <a:ea typeface="Microsoft JhengHei" panose="020B0604030504040204" pitchFamily="34" charset="-120"/>
                            <a:cs typeface="+mn-ea"/>
                          </a:rPr>
                        </m:ctrlPr>
                      </m:dPr>
                      <m:e>
                        <m:acc>
                          <m:accPr>
                            <m:chr m:val="̃"/>
                            <m:ctrlPr>
                              <a:rPr lang="en-US" altLang="zh-TW" i="1" smtClean="0">
                                <a:solidFill>
                                  <a:schemeClr val="tx2"/>
                                </a:solidFill>
                                <a:latin typeface="Cambria Math" panose="02040503050406030204" pitchFamily="18" charset="0"/>
                                <a:ea typeface="Microsoft JhengHei" panose="020B0604030504040204" pitchFamily="34" charset="-120"/>
                                <a:cs typeface="+mn-ea"/>
                              </a:rPr>
                            </m:ctrlPr>
                          </m:accPr>
                          <m:e>
                            <m:r>
                              <a:rPr lang="en-US" altLang="zh-TW" i="1">
                                <a:solidFill>
                                  <a:schemeClr val="tx2"/>
                                </a:solidFill>
                                <a:latin typeface="Cambria Math" panose="02040503050406030204" pitchFamily="18" charset="0"/>
                                <a:ea typeface="Microsoft JhengHei" panose="020B0604030504040204" pitchFamily="34" charset="-120"/>
                                <a:cs typeface="+mn-ea"/>
                              </a:rPr>
                              <m:t>𝑏</m:t>
                            </m:r>
                          </m:e>
                        </m:acc>
                        <m:r>
                          <a:rPr lang="en-US" altLang="zh-TW" b="0" i="1" smtClean="0">
                            <a:solidFill>
                              <a:schemeClr val="tx2"/>
                            </a:solidFill>
                            <a:latin typeface="Cambria Math" panose="02040503050406030204" pitchFamily="18" charset="0"/>
                            <a:ea typeface="Microsoft JhengHei" panose="020B0604030504040204" pitchFamily="34" charset="-120"/>
                            <a:cs typeface="+mn-ea"/>
                          </a:rPr>
                          <m:t>−</m:t>
                        </m:r>
                        <m:r>
                          <a:rPr lang="en-US" altLang="zh-TW" i="1">
                            <a:solidFill>
                              <a:schemeClr val="tx2"/>
                            </a:solidFill>
                            <a:latin typeface="Cambria Math" panose="02040503050406030204" pitchFamily="18" charset="0"/>
                            <a:ea typeface="Microsoft JhengHei" panose="020B0604030504040204" pitchFamily="34" charset="-120"/>
                            <a:cs typeface="+mn-ea"/>
                          </a:rPr>
                          <m:t>𝑚</m:t>
                        </m:r>
                        <m:sSup>
                          <m:sSupPr>
                            <m:ctrlPr>
                              <a:rPr lang="en-US" altLang="zh-TW" i="1">
                                <a:solidFill>
                                  <a:schemeClr val="tx2"/>
                                </a:solidFill>
                                <a:latin typeface="Cambria Math" panose="02040503050406030204" pitchFamily="18" charset="0"/>
                                <a:ea typeface="Microsoft JhengHei" panose="020B0604030504040204" pitchFamily="34" charset="-120"/>
                                <a:cs typeface="+mn-ea"/>
                              </a:rPr>
                            </m:ctrlPr>
                          </m:sSupPr>
                          <m:e>
                            <m:r>
                              <a:rPr lang="en-US" altLang="zh-TW" i="1">
                                <a:solidFill>
                                  <a:schemeClr val="tx2"/>
                                </a:solidFill>
                                <a:latin typeface="Cambria Math" panose="02040503050406030204" pitchFamily="18" charset="0"/>
                                <a:ea typeface="Microsoft JhengHei" panose="020B0604030504040204" pitchFamily="34" charset="-120"/>
                                <a:cs typeface="+mn-ea"/>
                              </a:rPr>
                              <m:t>𝑒</m:t>
                            </m:r>
                          </m:e>
                          <m:sup>
                            <m:acc>
                              <m:accPr>
                                <m:chr m:val="̃"/>
                                <m:ctrlPr>
                                  <a:rPr lang="en-US" altLang="zh-TW" i="1">
                                    <a:solidFill>
                                      <a:schemeClr val="tx2"/>
                                    </a:solidFill>
                                    <a:latin typeface="Cambria Math" panose="02040503050406030204" pitchFamily="18" charset="0"/>
                                    <a:ea typeface="Microsoft JhengHei" panose="020B0604030504040204" pitchFamily="34" charset="-120"/>
                                    <a:cs typeface="+mn-ea"/>
                                  </a:rPr>
                                </m:ctrlPr>
                              </m:accPr>
                              <m:e>
                                <m:r>
                                  <a:rPr lang="zh-TW" altLang="en-US" i="1">
                                    <a:solidFill>
                                      <a:schemeClr val="tx2"/>
                                    </a:solidFill>
                                    <a:latin typeface="Cambria Math" panose="02040503050406030204" pitchFamily="18" charset="0"/>
                                    <a:ea typeface="Microsoft JhengHei" panose="020B0604030504040204" pitchFamily="34" charset="-120"/>
                                    <a:cs typeface="+mn-ea"/>
                                  </a:rPr>
                                  <m:t>𝜔</m:t>
                                </m:r>
                              </m:e>
                            </m:acc>
                          </m:sup>
                        </m:sSup>
                      </m:e>
                    </m:d>
                    <m:r>
                      <m:rPr>
                        <m:sty m:val="p"/>
                      </m:rPr>
                      <a:rPr lang="en-US" altLang="zh-TW">
                        <a:solidFill>
                          <a:schemeClr val="tx2"/>
                        </a:solidFill>
                        <a:latin typeface="Cambria Math" panose="02040503050406030204" pitchFamily="18" charset="0"/>
                        <a:ea typeface="Microsoft JhengHei" panose="020B0604030504040204" pitchFamily="34" charset="-120"/>
                        <a:cs typeface="+mn-ea"/>
                      </a:rPr>
                      <m:t>sigmoid</m:t>
                    </m:r>
                    <m:r>
                      <a:rPr lang="en-US" altLang="zh-TW">
                        <a:solidFill>
                          <a:schemeClr val="tx2"/>
                        </a:solidFill>
                        <a:latin typeface="Cambria Math" panose="02040503050406030204" pitchFamily="18" charset="0"/>
                        <a:ea typeface="Microsoft JhengHei" panose="020B0604030504040204" pitchFamily="34" charset="-120"/>
                        <a:cs typeface="+mn-ea"/>
                      </a:rPr>
                      <m:t>(</m:t>
                    </m:r>
                    <m:acc>
                      <m:accPr>
                        <m:chr m:val="̅"/>
                        <m:ctrlPr>
                          <a:rPr lang="en-US" altLang="zh-TW" i="1">
                            <a:solidFill>
                              <a:schemeClr val="tx2"/>
                            </a:solidFill>
                            <a:latin typeface="Cambria Math" panose="02040503050406030204" pitchFamily="18" charset="0"/>
                            <a:ea typeface="Microsoft JhengHei" panose="020B0604030504040204" pitchFamily="34" charset="-120"/>
                            <a:cs typeface="+mn-ea"/>
                          </a:rPr>
                        </m:ctrlPr>
                      </m:accPr>
                      <m:e>
                        <m:r>
                          <a:rPr lang="en-US" altLang="zh-TW" i="1">
                            <a:solidFill>
                              <a:schemeClr val="tx2"/>
                            </a:solidFill>
                            <a:latin typeface="Cambria Math" panose="02040503050406030204" pitchFamily="18" charset="0"/>
                            <a:ea typeface="Microsoft JhengHei" panose="020B0604030504040204" pitchFamily="34" charset="-120"/>
                            <a:cs typeface="+mn-ea"/>
                          </a:rPr>
                          <m:t>𝑏</m:t>
                        </m:r>
                      </m:e>
                    </m:acc>
                    <m:r>
                      <a:rPr lang="en-US" altLang="zh-TW" i="1">
                        <a:solidFill>
                          <a:schemeClr val="tx2"/>
                        </a:solidFill>
                        <a:latin typeface="Cambria Math" panose="02040503050406030204" pitchFamily="18" charset="0"/>
                        <a:ea typeface="Microsoft JhengHei" panose="020B0604030504040204" pitchFamily="34" charset="-120"/>
                        <a:cs typeface="+mn-ea"/>
                      </a:rPr>
                      <m:t>+</m:t>
                    </m:r>
                    <m:r>
                      <a:rPr lang="zh-TW" altLang="en-US" i="1">
                        <a:solidFill>
                          <a:schemeClr val="tx2"/>
                        </a:solidFill>
                        <a:latin typeface="Cambria Math" panose="02040503050406030204" pitchFamily="18" charset="0"/>
                        <a:ea typeface="Microsoft JhengHei" panose="020B0604030504040204" pitchFamily="34" charset="-120"/>
                        <a:cs typeface="+mn-ea"/>
                      </a:rPr>
                      <m:t>𝜏</m:t>
                    </m:r>
                    <m:sSup>
                      <m:sSupPr>
                        <m:ctrlPr>
                          <a:rPr lang="en-US" altLang="zh-TW" i="1">
                            <a:solidFill>
                              <a:schemeClr val="tx2"/>
                            </a:solidFill>
                            <a:latin typeface="Cambria Math" panose="02040503050406030204" pitchFamily="18" charset="0"/>
                            <a:ea typeface="Microsoft JhengHei" panose="020B0604030504040204" pitchFamily="34" charset="-120"/>
                            <a:cs typeface="+mn-ea"/>
                          </a:rPr>
                        </m:ctrlPr>
                      </m:sSupPr>
                      <m:e>
                        <m:r>
                          <a:rPr lang="en-US" altLang="zh-TW" i="1">
                            <a:solidFill>
                              <a:schemeClr val="tx2"/>
                            </a:solidFill>
                            <a:latin typeface="Cambria Math" panose="02040503050406030204" pitchFamily="18" charset="0"/>
                            <a:ea typeface="Microsoft JhengHei" panose="020B0604030504040204" pitchFamily="34" charset="-120"/>
                            <a:cs typeface="+mn-ea"/>
                          </a:rPr>
                          <m:t>𝑒</m:t>
                        </m:r>
                      </m:e>
                      <m:sup>
                        <m:acc>
                          <m:accPr>
                            <m:chr m:val="̅"/>
                            <m:ctrlPr>
                              <a:rPr lang="en-US" altLang="zh-TW" i="1">
                                <a:solidFill>
                                  <a:schemeClr val="tx2"/>
                                </a:solidFill>
                                <a:latin typeface="Cambria Math" panose="02040503050406030204" pitchFamily="18" charset="0"/>
                                <a:ea typeface="Microsoft JhengHei" panose="020B0604030504040204" pitchFamily="34" charset="-120"/>
                                <a:cs typeface="+mn-ea"/>
                              </a:rPr>
                            </m:ctrlPr>
                          </m:accPr>
                          <m:e>
                            <m:r>
                              <a:rPr lang="zh-TW" altLang="en-US" i="1">
                                <a:solidFill>
                                  <a:schemeClr val="tx2"/>
                                </a:solidFill>
                                <a:latin typeface="Cambria Math" panose="02040503050406030204" pitchFamily="18" charset="0"/>
                                <a:ea typeface="Microsoft JhengHei" panose="020B0604030504040204" pitchFamily="34" charset="-120"/>
                                <a:cs typeface="+mn-ea"/>
                              </a:rPr>
                              <m:t>𝜔</m:t>
                            </m:r>
                          </m:e>
                        </m:acc>
                      </m:sup>
                    </m:sSup>
                    <m:r>
                      <a:rPr lang="en-US" altLang="zh-TW">
                        <a:solidFill>
                          <a:schemeClr val="tx2"/>
                        </a:solidFill>
                        <a:latin typeface="Cambria Math" panose="02040503050406030204" pitchFamily="18" charset="0"/>
                        <a:ea typeface="Microsoft JhengHei" panose="020B0604030504040204" pitchFamily="34" charset="-120"/>
                        <a:cs typeface="+mn-ea"/>
                      </a:rPr>
                      <m:t>)</m:t>
                    </m:r>
                    <m:sSup>
                      <m:sSupPr>
                        <m:ctrlPr>
                          <a:rPr lang="en-US" altLang="zh-TW" i="1">
                            <a:solidFill>
                              <a:schemeClr val="tx2"/>
                            </a:solidFill>
                            <a:latin typeface="Cambria Math" panose="02040503050406030204" pitchFamily="18" charset="0"/>
                            <a:ea typeface="Microsoft JhengHei" panose="020B0604030504040204" pitchFamily="34" charset="-120"/>
                            <a:cs typeface="+mn-ea"/>
                          </a:rPr>
                        </m:ctrlPr>
                      </m:sSupPr>
                      <m:e>
                        <m:r>
                          <a:rPr lang="en-US" altLang="zh-TW" i="1">
                            <a:solidFill>
                              <a:schemeClr val="tx2"/>
                            </a:solidFill>
                            <a:latin typeface="Cambria Math" panose="02040503050406030204" pitchFamily="18" charset="0"/>
                            <a:ea typeface="Microsoft JhengHei" panose="020B0604030504040204" pitchFamily="34" charset="-120"/>
                            <a:cs typeface="+mn-ea"/>
                          </a:rPr>
                          <m:t>𝑒</m:t>
                        </m:r>
                      </m:e>
                      <m:sup>
                        <m:acc>
                          <m:accPr>
                            <m:chr m:val="̂"/>
                            <m:ctrlPr>
                              <a:rPr lang="en-US" altLang="zh-TW" i="1">
                                <a:solidFill>
                                  <a:schemeClr val="tx2"/>
                                </a:solidFill>
                                <a:latin typeface="Cambria Math" panose="02040503050406030204" pitchFamily="18" charset="0"/>
                                <a:ea typeface="Microsoft JhengHei" panose="020B0604030504040204" pitchFamily="34" charset="-120"/>
                                <a:cs typeface="+mn-ea"/>
                              </a:rPr>
                            </m:ctrlPr>
                          </m:accPr>
                          <m:e>
                            <m:r>
                              <a:rPr lang="zh-TW" altLang="en-US" i="1">
                                <a:solidFill>
                                  <a:schemeClr val="tx2"/>
                                </a:solidFill>
                                <a:latin typeface="Cambria Math" panose="02040503050406030204" pitchFamily="18" charset="0"/>
                                <a:ea typeface="Microsoft JhengHei" panose="020B0604030504040204" pitchFamily="34" charset="-120"/>
                                <a:cs typeface="+mn-ea"/>
                              </a:rPr>
                              <m:t>𝜔</m:t>
                            </m:r>
                          </m:e>
                        </m:acc>
                      </m:sup>
                    </m:sSup>
                  </m:oMath>
                </a14:m>
                <a:endParaRPr lang="en-US" altLang="zh-TW" dirty="0">
                  <a:solidFill>
                    <a:schemeClr val="tx2"/>
                  </a:solidFill>
                  <a:latin typeface="Microsoft JhengHei" panose="020B0604030504040204" pitchFamily="34" charset="-120"/>
                  <a:ea typeface="Microsoft JhengHei" panose="020B0604030504040204" pitchFamily="34" charset="-120"/>
                  <a:cs typeface="+mn-ea"/>
                </a:endParaRPr>
              </a:p>
              <a:p>
                <a:pPr marL="799465" lvl="1" indent="-342900">
                  <a:lnSpc>
                    <a:spcPct val="150000"/>
                  </a:lnSpc>
                  <a:buClr>
                    <a:schemeClr val="accent1"/>
                  </a:buClr>
                  <a:buFont typeface="+mj-lt"/>
                  <a:buAutoNum type="arabicPeriod"/>
                </a:pPr>
                <a14:m>
                  <m:oMath xmlns:m="http://schemas.openxmlformats.org/officeDocument/2006/math">
                    <m:f>
                      <m:fPr>
                        <m:ctrlPr>
                          <a:rPr lang="en-US" altLang="zh-TW" i="1">
                            <a:solidFill>
                              <a:schemeClr val="tx2"/>
                            </a:solidFill>
                            <a:latin typeface="Cambria Math" panose="02040503050406030204" pitchFamily="18" charset="0"/>
                            <a:ea typeface="Microsoft JhengHei" panose="020B0604030504040204" pitchFamily="34" charset="-120"/>
                            <a:cs typeface="+mn-ea"/>
                          </a:rPr>
                        </m:ctrlPr>
                      </m:fPr>
                      <m:num>
                        <m:r>
                          <a:rPr lang="zh-TW" altLang="en-US" i="1">
                            <a:solidFill>
                              <a:schemeClr val="tx2"/>
                            </a:solidFill>
                            <a:latin typeface="Cambria Math" panose="02040503050406030204" pitchFamily="18" charset="0"/>
                            <a:ea typeface="Microsoft JhengHei" panose="020B0604030504040204" pitchFamily="34" charset="-120"/>
                            <a:cs typeface="+mn-ea"/>
                          </a:rPr>
                          <m:t>𝜕</m:t>
                        </m:r>
                        <m:r>
                          <a:rPr lang="en-US" altLang="zh-TW" i="1">
                            <a:solidFill>
                              <a:schemeClr val="tx2"/>
                            </a:solidFill>
                            <a:latin typeface="Cambria Math" panose="02040503050406030204" pitchFamily="18" charset="0"/>
                            <a:ea typeface="Microsoft JhengHei" panose="020B0604030504040204" pitchFamily="34" charset="-120"/>
                            <a:cs typeface="+mn-ea"/>
                          </a:rPr>
                          <m:t>𝑇𝑉</m:t>
                        </m:r>
                      </m:num>
                      <m:den>
                        <m:r>
                          <a:rPr lang="zh-TW" altLang="en-US" i="1">
                            <a:solidFill>
                              <a:schemeClr val="tx2"/>
                            </a:solidFill>
                            <a:latin typeface="Cambria Math" panose="02040503050406030204" pitchFamily="18" charset="0"/>
                            <a:ea typeface="Microsoft JhengHei" panose="020B0604030504040204" pitchFamily="34" charset="-120"/>
                            <a:cs typeface="+mn-ea"/>
                          </a:rPr>
                          <m:t>𝜕</m:t>
                        </m:r>
                        <m:r>
                          <a:rPr lang="en-US" altLang="zh-TW" i="1">
                            <a:solidFill>
                              <a:schemeClr val="tx2"/>
                            </a:solidFill>
                            <a:latin typeface="Cambria Math" panose="02040503050406030204" pitchFamily="18" charset="0"/>
                            <a:ea typeface="Microsoft JhengHei" panose="020B0604030504040204" pitchFamily="34" charset="-120"/>
                            <a:cs typeface="+mn-ea"/>
                          </a:rPr>
                          <m:t>𝐾</m:t>
                        </m:r>
                      </m:den>
                    </m:f>
                    <m:r>
                      <a:rPr lang="en-US" altLang="zh-TW" i="1" smtClean="0">
                        <a:solidFill>
                          <a:schemeClr val="tx2"/>
                        </a:solidFill>
                        <a:latin typeface="Cambria Math" panose="02040503050406030204" pitchFamily="18" charset="0"/>
                        <a:ea typeface="Cambria Math" panose="02040503050406030204" pitchFamily="18" charset="0"/>
                        <a:cs typeface="+mn-ea"/>
                      </a:rPr>
                      <m:t>≤</m:t>
                    </m:r>
                    <m:r>
                      <a:rPr lang="en-US" altLang="zh-TW" i="1">
                        <a:solidFill>
                          <a:schemeClr val="tx2"/>
                        </a:solidFill>
                        <a:latin typeface="Cambria Math" panose="02040503050406030204" pitchFamily="18" charset="0"/>
                        <a:ea typeface="Cambria Math" panose="02040503050406030204" pitchFamily="18" charset="0"/>
                        <a:cs typeface="+mn-ea"/>
                      </a:rPr>
                      <m:t>0</m:t>
                    </m:r>
                  </m:oMath>
                </a14:m>
                <a:endParaRPr lang="en-US" altLang="zh-TW" dirty="0">
                  <a:solidFill>
                    <a:schemeClr val="tx2"/>
                  </a:solidFill>
                  <a:latin typeface="Microsoft JhengHei" panose="020B0604030504040204" pitchFamily="34" charset="-120"/>
                  <a:ea typeface="Microsoft JhengHei" panose="020B0604030504040204" pitchFamily="34" charset="-120"/>
                  <a:cs typeface="+mn-ea"/>
                </a:endParaRPr>
              </a:p>
              <a:p>
                <a:pPr marL="799465" lvl="1" indent="-342900">
                  <a:lnSpc>
                    <a:spcPct val="150000"/>
                  </a:lnSpc>
                  <a:buClr>
                    <a:schemeClr val="accent1"/>
                  </a:buClr>
                  <a:buFont typeface="+mj-lt"/>
                  <a:buAutoNum type="arabicPeriod"/>
                </a:pPr>
                <a14:m>
                  <m:oMath xmlns:m="http://schemas.openxmlformats.org/officeDocument/2006/math">
                    <m:f>
                      <m:fPr>
                        <m:ctrlPr>
                          <a:rPr lang="en-US" altLang="zh-TW" i="1">
                            <a:solidFill>
                              <a:schemeClr val="tx2"/>
                            </a:solidFill>
                            <a:latin typeface="Cambria Math" panose="02040503050406030204" pitchFamily="18" charset="0"/>
                            <a:ea typeface="Microsoft JhengHei" panose="020B0604030504040204" pitchFamily="34" charset="-120"/>
                            <a:cs typeface="+mn-ea"/>
                          </a:rPr>
                        </m:ctrlPr>
                      </m:fPr>
                      <m:num>
                        <m:sSup>
                          <m:sSupPr>
                            <m:ctrlPr>
                              <a:rPr lang="en-US" altLang="zh-TW" i="1">
                                <a:solidFill>
                                  <a:schemeClr val="tx2"/>
                                </a:solidFill>
                                <a:latin typeface="Cambria Math" panose="02040503050406030204" pitchFamily="18" charset="0"/>
                                <a:ea typeface="Microsoft JhengHei" panose="020B0604030504040204" pitchFamily="34" charset="-120"/>
                                <a:cs typeface="+mn-ea"/>
                              </a:rPr>
                            </m:ctrlPr>
                          </m:sSupPr>
                          <m:e>
                            <m:r>
                              <a:rPr lang="zh-TW" altLang="en-US" i="1">
                                <a:solidFill>
                                  <a:schemeClr val="tx2"/>
                                </a:solidFill>
                                <a:latin typeface="Cambria Math" panose="02040503050406030204" pitchFamily="18" charset="0"/>
                                <a:ea typeface="Microsoft JhengHei" panose="020B0604030504040204" pitchFamily="34" charset="-120"/>
                                <a:cs typeface="+mn-ea"/>
                              </a:rPr>
                              <m:t>𝜕</m:t>
                            </m:r>
                          </m:e>
                          <m:sup>
                            <m:r>
                              <a:rPr lang="en-US" altLang="zh-TW" i="1">
                                <a:solidFill>
                                  <a:schemeClr val="tx2"/>
                                </a:solidFill>
                                <a:latin typeface="Cambria Math" panose="02040503050406030204" pitchFamily="18" charset="0"/>
                                <a:ea typeface="Microsoft JhengHei" panose="020B0604030504040204" pitchFamily="34" charset="-120"/>
                                <a:cs typeface="+mn-ea"/>
                              </a:rPr>
                              <m:t>2</m:t>
                            </m:r>
                          </m:sup>
                        </m:sSup>
                        <m:r>
                          <a:rPr lang="en-US" altLang="zh-TW" i="1">
                            <a:solidFill>
                              <a:schemeClr val="tx2"/>
                            </a:solidFill>
                            <a:latin typeface="Cambria Math" panose="02040503050406030204" pitchFamily="18" charset="0"/>
                            <a:ea typeface="Microsoft JhengHei" panose="020B0604030504040204" pitchFamily="34" charset="-120"/>
                            <a:cs typeface="+mn-ea"/>
                          </a:rPr>
                          <m:t>𝑇𝑉</m:t>
                        </m:r>
                      </m:num>
                      <m:den>
                        <m:sSup>
                          <m:sSupPr>
                            <m:ctrlPr>
                              <a:rPr lang="en-US" altLang="zh-TW" i="1">
                                <a:solidFill>
                                  <a:schemeClr val="tx2"/>
                                </a:solidFill>
                                <a:latin typeface="Cambria Math" panose="02040503050406030204" pitchFamily="18" charset="0"/>
                                <a:ea typeface="Microsoft JhengHei" panose="020B0604030504040204" pitchFamily="34" charset="-120"/>
                                <a:cs typeface="+mn-ea"/>
                              </a:rPr>
                            </m:ctrlPr>
                          </m:sSupPr>
                          <m:e>
                            <m:r>
                              <a:rPr lang="zh-TW" altLang="en-US" i="1">
                                <a:solidFill>
                                  <a:schemeClr val="tx2"/>
                                </a:solidFill>
                                <a:latin typeface="Cambria Math" panose="02040503050406030204" pitchFamily="18" charset="0"/>
                                <a:ea typeface="Microsoft JhengHei" panose="020B0604030504040204" pitchFamily="34" charset="-120"/>
                                <a:cs typeface="+mn-ea"/>
                              </a:rPr>
                              <m:t>𝜕</m:t>
                            </m:r>
                          </m:e>
                          <m:sup>
                            <m:r>
                              <a:rPr lang="en-US" altLang="zh-TW" i="1">
                                <a:solidFill>
                                  <a:schemeClr val="tx2"/>
                                </a:solidFill>
                                <a:latin typeface="Cambria Math" panose="02040503050406030204" pitchFamily="18" charset="0"/>
                                <a:ea typeface="Microsoft JhengHei" panose="020B0604030504040204" pitchFamily="34" charset="-120"/>
                                <a:cs typeface="+mn-ea"/>
                              </a:rPr>
                              <m:t>2</m:t>
                            </m:r>
                          </m:sup>
                        </m:sSup>
                        <m:r>
                          <a:rPr lang="en-US" altLang="zh-TW" i="1">
                            <a:solidFill>
                              <a:schemeClr val="tx2"/>
                            </a:solidFill>
                            <a:latin typeface="Cambria Math" panose="02040503050406030204" pitchFamily="18" charset="0"/>
                            <a:ea typeface="Microsoft JhengHei" panose="020B0604030504040204" pitchFamily="34" charset="-120"/>
                            <a:cs typeface="+mn-ea"/>
                          </a:rPr>
                          <m:t>𝐾</m:t>
                        </m:r>
                      </m:den>
                    </m:f>
                    <m:r>
                      <a:rPr lang="en-US" altLang="zh-TW" i="1">
                        <a:solidFill>
                          <a:schemeClr val="tx2"/>
                        </a:solidFill>
                        <a:latin typeface="Cambria Math" panose="02040503050406030204" pitchFamily="18" charset="0"/>
                        <a:ea typeface="Cambria Math" panose="02040503050406030204" pitchFamily="18" charset="0"/>
                        <a:cs typeface="+mn-ea"/>
                      </a:rPr>
                      <m:t>≥0</m:t>
                    </m:r>
                  </m:oMath>
                </a14:m>
                <a:endParaRPr lang="en-US" altLang="zh-TW" dirty="0">
                  <a:solidFill>
                    <a:schemeClr val="tx2"/>
                  </a:solidFill>
                  <a:latin typeface="Microsoft JhengHei" panose="020B0604030504040204" pitchFamily="34" charset="-120"/>
                  <a:ea typeface="Cambria Math" panose="02040503050406030204" pitchFamily="18" charset="0"/>
                  <a:cs typeface="+mn-ea"/>
                </a:endParaRPr>
              </a:p>
              <a:p>
                <a:pPr marL="799465" lvl="1" indent="-342900">
                  <a:lnSpc>
                    <a:spcPct val="150000"/>
                  </a:lnSpc>
                  <a:buClr>
                    <a:schemeClr val="accent1"/>
                  </a:buClr>
                  <a:buFont typeface="+mj-lt"/>
                  <a:buAutoNum type="arabicPeriod"/>
                </a:pPr>
                <a14:m>
                  <m:oMath xmlns:m="http://schemas.openxmlformats.org/officeDocument/2006/math">
                    <m:f>
                      <m:fPr>
                        <m:ctrlPr>
                          <a:rPr lang="en-US" altLang="zh-TW" i="1">
                            <a:solidFill>
                              <a:schemeClr val="tx2"/>
                            </a:solidFill>
                            <a:latin typeface="Cambria Math" panose="02040503050406030204" pitchFamily="18" charset="0"/>
                            <a:ea typeface="Microsoft JhengHei" panose="020B0604030504040204" pitchFamily="34" charset="-120"/>
                            <a:cs typeface="+mn-ea"/>
                          </a:rPr>
                        </m:ctrlPr>
                      </m:fPr>
                      <m:num>
                        <m:r>
                          <a:rPr lang="zh-TW" altLang="en-US" i="1">
                            <a:solidFill>
                              <a:schemeClr val="tx2"/>
                            </a:solidFill>
                            <a:latin typeface="Cambria Math" panose="02040503050406030204" pitchFamily="18" charset="0"/>
                            <a:ea typeface="Microsoft JhengHei" panose="020B0604030504040204" pitchFamily="34" charset="-120"/>
                            <a:cs typeface="+mn-ea"/>
                          </a:rPr>
                          <m:t>𝜕</m:t>
                        </m:r>
                        <m:r>
                          <a:rPr lang="en-US" altLang="zh-TW" i="1">
                            <a:solidFill>
                              <a:schemeClr val="tx2"/>
                            </a:solidFill>
                            <a:latin typeface="Cambria Math" panose="02040503050406030204" pitchFamily="18" charset="0"/>
                            <a:ea typeface="Microsoft JhengHei" panose="020B0604030504040204" pitchFamily="34" charset="-120"/>
                            <a:cs typeface="+mn-ea"/>
                          </a:rPr>
                          <m:t>𝑇𝑉</m:t>
                        </m:r>
                      </m:num>
                      <m:den>
                        <m:r>
                          <a:rPr lang="zh-TW" altLang="en-US" i="1">
                            <a:solidFill>
                              <a:schemeClr val="tx2"/>
                            </a:solidFill>
                            <a:latin typeface="Cambria Math" panose="02040503050406030204" pitchFamily="18" charset="0"/>
                            <a:ea typeface="Microsoft JhengHei" panose="020B0604030504040204" pitchFamily="34" charset="-120"/>
                            <a:cs typeface="+mn-ea"/>
                          </a:rPr>
                          <m:t>𝜕𝜏</m:t>
                        </m:r>
                      </m:den>
                    </m:f>
                    <m:r>
                      <a:rPr lang="en-US" altLang="zh-TW" i="1">
                        <a:solidFill>
                          <a:schemeClr val="tx2"/>
                        </a:solidFill>
                        <a:latin typeface="Cambria Math" panose="02040503050406030204" pitchFamily="18" charset="0"/>
                        <a:ea typeface="Cambria Math" panose="02040503050406030204" pitchFamily="18" charset="0"/>
                        <a:cs typeface="+mn-ea"/>
                      </a:rPr>
                      <m:t>≥0</m:t>
                    </m:r>
                  </m:oMath>
                </a14:m>
                <a:endParaRPr lang="en-US" altLang="zh-TW" dirty="0">
                  <a:solidFill>
                    <a:schemeClr val="tx2"/>
                  </a:solidFill>
                  <a:latin typeface="Microsoft JhengHei" panose="020B0604030504040204" pitchFamily="34" charset="-120"/>
                  <a:ea typeface="Microsoft JhengHei" panose="020B0604030504040204" pitchFamily="34" charset="-120"/>
                  <a:cs typeface="+mn-ea"/>
                </a:endParaRPr>
              </a:p>
              <a:p>
                <a:pPr marL="799465" lvl="1" indent="-342900">
                  <a:lnSpc>
                    <a:spcPct val="150000"/>
                  </a:lnSpc>
                  <a:buClr>
                    <a:schemeClr val="accent1"/>
                  </a:buClr>
                  <a:buFont typeface="+mj-lt"/>
                  <a:buAutoNum type="arabicPeriod"/>
                </a:pPr>
                <a14:m>
                  <m:oMath xmlns:m="http://schemas.openxmlformats.org/officeDocument/2006/math">
                    <m:func>
                      <m:funcPr>
                        <m:ctrlPr>
                          <a:rPr lang="en-US" altLang="zh-TW" i="1">
                            <a:solidFill>
                              <a:schemeClr val="tx2"/>
                            </a:solidFill>
                            <a:latin typeface="Cambria Math" panose="02040503050406030204" pitchFamily="18" charset="0"/>
                            <a:ea typeface="Microsoft JhengHei" panose="020B0604030504040204" pitchFamily="34" charset="-120"/>
                            <a:cs typeface="+mn-ea"/>
                          </a:rPr>
                        </m:ctrlPr>
                      </m:funcPr>
                      <m:fName>
                        <m:limLow>
                          <m:limLowPr>
                            <m:ctrlPr>
                              <a:rPr lang="en-US" altLang="zh-TW" i="1">
                                <a:solidFill>
                                  <a:schemeClr val="tx2"/>
                                </a:solidFill>
                                <a:latin typeface="Cambria Math" panose="02040503050406030204" pitchFamily="18" charset="0"/>
                                <a:ea typeface="Microsoft JhengHei" panose="020B0604030504040204" pitchFamily="34" charset="-120"/>
                                <a:cs typeface="+mn-ea"/>
                              </a:rPr>
                            </m:ctrlPr>
                          </m:limLowPr>
                          <m:e>
                            <m:r>
                              <m:rPr>
                                <m:sty m:val="p"/>
                              </m:rPr>
                              <a:rPr lang="en-US" altLang="zh-TW">
                                <a:solidFill>
                                  <a:schemeClr val="tx2"/>
                                </a:solidFill>
                                <a:latin typeface="Cambria Math" panose="02040503050406030204" pitchFamily="18" charset="0"/>
                                <a:ea typeface="Microsoft JhengHei" panose="020B0604030504040204" pitchFamily="34" charset="-120"/>
                                <a:cs typeface="+mn-ea"/>
                              </a:rPr>
                              <m:t>lim</m:t>
                            </m:r>
                          </m:e>
                          <m:lim>
                            <m:r>
                              <a:rPr lang="en-US" altLang="zh-TW" i="1">
                                <a:solidFill>
                                  <a:schemeClr val="tx2"/>
                                </a:solidFill>
                                <a:latin typeface="Cambria Math" panose="02040503050406030204" pitchFamily="18" charset="0"/>
                                <a:ea typeface="Microsoft JhengHei" panose="020B0604030504040204" pitchFamily="34" charset="-120"/>
                                <a:cs typeface="+mn-ea"/>
                              </a:rPr>
                              <m:t>𝐾</m:t>
                            </m:r>
                            <m:r>
                              <a:rPr lang="en-US" altLang="zh-TW" i="1">
                                <a:solidFill>
                                  <a:schemeClr val="tx2"/>
                                </a:solidFill>
                                <a:latin typeface="Cambria Math" panose="02040503050406030204" pitchFamily="18" charset="0"/>
                                <a:ea typeface="Cambria Math" panose="02040503050406030204" pitchFamily="18" charset="0"/>
                                <a:cs typeface="+mn-ea"/>
                              </a:rPr>
                              <m:t>→</m:t>
                            </m:r>
                            <m:r>
                              <a:rPr lang="en-US" altLang="zh-TW" i="1" smtClean="0">
                                <a:solidFill>
                                  <a:schemeClr val="tx2"/>
                                </a:solidFill>
                                <a:latin typeface="Cambria Math" panose="02040503050406030204" pitchFamily="18" charset="0"/>
                                <a:ea typeface="Cambria Math" panose="02040503050406030204" pitchFamily="18" charset="0"/>
                                <a:cs typeface="+mn-ea"/>
                              </a:rPr>
                              <m:t>∞</m:t>
                            </m:r>
                          </m:lim>
                        </m:limLow>
                      </m:fName>
                      <m:e>
                        <m:eqArr>
                          <m:eqArrPr>
                            <m:ctrlPr>
                              <a:rPr lang="en-US" altLang="zh-TW" i="1">
                                <a:solidFill>
                                  <a:schemeClr val="tx2"/>
                                </a:solidFill>
                                <a:latin typeface="Cambria Math" panose="02040503050406030204" pitchFamily="18" charset="0"/>
                                <a:ea typeface="Microsoft JhengHei" panose="020B0604030504040204" pitchFamily="34" charset="-120"/>
                                <a:cs typeface="+mn-ea"/>
                              </a:rPr>
                            </m:ctrlPr>
                          </m:eqArrPr>
                          <m:e>
                            <m:r>
                              <a:rPr lang="en-US" altLang="zh-TW" i="1">
                                <a:solidFill>
                                  <a:schemeClr val="tx2"/>
                                </a:solidFill>
                                <a:latin typeface="Cambria Math" panose="02040503050406030204" pitchFamily="18" charset="0"/>
                                <a:ea typeface="Microsoft JhengHei" panose="020B0604030504040204" pitchFamily="34" charset="-120"/>
                                <a:cs typeface="+mn-ea"/>
                              </a:rPr>
                              <m:t>𝑇𝑉</m:t>
                            </m:r>
                            <m:r>
                              <a:rPr lang="en-US" altLang="zh-TW" i="1">
                                <a:solidFill>
                                  <a:schemeClr val="tx2"/>
                                </a:solidFill>
                                <a:latin typeface="Cambria Math" panose="02040503050406030204" pitchFamily="18" charset="0"/>
                                <a:ea typeface="Microsoft JhengHei" panose="020B0604030504040204" pitchFamily="34" charset="-120"/>
                                <a:cs typeface="+mn-ea"/>
                              </a:rPr>
                              <m:t>=0</m:t>
                            </m:r>
                          </m:e>
                        </m:eqArr>
                      </m:e>
                    </m:func>
                  </m:oMath>
                </a14:m>
                <a:r>
                  <a:rPr lang="zh-TW" altLang="en-US" dirty="0">
                    <a:solidFill>
                      <a:schemeClr val="tx2"/>
                    </a:solidFill>
                    <a:latin typeface="Microsoft JhengHei" panose="020B0604030504040204" pitchFamily="34" charset="-120"/>
                    <a:ea typeface="Microsoft JhengHei" panose="020B0604030504040204" pitchFamily="34" charset="-120"/>
                    <a:cs typeface="+mn-ea"/>
                  </a:rPr>
                  <a:t> ，</a:t>
                </a:r>
                <a:r>
                  <a:rPr lang="en-US" altLang="zh-TW" dirty="0">
                    <a:solidFill>
                      <a:schemeClr val="tx2"/>
                    </a:solidFill>
                    <a:latin typeface="Microsoft JhengHei" panose="020B0604030504040204" pitchFamily="34" charset="-120"/>
                    <a:ea typeface="Microsoft JhengHei" panose="020B0604030504040204" pitchFamily="34" charset="-120"/>
                    <a:cs typeface="+mn-ea"/>
                  </a:rPr>
                  <a:t>deep out of the money</a:t>
                </a:r>
              </a:p>
              <a:p>
                <a:pPr marL="799465" lvl="1" indent="-342900">
                  <a:lnSpc>
                    <a:spcPct val="150000"/>
                  </a:lnSpc>
                  <a:buClr>
                    <a:schemeClr val="accent1"/>
                  </a:buClr>
                  <a:buFont typeface="+mj-lt"/>
                  <a:buAutoNum type="arabicPeriod"/>
                </a:pPr>
                <a14:m>
                  <m:oMath xmlns:m="http://schemas.openxmlformats.org/officeDocument/2006/math">
                    <m:func>
                      <m:funcPr>
                        <m:ctrlPr>
                          <a:rPr lang="en-US" altLang="zh-TW" i="1">
                            <a:solidFill>
                              <a:schemeClr val="tx2"/>
                            </a:solidFill>
                            <a:latin typeface="Cambria Math" panose="02040503050406030204" pitchFamily="18" charset="0"/>
                            <a:ea typeface="Microsoft JhengHei" panose="020B0604030504040204" pitchFamily="34" charset="-120"/>
                            <a:cs typeface="+mn-ea"/>
                          </a:rPr>
                        </m:ctrlPr>
                      </m:funcPr>
                      <m:fName>
                        <m:limLow>
                          <m:limLowPr>
                            <m:ctrlPr>
                              <a:rPr lang="en-US" altLang="zh-TW" i="1">
                                <a:solidFill>
                                  <a:schemeClr val="tx2"/>
                                </a:solidFill>
                                <a:latin typeface="Cambria Math" panose="02040503050406030204" pitchFamily="18" charset="0"/>
                                <a:ea typeface="Microsoft JhengHei" panose="020B0604030504040204" pitchFamily="34" charset="-120"/>
                                <a:cs typeface="+mn-ea"/>
                              </a:rPr>
                            </m:ctrlPr>
                          </m:limLowPr>
                          <m:e>
                            <m:r>
                              <m:rPr>
                                <m:sty m:val="p"/>
                              </m:rPr>
                              <a:rPr lang="en-US" altLang="zh-TW">
                                <a:solidFill>
                                  <a:schemeClr val="tx2"/>
                                </a:solidFill>
                                <a:latin typeface="Cambria Math" panose="02040503050406030204" pitchFamily="18" charset="0"/>
                                <a:ea typeface="Microsoft JhengHei" panose="020B0604030504040204" pitchFamily="34" charset="-120"/>
                                <a:cs typeface="+mn-ea"/>
                              </a:rPr>
                              <m:t>lim</m:t>
                            </m:r>
                          </m:e>
                          <m:lim>
                            <m:r>
                              <a:rPr lang="zh-TW" altLang="en-US" i="1">
                                <a:solidFill>
                                  <a:schemeClr val="tx2"/>
                                </a:solidFill>
                                <a:latin typeface="Cambria Math" panose="02040503050406030204" pitchFamily="18" charset="0"/>
                                <a:ea typeface="Microsoft JhengHei" panose="020B0604030504040204" pitchFamily="34" charset="-120"/>
                                <a:cs typeface="+mn-ea"/>
                              </a:rPr>
                              <m:t>𝜏</m:t>
                            </m:r>
                            <m:r>
                              <a:rPr lang="en-US" altLang="zh-TW" i="1">
                                <a:solidFill>
                                  <a:schemeClr val="tx2"/>
                                </a:solidFill>
                                <a:latin typeface="Cambria Math" panose="02040503050406030204" pitchFamily="18" charset="0"/>
                                <a:ea typeface="Cambria Math" panose="02040503050406030204" pitchFamily="18" charset="0"/>
                                <a:cs typeface="+mn-ea"/>
                              </a:rPr>
                              <m:t>→0</m:t>
                            </m:r>
                          </m:lim>
                        </m:limLow>
                      </m:fName>
                      <m:e>
                        <m:eqArr>
                          <m:eqArrPr>
                            <m:ctrlPr>
                              <a:rPr lang="en-US" altLang="zh-TW" i="1">
                                <a:solidFill>
                                  <a:schemeClr val="tx2"/>
                                </a:solidFill>
                                <a:latin typeface="Cambria Math" panose="02040503050406030204" pitchFamily="18" charset="0"/>
                                <a:ea typeface="Microsoft JhengHei" panose="020B0604030504040204" pitchFamily="34" charset="-120"/>
                                <a:cs typeface="+mn-ea"/>
                              </a:rPr>
                            </m:ctrlPr>
                          </m:eqArrPr>
                          <m:e>
                            <m:r>
                              <a:rPr lang="en-US" altLang="zh-TW" i="1">
                                <a:solidFill>
                                  <a:schemeClr val="tx2"/>
                                </a:solidFill>
                                <a:latin typeface="Cambria Math" panose="02040503050406030204" pitchFamily="18" charset="0"/>
                                <a:ea typeface="Microsoft JhengHei" panose="020B0604030504040204" pitchFamily="34" charset="-120"/>
                                <a:cs typeface="+mn-ea"/>
                              </a:rPr>
                              <m:t>𝑇𝑉</m:t>
                            </m:r>
                            <m:r>
                              <a:rPr lang="en-US" altLang="zh-TW" i="1">
                                <a:solidFill>
                                  <a:schemeClr val="tx2"/>
                                </a:solidFill>
                                <a:latin typeface="Cambria Math" panose="02040503050406030204" pitchFamily="18" charset="0"/>
                                <a:ea typeface="Microsoft JhengHei" panose="020B0604030504040204" pitchFamily="34" charset="-120"/>
                                <a:cs typeface="+mn-ea"/>
                              </a:rPr>
                              <m:t>=0</m:t>
                            </m:r>
                          </m:e>
                        </m:eqArr>
                      </m:e>
                    </m:func>
                    <m:r>
                      <a:rPr lang="zh-TW" altLang="en-US" i="1">
                        <a:solidFill>
                          <a:schemeClr val="tx2"/>
                        </a:solidFill>
                        <a:latin typeface="Cambria Math" panose="02040503050406030204" pitchFamily="18" charset="0"/>
                        <a:ea typeface="Microsoft JhengHei" panose="020B0604030504040204" pitchFamily="34" charset="-120"/>
                        <a:cs typeface="+mn-ea"/>
                      </a:rPr>
                      <m:t>，</m:t>
                    </m:r>
                  </m:oMath>
                </a14:m>
                <a:r>
                  <a:rPr lang="en-US" altLang="zh-TW" dirty="0">
                    <a:solidFill>
                      <a:schemeClr val="tx2"/>
                    </a:solidFill>
                    <a:latin typeface="Microsoft JhengHei" panose="020B0604030504040204" pitchFamily="34" charset="-120"/>
                    <a:ea typeface="Microsoft JhengHei" panose="020B0604030504040204" pitchFamily="34" charset="-120"/>
                    <a:cs typeface="+mn-ea"/>
                  </a:rPr>
                  <a:t>options nearing expiration</a:t>
                </a:r>
              </a:p>
            </p:txBody>
          </p:sp>
        </mc:Choice>
        <mc:Fallback xmlns="">
          <p:sp>
            <p:nvSpPr>
              <p:cNvPr id="10" name="文字方塊 9">
                <a:extLst>
                  <a:ext uri="{FF2B5EF4-FFF2-40B4-BE49-F238E27FC236}">
                    <a16:creationId xmlns:a16="http://schemas.microsoft.com/office/drawing/2014/main" id="{58C69E56-4AE2-5E5C-CF1F-099B5457748C}"/>
                  </a:ext>
                </a:extLst>
              </p:cNvPr>
              <p:cNvSpPr txBox="1">
                <a:spLocks noRot="1" noChangeAspect="1" noMove="1" noResize="1" noEditPoints="1" noAdjustHandles="1" noChangeArrowheads="1" noChangeShapeType="1" noTextEdit="1"/>
              </p:cNvSpPr>
              <p:nvPr/>
            </p:nvSpPr>
            <p:spPr>
              <a:xfrm>
                <a:off x="6273165" y="3195606"/>
                <a:ext cx="5850411" cy="3356816"/>
              </a:xfrm>
              <a:prstGeom prst="rect">
                <a:avLst/>
              </a:prstGeom>
              <a:blipFill>
                <a:blip r:embed="rId4"/>
                <a:stretch>
                  <a:fillRect l="-833" t="-363" r="-187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01999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60AA75CF-7111-E002-BBCD-233B5066F60A}"/>
                  </a:ext>
                </a:extLst>
              </p:cNvPr>
              <p:cNvSpPr>
                <a:spLocks noGrp="1"/>
              </p:cNvSpPr>
              <p:nvPr>
                <p:ph sz="quarter" idx="14"/>
              </p:nvPr>
            </p:nvSpPr>
            <p:spPr>
              <a:xfrm>
                <a:off x="310471" y="771395"/>
                <a:ext cx="11682477" cy="5822238"/>
              </a:xfrm>
            </p:spPr>
            <p:txBody>
              <a:bodyPr/>
              <a:lstStyle/>
              <a:p>
                <a:pPr>
                  <a:lnSpc>
                    <a:spcPct val="150000"/>
                  </a:lnSpc>
                </a:pPr>
                <a:r>
                  <a:rPr lang="da-DK" altLang="zh-TW" b="0" dirty="0"/>
                  <a:t>Hsu et al. (2024) </a:t>
                </a:r>
                <a:r>
                  <a:rPr lang="zh-TW" altLang="en-US" b="0" dirty="0"/>
                  <a:t>提出一神經網路選擇權價格預測模型 </a:t>
                </a:r>
                <a:r>
                  <a:rPr lang="en-US" altLang="zh-TW" b="0" dirty="0"/>
                  <a:t>(CV</a:t>
                </a:r>
                <a:r>
                  <a:rPr lang="zh-TW" altLang="en-US" b="0" dirty="0"/>
                  <a:t> </a:t>
                </a:r>
                <a:r>
                  <a:rPr lang="en-US" altLang="zh-TW" b="0" dirty="0"/>
                  <a:t>Model)</a:t>
                </a:r>
              </a:p>
              <a:p>
                <a:pPr marL="456342" lvl="1" indent="0">
                  <a:lnSpc>
                    <a:spcPct val="150000"/>
                  </a:lnSpc>
                  <a:buNone/>
                </a:pPr>
                <a:r>
                  <a:rPr lang="zh-TW" altLang="en-US" b="0" dirty="0"/>
                  <a:t>模型在預測選擇權價格之餘，亦使用</a:t>
                </a:r>
                <a:r>
                  <a:rPr lang="en-US" altLang="zh-TW" b="0" dirty="0"/>
                  <a:t>Breeden and Litzenberger (1978)</a:t>
                </a:r>
                <a:r>
                  <a:rPr lang="zh-TW" altLang="en-US" b="0" dirty="0"/>
                  <a:t>提出之方法 </a:t>
                </a:r>
                <a:r>
                  <a:rPr lang="en-US" altLang="zh-TW" b="0" dirty="0"/>
                  <a:t>(</a:t>
                </a:r>
                <a:r>
                  <a:rPr lang="en-US" altLang="zh-TW" b="0" dirty="0">
                    <a:hlinkClick r:id="rId3" action="ppaction://hlinksldjump"/>
                  </a:rPr>
                  <a:t>*</a:t>
                </a:r>
                <a:r>
                  <a:rPr lang="en-US" altLang="zh-TW" b="0" dirty="0"/>
                  <a:t>)</a:t>
                </a:r>
                <a:r>
                  <a:rPr lang="zh-TW" altLang="en-US" b="0" dirty="0"/>
                  <a:t>，估計標的物價格之風險中立機率密度函數</a:t>
                </a:r>
                <a:endParaRPr lang="en-US" altLang="zh-TW" b="0" dirty="0"/>
              </a:p>
              <a:p>
                <a:pPr marL="456342" lvl="1" indent="0">
                  <a:lnSpc>
                    <a:spcPct val="150000"/>
                  </a:lnSpc>
                  <a:buNone/>
                </a:pPr>
                <a:r>
                  <a:rPr lang="zh-TW" altLang="en-US" b="0" dirty="0"/>
                  <a:t>本研究利用</a:t>
                </a:r>
                <a:r>
                  <a:rPr lang="en-US" altLang="zh-TW" b="0" dirty="0"/>
                  <a:t>Jacobian</a:t>
                </a:r>
                <a:r>
                  <a:rPr lang="zh-TW" altLang="en-US" b="0" dirty="0"/>
                  <a:t>轉換（</a:t>
                </a:r>
                <a:r>
                  <a:rPr lang="en-US" altLang="zh-TW" b="0" dirty="0"/>
                  <a:t>Jacobian</a:t>
                </a:r>
                <a:r>
                  <a:rPr lang="zh-TW" altLang="en-US" b="0" dirty="0"/>
                  <a:t> </a:t>
                </a:r>
                <a:r>
                  <a:rPr lang="en-US" altLang="zh-TW" b="0" dirty="0"/>
                  <a:t>transformation</a:t>
                </a:r>
                <a:r>
                  <a:rPr lang="zh-TW" altLang="en-US" b="0" dirty="0"/>
                  <a:t>）將價格之風險中立機率密度函數</a:t>
                </a:r>
                <a14:m>
                  <m:oMath xmlns:m="http://schemas.openxmlformats.org/officeDocument/2006/math">
                    <m:r>
                      <a:rPr lang="en-US" altLang="zh-TW" b="0" i="1" smtClean="0">
                        <a:latin typeface="Cambria Math" panose="02040503050406030204" pitchFamily="18" charset="0"/>
                      </a:rPr>
                      <m:t>𝑔</m:t>
                    </m:r>
                    <m:r>
                      <a:rPr lang="en-US" altLang="zh-TW" b="0" i="1" smtClean="0">
                        <a:latin typeface="Cambria Math" panose="02040503050406030204" pitchFamily="18" charset="0"/>
                      </a:rPr>
                      <m:t>(∙)</m:t>
                    </m:r>
                  </m:oMath>
                </a14:m>
                <a:endParaRPr lang="en-US" altLang="zh-TW" b="0" dirty="0"/>
              </a:p>
              <a:p>
                <a:pPr marL="456342" lvl="1" indent="0">
                  <a:lnSpc>
                    <a:spcPct val="150000"/>
                  </a:lnSpc>
                  <a:buNone/>
                </a:pPr>
                <a:r>
                  <a:rPr lang="zh-TW" altLang="en-US" b="0" dirty="0"/>
                  <a:t>轉換為對數報酬率</a:t>
                </a:r>
                <a:r>
                  <a:rPr lang="en-US" altLang="zh-TW" b="0" dirty="0"/>
                  <a:t>(log-return)</a:t>
                </a:r>
                <a:r>
                  <a:rPr lang="zh-TW" altLang="en-US" b="0" dirty="0"/>
                  <a:t>之風險中立機率密度函數</a:t>
                </a:r>
                <a14:m>
                  <m:oMath xmlns:m="http://schemas.openxmlformats.org/officeDocument/2006/math">
                    <m:r>
                      <a:rPr lang="en-US" altLang="zh-TW" b="0" i="1">
                        <a:latin typeface="Cambria Math" panose="02040503050406030204" pitchFamily="18" charset="0"/>
                      </a:rPr>
                      <m:t>𝑔</m:t>
                    </m:r>
                    <m:r>
                      <a:rPr lang="en-US" altLang="zh-TW" b="0" i="1" smtClean="0">
                        <a:latin typeface="Cambria Math" panose="02040503050406030204" pitchFamily="18" charset="0"/>
                      </a:rPr>
                      <m:t>′</m:t>
                    </m:r>
                    <m:r>
                      <a:rPr lang="en-US" altLang="zh-TW" b="0" i="1">
                        <a:latin typeface="Cambria Math" panose="02040503050406030204" pitchFamily="18" charset="0"/>
                      </a:rPr>
                      <m:t>(∙)</m:t>
                    </m:r>
                  </m:oMath>
                </a14:m>
                <a:endParaRPr lang="en-US" altLang="zh-TW" b="0" dirty="0"/>
              </a:p>
              <a:p>
                <a:pPr marL="799242" lvl="1" indent="-342900">
                  <a:lnSpc>
                    <a:spcPct val="150000"/>
                  </a:lnSpc>
                  <a:buFont typeface="Arial" panose="020B0604020202020204" pitchFamily="34" charset="0"/>
                  <a:buChar char="•"/>
                </a:pPr>
                <a:r>
                  <a:rPr lang="en-US" altLang="zh-TW" dirty="0"/>
                  <a:t>Jacobian</a:t>
                </a:r>
                <a:r>
                  <a:rPr lang="en-US" altLang="zh-TW" b="0" dirty="0"/>
                  <a:t> </a:t>
                </a:r>
                <a:r>
                  <a:rPr lang="en-US" altLang="zh-TW" dirty="0"/>
                  <a:t>transformation</a:t>
                </a:r>
              </a:p>
              <a:p>
                <a:pPr marL="684925" lvl="2" indent="0">
                  <a:lnSpc>
                    <a:spcPct val="100000"/>
                  </a:lnSpc>
                  <a:buNone/>
                </a:pPr>
                <a:r>
                  <a:rPr lang="zh-TW" altLang="en-US" b="0" dirty="0"/>
                  <a:t>價格之風險中立機率密度函數符合</a:t>
                </a:r>
                <a14:m>
                  <m:oMath xmlns:m="http://schemas.openxmlformats.org/officeDocument/2006/math">
                    <m:nary>
                      <m:naryPr>
                        <m:limLoc m:val="undOvr"/>
                        <m:subHide m:val="on"/>
                        <m:supHide m:val="on"/>
                        <m:ctrlPr>
                          <a:rPr lang="en-US" altLang="zh-TW" b="0" i="1" smtClean="0">
                            <a:latin typeface="Cambria Math" panose="02040503050406030204" pitchFamily="18" charset="0"/>
                          </a:rPr>
                        </m:ctrlPr>
                      </m:naryPr>
                      <m:sub/>
                      <m:sup/>
                      <m:e>
                        <m:r>
                          <a:rPr lang="en-US" altLang="zh-TW" b="0" i="1" smtClean="0">
                            <a:latin typeface="Cambria Math" panose="02040503050406030204" pitchFamily="18" charset="0"/>
                          </a:rPr>
                          <m:t>𝑔</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𝑇</m:t>
                                </m:r>
                              </m:sub>
                            </m:sSub>
                          </m:e>
                        </m:d>
                        <m:r>
                          <a:rPr lang="en-US" altLang="zh-TW" b="0" i="1" smtClean="0">
                            <a:latin typeface="Cambria Math" panose="02040503050406030204" pitchFamily="18" charset="0"/>
                          </a:rPr>
                          <m:t>𝑑</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𝑇</m:t>
                            </m:r>
                          </m:sub>
                        </m:sSub>
                        <m:r>
                          <a:rPr lang="en-US" altLang="zh-TW" b="0" i="1" smtClean="0">
                            <a:latin typeface="Cambria Math" panose="02040503050406030204" pitchFamily="18" charset="0"/>
                          </a:rPr>
                          <m:t>=1</m:t>
                        </m:r>
                      </m:e>
                    </m:nary>
                  </m:oMath>
                </a14:m>
                <a:r>
                  <a:rPr lang="zh-TW" altLang="en-US" b="0" dirty="0"/>
                  <a:t>，設</a:t>
                </a:r>
                <a14:m>
                  <m:oMath xmlns:m="http://schemas.openxmlformats.org/officeDocument/2006/math">
                    <m:r>
                      <m:rPr>
                        <m:sty m:val="p"/>
                      </m:rPr>
                      <a:rPr lang="en-US" altLang="zh-TW" b="0" i="1" dirty="0">
                        <a:latin typeface="Cambria Math" panose="02040503050406030204" pitchFamily="18" charset="0"/>
                      </a:rPr>
                      <m:t>R</m:t>
                    </m:r>
                  </m:oMath>
                </a14:m>
                <a:r>
                  <a:rPr lang="zh-TW" altLang="en-US" b="0" dirty="0"/>
                  <a:t>為對數報酬率</a:t>
                </a:r>
                <a:endParaRPr lang="en-US" altLang="zh-TW" b="0" dirty="0"/>
              </a:p>
              <a:p>
                <a:pPr marL="684925" lvl="2" indent="0">
                  <a:lnSpc>
                    <a:spcPct val="100000"/>
                  </a:lnSpc>
                  <a:buNone/>
                </a:pPr>
                <a14:m>
                  <m:oMathPara xmlns:m="http://schemas.openxmlformats.org/officeDocument/2006/math">
                    <m:oMathParaPr>
                      <m:jc m:val="left"/>
                    </m:oMathParaPr>
                    <m:oMath xmlns:m="http://schemas.openxmlformats.org/officeDocument/2006/math">
                      <m:r>
                        <m:rPr>
                          <m:sty m:val="p"/>
                        </m:rPr>
                        <a:rPr lang="en-US" altLang="zh-TW" b="0" i="1" dirty="0">
                          <a:latin typeface="Cambria Math" panose="02040503050406030204" pitchFamily="18" charset="0"/>
                        </a:rPr>
                        <m:t>R</m:t>
                      </m:r>
                      <m:r>
                        <a:rPr lang="zh-TW" altLang="en-US" b="0" i="1" dirty="0" smtClean="0">
                          <a:latin typeface="Cambria Math" panose="02040503050406030204" pitchFamily="18" charset="0"/>
                        </a:rPr>
                        <m:t> </m:t>
                      </m:r>
                      <m:r>
                        <a:rPr lang="en-US" altLang="zh-TW" b="0" i="1" dirty="0">
                          <a:latin typeface="Cambria Math" panose="02040503050406030204" pitchFamily="18" charset="0"/>
                        </a:rPr>
                        <m:t>=</m:t>
                      </m:r>
                      <m:r>
                        <a:rPr lang="zh-TW" altLang="en-US" b="0" i="1" dirty="0" smtClean="0">
                          <a:latin typeface="Cambria Math" panose="02040503050406030204" pitchFamily="18" charset="0"/>
                        </a:rPr>
                        <m:t> </m:t>
                      </m:r>
                      <m:r>
                        <m:rPr>
                          <m:sty m:val="p"/>
                        </m:rPr>
                        <a:rPr lang="en-US" altLang="zh-TW" b="0" i="1" dirty="0">
                          <a:latin typeface="Cambria Math" panose="02040503050406030204" pitchFamily="18" charset="0"/>
                        </a:rPr>
                        <m:t>ln</m:t>
                      </m:r>
                      <m:d>
                        <m:dPr>
                          <m:ctrlPr>
                            <a:rPr lang="en-US" altLang="zh-TW" b="0" i="1" dirty="0" smtClean="0">
                              <a:latin typeface="Cambria Math" panose="02040503050406030204" pitchFamily="18" charset="0"/>
                            </a:rPr>
                          </m:ctrlPr>
                        </m:dPr>
                        <m:e>
                          <m:f>
                            <m:fPr>
                              <m:ctrlPr>
                                <a:rPr lang="en-US" altLang="zh-TW" b="0" i="1" dirty="0" smtClean="0">
                                  <a:latin typeface="Cambria Math" panose="02040503050406030204" pitchFamily="18" charset="0"/>
                                </a:rPr>
                              </m:ctrlPr>
                            </m:fPr>
                            <m:num>
                              <m:sSub>
                                <m:sSubPr>
                                  <m:ctrlPr>
                                    <a:rPr lang="en-US" altLang="zh-TW" b="0" i="1" dirty="0" smtClean="0">
                                      <a:latin typeface="Cambria Math" panose="02040503050406030204" pitchFamily="18" charset="0"/>
                                    </a:rPr>
                                  </m:ctrlPr>
                                </m:sSubPr>
                                <m:e>
                                  <m:r>
                                    <m:rPr>
                                      <m:sty m:val="p"/>
                                    </m:rPr>
                                    <a:rPr lang="en-US" altLang="zh-TW" b="0" i="1" dirty="0">
                                      <a:latin typeface="Cambria Math" panose="02040503050406030204" pitchFamily="18" charset="0"/>
                                    </a:rPr>
                                    <m:t>S</m:t>
                                  </m:r>
                                </m:e>
                                <m:sub>
                                  <m:r>
                                    <m:rPr>
                                      <m:sty m:val="p"/>
                                    </m:rPr>
                                    <a:rPr lang="en-US" altLang="zh-TW" b="0" i="1" dirty="0">
                                      <a:latin typeface="Cambria Math" panose="02040503050406030204" pitchFamily="18" charset="0"/>
                                    </a:rPr>
                                    <m:t>T</m:t>
                                  </m:r>
                                </m:sub>
                              </m:sSub>
                            </m:num>
                            <m:den>
                              <m:sSub>
                                <m:sSubPr>
                                  <m:ctrlPr>
                                    <a:rPr lang="en-US" altLang="zh-TW" b="0" i="1" dirty="0" smtClean="0">
                                      <a:latin typeface="Cambria Math" panose="02040503050406030204" pitchFamily="18" charset="0"/>
                                    </a:rPr>
                                  </m:ctrlPr>
                                </m:sSubPr>
                                <m:e>
                                  <m:r>
                                    <m:rPr>
                                      <m:sty m:val="p"/>
                                    </m:rPr>
                                    <a:rPr lang="en-US" altLang="zh-TW" b="0" i="1" dirty="0">
                                      <a:latin typeface="Cambria Math" panose="02040503050406030204" pitchFamily="18" charset="0"/>
                                    </a:rPr>
                                    <m:t>S</m:t>
                                  </m:r>
                                </m:e>
                                <m:sub>
                                  <m:r>
                                    <a:rPr lang="en-US" altLang="zh-TW" b="0" i="1" dirty="0">
                                      <a:latin typeface="Cambria Math" panose="02040503050406030204" pitchFamily="18" charset="0"/>
                                    </a:rPr>
                                    <m:t>0</m:t>
                                  </m:r>
                                </m:sub>
                              </m:sSub>
                            </m:den>
                          </m:f>
                        </m:e>
                      </m:d>
                      <m:r>
                        <a:rPr lang="zh-TW" altLang="en-US" b="0" i="1" dirty="0" smtClean="0">
                          <a:latin typeface="Cambria Math" panose="02040503050406030204" pitchFamily="18" charset="0"/>
                        </a:rPr>
                        <m:t>⟹</m:t>
                      </m:r>
                      <m:r>
                        <a:rPr lang="zh-TW" altLang="en-US" b="0" i="1" dirty="0">
                          <a:latin typeface="Cambria Math" panose="02040503050406030204" pitchFamily="18" charset="0"/>
                        </a:rPr>
                        <m:t> </m:t>
                      </m:r>
                      <m:sSub>
                        <m:sSubPr>
                          <m:ctrlPr>
                            <a:rPr lang="en-US" altLang="zh-TW" b="0" i="1" dirty="0" smtClean="0">
                              <a:latin typeface="Cambria Math" panose="02040503050406030204" pitchFamily="18" charset="0"/>
                            </a:rPr>
                          </m:ctrlPr>
                        </m:sSubPr>
                        <m:e>
                          <m:r>
                            <m:rPr>
                              <m:sty m:val="p"/>
                            </m:rPr>
                            <a:rPr lang="en-US" altLang="zh-TW" b="0" i="1" dirty="0">
                              <a:latin typeface="Cambria Math" panose="02040503050406030204" pitchFamily="18" charset="0"/>
                            </a:rPr>
                            <m:t>S</m:t>
                          </m:r>
                        </m:e>
                        <m:sub>
                          <m:r>
                            <m:rPr>
                              <m:sty m:val="p"/>
                            </m:rPr>
                            <a:rPr lang="en-US" altLang="zh-TW" b="0" i="1" dirty="0">
                              <a:latin typeface="Cambria Math" panose="02040503050406030204" pitchFamily="18" charset="0"/>
                            </a:rPr>
                            <m:t>T</m:t>
                          </m:r>
                        </m:sub>
                      </m:sSub>
                      <m:r>
                        <a:rPr lang="zh-TW" altLang="en-US" b="0" i="1" dirty="0">
                          <a:latin typeface="Cambria Math" panose="02040503050406030204" pitchFamily="18" charset="0"/>
                        </a:rPr>
                        <m:t> </m:t>
                      </m:r>
                      <m:r>
                        <a:rPr lang="en-US" altLang="zh-TW" b="0" i="1" dirty="0" smtClean="0">
                          <a:latin typeface="Cambria Math" panose="02040503050406030204" pitchFamily="18" charset="0"/>
                        </a:rPr>
                        <m:t>=</m:t>
                      </m:r>
                      <m:r>
                        <a:rPr lang="zh-TW" altLang="en-US" b="0" i="1" dirty="0">
                          <a:latin typeface="Cambria Math" panose="02040503050406030204" pitchFamily="18" charset="0"/>
                        </a:rPr>
                        <m:t> </m:t>
                      </m:r>
                      <m:sSub>
                        <m:sSubPr>
                          <m:ctrlPr>
                            <a:rPr lang="en-US" altLang="zh-TW" b="0" i="1" dirty="0" smtClean="0">
                              <a:latin typeface="Cambria Math" panose="02040503050406030204" pitchFamily="18" charset="0"/>
                            </a:rPr>
                          </m:ctrlPr>
                        </m:sSubPr>
                        <m:e>
                          <m:r>
                            <m:rPr>
                              <m:sty m:val="p"/>
                            </m:rPr>
                            <a:rPr lang="en-US" altLang="zh-TW" b="0" i="1" dirty="0">
                              <a:latin typeface="Cambria Math" panose="02040503050406030204" pitchFamily="18" charset="0"/>
                            </a:rPr>
                            <m:t>S</m:t>
                          </m:r>
                        </m:e>
                        <m:sub>
                          <m:r>
                            <a:rPr lang="en-US" altLang="zh-TW" b="0" i="1" dirty="0">
                              <a:latin typeface="Cambria Math" panose="02040503050406030204" pitchFamily="18" charset="0"/>
                            </a:rPr>
                            <m:t>0</m:t>
                          </m:r>
                        </m:sub>
                      </m:sSub>
                      <m:sSup>
                        <m:sSupPr>
                          <m:ctrlPr>
                            <a:rPr lang="en-US" altLang="zh-TW" b="0" i="1" dirty="0" smtClean="0">
                              <a:latin typeface="Cambria Math" panose="02040503050406030204" pitchFamily="18" charset="0"/>
                            </a:rPr>
                          </m:ctrlPr>
                        </m:sSupPr>
                        <m:e>
                          <m:r>
                            <m:rPr>
                              <m:sty m:val="p"/>
                            </m:rPr>
                            <a:rPr lang="en-US" altLang="zh-TW" b="0" i="1" dirty="0">
                              <a:latin typeface="Cambria Math" panose="02040503050406030204" pitchFamily="18" charset="0"/>
                            </a:rPr>
                            <m:t>e</m:t>
                          </m:r>
                        </m:e>
                        <m:sup>
                          <m:r>
                            <m:rPr>
                              <m:sty m:val="p"/>
                            </m:rPr>
                            <a:rPr lang="en-US" altLang="zh-TW" b="0" i="1" dirty="0">
                              <a:latin typeface="Cambria Math" panose="02040503050406030204" pitchFamily="18" charset="0"/>
                            </a:rPr>
                            <m:t>R</m:t>
                          </m:r>
                        </m:sup>
                      </m:sSup>
                    </m:oMath>
                  </m:oMathPara>
                </a14:m>
                <a:endParaRPr lang="en-US" altLang="zh-TW" b="0" dirty="0"/>
              </a:p>
              <a:p>
                <a:pPr marL="684925" lvl="2" indent="0">
                  <a:lnSpc>
                    <a:spcPct val="100000"/>
                  </a:lnSpc>
                  <a:buNone/>
                </a:pPr>
                <a:r>
                  <a:rPr lang="zh-TW" altLang="en-US" b="0" dirty="0"/>
                  <a:t> </a:t>
                </a:r>
                <a14:m>
                  <m:oMath xmlns:m="http://schemas.openxmlformats.org/officeDocument/2006/math">
                    <m:f>
                      <m:fPr>
                        <m:ctrlPr>
                          <a:rPr lang="en-US" altLang="zh-TW" b="0" i="1" smtClean="0">
                            <a:latin typeface="Cambria Math" panose="02040503050406030204" pitchFamily="18" charset="0"/>
                          </a:rPr>
                        </m:ctrlPr>
                      </m:fPr>
                      <m:num>
                        <m:r>
                          <m:rPr>
                            <m:sty m:val="p"/>
                          </m:rPr>
                          <a:rPr lang="en-US" altLang="zh-TW" b="0" i="1">
                            <a:latin typeface="Cambria Math" panose="02040503050406030204" pitchFamily="18" charset="0"/>
                          </a:rPr>
                          <m:t>d</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𝑇</m:t>
                            </m:r>
                          </m:sub>
                        </m:sSub>
                      </m:num>
                      <m:den>
                        <m:r>
                          <a:rPr lang="en-US" altLang="zh-TW" b="0" i="1" smtClean="0">
                            <a:latin typeface="Cambria Math" panose="02040503050406030204" pitchFamily="18" charset="0"/>
                          </a:rPr>
                          <m:t>𝑑𝑅</m:t>
                        </m:r>
                      </m:den>
                    </m:f>
                    <m:r>
                      <a:rPr lang="en-US" altLang="zh-TW" b="0" i="0" smtClean="0">
                        <a:latin typeface="Cambria Math" panose="02040503050406030204" pitchFamily="18" charset="0"/>
                      </a:rPr>
                      <m:t>=</m:t>
                    </m:r>
                    <m:sSub>
                      <m:sSubPr>
                        <m:ctrlPr>
                          <a:rPr lang="en-US" altLang="zh-TW" b="0" i="1" dirty="0">
                            <a:latin typeface="Cambria Math" panose="02040503050406030204" pitchFamily="18" charset="0"/>
                          </a:rPr>
                        </m:ctrlPr>
                      </m:sSubPr>
                      <m:e>
                        <m:r>
                          <m:rPr>
                            <m:sty m:val="p"/>
                          </m:rPr>
                          <a:rPr lang="en-US" altLang="zh-TW" b="0" i="1" dirty="0">
                            <a:latin typeface="Cambria Math" panose="02040503050406030204" pitchFamily="18" charset="0"/>
                          </a:rPr>
                          <m:t>S</m:t>
                        </m:r>
                      </m:e>
                      <m:sub>
                        <m:r>
                          <a:rPr lang="en-US" altLang="zh-TW" b="0" i="1" dirty="0">
                            <a:latin typeface="Cambria Math" panose="02040503050406030204" pitchFamily="18" charset="0"/>
                          </a:rPr>
                          <m:t>0</m:t>
                        </m:r>
                      </m:sub>
                    </m:sSub>
                    <m:sSup>
                      <m:sSupPr>
                        <m:ctrlPr>
                          <a:rPr lang="en-US" altLang="zh-TW" b="0" i="1" dirty="0">
                            <a:latin typeface="Cambria Math" panose="02040503050406030204" pitchFamily="18" charset="0"/>
                          </a:rPr>
                        </m:ctrlPr>
                      </m:sSupPr>
                      <m:e>
                        <m:r>
                          <m:rPr>
                            <m:sty m:val="p"/>
                          </m:rPr>
                          <a:rPr lang="en-US" altLang="zh-TW" b="0" i="1" dirty="0">
                            <a:latin typeface="Cambria Math" panose="02040503050406030204" pitchFamily="18" charset="0"/>
                          </a:rPr>
                          <m:t>e</m:t>
                        </m:r>
                      </m:e>
                      <m:sup>
                        <m:r>
                          <m:rPr>
                            <m:sty m:val="p"/>
                          </m:rPr>
                          <a:rPr lang="en-US" altLang="zh-TW" b="0" i="1" dirty="0">
                            <a:latin typeface="Cambria Math" panose="02040503050406030204" pitchFamily="18" charset="0"/>
                          </a:rPr>
                          <m:t>R</m:t>
                        </m:r>
                      </m:sup>
                    </m:sSup>
                    <m:r>
                      <a:rPr lang="zh-TW" altLang="en-US" b="0" i="1" dirty="0">
                        <a:latin typeface="Cambria Math" panose="02040503050406030204" pitchFamily="18" charset="0"/>
                      </a:rPr>
                      <m:t>⟹</m:t>
                    </m:r>
                    <m:r>
                      <a:rPr lang="en-US" altLang="zh-TW" b="0" i="1" dirty="0" smtClean="0">
                        <a:latin typeface="Cambria Math" panose="02040503050406030204" pitchFamily="18" charset="0"/>
                      </a:rPr>
                      <m:t>𝑑</m:t>
                    </m:r>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𝑆</m:t>
                        </m:r>
                      </m:e>
                      <m:sub>
                        <m:r>
                          <a:rPr lang="en-US" altLang="zh-TW" b="0" i="1" dirty="0" smtClean="0">
                            <a:latin typeface="Cambria Math" panose="02040503050406030204" pitchFamily="18" charset="0"/>
                          </a:rPr>
                          <m:t>𝑇</m:t>
                        </m:r>
                      </m:sub>
                    </m:sSub>
                    <m:r>
                      <a:rPr lang="en-US" altLang="zh-TW" b="0" i="1" dirty="0" smtClean="0">
                        <a:latin typeface="Cambria Math" panose="02040503050406030204" pitchFamily="18" charset="0"/>
                      </a:rPr>
                      <m:t>=</m:t>
                    </m:r>
                    <m:sSub>
                      <m:sSubPr>
                        <m:ctrlPr>
                          <a:rPr lang="en-US" altLang="zh-TW" b="0" i="1" dirty="0">
                            <a:latin typeface="Cambria Math" panose="02040503050406030204" pitchFamily="18" charset="0"/>
                          </a:rPr>
                        </m:ctrlPr>
                      </m:sSubPr>
                      <m:e>
                        <m:r>
                          <m:rPr>
                            <m:sty m:val="p"/>
                          </m:rPr>
                          <a:rPr lang="en-US" altLang="zh-TW" b="0" i="1" dirty="0">
                            <a:latin typeface="Cambria Math" panose="02040503050406030204" pitchFamily="18" charset="0"/>
                          </a:rPr>
                          <m:t>S</m:t>
                        </m:r>
                      </m:e>
                      <m:sub>
                        <m:r>
                          <a:rPr lang="en-US" altLang="zh-TW" b="0" i="1" dirty="0">
                            <a:latin typeface="Cambria Math" panose="02040503050406030204" pitchFamily="18" charset="0"/>
                          </a:rPr>
                          <m:t>0</m:t>
                        </m:r>
                      </m:sub>
                    </m:sSub>
                    <m:sSup>
                      <m:sSupPr>
                        <m:ctrlPr>
                          <a:rPr lang="en-US" altLang="zh-TW" b="0" i="1" dirty="0">
                            <a:latin typeface="Cambria Math" panose="02040503050406030204" pitchFamily="18" charset="0"/>
                          </a:rPr>
                        </m:ctrlPr>
                      </m:sSupPr>
                      <m:e>
                        <m:r>
                          <m:rPr>
                            <m:sty m:val="p"/>
                          </m:rPr>
                          <a:rPr lang="en-US" altLang="zh-TW" b="0" i="1" dirty="0">
                            <a:latin typeface="Cambria Math" panose="02040503050406030204" pitchFamily="18" charset="0"/>
                          </a:rPr>
                          <m:t>e</m:t>
                        </m:r>
                      </m:e>
                      <m:sup>
                        <m:r>
                          <m:rPr>
                            <m:sty m:val="p"/>
                          </m:rPr>
                          <a:rPr lang="en-US" altLang="zh-TW" b="0" i="1" dirty="0">
                            <a:latin typeface="Cambria Math" panose="02040503050406030204" pitchFamily="18" charset="0"/>
                          </a:rPr>
                          <m:t>R</m:t>
                        </m:r>
                      </m:sup>
                    </m:sSup>
                    <m:r>
                      <a:rPr lang="en-US" altLang="zh-TW" b="0" i="1" dirty="0" smtClean="0">
                        <a:latin typeface="Cambria Math" panose="02040503050406030204" pitchFamily="18" charset="0"/>
                      </a:rPr>
                      <m:t>𝑑𝑅</m:t>
                    </m:r>
                  </m:oMath>
                </a14:m>
                <a:endParaRPr lang="en-US" altLang="zh-TW" b="0" dirty="0"/>
              </a:p>
              <a:p>
                <a:pPr marL="684925" lvl="2" indent="0">
                  <a:lnSpc>
                    <a:spcPct val="100000"/>
                  </a:lnSpc>
                  <a:buNone/>
                </a:pPr>
                <a14:m>
                  <m:oMathPara xmlns:m="http://schemas.openxmlformats.org/officeDocument/2006/math">
                    <m:oMathParaPr>
                      <m:jc m:val="left"/>
                    </m:oMathParaPr>
                    <m:oMath xmlns:m="http://schemas.openxmlformats.org/officeDocument/2006/math">
                      <m:nary>
                        <m:naryPr>
                          <m:limLoc m:val="undOvr"/>
                          <m:subHide m:val="on"/>
                          <m:supHide m:val="on"/>
                          <m:ctrlPr>
                            <a:rPr lang="en-US" altLang="zh-TW" b="0" i="1">
                              <a:latin typeface="Cambria Math" panose="02040503050406030204" pitchFamily="18" charset="0"/>
                            </a:rPr>
                          </m:ctrlPr>
                        </m:naryPr>
                        <m:sub/>
                        <m:sup/>
                        <m:e>
                          <m:r>
                            <a:rPr lang="en-US" altLang="zh-TW" b="0" i="1">
                              <a:latin typeface="Cambria Math" panose="02040503050406030204" pitchFamily="18" charset="0"/>
                            </a:rPr>
                            <m:t>𝑔</m:t>
                          </m:r>
                          <m:d>
                            <m:dPr>
                              <m:ctrlPr>
                                <a:rPr lang="en-US" altLang="zh-TW" b="0" i="1">
                                  <a:latin typeface="Cambria Math" panose="02040503050406030204" pitchFamily="18" charset="0"/>
                                </a:rPr>
                              </m:ctrlPr>
                            </m:dPr>
                            <m:e>
                              <m:sSub>
                                <m:sSubPr>
                                  <m:ctrlPr>
                                    <a:rPr lang="en-US" altLang="zh-TW" b="0" i="1">
                                      <a:latin typeface="Cambria Math" panose="02040503050406030204" pitchFamily="18" charset="0"/>
                                    </a:rPr>
                                  </m:ctrlPr>
                                </m:sSubPr>
                                <m:e>
                                  <m:r>
                                    <a:rPr lang="en-US" altLang="zh-TW" b="0" i="1">
                                      <a:latin typeface="Cambria Math" panose="02040503050406030204" pitchFamily="18" charset="0"/>
                                    </a:rPr>
                                    <m:t>𝑆</m:t>
                                  </m:r>
                                </m:e>
                                <m:sub>
                                  <m:r>
                                    <a:rPr lang="en-US" altLang="zh-TW" b="0" i="1">
                                      <a:latin typeface="Cambria Math" panose="02040503050406030204" pitchFamily="18" charset="0"/>
                                    </a:rPr>
                                    <m:t>𝑇</m:t>
                                  </m:r>
                                </m:sub>
                              </m:sSub>
                            </m:e>
                          </m:d>
                          <m:r>
                            <a:rPr lang="en-US" altLang="zh-TW" b="0" i="1">
                              <a:latin typeface="Cambria Math" panose="02040503050406030204" pitchFamily="18" charset="0"/>
                            </a:rPr>
                            <m:t>𝑑</m:t>
                          </m:r>
                          <m:sSub>
                            <m:sSubPr>
                              <m:ctrlPr>
                                <a:rPr lang="en-US" altLang="zh-TW" b="0" i="1">
                                  <a:latin typeface="Cambria Math" panose="02040503050406030204" pitchFamily="18" charset="0"/>
                                </a:rPr>
                              </m:ctrlPr>
                            </m:sSubPr>
                            <m:e>
                              <m:r>
                                <a:rPr lang="en-US" altLang="zh-TW" b="0" i="1">
                                  <a:latin typeface="Cambria Math" panose="02040503050406030204" pitchFamily="18" charset="0"/>
                                </a:rPr>
                                <m:t>𝑆</m:t>
                              </m:r>
                            </m:e>
                            <m:sub>
                              <m:r>
                                <a:rPr lang="en-US" altLang="zh-TW" b="0" i="1">
                                  <a:latin typeface="Cambria Math" panose="02040503050406030204" pitchFamily="18" charset="0"/>
                                </a:rPr>
                                <m:t>𝑇</m:t>
                              </m:r>
                            </m:sub>
                          </m:sSub>
                          <m:r>
                            <a:rPr lang="en-US" altLang="zh-TW" b="0" i="1">
                              <a:latin typeface="Cambria Math" panose="02040503050406030204" pitchFamily="18" charset="0"/>
                            </a:rPr>
                            <m:t>=</m:t>
                          </m:r>
                          <m:nary>
                            <m:naryPr>
                              <m:limLoc m:val="undOvr"/>
                              <m:subHide m:val="on"/>
                              <m:supHide m:val="on"/>
                              <m:ctrlPr>
                                <a:rPr lang="en-US" altLang="zh-TW" b="0" i="1">
                                  <a:latin typeface="Cambria Math" panose="02040503050406030204" pitchFamily="18" charset="0"/>
                                </a:rPr>
                              </m:ctrlPr>
                            </m:naryPr>
                            <m:sub/>
                            <m:sup/>
                            <m:e>
                              <m:r>
                                <a:rPr lang="en-US" altLang="zh-TW" b="0" i="1">
                                  <a:latin typeface="Cambria Math" panose="02040503050406030204" pitchFamily="18" charset="0"/>
                                </a:rPr>
                                <m:t>𝑔</m:t>
                              </m:r>
                              <m:d>
                                <m:dPr>
                                  <m:ctrlPr>
                                    <a:rPr lang="en-US" altLang="zh-TW" b="0" i="1">
                                      <a:latin typeface="Cambria Math" panose="02040503050406030204" pitchFamily="18" charset="0"/>
                                    </a:rPr>
                                  </m:ctrlPr>
                                </m:dPr>
                                <m:e>
                                  <m:sSub>
                                    <m:sSubPr>
                                      <m:ctrlPr>
                                        <a:rPr lang="en-US" altLang="zh-TW" b="0" i="1">
                                          <a:latin typeface="Cambria Math" panose="02040503050406030204" pitchFamily="18" charset="0"/>
                                        </a:rPr>
                                      </m:ctrlPr>
                                    </m:sSubPr>
                                    <m:e>
                                      <m:r>
                                        <a:rPr lang="en-US" altLang="zh-TW" b="0" i="1">
                                          <a:latin typeface="Cambria Math" panose="02040503050406030204" pitchFamily="18" charset="0"/>
                                        </a:rPr>
                                        <m:t>𝑆</m:t>
                                      </m:r>
                                    </m:e>
                                    <m:sub>
                                      <m:r>
                                        <a:rPr lang="en-US" altLang="zh-TW" b="0" i="1">
                                          <a:latin typeface="Cambria Math" panose="02040503050406030204" pitchFamily="18" charset="0"/>
                                        </a:rPr>
                                        <m:t>𝑇</m:t>
                                      </m:r>
                                    </m:sub>
                                  </m:sSub>
                                </m:e>
                              </m:d>
                              <m:sSub>
                                <m:sSubPr>
                                  <m:ctrlPr>
                                    <a:rPr lang="en-US" altLang="zh-TW" b="0" i="1" dirty="0">
                                      <a:latin typeface="Cambria Math" panose="02040503050406030204" pitchFamily="18" charset="0"/>
                                    </a:rPr>
                                  </m:ctrlPr>
                                </m:sSubPr>
                                <m:e>
                                  <m:r>
                                    <m:rPr>
                                      <m:sty m:val="p"/>
                                    </m:rPr>
                                    <a:rPr lang="en-US" altLang="zh-TW" b="0" i="1" dirty="0">
                                      <a:latin typeface="Cambria Math" panose="02040503050406030204" pitchFamily="18" charset="0"/>
                                    </a:rPr>
                                    <m:t>S</m:t>
                                  </m:r>
                                </m:e>
                                <m:sub>
                                  <m:r>
                                    <a:rPr lang="en-US" altLang="zh-TW" b="0" i="1" dirty="0">
                                      <a:latin typeface="Cambria Math" panose="02040503050406030204" pitchFamily="18" charset="0"/>
                                    </a:rPr>
                                    <m:t>0</m:t>
                                  </m:r>
                                </m:sub>
                              </m:sSub>
                              <m:sSup>
                                <m:sSupPr>
                                  <m:ctrlPr>
                                    <a:rPr lang="en-US" altLang="zh-TW" b="0" i="1" dirty="0">
                                      <a:latin typeface="Cambria Math" panose="02040503050406030204" pitchFamily="18" charset="0"/>
                                    </a:rPr>
                                  </m:ctrlPr>
                                </m:sSupPr>
                                <m:e>
                                  <m:r>
                                    <m:rPr>
                                      <m:sty m:val="p"/>
                                    </m:rPr>
                                    <a:rPr lang="en-US" altLang="zh-TW" b="0" i="1" dirty="0">
                                      <a:latin typeface="Cambria Math" panose="02040503050406030204" pitchFamily="18" charset="0"/>
                                    </a:rPr>
                                    <m:t>e</m:t>
                                  </m:r>
                                </m:e>
                                <m:sup>
                                  <m:r>
                                    <m:rPr>
                                      <m:sty m:val="p"/>
                                    </m:rPr>
                                    <a:rPr lang="en-US" altLang="zh-TW" b="0" i="1" dirty="0">
                                      <a:latin typeface="Cambria Math" panose="02040503050406030204" pitchFamily="18" charset="0"/>
                                    </a:rPr>
                                    <m:t>R</m:t>
                                  </m:r>
                                </m:sup>
                              </m:sSup>
                              <m:r>
                                <a:rPr lang="en-US" altLang="zh-TW" b="0" i="1" dirty="0">
                                  <a:latin typeface="Cambria Math" panose="02040503050406030204" pitchFamily="18" charset="0"/>
                                </a:rPr>
                                <m:t>𝑑𝑅</m:t>
                              </m:r>
                              <m:r>
                                <a:rPr lang="en-US" altLang="zh-TW" b="0" i="1" dirty="0" smtClean="0">
                                  <a:latin typeface="Cambria Math" panose="02040503050406030204" pitchFamily="18" charset="0"/>
                                </a:rPr>
                                <m:t>=</m:t>
                              </m:r>
                              <m:nary>
                                <m:naryPr>
                                  <m:limLoc m:val="undOvr"/>
                                  <m:subHide m:val="on"/>
                                  <m:supHide m:val="on"/>
                                  <m:ctrlPr>
                                    <a:rPr lang="en-US" altLang="zh-TW" b="0" i="1">
                                      <a:latin typeface="Cambria Math" panose="02040503050406030204" pitchFamily="18" charset="0"/>
                                    </a:rPr>
                                  </m:ctrlPr>
                                </m:naryPr>
                                <m:sub/>
                                <m:sup/>
                                <m:e>
                                  <m:r>
                                    <a:rPr lang="en-US" altLang="zh-TW" b="0" i="1">
                                      <a:latin typeface="Cambria Math" panose="02040503050406030204" pitchFamily="18" charset="0"/>
                                    </a:rPr>
                                    <m:t>𝑔</m:t>
                                  </m:r>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m:t>
                                  </m:r>
                                  <m:r>
                                    <a:rPr lang="en-US" altLang="zh-TW" b="0" i="1" dirty="0">
                                      <a:latin typeface="Cambria Math" panose="02040503050406030204" pitchFamily="18" charset="0"/>
                                    </a:rPr>
                                    <m:t>𝑑𝑅</m:t>
                                  </m:r>
                                  <m:r>
                                    <a:rPr lang="en-US" altLang="zh-TW" b="0" i="1" dirty="0" smtClean="0">
                                      <a:latin typeface="Cambria Math" panose="02040503050406030204" pitchFamily="18" charset="0"/>
                                    </a:rPr>
                                    <m:t>=1</m:t>
                                  </m:r>
                                  <m:r>
                                    <a:rPr lang="zh-TW" altLang="en-US" b="0" i="1" dirty="0">
                                      <a:latin typeface="Cambria Math" panose="02040503050406030204" pitchFamily="18" charset="0"/>
                                    </a:rPr>
                                    <m:t> </m:t>
                                  </m:r>
                                  <m:r>
                                    <a:rPr lang="zh-TW" altLang="en-US" b="0" i="1" dirty="0" smtClean="0">
                                      <a:latin typeface="Cambria Math" panose="02040503050406030204" pitchFamily="18" charset="0"/>
                                    </a:rPr>
                                    <m:t>⟹</m:t>
                                  </m:r>
                                  <m:r>
                                    <a:rPr lang="en-US" altLang="zh-TW" b="0" i="1">
                                      <a:latin typeface="Cambria Math" panose="02040503050406030204" pitchFamily="18" charset="0"/>
                                    </a:rPr>
                                    <m:t>𝑔</m:t>
                                  </m:r>
                                  <m:r>
                                    <a:rPr lang="en-US" altLang="zh-TW" b="0" i="1">
                                      <a:latin typeface="Cambria Math" panose="02040503050406030204" pitchFamily="18" charset="0"/>
                                    </a:rPr>
                                    <m:t>′</m:t>
                                  </m:r>
                                  <m:d>
                                    <m:dPr>
                                      <m:ctrlPr>
                                        <a:rPr lang="en-US" altLang="zh-TW" b="0" i="1">
                                          <a:latin typeface="Cambria Math" panose="02040503050406030204" pitchFamily="18" charset="0"/>
                                        </a:rPr>
                                      </m:ctrlPr>
                                    </m:dPr>
                                    <m:e>
                                      <m:r>
                                        <a:rPr lang="en-US" altLang="zh-TW" b="0" i="1">
                                          <a:latin typeface="Cambria Math" panose="02040503050406030204" pitchFamily="18" charset="0"/>
                                        </a:rPr>
                                        <m:t>𝑅</m:t>
                                      </m:r>
                                    </m:e>
                                  </m:d>
                                  <m:r>
                                    <a:rPr lang="zh-TW" altLang="en-US" b="0" i="1" smtClean="0">
                                      <a:latin typeface="Cambria Math" panose="02040503050406030204" pitchFamily="18" charset="0"/>
                                    </a:rPr>
                                    <m:t> </m:t>
                                  </m:r>
                                </m:e>
                              </m:nary>
                            </m:e>
                          </m:nary>
                        </m:e>
                      </m:nary>
                      <m:r>
                        <a:rPr lang="en-US" altLang="zh-TW" b="0" i="1" smtClean="0">
                          <a:latin typeface="Cambria Math" panose="02040503050406030204" pitchFamily="18" charset="0"/>
                        </a:rPr>
                        <m:t>=</m:t>
                      </m:r>
                      <m:r>
                        <a:rPr lang="en-US" altLang="zh-TW" b="0" i="1">
                          <a:latin typeface="Cambria Math" panose="02040503050406030204" pitchFamily="18" charset="0"/>
                        </a:rPr>
                        <m:t>𝑔</m:t>
                      </m:r>
                      <m:d>
                        <m:dPr>
                          <m:ctrlPr>
                            <a:rPr lang="en-US" altLang="zh-TW" b="0" i="1">
                              <a:latin typeface="Cambria Math" panose="02040503050406030204" pitchFamily="18" charset="0"/>
                            </a:rPr>
                          </m:ctrlPr>
                        </m:dPr>
                        <m:e>
                          <m:sSub>
                            <m:sSubPr>
                              <m:ctrlPr>
                                <a:rPr lang="en-US" altLang="zh-TW" b="0" i="1">
                                  <a:latin typeface="Cambria Math" panose="02040503050406030204" pitchFamily="18" charset="0"/>
                                </a:rPr>
                              </m:ctrlPr>
                            </m:sSubPr>
                            <m:e>
                              <m:r>
                                <a:rPr lang="en-US" altLang="zh-TW" b="0" i="1">
                                  <a:latin typeface="Cambria Math" panose="02040503050406030204" pitchFamily="18" charset="0"/>
                                </a:rPr>
                                <m:t>𝑆</m:t>
                              </m:r>
                            </m:e>
                            <m:sub>
                              <m:r>
                                <a:rPr lang="en-US" altLang="zh-TW" b="0" i="1">
                                  <a:latin typeface="Cambria Math" panose="02040503050406030204" pitchFamily="18" charset="0"/>
                                </a:rPr>
                                <m:t>𝑇</m:t>
                              </m:r>
                            </m:sub>
                          </m:sSub>
                        </m:e>
                      </m:d>
                      <m:sSub>
                        <m:sSubPr>
                          <m:ctrlPr>
                            <a:rPr lang="en-US" altLang="zh-TW" b="0" i="1" dirty="0">
                              <a:latin typeface="Cambria Math" panose="02040503050406030204" pitchFamily="18" charset="0"/>
                            </a:rPr>
                          </m:ctrlPr>
                        </m:sSubPr>
                        <m:e>
                          <m:r>
                            <m:rPr>
                              <m:sty m:val="p"/>
                            </m:rPr>
                            <a:rPr lang="en-US" altLang="zh-TW" b="0" i="1" dirty="0">
                              <a:latin typeface="Cambria Math" panose="02040503050406030204" pitchFamily="18" charset="0"/>
                            </a:rPr>
                            <m:t>S</m:t>
                          </m:r>
                        </m:e>
                        <m:sub>
                          <m:r>
                            <a:rPr lang="en-US" altLang="zh-TW" b="0" i="1" dirty="0">
                              <a:latin typeface="Cambria Math" panose="02040503050406030204" pitchFamily="18" charset="0"/>
                            </a:rPr>
                            <m:t>0</m:t>
                          </m:r>
                        </m:sub>
                      </m:sSub>
                      <m:sSup>
                        <m:sSupPr>
                          <m:ctrlPr>
                            <a:rPr lang="en-US" altLang="zh-TW" b="0" i="1" dirty="0">
                              <a:latin typeface="Cambria Math" panose="02040503050406030204" pitchFamily="18" charset="0"/>
                            </a:rPr>
                          </m:ctrlPr>
                        </m:sSupPr>
                        <m:e>
                          <m:r>
                            <m:rPr>
                              <m:sty m:val="p"/>
                            </m:rPr>
                            <a:rPr lang="en-US" altLang="zh-TW" b="0" i="1" dirty="0">
                              <a:latin typeface="Cambria Math" panose="02040503050406030204" pitchFamily="18" charset="0"/>
                            </a:rPr>
                            <m:t>e</m:t>
                          </m:r>
                        </m:e>
                        <m:sup>
                          <m:r>
                            <m:rPr>
                              <m:sty m:val="p"/>
                            </m:rPr>
                            <a:rPr lang="en-US" altLang="zh-TW" b="0" i="1" dirty="0">
                              <a:latin typeface="Cambria Math" panose="02040503050406030204" pitchFamily="18" charset="0"/>
                            </a:rPr>
                            <m:t>R</m:t>
                          </m:r>
                        </m:sup>
                      </m:sSup>
                    </m:oMath>
                  </m:oMathPara>
                </a14:m>
                <a:endParaRPr lang="en-US" altLang="zh-TW" b="0" dirty="0"/>
              </a:p>
            </p:txBody>
          </p:sp>
        </mc:Choice>
        <mc:Fallback xmlns="">
          <p:sp>
            <p:nvSpPr>
              <p:cNvPr id="7" name="內容版面配置區 6">
                <a:extLst>
                  <a:ext uri="{FF2B5EF4-FFF2-40B4-BE49-F238E27FC236}">
                    <a16:creationId xmlns:a16="http://schemas.microsoft.com/office/drawing/2014/main" id="{60AA75CF-7111-E002-BBCD-233B5066F60A}"/>
                  </a:ext>
                </a:extLst>
              </p:cNvPr>
              <p:cNvSpPr>
                <a:spLocks noGrp="1" noRot="1" noChangeAspect="1" noMove="1" noResize="1" noEditPoints="1" noAdjustHandles="1" noChangeArrowheads="1" noChangeShapeType="1" noTextEdit="1"/>
              </p:cNvSpPr>
              <p:nvPr>
                <p:ph sz="quarter" idx="14"/>
              </p:nvPr>
            </p:nvSpPr>
            <p:spPr>
              <a:xfrm>
                <a:off x="310471" y="771395"/>
                <a:ext cx="11682477" cy="5822238"/>
              </a:xfrm>
              <a:blipFill>
                <a:blip r:embed="rId4"/>
                <a:stretch>
                  <a:fillRect l="-574"/>
                </a:stretch>
              </a:blipFill>
            </p:spPr>
            <p:txBody>
              <a:bodyPr/>
              <a:lstStyle/>
              <a:p>
                <a:r>
                  <a:rPr lang="zh-TW" altLang="en-US">
                    <a:noFill/>
                  </a:rPr>
                  <a:t> </a:t>
                </a:r>
              </a:p>
            </p:txBody>
          </p:sp>
        </mc:Fallback>
      </mc:AlternateContent>
      <p:sp>
        <p:nvSpPr>
          <p:cNvPr id="9" name="文字版面配置區 2">
            <a:extLst>
              <a:ext uri="{FF2B5EF4-FFF2-40B4-BE49-F238E27FC236}">
                <a16:creationId xmlns:a16="http://schemas.microsoft.com/office/drawing/2014/main" id="{04A3EF08-96C5-D512-26C5-6692D10C7DB4}"/>
              </a:ext>
            </a:extLst>
          </p:cNvPr>
          <p:cNvSpPr>
            <a:spLocks noGrp="1"/>
          </p:cNvSpPr>
          <p:nvPr>
            <p:ph type="body" sz="quarter" idx="10"/>
          </p:nvPr>
        </p:nvSpPr>
        <p:spPr>
          <a:xfrm>
            <a:off x="2388636" y="202953"/>
            <a:ext cx="9309843" cy="436563"/>
          </a:xfrm>
        </p:spPr>
        <p:txBody>
          <a:bodyPr/>
          <a:lstStyle/>
          <a:p>
            <a:r>
              <a:rPr lang="zh-TW" altLang="en-US" dirty="0"/>
              <a:t>神經網路選擇權價格預測模型</a:t>
            </a:r>
            <a:r>
              <a:rPr lang="en-US" altLang="zh-TW" dirty="0"/>
              <a:t>—CV Model</a:t>
            </a:r>
          </a:p>
          <a:p>
            <a:endParaRPr lang="zh-TW" altLang="en-US" dirty="0"/>
          </a:p>
        </p:txBody>
      </p:sp>
      <p:sp>
        <p:nvSpPr>
          <p:cNvPr id="10" name="內容版面配置區 3">
            <a:extLst>
              <a:ext uri="{FF2B5EF4-FFF2-40B4-BE49-F238E27FC236}">
                <a16:creationId xmlns:a16="http://schemas.microsoft.com/office/drawing/2014/main" id="{FA63DD2B-65A4-C1EE-44B5-E8C7AF07CECF}"/>
              </a:ext>
            </a:extLst>
          </p:cNvPr>
          <p:cNvSpPr>
            <a:spLocks noGrp="1"/>
          </p:cNvSpPr>
          <p:nvPr>
            <p:ph sz="quarter" idx="11"/>
          </p:nvPr>
        </p:nvSpPr>
        <p:spPr>
          <a:xfrm>
            <a:off x="1268267" y="200314"/>
            <a:ext cx="1120369" cy="436564"/>
          </a:xfrm>
        </p:spPr>
        <p:txBody>
          <a:bodyPr/>
          <a:lstStyle/>
          <a:p>
            <a:r>
              <a:rPr lang="en-US" altLang="zh-TW" dirty="0"/>
              <a:t>2.1.2</a:t>
            </a:r>
            <a:endParaRPr lang="zh-TW" altLang="en-US" dirty="0"/>
          </a:p>
        </p:txBody>
      </p:sp>
    </p:spTree>
    <p:extLst>
      <p:ext uri="{BB962C8B-B14F-4D97-AF65-F5344CB8AC3E}">
        <p14:creationId xmlns:p14="http://schemas.microsoft.com/office/powerpoint/2010/main" val="356143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064EA-23B1-35C7-98B9-450F7FFCC652}"/>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329C98F-5EBF-4FE6-F4C4-7FF3BAC853BF}"/>
              </a:ext>
            </a:extLst>
          </p:cNvPr>
          <p:cNvSpPr>
            <a:spLocks noGrp="1"/>
          </p:cNvSpPr>
          <p:nvPr>
            <p:ph sz="quarter" idx="10"/>
          </p:nvPr>
        </p:nvSpPr>
        <p:spPr/>
        <p:txBody>
          <a:bodyPr/>
          <a:lstStyle/>
          <a:p>
            <a:pPr>
              <a:buFont typeface="+mj-lt"/>
              <a:buAutoNum type="arabicPeriod" startAt="2"/>
            </a:pPr>
            <a:r>
              <a:rPr lang="zh-TW" altLang="en-US" dirty="0"/>
              <a:t> 實驗結果</a:t>
            </a:r>
          </a:p>
        </p:txBody>
      </p:sp>
    </p:spTree>
    <p:extLst>
      <p:ext uri="{BB962C8B-B14F-4D97-AF65-F5344CB8AC3E}">
        <p14:creationId xmlns:p14="http://schemas.microsoft.com/office/powerpoint/2010/main" val="536800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61FE1CB3-9DAB-B376-04B6-E7A48E77650F}"/>
              </a:ext>
            </a:extLst>
          </p:cNvPr>
          <p:cNvSpPr>
            <a:spLocks noGrp="1"/>
          </p:cNvSpPr>
          <p:nvPr>
            <p:ph sz="quarter" idx="10"/>
          </p:nvPr>
        </p:nvSpPr>
        <p:spPr>
          <a:xfrm>
            <a:off x="5600644" y="2843357"/>
            <a:ext cx="5471682" cy="1171286"/>
          </a:xfrm>
        </p:spPr>
        <p:txBody>
          <a:bodyPr/>
          <a:lstStyle/>
          <a:p>
            <a:pPr>
              <a:buFont typeface="Wingdings" panose="05000000000000000000" pitchFamily="2" charset="2"/>
              <a:buAutoNum type="circleNumWdWhitePlain"/>
            </a:pPr>
            <a:r>
              <a:rPr lang="en-US" altLang="zh-TW" dirty="0"/>
              <a:t>CDI</a:t>
            </a:r>
            <a:r>
              <a:rPr lang="zh-TW" altLang="en-US" dirty="0"/>
              <a:t>方法 復現實驗</a:t>
            </a:r>
            <a:endParaRPr lang="en-US" altLang="zh-TW" dirty="0"/>
          </a:p>
        </p:txBody>
      </p:sp>
    </p:spTree>
    <p:extLst>
      <p:ext uri="{BB962C8B-B14F-4D97-AF65-F5344CB8AC3E}">
        <p14:creationId xmlns:p14="http://schemas.microsoft.com/office/powerpoint/2010/main" val="3598614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AD65C7DF-B317-FE87-C6EB-6C1B71F0F933}"/>
              </a:ext>
            </a:extLst>
          </p:cNvPr>
          <p:cNvSpPr>
            <a:spLocks noGrp="1"/>
          </p:cNvSpPr>
          <p:nvPr>
            <p:ph type="body" sz="quarter" idx="10"/>
          </p:nvPr>
        </p:nvSpPr>
        <p:spPr>
          <a:xfrm>
            <a:off x="2309880" y="200315"/>
            <a:ext cx="5840413" cy="436563"/>
          </a:xfrm>
        </p:spPr>
        <p:txBody>
          <a:bodyPr/>
          <a:lstStyle/>
          <a:p>
            <a:r>
              <a:rPr lang="en-US" altLang="zh-TW" dirty="0"/>
              <a:t>CDI</a:t>
            </a:r>
            <a:r>
              <a:rPr lang="zh-TW" altLang="en-US" dirty="0"/>
              <a:t>方法 復現實驗</a:t>
            </a:r>
            <a:endParaRPr lang="en-US" altLang="zh-TW" dirty="0"/>
          </a:p>
          <a:p>
            <a:endParaRPr lang="zh-TW" altLang="en-US" dirty="0"/>
          </a:p>
        </p:txBody>
      </p:sp>
      <p:sp>
        <p:nvSpPr>
          <p:cNvPr id="4" name="內容版面配置區 3">
            <a:extLst>
              <a:ext uri="{FF2B5EF4-FFF2-40B4-BE49-F238E27FC236}">
                <a16:creationId xmlns:a16="http://schemas.microsoft.com/office/drawing/2014/main" id="{EACC874D-EC2E-8980-18D4-850101C894A6}"/>
              </a:ext>
            </a:extLst>
          </p:cNvPr>
          <p:cNvSpPr>
            <a:spLocks noGrp="1"/>
          </p:cNvSpPr>
          <p:nvPr>
            <p:ph sz="quarter" idx="11"/>
          </p:nvPr>
        </p:nvSpPr>
        <p:spPr>
          <a:xfrm>
            <a:off x="1268267" y="200314"/>
            <a:ext cx="1188793" cy="436564"/>
          </a:xfrm>
        </p:spPr>
        <p:txBody>
          <a:bodyPr/>
          <a:lstStyle/>
          <a:p>
            <a:r>
              <a:rPr lang="en-US" altLang="zh-TW" dirty="0"/>
              <a:t>2.2.1</a:t>
            </a:r>
            <a:endParaRPr lang="zh-TW" alt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4EDC3D3D-E4F1-6FB9-ED32-9FD0D9F87FB8}"/>
                  </a:ext>
                </a:extLst>
              </p:cNvPr>
              <p:cNvSpPr txBox="1"/>
              <p:nvPr/>
            </p:nvSpPr>
            <p:spPr>
              <a:xfrm>
                <a:off x="273001" y="939283"/>
                <a:ext cx="11775929" cy="4555093"/>
              </a:xfrm>
              <a:prstGeom prst="rect">
                <a:avLst/>
              </a:prstGeom>
              <a:noFill/>
            </p:spPr>
            <p:txBody>
              <a:bodyPr wrap="square" rtlCol="0">
                <a:spAutoFit/>
              </a:bodyPr>
              <a:lstStyle/>
              <a:p>
                <a:pPr marL="285750" indent="-285750">
                  <a:lnSpc>
                    <a:spcPct val="150000"/>
                  </a:lnSpc>
                  <a:buClr>
                    <a:schemeClr val="accent1"/>
                  </a:buClr>
                  <a:buFont typeface="Arial" panose="020B0604020202020204" pitchFamily="34" charset="0"/>
                  <a:buChar char="•"/>
                </a:pP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OptionMetrics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1996</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月至</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2014</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12</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月的每日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S&amp;P 500 </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指數資料與指數選擇權資料</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嘗試使用距到期日為</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22</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個交易日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14:m>
                  <m:oMath xmlns:m="http://schemas.openxmlformats.org/officeDocument/2006/math">
                    <m:r>
                      <a:rPr lang="zh-TW" altLang="en-US" sz="2000" i="1" dirty="0" smtClean="0">
                        <a:solidFill>
                          <a:schemeClr val="tx2"/>
                        </a:solidFill>
                        <a:latin typeface="Cambria Math" panose="02040503050406030204" pitchFamily="18" charset="0"/>
                        <a:ea typeface="Microsoft JhengHei" panose="020B0604030504040204" pitchFamily="34" charset="-120"/>
                        <a:cs typeface="+mn-ea"/>
                      </a:rPr>
                      <m:t>𝜏</m:t>
                    </m:r>
                  </m:oMath>
                </a14:m>
                <a:r>
                  <a:rPr lang="en-US" altLang="zh-TW" sz="2000" dirty="0">
                    <a:solidFill>
                      <a:schemeClr val="tx2"/>
                    </a:solidFill>
                    <a:latin typeface="Microsoft JhengHei" panose="020B0604030504040204" pitchFamily="34" charset="-120"/>
                    <a:ea typeface="Microsoft JhengHei" panose="020B0604030504040204" pitchFamily="34" charset="-120"/>
                    <a:cs typeface="+mn-ea"/>
                  </a:rPr>
                  <a:t> =22)</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之選擇權數據，共</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228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個月份的選擇權資料</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datasize</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=228)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，復現</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Linn et al.(2017)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原始實驗，估計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2015-01-07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之定價核</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en-US" altLang="zh-TW" sz="2000" dirty="0">
                    <a:solidFill>
                      <a:schemeClr val="tx2"/>
                    </a:solidFill>
                    <a:latin typeface="Microsoft JhengHei" panose="020B0604030504040204" pitchFamily="34" charset="-120"/>
                    <a:ea typeface="Microsoft JhengHei" panose="020B0604030504040204" pitchFamily="34" charset="-120"/>
                    <a:cs typeface="+mn-ea"/>
                  </a:rPr>
                  <a:t>Linn et al.(2017)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原設定</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base</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4~9</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，本實驗延伸至</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4~20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30</a:t>
                </a: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定價核倒數對風險中立密度函數進行積分應服從</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[0,1]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均勻分布</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使用</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Kolmogorov Smirnov </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檢定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(KS Test)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定價核估計結果是否服從此性質，作為實驗結果優劣標準</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799465" lvl="1" indent="-34290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信心水準</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5%</a:t>
                </a:r>
              </a:p>
              <a:p>
                <a:pPr lvl="2">
                  <a:lnSpc>
                    <a:spcPct val="150000"/>
                  </a:lnSpc>
                  <a:buClr>
                    <a:schemeClr val="accent1"/>
                  </a:buClr>
                </a:pPr>
                <a14:m>
                  <m:oMath xmlns:m="http://schemas.openxmlformats.org/officeDocument/2006/math">
                    <m:r>
                      <m:rPr>
                        <m:sty m:val="p"/>
                      </m:rPr>
                      <a:rPr lang="en-US" altLang="zh-TW" sz="2000" i="1" dirty="0">
                        <a:solidFill>
                          <a:schemeClr val="tx2"/>
                        </a:solidFill>
                        <a:latin typeface="Cambria Math" panose="02040503050406030204" pitchFamily="18" charset="0"/>
                        <a:ea typeface="Microsoft JhengHei" panose="020B0604030504040204" pitchFamily="34" charset="-120"/>
                        <a:cs typeface="+mn-ea"/>
                      </a:rPr>
                      <m:t>P</m:t>
                    </m:r>
                    <m:r>
                      <a:rPr lang="en-US" altLang="zh-TW" sz="2000" i="1" dirty="0">
                        <a:solidFill>
                          <a:schemeClr val="tx2"/>
                        </a:solidFill>
                        <a:latin typeface="Cambria Math" panose="02040503050406030204" pitchFamily="18" charset="0"/>
                        <a:ea typeface="Microsoft JhengHei" panose="020B0604030504040204" pitchFamily="34" charset="-120"/>
                        <a:cs typeface="+mn-ea"/>
                      </a:rPr>
                      <m:t>−</m:t>
                    </m:r>
                    <m:r>
                      <m:rPr>
                        <m:sty m:val="p"/>
                      </m:rPr>
                      <a:rPr lang="en-US" altLang="zh-TW" sz="2000" i="1" dirty="0">
                        <a:solidFill>
                          <a:schemeClr val="tx2"/>
                        </a:solidFill>
                        <a:latin typeface="Cambria Math" panose="02040503050406030204" pitchFamily="18" charset="0"/>
                        <a:ea typeface="Microsoft JhengHei" panose="020B0604030504040204" pitchFamily="34" charset="-120"/>
                        <a:cs typeface="+mn-ea"/>
                      </a:rPr>
                      <m:t>Value</m:t>
                    </m:r>
                    <m:r>
                      <a:rPr lang="en-US" altLang="zh-TW" sz="2000" i="1" dirty="0">
                        <a:solidFill>
                          <a:schemeClr val="tx2"/>
                        </a:solidFill>
                        <a:latin typeface="Cambria Math" panose="02040503050406030204" pitchFamily="18" charset="0"/>
                        <a:ea typeface="Cambria Math" panose="02040503050406030204" pitchFamily="18" charset="0"/>
                        <a:cs typeface="+mn-ea"/>
                      </a:rPr>
                      <m:t>&lt;0.05</m:t>
                    </m:r>
                    <m:r>
                      <a:rPr lang="zh-TW" altLang="en-US" sz="2000" i="1" dirty="0">
                        <a:solidFill>
                          <a:schemeClr val="tx2"/>
                        </a:solidFill>
                        <a:latin typeface="Cambria Math" panose="02040503050406030204" pitchFamily="18" charset="0"/>
                        <a:ea typeface="Cambria Math" panose="02040503050406030204" pitchFamily="18" charset="0"/>
                        <a:cs typeface="+mn-ea"/>
                      </a:rPr>
                      <m:t>：</m:t>
                    </m:r>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顯著異於</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[0,1]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均勻分布</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lvl="2">
                  <a:lnSpc>
                    <a:spcPct val="150000"/>
                  </a:lnSpc>
                  <a:buClr>
                    <a:schemeClr val="accent1"/>
                  </a:buClr>
                </a:pPr>
                <a14:m>
                  <m:oMath xmlns:m="http://schemas.openxmlformats.org/officeDocument/2006/math">
                    <m:r>
                      <m:rPr>
                        <m:sty m:val="p"/>
                      </m:rPr>
                      <a:rPr lang="en-US" altLang="zh-TW" sz="2000" i="1" dirty="0">
                        <a:solidFill>
                          <a:schemeClr val="tx2"/>
                        </a:solidFill>
                        <a:latin typeface="Cambria Math" panose="02040503050406030204" pitchFamily="18" charset="0"/>
                        <a:ea typeface="Microsoft JhengHei" panose="020B0604030504040204" pitchFamily="34" charset="-120"/>
                        <a:cs typeface="+mn-ea"/>
                      </a:rPr>
                      <m:t>P</m:t>
                    </m:r>
                    <m:r>
                      <a:rPr lang="en-US" altLang="zh-TW" sz="2000" i="1" dirty="0">
                        <a:solidFill>
                          <a:schemeClr val="tx2"/>
                        </a:solidFill>
                        <a:latin typeface="Cambria Math" panose="02040503050406030204" pitchFamily="18" charset="0"/>
                        <a:ea typeface="Microsoft JhengHei" panose="020B0604030504040204" pitchFamily="34" charset="-120"/>
                        <a:cs typeface="+mn-ea"/>
                      </a:rPr>
                      <m:t>−</m:t>
                    </m:r>
                    <m:r>
                      <m:rPr>
                        <m:sty m:val="p"/>
                      </m:rPr>
                      <a:rPr lang="en-US" altLang="zh-TW" sz="2000" i="1" dirty="0">
                        <a:solidFill>
                          <a:schemeClr val="tx2"/>
                        </a:solidFill>
                        <a:latin typeface="Cambria Math" panose="02040503050406030204" pitchFamily="18" charset="0"/>
                        <a:ea typeface="Microsoft JhengHei" panose="020B0604030504040204" pitchFamily="34" charset="-120"/>
                        <a:cs typeface="+mn-ea"/>
                      </a:rPr>
                      <m:t>Value</m:t>
                    </m:r>
                    <m:r>
                      <a:rPr lang="en-US" altLang="zh-TW" sz="2000" i="1" dirty="0">
                        <a:solidFill>
                          <a:schemeClr val="tx2"/>
                        </a:solidFill>
                        <a:latin typeface="Cambria Math" panose="02040503050406030204" pitchFamily="18" charset="0"/>
                        <a:ea typeface="Cambria Math" panose="02040503050406030204" pitchFamily="18" charset="0"/>
                        <a:cs typeface="+mn-ea"/>
                      </a:rPr>
                      <m:t>≥0.05</m:t>
                    </m:r>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：無法顯著拒絕服從</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[0,1]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均勻分布</a:t>
                </a:r>
              </a:p>
              <a:p>
                <a:pPr marL="285750" indent="-285750">
                  <a:buClr>
                    <a:schemeClr val="accent1"/>
                  </a:buClr>
                  <a:buFont typeface="Arial" panose="020B0604020202020204" pitchFamily="34" charset="0"/>
                  <a:buChar char="•"/>
                </a:pP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Choice>
        <mc:Fallback xmlns="">
          <p:sp>
            <p:nvSpPr>
              <p:cNvPr id="5" name="文字方塊 4">
                <a:extLst>
                  <a:ext uri="{FF2B5EF4-FFF2-40B4-BE49-F238E27FC236}">
                    <a16:creationId xmlns:a16="http://schemas.microsoft.com/office/drawing/2014/main" id="{4EDC3D3D-E4F1-6FB9-ED32-9FD0D9F87FB8}"/>
                  </a:ext>
                </a:extLst>
              </p:cNvPr>
              <p:cNvSpPr txBox="1">
                <a:spLocks noRot="1" noChangeAspect="1" noMove="1" noResize="1" noEditPoints="1" noAdjustHandles="1" noChangeArrowheads="1" noChangeShapeType="1" noTextEdit="1"/>
              </p:cNvSpPr>
              <p:nvPr/>
            </p:nvSpPr>
            <p:spPr>
              <a:xfrm>
                <a:off x="273001" y="939283"/>
                <a:ext cx="11775929" cy="4555093"/>
              </a:xfrm>
              <a:prstGeom prst="rect">
                <a:avLst/>
              </a:prstGeom>
              <a:blipFill>
                <a:blip r:embed="rId3"/>
                <a:stretch>
                  <a:fillRect l="-46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151F968E-4726-CF20-8B4A-31C06D9823BA}"/>
                  </a:ext>
                </a:extLst>
              </p:cNvPr>
              <p:cNvSpPr txBox="1"/>
              <p:nvPr/>
            </p:nvSpPr>
            <p:spPr>
              <a:xfrm>
                <a:off x="2016158" y="5331488"/>
                <a:ext cx="9752107" cy="1326197"/>
              </a:xfrm>
              <a:prstGeom prst="rect">
                <a:avLst/>
              </a:prstGeom>
              <a:noFill/>
            </p:spPr>
            <p:txBody>
              <a:bodyPr wrap="square" rtlCol="0">
                <a:spAutoFit/>
              </a:bodyPr>
              <a:lstStyle/>
              <a:p>
                <a14:m>
                  <m:oMath xmlns:m="http://schemas.openxmlformats.org/officeDocument/2006/math">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a:rPr lang="en-US" altLang="zh-TW" sz="2000" i="1">
                            <a:solidFill>
                              <a:schemeClr val="tx2"/>
                            </a:solidFill>
                            <a:latin typeface="Cambria Math" panose="02040503050406030204" pitchFamily="18" charset="0"/>
                          </a:rPr>
                          <m:t>𝑃</m:t>
                        </m:r>
                      </m:sup>
                    </m:sSup>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oMath>
                </a14:m>
                <a:r>
                  <a:rPr lang="en-US" altLang="zh-TW" sz="2000" i="1" dirty="0">
                    <a:solidFill>
                      <a:schemeClr val="tx2"/>
                    </a:solidFill>
                    <a:latin typeface="Cambria Math" panose="02040503050406030204" pitchFamily="18" charset="0"/>
                  </a:rPr>
                  <a:t>~</a:t>
                </a:r>
                <a14:m>
                  <m:oMath xmlns:m="http://schemas.openxmlformats.org/officeDocument/2006/math">
                    <m:r>
                      <m:rPr>
                        <m:sty m:val="p"/>
                      </m:rPr>
                      <a:rPr lang="en-US" altLang="zh-TW" sz="2000" i="1" dirty="0">
                        <a:solidFill>
                          <a:schemeClr val="tx2"/>
                        </a:solidFill>
                        <a:latin typeface="Cambria Math" panose="02040503050406030204" pitchFamily="18" charset="0"/>
                      </a:rPr>
                      <m:t>U</m:t>
                    </m:r>
                    <m:d>
                      <m:dPr>
                        <m:begChr m:val="["/>
                        <m:endChr m:val="]"/>
                        <m:ctrlPr>
                          <a:rPr lang="en-US" altLang="zh-TW" sz="2000" i="1" dirty="0">
                            <a:solidFill>
                              <a:schemeClr val="tx2"/>
                            </a:solidFill>
                            <a:latin typeface="Cambria Math" panose="02040503050406030204" pitchFamily="18" charset="0"/>
                          </a:rPr>
                        </m:ctrlPr>
                      </m:dPr>
                      <m:e>
                        <m:r>
                          <a:rPr lang="en-US" altLang="zh-TW" sz="2000" i="1" dirty="0">
                            <a:solidFill>
                              <a:schemeClr val="tx2"/>
                            </a:solidFill>
                            <a:latin typeface="Cambria Math" panose="02040503050406030204" pitchFamily="18" charset="0"/>
                          </a:rPr>
                          <m:t>0,1</m:t>
                        </m:r>
                      </m:e>
                    </m:d>
                  </m:oMath>
                </a14:m>
                <a:r>
                  <a:rPr lang="zh-TW" altLang="en-US" sz="2000" i="1" dirty="0">
                    <a:solidFill>
                      <a:schemeClr val="tx2"/>
                    </a:solidFill>
                    <a:latin typeface="Cambria Math" panose="02040503050406030204" pitchFamily="18" charset="0"/>
                  </a:rPr>
                  <a:t>    </a:t>
                </a:r>
                <a:r>
                  <a:rPr lang="zh-TW" altLang="en-US" sz="2000" dirty="0">
                    <a:solidFill>
                      <a:schemeClr val="tx2"/>
                    </a:solidFill>
                  </a:rPr>
                  <a:t>→</a:t>
                </a:r>
                <a:r>
                  <a:rPr lang="zh-TW" altLang="en-US" sz="2000" i="1" dirty="0">
                    <a:solidFill>
                      <a:schemeClr val="tx2"/>
                    </a:solidFill>
                    <a:latin typeface="Cambria Math" panose="02040503050406030204" pitchFamily="18" charset="0"/>
                  </a:rPr>
                  <a:t>    </a:t>
                </a:r>
                <a14:m>
                  <m:oMath xmlns:m="http://schemas.openxmlformats.org/officeDocument/2006/math">
                    <m:nary>
                      <m:naryPr>
                        <m:ctrlPr>
                          <a:rPr lang="zh-TW" altLang="en-US" sz="2000" i="1">
                            <a:solidFill>
                              <a:schemeClr val="tx2"/>
                            </a:solidFill>
                            <a:latin typeface="Cambria Math" panose="02040503050406030204" pitchFamily="18" charset="0"/>
                          </a:rPr>
                        </m:ctrlPr>
                      </m:naryPr>
                      <m:sub>
                        <m:r>
                          <m:rPr>
                            <m:brk m:alnAt="23"/>
                          </m:rPr>
                          <a:rPr lang="en-US" altLang="zh-TW" sz="2000" i="1">
                            <a:solidFill>
                              <a:schemeClr val="tx2"/>
                            </a:solidFill>
                            <a:latin typeface="Cambria Math" panose="02040503050406030204" pitchFamily="18" charset="0"/>
                          </a:rPr>
                          <m:t>−</m:t>
                        </m:r>
                        <m:r>
                          <a:rPr lang="en-US" altLang="zh-TW" sz="2000" i="1">
                            <a:solidFill>
                              <a:schemeClr val="tx2"/>
                            </a:solidFill>
                            <a:latin typeface="Cambria Math" panose="02040503050406030204" pitchFamily="18" charset="0"/>
                          </a:rPr>
                          <m:t>∞</m:t>
                        </m:r>
                      </m:sub>
                      <m:sup>
                        <m:sSub>
                          <m:sSubPr>
                            <m:ctrlPr>
                              <a:rPr lang="en-US" altLang="zh-TW" sz="2000" i="1">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sup>
                      <m:e>
                        <m:r>
                          <a:rPr lang="en-US" altLang="zh-TW" sz="2000" i="1">
                            <a:solidFill>
                              <a:schemeClr val="tx2"/>
                            </a:solidFill>
                            <a:latin typeface="Cambria Math" panose="02040503050406030204" pitchFamily="18" charset="0"/>
                          </a:rPr>
                          <m:t>𝑑</m:t>
                        </m:r>
                        <m:sSup>
                          <m:sSupPr>
                            <m:ctrlPr>
                              <a:rPr lang="en-US" altLang="zh-TW" sz="2000" i="1">
                                <a:solidFill>
                                  <a:schemeClr val="tx2"/>
                                </a:solidFill>
                                <a:latin typeface="Cambria Math" panose="02040503050406030204" pitchFamily="18" charset="0"/>
                              </a:rPr>
                            </m:ctrlPr>
                          </m:sSupPr>
                          <m:e>
                            <m:r>
                              <a:rPr lang="zh-TW" altLang="en-US" sz="2000" i="1">
                                <a:solidFill>
                                  <a:schemeClr val="tx2"/>
                                </a:solidFill>
                                <a:latin typeface="Cambria Math" panose="02040503050406030204" pitchFamily="18" charset="0"/>
                              </a:rPr>
                              <m:t>𝔽</m:t>
                            </m:r>
                          </m:e>
                          <m:sup>
                            <m:r>
                              <a:rPr lang="en-US" altLang="zh-TW" sz="2000" i="1">
                                <a:solidFill>
                                  <a:schemeClr val="tx2"/>
                                </a:solidFill>
                                <a:latin typeface="Cambria Math" panose="02040503050406030204" pitchFamily="18" charset="0"/>
                              </a:rPr>
                              <m:t>𝑃</m:t>
                            </m:r>
                          </m:sup>
                        </m:sSup>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b="0" i="1">
                                <a:solidFill>
                                  <a:schemeClr val="tx2"/>
                                </a:solidFill>
                                <a:latin typeface="Cambria Math" panose="02040503050406030204" pitchFamily="18" charset="0"/>
                              </a:rPr>
                              <m:t>𝑥</m:t>
                            </m:r>
                          </m:e>
                          <m:sub>
                            <m:r>
                              <a:rPr lang="en-US" altLang="zh-TW" sz="2000" b="0" i="1">
                                <a:solidFill>
                                  <a:schemeClr val="tx2"/>
                                </a:solidFill>
                                <a:latin typeface="Cambria Math" panose="02040503050406030204" pitchFamily="18" charset="0"/>
                              </a:rPr>
                              <m:t>𝑡</m:t>
                            </m:r>
                            <m:r>
                              <a:rPr lang="en-US" altLang="zh-TW" sz="2000" b="0" i="1">
                                <a:solidFill>
                                  <a:schemeClr val="tx2"/>
                                </a:solidFill>
                                <a:latin typeface="Cambria Math" panose="02040503050406030204" pitchFamily="18" charset="0"/>
                              </a:rPr>
                              <m:t>+</m:t>
                            </m:r>
                            <m:r>
                              <a:rPr lang="zh-TW" altLang="en-US" sz="2000" b="0" i="1">
                                <a:solidFill>
                                  <a:schemeClr val="tx2"/>
                                </a:solidFill>
                                <a:latin typeface="Cambria Math" panose="02040503050406030204" pitchFamily="18" charset="0"/>
                              </a:rPr>
                              <m:t>𝜏</m:t>
                            </m:r>
                          </m:sub>
                        </m:sSub>
                        <m:r>
                          <a:rPr lang="en-US" altLang="zh-TW" sz="2000" i="1">
                            <a:solidFill>
                              <a:schemeClr val="tx2"/>
                            </a:solidFill>
                            <a:latin typeface="Cambria Math" panose="02040503050406030204" pitchFamily="18" charset="0"/>
                          </a:rPr>
                          <m:t>|</m:t>
                        </m:r>
                        <m:sSub>
                          <m:sSubPr>
                            <m:ctrlPr>
                              <a:rPr lang="en-US" altLang="zh-TW" sz="2000" i="1">
                                <a:solidFill>
                                  <a:schemeClr val="tx2"/>
                                </a:solidFill>
                                <a:latin typeface="Cambria Math" panose="02040503050406030204" pitchFamily="18" charset="0"/>
                              </a:rPr>
                            </m:ctrlPr>
                          </m:sSubPr>
                          <m:e>
                            <m:r>
                              <a:rPr lang="en-US" altLang="zh-TW" sz="2000" i="1">
                                <a:solidFill>
                                  <a:schemeClr val="tx2"/>
                                </a:solidFill>
                                <a:latin typeface="Cambria Math" panose="02040503050406030204" pitchFamily="18" charset="0"/>
                              </a:rPr>
                              <m:t>ℱ</m:t>
                            </m:r>
                          </m:e>
                          <m:sub>
                            <m:r>
                              <a:rPr lang="en-US" altLang="zh-TW" sz="2000" i="1">
                                <a:solidFill>
                                  <a:schemeClr val="tx2"/>
                                </a:solidFill>
                                <a:latin typeface="Cambria Math" panose="02040503050406030204" pitchFamily="18" charset="0"/>
                              </a:rPr>
                              <m:t>𝑡</m:t>
                            </m:r>
                          </m:sub>
                        </m:sSub>
                        <m:r>
                          <a:rPr lang="en-US" altLang="zh-TW" sz="2000" i="1">
                            <a:solidFill>
                              <a:schemeClr val="tx2"/>
                            </a:solidFill>
                            <a:latin typeface="Cambria Math" panose="02040503050406030204" pitchFamily="18" charset="0"/>
                          </a:rPr>
                          <m:t>)</m:t>
                        </m:r>
                      </m:e>
                    </m:nary>
                    <m:r>
                      <m:rPr>
                        <m:nor/>
                      </m:rPr>
                      <a:rPr lang="en-US" altLang="zh-TW" sz="2000" i="1" dirty="0">
                        <a:solidFill>
                          <a:schemeClr val="tx2"/>
                        </a:solidFill>
                        <a:latin typeface="Cambria Math" panose="02040503050406030204" pitchFamily="18" charset="0"/>
                      </a:rPr>
                      <m:t>~</m:t>
                    </m:r>
                    <m:r>
                      <m:rPr>
                        <m:sty m:val="p"/>
                      </m:rPr>
                      <a:rPr lang="en-US" altLang="zh-TW" sz="2000" i="1" dirty="0">
                        <a:solidFill>
                          <a:schemeClr val="tx2"/>
                        </a:solidFill>
                        <a:latin typeface="Cambria Math" panose="02040503050406030204" pitchFamily="18" charset="0"/>
                      </a:rPr>
                      <m:t>U</m:t>
                    </m:r>
                    <m:d>
                      <m:dPr>
                        <m:begChr m:val="["/>
                        <m:endChr m:val="]"/>
                        <m:ctrlPr>
                          <a:rPr lang="en-US" altLang="zh-TW" sz="2000" i="1" dirty="0">
                            <a:solidFill>
                              <a:schemeClr val="tx2"/>
                            </a:solidFill>
                            <a:latin typeface="Cambria Math" panose="02040503050406030204" pitchFamily="18" charset="0"/>
                          </a:rPr>
                        </m:ctrlPr>
                      </m:dPr>
                      <m:e>
                        <m:r>
                          <a:rPr lang="en-US" altLang="zh-TW" sz="2000" i="1" dirty="0">
                            <a:solidFill>
                              <a:schemeClr val="tx2"/>
                            </a:solidFill>
                            <a:latin typeface="Cambria Math" panose="02040503050406030204" pitchFamily="18" charset="0"/>
                          </a:rPr>
                          <m:t>0,1</m:t>
                        </m:r>
                      </m:e>
                    </m:d>
                  </m:oMath>
                </a14:m>
                <a:endParaRPr lang="en-US" altLang="zh-TW" sz="2000" i="1" dirty="0">
                  <a:solidFill>
                    <a:schemeClr val="tx2"/>
                  </a:solidFill>
                  <a:latin typeface="Cambria Math" panose="02040503050406030204" pitchFamily="18" charset="0"/>
                </a:endParaRPr>
              </a:p>
              <a:p>
                <a:pPr marL="2330450">
                  <a:lnSpc>
                    <a:spcPct val="150000"/>
                  </a:lnSpc>
                </a:pPr>
                <a:r>
                  <a:rPr lang="zh-TW" altLang="en-US" sz="2000" dirty="0">
                    <a:solidFill>
                      <a:schemeClr val="tx2"/>
                    </a:solidFill>
                  </a:rPr>
                  <a:t> →   </a:t>
                </a:r>
                <a14:m>
                  <m:oMath xmlns:m="http://schemas.openxmlformats.org/officeDocument/2006/math">
                    <m:nary>
                      <m:naryPr>
                        <m:ctrlPr>
                          <a:rPr lang="zh-TW" altLang="en-US" sz="2000" b="1" i="1" smtClean="0">
                            <a:solidFill>
                              <a:srgbClr val="FF0000"/>
                            </a:solidFill>
                            <a:latin typeface="Cambria Math" panose="02040503050406030204" pitchFamily="18" charset="0"/>
                          </a:rPr>
                        </m:ctrlPr>
                      </m:naryPr>
                      <m:sub>
                        <m:r>
                          <m:rPr>
                            <m:brk m:alnAt="23"/>
                          </m:rPr>
                          <a:rPr lang="en-US" altLang="zh-TW" sz="2000" b="1" i="1">
                            <a:solidFill>
                              <a:srgbClr val="FF0000"/>
                            </a:solidFill>
                            <a:latin typeface="Cambria Math" panose="02040503050406030204" pitchFamily="18" charset="0"/>
                          </a:rPr>
                          <m:t>−</m:t>
                        </m:r>
                        <m:r>
                          <a:rPr lang="en-US" altLang="zh-TW" sz="2000" b="1" i="1">
                            <a:solidFill>
                              <a:srgbClr val="FF0000"/>
                            </a:solidFill>
                            <a:latin typeface="Cambria Math" panose="02040503050406030204" pitchFamily="18" charset="0"/>
                          </a:rPr>
                          <m:t>∞</m:t>
                        </m:r>
                      </m:sub>
                      <m:sup>
                        <m:sSub>
                          <m:sSubPr>
                            <m:ctrlPr>
                              <a:rPr lang="en-US" altLang="zh-TW" sz="2000" b="1" i="1">
                                <a:solidFill>
                                  <a:srgbClr val="FF0000"/>
                                </a:solidFill>
                                <a:latin typeface="Cambria Math" panose="02040503050406030204" pitchFamily="18" charset="0"/>
                              </a:rPr>
                            </m:ctrlPr>
                          </m:sSubPr>
                          <m:e>
                            <m:r>
                              <a:rPr lang="en-US" altLang="zh-TW" sz="2000" b="1" i="1">
                                <a:solidFill>
                                  <a:srgbClr val="FF0000"/>
                                </a:solidFill>
                                <a:latin typeface="Cambria Math" panose="02040503050406030204" pitchFamily="18" charset="0"/>
                              </a:rPr>
                              <m:t>𝒙</m:t>
                            </m:r>
                          </m:e>
                          <m:sub>
                            <m:r>
                              <a:rPr lang="en-US" altLang="zh-TW" sz="2000" b="1" i="1">
                                <a:solidFill>
                                  <a:srgbClr val="FF0000"/>
                                </a:solidFill>
                                <a:latin typeface="Cambria Math" panose="02040503050406030204" pitchFamily="18" charset="0"/>
                              </a:rPr>
                              <m:t>𝒕</m:t>
                            </m:r>
                            <m:r>
                              <a:rPr lang="en-US" altLang="zh-TW" sz="2000" b="1" i="1">
                                <a:solidFill>
                                  <a:srgbClr val="FF0000"/>
                                </a:solidFill>
                                <a:latin typeface="Cambria Math" panose="02040503050406030204" pitchFamily="18" charset="0"/>
                              </a:rPr>
                              <m:t>+</m:t>
                            </m:r>
                            <m:r>
                              <a:rPr lang="zh-TW" altLang="en-US" sz="2000" b="1" i="1">
                                <a:solidFill>
                                  <a:srgbClr val="FF0000"/>
                                </a:solidFill>
                                <a:latin typeface="Cambria Math" panose="02040503050406030204" pitchFamily="18" charset="0"/>
                              </a:rPr>
                              <m:t>𝝉</m:t>
                            </m:r>
                          </m:sub>
                        </m:sSub>
                      </m:sup>
                      <m:e>
                        <m:sSup>
                          <m:sSupPr>
                            <m:ctrlPr>
                              <a:rPr lang="en-US" altLang="zh-TW" sz="2000" b="1" i="1">
                                <a:solidFill>
                                  <a:srgbClr val="FF0000"/>
                                </a:solidFill>
                                <a:latin typeface="Cambria Math" panose="02040503050406030204" pitchFamily="18" charset="0"/>
                              </a:rPr>
                            </m:ctrlPr>
                          </m:sSupPr>
                          <m:e>
                            <m:d>
                              <m:dPr>
                                <m:ctrlPr>
                                  <a:rPr lang="en-US" altLang="zh-TW" sz="2000" b="1" i="1">
                                    <a:solidFill>
                                      <a:srgbClr val="FF0000"/>
                                    </a:solidFill>
                                    <a:latin typeface="Cambria Math" panose="02040503050406030204" pitchFamily="18" charset="0"/>
                                  </a:rPr>
                                </m:ctrlPr>
                              </m:dPr>
                              <m:e>
                                <m:f>
                                  <m:fPr>
                                    <m:ctrlPr>
                                      <a:rPr lang="en-US" altLang="zh-TW" sz="2000" b="1" i="1">
                                        <a:solidFill>
                                          <a:srgbClr val="FF0000"/>
                                        </a:solidFill>
                                        <a:latin typeface="Cambria Math" panose="02040503050406030204" pitchFamily="18" charset="0"/>
                                      </a:rPr>
                                    </m:ctrlPr>
                                  </m:fPr>
                                  <m:num>
                                    <m:r>
                                      <a:rPr lang="en-US" altLang="zh-TW" sz="2000" b="1" i="1">
                                        <a:solidFill>
                                          <a:srgbClr val="FF0000"/>
                                        </a:solidFill>
                                        <a:latin typeface="Cambria Math" panose="02040503050406030204" pitchFamily="18" charset="0"/>
                                      </a:rPr>
                                      <m:t>𝒅</m:t>
                                    </m:r>
                                    <m:sSup>
                                      <m:sSupPr>
                                        <m:ctrlPr>
                                          <a:rPr lang="en-US" altLang="zh-TW" sz="2000" b="1" i="1">
                                            <a:solidFill>
                                              <a:srgbClr val="FF0000"/>
                                            </a:solidFill>
                                            <a:latin typeface="Cambria Math" panose="02040503050406030204" pitchFamily="18" charset="0"/>
                                          </a:rPr>
                                        </m:ctrlPr>
                                      </m:sSupPr>
                                      <m:e>
                                        <m:r>
                                          <a:rPr lang="zh-TW" altLang="en-US" sz="2000" b="1" i="1">
                                            <a:solidFill>
                                              <a:srgbClr val="FF0000"/>
                                            </a:solidFill>
                                            <a:latin typeface="Cambria Math" panose="02040503050406030204" pitchFamily="18" charset="0"/>
                                          </a:rPr>
                                          <m:t>𝔽</m:t>
                                        </m:r>
                                      </m:e>
                                      <m:sup>
                                        <m:r>
                                          <a:rPr lang="en-US" altLang="zh-TW" sz="2000" b="1" i="1">
                                            <a:solidFill>
                                              <a:srgbClr val="FF0000"/>
                                            </a:solidFill>
                                            <a:latin typeface="Cambria Math" panose="02040503050406030204" pitchFamily="18" charset="0"/>
                                          </a:rPr>
                                          <m:t>𝑸</m:t>
                                        </m:r>
                                      </m:sup>
                                    </m:sSup>
                                    <m:r>
                                      <a:rPr lang="en-US" altLang="zh-TW" sz="2000" b="1" i="1">
                                        <a:solidFill>
                                          <a:srgbClr val="FF0000"/>
                                        </a:solidFill>
                                        <a:latin typeface="Cambria Math" panose="02040503050406030204" pitchFamily="18" charset="0"/>
                                      </a:rPr>
                                      <m:t>(</m:t>
                                    </m:r>
                                    <m:sSub>
                                      <m:sSubPr>
                                        <m:ctrlPr>
                                          <a:rPr lang="en-US" altLang="zh-TW" sz="2000" b="1" i="1">
                                            <a:solidFill>
                                              <a:srgbClr val="FF0000"/>
                                            </a:solidFill>
                                            <a:latin typeface="Cambria Math" panose="02040503050406030204" pitchFamily="18" charset="0"/>
                                          </a:rPr>
                                        </m:ctrlPr>
                                      </m:sSubPr>
                                      <m:e>
                                        <m:r>
                                          <a:rPr lang="en-US" altLang="zh-TW" sz="2000" b="1" i="1">
                                            <a:solidFill>
                                              <a:srgbClr val="FF0000"/>
                                            </a:solidFill>
                                            <a:latin typeface="Cambria Math" panose="02040503050406030204" pitchFamily="18" charset="0"/>
                                          </a:rPr>
                                          <m:t>𝒙</m:t>
                                        </m:r>
                                      </m:e>
                                      <m:sub>
                                        <m:r>
                                          <a:rPr lang="en-US" altLang="zh-TW" sz="2000" b="1" i="1">
                                            <a:solidFill>
                                              <a:srgbClr val="FF0000"/>
                                            </a:solidFill>
                                            <a:latin typeface="Cambria Math" panose="02040503050406030204" pitchFamily="18" charset="0"/>
                                          </a:rPr>
                                          <m:t>𝒕</m:t>
                                        </m:r>
                                        <m:r>
                                          <a:rPr lang="en-US" altLang="zh-TW" sz="2000" b="1" i="1">
                                            <a:solidFill>
                                              <a:srgbClr val="FF0000"/>
                                            </a:solidFill>
                                            <a:latin typeface="Cambria Math" panose="02040503050406030204" pitchFamily="18" charset="0"/>
                                          </a:rPr>
                                          <m:t>+</m:t>
                                        </m:r>
                                        <m:r>
                                          <a:rPr lang="zh-TW" altLang="en-US" sz="2000" b="1" i="1">
                                            <a:solidFill>
                                              <a:srgbClr val="FF0000"/>
                                            </a:solidFill>
                                            <a:latin typeface="Cambria Math" panose="02040503050406030204" pitchFamily="18" charset="0"/>
                                          </a:rPr>
                                          <m:t>𝝉</m:t>
                                        </m:r>
                                      </m:sub>
                                    </m:sSub>
                                    <m:r>
                                      <a:rPr lang="en-US" altLang="zh-TW" sz="2000" b="1" i="1">
                                        <a:solidFill>
                                          <a:srgbClr val="FF0000"/>
                                        </a:solidFill>
                                        <a:latin typeface="Cambria Math" panose="02040503050406030204" pitchFamily="18" charset="0"/>
                                      </a:rPr>
                                      <m:t>|</m:t>
                                    </m:r>
                                    <m:sSub>
                                      <m:sSubPr>
                                        <m:ctrlPr>
                                          <a:rPr lang="en-US" altLang="zh-TW" sz="2000" b="1" i="1">
                                            <a:solidFill>
                                              <a:srgbClr val="FF0000"/>
                                            </a:solidFill>
                                            <a:latin typeface="Cambria Math" panose="02040503050406030204" pitchFamily="18" charset="0"/>
                                          </a:rPr>
                                        </m:ctrlPr>
                                      </m:sSubPr>
                                      <m:e>
                                        <m:r>
                                          <a:rPr lang="en-US" altLang="zh-TW" sz="2000" b="1" i="1">
                                            <a:solidFill>
                                              <a:srgbClr val="FF0000"/>
                                            </a:solidFill>
                                            <a:latin typeface="Cambria Math" panose="02040503050406030204" pitchFamily="18" charset="0"/>
                                          </a:rPr>
                                          <m:t>𝓕</m:t>
                                        </m:r>
                                      </m:e>
                                      <m:sub>
                                        <m:r>
                                          <a:rPr lang="en-US" altLang="zh-TW" sz="2000" b="1" i="1">
                                            <a:solidFill>
                                              <a:srgbClr val="FF0000"/>
                                            </a:solidFill>
                                            <a:latin typeface="Cambria Math" panose="02040503050406030204" pitchFamily="18" charset="0"/>
                                          </a:rPr>
                                          <m:t>𝒕</m:t>
                                        </m:r>
                                      </m:sub>
                                    </m:sSub>
                                    <m:r>
                                      <a:rPr lang="en-US" altLang="zh-TW" sz="2000" b="1" i="1">
                                        <a:solidFill>
                                          <a:srgbClr val="FF0000"/>
                                        </a:solidFill>
                                        <a:latin typeface="Cambria Math" panose="02040503050406030204" pitchFamily="18" charset="0"/>
                                      </a:rPr>
                                      <m:t>)</m:t>
                                    </m:r>
                                  </m:num>
                                  <m:den>
                                    <m:r>
                                      <a:rPr lang="en-US" altLang="zh-TW" sz="2000" b="1" i="1">
                                        <a:solidFill>
                                          <a:srgbClr val="FF0000"/>
                                        </a:solidFill>
                                        <a:latin typeface="Cambria Math" panose="02040503050406030204" pitchFamily="18" charset="0"/>
                                      </a:rPr>
                                      <m:t>𝒅</m:t>
                                    </m:r>
                                    <m:sSup>
                                      <m:sSupPr>
                                        <m:ctrlPr>
                                          <a:rPr lang="en-US" altLang="zh-TW" sz="2000" b="1" i="1">
                                            <a:solidFill>
                                              <a:srgbClr val="FF0000"/>
                                            </a:solidFill>
                                            <a:latin typeface="Cambria Math" panose="02040503050406030204" pitchFamily="18" charset="0"/>
                                          </a:rPr>
                                        </m:ctrlPr>
                                      </m:sSupPr>
                                      <m:e>
                                        <m:r>
                                          <a:rPr lang="zh-TW" altLang="en-US" sz="2000" b="1" i="1">
                                            <a:solidFill>
                                              <a:srgbClr val="FF0000"/>
                                            </a:solidFill>
                                            <a:latin typeface="Cambria Math" panose="02040503050406030204" pitchFamily="18" charset="0"/>
                                          </a:rPr>
                                          <m:t>𝔽</m:t>
                                        </m:r>
                                      </m:e>
                                      <m:sup>
                                        <m:r>
                                          <a:rPr lang="en-US" altLang="zh-TW" sz="2000" b="1" i="1">
                                            <a:solidFill>
                                              <a:srgbClr val="FF0000"/>
                                            </a:solidFill>
                                            <a:latin typeface="Cambria Math" panose="02040503050406030204" pitchFamily="18" charset="0"/>
                                          </a:rPr>
                                          <m:t>𝑷</m:t>
                                        </m:r>
                                      </m:sup>
                                    </m:sSup>
                                    <m:r>
                                      <a:rPr lang="en-US" altLang="zh-TW" sz="2000" b="1" i="1">
                                        <a:solidFill>
                                          <a:srgbClr val="FF0000"/>
                                        </a:solidFill>
                                        <a:latin typeface="Cambria Math" panose="02040503050406030204" pitchFamily="18" charset="0"/>
                                      </a:rPr>
                                      <m:t>(</m:t>
                                    </m:r>
                                    <m:sSub>
                                      <m:sSubPr>
                                        <m:ctrlPr>
                                          <a:rPr lang="en-US" altLang="zh-TW" sz="2000" b="1" i="1">
                                            <a:solidFill>
                                              <a:srgbClr val="FF0000"/>
                                            </a:solidFill>
                                            <a:latin typeface="Cambria Math" panose="02040503050406030204" pitchFamily="18" charset="0"/>
                                          </a:rPr>
                                        </m:ctrlPr>
                                      </m:sSubPr>
                                      <m:e>
                                        <m:r>
                                          <a:rPr lang="en-US" altLang="zh-TW" sz="2000" b="1" i="1">
                                            <a:solidFill>
                                              <a:srgbClr val="FF0000"/>
                                            </a:solidFill>
                                            <a:latin typeface="Cambria Math" panose="02040503050406030204" pitchFamily="18" charset="0"/>
                                          </a:rPr>
                                          <m:t>𝒙</m:t>
                                        </m:r>
                                      </m:e>
                                      <m:sub>
                                        <m:r>
                                          <a:rPr lang="en-US" altLang="zh-TW" sz="2000" b="1" i="1">
                                            <a:solidFill>
                                              <a:srgbClr val="FF0000"/>
                                            </a:solidFill>
                                            <a:latin typeface="Cambria Math" panose="02040503050406030204" pitchFamily="18" charset="0"/>
                                          </a:rPr>
                                          <m:t>𝒕</m:t>
                                        </m:r>
                                        <m:r>
                                          <a:rPr lang="en-US" altLang="zh-TW" sz="2000" b="1" i="1">
                                            <a:solidFill>
                                              <a:srgbClr val="FF0000"/>
                                            </a:solidFill>
                                            <a:latin typeface="Cambria Math" panose="02040503050406030204" pitchFamily="18" charset="0"/>
                                          </a:rPr>
                                          <m:t>+</m:t>
                                        </m:r>
                                        <m:r>
                                          <a:rPr lang="zh-TW" altLang="en-US" sz="2000" b="1" i="1">
                                            <a:solidFill>
                                              <a:srgbClr val="FF0000"/>
                                            </a:solidFill>
                                            <a:latin typeface="Cambria Math" panose="02040503050406030204" pitchFamily="18" charset="0"/>
                                          </a:rPr>
                                          <m:t>𝝉</m:t>
                                        </m:r>
                                      </m:sub>
                                    </m:sSub>
                                    <m:r>
                                      <a:rPr lang="en-US" altLang="zh-TW" sz="2000" b="1" i="1">
                                        <a:solidFill>
                                          <a:srgbClr val="FF0000"/>
                                        </a:solidFill>
                                        <a:latin typeface="Cambria Math" panose="02040503050406030204" pitchFamily="18" charset="0"/>
                                      </a:rPr>
                                      <m:t>|</m:t>
                                    </m:r>
                                    <m:sSub>
                                      <m:sSubPr>
                                        <m:ctrlPr>
                                          <a:rPr lang="en-US" altLang="zh-TW" sz="2000" b="1" i="1">
                                            <a:solidFill>
                                              <a:srgbClr val="FF0000"/>
                                            </a:solidFill>
                                            <a:latin typeface="Cambria Math" panose="02040503050406030204" pitchFamily="18" charset="0"/>
                                          </a:rPr>
                                        </m:ctrlPr>
                                      </m:sSubPr>
                                      <m:e>
                                        <m:r>
                                          <a:rPr lang="en-US" altLang="zh-TW" sz="2000" b="1" i="1">
                                            <a:solidFill>
                                              <a:srgbClr val="FF0000"/>
                                            </a:solidFill>
                                            <a:latin typeface="Cambria Math" panose="02040503050406030204" pitchFamily="18" charset="0"/>
                                          </a:rPr>
                                          <m:t>𝓕</m:t>
                                        </m:r>
                                      </m:e>
                                      <m:sub>
                                        <m:r>
                                          <a:rPr lang="en-US" altLang="zh-TW" sz="2000" b="1" i="1">
                                            <a:solidFill>
                                              <a:srgbClr val="FF0000"/>
                                            </a:solidFill>
                                            <a:latin typeface="Cambria Math" panose="02040503050406030204" pitchFamily="18" charset="0"/>
                                          </a:rPr>
                                          <m:t>𝒕</m:t>
                                        </m:r>
                                      </m:sub>
                                    </m:sSub>
                                  </m:den>
                                </m:f>
                              </m:e>
                            </m:d>
                          </m:e>
                          <m:sup>
                            <m:r>
                              <a:rPr lang="en-US" altLang="zh-TW" sz="2000" b="1" i="1">
                                <a:solidFill>
                                  <a:srgbClr val="FF0000"/>
                                </a:solidFill>
                                <a:latin typeface="Cambria Math" panose="02040503050406030204" pitchFamily="18" charset="0"/>
                              </a:rPr>
                              <m:t>−</m:t>
                            </m:r>
                            <m:r>
                              <a:rPr lang="en-US" altLang="zh-TW" sz="2000" b="1" i="1">
                                <a:solidFill>
                                  <a:srgbClr val="FF0000"/>
                                </a:solidFill>
                                <a:latin typeface="Cambria Math" panose="02040503050406030204" pitchFamily="18" charset="0"/>
                              </a:rPr>
                              <m:t>𝟏</m:t>
                            </m:r>
                          </m:sup>
                        </m:sSup>
                        <m:r>
                          <a:rPr lang="en-US" altLang="zh-TW" sz="2000" b="1" i="1">
                            <a:solidFill>
                              <a:srgbClr val="FF0000"/>
                            </a:solidFill>
                            <a:latin typeface="Cambria Math" panose="02040503050406030204" pitchFamily="18" charset="0"/>
                          </a:rPr>
                          <m:t>𝒅</m:t>
                        </m:r>
                        <m:sSup>
                          <m:sSupPr>
                            <m:ctrlPr>
                              <a:rPr lang="en-US" altLang="zh-TW" sz="2000" b="1" i="1">
                                <a:solidFill>
                                  <a:srgbClr val="FF0000"/>
                                </a:solidFill>
                                <a:latin typeface="Cambria Math" panose="02040503050406030204" pitchFamily="18" charset="0"/>
                              </a:rPr>
                            </m:ctrlPr>
                          </m:sSupPr>
                          <m:e>
                            <m:r>
                              <a:rPr lang="zh-TW" altLang="en-US" sz="2000" b="1" i="1">
                                <a:solidFill>
                                  <a:srgbClr val="FF0000"/>
                                </a:solidFill>
                                <a:latin typeface="Cambria Math" panose="02040503050406030204" pitchFamily="18" charset="0"/>
                              </a:rPr>
                              <m:t>𝔽</m:t>
                            </m:r>
                          </m:e>
                          <m:sup>
                            <m:r>
                              <a:rPr lang="en-US" altLang="zh-TW" sz="2000" b="1" i="1">
                                <a:solidFill>
                                  <a:srgbClr val="FF0000"/>
                                </a:solidFill>
                                <a:latin typeface="Cambria Math" panose="02040503050406030204" pitchFamily="18" charset="0"/>
                              </a:rPr>
                              <m:t>𝑸</m:t>
                            </m:r>
                          </m:sup>
                        </m:sSup>
                        <m:r>
                          <a:rPr lang="en-US" altLang="zh-TW" sz="2000" b="1" i="1">
                            <a:solidFill>
                              <a:srgbClr val="FF0000"/>
                            </a:solidFill>
                            <a:latin typeface="Cambria Math" panose="02040503050406030204" pitchFamily="18" charset="0"/>
                          </a:rPr>
                          <m:t>(</m:t>
                        </m:r>
                        <m:sSub>
                          <m:sSubPr>
                            <m:ctrlPr>
                              <a:rPr lang="en-US" altLang="zh-TW" sz="2000" b="1" i="1">
                                <a:solidFill>
                                  <a:srgbClr val="FF0000"/>
                                </a:solidFill>
                                <a:latin typeface="Cambria Math" panose="02040503050406030204" pitchFamily="18" charset="0"/>
                              </a:rPr>
                            </m:ctrlPr>
                          </m:sSubPr>
                          <m:e>
                            <m:r>
                              <a:rPr lang="en-US" altLang="zh-TW" sz="2000" b="1" i="1">
                                <a:solidFill>
                                  <a:srgbClr val="FF0000"/>
                                </a:solidFill>
                                <a:latin typeface="Cambria Math" panose="02040503050406030204" pitchFamily="18" charset="0"/>
                              </a:rPr>
                              <m:t>𝒙</m:t>
                            </m:r>
                          </m:e>
                          <m:sub>
                            <m:r>
                              <a:rPr lang="en-US" altLang="zh-TW" sz="2000" b="1" i="1">
                                <a:solidFill>
                                  <a:srgbClr val="FF0000"/>
                                </a:solidFill>
                                <a:latin typeface="Cambria Math" panose="02040503050406030204" pitchFamily="18" charset="0"/>
                              </a:rPr>
                              <m:t>𝒕</m:t>
                            </m:r>
                            <m:r>
                              <a:rPr lang="en-US" altLang="zh-TW" sz="2000" b="1" i="1">
                                <a:solidFill>
                                  <a:srgbClr val="FF0000"/>
                                </a:solidFill>
                                <a:latin typeface="Cambria Math" panose="02040503050406030204" pitchFamily="18" charset="0"/>
                              </a:rPr>
                              <m:t>+</m:t>
                            </m:r>
                            <m:r>
                              <a:rPr lang="zh-TW" altLang="en-US" sz="2000" b="1" i="1">
                                <a:solidFill>
                                  <a:srgbClr val="FF0000"/>
                                </a:solidFill>
                                <a:latin typeface="Cambria Math" panose="02040503050406030204" pitchFamily="18" charset="0"/>
                              </a:rPr>
                              <m:t>𝝉</m:t>
                            </m:r>
                          </m:sub>
                        </m:sSub>
                        <m:r>
                          <a:rPr lang="en-US" altLang="zh-TW" sz="2000" b="1" i="1">
                            <a:solidFill>
                              <a:srgbClr val="FF0000"/>
                            </a:solidFill>
                            <a:latin typeface="Cambria Math" panose="02040503050406030204" pitchFamily="18" charset="0"/>
                          </a:rPr>
                          <m:t>|</m:t>
                        </m:r>
                        <m:sSub>
                          <m:sSubPr>
                            <m:ctrlPr>
                              <a:rPr lang="en-US" altLang="zh-TW" sz="2000" b="1" i="1">
                                <a:solidFill>
                                  <a:srgbClr val="FF0000"/>
                                </a:solidFill>
                                <a:latin typeface="Cambria Math" panose="02040503050406030204" pitchFamily="18" charset="0"/>
                              </a:rPr>
                            </m:ctrlPr>
                          </m:sSubPr>
                          <m:e>
                            <m:r>
                              <a:rPr lang="en-US" altLang="zh-TW" sz="2000" b="1" i="1">
                                <a:solidFill>
                                  <a:srgbClr val="FF0000"/>
                                </a:solidFill>
                                <a:latin typeface="Cambria Math" panose="02040503050406030204" pitchFamily="18" charset="0"/>
                              </a:rPr>
                              <m:t>𝓕</m:t>
                            </m:r>
                          </m:e>
                          <m:sub>
                            <m:r>
                              <a:rPr lang="en-US" altLang="zh-TW" sz="2000" b="1" i="1">
                                <a:solidFill>
                                  <a:srgbClr val="FF0000"/>
                                </a:solidFill>
                                <a:latin typeface="Cambria Math" panose="02040503050406030204" pitchFamily="18" charset="0"/>
                              </a:rPr>
                              <m:t>𝒕</m:t>
                            </m:r>
                          </m:sub>
                        </m:sSub>
                        <m:r>
                          <a:rPr lang="en-US" altLang="zh-TW" sz="2000" b="1" i="1">
                            <a:solidFill>
                              <a:srgbClr val="FF0000"/>
                            </a:solidFill>
                            <a:latin typeface="Cambria Math" panose="02040503050406030204" pitchFamily="18" charset="0"/>
                          </a:rPr>
                          <m:t>)</m:t>
                        </m:r>
                      </m:e>
                    </m:nary>
                    <m:r>
                      <m:rPr>
                        <m:nor/>
                      </m:rPr>
                      <a:rPr lang="en-US" altLang="zh-TW" sz="2000" b="1" i="1" dirty="0">
                        <a:solidFill>
                          <a:srgbClr val="FF0000"/>
                        </a:solidFill>
                        <a:latin typeface="Cambria Math" panose="02040503050406030204" pitchFamily="18" charset="0"/>
                      </a:rPr>
                      <m:t>~</m:t>
                    </m:r>
                    <m:r>
                      <a:rPr lang="en-US" altLang="zh-TW" sz="2000" b="1" i="1" dirty="0">
                        <a:solidFill>
                          <a:srgbClr val="FF0000"/>
                        </a:solidFill>
                        <a:latin typeface="Cambria Math" panose="02040503050406030204" pitchFamily="18" charset="0"/>
                      </a:rPr>
                      <m:t>𝑼</m:t>
                    </m:r>
                    <m:d>
                      <m:dPr>
                        <m:begChr m:val="["/>
                        <m:endChr m:val="]"/>
                        <m:ctrlPr>
                          <a:rPr lang="en-US" altLang="zh-TW" sz="2000" b="1" i="1" dirty="0">
                            <a:solidFill>
                              <a:srgbClr val="FF0000"/>
                            </a:solidFill>
                            <a:latin typeface="Cambria Math" panose="02040503050406030204" pitchFamily="18" charset="0"/>
                          </a:rPr>
                        </m:ctrlPr>
                      </m:dPr>
                      <m:e>
                        <m:r>
                          <a:rPr lang="en-US" altLang="zh-TW" sz="2000" b="1" i="1" dirty="0">
                            <a:solidFill>
                              <a:srgbClr val="FF0000"/>
                            </a:solidFill>
                            <a:latin typeface="Cambria Math" panose="02040503050406030204" pitchFamily="18" charset="0"/>
                          </a:rPr>
                          <m:t>𝟎</m:t>
                        </m:r>
                        <m:r>
                          <a:rPr lang="en-US" altLang="zh-TW" sz="2000" b="1" i="1" dirty="0">
                            <a:solidFill>
                              <a:srgbClr val="FF0000"/>
                            </a:solidFill>
                            <a:latin typeface="Cambria Math" panose="02040503050406030204" pitchFamily="18" charset="0"/>
                          </a:rPr>
                          <m:t>,</m:t>
                        </m:r>
                        <m:r>
                          <a:rPr lang="en-US" altLang="zh-TW" sz="2000" b="1" i="1" dirty="0">
                            <a:solidFill>
                              <a:srgbClr val="FF0000"/>
                            </a:solidFill>
                            <a:latin typeface="Cambria Math" panose="02040503050406030204" pitchFamily="18" charset="0"/>
                          </a:rPr>
                          <m:t>𝟏</m:t>
                        </m:r>
                      </m:e>
                    </m:d>
                  </m:oMath>
                </a14:m>
                <a:endParaRPr lang="zh-TW" altLang="en-US" sz="2000" b="1" i="1" dirty="0">
                  <a:solidFill>
                    <a:schemeClr val="tx2"/>
                  </a:solidFill>
                  <a:latin typeface="Cambria Math" panose="02040503050406030204" pitchFamily="18" charset="0"/>
                </a:endParaRPr>
              </a:p>
            </p:txBody>
          </p:sp>
        </mc:Choice>
        <mc:Fallback xmlns="">
          <p:sp>
            <p:nvSpPr>
              <p:cNvPr id="6" name="文字方塊 5">
                <a:extLst>
                  <a:ext uri="{FF2B5EF4-FFF2-40B4-BE49-F238E27FC236}">
                    <a16:creationId xmlns:a16="http://schemas.microsoft.com/office/drawing/2014/main" id="{151F968E-4726-CF20-8B4A-31C06D9823BA}"/>
                  </a:ext>
                </a:extLst>
              </p:cNvPr>
              <p:cNvSpPr txBox="1">
                <a:spLocks noRot="1" noChangeAspect="1" noMove="1" noResize="1" noEditPoints="1" noAdjustHandles="1" noChangeArrowheads="1" noChangeShapeType="1" noTextEdit="1"/>
              </p:cNvSpPr>
              <p:nvPr/>
            </p:nvSpPr>
            <p:spPr>
              <a:xfrm>
                <a:off x="2016158" y="5331488"/>
                <a:ext cx="9752107" cy="1326197"/>
              </a:xfrm>
              <a:prstGeom prst="rect">
                <a:avLst/>
              </a:prstGeom>
              <a:blipFill>
                <a:blip r:embed="rId4"/>
                <a:stretch>
                  <a:fillRect t="-45161" b="-368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98833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4EDC3D3D-E4F1-6FB9-ED32-9FD0D9F87FB8}"/>
              </a:ext>
            </a:extLst>
          </p:cNvPr>
          <p:cNvSpPr txBox="1"/>
          <p:nvPr/>
        </p:nvSpPr>
        <p:spPr>
          <a:xfrm>
            <a:off x="273001" y="939283"/>
            <a:ext cx="11775929" cy="400110"/>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實驗結果：</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base=6</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9</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時，定價核出現不合理之負數定價核估計結果</a:t>
            </a:r>
          </a:p>
        </p:txBody>
      </p:sp>
      <p:pic>
        <p:nvPicPr>
          <p:cNvPr id="12" name="圖片 11">
            <a:extLst>
              <a:ext uri="{FF2B5EF4-FFF2-40B4-BE49-F238E27FC236}">
                <a16:creationId xmlns:a16="http://schemas.microsoft.com/office/drawing/2014/main" id="{102D427F-C589-31CD-B77E-324287DD157E}"/>
              </a:ext>
            </a:extLst>
          </p:cNvPr>
          <p:cNvPicPr>
            <a:picLocks noChangeAspect="1"/>
          </p:cNvPicPr>
          <p:nvPr/>
        </p:nvPicPr>
        <p:blipFill>
          <a:blip r:embed="rId3"/>
          <a:stretch>
            <a:fillRect/>
          </a:stretch>
        </p:blipFill>
        <p:spPr>
          <a:xfrm>
            <a:off x="5939305" y="1641798"/>
            <a:ext cx="5879881" cy="4215638"/>
          </a:xfrm>
          <a:prstGeom prst="rect">
            <a:avLst/>
          </a:prstGeom>
        </p:spPr>
      </p:pic>
      <p:pic>
        <p:nvPicPr>
          <p:cNvPr id="14" name="圖片 13">
            <a:extLst>
              <a:ext uri="{FF2B5EF4-FFF2-40B4-BE49-F238E27FC236}">
                <a16:creationId xmlns:a16="http://schemas.microsoft.com/office/drawing/2014/main" id="{DC62BED1-D461-795B-AE40-8290207A236E}"/>
              </a:ext>
            </a:extLst>
          </p:cNvPr>
          <p:cNvPicPr>
            <a:picLocks noChangeAspect="1"/>
          </p:cNvPicPr>
          <p:nvPr/>
        </p:nvPicPr>
        <p:blipFill>
          <a:blip r:embed="rId4"/>
          <a:stretch>
            <a:fillRect/>
          </a:stretch>
        </p:blipFill>
        <p:spPr>
          <a:xfrm>
            <a:off x="0" y="1641798"/>
            <a:ext cx="5939305" cy="4215638"/>
          </a:xfrm>
          <a:prstGeom prst="rect">
            <a:avLst/>
          </a:prstGeom>
        </p:spPr>
      </p:pic>
      <p:sp>
        <p:nvSpPr>
          <p:cNvPr id="21" name="文字版面配置區 2">
            <a:extLst>
              <a:ext uri="{FF2B5EF4-FFF2-40B4-BE49-F238E27FC236}">
                <a16:creationId xmlns:a16="http://schemas.microsoft.com/office/drawing/2014/main" id="{276C7227-2326-E2B7-63B3-4665D273D5CE}"/>
              </a:ext>
            </a:extLst>
          </p:cNvPr>
          <p:cNvSpPr>
            <a:spLocks noGrp="1"/>
          </p:cNvSpPr>
          <p:nvPr>
            <p:ph type="body" sz="quarter" idx="10"/>
          </p:nvPr>
        </p:nvSpPr>
        <p:spPr>
          <a:xfrm>
            <a:off x="2309880" y="200315"/>
            <a:ext cx="5840413" cy="436563"/>
          </a:xfrm>
        </p:spPr>
        <p:txBody>
          <a:bodyPr/>
          <a:lstStyle/>
          <a:p>
            <a:r>
              <a:rPr lang="en-US" altLang="zh-TW" dirty="0"/>
              <a:t>CDI</a:t>
            </a:r>
            <a:r>
              <a:rPr lang="zh-TW" altLang="en-US" dirty="0"/>
              <a:t>方法 復現實驗</a:t>
            </a:r>
            <a:endParaRPr lang="en-US" altLang="zh-TW" dirty="0"/>
          </a:p>
          <a:p>
            <a:endParaRPr lang="zh-TW" altLang="en-US" dirty="0"/>
          </a:p>
        </p:txBody>
      </p:sp>
      <p:sp>
        <p:nvSpPr>
          <p:cNvPr id="22" name="內容版面配置區 3">
            <a:extLst>
              <a:ext uri="{FF2B5EF4-FFF2-40B4-BE49-F238E27FC236}">
                <a16:creationId xmlns:a16="http://schemas.microsoft.com/office/drawing/2014/main" id="{A3E47B78-5CC0-DDC1-7B48-0E05C8D53848}"/>
              </a:ext>
            </a:extLst>
          </p:cNvPr>
          <p:cNvSpPr>
            <a:spLocks noGrp="1"/>
          </p:cNvSpPr>
          <p:nvPr>
            <p:ph sz="quarter" idx="11"/>
          </p:nvPr>
        </p:nvSpPr>
        <p:spPr>
          <a:xfrm>
            <a:off x="1268267" y="200314"/>
            <a:ext cx="1188793" cy="436564"/>
          </a:xfrm>
        </p:spPr>
        <p:txBody>
          <a:bodyPr/>
          <a:lstStyle/>
          <a:p>
            <a:r>
              <a:rPr lang="en-US" altLang="zh-TW" dirty="0"/>
              <a:t>2.2.1</a:t>
            </a:r>
            <a:endParaRPr lang="zh-TW" altLang="en-US" dirty="0"/>
          </a:p>
        </p:txBody>
      </p:sp>
    </p:spTree>
    <p:extLst>
      <p:ext uri="{BB962C8B-B14F-4D97-AF65-F5344CB8AC3E}">
        <p14:creationId xmlns:p14="http://schemas.microsoft.com/office/powerpoint/2010/main" val="754389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4EDC3D3D-E4F1-6FB9-ED32-9FD0D9F87FB8}"/>
                  </a:ext>
                </a:extLst>
              </p:cNvPr>
              <p:cNvSpPr txBox="1"/>
              <p:nvPr/>
            </p:nvSpPr>
            <p:spPr>
              <a:xfrm>
                <a:off x="273001" y="939283"/>
                <a:ext cx="11775929" cy="400110"/>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加入權重限制式，</a:t>
                </a:r>
                <a14:m>
                  <m:oMath xmlns:m="http://schemas.openxmlformats.org/officeDocument/2006/math">
                    <m:r>
                      <a:rPr lang="zh-TW" altLang="en-US" sz="2000" i="1" smtClean="0">
                        <a:solidFill>
                          <a:schemeClr val="tx2"/>
                        </a:solidFill>
                        <a:latin typeface="Cambria Math" panose="02040503050406030204" pitchFamily="18" charset="0"/>
                        <a:ea typeface="Microsoft JhengHei" panose="020B0604030504040204" pitchFamily="34" charset="-120"/>
                        <a:cs typeface="+mn-ea"/>
                      </a:rPr>
                      <m:t>𝜃</m:t>
                    </m:r>
                    <m:r>
                      <a:rPr lang="zh-TW" altLang="en-US" sz="2000" i="1" smtClean="0">
                        <a:solidFill>
                          <a:schemeClr val="tx2"/>
                        </a:solidFill>
                        <a:latin typeface="Cambria Math" panose="02040503050406030204" pitchFamily="18" charset="0"/>
                        <a:ea typeface="Microsoft JhengHei" panose="020B0604030504040204" pitchFamily="34" charset="-120"/>
                        <a:cs typeface="+mn-ea"/>
                      </a:rPr>
                      <m:t>≥0</m:t>
                    </m:r>
                    <m:r>
                      <a:rPr lang="zh-TW" altLang="en-US" sz="2000" i="1" smtClean="0">
                        <a:solidFill>
                          <a:schemeClr val="tx2"/>
                        </a:solidFill>
                        <a:latin typeface="Cambria Math" panose="02040503050406030204" pitchFamily="18" charset="0"/>
                        <a:ea typeface="Microsoft JhengHei" panose="020B0604030504040204" pitchFamily="34" charset="-120"/>
                        <a:cs typeface="+mn-ea"/>
                      </a:rPr>
                      <m:t>，</m:t>
                    </m:r>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強制使定價核結果為正數</a:t>
                </a:r>
              </a:p>
            </p:txBody>
          </p:sp>
        </mc:Choice>
        <mc:Fallback xmlns="">
          <p:sp>
            <p:nvSpPr>
              <p:cNvPr id="5" name="文字方塊 4">
                <a:extLst>
                  <a:ext uri="{FF2B5EF4-FFF2-40B4-BE49-F238E27FC236}">
                    <a16:creationId xmlns:a16="http://schemas.microsoft.com/office/drawing/2014/main" id="{4EDC3D3D-E4F1-6FB9-ED32-9FD0D9F87FB8}"/>
                  </a:ext>
                </a:extLst>
              </p:cNvPr>
              <p:cNvSpPr txBox="1">
                <a:spLocks noRot="1" noChangeAspect="1" noMove="1" noResize="1" noEditPoints="1" noAdjustHandles="1" noChangeArrowheads="1" noChangeShapeType="1" noTextEdit="1"/>
              </p:cNvSpPr>
              <p:nvPr/>
            </p:nvSpPr>
            <p:spPr>
              <a:xfrm>
                <a:off x="273001" y="939283"/>
                <a:ext cx="11775929" cy="400110"/>
              </a:xfrm>
              <a:prstGeom prst="rect">
                <a:avLst/>
              </a:prstGeom>
              <a:blipFill>
                <a:blip r:embed="rId3"/>
                <a:stretch>
                  <a:fillRect l="-466" t="-7576" b="-25758"/>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30544F53-D4D1-B6BD-347D-AAD5090B58F5}"/>
              </a:ext>
            </a:extLst>
          </p:cNvPr>
          <p:cNvPicPr>
            <a:picLocks noChangeAspect="1"/>
          </p:cNvPicPr>
          <p:nvPr/>
        </p:nvPicPr>
        <p:blipFill>
          <a:blip r:embed="rId4"/>
          <a:stretch>
            <a:fillRect/>
          </a:stretch>
        </p:blipFill>
        <p:spPr>
          <a:xfrm>
            <a:off x="51769" y="1648105"/>
            <a:ext cx="6109196" cy="4461459"/>
          </a:xfrm>
          <a:prstGeom prst="rect">
            <a:avLst/>
          </a:prstGeom>
        </p:spPr>
      </p:pic>
      <p:pic>
        <p:nvPicPr>
          <p:cNvPr id="12" name="圖片 11">
            <a:extLst>
              <a:ext uri="{FF2B5EF4-FFF2-40B4-BE49-F238E27FC236}">
                <a16:creationId xmlns:a16="http://schemas.microsoft.com/office/drawing/2014/main" id="{6E5C97E4-1E0F-0DF8-241B-8C83E18F9EDE}"/>
              </a:ext>
            </a:extLst>
          </p:cNvPr>
          <p:cNvPicPr>
            <a:picLocks noChangeAspect="1"/>
          </p:cNvPicPr>
          <p:nvPr/>
        </p:nvPicPr>
        <p:blipFill>
          <a:blip r:embed="rId5"/>
          <a:stretch>
            <a:fillRect/>
          </a:stretch>
        </p:blipFill>
        <p:spPr>
          <a:xfrm>
            <a:off x="5985017" y="1641798"/>
            <a:ext cx="6063913" cy="4461458"/>
          </a:xfrm>
          <a:prstGeom prst="rect">
            <a:avLst/>
          </a:prstGeom>
        </p:spPr>
      </p:pic>
      <p:sp>
        <p:nvSpPr>
          <p:cNvPr id="17" name="文字版面配置區 2">
            <a:extLst>
              <a:ext uri="{FF2B5EF4-FFF2-40B4-BE49-F238E27FC236}">
                <a16:creationId xmlns:a16="http://schemas.microsoft.com/office/drawing/2014/main" id="{E7199ED2-1578-C31F-BE5B-D46A9158E6D1}"/>
              </a:ext>
            </a:extLst>
          </p:cNvPr>
          <p:cNvSpPr>
            <a:spLocks noGrp="1"/>
          </p:cNvSpPr>
          <p:nvPr>
            <p:ph type="body" sz="quarter" idx="10"/>
          </p:nvPr>
        </p:nvSpPr>
        <p:spPr>
          <a:xfrm>
            <a:off x="2309880" y="200315"/>
            <a:ext cx="5840413" cy="436563"/>
          </a:xfrm>
        </p:spPr>
        <p:txBody>
          <a:bodyPr/>
          <a:lstStyle/>
          <a:p>
            <a:r>
              <a:rPr lang="en-US" altLang="zh-TW" dirty="0"/>
              <a:t>CDI</a:t>
            </a:r>
            <a:r>
              <a:rPr lang="zh-TW" altLang="en-US" dirty="0"/>
              <a:t>方法 復現實驗</a:t>
            </a:r>
            <a:endParaRPr lang="en-US" altLang="zh-TW" dirty="0"/>
          </a:p>
          <a:p>
            <a:endParaRPr lang="zh-TW" altLang="en-US" dirty="0"/>
          </a:p>
        </p:txBody>
      </p:sp>
      <p:sp>
        <p:nvSpPr>
          <p:cNvPr id="18" name="內容版面配置區 3">
            <a:extLst>
              <a:ext uri="{FF2B5EF4-FFF2-40B4-BE49-F238E27FC236}">
                <a16:creationId xmlns:a16="http://schemas.microsoft.com/office/drawing/2014/main" id="{82ADF325-1518-3CF9-A83F-D3112ACF827C}"/>
              </a:ext>
            </a:extLst>
          </p:cNvPr>
          <p:cNvSpPr>
            <a:spLocks noGrp="1"/>
          </p:cNvSpPr>
          <p:nvPr>
            <p:ph sz="quarter" idx="11"/>
          </p:nvPr>
        </p:nvSpPr>
        <p:spPr>
          <a:xfrm>
            <a:off x="1268267" y="200314"/>
            <a:ext cx="1188793" cy="436564"/>
          </a:xfrm>
        </p:spPr>
        <p:txBody>
          <a:bodyPr/>
          <a:lstStyle/>
          <a:p>
            <a:r>
              <a:rPr lang="en-US" altLang="zh-TW" dirty="0"/>
              <a:t>2.2.1</a:t>
            </a:r>
            <a:endParaRPr lang="zh-TW" altLang="en-US" dirty="0"/>
          </a:p>
        </p:txBody>
      </p:sp>
    </p:spTree>
    <p:extLst>
      <p:ext uri="{BB962C8B-B14F-4D97-AF65-F5344CB8AC3E}">
        <p14:creationId xmlns:p14="http://schemas.microsoft.com/office/powerpoint/2010/main" val="1160040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內容版面配置區 4">
                <a:extLst>
                  <a:ext uri="{FF2B5EF4-FFF2-40B4-BE49-F238E27FC236}">
                    <a16:creationId xmlns:a16="http://schemas.microsoft.com/office/drawing/2014/main" id="{B74DC22B-D3DF-BED7-FD31-7A926A048918}"/>
                  </a:ext>
                </a:extLst>
              </p:cNvPr>
              <p:cNvSpPr>
                <a:spLocks noGrp="1"/>
              </p:cNvSpPr>
              <p:nvPr>
                <p:ph sz="quarter" idx="10"/>
              </p:nvPr>
            </p:nvSpPr>
            <p:spPr>
              <a:xfrm>
                <a:off x="4385388" y="2843357"/>
                <a:ext cx="6303396" cy="1171286"/>
              </a:xfrm>
            </p:spPr>
            <p:txBody>
              <a:bodyPr/>
              <a:lstStyle/>
              <a:p>
                <a:pPr>
                  <a:buFont typeface="Wingdings" panose="05000000000000000000" pitchFamily="2" charset="2"/>
                  <a:buAutoNum type="circleNumWdWhitePlain" startAt="2"/>
                </a:pPr>
                <a:r>
                  <a:rPr lang="en-US" altLang="zh-TW" dirty="0"/>
                  <a:t>CDI </a:t>
                </a:r>
                <a:r>
                  <a:rPr lang="zh-TW" altLang="en-US" dirty="0"/>
                  <a:t>方法</a:t>
                </a:r>
                <a:r>
                  <a:rPr lang="en-US" altLang="zh-TW" dirty="0"/>
                  <a:t>—</a:t>
                </a:r>
                <a14:m>
                  <m:oMath xmlns:m="http://schemas.openxmlformats.org/officeDocument/2006/math">
                    <m:r>
                      <a:rPr lang="zh-TW" altLang="en-US" i="1" dirty="0">
                        <a:latin typeface="Cambria Math" panose="02040503050406030204" pitchFamily="18" charset="0"/>
                      </a:rPr>
                      <m:t> </m:t>
                    </m:r>
                    <m:r>
                      <a:rPr lang="zh-TW" altLang="en-US" i="1" smtClean="0">
                        <a:latin typeface="Cambria Math" panose="02040503050406030204" pitchFamily="18" charset="0"/>
                      </a:rPr>
                      <m:t>𝝉</m:t>
                    </m:r>
                    <m:r>
                      <a:rPr lang="en-US" altLang="zh-TW" i="1" smtClean="0">
                        <a:latin typeface="Cambria Math" panose="02040503050406030204" pitchFamily="18" charset="0"/>
                      </a:rPr>
                      <m:t>=1</m:t>
                    </m:r>
                    <m:r>
                      <a:rPr lang="en-US" altLang="zh-TW" i="1">
                        <a:latin typeface="Cambria Math" panose="02040503050406030204" pitchFamily="18" charset="0"/>
                      </a:rPr>
                      <m:t>0</m:t>
                    </m:r>
                  </m:oMath>
                </a14:m>
                <a:endParaRPr lang="zh-TW" altLang="en-US" dirty="0"/>
              </a:p>
            </p:txBody>
          </p:sp>
        </mc:Choice>
        <mc:Fallback xmlns="">
          <p:sp>
            <p:nvSpPr>
              <p:cNvPr id="5" name="內容版面配置區 4">
                <a:extLst>
                  <a:ext uri="{FF2B5EF4-FFF2-40B4-BE49-F238E27FC236}">
                    <a16:creationId xmlns:a16="http://schemas.microsoft.com/office/drawing/2014/main" id="{B74DC22B-D3DF-BED7-FD31-7A926A048918}"/>
                  </a:ext>
                </a:extLst>
              </p:cNvPr>
              <p:cNvSpPr>
                <a:spLocks noGrp="1" noRot="1" noChangeAspect="1" noMove="1" noResize="1" noEditPoints="1" noAdjustHandles="1" noChangeArrowheads="1" noChangeShapeType="1" noTextEdit="1"/>
              </p:cNvSpPr>
              <p:nvPr>
                <p:ph sz="quarter" idx="10"/>
              </p:nvPr>
            </p:nvSpPr>
            <p:spPr>
              <a:xfrm>
                <a:off x="4385388" y="2843357"/>
                <a:ext cx="6303396" cy="1171286"/>
              </a:xfrm>
              <a:blipFill>
                <a:blip r:embed="rId2"/>
                <a:stretch>
                  <a:fillRect l="-3482" t="-1606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41446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字版面配置區 2">
                <a:extLst>
                  <a:ext uri="{FF2B5EF4-FFF2-40B4-BE49-F238E27FC236}">
                    <a16:creationId xmlns:a16="http://schemas.microsoft.com/office/drawing/2014/main" id="{1FEB215C-FE6E-A7B0-63BC-313AB58BA200}"/>
                  </a:ext>
                </a:extLst>
              </p:cNvPr>
              <p:cNvSpPr>
                <a:spLocks noGrp="1"/>
              </p:cNvSpPr>
              <p:nvPr>
                <p:ph type="body" sz="quarter" idx="10"/>
              </p:nvPr>
            </p:nvSpPr>
            <p:spPr>
              <a:xfrm>
                <a:off x="2444620" y="200315"/>
                <a:ext cx="5840413" cy="436563"/>
              </a:xfrm>
            </p:spPr>
            <p:txBody>
              <a:bodyPr/>
              <a:lstStyle/>
              <a:p>
                <a:r>
                  <a:rPr lang="en-US" altLang="zh-TW" dirty="0"/>
                  <a:t>CDI </a:t>
                </a:r>
                <a:r>
                  <a:rPr lang="zh-TW" altLang="en-US" dirty="0"/>
                  <a:t>方法</a:t>
                </a:r>
                <a:r>
                  <a:rPr lang="en-US" altLang="zh-TW" dirty="0"/>
                  <a:t>—</a:t>
                </a:r>
                <a14:m>
                  <m:oMath xmlns:m="http://schemas.openxmlformats.org/officeDocument/2006/math">
                    <m:r>
                      <a:rPr lang="zh-TW" altLang="en-US" i="1" dirty="0">
                        <a:latin typeface="Cambria Math" panose="02040503050406030204" pitchFamily="18" charset="0"/>
                      </a:rPr>
                      <m:t> </m:t>
                    </m:r>
                    <m:r>
                      <a:rPr lang="zh-TW" altLang="en-US" i="1">
                        <a:latin typeface="Cambria Math" panose="02040503050406030204" pitchFamily="18" charset="0"/>
                      </a:rPr>
                      <m:t>𝝉</m:t>
                    </m:r>
                    <m:r>
                      <a:rPr lang="en-US" altLang="zh-TW" i="1">
                        <a:latin typeface="Cambria Math" panose="02040503050406030204" pitchFamily="18" charset="0"/>
                      </a:rPr>
                      <m:t>=10</m:t>
                    </m:r>
                  </m:oMath>
                </a14:m>
                <a:endParaRPr lang="zh-TW" altLang="en-US" dirty="0"/>
              </a:p>
              <a:p>
                <a:endParaRPr lang="zh-TW" altLang="en-US" dirty="0"/>
              </a:p>
            </p:txBody>
          </p:sp>
        </mc:Choice>
        <mc:Fallback xmlns="">
          <p:sp>
            <p:nvSpPr>
              <p:cNvPr id="3" name="文字版面配置區 2">
                <a:extLst>
                  <a:ext uri="{FF2B5EF4-FFF2-40B4-BE49-F238E27FC236}">
                    <a16:creationId xmlns:a16="http://schemas.microsoft.com/office/drawing/2014/main" id="{1FEB215C-FE6E-A7B0-63BC-313AB58BA200}"/>
                  </a:ext>
                </a:extLst>
              </p:cNvPr>
              <p:cNvSpPr>
                <a:spLocks noGrp="1" noRot="1" noChangeAspect="1" noMove="1" noResize="1" noEditPoints="1" noAdjustHandles="1" noChangeArrowheads="1" noChangeShapeType="1" noTextEdit="1"/>
              </p:cNvSpPr>
              <p:nvPr>
                <p:ph type="body" sz="quarter" idx="10"/>
              </p:nvPr>
            </p:nvSpPr>
            <p:spPr>
              <a:xfrm>
                <a:off x="2444620" y="200315"/>
                <a:ext cx="5840413" cy="436563"/>
              </a:xfrm>
              <a:blipFill>
                <a:blip r:embed="rId2"/>
                <a:stretch>
                  <a:fillRect l="-2610" t="-29577" b="-69014"/>
                </a:stretch>
              </a:blipFill>
            </p:spPr>
            <p:txBody>
              <a:bodyPr/>
              <a:lstStyle/>
              <a:p>
                <a:r>
                  <a:rPr lang="zh-TW" altLang="en-US">
                    <a:noFill/>
                  </a:rPr>
                  <a:t> </a:t>
                </a:r>
              </a:p>
            </p:txBody>
          </p:sp>
        </mc:Fallback>
      </mc:AlternateContent>
      <p:sp>
        <p:nvSpPr>
          <p:cNvPr id="4" name="內容版面配置區 3">
            <a:extLst>
              <a:ext uri="{FF2B5EF4-FFF2-40B4-BE49-F238E27FC236}">
                <a16:creationId xmlns:a16="http://schemas.microsoft.com/office/drawing/2014/main" id="{B5B0A4BA-FD1A-2979-A7B5-BC0D8C8CDB0D}"/>
              </a:ext>
            </a:extLst>
          </p:cNvPr>
          <p:cNvSpPr>
            <a:spLocks noGrp="1"/>
          </p:cNvSpPr>
          <p:nvPr>
            <p:ph sz="quarter" idx="11"/>
          </p:nvPr>
        </p:nvSpPr>
        <p:spPr>
          <a:xfrm>
            <a:off x="1268267" y="200314"/>
            <a:ext cx="1176353" cy="436564"/>
          </a:xfrm>
        </p:spPr>
        <p:txBody>
          <a:bodyPr/>
          <a:lstStyle/>
          <a:p>
            <a:r>
              <a:rPr lang="en-US" altLang="zh-TW" dirty="0"/>
              <a:t>2.2.2</a:t>
            </a:r>
            <a:endParaRPr lang="zh-TW" alt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D0C89425-EE48-D6F9-F565-1EE44094EC94}"/>
                  </a:ext>
                </a:extLst>
              </p:cNvPr>
              <p:cNvSpPr txBox="1"/>
              <p:nvPr/>
            </p:nvSpPr>
            <p:spPr>
              <a:xfrm>
                <a:off x="273001" y="939283"/>
                <a:ext cx="11775929" cy="2805768"/>
              </a:xfrm>
              <a:prstGeom prst="rect">
                <a:avLst/>
              </a:prstGeom>
              <a:noFill/>
            </p:spPr>
            <p:txBody>
              <a:bodyPr wrap="square" rtlCol="0">
                <a:spAutoFit/>
              </a:bodyPr>
              <a:lstStyle/>
              <a:p>
                <a:pPr marL="285750" indent="-285750">
                  <a:lnSpc>
                    <a:spcPct val="150000"/>
                  </a:lnSpc>
                  <a:buClr>
                    <a:schemeClr val="accent1"/>
                  </a:buClr>
                  <a:buFont typeface="Arial" panose="020B0604020202020204" pitchFamily="34" charset="0"/>
                  <a:buChar char="•"/>
                </a:pP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OptionMetrics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2001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年至</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3</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5</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日至</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日的每日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S&amp;P 500 </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指數資料與指數選擇權資料</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嘗試使用距到期日為</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個交易日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14:m>
                  <m:oMath xmlns:m="http://schemas.openxmlformats.org/officeDocument/2006/math">
                    <m:r>
                      <a:rPr lang="zh-TW" altLang="en-US" sz="2000" i="1" dirty="0" smtClean="0">
                        <a:solidFill>
                          <a:schemeClr val="tx2"/>
                        </a:solidFill>
                        <a:latin typeface="Cambria Math" panose="02040503050406030204" pitchFamily="18" charset="0"/>
                        <a:ea typeface="Microsoft JhengHei" panose="020B0604030504040204" pitchFamily="34" charset="-120"/>
                        <a:cs typeface="+mn-ea"/>
                      </a:rPr>
                      <m:t>𝜏</m:t>
                    </m:r>
                  </m:oMath>
                </a14:m>
                <a:r>
                  <a:rPr lang="en-US" altLang="zh-TW" sz="2000" dirty="0">
                    <a:solidFill>
                      <a:schemeClr val="tx2"/>
                    </a:solidFill>
                    <a:latin typeface="Microsoft JhengHei" panose="020B0604030504040204" pitchFamily="34" charset="-120"/>
                    <a:ea typeface="Microsoft JhengHei" panose="020B0604030504040204" pitchFamily="34" charset="-120"/>
                    <a:cs typeface="+mn-ea"/>
                  </a:rPr>
                  <a:t> =10)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之選擇權數據</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Datasize</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200~240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base</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4~20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30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等</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738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種參數組合</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估計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3</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22</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a:t>
                </a:r>
                <a14:m>
                  <m:oMath xmlns:m="http://schemas.openxmlformats.org/officeDocument/2006/math">
                    <m:r>
                      <a:rPr lang="zh-TW" altLang="en-US" sz="2000" i="1" dirty="0">
                        <a:solidFill>
                          <a:schemeClr val="tx2"/>
                        </a:solidFill>
                        <a:latin typeface="Cambria Math" panose="02040503050406030204" pitchFamily="18" charset="0"/>
                        <a:ea typeface="Microsoft JhengHei" panose="020B0604030504040204" pitchFamily="34" charset="-120"/>
                        <a:cs typeface="+mn-ea"/>
                      </a:rPr>
                      <m:t>𝜏</m:t>
                    </m:r>
                  </m:oMath>
                </a14:m>
                <a:r>
                  <a:rPr lang="en-US" altLang="zh-TW" sz="2000" dirty="0">
                    <a:solidFill>
                      <a:schemeClr val="tx2"/>
                    </a:solidFill>
                    <a:latin typeface="Microsoft JhengHei" panose="020B0604030504040204" pitchFamily="34" charset="-120"/>
                    <a:ea typeface="Microsoft JhengHei" panose="020B0604030504040204" pitchFamily="34" charset="-120"/>
                    <a:cs typeface="+mn-ea"/>
                  </a:rPr>
                  <a:t> =10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之定價核</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未加入權重限制式之實驗，得到不同參數下的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7,380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筆定價核估計結果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加入權重限制式之實驗，得到不同參數下的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7,380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筆定價核估計結果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Choice>
        <mc:Fallback xmlns="">
          <p:sp>
            <p:nvSpPr>
              <p:cNvPr id="5" name="文字方塊 4">
                <a:extLst>
                  <a:ext uri="{FF2B5EF4-FFF2-40B4-BE49-F238E27FC236}">
                    <a16:creationId xmlns:a16="http://schemas.microsoft.com/office/drawing/2014/main" id="{D0C89425-EE48-D6F9-F565-1EE44094EC94}"/>
                  </a:ext>
                </a:extLst>
              </p:cNvPr>
              <p:cNvSpPr txBox="1">
                <a:spLocks noRot="1" noChangeAspect="1" noMove="1" noResize="1" noEditPoints="1" noAdjustHandles="1" noChangeArrowheads="1" noChangeShapeType="1" noTextEdit="1"/>
              </p:cNvSpPr>
              <p:nvPr/>
            </p:nvSpPr>
            <p:spPr>
              <a:xfrm>
                <a:off x="273001" y="939283"/>
                <a:ext cx="11775929" cy="2805768"/>
              </a:xfrm>
              <a:prstGeom prst="rect">
                <a:avLst/>
              </a:prstGeom>
              <a:blipFill>
                <a:blip r:embed="rId3"/>
                <a:stretch>
                  <a:fillRect l="-466" b="-304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1979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CB522942-789F-7534-A322-1CF3BFCFBB05}"/>
                  </a:ext>
                </a:extLst>
              </p:cNvPr>
              <p:cNvGraphicFramePr>
                <a:graphicFrameLocks noGrp="1"/>
              </p:cNvGraphicFramePr>
              <p:nvPr>
                <p:extLst>
                  <p:ext uri="{D42A27DB-BD31-4B8C-83A1-F6EECF244321}">
                    <p14:modId xmlns:p14="http://schemas.microsoft.com/office/powerpoint/2010/main" val="4184267210"/>
                  </p:ext>
                </p:extLst>
              </p:nvPr>
            </p:nvGraphicFramePr>
            <p:xfrm>
              <a:off x="460311" y="1870441"/>
              <a:ext cx="11271378" cy="4918648"/>
            </p:xfrm>
            <a:graphic>
              <a:graphicData uri="http://schemas.openxmlformats.org/drawingml/2006/table">
                <a:tbl>
                  <a:tblPr firstRow="1" bandRow="1">
                    <a:tableStyleId>{5C22544A-7EE6-4342-B048-85BDC9FD1C3A}</a:tableStyleId>
                  </a:tblPr>
                  <a:tblGrid>
                    <a:gridCol w="6239069">
                      <a:extLst>
                        <a:ext uri="{9D8B030D-6E8A-4147-A177-3AD203B41FA5}">
                          <a16:colId xmlns:a16="http://schemas.microsoft.com/office/drawing/2014/main" val="2510526303"/>
                        </a:ext>
                      </a:extLst>
                    </a:gridCol>
                    <a:gridCol w="2811625">
                      <a:extLst>
                        <a:ext uri="{9D8B030D-6E8A-4147-A177-3AD203B41FA5}">
                          <a16:colId xmlns:a16="http://schemas.microsoft.com/office/drawing/2014/main" val="2574596583"/>
                        </a:ext>
                      </a:extLst>
                    </a:gridCol>
                    <a:gridCol w="2220684">
                      <a:extLst>
                        <a:ext uri="{9D8B030D-6E8A-4147-A177-3AD203B41FA5}">
                          <a16:colId xmlns:a16="http://schemas.microsoft.com/office/drawing/2014/main" val="1544272040"/>
                        </a:ext>
                      </a:extLst>
                    </a:gridCol>
                  </a:tblGrid>
                  <a:tr h="370840">
                    <a:tc gridSpan="3">
                      <a:txBody>
                        <a:bodyPr/>
                        <a:lstStyle/>
                        <a:p>
                          <a:pPr algn="ctr" fontAlgn="t">
                            <a:spcBef>
                              <a:spcPts val="750"/>
                            </a:spcBef>
                            <a:spcAft>
                              <a:spcPts val="750"/>
                            </a:spcAft>
                            <a:buNone/>
                          </a:pPr>
                          <a:r>
                            <a:rPr lang="en-US" dirty="0">
                              <a:effectLst/>
                            </a:rPr>
                            <a:t>CDI method as proposed by Linn et al.(2017)</a:t>
                          </a:r>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4065975892"/>
                      </a:ext>
                    </a:extLst>
                  </a:tr>
                  <a:tr h="300394">
                    <a:tc>
                      <a:txBody>
                        <a:bodyPr/>
                        <a:lstStyle/>
                        <a:p>
                          <a:pPr algn="ctr">
                            <a:spcBef>
                              <a:spcPts val="750"/>
                            </a:spcBef>
                            <a:spcAft>
                              <a:spcPts val="750"/>
                            </a:spcAft>
                            <a:buNone/>
                          </a:pPr>
                          <a:r>
                            <a:rPr lang="en-US" dirty="0">
                              <a:effectLst/>
                            </a:rPr>
                            <a:t>Comparison of CDI Methods</a:t>
                          </a:r>
                        </a:p>
                      </a:txBody>
                      <a:tcPr anchor="ctr"/>
                    </a:tc>
                    <a:tc>
                      <a:txBody>
                        <a:bodyPr/>
                        <a:lstStyle/>
                        <a:p>
                          <a:pPr algn="ctr">
                            <a:spcBef>
                              <a:spcPts val="750"/>
                            </a:spcBef>
                            <a:spcAft>
                              <a:spcPts val="750"/>
                            </a:spcAft>
                            <a:buNone/>
                          </a:pPr>
                          <a:r>
                            <a:rPr lang="en-US" dirty="0">
                              <a:effectLst/>
                            </a:rPr>
                            <a:t>CDI Method</a:t>
                          </a:r>
                        </a:p>
                      </a:txBody>
                      <a:tcPr anchor="ctr"/>
                    </a:tc>
                    <a:tc>
                      <a:txBody>
                        <a:bodyPr/>
                        <a:lstStyle/>
                        <a:p>
                          <a:pPr algn="ctr">
                            <a:spcBef>
                              <a:spcPts val="750"/>
                            </a:spcBef>
                            <a:spcAft>
                              <a:spcPts val="750"/>
                            </a:spcAft>
                            <a:buNone/>
                          </a:pPr>
                          <a:r>
                            <a:rPr lang="en-US">
                              <a:effectLst/>
                            </a:rPr>
                            <a:t>CDI Method with weight constraint</a:t>
                          </a:r>
                        </a:p>
                      </a:txBody>
                      <a:tcPr anchor="ctr"/>
                    </a:tc>
                    <a:extLst>
                      <a:ext uri="{0D108BD9-81ED-4DB2-BD59-A6C34878D82A}">
                        <a16:rowId xmlns:a16="http://schemas.microsoft.com/office/drawing/2014/main" val="3816390971"/>
                      </a:ext>
                    </a:extLst>
                  </a:tr>
                  <a:tr h="370840">
                    <a:tc>
                      <a:txBody>
                        <a:bodyPr/>
                        <a:lstStyle/>
                        <a:p>
                          <a:pPr algn="ctr">
                            <a:spcBef>
                              <a:spcPts val="750"/>
                            </a:spcBef>
                            <a:spcAft>
                              <a:spcPts val="750"/>
                            </a:spcAft>
                            <a:buNone/>
                          </a:pPr>
                          <a:r>
                            <a:rPr lang="en-US">
                              <a:effectLst/>
                            </a:rPr>
                            <a:t>Total number of experimental data</a:t>
                          </a:r>
                        </a:p>
                      </a:txBody>
                      <a:tcPr anchor="ctr"/>
                    </a:tc>
                    <a:tc>
                      <a:txBody>
                        <a:bodyPr/>
                        <a:lstStyle/>
                        <a:p>
                          <a:pPr algn="ctr">
                            <a:spcBef>
                              <a:spcPts val="750"/>
                            </a:spcBef>
                            <a:spcAft>
                              <a:spcPts val="750"/>
                            </a:spcAft>
                            <a:buNone/>
                          </a:pPr>
                          <a:r>
                            <a:rPr lang="en-US" altLang="zh-TW" dirty="0">
                              <a:effectLst/>
                            </a:rPr>
                            <a:t>7380</a:t>
                          </a:r>
                        </a:p>
                      </a:txBody>
                      <a:tcPr anchor="ctr"/>
                    </a:tc>
                    <a:tc>
                      <a:txBody>
                        <a:bodyPr/>
                        <a:lstStyle/>
                        <a:p>
                          <a:pPr algn="ctr">
                            <a:spcBef>
                              <a:spcPts val="750"/>
                            </a:spcBef>
                            <a:spcAft>
                              <a:spcPts val="750"/>
                            </a:spcAft>
                            <a:buNone/>
                          </a:pPr>
                          <a:r>
                            <a:rPr lang="en-US" altLang="zh-TW" dirty="0">
                              <a:effectLst/>
                            </a:rPr>
                            <a:t>7380</a:t>
                          </a:r>
                        </a:p>
                      </a:txBody>
                      <a:tcPr anchor="ctr"/>
                    </a:tc>
                    <a:extLst>
                      <a:ext uri="{0D108BD9-81ED-4DB2-BD59-A6C34878D82A}">
                        <a16:rowId xmlns:a16="http://schemas.microsoft.com/office/drawing/2014/main" val="2660380914"/>
                      </a:ext>
                    </a:extLst>
                  </a:tr>
                  <a:tr h="387224">
                    <a:tc>
                      <a:txBody>
                        <a:bodyPr/>
                        <a:lstStyle/>
                        <a:p>
                          <a:pPr algn="ctr">
                            <a:spcBef>
                              <a:spcPts val="750"/>
                            </a:spcBef>
                            <a:spcAft>
                              <a:spcPts val="750"/>
                            </a:spcAft>
                            <a:buNone/>
                          </a:pPr>
                          <a:r>
                            <a:rPr lang="en-US" dirty="0">
                              <a:effectLst/>
                            </a:rPr>
                            <a:t>Number of results failing to significantly reject uniform distribution</a:t>
                          </a:r>
                        </a:p>
                      </a:txBody>
                      <a:tcPr anchor="ctr"/>
                    </a:tc>
                    <a:tc>
                      <a:txBody>
                        <a:bodyPr/>
                        <a:lstStyle/>
                        <a:p>
                          <a:pPr algn="ctr">
                            <a:spcBef>
                              <a:spcPts val="750"/>
                            </a:spcBef>
                            <a:spcAft>
                              <a:spcPts val="750"/>
                            </a:spcAft>
                            <a:buNone/>
                          </a:pPr>
                          <a:r>
                            <a:rPr lang="en-US" altLang="zh-TW">
                              <a:effectLst/>
                            </a:rPr>
                            <a:t>0</a:t>
                          </a:r>
                        </a:p>
                      </a:txBody>
                      <a:tcPr anchor="ctr"/>
                    </a:tc>
                    <a:tc>
                      <a:txBody>
                        <a:bodyPr/>
                        <a:lstStyle/>
                        <a:p>
                          <a:pPr algn="ctr">
                            <a:spcBef>
                              <a:spcPts val="750"/>
                            </a:spcBef>
                            <a:spcAft>
                              <a:spcPts val="750"/>
                            </a:spcAft>
                            <a:buNone/>
                          </a:pPr>
                          <a:r>
                            <a:rPr lang="en-US" altLang="zh-TW">
                              <a:effectLst/>
                            </a:rPr>
                            <a:t>0</a:t>
                          </a:r>
                        </a:p>
                      </a:txBody>
                      <a:tcPr anchor="ctr"/>
                    </a:tc>
                    <a:extLst>
                      <a:ext uri="{0D108BD9-81ED-4DB2-BD59-A6C34878D82A}">
                        <a16:rowId xmlns:a16="http://schemas.microsoft.com/office/drawing/2014/main" val="2260777970"/>
                      </a:ext>
                    </a:extLst>
                  </a:tr>
                  <a:tr h="370840">
                    <a:tc>
                      <a:txBody>
                        <a:bodyPr/>
                        <a:lstStyle/>
                        <a:p>
                          <a:pPr algn="ctr">
                            <a:spcBef>
                              <a:spcPts val="750"/>
                            </a:spcBef>
                            <a:spcAft>
                              <a:spcPts val="750"/>
                            </a:spcAft>
                            <a:buNone/>
                          </a:pPr>
                          <a:r>
                            <a:rPr lang="en-US" dirty="0">
                              <a:effectLst/>
                            </a:rPr>
                            <a:t>Number of results failing to significantly reject uniform distribution(%)</a:t>
                          </a:r>
                        </a:p>
                      </a:txBody>
                      <a:tcPr anchor="ctr"/>
                    </a:tc>
                    <a:tc>
                      <a:txBody>
                        <a:bodyPr/>
                        <a:lstStyle/>
                        <a:p>
                          <a:pPr algn="ctr">
                            <a:spcBef>
                              <a:spcPts val="750"/>
                            </a:spcBef>
                            <a:spcAft>
                              <a:spcPts val="750"/>
                            </a:spcAft>
                            <a:buNone/>
                          </a:pPr>
                          <a:r>
                            <a:rPr lang="en-US" altLang="zh-TW" dirty="0">
                              <a:effectLst/>
                            </a:rPr>
                            <a:t>0.00%</a:t>
                          </a:r>
                        </a:p>
                      </a:txBody>
                      <a:tcPr anchor="ctr"/>
                    </a:tc>
                    <a:tc>
                      <a:txBody>
                        <a:bodyPr/>
                        <a:lstStyle/>
                        <a:p>
                          <a:pPr algn="ctr">
                            <a:spcBef>
                              <a:spcPts val="750"/>
                            </a:spcBef>
                            <a:spcAft>
                              <a:spcPts val="750"/>
                            </a:spcAft>
                            <a:buNone/>
                          </a:pPr>
                          <a:r>
                            <a:rPr lang="en-US" altLang="zh-TW" dirty="0">
                              <a:effectLst/>
                            </a:rPr>
                            <a:t>0.00%</a:t>
                          </a:r>
                        </a:p>
                      </a:txBody>
                      <a:tcPr anchor="ctr"/>
                    </a:tc>
                    <a:extLst>
                      <a:ext uri="{0D108BD9-81ED-4DB2-BD59-A6C34878D82A}">
                        <a16:rowId xmlns:a16="http://schemas.microsoft.com/office/drawing/2014/main" val="3060344781"/>
                      </a:ext>
                    </a:extLst>
                  </a:tr>
                  <a:tr h="370840">
                    <a:tc>
                      <a:txBody>
                        <a:bodyPr/>
                        <a:lstStyle/>
                        <a:p>
                          <a:pPr algn="ctr">
                            <a:spcBef>
                              <a:spcPts val="750"/>
                            </a:spcBef>
                            <a:spcAft>
                              <a:spcPts val="750"/>
                            </a:spcAft>
                            <a:buNone/>
                          </a:pPr>
                          <a:r>
                            <a:rPr lang="en-US">
                              <a:effectLst/>
                            </a:rPr>
                            <a:t>Maximum Kolmogorov-Smirnov test p-value</a:t>
                          </a:r>
                        </a:p>
                      </a:txBody>
                      <a:tcPr anchor="ctr"/>
                    </a:tc>
                    <a:tc>
                      <a:txBody>
                        <a:bodyPr/>
                        <a:lstStyle/>
                        <a:p>
                          <a:pPr algn="ctr">
                            <a:spcBef>
                              <a:spcPts val="750"/>
                            </a:spcBef>
                            <a:spcAft>
                              <a:spcPts val="750"/>
                            </a:spcAft>
                            <a:buNone/>
                          </a:pPr>
                          <a14:m>
                            <m:oMathPara xmlns:m="http://schemas.openxmlformats.org/officeDocument/2006/math">
                              <m:oMathParaPr>
                                <m:jc m:val="centerGroup"/>
                              </m:oMathParaPr>
                              <m:oMath xmlns:m="http://schemas.openxmlformats.org/officeDocument/2006/math">
                                <m:r>
                                  <a:rPr lang="en-US" b="1" i="1" smtClean="0">
                                    <a:solidFill>
                                      <a:srgbClr val="FF0000"/>
                                    </a:solidFill>
                                    <a:effectLst/>
                                    <a:latin typeface="Cambria Math" panose="02040503050406030204" pitchFamily="18" charset="0"/>
                                  </a:rPr>
                                  <m:t>𝟗</m:t>
                                </m:r>
                                <m:r>
                                  <a:rPr lang="en-US" b="1" i="1" smtClean="0">
                                    <a:solidFill>
                                      <a:srgbClr val="FF0000"/>
                                    </a:solidFill>
                                    <a:effectLst/>
                                    <a:latin typeface="Cambria Math" panose="02040503050406030204" pitchFamily="18" charset="0"/>
                                  </a:rPr>
                                  <m:t>.</m:t>
                                </m:r>
                                <m:r>
                                  <a:rPr lang="en-US" b="1" i="1" smtClean="0">
                                    <a:solidFill>
                                      <a:srgbClr val="FF0000"/>
                                    </a:solidFill>
                                    <a:effectLst/>
                                    <a:latin typeface="Cambria Math" panose="02040503050406030204" pitchFamily="18" charset="0"/>
                                  </a:rPr>
                                  <m:t>𝟎𝟕</m:t>
                                </m:r>
                                <m:r>
                                  <a:rPr lang="en-US" b="1" i="1" smtClean="0">
                                    <a:solidFill>
                                      <a:srgbClr val="FF0000"/>
                                    </a:solidFill>
                                    <a:effectLst/>
                                    <a:latin typeface="Cambria Math" panose="02040503050406030204" pitchFamily="18" charset="0"/>
                                    <a:ea typeface="Cambria Math" panose="02040503050406030204" pitchFamily="18" charset="0"/>
                                  </a:rPr>
                                  <m:t>×</m:t>
                                </m:r>
                                <m:sSup>
                                  <m:sSupPr>
                                    <m:ctrlPr>
                                      <a:rPr lang="en-US" altLang="zh-TW" b="1" i="1" smtClean="0">
                                        <a:solidFill>
                                          <a:srgbClr val="FF0000"/>
                                        </a:solidFill>
                                        <a:effectLst/>
                                        <a:latin typeface="Cambria Math" panose="02040503050406030204" pitchFamily="18" charset="0"/>
                                        <a:ea typeface="Cambria Math" panose="02040503050406030204" pitchFamily="18" charset="0"/>
                                      </a:rPr>
                                    </m:ctrlPr>
                                  </m:sSupPr>
                                  <m:e>
                                    <m:r>
                                      <a:rPr lang="en-US" altLang="zh-TW" b="1" i="1" smtClean="0">
                                        <a:solidFill>
                                          <a:srgbClr val="FF0000"/>
                                        </a:solidFill>
                                        <a:effectLst/>
                                        <a:latin typeface="Cambria Math" panose="02040503050406030204" pitchFamily="18" charset="0"/>
                                        <a:ea typeface="Cambria Math" panose="02040503050406030204" pitchFamily="18" charset="0"/>
                                      </a:rPr>
                                      <m:t>𝟏𝟎</m:t>
                                    </m:r>
                                  </m:e>
                                  <m:sup>
                                    <m:r>
                                      <a:rPr lang="en-US" altLang="zh-TW" b="1" i="1" smtClean="0">
                                        <a:solidFill>
                                          <a:srgbClr val="FF0000"/>
                                        </a:solidFill>
                                        <a:effectLst/>
                                        <a:latin typeface="Cambria Math" panose="02040503050406030204" pitchFamily="18" charset="0"/>
                                        <a:ea typeface="Cambria Math" panose="02040503050406030204" pitchFamily="18" charset="0"/>
                                      </a:rPr>
                                      <m:t>−</m:t>
                                    </m:r>
                                    <m:r>
                                      <a:rPr lang="en-US" altLang="zh-TW" b="1" i="1" smtClean="0">
                                        <a:solidFill>
                                          <a:srgbClr val="FF0000"/>
                                        </a:solidFill>
                                        <a:effectLst/>
                                        <a:latin typeface="Cambria Math" panose="02040503050406030204" pitchFamily="18" charset="0"/>
                                        <a:ea typeface="Cambria Math" panose="02040503050406030204" pitchFamily="18" charset="0"/>
                                      </a:rPr>
                                      <m:t>𝟓𝟏</m:t>
                                    </m:r>
                                  </m:sup>
                                </m:sSup>
                              </m:oMath>
                            </m:oMathPara>
                          </a14:m>
                          <a:endParaRPr lang="en-US" b="1" dirty="0">
                            <a:solidFill>
                              <a:srgbClr val="FF0000"/>
                            </a:solidFill>
                            <a:effectLst/>
                          </a:endParaRPr>
                        </a:p>
                      </a:txBody>
                      <a:tcPr anchor="ctr"/>
                    </a:tc>
                    <a:tc>
                      <a:txBody>
                        <a:bodyPr/>
                        <a:lstStyle/>
                        <a:p>
                          <a:pPr marL="0" marR="0" lvl="0" indent="0" algn="ctr" defTabSz="912684" rtl="0" eaLnBrk="1" fontAlgn="auto" latinLnBrk="0" hangingPunct="1">
                            <a:lnSpc>
                              <a:spcPct val="100000"/>
                            </a:lnSpc>
                            <a:spcBef>
                              <a:spcPts val="750"/>
                            </a:spcBef>
                            <a:spcAft>
                              <a:spcPts val="75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effectLst/>
                                    <a:latin typeface="Cambria Math" panose="02040503050406030204" pitchFamily="18" charset="0"/>
                                    <a:ea typeface="+mn-ea"/>
                                  </a:rPr>
                                  <m:t>1.10</m:t>
                                </m:r>
                                <m:r>
                                  <a:rPr lang="en-US" altLang="zh-TW" b="0" i="1" smtClean="0">
                                    <a:effectLst/>
                                    <a:latin typeface="Cambria Math" panose="02040503050406030204" pitchFamily="18" charset="0"/>
                                    <a:ea typeface="Cambria Math" panose="02040503050406030204" pitchFamily="18" charset="0"/>
                                  </a:rPr>
                                  <m:t>×</m:t>
                                </m:r>
                                <m:sSup>
                                  <m:sSupPr>
                                    <m:ctrlPr>
                                      <a:rPr lang="en-US" altLang="zh-TW" b="0" i="1" smtClean="0">
                                        <a:effectLst/>
                                        <a:latin typeface="Cambria Math" panose="02040503050406030204" pitchFamily="18" charset="0"/>
                                        <a:ea typeface="Cambria Math" panose="02040503050406030204" pitchFamily="18" charset="0"/>
                                      </a:rPr>
                                    </m:ctrlPr>
                                  </m:sSupPr>
                                  <m:e>
                                    <m:r>
                                      <a:rPr lang="en-US" altLang="zh-TW" b="0" i="1" smtClean="0">
                                        <a:effectLst/>
                                        <a:latin typeface="Cambria Math" panose="02040503050406030204" pitchFamily="18" charset="0"/>
                                        <a:ea typeface="Cambria Math" panose="02040503050406030204" pitchFamily="18" charset="0"/>
                                      </a:rPr>
                                      <m:t>10</m:t>
                                    </m:r>
                                  </m:e>
                                  <m:sup>
                                    <m:r>
                                      <a:rPr lang="en-US" altLang="zh-TW" b="0" i="1" smtClean="0">
                                        <a:effectLst/>
                                        <a:latin typeface="Cambria Math" panose="02040503050406030204" pitchFamily="18" charset="0"/>
                                        <a:ea typeface="Cambria Math" panose="02040503050406030204" pitchFamily="18" charset="0"/>
                                      </a:rPr>
                                      <m:t>−67</m:t>
                                    </m:r>
                                  </m:sup>
                                </m:sSup>
                              </m:oMath>
                            </m:oMathPara>
                          </a14:m>
                          <a:endParaRPr lang="en-US" altLang="zh-TW" dirty="0">
                            <a:effectLst/>
                          </a:endParaRPr>
                        </a:p>
                      </a:txBody>
                      <a:tcPr anchor="ctr"/>
                    </a:tc>
                    <a:extLst>
                      <a:ext uri="{0D108BD9-81ED-4DB2-BD59-A6C34878D82A}">
                        <a16:rowId xmlns:a16="http://schemas.microsoft.com/office/drawing/2014/main" val="1744669587"/>
                      </a:ext>
                    </a:extLst>
                  </a:tr>
                  <a:tr h="370840">
                    <a:tc>
                      <a:txBody>
                        <a:bodyPr/>
                        <a:lstStyle/>
                        <a:p>
                          <a:pPr algn="ctr">
                            <a:spcBef>
                              <a:spcPts val="750"/>
                            </a:spcBef>
                            <a:spcAft>
                              <a:spcPts val="750"/>
                            </a:spcAft>
                            <a:buNone/>
                          </a:pPr>
                          <a:r>
                            <a:rPr lang="en-US" dirty="0">
                              <a:effectLst/>
                            </a:rPr>
                            <a:t>Minimum Kolmogorov-Smirnov test statistic</a:t>
                          </a:r>
                        </a:p>
                      </a:txBody>
                      <a:tcPr anchor="ctr"/>
                    </a:tc>
                    <a:tc>
                      <a:txBody>
                        <a:bodyPr/>
                        <a:lstStyle/>
                        <a:p>
                          <a:pPr algn="ctr">
                            <a:spcBef>
                              <a:spcPts val="750"/>
                            </a:spcBef>
                            <a:spcAft>
                              <a:spcPts val="750"/>
                            </a:spcAft>
                            <a:buNone/>
                          </a:pPr>
                          <a:r>
                            <a:rPr lang="en-US" altLang="zh-TW" b="1" dirty="0">
                              <a:solidFill>
                                <a:srgbClr val="FF0000"/>
                              </a:solidFill>
                              <a:effectLst/>
                            </a:rPr>
                            <a:t>0.165</a:t>
                          </a:r>
                        </a:p>
                      </a:txBody>
                      <a:tcPr anchor="ctr"/>
                    </a:tc>
                    <a:tc>
                      <a:txBody>
                        <a:bodyPr/>
                        <a:lstStyle/>
                        <a:p>
                          <a:pPr algn="ctr">
                            <a:spcBef>
                              <a:spcPts val="750"/>
                            </a:spcBef>
                            <a:spcAft>
                              <a:spcPts val="750"/>
                            </a:spcAft>
                            <a:buNone/>
                          </a:pPr>
                          <a:r>
                            <a:rPr lang="en-US" altLang="zh-TW">
                              <a:effectLst/>
                            </a:rPr>
                            <a:t>0.191</a:t>
                          </a:r>
                        </a:p>
                      </a:txBody>
                      <a:tcPr anchor="ctr"/>
                    </a:tc>
                    <a:extLst>
                      <a:ext uri="{0D108BD9-81ED-4DB2-BD59-A6C34878D82A}">
                        <a16:rowId xmlns:a16="http://schemas.microsoft.com/office/drawing/2014/main" val="1575308996"/>
                      </a:ext>
                    </a:extLst>
                  </a:tr>
                  <a:tr h="370840">
                    <a:tc>
                      <a:txBody>
                        <a:bodyPr/>
                        <a:lstStyle/>
                        <a:p>
                          <a:pPr algn="ctr">
                            <a:spcBef>
                              <a:spcPts val="750"/>
                            </a:spcBef>
                            <a:spcAft>
                              <a:spcPts val="750"/>
                            </a:spcAft>
                            <a:buNone/>
                          </a:pPr>
                          <a:r>
                            <a:rPr lang="en-US" dirty="0">
                              <a:effectLst/>
                            </a:rPr>
                            <a:t>Number of experimental results yielding</a:t>
                          </a:r>
                          <a:r>
                            <a:rPr lang="zh-TW" altLang="en-US" dirty="0">
                              <a:effectLst/>
                            </a:rPr>
                            <a:t> </a:t>
                          </a:r>
                          <a:r>
                            <a:rPr lang="en-US" b="1" u="sng" dirty="0">
                              <a:effectLst/>
                            </a:rPr>
                            <a:t>unreasonable pricing kernel </a:t>
                          </a:r>
                          <a:r>
                            <a:rPr lang="en-US" dirty="0">
                              <a:effectLst/>
                            </a:rPr>
                            <a:t>estimations</a:t>
                          </a:r>
                        </a:p>
                      </a:txBody>
                      <a:tcPr anchor="ctr"/>
                    </a:tc>
                    <a:tc>
                      <a:txBody>
                        <a:bodyPr/>
                        <a:lstStyle/>
                        <a:p>
                          <a:pPr algn="ctr">
                            <a:spcBef>
                              <a:spcPts val="750"/>
                            </a:spcBef>
                            <a:spcAft>
                              <a:spcPts val="750"/>
                            </a:spcAft>
                            <a:buNone/>
                          </a:pPr>
                          <a:r>
                            <a:rPr lang="en-US" altLang="zh-TW" dirty="0">
                              <a:effectLst/>
                            </a:rPr>
                            <a:t>1398</a:t>
                          </a:r>
                        </a:p>
                      </a:txBody>
                      <a:tcPr anchor="ctr"/>
                    </a:tc>
                    <a:tc>
                      <a:txBody>
                        <a:bodyPr/>
                        <a:lstStyle/>
                        <a:p>
                          <a:pPr algn="ctr">
                            <a:spcBef>
                              <a:spcPts val="750"/>
                            </a:spcBef>
                            <a:spcAft>
                              <a:spcPts val="750"/>
                            </a:spcAft>
                            <a:buNone/>
                          </a:pPr>
                          <a:r>
                            <a:rPr lang="en-US" altLang="zh-TW">
                              <a:effectLst/>
                            </a:rPr>
                            <a:t>0</a:t>
                          </a:r>
                        </a:p>
                      </a:txBody>
                      <a:tcPr anchor="ctr"/>
                    </a:tc>
                    <a:extLst>
                      <a:ext uri="{0D108BD9-81ED-4DB2-BD59-A6C34878D82A}">
                        <a16:rowId xmlns:a16="http://schemas.microsoft.com/office/drawing/2014/main" val="215485756"/>
                      </a:ext>
                    </a:extLst>
                  </a:tr>
                  <a:tr h="370840">
                    <a:tc>
                      <a:txBody>
                        <a:bodyPr/>
                        <a:lstStyle/>
                        <a:p>
                          <a:pPr algn="ctr">
                            <a:spcBef>
                              <a:spcPts val="750"/>
                            </a:spcBef>
                            <a:spcAft>
                              <a:spcPts val="750"/>
                            </a:spcAft>
                            <a:buNone/>
                          </a:pPr>
                          <a:r>
                            <a:rPr lang="en-US" dirty="0">
                              <a:effectLst/>
                            </a:rPr>
                            <a:t>Number of experimental results yielding</a:t>
                          </a:r>
                          <a:r>
                            <a:rPr lang="zh-TW" altLang="en-US" dirty="0">
                              <a:effectLst/>
                            </a:rPr>
                            <a:t> </a:t>
                          </a:r>
                          <a:r>
                            <a:rPr lang="en-US" b="1" u="sng" dirty="0">
                              <a:effectLst/>
                            </a:rPr>
                            <a:t>unreasonable pricing kernel </a:t>
                          </a:r>
                          <a:r>
                            <a:rPr lang="en-US" dirty="0">
                              <a:effectLst/>
                            </a:rPr>
                            <a:t>estimations (%)</a:t>
                          </a:r>
                        </a:p>
                      </a:txBody>
                      <a:tcPr anchor="ctr"/>
                    </a:tc>
                    <a:tc>
                      <a:txBody>
                        <a:bodyPr/>
                        <a:lstStyle/>
                        <a:p>
                          <a:pPr algn="ctr">
                            <a:spcBef>
                              <a:spcPts val="750"/>
                            </a:spcBef>
                            <a:spcAft>
                              <a:spcPts val="750"/>
                            </a:spcAft>
                            <a:buNone/>
                          </a:pPr>
                          <a:r>
                            <a:rPr lang="en-US" altLang="zh-TW" dirty="0">
                              <a:effectLst/>
                            </a:rPr>
                            <a:t>18.94%</a:t>
                          </a:r>
                        </a:p>
                      </a:txBody>
                      <a:tcPr anchor="ctr"/>
                    </a:tc>
                    <a:tc>
                      <a:txBody>
                        <a:bodyPr/>
                        <a:lstStyle/>
                        <a:p>
                          <a:pPr algn="ctr">
                            <a:spcBef>
                              <a:spcPts val="750"/>
                            </a:spcBef>
                            <a:spcAft>
                              <a:spcPts val="750"/>
                            </a:spcAft>
                            <a:buNone/>
                          </a:pPr>
                          <a:r>
                            <a:rPr lang="en-US" altLang="zh-TW" dirty="0">
                              <a:effectLst/>
                            </a:rPr>
                            <a:t>0.00%</a:t>
                          </a:r>
                        </a:p>
                      </a:txBody>
                      <a:tcPr anchor="ctr"/>
                    </a:tc>
                    <a:extLst>
                      <a:ext uri="{0D108BD9-81ED-4DB2-BD59-A6C34878D82A}">
                        <a16:rowId xmlns:a16="http://schemas.microsoft.com/office/drawing/2014/main" val="2774719372"/>
                      </a:ext>
                    </a:extLst>
                  </a:tr>
                </a:tbl>
              </a:graphicData>
            </a:graphic>
          </p:graphicFrame>
        </mc:Choice>
        <mc:Fallback xmlns="">
          <p:graphicFrame>
            <p:nvGraphicFramePr>
              <p:cNvPr id="9" name="表格 8">
                <a:extLst>
                  <a:ext uri="{FF2B5EF4-FFF2-40B4-BE49-F238E27FC236}">
                    <a16:creationId xmlns:a16="http://schemas.microsoft.com/office/drawing/2014/main" id="{CB522942-789F-7534-A322-1CF3BFCFBB05}"/>
                  </a:ext>
                </a:extLst>
              </p:cNvPr>
              <p:cNvGraphicFramePr>
                <a:graphicFrameLocks noGrp="1"/>
              </p:cNvGraphicFramePr>
              <p:nvPr>
                <p:extLst>
                  <p:ext uri="{D42A27DB-BD31-4B8C-83A1-F6EECF244321}">
                    <p14:modId xmlns:p14="http://schemas.microsoft.com/office/powerpoint/2010/main" val="4184267210"/>
                  </p:ext>
                </p:extLst>
              </p:nvPr>
            </p:nvGraphicFramePr>
            <p:xfrm>
              <a:off x="460311" y="1870441"/>
              <a:ext cx="11271378" cy="4918648"/>
            </p:xfrm>
            <a:graphic>
              <a:graphicData uri="http://schemas.openxmlformats.org/drawingml/2006/table">
                <a:tbl>
                  <a:tblPr firstRow="1" bandRow="1">
                    <a:tableStyleId>{5C22544A-7EE6-4342-B048-85BDC9FD1C3A}</a:tableStyleId>
                  </a:tblPr>
                  <a:tblGrid>
                    <a:gridCol w="6239069">
                      <a:extLst>
                        <a:ext uri="{9D8B030D-6E8A-4147-A177-3AD203B41FA5}">
                          <a16:colId xmlns:a16="http://schemas.microsoft.com/office/drawing/2014/main" val="2510526303"/>
                        </a:ext>
                      </a:extLst>
                    </a:gridCol>
                    <a:gridCol w="2811625">
                      <a:extLst>
                        <a:ext uri="{9D8B030D-6E8A-4147-A177-3AD203B41FA5}">
                          <a16:colId xmlns:a16="http://schemas.microsoft.com/office/drawing/2014/main" val="2574596583"/>
                        </a:ext>
                      </a:extLst>
                    </a:gridCol>
                    <a:gridCol w="2220684">
                      <a:extLst>
                        <a:ext uri="{9D8B030D-6E8A-4147-A177-3AD203B41FA5}">
                          <a16:colId xmlns:a16="http://schemas.microsoft.com/office/drawing/2014/main" val="1544272040"/>
                        </a:ext>
                      </a:extLst>
                    </a:gridCol>
                  </a:tblGrid>
                  <a:tr h="375984">
                    <a:tc gridSpan="3">
                      <a:txBody>
                        <a:bodyPr/>
                        <a:lstStyle/>
                        <a:p>
                          <a:pPr algn="ctr" fontAlgn="t">
                            <a:spcBef>
                              <a:spcPts val="750"/>
                            </a:spcBef>
                            <a:spcAft>
                              <a:spcPts val="750"/>
                            </a:spcAft>
                            <a:buNone/>
                          </a:pPr>
                          <a:r>
                            <a:rPr lang="en-US" dirty="0">
                              <a:effectLst/>
                            </a:rPr>
                            <a:t>CDI method as proposed by Linn et al.(2017)</a:t>
                          </a:r>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4065975892"/>
                      </a:ext>
                    </a:extLst>
                  </a:tr>
                  <a:tr h="660527">
                    <a:tc>
                      <a:txBody>
                        <a:bodyPr/>
                        <a:lstStyle/>
                        <a:p>
                          <a:pPr algn="ctr">
                            <a:spcBef>
                              <a:spcPts val="750"/>
                            </a:spcBef>
                            <a:spcAft>
                              <a:spcPts val="750"/>
                            </a:spcAft>
                            <a:buNone/>
                          </a:pPr>
                          <a:r>
                            <a:rPr lang="en-US" dirty="0">
                              <a:effectLst/>
                            </a:rPr>
                            <a:t>Comparison of CDI Methods</a:t>
                          </a:r>
                        </a:p>
                      </a:txBody>
                      <a:tcPr anchor="ctr"/>
                    </a:tc>
                    <a:tc>
                      <a:txBody>
                        <a:bodyPr/>
                        <a:lstStyle/>
                        <a:p>
                          <a:pPr algn="ctr">
                            <a:spcBef>
                              <a:spcPts val="750"/>
                            </a:spcBef>
                            <a:spcAft>
                              <a:spcPts val="750"/>
                            </a:spcAft>
                            <a:buNone/>
                          </a:pPr>
                          <a:r>
                            <a:rPr lang="en-US" dirty="0">
                              <a:effectLst/>
                            </a:rPr>
                            <a:t>CDI Method</a:t>
                          </a:r>
                        </a:p>
                      </a:txBody>
                      <a:tcPr anchor="ctr"/>
                    </a:tc>
                    <a:tc>
                      <a:txBody>
                        <a:bodyPr/>
                        <a:lstStyle/>
                        <a:p>
                          <a:pPr algn="ctr">
                            <a:spcBef>
                              <a:spcPts val="750"/>
                            </a:spcBef>
                            <a:spcAft>
                              <a:spcPts val="750"/>
                            </a:spcAft>
                            <a:buNone/>
                          </a:pPr>
                          <a:r>
                            <a:rPr lang="en-US">
                              <a:effectLst/>
                            </a:rPr>
                            <a:t>CDI Method with weight constraint</a:t>
                          </a:r>
                        </a:p>
                      </a:txBody>
                      <a:tcPr anchor="ctr"/>
                    </a:tc>
                    <a:extLst>
                      <a:ext uri="{0D108BD9-81ED-4DB2-BD59-A6C34878D82A}">
                        <a16:rowId xmlns:a16="http://schemas.microsoft.com/office/drawing/2014/main" val="3816390971"/>
                      </a:ext>
                    </a:extLst>
                  </a:tr>
                  <a:tr h="375984">
                    <a:tc>
                      <a:txBody>
                        <a:bodyPr/>
                        <a:lstStyle/>
                        <a:p>
                          <a:pPr algn="ctr">
                            <a:spcBef>
                              <a:spcPts val="750"/>
                            </a:spcBef>
                            <a:spcAft>
                              <a:spcPts val="750"/>
                            </a:spcAft>
                            <a:buNone/>
                          </a:pPr>
                          <a:r>
                            <a:rPr lang="en-US">
                              <a:effectLst/>
                            </a:rPr>
                            <a:t>Total number of experimental data</a:t>
                          </a:r>
                        </a:p>
                      </a:txBody>
                      <a:tcPr anchor="ctr"/>
                    </a:tc>
                    <a:tc>
                      <a:txBody>
                        <a:bodyPr/>
                        <a:lstStyle/>
                        <a:p>
                          <a:pPr algn="ctr">
                            <a:spcBef>
                              <a:spcPts val="750"/>
                            </a:spcBef>
                            <a:spcAft>
                              <a:spcPts val="750"/>
                            </a:spcAft>
                            <a:buNone/>
                          </a:pPr>
                          <a:r>
                            <a:rPr lang="en-US" altLang="zh-TW" dirty="0">
                              <a:effectLst/>
                            </a:rPr>
                            <a:t>7380</a:t>
                          </a:r>
                        </a:p>
                      </a:txBody>
                      <a:tcPr anchor="ctr"/>
                    </a:tc>
                    <a:tc>
                      <a:txBody>
                        <a:bodyPr/>
                        <a:lstStyle/>
                        <a:p>
                          <a:pPr algn="ctr">
                            <a:spcBef>
                              <a:spcPts val="750"/>
                            </a:spcBef>
                            <a:spcAft>
                              <a:spcPts val="750"/>
                            </a:spcAft>
                            <a:buNone/>
                          </a:pPr>
                          <a:r>
                            <a:rPr lang="en-US" altLang="zh-TW" dirty="0">
                              <a:effectLst/>
                            </a:rPr>
                            <a:t>7380</a:t>
                          </a:r>
                        </a:p>
                      </a:txBody>
                      <a:tcPr anchor="ctr"/>
                    </a:tc>
                    <a:extLst>
                      <a:ext uri="{0D108BD9-81ED-4DB2-BD59-A6C34878D82A}">
                        <a16:rowId xmlns:a16="http://schemas.microsoft.com/office/drawing/2014/main" val="2660380914"/>
                      </a:ext>
                    </a:extLst>
                  </a:tr>
                  <a:tr h="660527">
                    <a:tc>
                      <a:txBody>
                        <a:bodyPr/>
                        <a:lstStyle/>
                        <a:p>
                          <a:pPr algn="ctr">
                            <a:spcBef>
                              <a:spcPts val="750"/>
                            </a:spcBef>
                            <a:spcAft>
                              <a:spcPts val="750"/>
                            </a:spcAft>
                            <a:buNone/>
                          </a:pPr>
                          <a:r>
                            <a:rPr lang="en-US" dirty="0">
                              <a:effectLst/>
                            </a:rPr>
                            <a:t>Number of results failing to significantly reject uniform distribution</a:t>
                          </a:r>
                        </a:p>
                      </a:txBody>
                      <a:tcPr anchor="ctr"/>
                    </a:tc>
                    <a:tc>
                      <a:txBody>
                        <a:bodyPr/>
                        <a:lstStyle/>
                        <a:p>
                          <a:pPr algn="ctr">
                            <a:spcBef>
                              <a:spcPts val="750"/>
                            </a:spcBef>
                            <a:spcAft>
                              <a:spcPts val="750"/>
                            </a:spcAft>
                            <a:buNone/>
                          </a:pPr>
                          <a:r>
                            <a:rPr lang="en-US" altLang="zh-TW">
                              <a:effectLst/>
                            </a:rPr>
                            <a:t>0</a:t>
                          </a:r>
                        </a:p>
                      </a:txBody>
                      <a:tcPr anchor="ctr"/>
                    </a:tc>
                    <a:tc>
                      <a:txBody>
                        <a:bodyPr/>
                        <a:lstStyle/>
                        <a:p>
                          <a:pPr algn="ctr">
                            <a:spcBef>
                              <a:spcPts val="750"/>
                            </a:spcBef>
                            <a:spcAft>
                              <a:spcPts val="750"/>
                            </a:spcAft>
                            <a:buNone/>
                          </a:pPr>
                          <a:r>
                            <a:rPr lang="en-US" altLang="zh-TW">
                              <a:effectLst/>
                            </a:rPr>
                            <a:t>0</a:t>
                          </a:r>
                        </a:p>
                      </a:txBody>
                      <a:tcPr anchor="ctr"/>
                    </a:tc>
                    <a:extLst>
                      <a:ext uri="{0D108BD9-81ED-4DB2-BD59-A6C34878D82A}">
                        <a16:rowId xmlns:a16="http://schemas.microsoft.com/office/drawing/2014/main" val="2260777970"/>
                      </a:ext>
                    </a:extLst>
                  </a:tr>
                  <a:tr h="660527">
                    <a:tc>
                      <a:txBody>
                        <a:bodyPr/>
                        <a:lstStyle/>
                        <a:p>
                          <a:pPr algn="ctr">
                            <a:spcBef>
                              <a:spcPts val="750"/>
                            </a:spcBef>
                            <a:spcAft>
                              <a:spcPts val="750"/>
                            </a:spcAft>
                            <a:buNone/>
                          </a:pPr>
                          <a:r>
                            <a:rPr lang="en-US" dirty="0">
                              <a:effectLst/>
                            </a:rPr>
                            <a:t>Number of results failing to significantly reject uniform distribution(%)</a:t>
                          </a:r>
                        </a:p>
                      </a:txBody>
                      <a:tcPr anchor="ctr"/>
                    </a:tc>
                    <a:tc>
                      <a:txBody>
                        <a:bodyPr/>
                        <a:lstStyle/>
                        <a:p>
                          <a:pPr algn="ctr">
                            <a:spcBef>
                              <a:spcPts val="750"/>
                            </a:spcBef>
                            <a:spcAft>
                              <a:spcPts val="750"/>
                            </a:spcAft>
                            <a:buNone/>
                          </a:pPr>
                          <a:r>
                            <a:rPr lang="en-US" altLang="zh-TW" dirty="0">
                              <a:effectLst/>
                            </a:rPr>
                            <a:t>0.00%</a:t>
                          </a:r>
                        </a:p>
                      </a:txBody>
                      <a:tcPr anchor="ctr"/>
                    </a:tc>
                    <a:tc>
                      <a:txBody>
                        <a:bodyPr/>
                        <a:lstStyle/>
                        <a:p>
                          <a:pPr algn="ctr">
                            <a:spcBef>
                              <a:spcPts val="750"/>
                            </a:spcBef>
                            <a:spcAft>
                              <a:spcPts val="750"/>
                            </a:spcAft>
                            <a:buNone/>
                          </a:pPr>
                          <a:r>
                            <a:rPr lang="en-US" altLang="zh-TW" dirty="0">
                              <a:effectLst/>
                            </a:rPr>
                            <a:t>0.00%</a:t>
                          </a:r>
                        </a:p>
                      </a:txBody>
                      <a:tcPr anchor="ctr"/>
                    </a:tc>
                    <a:extLst>
                      <a:ext uri="{0D108BD9-81ED-4DB2-BD59-A6C34878D82A}">
                        <a16:rowId xmlns:a16="http://schemas.microsoft.com/office/drawing/2014/main" val="3060344781"/>
                      </a:ext>
                    </a:extLst>
                  </a:tr>
                  <a:tr h="488061">
                    <a:tc>
                      <a:txBody>
                        <a:bodyPr/>
                        <a:lstStyle/>
                        <a:p>
                          <a:pPr algn="ctr">
                            <a:spcBef>
                              <a:spcPts val="750"/>
                            </a:spcBef>
                            <a:spcAft>
                              <a:spcPts val="750"/>
                            </a:spcAft>
                            <a:buNone/>
                          </a:pPr>
                          <a:r>
                            <a:rPr lang="en-US">
                              <a:effectLst/>
                            </a:rPr>
                            <a:t>Maximum Kolmogorov-Smirnov test p-value</a:t>
                          </a:r>
                        </a:p>
                      </a:txBody>
                      <a:tcPr anchor="ctr"/>
                    </a:tc>
                    <a:tc>
                      <a:txBody>
                        <a:bodyPr/>
                        <a:lstStyle/>
                        <a:p>
                          <a:endParaRPr lang="zh-TW"/>
                        </a:p>
                      </a:txBody>
                      <a:tcPr anchor="ctr">
                        <a:blipFill>
                          <a:blip r:embed="rId4"/>
                          <a:stretch>
                            <a:fillRect l="-221861" t="-566250" r="-79654" b="-368750"/>
                          </a:stretch>
                        </a:blipFill>
                      </a:tcPr>
                    </a:tc>
                    <a:tc>
                      <a:txBody>
                        <a:bodyPr/>
                        <a:lstStyle/>
                        <a:p>
                          <a:endParaRPr lang="zh-TW"/>
                        </a:p>
                      </a:txBody>
                      <a:tcPr anchor="ctr">
                        <a:blipFill>
                          <a:blip r:embed="rId4"/>
                          <a:stretch>
                            <a:fillRect l="-408516" t="-566250" r="-1099" b="-368750"/>
                          </a:stretch>
                        </a:blipFill>
                      </a:tcPr>
                    </a:tc>
                    <a:extLst>
                      <a:ext uri="{0D108BD9-81ED-4DB2-BD59-A6C34878D82A}">
                        <a16:rowId xmlns:a16="http://schemas.microsoft.com/office/drawing/2014/main" val="1744669587"/>
                      </a:ext>
                    </a:extLst>
                  </a:tr>
                  <a:tr h="375984">
                    <a:tc>
                      <a:txBody>
                        <a:bodyPr/>
                        <a:lstStyle/>
                        <a:p>
                          <a:pPr algn="ctr">
                            <a:spcBef>
                              <a:spcPts val="750"/>
                            </a:spcBef>
                            <a:spcAft>
                              <a:spcPts val="750"/>
                            </a:spcAft>
                            <a:buNone/>
                          </a:pPr>
                          <a:r>
                            <a:rPr lang="en-US" dirty="0">
                              <a:effectLst/>
                            </a:rPr>
                            <a:t>Minimum Kolmogorov-Smirnov test statistic</a:t>
                          </a:r>
                        </a:p>
                      </a:txBody>
                      <a:tcPr anchor="ctr"/>
                    </a:tc>
                    <a:tc>
                      <a:txBody>
                        <a:bodyPr/>
                        <a:lstStyle/>
                        <a:p>
                          <a:pPr algn="ctr">
                            <a:spcBef>
                              <a:spcPts val="750"/>
                            </a:spcBef>
                            <a:spcAft>
                              <a:spcPts val="750"/>
                            </a:spcAft>
                            <a:buNone/>
                          </a:pPr>
                          <a:r>
                            <a:rPr lang="en-US" altLang="zh-TW" b="1" dirty="0">
                              <a:solidFill>
                                <a:srgbClr val="FF0000"/>
                              </a:solidFill>
                              <a:effectLst/>
                            </a:rPr>
                            <a:t>0.165</a:t>
                          </a:r>
                        </a:p>
                      </a:txBody>
                      <a:tcPr anchor="ctr"/>
                    </a:tc>
                    <a:tc>
                      <a:txBody>
                        <a:bodyPr/>
                        <a:lstStyle/>
                        <a:p>
                          <a:pPr algn="ctr">
                            <a:spcBef>
                              <a:spcPts val="750"/>
                            </a:spcBef>
                            <a:spcAft>
                              <a:spcPts val="750"/>
                            </a:spcAft>
                            <a:buNone/>
                          </a:pPr>
                          <a:r>
                            <a:rPr lang="en-US" altLang="zh-TW">
                              <a:effectLst/>
                            </a:rPr>
                            <a:t>0.191</a:t>
                          </a:r>
                        </a:p>
                      </a:txBody>
                      <a:tcPr anchor="ctr"/>
                    </a:tc>
                    <a:extLst>
                      <a:ext uri="{0D108BD9-81ED-4DB2-BD59-A6C34878D82A}">
                        <a16:rowId xmlns:a16="http://schemas.microsoft.com/office/drawing/2014/main" val="1575308996"/>
                      </a:ext>
                    </a:extLst>
                  </a:tr>
                  <a:tr h="660527">
                    <a:tc>
                      <a:txBody>
                        <a:bodyPr/>
                        <a:lstStyle/>
                        <a:p>
                          <a:pPr algn="ctr">
                            <a:spcBef>
                              <a:spcPts val="750"/>
                            </a:spcBef>
                            <a:spcAft>
                              <a:spcPts val="750"/>
                            </a:spcAft>
                            <a:buNone/>
                          </a:pPr>
                          <a:r>
                            <a:rPr lang="en-US" dirty="0">
                              <a:effectLst/>
                            </a:rPr>
                            <a:t>Number of experimental results yielding</a:t>
                          </a:r>
                          <a:r>
                            <a:rPr lang="zh-TW" altLang="en-US" dirty="0">
                              <a:effectLst/>
                            </a:rPr>
                            <a:t> </a:t>
                          </a:r>
                          <a:r>
                            <a:rPr lang="en-US" b="1" u="sng" dirty="0">
                              <a:effectLst/>
                            </a:rPr>
                            <a:t>unreasonable pricing kernel </a:t>
                          </a:r>
                          <a:r>
                            <a:rPr lang="en-US" dirty="0">
                              <a:effectLst/>
                            </a:rPr>
                            <a:t>estimations</a:t>
                          </a:r>
                        </a:p>
                      </a:txBody>
                      <a:tcPr anchor="ctr"/>
                    </a:tc>
                    <a:tc>
                      <a:txBody>
                        <a:bodyPr/>
                        <a:lstStyle/>
                        <a:p>
                          <a:pPr algn="ctr">
                            <a:spcBef>
                              <a:spcPts val="750"/>
                            </a:spcBef>
                            <a:spcAft>
                              <a:spcPts val="750"/>
                            </a:spcAft>
                            <a:buNone/>
                          </a:pPr>
                          <a:r>
                            <a:rPr lang="en-US" altLang="zh-TW" dirty="0">
                              <a:effectLst/>
                            </a:rPr>
                            <a:t>1398</a:t>
                          </a:r>
                        </a:p>
                      </a:txBody>
                      <a:tcPr anchor="ctr"/>
                    </a:tc>
                    <a:tc>
                      <a:txBody>
                        <a:bodyPr/>
                        <a:lstStyle/>
                        <a:p>
                          <a:pPr algn="ctr">
                            <a:spcBef>
                              <a:spcPts val="750"/>
                            </a:spcBef>
                            <a:spcAft>
                              <a:spcPts val="750"/>
                            </a:spcAft>
                            <a:buNone/>
                          </a:pPr>
                          <a:r>
                            <a:rPr lang="en-US" altLang="zh-TW">
                              <a:effectLst/>
                            </a:rPr>
                            <a:t>0</a:t>
                          </a:r>
                        </a:p>
                      </a:txBody>
                      <a:tcPr anchor="ctr"/>
                    </a:tc>
                    <a:extLst>
                      <a:ext uri="{0D108BD9-81ED-4DB2-BD59-A6C34878D82A}">
                        <a16:rowId xmlns:a16="http://schemas.microsoft.com/office/drawing/2014/main" val="215485756"/>
                      </a:ext>
                    </a:extLst>
                  </a:tr>
                  <a:tr h="660527">
                    <a:tc>
                      <a:txBody>
                        <a:bodyPr/>
                        <a:lstStyle/>
                        <a:p>
                          <a:pPr algn="ctr">
                            <a:spcBef>
                              <a:spcPts val="750"/>
                            </a:spcBef>
                            <a:spcAft>
                              <a:spcPts val="750"/>
                            </a:spcAft>
                            <a:buNone/>
                          </a:pPr>
                          <a:r>
                            <a:rPr lang="en-US" dirty="0">
                              <a:effectLst/>
                            </a:rPr>
                            <a:t>Number of experimental results yielding</a:t>
                          </a:r>
                          <a:r>
                            <a:rPr lang="zh-TW" altLang="en-US" dirty="0">
                              <a:effectLst/>
                            </a:rPr>
                            <a:t> </a:t>
                          </a:r>
                          <a:r>
                            <a:rPr lang="en-US" b="1" u="sng" dirty="0">
                              <a:effectLst/>
                            </a:rPr>
                            <a:t>unreasonable pricing kernel </a:t>
                          </a:r>
                          <a:r>
                            <a:rPr lang="en-US" dirty="0">
                              <a:effectLst/>
                            </a:rPr>
                            <a:t>estimations (%)</a:t>
                          </a:r>
                        </a:p>
                      </a:txBody>
                      <a:tcPr anchor="ctr"/>
                    </a:tc>
                    <a:tc>
                      <a:txBody>
                        <a:bodyPr/>
                        <a:lstStyle/>
                        <a:p>
                          <a:pPr algn="ctr">
                            <a:spcBef>
                              <a:spcPts val="750"/>
                            </a:spcBef>
                            <a:spcAft>
                              <a:spcPts val="750"/>
                            </a:spcAft>
                            <a:buNone/>
                          </a:pPr>
                          <a:r>
                            <a:rPr lang="en-US" altLang="zh-TW" dirty="0">
                              <a:effectLst/>
                            </a:rPr>
                            <a:t>18.94%</a:t>
                          </a:r>
                        </a:p>
                      </a:txBody>
                      <a:tcPr anchor="ctr"/>
                    </a:tc>
                    <a:tc>
                      <a:txBody>
                        <a:bodyPr/>
                        <a:lstStyle/>
                        <a:p>
                          <a:pPr algn="ctr">
                            <a:spcBef>
                              <a:spcPts val="750"/>
                            </a:spcBef>
                            <a:spcAft>
                              <a:spcPts val="750"/>
                            </a:spcAft>
                            <a:buNone/>
                          </a:pPr>
                          <a:r>
                            <a:rPr lang="en-US" altLang="zh-TW" dirty="0">
                              <a:effectLst/>
                            </a:rPr>
                            <a:t>0.00%</a:t>
                          </a:r>
                        </a:p>
                      </a:txBody>
                      <a:tcPr anchor="ctr"/>
                    </a:tc>
                    <a:extLst>
                      <a:ext uri="{0D108BD9-81ED-4DB2-BD59-A6C34878D82A}">
                        <a16:rowId xmlns:a16="http://schemas.microsoft.com/office/drawing/2014/main" val="2774719372"/>
                      </a:ext>
                    </a:extLst>
                  </a:tr>
                </a:tbl>
              </a:graphicData>
            </a:graphic>
          </p:graphicFrame>
        </mc:Fallback>
      </mc:AlternateContent>
      <p:sp>
        <p:nvSpPr>
          <p:cNvPr id="10" name="文字方塊 9">
            <a:extLst>
              <a:ext uri="{FF2B5EF4-FFF2-40B4-BE49-F238E27FC236}">
                <a16:creationId xmlns:a16="http://schemas.microsoft.com/office/drawing/2014/main" id="{2ED26B65-CE40-3D2E-8B49-FEC36A7FC9B9}"/>
              </a:ext>
            </a:extLst>
          </p:cNvPr>
          <p:cNvSpPr txBox="1"/>
          <p:nvPr/>
        </p:nvSpPr>
        <p:spPr>
          <a:xfrm>
            <a:off x="285442" y="802434"/>
            <a:ext cx="11775929" cy="1015663"/>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加入或未加入權重限制式在估計定價核時，估計結果皆無法得到不顯著拒絕服從均勻分布的結果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進一步比較</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KS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Test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最大</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P</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值與最小檢定統計量，未加入權重限制式表現優於加入權重限制式的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方法，但需注意亦有約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19%</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的實驗結果出現不合理的負數定價核</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AlternateContent xmlns:mc="http://schemas.openxmlformats.org/markup-compatibility/2006" xmlns:a14="http://schemas.microsoft.com/office/drawing/2010/main">
        <mc:Choice Requires="a14">
          <p:sp>
            <p:nvSpPr>
              <p:cNvPr id="8" name="文字版面配置區 2">
                <a:extLst>
                  <a:ext uri="{FF2B5EF4-FFF2-40B4-BE49-F238E27FC236}">
                    <a16:creationId xmlns:a16="http://schemas.microsoft.com/office/drawing/2014/main" id="{32672E0E-705A-9C42-A145-68A747200263}"/>
                  </a:ext>
                </a:extLst>
              </p:cNvPr>
              <p:cNvSpPr>
                <a:spLocks noGrp="1"/>
              </p:cNvSpPr>
              <p:nvPr>
                <p:ph type="body" sz="quarter" idx="10"/>
              </p:nvPr>
            </p:nvSpPr>
            <p:spPr>
              <a:xfrm>
                <a:off x="2444620" y="200315"/>
                <a:ext cx="5840413" cy="436563"/>
              </a:xfrm>
            </p:spPr>
            <p:txBody>
              <a:bodyPr/>
              <a:lstStyle/>
              <a:p>
                <a:r>
                  <a:rPr lang="en-US" altLang="zh-TW" dirty="0"/>
                  <a:t>CDI </a:t>
                </a:r>
                <a:r>
                  <a:rPr lang="zh-TW" altLang="en-US" dirty="0"/>
                  <a:t>方法</a:t>
                </a:r>
                <a:r>
                  <a:rPr lang="en-US" altLang="zh-TW" dirty="0"/>
                  <a:t>—</a:t>
                </a:r>
                <a14:m>
                  <m:oMath xmlns:m="http://schemas.openxmlformats.org/officeDocument/2006/math">
                    <m:r>
                      <a:rPr lang="zh-TW" altLang="en-US" i="1" dirty="0">
                        <a:latin typeface="Cambria Math" panose="02040503050406030204" pitchFamily="18" charset="0"/>
                      </a:rPr>
                      <m:t> </m:t>
                    </m:r>
                    <m:r>
                      <a:rPr lang="zh-TW" altLang="en-US" i="1">
                        <a:latin typeface="Cambria Math" panose="02040503050406030204" pitchFamily="18" charset="0"/>
                      </a:rPr>
                      <m:t>𝝉</m:t>
                    </m:r>
                    <m:r>
                      <a:rPr lang="en-US" altLang="zh-TW" i="1">
                        <a:latin typeface="Cambria Math" panose="02040503050406030204" pitchFamily="18" charset="0"/>
                      </a:rPr>
                      <m:t>=10</m:t>
                    </m:r>
                  </m:oMath>
                </a14:m>
                <a:endParaRPr lang="zh-TW" altLang="en-US" dirty="0"/>
              </a:p>
              <a:p>
                <a:endParaRPr lang="zh-TW" altLang="en-US" dirty="0"/>
              </a:p>
            </p:txBody>
          </p:sp>
        </mc:Choice>
        <mc:Fallback xmlns="">
          <p:sp>
            <p:nvSpPr>
              <p:cNvPr id="8" name="文字版面配置區 2">
                <a:extLst>
                  <a:ext uri="{FF2B5EF4-FFF2-40B4-BE49-F238E27FC236}">
                    <a16:creationId xmlns:a16="http://schemas.microsoft.com/office/drawing/2014/main" id="{32672E0E-705A-9C42-A145-68A747200263}"/>
                  </a:ext>
                </a:extLst>
              </p:cNvPr>
              <p:cNvSpPr>
                <a:spLocks noGrp="1" noRot="1" noChangeAspect="1" noMove="1" noResize="1" noEditPoints="1" noAdjustHandles="1" noChangeArrowheads="1" noChangeShapeType="1" noTextEdit="1"/>
              </p:cNvSpPr>
              <p:nvPr>
                <p:ph type="body" sz="quarter" idx="10"/>
              </p:nvPr>
            </p:nvSpPr>
            <p:spPr>
              <a:xfrm>
                <a:off x="2444620" y="200315"/>
                <a:ext cx="5840413" cy="436563"/>
              </a:xfrm>
              <a:blipFill>
                <a:blip r:embed="rId5"/>
                <a:stretch>
                  <a:fillRect l="-2610" t="-29577" b="-69014"/>
                </a:stretch>
              </a:blipFill>
            </p:spPr>
            <p:txBody>
              <a:bodyPr/>
              <a:lstStyle/>
              <a:p>
                <a:r>
                  <a:rPr lang="zh-TW" altLang="en-US">
                    <a:noFill/>
                  </a:rPr>
                  <a:t> </a:t>
                </a:r>
              </a:p>
            </p:txBody>
          </p:sp>
        </mc:Fallback>
      </mc:AlternateContent>
      <p:sp>
        <p:nvSpPr>
          <p:cNvPr id="11" name="內容版面配置區 3">
            <a:extLst>
              <a:ext uri="{FF2B5EF4-FFF2-40B4-BE49-F238E27FC236}">
                <a16:creationId xmlns:a16="http://schemas.microsoft.com/office/drawing/2014/main" id="{D2F0AB7A-B8C3-AC94-4278-58F7ED2225C5}"/>
              </a:ext>
            </a:extLst>
          </p:cNvPr>
          <p:cNvSpPr>
            <a:spLocks noGrp="1"/>
          </p:cNvSpPr>
          <p:nvPr>
            <p:ph sz="quarter" idx="11"/>
          </p:nvPr>
        </p:nvSpPr>
        <p:spPr>
          <a:xfrm>
            <a:off x="1268267" y="200314"/>
            <a:ext cx="1176353" cy="436564"/>
          </a:xfrm>
        </p:spPr>
        <p:txBody>
          <a:bodyPr/>
          <a:lstStyle/>
          <a:p>
            <a:r>
              <a:rPr lang="en-US" altLang="zh-TW" dirty="0"/>
              <a:t>2.2.2</a:t>
            </a:r>
            <a:endParaRPr lang="zh-TW" altLang="en-US" dirty="0"/>
          </a:p>
        </p:txBody>
      </p:sp>
    </p:spTree>
    <p:extLst>
      <p:ext uri="{BB962C8B-B14F-4D97-AF65-F5344CB8AC3E}">
        <p14:creationId xmlns:p14="http://schemas.microsoft.com/office/powerpoint/2010/main" val="1211232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E742D55-CB14-A2F2-ABCC-579C0800A1E9}"/>
                  </a:ext>
                </a:extLst>
              </p:cNvPr>
              <p:cNvSpPr>
                <a:spLocks noGrp="1"/>
              </p:cNvSpPr>
              <p:nvPr>
                <p:ph sz="quarter" idx="10"/>
              </p:nvPr>
            </p:nvSpPr>
            <p:spPr>
              <a:xfrm>
                <a:off x="5715722" y="2843357"/>
                <a:ext cx="5841795" cy="1171286"/>
              </a:xfrm>
            </p:spPr>
            <p:txBody>
              <a:bodyPr/>
              <a:lstStyle/>
              <a:p>
                <a:pPr>
                  <a:buFont typeface="Wingdings" panose="05000000000000000000" pitchFamily="2" charset="2"/>
                  <a:buAutoNum type="circleNumWdWhitePlain" startAt="3"/>
                </a:pPr>
                <a:r>
                  <a:rPr lang="en-US" altLang="zh-TW" dirty="0"/>
                  <a:t>CDI </a:t>
                </a:r>
                <a:r>
                  <a:rPr lang="zh-TW" altLang="en-US" dirty="0"/>
                  <a:t>方法</a:t>
                </a:r>
                <a:r>
                  <a:rPr lang="en-US" altLang="zh-TW" dirty="0"/>
                  <a:t>—</a:t>
                </a:r>
                <a14:m>
                  <m:oMath xmlns:m="http://schemas.openxmlformats.org/officeDocument/2006/math">
                    <m:r>
                      <a:rPr lang="zh-TW" altLang="en-US" i="1" dirty="0">
                        <a:latin typeface="Cambria Math" panose="02040503050406030204" pitchFamily="18" charset="0"/>
                      </a:rPr>
                      <m:t> </m:t>
                    </m:r>
                    <m:r>
                      <a:rPr lang="zh-TW" altLang="en-US" i="1">
                        <a:latin typeface="Cambria Math" panose="02040503050406030204" pitchFamily="18" charset="0"/>
                      </a:rPr>
                      <m:t>𝝉</m:t>
                    </m:r>
                    <m:r>
                      <a:rPr lang="en-US" altLang="zh-TW" i="1">
                        <a:latin typeface="Cambria Math" panose="02040503050406030204" pitchFamily="18" charset="0"/>
                      </a:rPr>
                      <m:t>=1</m:t>
                    </m:r>
                  </m:oMath>
                </a14:m>
                <a:endParaRPr lang="zh-TW" altLang="en-US" dirty="0"/>
              </a:p>
            </p:txBody>
          </p:sp>
        </mc:Choice>
        <mc:Fallback xmlns="">
          <p:sp>
            <p:nvSpPr>
              <p:cNvPr id="3" name="內容版面配置區 2">
                <a:extLst>
                  <a:ext uri="{FF2B5EF4-FFF2-40B4-BE49-F238E27FC236}">
                    <a16:creationId xmlns:a16="http://schemas.microsoft.com/office/drawing/2014/main" id="{EE742D55-CB14-A2F2-ABCC-579C0800A1E9}"/>
                  </a:ext>
                </a:extLst>
              </p:cNvPr>
              <p:cNvSpPr>
                <a:spLocks noGrp="1" noRot="1" noChangeAspect="1" noMove="1" noResize="1" noEditPoints="1" noAdjustHandles="1" noChangeArrowheads="1" noChangeShapeType="1" noTextEdit="1"/>
              </p:cNvSpPr>
              <p:nvPr>
                <p:ph sz="quarter" idx="10"/>
              </p:nvPr>
            </p:nvSpPr>
            <p:spPr>
              <a:xfrm>
                <a:off x="5715722" y="2843357"/>
                <a:ext cx="5841795" cy="1171286"/>
              </a:xfrm>
              <a:blipFill>
                <a:blip r:embed="rId2"/>
                <a:stretch>
                  <a:fillRect l="-3862" t="-1606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870294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AA290-B95F-5960-BDE6-E915CF762A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字版面配置區 2">
                <a:extLst>
                  <a:ext uri="{FF2B5EF4-FFF2-40B4-BE49-F238E27FC236}">
                    <a16:creationId xmlns:a16="http://schemas.microsoft.com/office/drawing/2014/main" id="{55BD75E9-4957-BDBE-1E51-D09070AB6473}"/>
                  </a:ext>
                </a:extLst>
              </p:cNvPr>
              <p:cNvSpPr>
                <a:spLocks noGrp="1"/>
              </p:cNvSpPr>
              <p:nvPr>
                <p:ph type="body" sz="quarter" idx="10"/>
              </p:nvPr>
            </p:nvSpPr>
            <p:spPr>
              <a:xfrm>
                <a:off x="2444620" y="201576"/>
                <a:ext cx="5840413" cy="436563"/>
              </a:xfrm>
            </p:spPr>
            <p:txBody>
              <a:bodyPr/>
              <a:lstStyle/>
              <a:p>
                <a:r>
                  <a:rPr lang="en-US" altLang="zh-TW" dirty="0"/>
                  <a:t>CDI </a:t>
                </a:r>
                <a:r>
                  <a:rPr lang="zh-TW" altLang="en-US" dirty="0"/>
                  <a:t>方法</a:t>
                </a:r>
                <a:r>
                  <a:rPr lang="en-US" altLang="zh-TW" dirty="0"/>
                  <a:t>—</a:t>
                </a:r>
                <a14:m>
                  <m:oMath xmlns:m="http://schemas.openxmlformats.org/officeDocument/2006/math">
                    <m:r>
                      <a:rPr lang="zh-TW" altLang="en-US" i="1" dirty="0">
                        <a:latin typeface="Cambria Math" panose="02040503050406030204" pitchFamily="18" charset="0"/>
                      </a:rPr>
                      <m:t> </m:t>
                    </m:r>
                    <m:r>
                      <a:rPr lang="zh-TW" altLang="en-US" i="1">
                        <a:latin typeface="Cambria Math" panose="02040503050406030204" pitchFamily="18" charset="0"/>
                      </a:rPr>
                      <m:t>𝝉</m:t>
                    </m:r>
                    <m:r>
                      <a:rPr lang="en-US" altLang="zh-TW" i="1">
                        <a:latin typeface="Cambria Math" panose="02040503050406030204" pitchFamily="18" charset="0"/>
                      </a:rPr>
                      <m:t>=1</m:t>
                    </m:r>
                  </m:oMath>
                </a14:m>
                <a:endParaRPr lang="zh-TW" altLang="en-US" dirty="0"/>
              </a:p>
              <a:p>
                <a:endParaRPr lang="zh-TW" altLang="en-US" dirty="0"/>
              </a:p>
            </p:txBody>
          </p:sp>
        </mc:Choice>
        <mc:Fallback xmlns="">
          <p:sp>
            <p:nvSpPr>
              <p:cNvPr id="3" name="文字版面配置區 2">
                <a:extLst>
                  <a:ext uri="{FF2B5EF4-FFF2-40B4-BE49-F238E27FC236}">
                    <a16:creationId xmlns:a16="http://schemas.microsoft.com/office/drawing/2014/main" id="{55BD75E9-4957-BDBE-1E51-D09070AB6473}"/>
                  </a:ext>
                </a:extLst>
              </p:cNvPr>
              <p:cNvSpPr>
                <a:spLocks noGrp="1" noRot="1" noChangeAspect="1" noMove="1" noResize="1" noEditPoints="1" noAdjustHandles="1" noChangeArrowheads="1" noChangeShapeType="1" noTextEdit="1"/>
              </p:cNvSpPr>
              <p:nvPr>
                <p:ph type="body" sz="quarter" idx="10"/>
              </p:nvPr>
            </p:nvSpPr>
            <p:spPr>
              <a:xfrm>
                <a:off x="2444620" y="201576"/>
                <a:ext cx="5840413" cy="436563"/>
              </a:xfrm>
              <a:blipFill>
                <a:blip r:embed="rId3"/>
                <a:stretch>
                  <a:fillRect l="-2610" t="-29167" b="-66667"/>
                </a:stretch>
              </a:blipFill>
            </p:spPr>
            <p:txBody>
              <a:bodyPr/>
              <a:lstStyle/>
              <a:p>
                <a:r>
                  <a:rPr lang="zh-TW" altLang="en-US">
                    <a:noFill/>
                  </a:rPr>
                  <a:t> </a:t>
                </a:r>
              </a:p>
            </p:txBody>
          </p:sp>
        </mc:Fallback>
      </mc:AlternateContent>
      <p:sp>
        <p:nvSpPr>
          <p:cNvPr id="4" name="內容版面配置區 3">
            <a:extLst>
              <a:ext uri="{FF2B5EF4-FFF2-40B4-BE49-F238E27FC236}">
                <a16:creationId xmlns:a16="http://schemas.microsoft.com/office/drawing/2014/main" id="{37ADFB8F-7B54-D0DF-F223-1C4714B54D72}"/>
              </a:ext>
            </a:extLst>
          </p:cNvPr>
          <p:cNvSpPr>
            <a:spLocks noGrp="1"/>
          </p:cNvSpPr>
          <p:nvPr>
            <p:ph sz="quarter" idx="11"/>
          </p:nvPr>
        </p:nvSpPr>
        <p:spPr>
          <a:xfrm>
            <a:off x="1268268" y="200314"/>
            <a:ext cx="1176352" cy="436564"/>
          </a:xfrm>
        </p:spPr>
        <p:txBody>
          <a:bodyPr/>
          <a:lstStyle/>
          <a:p>
            <a:r>
              <a:rPr lang="en-US" altLang="zh-TW" dirty="0"/>
              <a:t>2.2.3</a:t>
            </a:r>
            <a:endParaRPr lang="zh-TW" alt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E9AE2611-B940-8492-A1EA-6C07CD8AF604}"/>
                  </a:ext>
                </a:extLst>
              </p:cNvPr>
              <p:cNvSpPr txBox="1"/>
              <p:nvPr/>
            </p:nvSpPr>
            <p:spPr>
              <a:xfrm>
                <a:off x="273001" y="939283"/>
                <a:ext cx="11775929" cy="3267433"/>
              </a:xfrm>
              <a:prstGeom prst="rect">
                <a:avLst/>
              </a:prstGeom>
              <a:noFill/>
            </p:spPr>
            <p:txBody>
              <a:bodyPr wrap="square" rtlCol="0">
                <a:spAutoFit/>
              </a:bodyPr>
              <a:lstStyle/>
              <a:p>
                <a:pPr marL="285750" indent="-285750">
                  <a:lnSpc>
                    <a:spcPct val="150000"/>
                  </a:lnSpc>
                  <a:buClr>
                    <a:schemeClr val="accent1"/>
                  </a:buClr>
                  <a:buFont typeface="Arial" panose="020B0604020202020204" pitchFamily="34" charset="0"/>
                  <a:buChar char="•"/>
                </a:pPr>
                <a:r>
                  <a:rPr lang="en-US" altLang="zh-TW" sz="2000" dirty="0">
                    <a:solidFill>
                      <a:schemeClr val="tx2"/>
                    </a:solidFill>
                    <a:latin typeface="Microsoft JhengHei" panose="020B0604030504040204" pitchFamily="34" charset="-120"/>
                    <a:ea typeface="Microsoft JhengHei" panose="020B0604030504040204" pitchFamily="34" charset="-120"/>
                    <a:cs typeface="+mn-ea"/>
                  </a:rPr>
                  <a:t>OptionMetrics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2012</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年至</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23</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日至</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日的每日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S&amp;P 500 </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指數資料與指數選擇權資料</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嘗試使用距到期日為</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個交易日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14:m>
                  <m:oMath xmlns:m="http://schemas.openxmlformats.org/officeDocument/2006/math">
                    <m:r>
                      <a:rPr lang="zh-TW" altLang="en-US" sz="2000" i="1" dirty="0" smtClean="0">
                        <a:solidFill>
                          <a:schemeClr val="tx2"/>
                        </a:solidFill>
                        <a:latin typeface="Cambria Math" panose="02040503050406030204" pitchFamily="18" charset="0"/>
                        <a:ea typeface="Microsoft JhengHei" panose="020B0604030504040204" pitchFamily="34" charset="-120"/>
                        <a:cs typeface="+mn-ea"/>
                      </a:rPr>
                      <m:t>𝜏</m:t>
                    </m:r>
                  </m:oMath>
                </a14:m>
                <a:r>
                  <a:rPr lang="en-US" altLang="zh-TW" sz="2000" dirty="0">
                    <a:solidFill>
                      <a:schemeClr val="tx2"/>
                    </a:solidFill>
                    <a:latin typeface="Microsoft JhengHei" panose="020B0604030504040204" pitchFamily="34" charset="-120"/>
                    <a:ea typeface="Microsoft JhengHei" panose="020B0604030504040204" pitchFamily="34" charset="-120"/>
                    <a:cs typeface="+mn-ea"/>
                  </a:rPr>
                  <a:t> =1)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之選擇權數據</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Datasize</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200~297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base</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4~20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30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等</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1,764</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種參數組合</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估計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3</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24</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a:t>
                </a:r>
                <a14:m>
                  <m:oMath xmlns:m="http://schemas.openxmlformats.org/officeDocument/2006/math">
                    <m:r>
                      <a:rPr lang="zh-TW" altLang="en-US" sz="2000" i="1" dirty="0" smtClean="0">
                        <a:solidFill>
                          <a:schemeClr val="tx2"/>
                        </a:solidFill>
                        <a:latin typeface="Cambria Math" panose="02040503050406030204" pitchFamily="18" charset="0"/>
                        <a:ea typeface="Microsoft JhengHei" panose="020B0604030504040204" pitchFamily="34" charset="-120"/>
                        <a:cs typeface="+mn-ea"/>
                      </a:rPr>
                      <m:t>𝜏</m:t>
                    </m:r>
                  </m:oMath>
                </a14:m>
                <a:r>
                  <a:rPr lang="en-US" altLang="zh-TW" sz="2000" dirty="0">
                    <a:solidFill>
                      <a:schemeClr val="tx2"/>
                    </a:solidFill>
                    <a:latin typeface="Microsoft JhengHei" panose="020B0604030504040204" pitchFamily="34" charset="-120"/>
                    <a:ea typeface="Microsoft JhengHei" panose="020B0604030504040204" pitchFamily="34" charset="-120"/>
                    <a:cs typeface="+mn-ea"/>
                  </a:rPr>
                  <a:t> =1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之定價核</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未加入權重限制式之實驗，得到不同參數下的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100,548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筆定價核估計結果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加入權重限制式之實驗，得到不同參數下的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100,548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筆定價核估計結果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a:lnSpc>
                    <a:spcPct val="150000"/>
                  </a:lnSpc>
                  <a:buClr>
                    <a:schemeClr val="accent1"/>
                  </a:buClr>
                </a:pP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Choice>
        <mc:Fallback xmlns="">
          <p:sp>
            <p:nvSpPr>
              <p:cNvPr id="5" name="文字方塊 4">
                <a:extLst>
                  <a:ext uri="{FF2B5EF4-FFF2-40B4-BE49-F238E27FC236}">
                    <a16:creationId xmlns:a16="http://schemas.microsoft.com/office/drawing/2014/main" id="{E9AE2611-B940-8492-A1EA-6C07CD8AF604}"/>
                  </a:ext>
                </a:extLst>
              </p:cNvPr>
              <p:cNvSpPr txBox="1">
                <a:spLocks noRot="1" noChangeAspect="1" noMove="1" noResize="1" noEditPoints="1" noAdjustHandles="1" noChangeArrowheads="1" noChangeShapeType="1" noTextEdit="1"/>
              </p:cNvSpPr>
              <p:nvPr/>
            </p:nvSpPr>
            <p:spPr>
              <a:xfrm>
                <a:off x="273001" y="939283"/>
                <a:ext cx="11775929" cy="3267433"/>
              </a:xfrm>
              <a:prstGeom prst="rect">
                <a:avLst/>
              </a:prstGeom>
              <a:blipFill>
                <a:blip r:embed="rId4"/>
                <a:stretch>
                  <a:fillRect l="-46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10720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CB522942-789F-7534-A322-1CF3BFCFBB05}"/>
                  </a:ext>
                </a:extLst>
              </p:cNvPr>
              <p:cNvGraphicFramePr>
                <a:graphicFrameLocks noGrp="1"/>
              </p:cNvGraphicFramePr>
              <p:nvPr>
                <p:extLst>
                  <p:ext uri="{D42A27DB-BD31-4B8C-83A1-F6EECF244321}">
                    <p14:modId xmlns:p14="http://schemas.microsoft.com/office/powerpoint/2010/main" val="2096668276"/>
                  </p:ext>
                </p:extLst>
              </p:nvPr>
            </p:nvGraphicFramePr>
            <p:xfrm>
              <a:off x="460311" y="1870441"/>
              <a:ext cx="11271378" cy="4914394"/>
            </p:xfrm>
            <a:graphic>
              <a:graphicData uri="http://schemas.openxmlformats.org/drawingml/2006/table">
                <a:tbl>
                  <a:tblPr firstRow="1" bandRow="1">
                    <a:tableStyleId>{5C22544A-7EE6-4342-B048-85BDC9FD1C3A}</a:tableStyleId>
                  </a:tblPr>
                  <a:tblGrid>
                    <a:gridCol w="6239069">
                      <a:extLst>
                        <a:ext uri="{9D8B030D-6E8A-4147-A177-3AD203B41FA5}">
                          <a16:colId xmlns:a16="http://schemas.microsoft.com/office/drawing/2014/main" val="2510526303"/>
                        </a:ext>
                      </a:extLst>
                    </a:gridCol>
                    <a:gridCol w="2811625">
                      <a:extLst>
                        <a:ext uri="{9D8B030D-6E8A-4147-A177-3AD203B41FA5}">
                          <a16:colId xmlns:a16="http://schemas.microsoft.com/office/drawing/2014/main" val="2574596583"/>
                        </a:ext>
                      </a:extLst>
                    </a:gridCol>
                    <a:gridCol w="2220684">
                      <a:extLst>
                        <a:ext uri="{9D8B030D-6E8A-4147-A177-3AD203B41FA5}">
                          <a16:colId xmlns:a16="http://schemas.microsoft.com/office/drawing/2014/main" val="1544272040"/>
                        </a:ext>
                      </a:extLst>
                    </a:gridCol>
                  </a:tblGrid>
                  <a:tr h="370840">
                    <a:tc gridSpan="3">
                      <a:txBody>
                        <a:bodyPr/>
                        <a:lstStyle/>
                        <a:p>
                          <a:pPr algn="ctr" fontAlgn="t">
                            <a:spcBef>
                              <a:spcPts val="750"/>
                            </a:spcBef>
                            <a:spcAft>
                              <a:spcPts val="750"/>
                            </a:spcAft>
                            <a:buNone/>
                          </a:pPr>
                          <a:r>
                            <a:rPr lang="en-US" dirty="0">
                              <a:effectLst/>
                            </a:rPr>
                            <a:t>CDI method as proposed by Linn et al.(2017)</a:t>
                          </a:r>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4065975892"/>
                      </a:ext>
                    </a:extLst>
                  </a:tr>
                  <a:tr h="300394">
                    <a:tc>
                      <a:txBody>
                        <a:bodyPr/>
                        <a:lstStyle/>
                        <a:p>
                          <a:pPr algn="ctr">
                            <a:spcBef>
                              <a:spcPts val="750"/>
                            </a:spcBef>
                            <a:spcAft>
                              <a:spcPts val="750"/>
                            </a:spcAft>
                            <a:buNone/>
                          </a:pPr>
                          <a:r>
                            <a:rPr lang="en-US">
                              <a:effectLst/>
                            </a:rPr>
                            <a:t>Comparison of CDI Methods</a:t>
                          </a:r>
                        </a:p>
                      </a:txBody>
                      <a:tcPr anchor="ctr"/>
                    </a:tc>
                    <a:tc>
                      <a:txBody>
                        <a:bodyPr/>
                        <a:lstStyle/>
                        <a:p>
                          <a:pPr algn="ctr">
                            <a:spcBef>
                              <a:spcPts val="750"/>
                            </a:spcBef>
                            <a:spcAft>
                              <a:spcPts val="750"/>
                            </a:spcAft>
                            <a:buNone/>
                          </a:pPr>
                          <a:r>
                            <a:rPr lang="en-US" dirty="0">
                              <a:effectLst/>
                            </a:rPr>
                            <a:t>CDI Method</a:t>
                          </a:r>
                        </a:p>
                      </a:txBody>
                      <a:tcPr anchor="ctr"/>
                    </a:tc>
                    <a:tc>
                      <a:txBody>
                        <a:bodyPr/>
                        <a:lstStyle/>
                        <a:p>
                          <a:pPr algn="ctr">
                            <a:spcBef>
                              <a:spcPts val="750"/>
                            </a:spcBef>
                            <a:spcAft>
                              <a:spcPts val="750"/>
                            </a:spcAft>
                            <a:buNone/>
                          </a:pPr>
                          <a:r>
                            <a:rPr lang="en-US">
                              <a:effectLst/>
                            </a:rPr>
                            <a:t>CDI Method with weight constraint</a:t>
                          </a:r>
                        </a:p>
                      </a:txBody>
                      <a:tcPr anchor="ctr"/>
                    </a:tc>
                    <a:extLst>
                      <a:ext uri="{0D108BD9-81ED-4DB2-BD59-A6C34878D82A}">
                        <a16:rowId xmlns:a16="http://schemas.microsoft.com/office/drawing/2014/main" val="3816390971"/>
                      </a:ext>
                    </a:extLst>
                  </a:tr>
                  <a:tr h="370840">
                    <a:tc>
                      <a:txBody>
                        <a:bodyPr/>
                        <a:lstStyle/>
                        <a:p>
                          <a:pPr algn="ctr">
                            <a:spcBef>
                              <a:spcPts val="750"/>
                            </a:spcBef>
                            <a:spcAft>
                              <a:spcPts val="750"/>
                            </a:spcAft>
                            <a:buNone/>
                          </a:pPr>
                          <a:r>
                            <a:rPr lang="en-US">
                              <a:effectLst/>
                            </a:rPr>
                            <a:t>Total number of experimental data</a:t>
                          </a:r>
                        </a:p>
                      </a:txBody>
                      <a:tcPr anchor="ctr"/>
                    </a:tc>
                    <a:tc>
                      <a:txBody>
                        <a:bodyPr/>
                        <a:lstStyle/>
                        <a:p>
                          <a:pPr algn="ctr">
                            <a:spcBef>
                              <a:spcPts val="750"/>
                            </a:spcBef>
                            <a:spcAft>
                              <a:spcPts val="750"/>
                            </a:spcAft>
                            <a:buNone/>
                          </a:pPr>
                          <a:r>
                            <a:rPr lang="en-US" altLang="zh-TW">
                              <a:effectLst/>
                            </a:rPr>
                            <a:t>100548</a:t>
                          </a:r>
                        </a:p>
                      </a:txBody>
                      <a:tcPr anchor="ctr"/>
                    </a:tc>
                    <a:tc>
                      <a:txBody>
                        <a:bodyPr/>
                        <a:lstStyle/>
                        <a:p>
                          <a:pPr algn="ctr">
                            <a:spcBef>
                              <a:spcPts val="750"/>
                            </a:spcBef>
                            <a:spcAft>
                              <a:spcPts val="750"/>
                            </a:spcAft>
                            <a:buNone/>
                          </a:pPr>
                          <a:r>
                            <a:rPr lang="en-US" altLang="zh-TW">
                              <a:effectLst/>
                            </a:rPr>
                            <a:t>100548</a:t>
                          </a:r>
                        </a:p>
                      </a:txBody>
                      <a:tcPr anchor="ctr"/>
                    </a:tc>
                    <a:extLst>
                      <a:ext uri="{0D108BD9-81ED-4DB2-BD59-A6C34878D82A}">
                        <a16:rowId xmlns:a16="http://schemas.microsoft.com/office/drawing/2014/main" val="2660380914"/>
                      </a:ext>
                    </a:extLst>
                  </a:tr>
                  <a:tr h="387224">
                    <a:tc>
                      <a:txBody>
                        <a:bodyPr/>
                        <a:lstStyle/>
                        <a:p>
                          <a:pPr algn="ctr">
                            <a:spcBef>
                              <a:spcPts val="750"/>
                            </a:spcBef>
                            <a:spcAft>
                              <a:spcPts val="750"/>
                            </a:spcAft>
                            <a:buNone/>
                          </a:pPr>
                          <a:r>
                            <a:rPr lang="en-US" dirty="0">
                              <a:effectLst/>
                            </a:rPr>
                            <a:t>Number of results failing to significantly reject uniform distribution</a:t>
                          </a:r>
                        </a:p>
                      </a:txBody>
                      <a:tcPr anchor="ctr"/>
                    </a:tc>
                    <a:tc>
                      <a:txBody>
                        <a:bodyPr/>
                        <a:lstStyle/>
                        <a:p>
                          <a:pPr algn="ctr">
                            <a:spcBef>
                              <a:spcPts val="750"/>
                            </a:spcBef>
                            <a:spcAft>
                              <a:spcPts val="750"/>
                            </a:spcAft>
                            <a:buNone/>
                          </a:pPr>
                          <a:r>
                            <a:rPr lang="en-US" altLang="zh-TW">
                              <a:effectLst/>
                            </a:rPr>
                            <a:t>0</a:t>
                          </a:r>
                        </a:p>
                      </a:txBody>
                      <a:tcPr anchor="ctr"/>
                    </a:tc>
                    <a:tc>
                      <a:txBody>
                        <a:bodyPr/>
                        <a:lstStyle/>
                        <a:p>
                          <a:pPr algn="ctr">
                            <a:spcBef>
                              <a:spcPts val="750"/>
                            </a:spcBef>
                            <a:spcAft>
                              <a:spcPts val="750"/>
                            </a:spcAft>
                            <a:buNone/>
                          </a:pPr>
                          <a:r>
                            <a:rPr lang="en-US" altLang="zh-TW">
                              <a:effectLst/>
                            </a:rPr>
                            <a:t>0</a:t>
                          </a:r>
                        </a:p>
                      </a:txBody>
                      <a:tcPr anchor="ctr"/>
                    </a:tc>
                    <a:extLst>
                      <a:ext uri="{0D108BD9-81ED-4DB2-BD59-A6C34878D82A}">
                        <a16:rowId xmlns:a16="http://schemas.microsoft.com/office/drawing/2014/main" val="2260777970"/>
                      </a:ext>
                    </a:extLst>
                  </a:tr>
                  <a:tr h="370840">
                    <a:tc>
                      <a:txBody>
                        <a:bodyPr/>
                        <a:lstStyle/>
                        <a:p>
                          <a:pPr algn="ctr">
                            <a:spcBef>
                              <a:spcPts val="750"/>
                            </a:spcBef>
                            <a:spcAft>
                              <a:spcPts val="750"/>
                            </a:spcAft>
                            <a:buNone/>
                          </a:pPr>
                          <a:r>
                            <a:rPr lang="en-US" dirty="0">
                              <a:effectLst/>
                            </a:rPr>
                            <a:t>Number of results failing to significantly reject uniform distribution(%)</a:t>
                          </a:r>
                        </a:p>
                      </a:txBody>
                      <a:tcPr anchor="ctr"/>
                    </a:tc>
                    <a:tc>
                      <a:txBody>
                        <a:bodyPr/>
                        <a:lstStyle/>
                        <a:p>
                          <a:pPr algn="ctr">
                            <a:spcBef>
                              <a:spcPts val="750"/>
                            </a:spcBef>
                            <a:spcAft>
                              <a:spcPts val="750"/>
                            </a:spcAft>
                            <a:buNone/>
                          </a:pPr>
                          <a:r>
                            <a:rPr lang="en-US" altLang="zh-TW" dirty="0">
                              <a:effectLst/>
                            </a:rPr>
                            <a:t>0.00%</a:t>
                          </a:r>
                        </a:p>
                      </a:txBody>
                      <a:tcPr anchor="ctr"/>
                    </a:tc>
                    <a:tc>
                      <a:txBody>
                        <a:bodyPr/>
                        <a:lstStyle/>
                        <a:p>
                          <a:pPr algn="ctr">
                            <a:spcBef>
                              <a:spcPts val="750"/>
                            </a:spcBef>
                            <a:spcAft>
                              <a:spcPts val="750"/>
                            </a:spcAft>
                            <a:buNone/>
                          </a:pPr>
                          <a:r>
                            <a:rPr lang="en-US" altLang="zh-TW" dirty="0">
                              <a:effectLst/>
                            </a:rPr>
                            <a:t>0.00%</a:t>
                          </a:r>
                        </a:p>
                      </a:txBody>
                      <a:tcPr anchor="ctr"/>
                    </a:tc>
                    <a:extLst>
                      <a:ext uri="{0D108BD9-81ED-4DB2-BD59-A6C34878D82A}">
                        <a16:rowId xmlns:a16="http://schemas.microsoft.com/office/drawing/2014/main" val="3060344781"/>
                      </a:ext>
                    </a:extLst>
                  </a:tr>
                  <a:tr h="370840">
                    <a:tc>
                      <a:txBody>
                        <a:bodyPr/>
                        <a:lstStyle/>
                        <a:p>
                          <a:pPr algn="ctr">
                            <a:spcBef>
                              <a:spcPts val="750"/>
                            </a:spcBef>
                            <a:spcAft>
                              <a:spcPts val="750"/>
                            </a:spcAft>
                            <a:buNone/>
                          </a:pPr>
                          <a:r>
                            <a:rPr lang="en-US">
                              <a:effectLst/>
                            </a:rPr>
                            <a:t>Maximum Kolmogorov-Smirnov test p-value</a:t>
                          </a:r>
                        </a:p>
                      </a:txBody>
                      <a:tcPr anchor="ctr"/>
                    </a:tc>
                    <a:tc>
                      <a:txBody>
                        <a:bodyPr/>
                        <a:lstStyle/>
                        <a:p>
                          <a:pPr marL="0" marR="0" lvl="0" indent="0" algn="ctr" defTabSz="912684" rtl="0" eaLnBrk="1" fontAlgn="auto" latinLnBrk="0" hangingPunct="1">
                            <a:lnSpc>
                              <a:spcPct val="100000"/>
                            </a:lnSpc>
                            <a:spcBef>
                              <a:spcPts val="750"/>
                            </a:spcBef>
                            <a:spcAft>
                              <a:spcPts val="75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solidFill>
                                      <a:srgbClr val="FF0000"/>
                                    </a:solidFill>
                                    <a:effectLst/>
                                    <a:latin typeface="Cambria Math" panose="02040503050406030204" pitchFamily="18" charset="0"/>
                                    <a:ea typeface="+mn-ea"/>
                                  </a:rPr>
                                  <m:t>𝟏</m:t>
                                </m:r>
                                <m:r>
                                  <a:rPr lang="en-US" altLang="zh-TW" b="1" i="1" smtClean="0">
                                    <a:solidFill>
                                      <a:srgbClr val="FF0000"/>
                                    </a:solidFill>
                                    <a:effectLst/>
                                    <a:latin typeface="Cambria Math" panose="02040503050406030204" pitchFamily="18" charset="0"/>
                                    <a:ea typeface="+mn-ea"/>
                                  </a:rPr>
                                  <m:t>.</m:t>
                                </m:r>
                                <m:r>
                                  <a:rPr lang="en-US" altLang="zh-TW" b="1" i="1" smtClean="0">
                                    <a:solidFill>
                                      <a:srgbClr val="FF0000"/>
                                    </a:solidFill>
                                    <a:effectLst/>
                                    <a:latin typeface="Cambria Math" panose="02040503050406030204" pitchFamily="18" charset="0"/>
                                    <a:ea typeface="+mn-ea"/>
                                  </a:rPr>
                                  <m:t>𝟐𝟐</m:t>
                                </m:r>
                                <m:r>
                                  <a:rPr lang="en-US" altLang="zh-TW" b="1" i="1" smtClean="0">
                                    <a:solidFill>
                                      <a:srgbClr val="FF0000"/>
                                    </a:solidFill>
                                    <a:effectLst/>
                                    <a:latin typeface="Cambria Math" panose="02040503050406030204" pitchFamily="18" charset="0"/>
                                    <a:ea typeface="Cambria Math" panose="02040503050406030204" pitchFamily="18" charset="0"/>
                                  </a:rPr>
                                  <m:t>×</m:t>
                                </m:r>
                                <m:sSup>
                                  <m:sSupPr>
                                    <m:ctrlPr>
                                      <a:rPr lang="en-US" altLang="zh-TW" b="1" i="1" smtClean="0">
                                        <a:solidFill>
                                          <a:srgbClr val="FF0000"/>
                                        </a:solidFill>
                                        <a:effectLst/>
                                        <a:latin typeface="Cambria Math" panose="02040503050406030204" pitchFamily="18" charset="0"/>
                                        <a:ea typeface="Cambria Math" panose="02040503050406030204" pitchFamily="18" charset="0"/>
                                      </a:rPr>
                                    </m:ctrlPr>
                                  </m:sSupPr>
                                  <m:e>
                                    <m:r>
                                      <a:rPr lang="en-US" altLang="zh-TW" b="1" i="1" smtClean="0">
                                        <a:solidFill>
                                          <a:srgbClr val="FF0000"/>
                                        </a:solidFill>
                                        <a:effectLst/>
                                        <a:latin typeface="Cambria Math" panose="02040503050406030204" pitchFamily="18" charset="0"/>
                                        <a:ea typeface="Cambria Math" panose="02040503050406030204" pitchFamily="18" charset="0"/>
                                      </a:rPr>
                                      <m:t>𝟏𝟎</m:t>
                                    </m:r>
                                  </m:e>
                                  <m:sup>
                                    <m:r>
                                      <a:rPr lang="en-US" altLang="zh-TW" b="1" i="1" smtClean="0">
                                        <a:solidFill>
                                          <a:srgbClr val="FF0000"/>
                                        </a:solidFill>
                                        <a:effectLst/>
                                        <a:latin typeface="Cambria Math" panose="02040503050406030204" pitchFamily="18" charset="0"/>
                                        <a:ea typeface="Cambria Math" panose="02040503050406030204" pitchFamily="18" charset="0"/>
                                      </a:rPr>
                                      <m:t>−</m:t>
                                    </m:r>
                                    <m:r>
                                      <a:rPr lang="en-US" altLang="zh-TW" b="1" i="1" smtClean="0">
                                        <a:solidFill>
                                          <a:srgbClr val="FF0000"/>
                                        </a:solidFill>
                                        <a:effectLst/>
                                        <a:latin typeface="Cambria Math" panose="02040503050406030204" pitchFamily="18" charset="0"/>
                                        <a:ea typeface="Cambria Math" panose="02040503050406030204" pitchFamily="18" charset="0"/>
                                      </a:rPr>
                                      <m:t>𝟏𝟒</m:t>
                                    </m:r>
                                  </m:sup>
                                </m:sSup>
                              </m:oMath>
                            </m:oMathPara>
                          </a14:m>
                          <a:endParaRPr lang="en-US" altLang="zh-TW" b="1" dirty="0">
                            <a:solidFill>
                              <a:srgbClr val="FF0000"/>
                            </a:solidFill>
                            <a:effectLst/>
                          </a:endParaRPr>
                        </a:p>
                      </a:txBody>
                      <a:tcPr anchor="ctr"/>
                    </a:tc>
                    <a:tc>
                      <a:txBody>
                        <a:bodyPr/>
                        <a:lstStyle/>
                        <a:p>
                          <a:pPr marL="0" marR="0" lvl="0" indent="0" algn="ctr" defTabSz="912684" rtl="0" eaLnBrk="1" fontAlgn="auto" latinLnBrk="0" hangingPunct="1">
                            <a:lnSpc>
                              <a:spcPct val="100000"/>
                            </a:lnSpc>
                            <a:spcBef>
                              <a:spcPts val="750"/>
                            </a:spcBef>
                            <a:spcAft>
                              <a:spcPts val="75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effectLst/>
                                    <a:latin typeface="Cambria Math" panose="02040503050406030204" pitchFamily="18" charset="0"/>
                                    <a:ea typeface="+mn-ea"/>
                                  </a:rPr>
                                  <m:t>3.85</m:t>
                                </m:r>
                                <m:r>
                                  <a:rPr lang="en-US" altLang="zh-TW" b="0" i="1" smtClean="0">
                                    <a:effectLst/>
                                    <a:latin typeface="Cambria Math" panose="02040503050406030204" pitchFamily="18" charset="0"/>
                                    <a:ea typeface="Cambria Math" panose="02040503050406030204" pitchFamily="18" charset="0"/>
                                  </a:rPr>
                                  <m:t>×</m:t>
                                </m:r>
                                <m:sSup>
                                  <m:sSupPr>
                                    <m:ctrlPr>
                                      <a:rPr lang="en-US" altLang="zh-TW" b="0" i="1" smtClean="0">
                                        <a:effectLst/>
                                        <a:latin typeface="Cambria Math" panose="02040503050406030204" pitchFamily="18" charset="0"/>
                                        <a:ea typeface="Cambria Math" panose="02040503050406030204" pitchFamily="18" charset="0"/>
                                      </a:rPr>
                                    </m:ctrlPr>
                                  </m:sSupPr>
                                  <m:e>
                                    <m:r>
                                      <a:rPr lang="en-US" altLang="zh-TW" b="0" i="1" smtClean="0">
                                        <a:effectLst/>
                                        <a:latin typeface="Cambria Math" panose="02040503050406030204" pitchFamily="18" charset="0"/>
                                        <a:ea typeface="Cambria Math" panose="02040503050406030204" pitchFamily="18" charset="0"/>
                                      </a:rPr>
                                      <m:t>10</m:t>
                                    </m:r>
                                  </m:e>
                                  <m:sup>
                                    <m:r>
                                      <a:rPr lang="en-US" altLang="zh-TW" b="0" i="1" smtClean="0">
                                        <a:effectLst/>
                                        <a:latin typeface="Cambria Math" panose="02040503050406030204" pitchFamily="18" charset="0"/>
                                        <a:ea typeface="Cambria Math" panose="02040503050406030204" pitchFamily="18" charset="0"/>
                                      </a:rPr>
                                      <m:t>−23</m:t>
                                    </m:r>
                                  </m:sup>
                                </m:sSup>
                              </m:oMath>
                            </m:oMathPara>
                          </a14:m>
                          <a:endParaRPr lang="en-US" altLang="zh-TW" dirty="0">
                            <a:effectLst/>
                          </a:endParaRPr>
                        </a:p>
                      </a:txBody>
                      <a:tcPr anchor="ctr"/>
                    </a:tc>
                    <a:extLst>
                      <a:ext uri="{0D108BD9-81ED-4DB2-BD59-A6C34878D82A}">
                        <a16:rowId xmlns:a16="http://schemas.microsoft.com/office/drawing/2014/main" val="1744669587"/>
                      </a:ext>
                    </a:extLst>
                  </a:tr>
                  <a:tr h="370840">
                    <a:tc>
                      <a:txBody>
                        <a:bodyPr/>
                        <a:lstStyle/>
                        <a:p>
                          <a:pPr algn="ctr">
                            <a:spcBef>
                              <a:spcPts val="750"/>
                            </a:spcBef>
                            <a:spcAft>
                              <a:spcPts val="750"/>
                            </a:spcAft>
                            <a:buNone/>
                          </a:pPr>
                          <a:r>
                            <a:rPr lang="en-US" dirty="0">
                              <a:effectLst/>
                            </a:rPr>
                            <a:t>Minimum Kolmogorov-Smirnov test statistic</a:t>
                          </a:r>
                        </a:p>
                      </a:txBody>
                      <a:tcPr anchor="ctr"/>
                    </a:tc>
                    <a:tc>
                      <a:txBody>
                        <a:bodyPr/>
                        <a:lstStyle/>
                        <a:p>
                          <a:pPr algn="ctr">
                            <a:spcBef>
                              <a:spcPts val="750"/>
                            </a:spcBef>
                            <a:spcAft>
                              <a:spcPts val="750"/>
                            </a:spcAft>
                            <a:buNone/>
                          </a:pPr>
                          <a:r>
                            <a:rPr lang="en-US" altLang="zh-TW" b="1" dirty="0">
                              <a:solidFill>
                                <a:srgbClr val="FF0000"/>
                              </a:solidFill>
                              <a:effectLst/>
                            </a:rPr>
                            <a:t>0.163</a:t>
                          </a:r>
                        </a:p>
                      </a:txBody>
                      <a:tcPr anchor="ctr"/>
                    </a:tc>
                    <a:tc>
                      <a:txBody>
                        <a:bodyPr/>
                        <a:lstStyle/>
                        <a:p>
                          <a:pPr algn="ctr">
                            <a:spcBef>
                              <a:spcPts val="750"/>
                            </a:spcBef>
                            <a:spcAft>
                              <a:spcPts val="750"/>
                            </a:spcAft>
                            <a:buNone/>
                          </a:pPr>
                          <a:r>
                            <a:rPr lang="en-US" altLang="zh-TW">
                              <a:effectLst/>
                            </a:rPr>
                            <a:t>0.206</a:t>
                          </a:r>
                        </a:p>
                      </a:txBody>
                      <a:tcPr anchor="ctr"/>
                    </a:tc>
                    <a:extLst>
                      <a:ext uri="{0D108BD9-81ED-4DB2-BD59-A6C34878D82A}">
                        <a16:rowId xmlns:a16="http://schemas.microsoft.com/office/drawing/2014/main" val="1575308996"/>
                      </a:ext>
                    </a:extLst>
                  </a:tr>
                  <a:tr h="370840">
                    <a:tc>
                      <a:txBody>
                        <a:bodyPr/>
                        <a:lstStyle/>
                        <a:p>
                          <a:pPr algn="ctr">
                            <a:spcBef>
                              <a:spcPts val="750"/>
                            </a:spcBef>
                            <a:spcAft>
                              <a:spcPts val="750"/>
                            </a:spcAft>
                            <a:buNone/>
                          </a:pPr>
                          <a:r>
                            <a:rPr lang="en-US" dirty="0">
                              <a:effectLst/>
                            </a:rPr>
                            <a:t>Number of experimental results yielding</a:t>
                          </a:r>
                          <a:r>
                            <a:rPr lang="zh-TW" altLang="en-US" dirty="0">
                              <a:effectLst/>
                            </a:rPr>
                            <a:t> </a:t>
                          </a:r>
                          <a:r>
                            <a:rPr lang="en-US" b="1" u="sng" dirty="0">
                              <a:effectLst/>
                            </a:rPr>
                            <a:t>unreasonable pricing kernel </a:t>
                          </a:r>
                          <a:r>
                            <a:rPr lang="en-US" dirty="0">
                              <a:effectLst/>
                            </a:rPr>
                            <a:t>estimations</a:t>
                          </a:r>
                        </a:p>
                      </a:txBody>
                      <a:tcPr anchor="ctr"/>
                    </a:tc>
                    <a:tc>
                      <a:txBody>
                        <a:bodyPr/>
                        <a:lstStyle/>
                        <a:p>
                          <a:pPr algn="ctr">
                            <a:spcBef>
                              <a:spcPts val="750"/>
                            </a:spcBef>
                            <a:spcAft>
                              <a:spcPts val="750"/>
                            </a:spcAft>
                            <a:buNone/>
                          </a:pPr>
                          <a:r>
                            <a:rPr lang="en-US" altLang="zh-TW">
                              <a:effectLst/>
                            </a:rPr>
                            <a:t>9016</a:t>
                          </a:r>
                        </a:p>
                      </a:txBody>
                      <a:tcPr anchor="ctr"/>
                    </a:tc>
                    <a:tc>
                      <a:txBody>
                        <a:bodyPr/>
                        <a:lstStyle/>
                        <a:p>
                          <a:pPr algn="ctr">
                            <a:spcBef>
                              <a:spcPts val="750"/>
                            </a:spcBef>
                            <a:spcAft>
                              <a:spcPts val="750"/>
                            </a:spcAft>
                            <a:buNone/>
                          </a:pPr>
                          <a:r>
                            <a:rPr lang="en-US" altLang="zh-TW">
                              <a:effectLst/>
                            </a:rPr>
                            <a:t>0</a:t>
                          </a:r>
                        </a:p>
                      </a:txBody>
                      <a:tcPr anchor="ctr"/>
                    </a:tc>
                    <a:extLst>
                      <a:ext uri="{0D108BD9-81ED-4DB2-BD59-A6C34878D82A}">
                        <a16:rowId xmlns:a16="http://schemas.microsoft.com/office/drawing/2014/main" val="215485756"/>
                      </a:ext>
                    </a:extLst>
                  </a:tr>
                  <a:tr h="370840">
                    <a:tc>
                      <a:txBody>
                        <a:bodyPr/>
                        <a:lstStyle/>
                        <a:p>
                          <a:pPr algn="ctr">
                            <a:spcBef>
                              <a:spcPts val="750"/>
                            </a:spcBef>
                            <a:spcAft>
                              <a:spcPts val="750"/>
                            </a:spcAft>
                            <a:buNone/>
                          </a:pPr>
                          <a:r>
                            <a:rPr lang="en-US" dirty="0">
                              <a:effectLst/>
                            </a:rPr>
                            <a:t>Number of experimental results yielding</a:t>
                          </a:r>
                          <a:r>
                            <a:rPr lang="zh-TW" altLang="en-US" dirty="0">
                              <a:effectLst/>
                            </a:rPr>
                            <a:t> </a:t>
                          </a:r>
                          <a:r>
                            <a:rPr lang="en-US" b="1" u="sng" dirty="0">
                              <a:effectLst/>
                            </a:rPr>
                            <a:t>unreasonable pricing kernel </a:t>
                          </a:r>
                          <a:r>
                            <a:rPr lang="en-US" dirty="0">
                              <a:effectLst/>
                            </a:rPr>
                            <a:t>estimations (%)</a:t>
                          </a:r>
                        </a:p>
                      </a:txBody>
                      <a:tcPr anchor="ctr"/>
                    </a:tc>
                    <a:tc>
                      <a:txBody>
                        <a:bodyPr/>
                        <a:lstStyle/>
                        <a:p>
                          <a:pPr algn="ctr">
                            <a:spcBef>
                              <a:spcPts val="750"/>
                            </a:spcBef>
                            <a:spcAft>
                              <a:spcPts val="750"/>
                            </a:spcAft>
                            <a:buNone/>
                          </a:pPr>
                          <a:r>
                            <a:rPr lang="en-US" altLang="zh-TW" dirty="0">
                              <a:effectLst/>
                            </a:rPr>
                            <a:t>8.97%</a:t>
                          </a:r>
                        </a:p>
                      </a:txBody>
                      <a:tcPr anchor="ctr"/>
                    </a:tc>
                    <a:tc>
                      <a:txBody>
                        <a:bodyPr/>
                        <a:lstStyle/>
                        <a:p>
                          <a:pPr algn="ctr">
                            <a:spcBef>
                              <a:spcPts val="750"/>
                            </a:spcBef>
                            <a:spcAft>
                              <a:spcPts val="750"/>
                            </a:spcAft>
                            <a:buNone/>
                          </a:pPr>
                          <a:r>
                            <a:rPr lang="en-US" altLang="zh-TW" dirty="0">
                              <a:effectLst/>
                            </a:rPr>
                            <a:t>0.00%</a:t>
                          </a:r>
                        </a:p>
                      </a:txBody>
                      <a:tcPr anchor="ctr"/>
                    </a:tc>
                    <a:extLst>
                      <a:ext uri="{0D108BD9-81ED-4DB2-BD59-A6C34878D82A}">
                        <a16:rowId xmlns:a16="http://schemas.microsoft.com/office/drawing/2014/main" val="2774719372"/>
                      </a:ext>
                    </a:extLst>
                  </a:tr>
                </a:tbl>
              </a:graphicData>
            </a:graphic>
          </p:graphicFrame>
        </mc:Choice>
        <mc:Fallback xmlns="">
          <p:graphicFrame>
            <p:nvGraphicFramePr>
              <p:cNvPr id="9" name="表格 8">
                <a:extLst>
                  <a:ext uri="{FF2B5EF4-FFF2-40B4-BE49-F238E27FC236}">
                    <a16:creationId xmlns:a16="http://schemas.microsoft.com/office/drawing/2014/main" id="{CB522942-789F-7534-A322-1CF3BFCFBB05}"/>
                  </a:ext>
                </a:extLst>
              </p:cNvPr>
              <p:cNvGraphicFramePr>
                <a:graphicFrameLocks noGrp="1"/>
              </p:cNvGraphicFramePr>
              <p:nvPr>
                <p:extLst>
                  <p:ext uri="{D42A27DB-BD31-4B8C-83A1-F6EECF244321}">
                    <p14:modId xmlns:p14="http://schemas.microsoft.com/office/powerpoint/2010/main" val="2096668276"/>
                  </p:ext>
                </p:extLst>
              </p:nvPr>
            </p:nvGraphicFramePr>
            <p:xfrm>
              <a:off x="460311" y="1870441"/>
              <a:ext cx="11271378" cy="4914394"/>
            </p:xfrm>
            <a:graphic>
              <a:graphicData uri="http://schemas.openxmlformats.org/drawingml/2006/table">
                <a:tbl>
                  <a:tblPr firstRow="1" bandRow="1">
                    <a:tableStyleId>{5C22544A-7EE6-4342-B048-85BDC9FD1C3A}</a:tableStyleId>
                  </a:tblPr>
                  <a:tblGrid>
                    <a:gridCol w="6239069">
                      <a:extLst>
                        <a:ext uri="{9D8B030D-6E8A-4147-A177-3AD203B41FA5}">
                          <a16:colId xmlns:a16="http://schemas.microsoft.com/office/drawing/2014/main" val="2510526303"/>
                        </a:ext>
                      </a:extLst>
                    </a:gridCol>
                    <a:gridCol w="2811625">
                      <a:extLst>
                        <a:ext uri="{9D8B030D-6E8A-4147-A177-3AD203B41FA5}">
                          <a16:colId xmlns:a16="http://schemas.microsoft.com/office/drawing/2014/main" val="2574596583"/>
                        </a:ext>
                      </a:extLst>
                    </a:gridCol>
                    <a:gridCol w="2220684">
                      <a:extLst>
                        <a:ext uri="{9D8B030D-6E8A-4147-A177-3AD203B41FA5}">
                          <a16:colId xmlns:a16="http://schemas.microsoft.com/office/drawing/2014/main" val="1544272040"/>
                        </a:ext>
                      </a:extLst>
                    </a:gridCol>
                  </a:tblGrid>
                  <a:tr h="375984">
                    <a:tc gridSpan="3">
                      <a:txBody>
                        <a:bodyPr/>
                        <a:lstStyle/>
                        <a:p>
                          <a:pPr algn="ctr" fontAlgn="t">
                            <a:spcBef>
                              <a:spcPts val="750"/>
                            </a:spcBef>
                            <a:spcAft>
                              <a:spcPts val="750"/>
                            </a:spcAft>
                            <a:buNone/>
                          </a:pPr>
                          <a:r>
                            <a:rPr lang="en-US" dirty="0">
                              <a:effectLst/>
                            </a:rPr>
                            <a:t>CDI method as proposed by Linn et al.(2017)</a:t>
                          </a:r>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4065975892"/>
                      </a:ext>
                    </a:extLst>
                  </a:tr>
                  <a:tr h="660527">
                    <a:tc>
                      <a:txBody>
                        <a:bodyPr/>
                        <a:lstStyle/>
                        <a:p>
                          <a:pPr algn="ctr">
                            <a:spcBef>
                              <a:spcPts val="750"/>
                            </a:spcBef>
                            <a:spcAft>
                              <a:spcPts val="750"/>
                            </a:spcAft>
                            <a:buNone/>
                          </a:pPr>
                          <a:r>
                            <a:rPr lang="en-US">
                              <a:effectLst/>
                            </a:rPr>
                            <a:t>Comparison of CDI Methods</a:t>
                          </a:r>
                        </a:p>
                      </a:txBody>
                      <a:tcPr anchor="ctr"/>
                    </a:tc>
                    <a:tc>
                      <a:txBody>
                        <a:bodyPr/>
                        <a:lstStyle/>
                        <a:p>
                          <a:pPr algn="ctr">
                            <a:spcBef>
                              <a:spcPts val="750"/>
                            </a:spcBef>
                            <a:spcAft>
                              <a:spcPts val="750"/>
                            </a:spcAft>
                            <a:buNone/>
                          </a:pPr>
                          <a:r>
                            <a:rPr lang="en-US" dirty="0">
                              <a:effectLst/>
                            </a:rPr>
                            <a:t>CDI Method</a:t>
                          </a:r>
                        </a:p>
                      </a:txBody>
                      <a:tcPr anchor="ctr"/>
                    </a:tc>
                    <a:tc>
                      <a:txBody>
                        <a:bodyPr/>
                        <a:lstStyle/>
                        <a:p>
                          <a:pPr algn="ctr">
                            <a:spcBef>
                              <a:spcPts val="750"/>
                            </a:spcBef>
                            <a:spcAft>
                              <a:spcPts val="750"/>
                            </a:spcAft>
                            <a:buNone/>
                          </a:pPr>
                          <a:r>
                            <a:rPr lang="en-US">
                              <a:effectLst/>
                            </a:rPr>
                            <a:t>CDI Method with weight constraint</a:t>
                          </a:r>
                        </a:p>
                      </a:txBody>
                      <a:tcPr anchor="ctr"/>
                    </a:tc>
                    <a:extLst>
                      <a:ext uri="{0D108BD9-81ED-4DB2-BD59-A6C34878D82A}">
                        <a16:rowId xmlns:a16="http://schemas.microsoft.com/office/drawing/2014/main" val="3816390971"/>
                      </a:ext>
                    </a:extLst>
                  </a:tr>
                  <a:tr h="375984">
                    <a:tc>
                      <a:txBody>
                        <a:bodyPr/>
                        <a:lstStyle/>
                        <a:p>
                          <a:pPr algn="ctr">
                            <a:spcBef>
                              <a:spcPts val="750"/>
                            </a:spcBef>
                            <a:spcAft>
                              <a:spcPts val="750"/>
                            </a:spcAft>
                            <a:buNone/>
                          </a:pPr>
                          <a:r>
                            <a:rPr lang="en-US">
                              <a:effectLst/>
                            </a:rPr>
                            <a:t>Total number of experimental data</a:t>
                          </a:r>
                        </a:p>
                      </a:txBody>
                      <a:tcPr anchor="ctr"/>
                    </a:tc>
                    <a:tc>
                      <a:txBody>
                        <a:bodyPr/>
                        <a:lstStyle/>
                        <a:p>
                          <a:pPr algn="ctr">
                            <a:spcBef>
                              <a:spcPts val="750"/>
                            </a:spcBef>
                            <a:spcAft>
                              <a:spcPts val="750"/>
                            </a:spcAft>
                            <a:buNone/>
                          </a:pPr>
                          <a:r>
                            <a:rPr lang="en-US" altLang="zh-TW">
                              <a:effectLst/>
                            </a:rPr>
                            <a:t>100548</a:t>
                          </a:r>
                        </a:p>
                      </a:txBody>
                      <a:tcPr anchor="ctr"/>
                    </a:tc>
                    <a:tc>
                      <a:txBody>
                        <a:bodyPr/>
                        <a:lstStyle/>
                        <a:p>
                          <a:pPr algn="ctr">
                            <a:spcBef>
                              <a:spcPts val="750"/>
                            </a:spcBef>
                            <a:spcAft>
                              <a:spcPts val="750"/>
                            </a:spcAft>
                            <a:buNone/>
                          </a:pPr>
                          <a:r>
                            <a:rPr lang="en-US" altLang="zh-TW">
                              <a:effectLst/>
                            </a:rPr>
                            <a:t>100548</a:t>
                          </a:r>
                        </a:p>
                      </a:txBody>
                      <a:tcPr anchor="ctr"/>
                    </a:tc>
                    <a:extLst>
                      <a:ext uri="{0D108BD9-81ED-4DB2-BD59-A6C34878D82A}">
                        <a16:rowId xmlns:a16="http://schemas.microsoft.com/office/drawing/2014/main" val="2660380914"/>
                      </a:ext>
                    </a:extLst>
                  </a:tr>
                  <a:tr h="660527">
                    <a:tc>
                      <a:txBody>
                        <a:bodyPr/>
                        <a:lstStyle/>
                        <a:p>
                          <a:pPr algn="ctr">
                            <a:spcBef>
                              <a:spcPts val="750"/>
                            </a:spcBef>
                            <a:spcAft>
                              <a:spcPts val="750"/>
                            </a:spcAft>
                            <a:buNone/>
                          </a:pPr>
                          <a:r>
                            <a:rPr lang="en-US" dirty="0">
                              <a:effectLst/>
                            </a:rPr>
                            <a:t>Number of results failing to significantly reject uniform distribution</a:t>
                          </a:r>
                        </a:p>
                      </a:txBody>
                      <a:tcPr anchor="ctr"/>
                    </a:tc>
                    <a:tc>
                      <a:txBody>
                        <a:bodyPr/>
                        <a:lstStyle/>
                        <a:p>
                          <a:pPr algn="ctr">
                            <a:spcBef>
                              <a:spcPts val="750"/>
                            </a:spcBef>
                            <a:spcAft>
                              <a:spcPts val="750"/>
                            </a:spcAft>
                            <a:buNone/>
                          </a:pPr>
                          <a:r>
                            <a:rPr lang="en-US" altLang="zh-TW">
                              <a:effectLst/>
                            </a:rPr>
                            <a:t>0</a:t>
                          </a:r>
                        </a:p>
                      </a:txBody>
                      <a:tcPr anchor="ctr"/>
                    </a:tc>
                    <a:tc>
                      <a:txBody>
                        <a:bodyPr/>
                        <a:lstStyle/>
                        <a:p>
                          <a:pPr algn="ctr">
                            <a:spcBef>
                              <a:spcPts val="750"/>
                            </a:spcBef>
                            <a:spcAft>
                              <a:spcPts val="750"/>
                            </a:spcAft>
                            <a:buNone/>
                          </a:pPr>
                          <a:r>
                            <a:rPr lang="en-US" altLang="zh-TW">
                              <a:effectLst/>
                            </a:rPr>
                            <a:t>0</a:t>
                          </a:r>
                        </a:p>
                      </a:txBody>
                      <a:tcPr anchor="ctr"/>
                    </a:tc>
                    <a:extLst>
                      <a:ext uri="{0D108BD9-81ED-4DB2-BD59-A6C34878D82A}">
                        <a16:rowId xmlns:a16="http://schemas.microsoft.com/office/drawing/2014/main" val="2260777970"/>
                      </a:ext>
                    </a:extLst>
                  </a:tr>
                  <a:tr h="660527">
                    <a:tc>
                      <a:txBody>
                        <a:bodyPr/>
                        <a:lstStyle/>
                        <a:p>
                          <a:pPr algn="ctr">
                            <a:spcBef>
                              <a:spcPts val="750"/>
                            </a:spcBef>
                            <a:spcAft>
                              <a:spcPts val="750"/>
                            </a:spcAft>
                            <a:buNone/>
                          </a:pPr>
                          <a:r>
                            <a:rPr lang="en-US" dirty="0">
                              <a:effectLst/>
                            </a:rPr>
                            <a:t>Number of results failing to significantly reject uniform distribution(%)</a:t>
                          </a:r>
                        </a:p>
                      </a:txBody>
                      <a:tcPr anchor="ctr"/>
                    </a:tc>
                    <a:tc>
                      <a:txBody>
                        <a:bodyPr/>
                        <a:lstStyle/>
                        <a:p>
                          <a:pPr algn="ctr">
                            <a:spcBef>
                              <a:spcPts val="750"/>
                            </a:spcBef>
                            <a:spcAft>
                              <a:spcPts val="750"/>
                            </a:spcAft>
                            <a:buNone/>
                          </a:pPr>
                          <a:r>
                            <a:rPr lang="en-US" altLang="zh-TW" dirty="0">
                              <a:effectLst/>
                            </a:rPr>
                            <a:t>0.00%</a:t>
                          </a:r>
                        </a:p>
                      </a:txBody>
                      <a:tcPr anchor="ctr"/>
                    </a:tc>
                    <a:tc>
                      <a:txBody>
                        <a:bodyPr/>
                        <a:lstStyle/>
                        <a:p>
                          <a:pPr algn="ctr">
                            <a:spcBef>
                              <a:spcPts val="750"/>
                            </a:spcBef>
                            <a:spcAft>
                              <a:spcPts val="750"/>
                            </a:spcAft>
                            <a:buNone/>
                          </a:pPr>
                          <a:r>
                            <a:rPr lang="en-US" altLang="zh-TW" dirty="0">
                              <a:effectLst/>
                            </a:rPr>
                            <a:t>0.00%</a:t>
                          </a:r>
                        </a:p>
                      </a:txBody>
                      <a:tcPr anchor="ctr"/>
                    </a:tc>
                    <a:extLst>
                      <a:ext uri="{0D108BD9-81ED-4DB2-BD59-A6C34878D82A}">
                        <a16:rowId xmlns:a16="http://schemas.microsoft.com/office/drawing/2014/main" val="3060344781"/>
                      </a:ext>
                    </a:extLst>
                  </a:tr>
                  <a:tr h="483807">
                    <a:tc>
                      <a:txBody>
                        <a:bodyPr/>
                        <a:lstStyle/>
                        <a:p>
                          <a:pPr algn="ctr">
                            <a:spcBef>
                              <a:spcPts val="750"/>
                            </a:spcBef>
                            <a:spcAft>
                              <a:spcPts val="750"/>
                            </a:spcAft>
                            <a:buNone/>
                          </a:pPr>
                          <a:r>
                            <a:rPr lang="en-US">
                              <a:effectLst/>
                            </a:rPr>
                            <a:t>Maximum Kolmogorov-Smirnov test p-value</a:t>
                          </a:r>
                        </a:p>
                      </a:txBody>
                      <a:tcPr anchor="ctr"/>
                    </a:tc>
                    <a:tc>
                      <a:txBody>
                        <a:bodyPr/>
                        <a:lstStyle/>
                        <a:p>
                          <a:endParaRPr lang="zh-TW"/>
                        </a:p>
                      </a:txBody>
                      <a:tcPr anchor="ctr">
                        <a:blipFill>
                          <a:blip r:embed="rId4"/>
                          <a:stretch>
                            <a:fillRect l="-221861" t="-573418" r="-79654" b="-373418"/>
                          </a:stretch>
                        </a:blipFill>
                      </a:tcPr>
                    </a:tc>
                    <a:tc>
                      <a:txBody>
                        <a:bodyPr/>
                        <a:lstStyle/>
                        <a:p>
                          <a:endParaRPr lang="zh-TW"/>
                        </a:p>
                      </a:txBody>
                      <a:tcPr anchor="ctr">
                        <a:blipFill>
                          <a:blip r:embed="rId4"/>
                          <a:stretch>
                            <a:fillRect l="-408516" t="-573418" r="-1099" b="-373418"/>
                          </a:stretch>
                        </a:blipFill>
                      </a:tcPr>
                    </a:tc>
                    <a:extLst>
                      <a:ext uri="{0D108BD9-81ED-4DB2-BD59-A6C34878D82A}">
                        <a16:rowId xmlns:a16="http://schemas.microsoft.com/office/drawing/2014/main" val="1744669587"/>
                      </a:ext>
                    </a:extLst>
                  </a:tr>
                  <a:tr h="375984">
                    <a:tc>
                      <a:txBody>
                        <a:bodyPr/>
                        <a:lstStyle/>
                        <a:p>
                          <a:pPr algn="ctr">
                            <a:spcBef>
                              <a:spcPts val="750"/>
                            </a:spcBef>
                            <a:spcAft>
                              <a:spcPts val="750"/>
                            </a:spcAft>
                            <a:buNone/>
                          </a:pPr>
                          <a:r>
                            <a:rPr lang="en-US" dirty="0">
                              <a:effectLst/>
                            </a:rPr>
                            <a:t>Minimum Kolmogorov-Smirnov test statistic</a:t>
                          </a:r>
                        </a:p>
                      </a:txBody>
                      <a:tcPr anchor="ctr"/>
                    </a:tc>
                    <a:tc>
                      <a:txBody>
                        <a:bodyPr/>
                        <a:lstStyle/>
                        <a:p>
                          <a:pPr algn="ctr">
                            <a:spcBef>
                              <a:spcPts val="750"/>
                            </a:spcBef>
                            <a:spcAft>
                              <a:spcPts val="750"/>
                            </a:spcAft>
                            <a:buNone/>
                          </a:pPr>
                          <a:r>
                            <a:rPr lang="en-US" altLang="zh-TW" b="1" dirty="0">
                              <a:solidFill>
                                <a:srgbClr val="FF0000"/>
                              </a:solidFill>
                              <a:effectLst/>
                            </a:rPr>
                            <a:t>0.163</a:t>
                          </a:r>
                        </a:p>
                      </a:txBody>
                      <a:tcPr anchor="ctr"/>
                    </a:tc>
                    <a:tc>
                      <a:txBody>
                        <a:bodyPr/>
                        <a:lstStyle/>
                        <a:p>
                          <a:pPr algn="ctr">
                            <a:spcBef>
                              <a:spcPts val="750"/>
                            </a:spcBef>
                            <a:spcAft>
                              <a:spcPts val="750"/>
                            </a:spcAft>
                            <a:buNone/>
                          </a:pPr>
                          <a:r>
                            <a:rPr lang="en-US" altLang="zh-TW">
                              <a:effectLst/>
                            </a:rPr>
                            <a:t>0.206</a:t>
                          </a:r>
                        </a:p>
                      </a:txBody>
                      <a:tcPr anchor="ctr"/>
                    </a:tc>
                    <a:extLst>
                      <a:ext uri="{0D108BD9-81ED-4DB2-BD59-A6C34878D82A}">
                        <a16:rowId xmlns:a16="http://schemas.microsoft.com/office/drawing/2014/main" val="1575308996"/>
                      </a:ext>
                    </a:extLst>
                  </a:tr>
                  <a:tr h="660527">
                    <a:tc>
                      <a:txBody>
                        <a:bodyPr/>
                        <a:lstStyle/>
                        <a:p>
                          <a:pPr algn="ctr">
                            <a:spcBef>
                              <a:spcPts val="750"/>
                            </a:spcBef>
                            <a:spcAft>
                              <a:spcPts val="750"/>
                            </a:spcAft>
                            <a:buNone/>
                          </a:pPr>
                          <a:r>
                            <a:rPr lang="en-US" dirty="0">
                              <a:effectLst/>
                            </a:rPr>
                            <a:t>Number of experimental results yielding</a:t>
                          </a:r>
                          <a:r>
                            <a:rPr lang="zh-TW" altLang="en-US" dirty="0">
                              <a:effectLst/>
                            </a:rPr>
                            <a:t> </a:t>
                          </a:r>
                          <a:r>
                            <a:rPr lang="en-US" b="1" u="sng" dirty="0">
                              <a:effectLst/>
                            </a:rPr>
                            <a:t>unreasonable pricing kernel </a:t>
                          </a:r>
                          <a:r>
                            <a:rPr lang="en-US" dirty="0">
                              <a:effectLst/>
                            </a:rPr>
                            <a:t>estimations</a:t>
                          </a:r>
                        </a:p>
                      </a:txBody>
                      <a:tcPr anchor="ctr"/>
                    </a:tc>
                    <a:tc>
                      <a:txBody>
                        <a:bodyPr/>
                        <a:lstStyle/>
                        <a:p>
                          <a:pPr algn="ctr">
                            <a:spcBef>
                              <a:spcPts val="750"/>
                            </a:spcBef>
                            <a:spcAft>
                              <a:spcPts val="750"/>
                            </a:spcAft>
                            <a:buNone/>
                          </a:pPr>
                          <a:r>
                            <a:rPr lang="en-US" altLang="zh-TW">
                              <a:effectLst/>
                            </a:rPr>
                            <a:t>9016</a:t>
                          </a:r>
                        </a:p>
                      </a:txBody>
                      <a:tcPr anchor="ctr"/>
                    </a:tc>
                    <a:tc>
                      <a:txBody>
                        <a:bodyPr/>
                        <a:lstStyle/>
                        <a:p>
                          <a:pPr algn="ctr">
                            <a:spcBef>
                              <a:spcPts val="750"/>
                            </a:spcBef>
                            <a:spcAft>
                              <a:spcPts val="750"/>
                            </a:spcAft>
                            <a:buNone/>
                          </a:pPr>
                          <a:r>
                            <a:rPr lang="en-US" altLang="zh-TW">
                              <a:effectLst/>
                            </a:rPr>
                            <a:t>0</a:t>
                          </a:r>
                        </a:p>
                      </a:txBody>
                      <a:tcPr anchor="ctr"/>
                    </a:tc>
                    <a:extLst>
                      <a:ext uri="{0D108BD9-81ED-4DB2-BD59-A6C34878D82A}">
                        <a16:rowId xmlns:a16="http://schemas.microsoft.com/office/drawing/2014/main" val="215485756"/>
                      </a:ext>
                    </a:extLst>
                  </a:tr>
                  <a:tr h="660527">
                    <a:tc>
                      <a:txBody>
                        <a:bodyPr/>
                        <a:lstStyle/>
                        <a:p>
                          <a:pPr algn="ctr">
                            <a:spcBef>
                              <a:spcPts val="750"/>
                            </a:spcBef>
                            <a:spcAft>
                              <a:spcPts val="750"/>
                            </a:spcAft>
                            <a:buNone/>
                          </a:pPr>
                          <a:r>
                            <a:rPr lang="en-US" dirty="0">
                              <a:effectLst/>
                            </a:rPr>
                            <a:t>Number of experimental results yielding</a:t>
                          </a:r>
                          <a:r>
                            <a:rPr lang="zh-TW" altLang="en-US" dirty="0">
                              <a:effectLst/>
                            </a:rPr>
                            <a:t> </a:t>
                          </a:r>
                          <a:r>
                            <a:rPr lang="en-US" b="1" u="sng" dirty="0">
                              <a:effectLst/>
                            </a:rPr>
                            <a:t>unreasonable pricing kernel </a:t>
                          </a:r>
                          <a:r>
                            <a:rPr lang="en-US" dirty="0">
                              <a:effectLst/>
                            </a:rPr>
                            <a:t>estimations (%)</a:t>
                          </a:r>
                        </a:p>
                      </a:txBody>
                      <a:tcPr anchor="ctr"/>
                    </a:tc>
                    <a:tc>
                      <a:txBody>
                        <a:bodyPr/>
                        <a:lstStyle/>
                        <a:p>
                          <a:pPr algn="ctr">
                            <a:spcBef>
                              <a:spcPts val="750"/>
                            </a:spcBef>
                            <a:spcAft>
                              <a:spcPts val="750"/>
                            </a:spcAft>
                            <a:buNone/>
                          </a:pPr>
                          <a:r>
                            <a:rPr lang="en-US" altLang="zh-TW" dirty="0">
                              <a:effectLst/>
                            </a:rPr>
                            <a:t>8.97%</a:t>
                          </a:r>
                        </a:p>
                      </a:txBody>
                      <a:tcPr anchor="ctr"/>
                    </a:tc>
                    <a:tc>
                      <a:txBody>
                        <a:bodyPr/>
                        <a:lstStyle/>
                        <a:p>
                          <a:pPr algn="ctr">
                            <a:spcBef>
                              <a:spcPts val="750"/>
                            </a:spcBef>
                            <a:spcAft>
                              <a:spcPts val="750"/>
                            </a:spcAft>
                            <a:buNone/>
                          </a:pPr>
                          <a:r>
                            <a:rPr lang="en-US" altLang="zh-TW" dirty="0">
                              <a:effectLst/>
                            </a:rPr>
                            <a:t>0.00%</a:t>
                          </a:r>
                        </a:p>
                      </a:txBody>
                      <a:tcPr anchor="ctr"/>
                    </a:tc>
                    <a:extLst>
                      <a:ext uri="{0D108BD9-81ED-4DB2-BD59-A6C34878D82A}">
                        <a16:rowId xmlns:a16="http://schemas.microsoft.com/office/drawing/2014/main" val="2774719372"/>
                      </a:ext>
                    </a:extLst>
                  </a:tr>
                </a:tbl>
              </a:graphicData>
            </a:graphic>
          </p:graphicFrame>
        </mc:Fallback>
      </mc:AlternateContent>
      <p:sp>
        <p:nvSpPr>
          <p:cNvPr id="10" name="文字方塊 9">
            <a:extLst>
              <a:ext uri="{FF2B5EF4-FFF2-40B4-BE49-F238E27FC236}">
                <a16:creationId xmlns:a16="http://schemas.microsoft.com/office/drawing/2014/main" id="{2ED26B65-CE40-3D2E-8B49-FEC36A7FC9B9}"/>
              </a:ext>
            </a:extLst>
          </p:cNvPr>
          <p:cNvSpPr txBox="1"/>
          <p:nvPr/>
        </p:nvSpPr>
        <p:spPr>
          <a:xfrm>
            <a:off x="285442" y="802434"/>
            <a:ext cx="11775929" cy="1015663"/>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加入或未加入權重限制式在估計定價核時，估計結果皆無法得到不顯著拒絕服從均勻分布的結果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進一步比較</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KS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Test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最大</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P</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值與最小檢定統計量，未加入權重限制式表現優於加入權重限制式的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方法，但需注意亦有約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9%</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的實驗結果出現不合理的負數定價核</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AlternateContent xmlns:mc="http://schemas.openxmlformats.org/markup-compatibility/2006" xmlns:a14="http://schemas.microsoft.com/office/drawing/2010/main">
        <mc:Choice Requires="a14">
          <p:sp>
            <p:nvSpPr>
              <p:cNvPr id="8" name="文字版面配置區 2">
                <a:extLst>
                  <a:ext uri="{FF2B5EF4-FFF2-40B4-BE49-F238E27FC236}">
                    <a16:creationId xmlns:a16="http://schemas.microsoft.com/office/drawing/2014/main" id="{62A1D50E-9589-C051-1B35-1C5BF3EFBF7B}"/>
                  </a:ext>
                </a:extLst>
              </p:cNvPr>
              <p:cNvSpPr>
                <a:spLocks noGrp="1"/>
              </p:cNvSpPr>
              <p:nvPr>
                <p:ph type="body" sz="quarter" idx="10"/>
              </p:nvPr>
            </p:nvSpPr>
            <p:spPr>
              <a:xfrm>
                <a:off x="2444620" y="201576"/>
                <a:ext cx="5840413" cy="436563"/>
              </a:xfrm>
            </p:spPr>
            <p:txBody>
              <a:bodyPr/>
              <a:lstStyle/>
              <a:p>
                <a:r>
                  <a:rPr lang="en-US" altLang="zh-TW" dirty="0"/>
                  <a:t>CDI </a:t>
                </a:r>
                <a:r>
                  <a:rPr lang="zh-TW" altLang="en-US" dirty="0"/>
                  <a:t>方法</a:t>
                </a:r>
                <a:r>
                  <a:rPr lang="en-US" altLang="zh-TW" dirty="0"/>
                  <a:t>—</a:t>
                </a:r>
                <a14:m>
                  <m:oMath xmlns:m="http://schemas.openxmlformats.org/officeDocument/2006/math">
                    <m:r>
                      <a:rPr lang="zh-TW" altLang="en-US" i="1" dirty="0">
                        <a:latin typeface="Cambria Math" panose="02040503050406030204" pitchFamily="18" charset="0"/>
                      </a:rPr>
                      <m:t> </m:t>
                    </m:r>
                    <m:r>
                      <a:rPr lang="zh-TW" altLang="en-US" i="1">
                        <a:latin typeface="Cambria Math" panose="02040503050406030204" pitchFamily="18" charset="0"/>
                      </a:rPr>
                      <m:t>𝝉</m:t>
                    </m:r>
                    <m:r>
                      <a:rPr lang="en-US" altLang="zh-TW" i="1">
                        <a:latin typeface="Cambria Math" panose="02040503050406030204" pitchFamily="18" charset="0"/>
                      </a:rPr>
                      <m:t>=1</m:t>
                    </m:r>
                  </m:oMath>
                </a14:m>
                <a:endParaRPr lang="zh-TW" altLang="en-US" dirty="0"/>
              </a:p>
              <a:p>
                <a:endParaRPr lang="zh-TW" altLang="en-US" dirty="0"/>
              </a:p>
            </p:txBody>
          </p:sp>
        </mc:Choice>
        <mc:Fallback xmlns="">
          <p:sp>
            <p:nvSpPr>
              <p:cNvPr id="8" name="文字版面配置區 2">
                <a:extLst>
                  <a:ext uri="{FF2B5EF4-FFF2-40B4-BE49-F238E27FC236}">
                    <a16:creationId xmlns:a16="http://schemas.microsoft.com/office/drawing/2014/main" id="{62A1D50E-9589-C051-1B35-1C5BF3EFBF7B}"/>
                  </a:ext>
                </a:extLst>
              </p:cNvPr>
              <p:cNvSpPr>
                <a:spLocks noGrp="1" noRot="1" noChangeAspect="1" noMove="1" noResize="1" noEditPoints="1" noAdjustHandles="1" noChangeArrowheads="1" noChangeShapeType="1" noTextEdit="1"/>
              </p:cNvSpPr>
              <p:nvPr>
                <p:ph type="body" sz="quarter" idx="10"/>
              </p:nvPr>
            </p:nvSpPr>
            <p:spPr>
              <a:xfrm>
                <a:off x="2444620" y="201576"/>
                <a:ext cx="5840413" cy="436563"/>
              </a:xfrm>
              <a:blipFill>
                <a:blip r:embed="rId5"/>
                <a:stretch>
                  <a:fillRect l="-2610" t="-29167" b="-66667"/>
                </a:stretch>
              </a:blipFill>
            </p:spPr>
            <p:txBody>
              <a:bodyPr/>
              <a:lstStyle/>
              <a:p>
                <a:r>
                  <a:rPr lang="zh-TW" altLang="en-US">
                    <a:noFill/>
                  </a:rPr>
                  <a:t> </a:t>
                </a:r>
              </a:p>
            </p:txBody>
          </p:sp>
        </mc:Fallback>
      </mc:AlternateContent>
      <p:sp>
        <p:nvSpPr>
          <p:cNvPr id="11" name="內容版面配置區 3">
            <a:extLst>
              <a:ext uri="{FF2B5EF4-FFF2-40B4-BE49-F238E27FC236}">
                <a16:creationId xmlns:a16="http://schemas.microsoft.com/office/drawing/2014/main" id="{5F383C8E-2771-6161-65CC-9693F026FF50}"/>
              </a:ext>
            </a:extLst>
          </p:cNvPr>
          <p:cNvSpPr>
            <a:spLocks noGrp="1"/>
          </p:cNvSpPr>
          <p:nvPr>
            <p:ph sz="quarter" idx="11"/>
          </p:nvPr>
        </p:nvSpPr>
        <p:spPr>
          <a:xfrm>
            <a:off x="1268268" y="200314"/>
            <a:ext cx="1176352" cy="436564"/>
          </a:xfrm>
        </p:spPr>
        <p:txBody>
          <a:bodyPr/>
          <a:lstStyle/>
          <a:p>
            <a:r>
              <a:rPr lang="en-US" altLang="zh-TW" dirty="0"/>
              <a:t>2.2.3</a:t>
            </a:r>
            <a:endParaRPr lang="zh-TW" altLang="en-US" dirty="0"/>
          </a:p>
        </p:txBody>
      </p:sp>
    </p:spTree>
    <p:extLst>
      <p:ext uri="{BB962C8B-B14F-4D97-AF65-F5344CB8AC3E}">
        <p14:creationId xmlns:p14="http://schemas.microsoft.com/office/powerpoint/2010/main" val="4032589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E742D55-CB14-A2F2-ABCC-579C0800A1E9}"/>
                  </a:ext>
                </a:extLst>
              </p:cNvPr>
              <p:cNvSpPr>
                <a:spLocks noGrp="1"/>
              </p:cNvSpPr>
              <p:nvPr>
                <p:ph sz="quarter" idx="10"/>
              </p:nvPr>
            </p:nvSpPr>
            <p:spPr>
              <a:xfrm>
                <a:off x="3427445" y="3073513"/>
                <a:ext cx="9088015" cy="1171286"/>
              </a:xfrm>
            </p:spPr>
            <p:txBody>
              <a:bodyPr/>
              <a:lstStyle/>
              <a:p>
                <a:pPr>
                  <a:buFont typeface="Wingdings" panose="05000000000000000000" pitchFamily="2" charset="2"/>
                  <a:buAutoNum type="circleNumWdWhitePlain" startAt="4"/>
                </a:pPr>
                <a:r>
                  <a:rPr lang="en-US" altLang="zh-TW" dirty="0"/>
                  <a:t>CVModel</a:t>
                </a:r>
                <a:r>
                  <a:rPr lang="zh-TW" altLang="en-US" dirty="0"/>
                  <a:t>優化</a:t>
                </a:r>
                <a:r>
                  <a:rPr lang="en-US" altLang="zh-TW" dirty="0"/>
                  <a:t>CDI</a:t>
                </a:r>
                <a:r>
                  <a:rPr lang="zh-TW" altLang="en-US" dirty="0"/>
                  <a:t>方法</a:t>
                </a:r>
                <a:r>
                  <a:rPr lang="en-US" altLang="zh-TW" dirty="0"/>
                  <a:t>—</a:t>
                </a:r>
                <a14:m>
                  <m:oMath xmlns:m="http://schemas.openxmlformats.org/officeDocument/2006/math">
                    <m:r>
                      <a:rPr lang="zh-TW" altLang="en-US" i="1" dirty="0">
                        <a:latin typeface="Cambria Math" panose="02040503050406030204" pitchFamily="18" charset="0"/>
                      </a:rPr>
                      <m:t> </m:t>
                    </m:r>
                    <m:r>
                      <a:rPr lang="zh-TW" altLang="en-US" i="1">
                        <a:latin typeface="Cambria Math" panose="02040503050406030204" pitchFamily="18" charset="0"/>
                      </a:rPr>
                      <m:t>𝝉</m:t>
                    </m:r>
                    <m:r>
                      <a:rPr lang="en-US" altLang="zh-TW" i="1">
                        <a:latin typeface="Cambria Math" panose="02040503050406030204" pitchFamily="18" charset="0"/>
                      </a:rPr>
                      <m:t>=1</m:t>
                    </m:r>
                  </m:oMath>
                </a14:m>
                <a:endParaRPr lang="zh-TW" altLang="en-US" dirty="0"/>
              </a:p>
            </p:txBody>
          </p:sp>
        </mc:Choice>
        <mc:Fallback xmlns="">
          <p:sp>
            <p:nvSpPr>
              <p:cNvPr id="3" name="內容版面配置區 2">
                <a:extLst>
                  <a:ext uri="{FF2B5EF4-FFF2-40B4-BE49-F238E27FC236}">
                    <a16:creationId xmlns:a16="http://schemas.microsoft.com/office/drawing/2014/main" id="{EE742D55-CB14-A2F2-ABCC-579C0800A1E9}"/>
                  </a:ext>
                </a:extLst>
              </p:cNvPr>
              <p:cNvSpPr>
                <a:spLocks noGrp="1" noRot="1" noChangeAspect="1" noMove="1" noResize="1" noEditPoints="1" noAdjustHandles="1" noChangeArrowheads="1" noChangeShapeType="1" noTextEdit="1"/>
              </p:cNvSpPr>
              <p:nvPr>
                <p:ph sz="quarter" idx="10"/>
              </p:nvPr>
            </p:nvSpPr>
            <p:spPr>
              <a:xfrm>
                <a:off x="3427445" y="3073513"/>
                <a:ext cx="9088015" cy="1171286"/>
              </a:xfrm>
              <a:blipFill>
                <a:blip r:embed="rId2"/>
                <a:stretch>
                  <a:fillRect l="-2414" t="-1614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286542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字版面配置區 2">
                <a:extLst>
                  <a:ext uri="{FF2B5EF4-FFF2-40B4-BE49-F238E27FC236}">
                    <a16:creationId xmlns:a16="http://schemas.microsoft.com/office/drawing/2014/main" id="{37101BAB-BEE8-741A-68A6-734BB048FA44}"/>
                  </a:ext>
                </a:extLst>
              </p:cNvPr>
              <p:cNvSpPr>
                <a:spLocks noGrp="1"/>
              </p:cNvSpPr>
              <p:nvPr>
                <p:ph type="body" sz="quarter" idx="10"/>
              </p:nvPr>
            </p:nvSpPr>
            <p:spPr>
              <a:xfrm>
                <a:off x="2425958" y="200315"/>
                <a:ext cx="5840413" cy="436563"/>
              </a:xfrm>
            </p:spPr>
            <p:txBody>
              <a:bodyPr/>
              <a:lstStyle/>
              <a:p>
                <a:r>
                  <a:rPr lang="en-US" altLang="zh-TW" dirty="0"/>
                  <a:t>CVModel</a:t>
                </a:r>
                <a:r>
                  <a:rPr lang="zh-TW" altLang="en-US" dirty="0"/>
                  <a:t>優化</a:t>
                </a:r>
                <a:r>
                  <a:rPr lang="en-US" altLang="zh-TW" dirty="0"/>
                  <a:t>CDI</a:t>
                </a:r>
                <a:r>
                  <a:rPr lang="zh-TW" altLang="en-US" dirty="0"/>
                  <a:t>方法</a:t>
                </a:r>
                <a:r>
                  <a:rPr lang="en-US" altLang="zh-TW" dirty="0"/>
                  <a:t>—</a:t>
                </a:r>
                <a14:m>
                  <m:oMath xmlns:m="http://schemas.openxmlformats.org/officeDocument/2006/math">
                    <m:r>
                      <a:rPr lang="zh-TW" altLang="en-US" i="1" dirty="0">
                        <a:latin typeface="Cambria Math" panose="02040503050406030204" pitchFamily="18" charset="0"/>
                      </a:rPr>
                      <m:t> </m:t>
                    </m:r>
                    <m:r>
                      <a:rPr lang="zh-TW" altLang="en-US" i="1">
                        <a:latin typeface="Cambria Math" panose="02040503050406030204" pitchFamily="18" charset="0"/>
                      </a:rPr>
                      <m:t>𝝉</m:t>
                    </m:r>
                    <m:r>
                      <a:rPr lang="en-US" altLang="zh-TW" i="1">
                        <a:latin typeface="Cambria Math" panose="02040503050406030204" pitchFamily="18" charset="0"/>
                      </a:rPr>
                      <m:t>=1</m:t>
                    </m:r>
                  </m:oMath>
                </a14:m>
                <a:endParaRPr lang="zh-TW" altLang="en-US" dirty="0"/>
              </a:p>
              <a:p>
                <a:endParaRPr lang="zh-TW" altLang="en-US" dirty="0"/>
              </a:p>
            </p:txBody>
          </p:sp>
        </mc:Choice>
        <mc:Fallback xmlns="">
          <p:sp>
            <p:nvSpPr>
              <p:cNvPr id="3" name="文字版面配置區 2">
                <a:extLst>
                  <a:ext uri="{FF2B5EF4-FFF2-40B4-BE49-F238E27FC236}">
                    <a16:creationId xmlns:a16="http://schemas.microsoft.com/office/drawing/2014/main" id="{37101BAB-BEE8-741A-68A6-734BB048FA44}"/>
                  </a:ext>
                </a:extLst>
              </p:cNvPr>
              <p:cNvSpPr>
                <a:spLocks noGrp="1" noRot="1" noChangeAspect="1" noMove="1" noResize="1" noEditPoints="1" noAdjustHandles="1" noChangeArrowheads="1" noChangeShapeType="1" noTextEdit="1"/>
              </p:cNvSpPr>
              <p:nvPr>
                <p:ph type="body" sz="quarter" idx="10"/>
              </p:nvPr>
            </p:nvSpPr>
            <p:spPr>
              <a:xfrm>
                <a:off x="2425958" y="200315"/>
                <a:ext cx="5840413" cy="436563"/>
              </a:xfrm>
              <a:blipFill>
                <a:blip r:embed="rId2"/>
                <a:stretch>
                  <a:fillRect l="-2714" t="-29577" b="-69014"/>
                </a:stretch>
              </a:blipFill>
            </p:spPr>
            <p:txBody>
              <a:bodyPr/>
              <a:lstStyle/>
              <a:p>
                <a:r>
                  <a:rPr lang="zh-TW" altLang="en-US">
                    <a:noFill/>
                  </a:rPr>
                  <a:t> </a:t>
                </a:r>
              </a:p>
            </p:txBody>
          </p:sp>
        </mc:Fallback>
      </mc:AlternateContent>
      <p:sp>
        <p:nvSpPr>
          <p:cNvPr id="4" name="內容版面配置區 3">
            <a:extLst>
              <a:ext uri="{FF2B5EF4-FFF2-40B4-BE49-F238E27FC236}">
                <a16:creationId xmlns:a16="http://schemas.microsoft.com/office/drawing/2014/main" id="{9BA8D21C-4C08-8B7D-4306-9C7B9091F00E}"/>
              </a:ext>
            </a:extLst>
          </p:cNvPr>
          <p:cNvSpPr>
            <a:spLocks noGrp="1"/>
          </p:cNvSpPr>
          <p:nvPr>
            <p:ph sz="quarter" idx="11"/>
          </p:nvPr>
        </p:nvSpPr>
        <p:spPr>
          <a:xfrm>
            <a:off x="1268267" y="200314"/>
            <a:ext cx="1157691" cy="436564"/>
          </a:xfrm>
        </p:spPr>
        <p:txBody>
          <a:bodyPr/>
          <a:lstStyle/>
          <a:p>
            <a:r>
              <a:rPr lang="en-US" altLang="zh-TW" dirty="0"/>
              <a:t>2.2.4</a:t>
            </a:r>
            <a:endParaRPr lang="zh-TW" altLang="en-US" dirty="0"/>
          </a:p>
        </p:txBody>
      </p:sp>
      <p:sp>
        <p:nvSpPr>
          <p:cNvPr id="5" name="文字方塊 4">
            <a:extLst>
              <a:ext uri="{FF2B5EF4-FFF2-40B4-BE49-F238E27FC236}">
                <a16:creationId xmlns:a16="http://schemas.microsoft.com/office/drawing/2014/main" id="{E1D3DB31-F27E-DB41-21EE-D22BA12DFE76}"/>
              </a:ext>
            </a:extLst>
          </p:cNvPr>
          <p:cNvSpPr txBox="1"/>
          <p:nvPr/>
        </p:nvSpPr>
        <p:spPr>
          <a:xfrm>
            <a:off x="266781" y="852197"/>
            <a:ext cx="11775929" cy="1015663"/>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本實驗以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優化原始</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方法中，選擇權資料擷取與風險中立機率密度函數估計步驟</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使用邢子謙</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(2024)6.2</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節中的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2016</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6</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月至</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14</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S&amp;P500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指數選擇權的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訓練結果作為預測選擇權價格之資料集，並估計風險中立機率密度函數</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p:grpSp>
        <p:nvGrpSpPr>
          <p:cNvPr id="9" name="群組 8">
            <a:extLst>
              <a:ext uri="{FF2B5EF4-FFF2-40B4-BE49-F238E27FC236}">
                <a16:creationId xmlns:a16="http://schemas.microsoft.com/office/drawing/2014/main" id="{E27DB634-3CD1-0FF9-8AB0-C665B12F69A9}"/>
              </a:ext>
            </a:extLst>
          </p:cNvPr>
          <p:cNvGrpSpPr/>
          <p:nvPr/>
        </p:nvGrpSpPr>
        <p:grpSpPr>
          <a:xfrm>
            <a:off x="35093" y="1915760"/>
            <a:ext cx="6060907" cy="2258666"/>
            <a:chOff x="441649" y="4183224"/>
            <a:chExt cx="7043958" cy="2625011"/>
          </a:xfrm>
        </p:grpSpPr>
        <p:pic>
          <p:nvPicPr>
            <p:cNvPr id="7" name="圖片 6">
              <a:extLst>
                <a:ext uri="{FF2B5EF4-FFF2-40B4-BE49-F238E27FC236}">
                  <a16:creationId xmlns:a16="http://schemas.microsoft.com/office/drawing/2014/main" id="{8F2170E0-91E9-2AD2-87F3-365663AD88FF}"/>
                </a:ext>
              </a:extLst>
            </p:cNvPr>
            <p:cNvPicPr>
              <a:picLocks noChangeAspect="1"/>
            </p:cNvPicPr>
            <p:nvPr/>
          </p:nvPicPr>
          <p:blipFill>
            <a:blip r:embed="rId3"/>
            <a:srcRect l="1003" t="63129"/>
            <a:stretch>
              <a:fillRect/>
            </a:stretch>
          </p:blipFill>
          <p:spPr>
            <a:xfrm>
              <a:off x="441649" y="4279640"/>
              <a:ext cx="7043958" cy="2528595"/>
            </a:xfrm>
            <a:prstGeom prst="rect">
              <a:avLst/>
            </a:prstGeom>
          </p:spPr>
        </p:pic>
        <p:pic>
          <p:nvPicPr>
            <p:cNvPr id="8" name="圖片 7">
              <a:extLst>
                <a:ext uri="{FF2B5EF4-FFF2-40B4-BE49-F238E27FC236}">
                  <a16:creationId xmlns:a16="http://schemas.microsoft.com/office/drawing/2014/main" id="{3086CF55-819C-3491-C342-6BDF29CE5CB6}"/>
                </a:ext>
              </a:extLst>
            </p:cNvPr>
            <p:cNvPicPr>
              <a:picLocks noChangeAspect="1"/>
            </p:cNvPicPr>
            <p:nvPr/>
          </p:nvPicPr>
          <p:blipFill>
            <a:blip r:embed="rId3"/>
            <a:srcRect l="24287" r="26528" b="97189"/>
            <a:stretch>
              <a:fillRect/>
            </a:stretch>
          </p:blipFill>
          <p:spPr>
            <a:xfrm>
              <a:off x="2496838" y="4183224"/>
              <a:ext cx="3499635" cy="192832"/>
            </a:xfrm>
            <a:prstGeom prst="rect">
              <a:avLst/>
            </a:prstGeom>
          </p:spPr>
        </p:pic>
      </p:grpSp>
      <p:grpSp>
        <p:nvGrpSpPr>
          <p:cNvPr id="13" name="群組 12">
            <a:extLst>
              <a:ext uri="{FF2B5EF4-FFF2-40B4-BE49-F238E27FC236}">
                <a16:creationId xmlns:a16="http://schemas.microsoft.com/office/drawing/2014/main" id="{53D98277-9C89-3764-9A5F-537BD54EA96A}"/>
              </a:ext>
            </a:extLst>
          </p:cNvPr>
          <p:cNvGrpSpPr/>
          <p:nvPr/>
        </p:nvGrpSpPr>
        <p:grpSpPr>
          <a:xfrm>
            <a:off x="6003609" y="1867860"/>
            <a:ext cx="6153298" cy="2317417"/>
            <a:chOff x="659024" y="4086809"/>
            <a:chExt cx="7242560" cy="2727648"/>
          </a:xfrm>
        </p:grpSpPr>
        <p:pic>
          <p:nvPicPr>
            <p:cNvPr id="11" name="圖片 10">
              <a:extLst>
                <a:ext uri="{FF2B5EF4-FFF2-40B4-BE49-F238E27FC236}">
                  <a16:creationId xmlns:a16="http://schemas.microsoft.com/office/drawing/2014/main" id="{93FE48C8-C2B2-0487-C22F-03FE08B206AC}"/>
                </a:ext>
              </a:extLst>
            </p:cNvPr>
            <p:cNvPicPr>
              <a:picLocks noChangeAspect="1"/>
            </p:cNvPicPr>
            <p:nvPr/>
          </p:nvPicPr>
          <p:blipFill>
            <a:blip r:embed="rId4"/>
            <a:srcRect t="63129"/>
            <a:stretch>
              <a:fillRect/>
            </a:stretch>
          </p:blipFill>
          <p:spPr>
            <a:xfrm>
              <a:off x="659024" y="4285861"/>
              <a:ext cx="7242560" cy="2528596"/>
            </a:xfrm>
            <a:prstGeom prst="rect">
              <a:avLst/>
            </a:prstGeom>
          </p:spPr>
        </p:pic>
        <p:pic>
          <p:nvPicPr>
            <p:cNvPr id="12" name="圖片 11">
              <a:extLst>
                <a:ext uri="{FF2B5EF4-FFF2-40B4-BE49-F238E27FC236}">
                  <a16:creationId xmlns:a16="http://schemas.microsoft.com/office/drawing/2014/main" id="{67AD87A6-36C1-7B98-68FF-47922A8A4C86}"/>
                </a:ext>
              </a:extLst>
            </p:cNvPr>
            <p:cNvPicPr>
              <a:picLocks noChangeAspect="1"/>
            </p:cNvPicPr>
            <p:nvPr/>
          </p:nvPicPr>
          <p:blipFill>
            <a:blip r:embed="rId4"/>
            <a:srcRect l="23367" t="-90" r="25272" b="96372"/>
            <a:stretch>
              <a:fillRect/>
            </a:stretch>
          </p:blipFill>
          <p:spPr>
            <a:xfrm>
              <a:off x="2488163" y="4086809"/>
              <a:ext cx="3719804" cy="255037"/>
            </a:xfrm>
            <a:prstGeom prst="rect">
              <a:avLst/>
            </a:prstGeom>
          </p:spPr>
        </p:pic>
      </p:grpSp>
      <p:grpSp>
        <p:nvGrpSpPr>
          <p:cNvPr id="17" name="群組 16">
            <a:extLst>
              <a:ext uri="{FF2B5EF4-FFF2-40B4-BE49-F238E27FC236}">
                <a16:creationId xmlns:a16="http://schemas.microsoft.com/office/drawing/2014/main" id="{1F535DFF-8959-FED0-5A3B-B291ABD89CEE}"/>
              </a:ext>
            </a:extLst>
          </p:cNvPr>
          <p:cNvGrpSpPr/>
          <p:nvPr/>
        </p:nvGrpSpPr>
        <p:grpSpPr>
          <a:xfrm>
            <a:off x="3170179" y="4257386"/>
            <a:ext cx="6101998" cy="2354716"/>
            <a:chOff x="1502193" y="3956301"/>
            <a:chExt cx="7132575" cy="2752408"/>
          </a:xfrm>
        </p:grpSpPr>
        <p:pic>
          <p:nvPicPr>
            <p:cNvPr id="15" name="圖片 14">
              <a:extLst>
                <a:ext uri="{FF2B5EF4-FFF2-40B4-BE49-F238E27FC236}">
                  <a16:creationId xmlns:a16="http://schemas.microsoft.com/office/drawing/2014/main" id="{9E8FA4A3-AF21-44AC-9F5C-35EF1447DFCA}"/>
                </a:ext>
              </a:extLst>
            </p:cNvPr>
            <p:cNvPicPr>
              <a:picLocks noChangeAspect="1"/>
            </p:cNvPicPr>
            <p:nvPr/>
          </p:nvPicPr>
          <p:blipFill>
            <a:blip r:embed="rId5"/>
            <a:srcRect l="27952" r="26437" b="96191"/>
            <a:stretch>
              <a:fillRect/>
            </a:stretch>
          </p:blipFill>
          <p:spPr>
            <a:xfrm>
              <a:off x="3558074" y="3956301"/>
              <a:ext cx="3253273" cy="261257"/>
            </a:xfrm>
            <a:prstGeom prst="rect">
              <a:avLst/>
            </a:prstGeom>
          </p:spPr>
        </p:pic>
        <p:pic>
          <p:nvPicPr>
            <p:cNvPr id="16" name="圖片 15">
              <a:extLst>
                <a:ext uri="{FF2B5EF4-FFF2-40B4-BE49-F238E27FC236}">
                  <a16:creationId xmlns:a16="http://schemas.microsoft.com/office/drawing/2014/main" id="{3605EB97-DEDA-1283-2CBF-14677153FDFF}"/>
                </a:ext>
              </a:extLst>
            </p:cNvPr>
            <p:cNvPicPr>
              <a:picLocks noChangeAspect="1"/>
            </p:cNvPicPr>
            <p:nvPr/>
          </p:nvPicPr>
          <p:blipFill>
            <a:blip r:embed="rId5"/>
            <a:srcRect t="62601"/>
            <a:stretch>
              <a:fillRect/>
            </a:stretch>
          </p:blipFill>
          <p:spPr>
            <a:xfrm>
              <a:off x="1502193" y="4143850"/>
              <a:ext cx="7132575" cy="2564859"/>
            </a:xfrm>
            <a:prstGeom prst="rect">
              <a:avLst/>
            </a:prstGeom>
          </p:spPr>
        </p:pic>
      </p:grpSp>
    </p:spTree>
    <p:extLst>
      <p:ext uri="{BB962C8B-B14F-4D97-AF65-F5344CB8AC3E}">
        <p14:creationId xmlns:p14="http://schemas.microsoft.com/office/powerpoint/2010/main" val="2796508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AA290-B95F-5960-BDE6-E915CF762A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E9AE2611-B940-8492-A1EA-6C07CD8AF604}"/>
                  </a:ext>
                </a:extLst>
              </p:cNvPr>
              <p:cNvSpPr txBox="1"/>
              <p:nvPr/>
            </p:nvSpPr>
            <p:spPr>
              <a:xfrm>
                <a:off x="273001" y="939283"/>
                <a:ext cx="11775929" cy="2344103"/>
              </a:xfrm>
              <a:prstGeom prst="rect">
                <a:avLst/>
              </a:prstGeom>
              <a:noFill/>
            </p:spPr>
            <p:txBody>
              <a:bodyPr wrap="square" rtlCol="0">
                <a:spAutoFit/>
              </a:bodyPr>
              <a:lstStyle/>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使用</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估計之</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2016 </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6</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月至</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14</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日的對數報酬率風險中立機率密度函數數據</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Datasize</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200~297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base</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4~20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30</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等</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1,764</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種參數組合</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估計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3</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24</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~2017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年</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月</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a:t>
                </a:r>
                <a14:m>
                  <m:oMath xmlns:m="http://schemas.openxmlformats.org/officeDocument/2006/math">
                    <m:r>
                      <a:rPr lang="zh-TW" altLang="en-US" sz="2000" i="1" dirty="0" smtClean="0">
                        <a:solidFill>
                          <a:schemeClr val="tx2"/>
                        </a:solidFill>
                        <a:latin typeface="Cambria Math" panose="02040503050406030204" pitchFamily="18" charset="0"/>
                        <a:ea typeface="Microsoft JhengHei" panose="020B0604030504040204" pitchFamily="34" charset="-120"/>
                        <a:cs typeface="+mn-ea"/>
                      </a:rPr>
                      <m:t>𝜏</m:t>
                    </m:r>
                  </m:oMath>
                </a14:m>
                <a:r>
                  <a:rPr lang="en-US" altLang="zh-TW" sz="2000" dirty="0">
                    <a:solidFill>
                      <a:schemeClr val="tx2"/>
                    </a:solidFill>
                    <a:latin typeface="Microsoft JhengHei" panose="020B0604030504040204" pitchFamily="34" charset="-120"/>
                    <a:ea typeface="Microsoft JhengHei" panose="020B0604030504040204" pitchFamily="34" charset="-120"/>
                    <a:cs typeface="+mn-ea"/>
                  </a:rPr>
                  <a:t> =1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之定價核</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未加入權重限制式之實驗，得到不同參數下的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87,318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筆定價核估計結果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加入權重限制式之實驗，得到不同參數下的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87,318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筆定價核估計結果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Choice>
        <mc:Fallback xmlns="">
          <p:sp>
            <p:nvSpPr>
              <p:cNvPr id="5" name="文字方塊 4">
                <a:extLst>
                  <a:ext uri="{FF2B5EF4-FFF2-40B4-BE49-F238E27FC236}">
                    <a16:creationId xmlns:a16="http://schemas.microsoft.com/office/drawing/2014/main" id="{E9AE2611-B940-8492-A1EA-6C07CD8AF604}"/>
                  </a:ext>
                </a:extLst>
              </p:cNvPr>
              <p:cNvSpPr txBox="1">
                <a:spLocks noRot="1" noChangeAspect="1" noMove="1" noResize="1" noEditPoints="1" noAdjustHandles="1" noChangeArrowheads="1" noChangeShapeType="1" noTextEdit="1"/>
              </p:cNvSpPr>
              <p:nvPr/>
            </p:nvSpPr>
            <p:spPr>
              <a:xfrm>
                <a:off x="273001" y="939283"/>
                <a:ext cx="11775929" cy="2344103"/>
              </a:xfrm>
              <a:prstGeom prst="rect">
                <a:avLst/>
              </a:prstGeom>
              <a:blipFill>
                <a:blip r:embed="rId4"/>
                <a:stretch>
                  <a:fillRect l="-466" b="-363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版面配置區 2">
                <a:extLst>
                  <a:ext uri="{FF2B5EF4-FFF2-40B4-BE49-F238E27FC236}">
                    <a16:creationId xmlns:a16="http://schemas.microsoft.com/office/drawing/2014/main" id="{E8BF3FE2-CB4C-BDED-A518-757BE79087B5}"/>
                  </a:ext>
                </a:extLst>
              </p:cNvPr>
              <p:cNvSpPr>
                <a:spLocks noGrp="1"/>
              </p:cNvSpPr>
              <p:nvPr>
                <p:ph type="body" sz="quarter" idx="10"/>
              </p:nvPr>
            </p:nvSpPr>
            <p:spPr>
              <a:xfrm>
                <a:off x="2425958" y="200315"/>
                <a:ext cx="5840413" cy="436563"/>
              </a:xfrm>
            </p:spPr>
            <p:txBody>
              <a:bodyPr/>
              <a:lstStyle/>
              <a:p>
                <a:r>
                  <a:rPr lang="en-US" altLang="zh-TW" dirty="0"/>
                  <a:t>CVModel</a:t>
                </a:r>
                <a:r>
                  <a:rPr lang="zh-TW" altLang="en-US" dirty="0"/>
                  <a:t>優化</a:t>
                </a:r>
                <a:r>
                  <a:rPr lang="en-US" altLang="zh-TW" dirty="0"/>
                  <a:t>CDI</a:t>
                </a:r>
                <a:r>
                  <a:rPr lang="zh-TW" altLang="en-US" dirty="0"/>
                  <a:t>方法</a:t>
                </a:r>
                <a:r>
                  <a:rPr lang="en-US" altLang="zh-TW" dirty="0"/>
                  <a:t>—</a:t>
                </a:r>
                <a14:m>
                  <m:oMath xmlns:m="http://schemas.openxmlformats.org/officeDocument/2006/math">
                    <m:r>
                      <a:rPr lang="zh-TW" altLang="en-US" i="1" dirty="0">
                        <a:latin typeface="Cambria Math" panose="02040503050406030204" pitchFamily="18" charset="0"/>
                      </a:rPr>
                      <m:t> </m:t>
                    </m:r>
                    <m:r>
                      <a:rPr lang="zh-TW" altLang="en-US" i="1">
                        <a:latin typeface="Cambria Math" panose="02040503050406030204" pitchFamily="18" charset="0"/>
                      </a:rPr>
                      <m:t>𝝉</m:t>
                    </m:r>
                    <m:r>
                      <a:rPr lang="en-US" altLang="zh-TW" i="1">
                        <a:latin typeface="Cambria Math" panose="02040503050406030204" pitchFamily="18" charset="0"/>
                      </a:rPr>
                      <m:t>=1</m:t>
                    </m:r>
                  </m:oMath>
                </a14:m>
                <a:endParaRPr lang="zh-TW" altLang="en-US" dirty="0"/>
              </a:p>
              <a:p>
                <a:endParaRPr lang="zh-TW" altLang="en-US" dirty="0"/>
              </a:p>
            </p:txBody>
          </p:sp>
        </mc:Choice>
        <mc:Fallback xmlns="">
          <p:sp>
            <p:nvSpPr>
              <p:cNvPr id="9" name="文字版面配置區 2">
                <a:extLst>
                  <a:ext uri="{FF2B5EF4-FFF2-40B4-BE49-F238E27FC236}">
                    <a16:creationId xmlns:a16="http://schemas.microsoft.com/office/drawing/2014/main" id="{E8BF3FE2-CB4C-BDED-A518-757BE79087B5}"/>
                  </a:ext>
                </a:extLst>
              </p:cNvPr>
              <p:cNvSpPr>
                <a:spLocks noGrp="1" noRot="1" noChangeAspect="1" noMove="1" noResize="1" noEditPoints="1" noAdjustHandles="1" noChangeArrowheads="1" noChangeShapeType="1" noTextEdit="1"/>
              </p:cNvSpPr>
              <p:nvPr>
                <p:ph type="body" sz="quarter" idx="10"/>
              </p:nvPr>
            </p:nvSpPr>
            <p:spPr>
              <a:xfrm>
                <a:off x="2425958" y="200315"/>
                <a:ext cx="5840413" cy="436563"/>
              </a:xfrm>
              <a:blipFill>
                <a:blip r:embed="rId5"/>
                <a:stretch>
                  <a:fillRect l="-2714" t="-29577" b="-69014"/>
                </a:stretch>
              </a:blipFill>
            </p:spPr>
            <p:txBody>
              <a:bodyPr/>
              <a:lstStyle/>
              <a:p>
                <a:r>
                  <a:rPr lang="zh-TW" altLang="en-US">
                    <a:noFill/>
                  </a:rPr>
                  <a:t> </a:t>
                </a:r>
              </a:p>
            </p:txBody>
          </p:sp>
        </mc:Fallback>
      </mc:AlternateContent>
      <p:sp>
        <p:nvSpPr>
          <p:cNvPr id="10" name="內容版面配置區 3">
            <a:extLst>
              <a:ext uri="{FF2B5EF4-FFF2-40B4-BE49-F238E27FC236}">
                <a16:creationId xmlns:a16="http://schemas.microsoft.com/office/drawing/2014/main" id="{E1FCB3DD-237C-6D77-96B9-9E32A1B5DF0E}"/>
              </a:ext>
            </a:extLst>
          </p:cNvPr>
          <p:cNvSpPr>
            <a:spLocks noGrp="1"/>
          </p:cNvSpPr>
          <p:nvPr>
            <p:ph sz="quarter" idx="11"/>
          </p:nvPr>
        </p:nvSpPr>
        <p:spPr>
          <a:xfrm>
            <a:off x="1268267" y="200314"/>
            <a:ext cx="1157691" cy="436564"/>
          </a:xfrm>
        </p:spPr>
        <p:txBody>
          <a:bodyPr/>
          <a:lstStyle/>
          <a:p>
            <a:r>
              <a:rPr lang="en-US" altLang="zh-TW" dirty="0"/>
              <a:t>2.2.4</a:t>
            </a:r>
            <a:endParaRPr lang="zh-TW" altLang="en-US" dirty="0"/>
          </a:p>
        </p:txBody>
      </p:sp>
    </p:spTree>
    <p:extLst>
      <p:ext uri="{BB962C8B-B14F-4D97-AF65-F5344CB8AC3E}">
        <p14:creationId xmlns:p14="http://schemas.microsoft.com/office/powerpoint/2010/main" val="2535700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a:extLst>
              <a:ext uri="{FF2B5EF4-FFF2-40B4-BE49-F238E27FC236}">
                <a16:creationId xmlns:a16="http://schemas.microsoft.com/office/drawing/2014/main" id="{CB522942-789F-7534-A322-1CF3BFCFBB05}"/>
              </a:ext>
            </a:extLst>
          </p:cNvPr>
          <p:cNvGraphicFramePr>
            <a:graphicFrameLocks noGrp="1"/>
          </p:cNvGraphicFramePr>
          <p:nvPr>
            <p:extLst>
              <p:ext uri="{D42A27DB-BD31-4B8C-83A1-F6EECF244321}">
                <p14:modId xmlns:p14="http://schemas.microsoft.com/office/powerpoint/2010/main" val="904133138"/>
              </p:ext>
            </p:extLst>
          </p:nvPr>
        </p:nvGraphicFramePr>
        <p:xfrm>
          <a:off x="460311" y="1870441"/>
          <a:ext cx="11271378" cy="4806571"/>
        </p:xfrm>
        <a:graphic>
          <a:graphicData uri="http://schemas.openxmlformats.org/drawingml/2006/table">
            <a:tbl>
              <a:tblPr firstRow="1" bandRow="1">
                <a:tableStyleId>{5C22544A-7EE6-4342-B048-85BDC9FD1C3A}</a:tableStyleId>
              </a:tblPr>
              <a:tblGrid>
                <a:gridCol w="6239069">
                  <a:extLst>
                    <a:ext uri="{9D8B030D-6E8A-4147-A177-3AD203B41FA5}">
                      <a16:colId xmlns:a16="http://schemas.microsoft.com/office/drawing/2014/main" val="2510526303"/>
                    </a:ext>
                  </a:extLst>
                </a:gridCol>
                <a:gridCol w="2009191">
                  <a:extLst>
                    <a:ext uri="{9D8B030D-6E8A-4147-A177-3AD203B41FA5}">
                      <a16:colId xmlns:a16="http://schemas.microsoft.com/office/drawing/2014/main" val="2574596583"/>
                    </a:ext>
                  </a:extLst>
                </a:gridCol>
                <a:gridCol w="3023118">
                  <a:extLst>
                    <a:ext uri="{9D8B030D-6E8A-4147-A177-3AD203B41FA5}">
                      <a16:colId xmlns:a16="http://schemas.microsoft.com/office/drawing/2014/main" val="1544272040"/>
                    </a:ext>
                  </a:extLst>
                </a:gridCol>
              </a:tblGrid>
              <a:tr h="370840">
                <a:tc gridSpan="3">
                  <a:txBody>
                    <a:bodyPr/>
                    <a:lstStyle/>
                    <a:p>
                      <a:pPr algn="ctr" fontAlgn="t">
                        <a:spcBef>
                          <a:spcPts val="750"/>
                        </a:spcBef>
                        <a:spcAft>
                          <a:spcPts val="750"/>
                        </a:spcAft>
                        <a:buNone/>
                      </a:pPr>
                      <a:r>
                        <a:rPr lang="en-US" dirty="0">
                          <a:effectLst/>
                        </a:rPr>
                        <a:t>CDI method improved by CV Model</a:t>
                      </a:r>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4065975892"/>
                  </a:ext>
                </a:extLst>
              </a:tr>
              <a:tr h="300394">
                <a:tc>
                  <a:txBody>
                    <a:bodyPr/>
                    <a:lstStyle/>
                    <a:p>
                      <a:pPr algn="ctr">
                        <a:spcBef>
                          <a:spcPts val="750"/>
                        </a:spcBef>
                        <a:spcAft>
                          <a:spcPts val="750"/>
                        </a:spcAft>
                        <a:buNone/>
                      </a:pPr>
                      <a:r>
                        <a:rPr lang="en-US" dirty="0">
                          <a:effectLst/>
                        </a:rPr>
                        <a:t>Comparison of CDI Methods with CV Mode</a:t>
                      </a:r>
                    </a:p>
                  </a:txBody>
                  <a:tcPr anchor="ctr"/>
                </a:tc>
                <a:tc>
                  <a:txBody>
                    <a:bodyPr/>
                    <a:lstStyle/>
                    <a:p>
                      <a:pPr algn="ctr">
                        <a:spcBef>
                          <a:spcPts val="750"/>
                        </a:spcBef>
                        <a:spcAft>
                          <a:spcPts val="750"/>
                        </a:spcAft>
                        <a:buNone/>
                      </a:pPr>
                      <a:r>
                        <a:rPr lang="en-US" dirty="0">
                          <a:effectLst/>
                        </a:rPr>
                        <a:t>CDI Method with CV Model</a:t>
                      </a:r>
                    </a:p>
                  </a:txBody>
                  <a:tcPr anchor="ctr"/>
                </a:tc>
                <a:tc>
                  <a:txBody>
                    <a:bodyPr/>
                    <a:lstStyle/>
                    <a:p>
                      <a:pPr algn="ctr">
                        <a:spcBef>
                          <a:spcPts val="750"/>
                        </a:spcBef>
                        <a:spcAft>
                          <a:spcPts val="750"/>
                        </a:spcAft>
                        <a:buNone/>
                      </a:pPr>
                      <a:r>
                        <a:rPr lang="en-US" dirty="0">
                          <a:effectLst/>
                        </a:rPr>
                        <a:t>CDI Method with CV Model with weight constraint</a:t>
                      </a:r>
                    </a:p>
                  </a:txBody>
                  <a:tcPr anchor="ctr"/>
                </a:tc>
                <a:extLst>
                  <a:ext uri="{0D108BD9-81ED-4DB2-BD59-A6C34878D82A}">
                    <a16:rowId xmlns:a16="http://schemas.microsoft.com/office/drawing/2014/main" val="3816390971"/>
                  </a:ext>
                </a:extLst>
              </a:tr>
              <a:tr h="370840">
                <a:tc>
                  <a:txBody>
                    <a:bodyPr/>
                    <a:lstStyle/>
                    <a:p>
                      <a:pPr algn="ctr">
                        <a:spcBef>
                          <a:spcPts val="750"/>
                        </a:spcBef>
                        <a:spcAft>
                          <a:spcPts val="750"/>
                        </a:spcAft>
                        <a:buNone/>
                      </a:pPr>
                      <a:r>
                        <a:rPr lang="en-US">
                          <a:effectLst/>
                        </a:rPr>
                        <a:t>Total number of experimental data</a:t>
                      </a:r>
                    </a:p>
                  </a:txBody>
                  <a:tcPr anchor="ctr"/>
                </a:tc>
                <a:tc>
                  <a:txBody>
                    <a:bodyPr/>
                    <a:lstStyle/>
                    <a:p>
                      <a:pPr algn="ctr">
                        <a:spcBef>
                          <a:spcPts val="750"/>
                        </a:spcBef>
                        <a:spcAft>
                          <a:spcPts val="750"/>
                        </a:spcAft>
                        <a:buNone/>
                      </a:pPr>
                      <a:r>
                        <a:rPr lang="en-US" altLang="zh-TW">
                          <a:effectLst/>
                        </a:rPr>
                        <a:t>87318</a:t>
                      </a:r>
                    </a:p>
                  </a:txBody>
                  <a:tcPr anchor="ctr"/>
                </a:tc>
                <a:tc>
                  <a:txBody>
                    <a:bodyPr/>
                    <a:lstStyle/>
                    <a:p>
                      <a:pPr algn="ctr">
                        <a:spcBef>
                          <a:spcPts val="750"/>
                        </a:spcBef>
                        <a:spcAft>
                          <a:spcPts val="750"/>
                        </a:spcAft>
                        <a:buNone/>
                      </a:pPr>
                      <a:r>
                        <a:rPr lang="en-US" altLang="zh-TW">
                          <a:effectLst/>
                        </a:rPr>
                        <a:t>87318</a:t>
                      </a:r>
                    </a:p>
                  </a:txBody>
                  <a:tcPr anchor="ctr"/>
                </a:tc>
                <a:extLst>
                  <a:ext uri="{0D108BD9-81ED-4DB2-BD59-A6C34878D82A}">
                    <a16:rowId xmlns:a16="http://schemas.microsoft.com/office/drawing/2014/main" val="2660380914"/>
                  </a:ext>
                </a:extLst>
              </a:tr>
              <a:tr h="387224">
                <a:tc>
                  <a:txBody>
                    <a:bodyPr/>
                    <a:lstStyle/>
                    <a:p>
                      <a:pPr algn="ctr">
                        <a:spcBef>
                          <a:spcPts val="750"/>
                        </a:spcBef>
                        <a:spcAft>
                          <a:spcPts val="750"/>
                        </a:spcAft>
                        <a:buNone/>
                      </a:pPr>
                      <a:r>
                        <a:rPr lang="en-US" dirty="0">
                          <a:effectLst/>
                        </a:rPr>
                        <a:t>Number of results failing to significantly reject uniform distribution</a:t>
                      </a:r>
                    </a:p>
                  </a:txBody>
                  <a:tcPr anchor="ctr"/>
                </a:tc>
                <a:tc>
                  <a:txBody>
                    <a:bodyPr/>
                    <a:lstStyle/>
                    <a:p>
                      <a:pPr algn="ctr">
                        <a:spcBef>
                          <a:spcPts val="750"/>
                        </a:spcBef>
                        <a:spcAft>
                          <a:spcPts val="750"/>
                        </a:spcAft>
                        <a:buNone/>
                      </a:pPr>
                      <a:r>
                        <a:rPr lang="en-US" altLang="zh-TW">
                          <a:effectLst/>
                        </a:rPr>
                        <a:t>7351</a:t>
                      </a:r>
                    </a:p>
                  </a:txBody>
                  <a:tcPr anchor="ctr"/>
                </a:tc>
                <a:tc>
                  <a:txBody>
                    <a:bodyPr/>
                    <a:lstStyle/>
                    <a:p>
                      <a:pPr algn="ctr">
                        <a:spcBef>
                          <a:spcPts val="750"/>
                        </a:spcBef>
                        <a:spcAft>
                          <a:spcPts val="750"/>
                        </a:spcAft>
                        <a:buNone/>
                      </a:pPr>
                      <a:r>
                        <a:rPr lang="en-US" altLang="zh-TW">
                          <a:effectLst/>
                        </a:rPr>
                        <a:t>13080</a:t>
                      </a:r>
                    </a:p>
                  </a:txBody>
                  <a:tcPr anchor="ctr"/>
                </a:tc>
                <a:extLst>
                  <a:ext uri="{0D108BD9-81ED-4DB2-BD59-A6C34878D82A}">
                    <a16:rowId xmlns:a16="http://schemas.microsoft.com/office/drawing/2014/main" val="2260777970"/>
                  </a:ext>
                </a:extLst>
              </a:tr>
              <a:tr h="370840">
                <a:tc>
                  <a:txBody>
                    <a:bodyPr/>
                    <a:lstStyle/>
                    <a:p>
                      <a:pPr algn="ctr">
                        <a:spcBef>
                          <a:spcPts val="750"/>
                        </a:spcBef>
                        <a:spcAft>
                          <a:spcPts val="750"/>
                        </a:spcAft>
                        <a:buNone/>
                      </a:pPr>
                      <a:r>
                        <a:rPr lang="en-US" dirty="0">
                          <a:effectLst/>
                        </a:rPr>
                        <a:t>Number of results failing to significantly reject uniform distribution(%)</a:t>
                      </a:r>
                    </a:p>
                  </a:txBody>
                  <a:tcPr anchor="ctr"/>
                </a:tc>
                <a:tc>
                  <a:txBody>
                    <a:bodyPr/>
                    <a:lstStyle/>
                    <a:p>
                      <a:pPr algn="ctr">
                        <a:spcBef>
                          <a:spcPts val="750"/>
                        </a:spcBef>
                        <a:spcAft>
                          <a:spcPts val="750"/>
                        </a:spcAft>
                        <a:buNone/>
                      </a:pPr>
                      <a:r>
                        <a:rPr lang="en-US" altLang="zh-TW">
                          <a:effectLst/>
                        </a:rPr>
                        <a:t>8.42%</a:t>
                      </a:r>
                    </a:p>
                  </a:txBody>
                  <a:tcPr anchor="ctr"/>
                </a:tc>
                <a:tc>
                  <a:txBody>
                    <a:bodyPr/>
                    <a:lstStyle/>
                    <a:p>
                      <a:pPr algn="ctr">
                        <a:spcBef>
                          <a:spcPts val="750"/>
                        </a:spcBef>
                        <a:spcAft>
                          <a:spcPts val="750"/>
                        </a:spcAft>
                        <a:buNone/>
                      </a:pPr>
                      <a:r>
                        <a:rPr lang="en-US" altLang="zh-TW" b="1" dirty="0">
                          <a:solidFill>
                            <a:srgbClr val="FF0000"/>
                          </a:solidFill>
                          <a:effectLst/>
                        </a:rPr>
                        <a:t>14.98%</a:t>
                      </a:r>
                    </a:p>
                  </a:txBody>
                  <a:tcPr anchor="ctr"/>
                </a:tc>
                <a:extLst>
                  <a:ext uri="{0D108BD9-81ED-4DB2-BD59-A6C34878D82A}">
                    <a16:rowId xmlns:a16="http://schemas.microsoft.com/office/drawing/2014/main" val="3060344781"/>
                  </a:ext>
                </a:extLst>
              </a:tr>
              <a:tr h="370840">
                <a:tc>
                  <a:txBody>
                    <a:bodyPr/>
                    <a:lstStyle/>
                    <a:p>
                      <a:pPr algn="ctr">
                        <a:spcBef>
                          <a:spcPts val="750"/>
                        </a:spcBef>
                        <a:spcAft>
                          <a:spcPts val="750"/>
                        </a:spcAft>
                        <a:buNone/>
                      </a:pPr>
                      <a:r>
                        <a:rPr lang="en-US">
                          <a:effectLst/>
                        </a:rPr>
                        <a:t>Maximum Kolmogorov-Smirnov test p-value</a:t>
                      </a:r>
                    </a:p>
                  </a:txBody>
                  <a:tcPr anchor="ctr"/>
                </a:tc>
                <a:tc>
                  <a:txBody>
                    <a:bodyPr/>
                    <a:lstStyle/>
                    <a:p>
                      <a:pPr algn="ctr">
                        <a:spcBef>
                          <a:spcPts val="750"/>
                        </a:spcBef>
                        <a:spcAft>
                          <a:spcPts val="750"/>
                        </a:spcAft>
                        <a:buNone/>
                      </a:pPr>
                      <a:r>
                        <a:rPr lang="en-US" altLang="zh-TW">
                          <a:effectLst/>
                        </a:rPr>
                        <a:t>1.00</a:t>
                      </a:r>
                    </a:p>
                  </a:txBody>
                  <a:tcPr anchor="ctr"/>
                </a:tc>
                <a:tc>
                  <a:txBody>
                    <a:bodyPr/>
                    <a:lstStyle/>
                    <a:p>
                      <a:pPr algn="ctr">
                        <a:spcBef>
                          <a:spcPts val="750"/>
                        </a:spcBef>
                        <a:spcAft>
                          <a:spcPts val="750"/>
                        </a:spcAft>
                        <a:buNone/>
                      </a:pPr>
                      <a:r>
                        <a:rPr lang="en-US" altLang="zh-TW">
                          <a:effectLst/>
                        </a:rPr>
                        <a:t>1.00</a:t>
                      </a:r>
                    </a:p>
                  </a:txBody>
                  <a:tcPr anchor="ctr"/>
                </a:tc>
                <a:extLst>
                  <a:ext uri="{0D108BD9-81ED-4DB2-BD59-A6C34878D82A}">
                    <a16:rowId xmlns:a16="http://schemas.microsoft.com/office/drawing/2014/main" val="1744669587"/>
                  </a:ext>
                </a:extLst>
              </a:tr>
              <a:tr h="370840">
                <a:tc>
                  <a:txBody>
                    <a:bodyPr/>
                    <a:lstStyle/>
                    <a:p>
                      <a:pPr algn="ctr">
                        <a:spcBef>
                          <a:spcPts val="750"/>
                        </a:spcBef>
                        <a:spcAft>
                          <a:spcPts val="750"/>
                        </a:spcAft>
                        <a:buNone/>
                      </a:pPr>
                      <a:r>
                        <a:rPr lang="en-US" dirty="0">
                          <a:effectLst/>
                        </a:rPr>
                        <a:t>Minimum Kolmogorov-Smirnov test statistic</a:t>
                      </a:r>
                    </a:p>
                  </a:txBody>
                  <a:tcPr anchor="ctr"/>
                </a:tc>
                <a:tc>
                  <a:txBody>
                    <a:bodyPr/>
                    <a:lstStyle/>
                    <a:p>
                      <a:pPr algn="ctr">
                        <a:spcBef>
                          <a:spcPts val="750"/>
                        </a:spcBef>
                        <a:spcAft>
                          <a:spcPts val="750"/>
                        </a:spcAft>
                        <a:buNone/>
                      </a:pPr>
                      <a:r>
                        <a:rPr lang="en-US" altLang="zh-TW" b="1" dirty="0">
                          <a:solidFill>
                            <a:srgbClr val="FF0000"/>
                          </a:solidFill>
                          <a:effectLst/>
                        </a:rPr>
                        <a:t>0.003620</a:t>
                      </a:r>
                    </a:p>
                  </a:txBody>
                  <a:tcPr anchor="ctr"/>
                </a:tc>
                <a:tc>
                  <a:txBody>
                    <a:bodyPr/>
                    <a:lstStyle/>
                    <a:p>
                      <a:pPr algn="ctr">
                        <a:spcBef>
                          <a:spcPts val="750"/>
                        </a:spcBef>
                        <a:spcAft>
                          <a:spcPts val="750"/>
                        </a:spcAft>
                        <a:buNone/>
                      </a:pPr>
                      <a:r>
                        <a:rPr lang="en-US" altLang="zh-TW">
                          <a:effectLst/>
                        </a:rPr>
                        <a:t>0.003759</a:t>
                      </a:r>
                    </a:p>
                  </a:txBody>
                  <a:tcPr anchor="ctr"/>
                </a:tc>
                <a:extLst>
                  <a:ext uri="{0D108BD9-81ED-4DB2-BD59-A6C34878D82A}">
                    <a16:rowId xmlns:a16="http://schemas.microsoft.com/office/drawing/2014/main" val="1575308996"/>
                  </a:ext>
                </a:extLst>
              </a:tr>
              <a:tr h="370840">
                <a:tc>
                  <a:txBody>
                    <a:bodyPr/>
                    <a:lstStyle/>
                    <a:p>
                      <a:pPr algn="ctr">
                        <a:spcBef>
                          <a:spcPts val="750"/>
                        </a:spcBef>
                        <a:spcAft>
                          <a:spcPts val="750"/>
                        </a:spcAft>
                        <a:buNone/>
                      </a:pPr>
                      <a:r>
                        <a:rPr lang="en-US" dirty="0">
                          <a:effectLst/>
                        </a:rPr>
                        <a:t>Number of experimental results yielding</a:t>
                      </a:r>
                      <a:r>
                        <a:rPr lang="zh-TW" altLang="en-US" dirty="0">
                          <a:effectLst/>
                        </a:rPr>
                        <a:t> </a:t>
                      </a:r>
                      <a:r>
                        <a:rPr lang="en-US" b="1" u="sng" dirty="0">
                          <a:effectLst/>
                        </a:rPr>
                        <a:t>unreasonable pricing kernel </a:t>
                      </a:r>
                      <a:r>
                        <a:rPr lang="en-US" dirty="0">
                          <a:effectLst/>
                        </a:rPr>
                        <a:t>estimations</a:t>
                      </a:r>
                    </a:p>
                  </a:txBody>
                  <a:tcPr anchor="ctr"/>
                </a:tc>
                <a:tc>
                  <a:txBody>
                    <a:bodyPr/>
                    <a:lstStyle/>
                    <a:p>
                      <a:pPr algn="ctr">
                        <a:spcBef>
                          <a:spcPts val="750"/>
                        </a:spcBef>
                        <a:spcAft>
                          <a:spcPts val="750"/>
                        </a:spcAft>
                        <a:buNone/>
                      </a:pPr>
                      <a:r>
                        <a:rPr lang="en-US" altLang="zh-TW">
                          <a:effectLst/>
                        </a:rPr>
                        <a:t>47469</a:t>
                      </a:r>
                    </a:p>
                  </a:txBody>
                  <a:tcPr anchor="ctr"/>
                </a:tc>
                <a:tc>
                  <a:txBody>
                    <a:bodyPr/>
                    <a:lstStyle/>
                    <a:p>
                      <a:pPr algn="ctr">
                        <a:spcBef>
                          <a:spcPts val="750"/>
                        </a:spcBef>
                        <a:spcAft>
                          <a:spcPts val="750"/>
                        </a:spcAft>
                        <a:buNone/>
                      </a:pPr>
                      <a:r>
                        <a:rPr lang="en-US" altLang="zh-TW">
                          <a:effectLst/>
                        </a:rPr>
                        <a:t>0</a:t>
                      </a:r>
                    </a:p>
                  </a:txBody>
                  <a:tcPr anchor="ctr"/>
                </a:tc>
                <a:extLst>
                  <a:ext uri="{0D108BD9-81ED-4DB2-BD59-A6C34878D82A}">
                    <a16:rowId xmlns:a16="http://schemas.microsoft.com/office/drawing/2014/main" val="215485756"/>
                  </a:ext>
                </a:extLst>
              </a:tr>
              <a:tr h="370840">
                <a:tc>
                  <a:txBody>
                    <a:bodyPr/>
                    <a:lstStyle/>
                    <a:p>
                      <a:pPr algn="ctr">
                        <a:spcBef>
                          <a:spcPts val="750"/>
                        </a:spcBef>
                        <a:spcAft>
                          <a:spcPts val="750"/>
                        </a:spcAft>
                        <a:buNone/>
                      </a:pPr>
                      <a:r>
                        <a:rPr lang="en-US" dirty="0">
                          <a:effectLst/>
                        </a:rPr>
                        <a:t>Number of experimental results yielding</a:t>
                      </a:r>
                      <a:r>
                        <a:rPr lang="zh-TW" altLang="en-US" dirty="0">
                          <a:effectLst/>
                        </a:rPr>
                        <a:t> </a:t>
                      </a:r>
                      <a:r>
                        <a:rPr lang="en-US" b="1" u="sng" dirty="0">
                          <a:effectLst/>
                        </a:rPr>
                        <a:t>unreasonable pricing kernel </a:t>
                      </a:r>
                      <a:r>
                        <a:rPr lang="en-US" dirty="0">
                          <a:effectLst/>
                        </a:rPr>
                        <a:t>estimations (%)</a:t>
                      </a:r>
                    </a:p>
                  </a:txBody>
                  <a:tcPr anchor="ctr"/>
                </a:tc>
                <a:tc>
                  <a:txBody>
                    <a:bodyPr/>
                    <a:lstStyle/>
                    <a:p>
                      <a:pPr algn="ctr">
                        <a:spcBef>
                          <a:spcPts val="750"/>
                        </a:spcBef>
                        <a:spcAft>
                          <a:spcPts val="750"/>
                        </a:spcAft>
                        <a:buNone/>
                      </a:pPr>
                      <a:r>
                        <a:rPr lang="en-US" altLang="zh-TW" b="1" dirty="0">
                          <a:solidFill>
                            <a:srgbClr val="FF0000"/>
                          </a:solidFill>
                          <a:effectLst/>
                        </a:rPr>
                        <a:t>54.36%</a:t>
                      </a:r>
                    </a:p>
                  </a:txBody>
                  <a:tcPr anchor="ctr"/>
                </a:tc>
                <a:tc>
                  <a:txBody>
                    <a:bodyPr/>
                    <a:lstStyle/>
                    <a:p>
                      <a:pPr algn="ctr">
                        <a:spcBef>
                          <a:spcPts val="750"/>
                        </a:spcBef>
                        <a:spcAft>
                          <a:spcPts val="750"/>
                        </a:spcAft>
                        <a:buNone/>
                      </a:pPr>
                      <a:r>
                        <a:rPr lang="en-US" altLang="zh-TW" dirty="0">
                          <a:effectLst/>
                        </a:rPr>
                        <a:t>0.00%</a:t>
                      </a:r>
                    </a:p>
                  </a:txBody>
                  <a:tcPr anchor="ctr"/>
                </a:tc>
                <a:extLst>
                  <a:ext uri="{0D108BD9-81ED-4DB2-BD59-A6C34878D82A}">
                    <a16:rowId xmlns:a16="http://schemas.microsoft.com/office/drawing/2014/main" val="2774719372"/>
                  </a:ext>
                </a:extLst>
              </a:tr>
            </a:tbl>
          </a:graphicData>
        </a:graphic>
      </p:graphicFrame>
      <p:sp>
        <p:nvSpPr>
          <p:cNvPr id="10" name="文字方塊 9">
            <a:extLst>
              <a:ext uri="{FF2B5EF4-FFF2-40B4-BE49-F238E27FC236}">
                <a16:creationId xmlns:a16="http://schemas.microsoft.com/office/drawing/2014/main" id="{2ED26B65-CE40-3D2E-8B49-FEC36A7FC9B9}"/>
              </a:ext>
            </a:extLst>
          </p:cNvPr>
          <p:cNvSpPr txBox="1"/>
          <p:nvPr/>
        </p:nvSpPr>
        <p:spPr>
          <a:xfrm>
            <a:off x="285442" y="802434"/>
            <a:ext cx="11775929" cy="1015663"/>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以</a:t>
            </a: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CVModel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優化並加入權重限制式的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方法估計結果可得到較多不顯著拒絕服從均勻分布的結果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儘管以</a:t>
            </a: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CVModel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優化並加入權重限制式的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方法得到較小的</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KS</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Test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檢定統計量，但出現約有</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54%</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的實驗結果出現不合理的負數定價核</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AlternateContent xmlns:mc="http://schemas.openxmlformats.org/markup-compatibility/2006" xmlns:a14="http://schemas.microsoft.com/office/drawing/2010/main">
        <mc:Choice Requires="a14">
          <p:sp>
            <p:nvSpPr>
              <p:cNvPr id="8" name="文字版面配置區 2">
                <a:extLst>
                  <a:ext uri="{FF2B5EF4-FFF2-40B4-BE49-F238E27FC236}">
                    <a16:creationId xmlns:a16="http://schemas.microsoft.com/office/drawing/2014/main" id="{399D75BB-9FDB-373D-B0E4-02B2DC893A6D}"/>
                  </a:ext>
                </a:extLst>
              </p:cNvPr>
              <p:cNvSpPr>
                <a:spLocks noGrp="1"/>
              </p:cNvSpPr>
              <p:nvPr>
                <p:ph type="body" sz="quarter" idx="10"/>
              </p:nvPr>
            </p:nvSpPr>
            <p:spPr>
              <a:xfrm>
                <a:off x="2425958" y="200315"/>
                <a:ext cx="5840413" cy="436563"/>
              </a:xfrm>
            </p:spPr>
            <p:txBody>
              <a:bodyPr/>
              <a:lstStyle/>
              <a:p>
                <a:r>
                  <a:rPr lang="en-US" altLang="zh-TW" dirty="0"/>
                  <a:t>CVModel</a:t>
                </a:r>
                <a:r>
                  <a:rPr lang="zh-TW" altLang="en-US" dirty="0"/>
                  <a:t>優化</a:t>
                </a:r>
                <a:r>
                  <a:rPr lang="en-US" altLang="zh-TW" dirty="0"/>
                  <a:t>CDI</a:t>
                </a:r>
                <a:r>
                  <a:rPr lang="zh-TW" altLang="en-US" dirty="0"/>
                  <a:t>方法</a:t>
                </a:r>
                <a:r>
                  <a:rPr lang="en-US" altLang="zh-TW" dirty="0"/>
                  <a:t>—</a:t>
                </a:r>
                <a14:m>
                  <m:oMath xmlns:m="http://schemas.openxmlformats.org/officeDocument/2006/math">
                    <m:r>
                      <a:rPr lang="zh-TW" altLang="en-US" i="1" dirty="0">
                        <a:latin typeface="Cambria Math" panose="02040503050406030204" pitchFamily="18" charset="0"/>
                      </a:rPr>
                      <m:t> </m:t>
                    </m:r>
                    <m:r>
                      <a:rPr lang="zh-TW" altLang="en-US" i="1">
                        <a:latin typeface="Cambria Math" panose="02040503050406030204" pitchFamily="18" charset="0"/>
                      </a:rPr>
                      <m:t>𝝉</m:t>
                    </m:r>
                    <m:r>
                      <a:rPr lang="en-US" altLang="zh-TW" i="1">
                        <a:latin typeface="Cambria Math" panose="02040503050406030204" pitchFamily="18" charset="0"/>
                      </a:rPr>
                      <m:t>=1</m:t>
                    </m:r>
                  </m:oMath>
                </a14:m>
                <a:endParaRPr lang="zh-TW" altLang="en-US" dirty="0"/>
              </a:p>
              <a:p>
                <a:endParaRPr lang="zh-TW" altLang="en-US" dirty="0"/>
              </a:p>
            </p:txBody>
          </p:sp>
        </mc:Choice>
        <mc:Fallback xmlns="">
          <p:sp>
            <p:nvSpPr>
              <p:cNvPr id="8" name="文字版面配置區 2">
                <a:extLst>
                  <a:ext uri="{FF2B5EF4-FFF2-40B4-BE49-F238E27FC236}">
                    <a16:creationId xmlns:a16="http://schemas.microsoft.com/office/drawing/2014/main" id="{399D75BB-9FDB-373D-B0E4-02B2DC893A6D}"/>
                  </a:ext>
                </a:extLst>
              </p:cNvPr>
              <p:cNvSpPr>
                <a:spLocks noGrp="1" noRot="1" noChangeAspect="1" noMove="1" noResize="1" noEditPoints="1" noAdjustHandles="1" noChangeArrowheads="1" noChangeShapeType="1" noTextEdit="1"/>
              </p:cNvSpPr>
              <p:nvPr>
                <p:ph type="body" sz="quarter" idx="10"/>
              </p:nvPr>
            </p:nvSpPr>
            <p:spPr>
              <a:xfrm>
                <a:off x="2425958" y="200315"/>
                <a:ext cx="5840413" cy="436563"/>
              </a:xfrm>
              <a:blipFill>
                <a:blip r:embed="rId3"/>
                <a:stretch>
                  <a:fillRect l="-2714" t="-29577" b="-69014"/>
                </a:stretch>
              </a:blipFill>
            </p:spPr>
            <p:txBody>
              <a:bodyPr/>
              <a:lstStyle/>
              <a:p>
                <a:r>
                  <a:rPr lang="zh-TW" altLang="en-US">
                    <a:noFill/>
                  </a:rPr>
                  <a:t> </a:t>
                </a:r>
              </a:p>
            </p:txBody>
          </p:sp>
        </mc:Fallback>
      </mc:AlternateContent>
      <p:sp>
        <p:nvSpPr>
          <p:cNvPr id="11" name="內容版面配置區 3">
            <a:extLst>
              <a:ext uri="{FF2B5EF4-FFF2-40B4-BE49-F238E27FC236}">
                <a16:creationId xmlns:a16="http://schemas.microsoft.com/office/drawing/2014/main" id="{33DA88FF-6655-8FD9-65E2-D6D64ED6F5A9}"/>
              </a:ext>
            </a:extLst>
          </p:cNvPr>
          <p:cNvSpPr>
            <a:spLocks noGrp="1"/>
          </p:cNvSpPr>
          <p:nvPr>
            <p:ph sz="quarter" idx="11"/>
          </p:nvPr>
        </p:nvSpPr>
        <p:spPr>
          <a:xfrm>
            <a:off x="1268267" y="200314"/>
            <a:ext cx="1157691" cy="436564"/>
          </a:xfrm>
        </p:spPr>
        <p:txBody>
          <a:bodyPr/>
          <a:lstStyle/>
          <a:p>
            <a:r>
              <a:rPr lang="en-US" altLang="zh-TW" dirty="0"/>
              <a:t>2.2.4</a:t>
            </a:r>
            <a:endParaRPr lang="zh-TW" altLang="en-US" dirty="0"/>
          </a:p>
        </p:txBody>
      </p:sp>
    </p:spTree>
    <p:extLst>
      <p:ext uri="{BB962C8B-B14F-4D97-AF65-F5344CB8AC3E}">
        <p14:creationId xmlns:p14="http://schemas.microsoft.com/office/powerpoint/2010/main" val="3217318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DA8F4E23-9112-333B-0C23-387EFCB0AF22}"/>
              </a:ext>
            </a:extLst>
          </p:cNvPr>
          <p:cNvSpPr>
            <a:spLocks noGrp="1"/>
          </p:cNvSpPr>
          <p:nvPr>
            <p:ph sz="quarter" idx="10"/>
          </p:nvPr>
        </p:nvSpPr>
        <p:spPr>
          <a:xfrm>
            <a:off x="6096000" y="2843357"/>
            <a:ext cx="4873957" cy="1171286"/>
          </a:xfrm>
        </p:spPr>
        <p:txBody>
          <a:bodyPr/>
          <a:lstStyle/>
          <a:p>
            <a:pPr>
              <a:buFont typeface="+mj-ea"/>
              <a:buAutoNum type="ea1ChtPeriod" startAt="3"/>
            </a:pPr>
            <a:r>
              <a:rPr lang="zh-TW" altLang="en-US" dirty="0"/>
              <a:t>投資者情緒分析</a:t>
            </a:r>
          </a:p>
        </p:txBody>
      </p:sp>
    </p:spTree>
    <p:extLst>
      <p:ext uri="{BB962C8B-B14F-4D97-AF65-F5344CB8AC3E}">
        <p14:creationId xmlns:p14="http://schemas.microsoft.com/office/powerpoint/2010/main" val="39799344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E74B0-C99D-6BE6-2EAA-19833499C4C0}"/>
            </a:ext>
          </a:extLst>
        </p:cNvPr>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DF9EA5A8-FC7B-CD3F-173D-FF5DD8DCB165}"/>
              </a:ext>
            </a:extLst>
          </p:cNvPr>
          <p:cNvSpPr>
            <a:spLocks noGrp="1"/>
          </p:cNvSpPr>
          <p:nvPr>
            <p:ph sz="quarter" idx="10"/>
          </p:nvPr>
        </p:nvSpPr>
        <p:spPr>
          <a:xfrm>
            <a:off x="3381797" y="2457691"/>
            <a:ext cx="8996816" cy="1171286"/>
          </a:xfrm>
        </p:spPr>
        <p:txBody>
          <a:bodyPr/>
          <a:lstStyle/>
          <a:p>
            <a:r>
              <a:rPr lang="zh-TW" altLang="en-US" dirty="0"/>
              <a:t>研究方法</a:t>
            </a:r>
            <a:endParaRPr lang="en-US" altLang="zh-TW" dirty="0"/>
          </a:p>
          <a:p>
            <a:pPr marL="0" indent="0">
              <a:buNone/>
            </a:pPr>
            <a:r>
              <a:rPr lang="zh-TW" altLang="en-US" dirty="0"/>
              <a:t>     定價核轉換投資者情緒代理變數</a:t>
            </a:r>
            <a:endParaRPr lang="en-US" altLang="zh-TW" dirty="0"/>
          </a:p>
          <a:p>
            <a:pPr marL="0" indent="0">
              <a:buNone/>
            </a:pPr>
            <a:endParaRPr lang="zh-TW" altLang="en-US" dirty="0"/>
          </a:p>
        </p:txBody>
      </p:sp>
    </p:spTree>
    <p:extLst>
      <p:ext uri="{BB962C8B-B14F-4D97-AF65-F5344CB8AC3E}">
        <p14:creationId xmlns:p14="http://schemas.microsoft.com/office/powerpoint/2010/main" val="808090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1DE477E3-EC35-6077-C371-0181E36433D1}"/>
              </a:ext>
            </a:extLst>
          </p:cNvPr>
          <p:cNvSpPr>
            <a:spLocks noGrp="1"/>
          </p:cNvSpPr>
          <p:nvPr>
            <p:ph type="body" sz="quarter" idx="10"/>
          </p:nvPr>
        </p:nvSpPr>
        <p:spPr>
          <a:xfrm>
            <a:off x="2098386" y="200315"/>
            <a:ext cx="6124994" cy="436563"/>
          </a:xfrm>
        </p:spPr>
        <p:txBody>
          <a:bodyPr/>
          <a:lstStyle/>
          <a:p>
            <a:r>
              <a:rPr lang="zh-TW" altLang="en-US" dirty="0"/>
              <a:t>定價核轉換投資者情緒代理變數</a:t>
            </a:r>
          </a:p>
          <a:p>
            <a:endParaRPr lang="zh-TW" altLang="en-US" dirty="0"/>
          </a:p>
        </p:txBody>
      </p:sp>
      <p:sp>
        <p:nvSpPr>
          <p:cNvPr id="4" name="內容版面配置區 3">
            <a:extLst>
              <a:ext uri="{FF2B5EF4-FFF2-40B4-BE49-F238E27FC236}">
                <a16:creationId xmlns:a16="http://schemas.microsoft.com/office/drawing/2014/main" id="{50F4DF12-54D0-E4B6-B34D-DFE94AB1BE8E}"/>
              </a:ext>
            </a:extLst>
          </p:cNvPr>
          <p:cNvSpPr>
            <a:spLocks noGrp="1"/>
          </p:cNvSpPr>
          <p:nvPr>
            <p:ph sz="quarter" idx="11"/>
          </p:nvPr>
        </p:nvSpPr>
        <p:spPr/>
        <p:txBody>
          <a:bodyPr/>
          <a:lstStyle/>
          <a:p>
            <a:r>
              <a:rPr lang="en-US" altLang="zh-TW" dirty="0"/>
              <a:t>3.1</a:t>
            </a:r>
            <a:endParaRPr lang="zh-TW" altLang="en-US" dirty="0"/>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EF0A0C33-38DE-A09E-9751-59FF5BF5865E}"/>
                  </a:ext>
                </a:extLst>
              </p:cNvPr>
              <p:cNvSpPr>
                <a:spLocks noGrp="1"/>
              </p:cNvSpPr>
              <p:nvPr>
                <p:ph sz="quarter" idx="14"/>
              </p:nvPr>
            </p:nvSpPr>
            <p:spPr>
              <a:xfrm>
                <a:off x="447319" y="1057532"/>
                <a:ext cx="11197285" cy="4752329"/>
              </a:xfrm>
            </p:spPr>
            <p:txBody>
              <a:bodyPr/>
              <a:lstStyle/>
              <a:p>
                <a:r>
                  <a:rPr lang="en-US" altLang="zh-TW" b="0" dirty="0"/>
                  <a:t>Barone-</a:t>
                </a:r>
                <a:r>
                  <a:rPr lang="en-US" altLang="zh-TW" b="0" dirty="0" err="1"/>
                  <a:t>Adesi</a:t>
                </a:r>
                <a:r>
                  <a:rPr lang="en-US" altLang="zh-TW" b="0" dirty="0"/>
                  <a:t> et al. (2017) </a:t>
                </a:r>
                <a:r>
                  <a:rPr lang="zh-TW" altLang="en-US" b="0" dirty="0"/>
                  <a:t>提出利用定價核進行投資者情緒代理變數估計之方法</a:t>
                </a:r>
                <a:endParaRPr lang="en-US" altLang="zh-TW" b="0" dirty="0"/>
              </a:p>
              <a:p>
                <a:pPr lvl="1">
                  <a:lnSpc>
                    <a:spcPct val="100000"/>
                  </a:lnSpc>
                  <a:buFont typeface="Arial" panose="020B0604020202020204" pitchFamily="34" charset="0"/>
                  <a:buChar char="•"/>
                </a:pPr>
                <a:r>
                  <a:rPr lang="zh-TW" altLang="en-US" b="0" dirty="0"/>
                  <a:t>客觀信念（</a:t>
                </a:r>
                <a:r>
                  <a:rPr lang="en-US" altLang="zh-TW" b="0" dirty="0"/>
                  <a:t>objective</a:t>
                </a:r>
                <a:r>
                  <a:rPr lang="zh-TW" altLang="en-US" b="0" dirty="0"/>
                  <a:t> </a:t>
                </a:r>
                <a:r>
                  <a:rPr lang="en-US" altLang="zh-TW" b="0" dirty="0"/>
                  <a:t>probability</a:t>
                </a:r>
                <a:r>
                  <a:rPr lang="zh-TW" altLang="en-US" b="0" dirty="0"/>
                  <a:t>）：指真實世界中事件發生的機率分布，理論上存在但不可直接觀察，通常需透過實證資料進行反推</a:t>
                </a:r>
                <a:endParaRPr lang="en-US" altLang="zh-TW" b="0" dirty="0"/>
              </a:p>
              <a:p>
                <a:pPr lvl="1">
                  <a:lnSpc>
                    <a:spcPct val="100000"/>
                  </a:lnSpc>
                  <a:buFont typeface="Arial" panose="020B0604020202020204" pitchFamily="34" charset="0"/>
                  <a:buChar char="•"/>
                </a:pPr>
                <a:r>
                  <a:rPr lang="zh-TW" altLang="en-US" b="0" dirty="0"/>
                  <a:t>主觀信念（</a:t>
                </a:r>
                <a:r>
                  <a:rPr lang="en-US" altLang="zh-TW" b="0" dirty="0"/>
                  <a:t>subjective</a:t>
                </a:r>
                <a:r>
                  <a:rPr lang="zh-TW" altLang="en-US" b="0" dirty="0"/>
                  <a:t> </a:t>
                </a:r>
                <a:r>
                  <a:rPr lang="en-US" altLang="zh-TW" b="0" dirty="0"/>
                  <a:t>belief</a:t>
                </a:r>
                <a:r>
                  <a:rPr lang="zh-TW" altLang="en-US" b="0" dirty="0"/>
                  <a:t>）：為投資人對未來事件之機率依據個別獲得的資訊、經驗與認知所評估的機率分布</a:t>
                </a:r>
                <a:endParaRPr lang="en-US" altLang="zh-TW" b="0" dirty="0"/>
              </a:p>
              <a:p>
                <a:pPr lvl="1">
                  <a:lnSpc>
                    <a:spcPct val="100000"/>
                  </a:lnSpc>
                  <a:buFont typeface="Arial" panose="020B0604020202020204" pitchFamily="34" charset="0"/>
                  <a:buChar char="•"/>
                </a:pPr>
                <a:r>
                  <a:rPr lang="zh-TW" altLang="en-US" b="0" dirty="0"/>
                  <a:t>正確信念（</a:t>
                </a:r>
                <a:r>
                  <a:rPr lang="en-US" altLang="zh-TW" b="0" dirty="0"/>
                  <a:t>correct</a:t>
                </a:r>
                <a:r>
                  <a:rPr lang="zh-TW" altLang="en-US" b="0" dirty="0"/>
                  <a:t> </a:t>
                </a:r>
                <a:r>
                  <a:rPr lang="en-US" altLang="zh-TW" b="0" dirty="0"/>
                  <a:t>belief</a:t>
                </a:r>
                <a:r>
                  <a:rPr lang="zh-TW" altLang="en-US" b="0" dirty="0"/>
                  <a:t>）：當投資人之主觀機率分布與客觀機率分布一致時，稱為投資人持有正確信念</a:t>
                </a:r>
                <a:endParaRPr lang="en-US" altLang="zh-TW" b="0" dirty="0"/>
              </a:p>
              <a:p>
                <a:pPr marL="456342" lvl="1" indent="0">
                  <a:lnSpc>
                    <a:spcPct val="100000"/>
                  </a:lnSpc>
                  <a:buNone/>
                </a:pPr>
                <a:endParaRPr lang="en-US" altLang="zh-TW" b="0" dirty="0"/>
              </a:p>
              <a:p>
                <a:pPr>
                  <a:lnSpc>
                    <a:spcPct val="150000"/>
                  </a:lnSpc>
                </a:pPr>
                <a:r>
                  <a:rPr lang="zh-TW" altLang="en-US" b="0" dirty="0"/>
                  <a:t>過去傳統資產定價模型往往將市場建模為一個擁有正確信念的代表性投資人，即此代表性投資人的主觀機率密度函數</a:t>
                </a:r>
                <a14:m>
                  <m:oMath xmlns:m="http://schemas.openxmlformats.org/officeDocument/2006/math">
                    <m:sSub>
                      <m:sSubPr>
                        <m:ctrlPr>
                          <a:rPr lang="en-US" altLang="zh-TW" b="0" i="1" dirty="0" smtClean="0">
                            <a:latin typeface="Cambria Math" panose="02040503050406030204" pitchFamily="18" charset="0"/>
                          </a:rPr>
                        </m:ctrlPr>
                      </m:sSubPr>
                      <m:e>
                        <m:r>
                          <m:rPr>
                            <m:sty m:val="p"/>
                          </m:rPr>
                          <a:rPr lang="en-US" altLang="zh-TW" b="0" i="1" dirty="0">
                            <a:latin typeface="Cambria Math" panose="02040503050406030204" pitchFamily="18" charset="0"/>
                          </a:rPr>
                          <m:t>P</m:t>
                        </m:r>
                      </m:e>
                      <m:sub>
                        <m:r>
                          <m:rPr>
                            <m:sty m:val="p"/>
                          </m:rPr>
                          <a:rPr lang="en-US" altLang="zh-TW" b="0" i="1" dirty="0">
                            <a:latin typeface="Cambria Math" panose="02040503050406030204" pitchFamily="18" charset="0"/>
                          </a:rPr>
                          <m:t>R</m:t>
                        </m:r>
                      </m:sub>
                    </m:sSub>
                  </m:oMath>
                </a14:m>
                <a:r>
                  <a:rPr lang="zh-TW" altLang="en-US" b="0" dirty="0"/>
                  <a:t>假設等於客觀機率分布</a:t>
                </a:r>
                <a14:m>
                  <m:oMath xmlns:m="http://schemas.openxmlformats.org/officeDocument/2006/math">
                    <m:r>
                      <m:rPr>
                        <m:sty m:val="p"/>
                      </m:rPr>
                      <a:rPr lang="en-US" altLang="zh-TW" b="0" i="1" dirty="0">
                        <a:latin typeface="Cambria Math" panose="02040503050406030204" pitchFamily="18" charset="0"/>
                      </a:rPr>
                      <m:t>P</m:t>
                    </m:r>
                  </m:oMath>
                </a14:m>
                <a:r>
                  <a:rPr lang="zh-TW" altLang="en-US" b="0" dirty="0"/>
                  <a:t>，而代表性投資人的主觀機率密度函數往往被認為是市場上所有個別投資人的主觀信念聚合而成的整體行為，但</a:t>
                </a:r>
                <a:r>
                  <a:rPr lang="en-US" altLang="zh-TW" b="0" dirty="0"/>
                  <a:t>Shefrin (2008) </a:t>
                </a:r>
                <a:r>
                  <a:rPr lang="zh-TW" altLang="en-US" b="0" dirty="0"/>
                  <a:t>指出，此種建模作法忽略了信念聚合過程中產生的偏誤，因此需要引入代表性投資者的情緒估計項補足被忽略的聚合偏誤</a:t>
                </a:r>
              </a:p>
            </p:txBody>
          </p:sp>
        </mc:Choice>
        <mc:Fallback xmlns="">
          <p:sp>
            <p:nvSpPr>
              <p:cNvPr id="7" name="內容版面配置區 6">
                <a:extLst>
                  <a:ext uri="{FF2B5EF4-FFF2-40B4-BE49-F238E27FC236}">
                    <a16:creationId xmlns:a16="http://schemas.microsoft.com/office/drawing/2014/main" id="{EF0A0C33-38DE-A09E-9751-59FF5BF5865E}"/>
                  </a:ext>
                </a:extLst>
              </p:cNvPr>
              <p:cNvSpPr>
                <a:spLocks noGrp="1" noRot="1" noChangeAspect="1" noMove="1" noResize="1" noEditPoints="1" noAdjustHandles="1" noChangeArrowheads="1" noChangeShapeType="1" noTextEdit="1"/>
              </p:cNvSpPr>
              <p:nvPr>
                <p:ph sz="quarter" idx="14"/>
              </p:nvPr>
            </p:nvSpPr>
            <p:spPr>
              <a:xfrm>
                <a:off x="447319" y="1057532"/>
                <a:ext cx="11197285" cy="4752329"/>
              </a:xfrm>
              <a:blipFill>
                <a:blip r:embed="rId2"/>
                <a:stretch>
                  <a:fillRect l="-544" t="-1282" r="-381" b="-25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631985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1DE477E3-EC35-6077-C371-0181E36433D1}"/>
              </a:ext>
            </a:extLst>
          </p:cNvPr>
          <p:cNvSpPr>
            <a:spLocks noGrp="1"/>
          </p:cNvSpPr>
          <p:nvPr>
            <p:ph type="body" sz="quarter" idx="10"/>
          </p:nvPr>
        </p:nvSpPr>
        <p:spPr>
          <a:xfrm>
            <a:off x="2098386" y="200315"/>
            <a:ext cx="6124994" cy="436563"/>
          </a:xfrm>
        </p:spPr>
        <p:txBody>
          <a:bodyPr/>
          <a:lstStyle/>
          <a:p>
            <a:r>
              <a:rPr lang="zh-TW" altLang="en-US" dirty="0"/>
              <a:t>定價核轉換投資者情緒代理變數</a:t>
            </a:r>
          </a:p>
          <a:p>
            <a:endParaRPr lang="zh-TW" altLang="en-US" dirty="0"/>
          </a:p>
        </p:txBody>
      </p:sp>
      <p:sp>
        <p:nvSpPr>
          <p:cNvPr id="4" name="內容版面配置區 3">
            <a:extLst>
              <a:ext uri="{FF2B5EF4-FFF2-40B4-BE49-F238E27FC236}">
                <a16:creationId xmlns:a16="http://schemas.microsoft.com/office/drawing/2014/main" id="{50F4DF12-54D0-E4B6-B34D-DFE94AB1BE8E}"/>
              </a:ext>
            </a:extLst>
          </p:cNvPr>
          <p:cNvSpPr>
            <a:spLocks noGrp="1"/>
          </p:cNvSpPr>
          <p:nvPr>
            <p:ph sz="quarter" idx="11"/>
          </p:nvPr>
        </p:nvSpPr>
        <p:spPr/>
        <p:txBody>
          <a:bodyPr/>
          <a:lstStyle/>
          <a:p>
            <a:r>
              <a:rPr lang="en-US" altLang="zh-TW" dirty="0"/>
              <a:t>3.1</a:t>
            </a:r>
            <a:endParaRPr lang="zh-TW" altLang="en-US" dirty="0"/>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EF0A0C33-38DE-A09E-9751-59FF5BF5865E}"/>
                  </a:ext>
                </a:extLst>
              </p:cNvPr>
              <p:cNvSpPr>
                <a:spLocks noGrp="1"/>
              </p:cNvSpPr>
              <p:nvPr>
                <p:ph sz="quarter" idx="14"/>
              </p:nvPr>
            </p:nvSpPr>
            <p:spPr>
              <a:xfrm>
                <a:off x="447319" y="1057533"/>
                <a:ext cx="11197285" cy="5125554"/>
              </a:xfrm>
            </p:spPr>
            <p:txBody>
              <a:bodyPr/>
              <a:lstStyle/>
              <a:p>
                <a:pPr>
                  <a:lnSpc>
                    <a:spcPct val="100000"/>
                  </a:lnSpc>
                </a:pPr>
                <a:r>
                  <a:rPr lang="en-US" altLang="zh-TW" b="0" dirty="0"/>
                  <a:t>Shefrin (2008) </a:t>
                </a:r>
                <a:r>
                  <a:rPr lang="zh-TW" altLang="en-US" b="0" dirty="0"/>
                  <a:t>定義信念聚合過程中出現的偏誤</a:t>
                </a:r>
                <a:endParaRPr lang="en-US" altLang="zh-TW" b="0" i="0" dirty="0">
                  <a:latin typeface="Cambria Math" panose="02040503050406030204" pitchFamily="18" charset="0"/>
                  <a:ea typeface="Cambria Math" panose="02040503050406030204" pitchFamily="18" charset="0"/>
                </a:endParaRPr>
              </a:p>
              <a:p>
                <a:pPr>
                  <a:lnSpc>
                    <a:spcPct val="100000"/>
                  </a:lnSpc>
                </a:pPr>
                <a14:m>
                  <m:oMathPara xmlns:m="http://schemas.openxmlformats.org/officeDocument/2006/math">
                    <m:oMathParaPr>
                      <m:jc m:val="centerGroup"/>
                    </m:oMathParaPr>
                    <m:oMath xmlns:m="http://schemas.openxmlformats.org/officeDocument/2006/math">
                      <m:r>
                        <m:rPr>
                          <m:sty m:val="p"/>
                        </m:rPr>
                        <a:rPr lang="el-GR" altLang="zh-TW" b="0" i="0" dirty="0" smtClean="0">
                          <a:latin typeface="Cambria Math" panose="02040503050406030204" pitchFamily="18" charset="0"/>
                          <a:ea typeface="Cambria Math" panose="02040503050406030204" pitchFamily="18" charset="0"/>
                        </a:rPr>
                        <m:t>Φ</m:t>
                      </m:r>
                      <m:r>
                        <a:rPr lang="en-US" altLang="zh-TW" b="0" i="1" dirty="0" smtClean="0">
                          <a:latin typeface="Cambria Math" panose="02040503050406030204" pitchFamily="18" charset="0"/>
                          <a:ea typeface="Cambria Math" panose="02040503050406030204" pitchFamily="18" charset="0"/>
                        </a:rPr>
                        <m:t>=</m:t>
                      </m:r>
                      <m:r>
                        <a:rPr lang="zh-TW" altLang="en-US" b="0" i="1" dirty="0">
                          <a:latin typeface="Cambria Math" panose="02040503050406030204" pitchFamily="18" charset="0"/>
                          <a:ea typeface="Cambria Math" panose="02040503050406030204" pitchFamily="18" charset="0"/>
                        </a:rPr>
                        <m:t> </m:t>
                      </m:r>
                      <m:f>
                        <m:fPr>
                          <m:ctrlPr>
                            <a:rPr lang="en-US" altLang="zh-TW" b="0" i="1" dirty="0" smtClean="0">
                              <a:latin typeface="Cambria Math" panose="02040503050406030204" pitchFamily="18" charset="0"/>
                              <a:ea typeface="Cambria Math" panose="02040503050406030204" pitchFamily="18" charset="0"/>
                            </a:rPr>
                          </m:ctrlPr>
                        </m:fPr>
                        <m:num>
                          <m:sSub>
                            <m:sSubPr>
                              <m:ctrlPr>
                                <a:rPr lang="en-US" altLang="zh-TW" b="0" i="1" dirty="0" smtClean="0">
                                  <a:latin typeface="Cambria Math" panose="02040503050406030204" pitchFamily="18" charset="0"/>
                                  <a:ea typeface="Cambria Math" panose="02040503050406030204" pitchFamily="18" charset="0"/>
                                </a:rPr>
                              </m:ctrlPr>
                            </m:sSubPr>
                            <m:e>
                              <m:r>
                                <a:rPr lang="en-US" altLang="zh-TW" b="0" i="1" dirty="0" smtClean="0">
                                  <a:latin typeface="Cambria Math" panose="02040503050406030204" pitchFamily="18" charset="0"/>
                                  <a:ea typeface="Cambria Math" panose="02040503050406030204" pitchFamily="18" charset="0"/>
                                </a:rPr>
                                <m:t>𝑃</m:t>
                              </m:r>
                            </m:e>
                            <m:sub>
                              <m:r>
                                <a:rPr lang="en-US" altLang="zh-TW" b="0" i="1" dirty="0" smtClean="0">
                                  <a:latin typeface="Cambria Math" panose="02040503050406030204" pitchFamily="18" charset="0"/>
                                  <a:ea typeface="Cambria Math" panose="02040503050406030204" pitchFamily="18" charset="0"/>
                                </a:rPr>
                                <m:t>𝑅</m:t>
                              </m:r>
                            </m:sub>
                          </m:sSub>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𝑥</m:t>
                          </m:r>
                          <m:r>
                            <a:rPr lang="en-US" altLang="zh-TW" b="0" i="1" dirty="0" smtClean="0">
                              <a:latin typeface="Cambria Math" panose="02040503050406030204" pitchFamily="18" charset="0"/>
                              <a:ea typeface="Cambria Math" panose="02040503050406030204" pitchFamily="18" charset="0"/>
                            </a:rPr>
                            <m:t>)</m:t>
                          </m:r>
                        </m:num>
                        <m:den>
                          <m:r>
                            <a:rPr lang="en-US" altLang="zh-TW" b="0" i="1" dirty="0" smtClean="0">
                              <a:latin typeface="Cambria Math" panose="02040503050406030204" pitchFamily="18" charset="0"/>
                              <a:ea typeface="Cambria Math" panose="02040503050406030204" pitchFamily="18" charset="0"/>
                            </a:rPr>
                            <m:t>𝑃</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𝑥</m:t>
                          </m:r>
                          <m:r>
                            <a:rPr lang="en-US" altLang="zh-TW" b="0" i="1" dirty="0" smtClean="0">
                              <a:latin typeface="Cambria Math" panose="02040503050406030204" pitchFamily="18" charset="0"/>
                              <a:ea typeface="Cambria Math" panose="02040503050406030204" pitchFamily="18" charset="0"/>
                            </a:rPr>
                            <m:t>)</m:t>
                          </m:r>
                        </m:den>
                      </m:f>
                      <m:f>
                        <m:fPr>
                          <m:ctrlPr>
                            <a:rPr lang="en-US" altLang="zh-TW" b="0" i="1" dirty="0" smtClean="0">
                              <a:latin typeface="Cambria Math" panose="02040503050406030204" pitchFamily="18" charset="0"/>
                              <a:ea typeface="Cambria Math" panose="02040503050406030204" pitchFamily="18" charset="0"/>
                            </a:rPr>
                          </m:ctrlPr>
                        </m:fPr>
                        <m:num>
                          <m:sSub>
                            <m:sSubPr>
                              <m:ctrlPr>
                                <a:rPr lang="en-US" altLang="zh-TW" b="0" i="1" dirty="0" smtClean="0">
                                  <a:latin typeface="Cambria Math" panose="02040503050406030204" pitchFamily="18" charset="0"/>
                                  <a:ea typeface="Cambria Math" panose="02040503050406030204" pitchFamily="18" charset="0"/>
                                </a:rPr>
                              </m:ctrlPr>
                            </m:sSubPr>
                            <m:e>
                              <m:r>
                                <a:rPr lang="zh-TW" altLang="en-US" b="0" i="1" dirty="0" smtClean="0">
                                  <a:latin typeface="Cambria Math" panose="02040503050406030204" pitchFamily="18" charset="0"/>
                                  <a:ea typeface="Cambria Math" panose="02040503050406030204" pitchFamily="18" charset="0"/>
                                </a:rPr>
                                <m:t>𝜃</m:t>
                              </m:r>
                            </m:e>
                            <m:sub>
                              <m:r>
                                <a:rPr lang="en-US" altLang="zh-TW" b="0" i="1" dirty="0" smtClean="0">
                                  <a:latin typeface="Cambria Math" panose="02040503050406030204" pitchFamily="18" charset="0"/>
                                  <a:ea typeface="Cambria Math" panose="02040503050406030204" pitchFamily="18" charset="0"/>
                                </a:rPr>
                                <m:t>0</m:t>
                              </m:r>
                            </m:sub>
                          </m:sSub>
                        </m:num>
                        <m:den>
                          <m:sSub>
                            <m:sSubPr>
                              <m:ctrlPr>
                                <a:rPr lang="en-US" altLang="zh-TW" b="0" i="1" dirty="0" smtClean="0">
                                  <a:latin typeface="Cambria Math" panose="02040503050406030204" pitchFamily="18" charset="0"/>
                                  <a:ea typeface="Cambria Math" panose="02040503050406030204" pitchFamily="18" charset="0"/>
                                </a:rPr>
                              </m:ctrlPr>
                            </m:sSubPr>
                            <m:e>
                              <m:r>
                                <a:rPr lang="zh-TW" altLang="en-US" b="0" i="1" dirty="0" smtClean="0">
                                  <a:latin typeface="Cambria Math" panose="02040503050406030204" pitchFamily="18" charset="0"/>
                                  <a:ea typeface="Cambria Math" panose="02040503050406030204" pitchFamily="18" charset="0"/>
                                </a:rPr>
                                <m:t>𝜃</m:t>
                              </m:r>
                            </m:e>
                            <m:sub>
                              <m:r>
                                <a:rPr lang="en-US" altLang="zh-TW" b="0" i="1" dirty="0" smtClean="0">
                                  <a:latin typeface="Cambria Math" panose="02040503050406030204" pitchFamily="18" charset="0"/>
                                  <a:ea typeface="Cambria Math" panose="02040503050406030204" pitchFamily="18" charset="0"/>
                                </a:rPr>
                                <m:t>0,</m:t>
                              </m:r>
                              <m:r>
                                <a:rPr lang="en-US" altLang="zh-TW" b="0" i="1" dirty="0" smtClean="0">
                                  <a:latin typeface="Cambria Math" panose="02040503050406030204" pitchFamily="18" charset="0"/>
                                  <a:ea typeface="Cambria Math" panose="02040503050406030204" pitchFamily="18" charset="0"/>
                                </a:rPr>
                                <m:t>𝑒</m:t>
                              </m:r>
                            </m:sub>
                          </m:sSub>
                        </m:den>
                      </m:f>
                    </m:oMath>
                  </m:oMathPara>
                </a14:m>
                <a:endParaRPr lang="en-US" altLang="zh-TW" b="0" dirty="0"/>
              </a:p>
              <a:p>
                <a:pPr>
                  <a:lnSpc>
                    <a:spcPct val="100000"/>
                  </a:lnSpc>
                </a:pPr>
                <a:r>
                  <a:rPr lang="zh-TW" altLang="en-US" b="0" dirty="0"/>
                  <a:t>其中，</a:t>
                </a:r>
                <a:r>
                  <a:rPr lang="en-US" altLang="zh-TW" b="0" dirty="0">
                    <a:ea typeface="Cambria Math" panose="02040503050406030204" pitchFamily="18" charset="0"/>
                  </a:rPr>
                  <a:t> </a:t>
                </a:r>
                <a14:m>
                  <m:oMath xmlns:m="http://schemas.openxmlformats.org/officeDocument/2006/math">
                    <m:r>
                      <a:rPr lang="en-US" altLang="zh-TW" b="0" i="1" dirty="0">
                        <a:latin typeface="Cambria Math" panose="02040503050406030204" pitchFamily="18" charset="0"/>
                        <a:ea typeface="Cambria Math" panose="02040503050406030204" pitchFamily="18" charset="0"/>
                      </a:rPr>
                      <m:t>𝑥</m:t>
                    </m:r>
                  </m:oMath>
                </a14:m>
                <a:r>
                  <a:rPr lang="zh-TW" altLang="en-US" b="0" dirty="0"/>
                  <a:t>為資產報酬，</a:t>
                </a:r>
                <a:r>
                  <a:rPr lang="en-US" altLang="zh-TW" b="0" dirty="0">
                    <a:ea typeface="Cambria Math" panose="02040503050406030204" pitchFamily="18" charset="0"/>
                  </a:rPr>
                  <a:t> </a:t>
                </a:r>
                <a14:m>
                  <m:oMath xmlns:m="http://schemas.openxmlformats.org/officeDocument/2006/math">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a:latin typeface="Cambria Math" panose="02040503050406030204" pitchFamily="18" charset="0"/>
                            <a:ea typeface="Cambria Math" panose="02040503050406030204" pitchFamily="18" charset="0"/>
                          </a:rPr>
                          <m:t>0</m:t>
                        </m:r>
                      </m:sub>
                    </m:sSub>
                  </m:oMath>
                </a14:m>
                <a:r>
                  <a:rPr lang="zh-TW" altLang="en-US" b="0" dirty="0"/>
                  <a:t>表示市場折現因子，亦稱為時間偏好相關常數，</a:t>
                </a:r>
                <a:r>
                  <a:rPr lang="en-US" altLang="zh-TW" b="0" dirty="0">
                    <a:ea typeface="Cambria Math" panose="02040503050406030204" pitchFamily="18" charset="0"/>
                  </a:rPr>
                  <a:t> </a:t>
                </a:r>
                <a14:m>
                  <m:oMath xmlns:m="http://schemas.openxmlformats.org/officeDocument/2006/math">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a:latin typeface="Cambria Math" panose="02040503050406030204" pitchFamily="18" charset="0"/>
                            <a:ea typeface="Cambria Math" panose="02040503050406030204" pitchFamily="18" charset="0"/>
                          </a:rPr>
                          <m:t>0,</m:t>
                        </m:r>
                        <m:r>
                          <a:rPr lang="en-US" altLang="zh-TW" b="0" i="1" dirty="0">
                            <a:latin typeface="Cambria Math" panose="02040503050406030204" pitchFamily="18" charset="0"/>
                            <a:ea typeface="Cambria Math" panose="02040503050406030204" pitchFamily="18" charset="0"/>
                          </a:rPr>
                          <m:t>𝑒</m:t>
                        </m:r>
                      </m:sub>
                    </m:sSub>
                  </m:oMath>
                </a14:m>
                <a:r>
                  <a:rPr lang="zh-TW" altLang="en-US" b="0" dirty="0"/>
                  <a:t>則為所有投資者皆持有正確信念的情況下的市場折現因子，此式將信念聚合過程中出現的偏誤表示為信念偏誤與時間偏好偏誤</a:t>
                </a:r>
                <a:endParaRPr lang="en-US" altLang="zh-TW" b="0" dirty="0"/>
              </a:p>
              <a:p>
                <a:pPr>
                  <a:lnSpc>
                    <a:spcPct val="100000"/>
                  </a:lnSpc>
                </a:pPr>
                <a:r>
                  <a:rPr lang="zh-TW" altLang="en-US" b="0" dirty="0"/>
                  <a:t>接著，</a:t>
                </a:r>
                <a:r>
                  <a:rPr lang="en-US" altLang="zh-TW" b="0" dirty="0"/>
                  <a:t>Shefrin (2008) </a:t>
                </a:r>
                <a:r>
                  <a:rPr lang="zh-TW" altLang="en-US" b="0" dirty="0"/>
                  <a:t>定義情緒函數</a:t>
                </a:r>
                <a14:m>
                  <m:oMath xmlns:m="http://schemas.openxmlformats.org/officeDocument/2006/math">
                    <m:r>
                      <m:rPr>
                        <m:sty m:val="p"/>
                      </m:rPr>
                      <a:rPr lang="el-GR" altLang="zh-TW" b="0" i="1" smtClean="0">
                        <a:latin typeface="Cambria Math" panose="02040503050406030204" pitchFamily="18" charset="0"/>
                        <a:ea typeface="Cambria Math" panose="02040503050406030204" pitchFamily="18" charset="0"/>
                      </a:rPr>
                      <m:t>Λ</m:t>
                    </m:r>
                  </m:oMath>
                </a14:m>
                <a:endParaRPr lang="en-US" altLang="zh-TW" b="0" dirty="0"/>
              </a:p>
              <a:p>
                <a:pPr>
                  <a:lnSpc>
                    <a:spcPct val="100000"/>
                  </a:lnSpc>
                  <a:spcBef>
                    <a:spcPts val="600"/>
                  </a:spcBef>
                </a:pPr>
                <a14:m>
                  <m:oMathPara xmlns:m="http://schemas.openxmlformats.org/officeDocument/2006/math">
                    <m:oMathParaPr>
                      <m:jc m:val="centerGroup"/>
                    </m:oMathParaPr>
                    <m:oMath xmlns:m="http://schemas.openxmlformats.org/officeDocument/2006/math">
                      <m:r>
                        <m:rPr>
                          <m:sty m:val="p"/>
                        </m:rPr>
                        <a:rPr lang="el-GR" altLang="zh-TW" b="0" i="1">
                          <a:latin typeface="Cambria Math" panose="02040503050406030204" pitchFamily="18" charset="0"/>
                          <a:ea typeface="Cambria Math" panose="02040503050406030204" pitchFamily="18" charset="0"/>
                        </a:rPr>
                        <m:t>Λ</m:t>
                      </m:r>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ln</m:t>
                          </m:r>
                        </m:fName>
                        <m:e>
                          <m:d>
                            <m:dPr>
                              <m:ctrlPr>
                                <a:rPr lang="en-US" altLang="zh-TW" b="0" i="1" smtClean="0">
                                  <a:latin typeface="Cambria Math" panose="02040503050406030204" pitchFamily="18" charset="0"/>
                                  <a:ea typeface="Cambria Math" panose="02040503050406030204" pitchFamily="18" charset="0"/>
                                </a:rPr>
                              </m:ctrlPr>
                            </m:dPr>
                            <m:e>
                              <m:r>
                                <m:rPr>
                                  <m:sty m:val="p"/>
                                </m:rPr>
                                <a:rPr lang="el-GR" altLang="zh-TW" b="0" dirty="0">
                                  <a:latin typeface="Cambria Math" panose="02040503050406030204" pitchFamily="18" charset="0"/>
                                  <a:ea typeface="Cambria Math" panose="02040503050406030204" pitchFamily="18" charset="0"/>
                                </a:rPr>
                                <m:t>Φ</m:t>
                              </m:r>
                            </m:e>
                          </m:d>
                        </m:e>
                      </m:func>
                      <m:r>
                        <a:rPr lang="en-US" altLang="zh-TW" b="0" i="0"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ln</m:t>
                          </m:r>
                        </m:fName>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dirty="0">
                                      <a:latin typeface="Cambria Math" panose="02040503050406030204" pitchFamily="18" charset="0"/>
                                      <a:ea typeface="Cambria Math" panose="02040503050406030204" pitchFamily="18" charset="0"/>
                                    </a:rPr>
                                  </m:ctrlPr>
                                </m:fPr>
                                <m:num>
                                  <m:sSub>
                                    <m:sSubPr>
                                      <m:ctrlPr>
                                        <a:rPr lang="en-US" altLang="zh-TW" b="0" i="1" dirty="0">
                                          <a:latin typeface="Cambria Math" panose="02040503050406030204" pitchFamily="18" charset="0"/>
                                          <a:ea typeface="Cambria Math" panose="02040503050406030204" pitchFamily="18" charset="0"/>
                                        </a:rPr>
                                      </m:ctrlPr>
                                    </m:sSubPr>
                                    <m:e>
                                      <m:r>
                                        <a:rPr lang="en-US" altLang="zh-TW" b="0" i="1" dirty="0">
                                          <a:latin typeface="Cambria Math" panose="02040503050406030204" pitchFamily="18" charset="0"/>
                                          <a:ea typeface="Cambria Math" panose="02040503050406030204" pitchFamily="18" charset="0"/>
                                        </a:rPr>
                                        <m:t>𝑃</m:t>
                                      </m:r>
                                    </m:e>
                                    <m:sub>
                                      <m:r>
                                        <a:rPr lang="en-US" altLang="zh-TW" b="0" i="1" dirty="0">
                                          <a:latin typeface="Cambria Math" panose="02040503050406030204" pitchFamily="18" charset="0"/>
                                          <a:ea typeface="Cambria Math" panose="02040503050406030204" pitchFamily="18" charset="0"/>
                                        </a:rPr>
                                        <m:t>𝑅</m:t>
                                      </m:r>
                                    </m:sub>
                                  </m:sSub>
                                </m:num>
                                <m:den>
                                  <m:r>
                                    <a:rPr lang="en-US" altLang="zh-TW" b="0" i="1" dirty="0">
                                      <a:latin typeface="Cambria Math" panose="02040503050406030204" pitchFamily="18" charset="0"/>
                                      <a:ea typeface="Cambria Math" panose="02040503050406030204" pitchFamily="18" charset="0"/>
                                    </a:rPr>
                                    <m:t>𝑃</m:t>
                                  </m:r>
                                </m:den>
                              </m:f>
                            </m:e>
                          </m:d>
                        </m:e>
                      </m:func>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ln</m:t>
                          </m:r>
                        </m:fName>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dirty="0">
                                      <a:latin typeface="Cambria Math" panose="02040503050406030204" pitchFamily="18" charset="0"/>
                                      <a:ea typeface="Cambria Math" panose="02040503050406030204" pitchFamily="18" charset="0"/>
                                    </a:rPr>
                                  </m:ctrlPr>
                                </m:fPr>
                                <m:num>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a:latin typeface="Cambria Math" panose="02040503050406030204" pitchFamily="18" charset="0"/>
                                          <a:ea typeface="Cambria Math" panose="02040503050406030204" pitchFamily="18" charset="0"/>
                                        </a:rPr>
                                        <m:t>0</m:t>
                                      </m:r>
                                    </m:sub>
                                  </m:sSub>
                                </m:num>
                                <m:den>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a:latin typeface="Cambria Math" panose="02040503050406030204" pitchFamily="18" charset="0"/>
                                          <a:ea typeface="Cambria Math" panose="02040503050406030204" pitchFamily="18" charset="0"/>
                                        </a:rPr>
                                        <m:t>0,</m:t>
                                      </m:r>
                                      <m:r>
                                        <a:rPr lang="en-US" altLang="zh-TW" b="0" i="1" dirty="0">
                                          <a:latin typeface="Cambria Math" panose="02040503050406030204" pitchFamily="18" charset="0"/>
                                          <a:ea typeface="Cambria Math" panose="02040503050406030204" pitchFamily="18" charset="0"/>
                                        </a:rPr>
                                        <m:t>𝑒</m:t>
                                      </m:r>
                                    </m:sub>
                                  </m:sSub>
                                </m:den>
                              </m:f>
                            </m:e>
                          </m:d>
                        </m:e>
                      </m:func>
                    </m:oMath>
                  </m:oMathPara>
                </a14:m>
                <a:endParaRPr lang="en-US" altLang="zh-TW" b="0" dirty="0">
                  <a:ea typeface="Cambria Math" panose="02040503050406030204" pitchFamily="18" charset="0"/>
                </a:endParaRPr>
              </a:p>
              <a:p>
                <a:pPr>
                  <a:lnSpc>
                    <a:spcPct val="100000"/>
                  </a:lnSpc>
                  <a:spcBef>
                    <a:spcPts val="600"/>
                  </a:spcBef>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m:rPr>
                              <m:sty m:val="p"/>
                            </m:rPr>
                            <a:rPr lang="el-GR" altLang="zh-TW" b="0" i="1">
                              <a:latin typeface="Cambria Math" panose="02040503050406030204" pitchFamily="18" charset="0"/>
                              <a:ea typeface="Cambria Math" panose="02040503050406030204" pitchFamily="18" charset="0"/>
                            </a:rPr>
                            <m:t>Λ</m:t>
                          </m:r>
                        </m:sup>
                      </m:sSup>
                      <m:r>
                        <a:rPr lang="en-US" altLang="zh-TW" b="0" i="1" smtClean="0">
                          <a:latin typeface="Cambria Math" panose="02040503050406030204" pitchFamily="18" charset="0"/>
                        </a:rPr>
                        <m:t>=</m:t>
                      </m:r>
                      <m:f>
                        <m:fPr>
                          <m:ctrlPr>
                            <a:rPr lang="en-US" altLang="zh-TW" b="0" i="1" dirty="0">
                              <a:latin typeface="Cambria Math" panose="02040503050406030204" pitchFamily="18" charset="0"/>
                              <a:ea typeface="Cambria Math" panose="02040503050406030204" pitchFamily="18" charset="0"/>
                            </a:rPr>
                          </m:ctrlPr>
                        </m:fPr>
                        <m:num>
                          <m:sSub>
                            <m:sSubPr>
                              <m:ctrlPr>
                                <a:rPr lang="en-US" altLang="zh-TW" b="0" i="1" dirty="0">
                                  <a:latin typeface="Cambria Math" panose="02040503050406030204" pitchFamily="18" charset="0"/>
                                  <a:ea typeface="Cambria Math" panose="02040503050406030204" pitchFamily="18" charset="0"/>
                                </a:rPr>
                              </m:ctrlPr>
                            </m:sSubPr>
                            <m:e>
                              <m:r>
                                <a:rPr lang="en-US" altLang="zh-TW" b="0" i="1" dirty="0">
                                  <a:latin typeface="Cambria Math" panose="02040503050406030204" pitchFamily="18" charset="0"/>
                                  <a:ea typeface="Cambria Math" panose="02040503050406030204" pitchFamily="18" charset="0"/>
                                </a:rPr>
                                <m:t>𝑃</m:t>
                              </m:r>
                            </m:e>
                            <m:sub>
                              <m:r>
                                <a:rPr lang="en-US" altLang="zh-TW" b="0" i="1" dirty="0">
                                  <a:latin typeface="Cambria Math" panose="02040503050406030204" pitchFamily="18" charset="0"/>
                                  <a:ea typeface="Cambria Math" panose="02040503050406030204" pitchFamily="18" charset="0"/>
                                </a:rPr>
                                <m:t>𝑅</m:t>
                              </m:r>
                            </m:sub>
                          </m:sSub>
                        </m:num>
                        <m:den>
                          <m:r>
                            <a:rPr lang="en-US" altLang="zh-TW" b="0" i="1" dirty="0">
                              <a:latin typeface="Cambria Math" panose="02040503050406030204" pitchFamily="18" charset="0"/>
                              <a:ea typeface="Cambria Math" panose="02040503050406030204" pitchFamily="18" charset="0"/>
                            </a:rPr>
                            <m:t>𝑃</m:t>
                          </m:r>
                        </m:den>
                      </m:f>
                      <m:f>
                        <m:fPr>
                          <m:ctrlPr>
                            <a:rPr lang="en-US" altLang="zh-TW" b="0" i="1" dirty="0">
                              <a:latin typeface="Cambria Math" panose="02040503050406030204" pitchFamily="18" charset="0"/>
                              <a:ea typeface="Cambria Math" panose="02040503050406030204" pitchFamily="18" charset="0"/>
                            </a:rPr>
                          </m:ctrlPr>
                        </m:fPr>
                        <m:num>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a:latin typeface="Cambria Math" panose="02040503050406030204" pitchFamily="18" charset="0"/>
                                  <a:ea typeface="Cambria Math" panose="02040503050406030204" pitchFamily="18" charset="0"/>
                                </a:rPr>
                                <m:t>0</m:t>
                              </m:r>
                            </m:sub>
                          </m:sSub>
                        </m:num>
                        <m:den>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a:latin typeface="Cambria Math" panose="02040503050406030204" pitchFamily="18" charset="0"/>
                                  <a:ea typeface="Cambria Math" panose="02040503050406030204" pitchFamily="18" charset="0"/>
                                </a:rPr>
                                <m:t>0,</m:t>
                              </m:r>
                              <m:r>
                                <a:rPr lang="en-US" altLang="zh-TW" b="0" i="1" dirty="0">
                                  <a:latin typeface="Cambria Math" panose="02040503050406030204" pitchFamily="18" charset="0"/>
                                  <a:ea typeface="Cambria Math" panose="02040503050406030204" pitchFamily="18" charset="0"/>
                                </a:rPr>
                                <m:t>𝑒</m:t>
                              </m:r>
                            </m:sub>
                          </m:sSub>
                        </m:den>
                      </m:f>
                      <m:r>
                        <a:rPr lang="en-US" altLang="zh-TW" b="0" dirty="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𝑅</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𝑃</m:t>
                      </m:r>
                      <m:sSup>
                        <m:sSupPr>
                          <m:ctrlPr>
                            <a:rPr lang="en-US" altLang="zh-TW" b="0" i="1">
                              <a:latin typeface="Cambria Math" panose="02040503050406030204" pitchFamily="18" charset="0"/>
                            </a:rPr>
                          </m:ctrlPr>
                        </m:sSupPr>
                        <m:e>
                          <m:r>
                            <a:rPr lang="en-US" altLang="zh-TW" b="0" i="1">
                              <a:latin typeface="Cambria Math" panose="02040503050406030204" pitchFamily="18" charset="0"/>
                            </a:rPr>
                            <m:t>𝑒</m:t>
                          </m:r>
                        </m:e>
                        <m:sup>
                          <m:r>
                            <m:rPr>
                              <m:sty m:val="p"/>
                            </m:rPr>
                            <a:rPr lang="el-GR" altLang="zh-TW" b="0" i="1">
                              <a:latin typeface="Cambria Math" panose="02040503050406030204" pitchFamily="18" charset="0"/>
                              <a:ea typeface="Cambria Math" panose="02040503050406030204" pitchFamily="18" charset="0"/>
                            </a:rPr>
                            <m:t>Λ</m:t>
                          </m:r>
                        </m:sup>
                      </m:sSup>
                      <m:f>
                        <m:fPr>
                          <m:ctrlPr>
                            <a:rPr lang="en-US" altLang="zh-TW" b="0" i="1" dirty="0">
                              <a:latin typeface="Cambria Math" panose="02040503050406030204" pitchFamily="18" charset="0"/>
                              <a:ea typeface="Cambria Math" panose="02040503050406030204" pitchFamily="18" charset="0"/>
                            </a:rPr>
                          </m:ctrlPr>
                        </m:fPr>
                        <m:num>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a:latin typeface="Cambria Math" panose="02040503050406030204" pitchFamily="18" charset="0"/>
                                  <a:ea typeface="Cambria Math" panose="02040503050406030204" pitchFamily="18" charset="0"/>
                                </a:rPr>
                                <m:t>0</m:t>
                              </m:r>
                            </m:sub>
                          </m:sSub>
                        </m:num>
                        <m:den>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a:latin typeface="Cambria Math" panose="02040503050406030204" pitchFamily="18" charset="0"/>
                                  <a:ea typeface="Cambria Math" panose="02040503050406030204" pitchFamily="18" charset="0"/>
                                </a:rPr>
                                <m:t>0,</m:t>
                              </m:r>
                              <m:r>
                                <a:rPr lang="en-US" altLang="zh-TW" b="0" i="1" dirty="0">
                                  <a:latin typeface="Cambria Math" panose="02040503050406030204" pitchFamily="18" charset="0"/>
                                  <a:ea typeface="Cambria Math" panose="02040503050406030204" pitchFamily="18" charset="0"/>
                                </a:rPr>
                                <m:t>𝑒</m:t>
                              </m:r>
                            </m:sub>
                          </m:sSub>
                        </m:den>
                      </m:f>
                    </m:oMath>
                  </m:oMathPara>
                </a14:m>
                <a:endParaRPr lang="en-US" altLang="zh-TW" b="0" dirty="0"/>
              </a:p>
              <a:p>
                <a:pPr>
                  <a:lnSpc>
                    <a:spcPct val="150000"/>
                  </a:lnSpc>
                </a:pPr>
                <a:r>
                  <a:rPr lang="zh-TW" altLang="en-US" b="0" dirty="0"/>
                  <a:t>其中，時間偏好偏誤項趨近於</a:t>
                </a:r>
                <a:r>
                  <a:rPr lang="en-US" altLang="zh-TW" b="0" dirty="0"/>
                  <a:t>0</a:t>
                </a:r>
                <a:r>
                  <a:rPr lang="zh-TW" altLang="en-US" b="0" dirty="0"/>
                  <a:t>，在實證研究過程中可忽略</a:t>
                </a:r>
                <a:endParaRPr lang="en-US" altLang="zh-TW" b="0" dirty="0"/>
              </a:p>
              <a:p>
                <a:pPr>
                  <a:lnSpc>
                    <a:spcPct val="150000"/>
                  </a:lnSpc>
                </a:pPr>
                <a14:m>
                  <m:oMathPara xmlns:m="http://schemas.openxmlformats.org/officeDocument/2006/math">
                    <m:oMathParaPr>
                      <m:jc m:val="centerGroup"/>
                    </m:oMathParaPr>
                    <m:oMath xmlns:m="http://schemas.openxmlformats.org/officeDocument/2006/math">
                      <m:sSub>
                        <m:sSubPr>
                          <m:ctrlPr>
                            <a:rPr lang="en-US" altLang="zh-TW" b="0" i="1">
                              <a:latin typeface="Cambria Math" panose="02040503050406030204" pitchFamily="18" charset="0"/>
                            </a:rPr>
                          </m:ctrlPr>
                        </m:sSubPr>
                        <m:e>
                          <m:r>
                            <a:rPr lang="en-US" altLang="zh-TW" b="0" i="1">
                              <a:latin typeface="Cambria Math" panose="02040503050406030204" pitchFamily="18" charset="0"/>
                            </a:rPr>
                            <m:t>𝑃</m:t>
                          </m:r>
                        </m:e>
                        <m:sub>
                          <m:r>
                            <a:rPr lang="en-US" altLang="zh-TW" b="0" i="1">
                              <a:latin typeface="Cambria Math" panose="02040503050406030204" pitchFamily="18" charset="0"/>
                            </a:rPr>
                            <m:t>𝑅</m:t>
                          </m:r>
                        </m:sub>
                      </m:sSub>
                      <m:r>
                        <a:rPr lang="en-US" altLang="zh-TW" b="0" i="1">
                          <a:latin typeface="Cambria Math" panose="02040503050406030204" pitchFamily="18" charset="0"/>
                        </a:rPr>
                        <m:t>=</m:t>
                      </m:r>
                      <m:r>
                        <a:rPr lang="en-US" altLang="zh-TW" b="0" i="1">
                          <a:latin typeface="Cambria Math" panose="02040503050406030204" pitchFamily="18" charset="0"/>
                        </a:rPr>
                        <m:t>𝑃</m:t>
                      </m:r>
                      <m:sSup>
                        <m:sSupPr>
                          <m:ctrlPr>
                            <a:rPr lang="en-US" altLang="zh-TW" b="0" i="1">
                              <a:latin typeface="Cambria Math" panose="02040503050406030204" pitchFamily="18" charset="0"/>
                            </a:rPr>
                          </m:ctrlPr>
                        </m:sSupPr>
                        <m:e>
                          <m:r>
                            <a:rPr lang="en-US" altLang="zh-TW" b="0" i="1">
                              <a:latin typeface="Cambria Math" panose="02040503050406030204" pitchFamily="18" charset="0"/>
                            </a:rPr>
                            <m:t>𝑒</m:t>
                          </m:r>
                        </m:e>
                        <m:sup>
                          <m:r>
                            <m:rPr>
                              <m:sty m:val="p"/>
                            </m:rPr>
                            <a:rPr lang="el-GR" altLang="zh-TW" b="0" i="1">
                              <a:latin typeface="Cambria Math" panose="02040503050406030204" pitchFamily="18" charset="0"/>
                              <a:ea typeface="Cambria Math" panose="02040503050406030204" pitchFamily="18" charset="0"/>
                            </a:rPr>
                            <m:t>Λ</m:t>
                          </m:r>
                        </m:sup>
                      </m:sSup>
                    </m:oMath>
                  </m:oMathPara>
                </a14:m>
                <a:endParaRPr lang="zh-TW" altLang="en-US" b="0" dirty="0"/>
              </a:p>
            </p:txBody>
          </p:sp>
        </mc:Choice>
        <mc:Fallback xmlns="">
          <p:sp>
            <p:nvSpPr>
              <p:cNvPr id="7" name="內容版面配置區 6">
                <a:extLst>
                  <a:ext uri="{FF2B5EF4-FFF2-40B4-BE49-F238E27FC236}">
                    <a16:creationId xmlns:a16="http://schemas.microsoft.com/office/drawing/2014/main" id="{EF0A0C33-38DE-A09E-9751-59FF5BF5865E}"/>
                  </a:ext>
                </a:extLst>
              </p:cNvPr>
              <p:cNvSpPr>
                <a:spLocks noGrp="1" noRot="1" noChangeAspect="1" noMove="1" noResize="1" noEditPoints="1" noAdjustHandles="1" noChangeArrowheads="1" noChangeShapeType="1" noTextEdit="1"/>
              </p:cNvSpPr>
              <p:nvPr>
                <p:ph sz="quarter" idx="14"/>
              </p:nvPr>
            </p:nvSpPr>
            <p:spPr>
              <a:xfrm>
                <a:off x="447319" y="1057533"/>
                <a:ext cx="11197285" cy="5125554"/>
              </a:xfrm>
              <a:blipFill>
                <a:blip r:embed="rId2"/>
                <a:stretch>
                  <a:fillRect l="-544" t="-59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34348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1DE477E3-EC35-6077-C371-0181E36433D1}"/>
              </a:ext>
            </a:extLst>
          </p:cNvPr>
          <p:cNvSpPr>
            <a:spLocks noGrp="1"/>
          </p:cNvSpPr>
          <p:nvPr>
            <p:ph type="body" sz="quarter" idx="10"/>
          </p:nvPr>
        </p:nvSpPr>
        <p:spPr>
          <a:xfrm>
            <a:off x="2098386" y="200315"/>
            <a:ext cx="6124994" cy="436563"/>
          </a:xfrm>
        </p:spPr>
        <p:txBody>
          <a:bodyPr/>
          <a:lstStyle/>
          <a:p>
            <a:r>
              <a:rPr lang="zh-TW" altLang="en-US" dirty="0"/>
              <a:t>定價核轉換投資者情緒代理變數</a:t>
            </a:r>
          </a:p>
          <a:p>
            <a:endParaRPr lang="zh-TW" altLang="en-US" dirty="0"/>
          </a:p>
        </p:txBody>
      </p:sp>
      <p:sp>
        <p:nvSpPr>
          <p:cNvPr id="4" name="內容版面配置區 3">
            <a:extLst>
              <a:ext uri="{FF2B5EF4-FFF2-40B4-BE49-F238E27FC236}">
                <a16:creationId xmlns:a16="http://schemas.microsoft.com/office/drawing/2014/main" id="{50F4DF12-54D0-E4B6-B34D-DFE94AB1BE8E}"/>
              </a:ext>
            </a:extLst>
          </p:cNvPr>
          <p:cNvSpPr>
            <a:spLocks noGrp="1"/>
          </p:cNvSpPr>
          <p:nvPr>
            <p:ph sz="quarter" idx="11"/>
          </p:nvPr>
        </p:nvSpPr>
        <p:spPr/>
        <p:txBody>
          <a:bodyPr/>
          <a:lstStyle/>
          <a:p>
            <a:r>
              <a:rPr lang="en-US" altLang="zh-TW" dirty="0"/>
              <a:t>3.1</a:t>
            </a:r>
            <a:endParaRPr lang="zh-TW" altLang="en-US" dirty="0"/>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EF0A0C33-38DE-A09E-9751-59FF5BF5865E}"/>
                  </a:ext>
                </a:extLst>
              </p:cNvPr>
              <p:cNvSpPr>
                <a:spLocks noGrp="1"/>
              </p:cNvSpPr>
              <p:nvPr>
                <p:ph sz="quarter" idx="14"/>
              </p:nvPr>
            </p:nvSpPr>
            <p:spPr>
              <a:xfrm>
                <a:off x="422438" y="866223"/>
                <a:ext cx="11595391" cy="5727410"/>
              </a:xfrm>
            </p:spPr>
            <p:txBody>
              <a:bodyPr/>
              <a:lstStyle/>
              <a:p>
                <a:pPr>
                  <a:lnSpc>
                    <a:spcPct val="100000"/>
                  </a:lnSpc>
                </a:pPr>
                <a:r>
                  <a:rPr lang="zh-TW" altLang="en-US" b="0" dirty="0"/>
                  <a:t>將定價核公式</a:t>
                </a:r>
                <a:r>
                  <a:rPr lang="en-US" altLang="zh-TW" b="0" dirty="0"/>
                  <a:t>1.</a:t>
                </a:r>
                <a:r>
                  <a:rPr lang="zh-TW" altLang="en-US" b="0" dirty="0"/>
                  <a:t>與</a:t>
                </a:r>
                <a:r>
                  <a:rPr lang="en-US" altLang="zh-TW" b="0" dirty="0"/>
                  <a:t>5.</a:t>
                </a:r>
                <a:r>
                  <a:rPr lang="zh-TW" altLang="en-US" b="0" dirty="0"/>
                  <a:t>結合，可得狀態價格為</a:t>
                </a:r>
                <a:endParaRPr lang="en-US" altLang="zh-TW" b="0" dirty="0"/>
              </a:p>
              <a:p>
                <a:pPr>
                  <a:lnSpc>
                    <a:spcPct val="100000"/>
                  </a:lnSpc>
                </a:pPr>
                <a14:m>
                  <m:oMathPara xmlns:m="http://schemas.openxmlformats.org/officeDocument/2006/math">
                    <m:oMathParaPr>
                      <m:jc m:val="centerGroup"/>
                    </m:oMathParaPr>
                    <m:oMath xmlns:m="http://schemas.openxmlformats.org/officeDocument/2006/math">
                      <m:r>
                        <a:rPr lang="zh-TW" altLang="en-US" b="0" i="1" smtClean="0">
                          <a:latin typeface="Cambria Math" panose="02040503050406030204" pitchFamily="18" charset="0"/>
                        </a:rPr>
                        <m:t>𝜋</m:t>
                      </m:r>
                      <m:r>
                        <a:rPr lang="en-US" altLang="zh-TW" b="0" dirty="0">
                          <a:latin typeface="Cambria Math" panose="02040503050406030204" pitchFamily="18" charset="0"/>
                        </a:rPr>
                        <m:t>=</m:t>
                      </m:r>
                      <m:r>
                        <a:rPr lang="en-US" altLang="zh-TW" b="0" i="1" dirty="0">
                          <a:latin typeface="Cambria Math" panose="02040503050406030204" pitchFamily="18" charset="0"/>
                        </a:rPr>
                        <m:t>𝑃</m:t>
                      </m:r>
                      <m:r>
                        <a:rPr lang="en-US" altLang="zh-TW" b="0" i="1" dirty="0" smtClean="0">
                          <a:latin typeface="Cambria Math" panose="02040503050406030204" pitchFamily="18" charset="0"/>
                          <a:ea typeface="Cambria Math" panose="02040503050406030204" pitchFamily="18" charset="0"/>
                        </a:rPr>
                        <m:t>∙</m:t>
                      </m:r>
                      <m:r>
                        <a:rPr lang="zh-TW" altLang="en-US" b="0" i="1" dirty="0">
                          <a:latin typeface="Cambria Math" panose="02040503050406030204" pitchFamily="18" charset="0"/>
                        </a:rPr>
                        <m:t>𝛽</m:t>
                      </m:r>
                      <m:sSup>
                        <m:sSupPr>
                          <m:ctrlPr>
                            <a:rPr lang="en-US" altLang="zh-TW" b="0" i="1" dirty="0">
                              <a:latin typeface="Cambria Math" panose="02040503050406030204" pitchFamily="18" charset="0"/>
                            </a:rPr>
                          </m:ctrlPr>
                        </m:sSupPr>
                        <m:e>
                          <m:d>
                            <m:dPr>
                              <m:ctrlPr>
                                <a:rPr lang="en-US" altLang="zh-TW" b="0" i="1" dirty="0">
                                  <a:latin typeface="Cambria Math" panose="02040503050406030204" pitchFamily="18" charset="0"/>
                                </a:rPr>
                              </m:ctrlPr>
                            </m:dPr>
                            <m:e>
                              <m:f>
                                <m:fPr>
                                  <m:ctrlPr>
                                    <a:rPr lang="en-US" altLang="zh-TW" b="0" i="1" dirty="0">
                                      <a:latin typeface="Cambria Math" panose="02040503050406030204" pitchFamily="18" charset="0"/>
                                    </a:rPr>
                                  </m:ctrlPr>
                                </m:fPr>
                                <m:num>
                                  <m:sSub>
                                    <m:sSubPr>
                                      <m:ctrlPr>
                                        <a:rPr lang="en-US" altLang="zh-TW" b="0" i="1" dirty="0" smtClean="0">
                                          <a:latin typeface="Cambria Math" panose="02040503050406030204" pitchFamily="18" charset="0"/>
                                        </a:rPr>
                                      </m:ctrlPr>
                                    </m:sSubPr>
                                    <m:e>
                                      <m:r>
                                        <a:rPr lang="en-US" altLang="zh-TW" b="0" i="1" dirty="0">
                                          <a:latin typeface="Cambria Math" panose="02040503050406030204" pitchFamily="18" charset="0"/>
                                        </a:rPr>
                                        <m:t>𝑆</m:t>
                                      </m:r>
                                    </m:e>
                                    <m:sub>
                                      <m:r>
                                        <m:rPr>
                                          <m:sty m:val="p"/>
                                        </m:rPr>
                                        <a:rPr lang="en-US" altLang="zh-TW" b="0" i="1"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i="1" dirty="0">
                                          <a:latin typeface="Cambria Math" panose="02040503050406030204" pitchFamily="18" charset="0"/>
                                        </a:rPr>
                                        <m:t>𝑆</m:t>
                                      </m:r>
                                    </m:e>
                                    <m:sub>
                                      <m:r>
                                        <a:rPr lang="en-US" altLang="zh-TW" b="0" i="1" dirty="0">
                                          <a:latin typeface="Cambria Math" panose="02040503050406030204" pitchFamily="18" charset="0"/>
                                        </a:rPr>
                                        <m:t>𝑡</m:t>
                                      </m:r>
                                    </m:sub>
                                  </m:sSub>
                                </m:den>
                              </m:f>
                            </m:e>
                          </m:d>
                        </m:e>
                        <m:sup>
                          <m:r>
                            <a:rPr lang="en-US" altLang="zh-TW" b="0" dirty="0">
                              <a:latin typeface="Cambria Math" panose="02040503050406030204" pitchFamily="18" charset="0"/>
                            </a:rPr>
                            <m:t>−</m:t>
                          </m:r>
                          <m:r>
                            <a:rPr lang="zh-TW" altLang="en-US" b="0" i="1" dirty="0">
                              <a:latin typeface="Cambria Math" panose="02040503050406030204" pitchFamily="18" charset="0"/>
                            </a:rPr>
                            <m:t>𝛾</m:t>
                          </m:r>
                        </m:sup>
                      </m:sSup>
                      <m:r>
                        <a:rPr lang="zh-TW" altLang="en-US" b="0" i="1" dirty="0">
                          <a:latin typeface="Cambria Math" panose="02040503050406030204" pitchFamily="18" charset="0"/>
                        </a:rPr>
                        <m:t> </m:t>
                      </m:r>
                      <m:r>
                        <a:rPr lang="zh-TW" altLang="en-US" b="0" i="1" dirty="0" smtClean="0">
                          <a:latin typeface="Cambria Math" panose="02040503050406030204" pitchFamily="18" charset="0"/>
                        </a:rPr>
                        <m:t>⟹</m:t>
                      </m:r>
                      <m:r>
                        <a:rPr lang="zh-TW" altLang="en-US" b="0" i="1">
                          <a:latin typeface="Cambria Math" panose="02040503050406030204" pitchFamily="18" charset="0"/>
                        </a:rPr>
                        <m:t>𝜋</m:t>
                      </m:r>
                      <m:r>
                        <a:rPr lang="en-US" altLang="zh-TW" b="0" dirty="0">
                          <a:latin typeface="Cambria Math" panose="02040503050406030204" pitchFamily="18" charset="0"/>
                        </a:rPr>
                        <m:t>=</m:t>
                      </m:r>
                      <m:sSub>
                        <m:sSubPr>
                          <m:ctrlPr>
                            <a:rPr lang="en-US" altLang="zh-TW" b="0" i="1" dirty="0" smtClean="0">
                              <a:latin typeface="Cambria Math" panose="02040503050406030204" pitchFamily="18" charset="0"/>
                            </a:rPr>
                          </m:ctrlPr>
                        </m:sSubPr>
                        <m:e>
                          <m:r>
                            <m:rPr>
                              <m:sty m:val="p"/>
                            </m:rPr>
                            <a:rPr lang="en-US" altLang="zh-TW" b="0" i="1" dirty="0">
                              <a:latin typeface="Cambria Math" panose="02040503050406030204" pitchFamily="18" charset="0"/>
                            </a:rPr>
                            <m:t>P</m:t>
                          </m:r>
                        </m:e>
                        <m:sub>
                          <m:r>
                            <m:rPr>
                              <m:sty m:val="p"/>
                            </m:rPr>
                            <a:rPr lang="en-US" altLang="zh-TW" b="0" i="1" dirty="0">
                              <a:latin typeface="Cambria Math" panose="02040503050406030204" pitchFamily="18" charset="0"/>
                            </a:rPr>
                            <m:t>R</m:t>
                          </m:r>
                        </m:sub>
                      </m:sSub>
                      <m:r>
                        <a:rPr lang="en-US" altLang="zh-TW" b="0" i="1" dirty="0">
                          <a:latin typeface="Cambria Math" panose="02040503050406030204" pitchFamily="18" charset="0"/>
                          <a:ea typeface="Cambria Math" panose="02040503050406030204" pitchFamily="18" charset="0"/>
                        </a:rPr>
                        <m:t>∙</m:t>
                      </m:r>
                      <m:sSub>
                        <m:sSubPr>
                          <m:ctrlPr>
                            <a:rPr lang="en-US" altLang="zh-TW" b="0" i="1" dirty="0" smtClean="0">
                              <a:latin typeface="Cambria Math" panose="02040503050406030204" pitchFamily="18" charset="0"/>
                              <a:ea typeface="Cambria Math" panose="02040503050406030204" pitchFamily="18" charset="0"/>
                            </a:rPr>
                          </m:ctrlPr>
                        </m:sSubPr>
                        <m:e>
                          <m:r>
                            <a:rPr lang="zh-TW" altLang="en-US" b="0" i="1" dirty="0" smtClean="0">
                              <a:latin typeface="Cambria Math" panose="02040503050406030204" pitchFamily="18" charset="0"/>
                              <a:ea typeface="Cambria Math" panose="02040503050406030204" pitchFamily="18" charset="0"/>
                            </a:rPr>
                            <m:t>𝜃</m:t>
                          </m:r>
                        </m:e>
                        <m:sub>
                          <m:r>
                            <a:rPr lang="en-US" altLang="zh-TW" b="0" i="1" dirty="0">
                              <a:latin typeface="Cambria Math" panose="02040503050406030204" pitchFamily="18" charset="0"/>
                              <a:ea typeface="Cambria Math" panose="02040503050406030204" pitchFamily="18" charset="0"/>
                            </a:rPr>
                            <m:t>0</m:t>
                          </m:r>
                        </m:sub>
                      </m:sSub>
                      <m:sSup>
                        <m:sSupPr>
                          <m:ctrlPr>
                            <a:rPr lang="en-US" altLang="zh-TW" b="0" i="1" dirty="0" smtClean="0">
                              <a:latin typeface="Cambria Math" panose="02040503050406030204" pitchFamily="18" charset="0"/>
                            </a:rPr>
                          </m:ctrlPr>
                        </m:sSupPr>
                        <m:e>
                          <m:d>
                            <m:dPr>
                              <m:ctrlPr>
                                <a:rPr lang="en-US" altLang="zh-TW" b="0" i="1" dirty="0">
                                  <a:latin typeface="Cambria Math" panose="02040503050406030204" pitchFamily="18" charset="0"/>
                                </a:rPr>
                              </m:ctrlPr>
                            </m:dPr>
                            <m:e>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i="1" dirty="0">
                                          <a:latin typeface="Cambria Math" panose="02040503050406030204" pitchFamily="18" charset="0"/>
                                        </a:rPr>
                                        <m:t>𝑆</m:t>
                                      </m:r>
                                    </m:e>
                                    <m:sub>
                                      <m:r>
                                        <m:rPr>
                                          <m:sty m:val="p"/>
                                        </m:rPr>
                                        <a:rPr lang="en-US" altLang="zh-TW" b="0" i="1"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i="1" dirty="0">
                                          <a:latin typeface="Cambria Math" panose="02040503050406030204" pitchFamily="18" charset="0"/>
                                        </a:rPr>
                                        <m:t>𝑆</m:t>
                                      </m:r>
                                    </m:e>
                                    <m:sub>
                                      <m:r>
                                        <a:rPr lang="en-US" altLang="zh-TW" b="0" i="1" dirty="0">
                                          <a:latin typeface="Cambria Math" panose="02040503050406030204" pitchFamily="18" charset="0"/>
                                        </a:rPr>
                                        <m:t>𝑡</m:t>
                                      </m:r>
                                    </m:sub>
                                  </m:sSub>
                                </m:den>
                              </m:f>
                            </m:e>
                          </m:d>
                        </m:e>
                        <m:sup>
                          <m:r>
                            <a:rPr lang="en-US" altLang="zh-TW" b="0" dirty="0">
                              <a:latin typeface="Cambria Math" panose="02040503050406030204" pitchFamily="18" charset="0"/>
                            </a:rPr>
                            <m:t>−</m:t>
                          </m:r>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smtClean="0">
                                  <a:latin typeface="Cambria Math" panose="02040503050406030204" pitchFamily="18" charset="0"/>
                                  <a:ea typeface="Cambria Math" panose="02040503050406030204" pitchFamily="18" charset="0"/>
                                </a:rPr>
                                <m:t>1</m:t>
                              </m:r>
                            </m:sub>
                          </m:sSub>
                        </m:sup>
                      </m:sSup>
                    </m:oMath>
                  </m:oMathPara>
                </a14:m>
                <a:endParaRPr lang="en-US" altLang="zh-TW" b="0" dirty="0"/>
              </a:p>
              <a:p>
                <a:pPr>
                  <a:lnSpc>
                    <a:spcPct val="100000"/>
                  </a:lnSpc>
                </a:pPr>
                <a:r>
                  <a:rPr lang="zh-TW" altLang="en-US" b="0" dirty="0"/>
                  <a:t>將</a:t>
                </a:r>
                <a:r>
                  <a:rPr lang="zh-TW" altLang="en-US" b="0" dirty="0">
                    <a:latin typeface="Cambria Math" panose="02040503050406030204" pitchFamily="18" charset="0"/>
                  </a:rPr>
                  <a:t>折現因子</a:t>
                </a:r>
                <a14:m>
                  <m:oMath xmlns:m="http://schemas.openxmlformats.org/officeDocument/2006/math">
                    <m:r>
                      <m:rPr>
                        <m:sty m:val="p"/>
                      </m:rPr>
                      <a:rPr lang="zh-TW" altLang="en-US" b="0">
                        <a:latin typeface="Cambria Math" panose="02040503050406030204" pitchFamily="18" charset="0"/>
                      </a:rPr>
                      <m:t>β</m:t>
                    </m:r>
                  </m:oMath>
                </a14:m>
                <a:r>
                  <a:rPr lang="zh-TW" altLang="en-US" b="0" dirty="0"/>
                  <a:t>改寫為</a:t>
                </a:r>
                <a14:m>
                  <m:oMath xmlns:m="http://schemas.openxmlformats.org/officeDocument/2006/math">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a:latin typeface="Cambria Math" panose="02040503050406030204" pitchFamily="18" charset="0"/>
                            <a:ea typeface="Cambria Math" panose="02040503050406030204" pitchFamily="18" charset="0"/>
                          </a:rPr>
                          <m:t>0</m:t>
                        </m:r>
                      </m:sub>
                    </m:sSub>
                    <m:r>
                      <a:rPr lang="en-US" altLang="zh-TW" b="0" i="1" dirty="0">
                        <a:latin typeface="Cambria Math" panose="02040503050406030204" pitchFamily="18" charset="0"/>
                        <a:ea typeface="Cambria Math" panose="02040503050406030204" pitchFamily="18" charset="0"/>
                      </a:rPr>
                      <m:t> </m:t>
                    </m:r>
                  </m:oMath>
                </a14:m>
                <a:r>
                  <a:rPr lang="zh-TW" altLang="en-US" b="0" dirty="0"/>
                  <a:t>， </a:t>
                </a:r>
                <a:r>
                  <a:rPr lang="zh-TW" altLang="en-US" b="0" dirty="0">
                    <a:latin typeface="Cambria Math" panose="02040503050406030204" pitchFamily="18" charset="0"/>
                  </a:rPr>
                  <a:t>相對風險厭惡係數</a:t>
                </a:r>
                <a14:m>
                  <m:oMath xmlns:m="http://schemas.openxmlformats.org/officeDocument/2006/math">
                    <m:r>
                      <m:rPr>
                        <m:sty m:val="p"/>
                      </m:rPr>
                      <a:rPr lang="zh-TW" altLang="en-US" b="0">
                        <a:latin typeface="Cambria Math" panose="02040503050406030204" pitchFamily="18" charset="0"/>
                      </a:rPr>
                      <m:t>γ</m:t>
                    </m:r>
                  </m:oMath>
                </a14:m>
                <a:r>
                  <a:rPr lang="zh-TW" altLang="en-US" b="0" dirty="0"/>
                  <a:t>改寫為</a:t>
                </a:r>
                <a14:m>
                  <m:oMath xmlns:m="http://schemas.openxmlformats.org/officeDocument/2006/math">
                    <m:sSub>
                      <m:sSubPr>
                        <m:ctrlPr>
                          <a:rPr lang="en-US" altLang="zh-TW" b="0" i="1" dirty="0">
                            <a:latin typeface="Cambria Math" panose="02040503050406030204" pitchFamily="18" charset="0"/>
                            <a:ea typeface="Cambria Math" panose="02040503050406030204" pitchFamily="18" charset="0"/>
                          </a:rPr>
                        </m:ctrlPr>
                      </m:sSubPr>
                      <m:e>
                        <m:r>
                          <a:rPr lang="zh-TW" altLang="en-US" b="0" i="1" dirty="0">
                            <a:latin typeface="Cambria Math" panose="02040503050406030204" pitchFamily="18" charset="0"/>
                            <a:ea typeface="Cambria Math" panose="02040503050406030204" pitchFamily="18" charset="0"/>
                          </a:rPr>
                          <m:t>𝜃</m:t>
                        </m:r>
                      </m:e>
                      <m:sub>
                        <m:r>
                          <a:rPr lang="en-US" altLang="zh-TW" b="0" i="1" dirty="0" smtClean="0">
                            <a:latin typeface="Cambria Math" panose="02040503050406030204" pitchFamily="18" charset="0"/>
                            <a:ea typeface="Cambria Math" panose="02040503050406030204" pitchFamily="18" charset="0"/>
                          </a:rPr>
                          <m:t>1</m:t>
                        </m:r>
                      </m:sub>
                    </m:sSub>
                  </m:oMath>
                </a14:m>
                <a:r>
                  <a:rPr lang="zh-TW" altLang="en-US" b="0" dirty="0"/>
                  <a:t>，此時代表性投資人基於其主觀信念計算期望效用，因此使用</a:t>
                </a:r>
                <a14:m>
                  <m:oMath xmlns:m="http://schemas.openxmlformats.org/officeDocument/2006/math">
                    <m:sSub>
                      <m:sSubPr>
                        <m:ctrlPr>
                          <a:rPr lang="en-US" altLang="zh-TW" b="0" i="1" dirty="0">
                            <a:latin typeface="Cambria Math" panose="02040503050406030204" pitchFamily="18" charset="0"/>
                          </a:rPr>
                        </m:ctrlPr>
                      </m:sSubPr>
                      <m:e>
                        <m:r>
                          <m:rPr>
                            <m:sty m:val="p"/>
                          </m:rPr>
                          <a:rPr lang="en-US" altLang="zh-TW" b="0" dirty="0">
                            <a:latin typeface="Cambria Math" panose="02040503050406030204" pitchFamily="18" charset="0"/>
                          </a:rPr>
                          <m:t>P</m:t>
                        </m:r>
                      </m:e>
                      <m:sub>
                        <m:r>
                          <m:rPr>
                            <m:sty m:val="p"/>
                          </m:rPr>
                          <a:rPr lang="en-US" altLang="zh-TW" b="0" dirty="0">
                            <a:latin typeface="Cambria Math" panose="02040503050406030204" pitchFamily="18" charset="0"/>
                          </a:rPr>
                          <m:t>R</m:t>
                        </m:r>
                      </m:sub>
                    </m:sSub>
                  </m:oMath>
                </a14:m>
                <a:endParaRPr lang="en-US" altLang="zh-TW" b="0" dirty="0"/>
              </a:p>
              <a:p>
                <a:pPr>
                  <a:lnSpc>
                    <a:spcPct val="100000"/>
                  </a:lnSpc>
                </a:pPr>
                <a:r>
                  <a:rPr lang="zh-TW" altLang="en-US" b="0" dirty="0"/>
                  <a:t>實證定價核</a:t>
                </a:r>
                <a:r>
                  <a:rPr lang="en-US" altLang="zh-TW" b="0" dirty="0"/>
                  <a:t>M</a:t>
                </a:r>
                <a:r>
                  <a:rPr lang="zh-TW" altLang="en-US" b="0" dirty="0"/>
                  <a:t>可表示為</a:t>
                </a:r>
                <a14:m>
                  <m:oMath xmlns:m="http://schemas.openxmlformats.org/officeDocument/2006/math">
                    <m:r>
                      <m:rPr>
                        <m:sty m:val="p"/>
                      </m:rPr>
                      <a:rPr lang="en-US" altLang="zh-TW" b="0" dirty="0">
                        <a:latin typeface="Cambria Math" panose="02040503050406030204" pitchFamily="18" charset="0"/>
                      </a:rPr>
                      <m:t>M</m:t>
                    </m:r>
                    <m:r>
                      <a:rPr lang="zh-TW" altLang="en-US" b="0" dirty="0">
                        <a:latin typeface="Cambria Math" panose="02040503050406030204" pitchFamily="18" charset="0"/>
                      </a:rPr>
                      <m:t> </m:t>
                    </m:r>
                    <m:r>
                      <a:rPr lang="en-US" altLang="zh-TW" b="0" dirty="0">
                        <a:latin typeface="Cambria Math" panose="02040503050406030204" pitchFamily="18" charset="0"/>
                      </a:rPr>
                      <m:t>=</m:t>
                    </m:r>
                    <m:r>
                      <a:rPr lang="zh-TW" altLang="en-US" b="0" dirty="0">
                        <a:latin typeface="Cambria Math" panose="02040503050406030204" pitchFamily="18" charset="0"/>
                      </a:rPr>
                      <m:t> </m:t>
                    </m:r>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m:rPr>
                                <m:sty m:val="p"/>
                              </m:rPr>
                              <a:rPr lang="en-US" altLang="zh-TW" b="0" dirty="0">
                                <a:latin typeface="Cambria Math" panose="02040503050406030204" pitchFamily="18" charset="0"/>
                              </a:rPr>
                              <m:t>P</m:t>
                            </m:r>
                          </m:e>
                          <m:sub>
                            <m:r>
                              <m:rPr>
                                <m:sty m:val="p"/>
                              </m:rPr>
                              <a:rPr lang="en-US" altLang="zh-TW" b="0" dirty="0">
                                <a:latin typeface="Cambria Math" panose="02040503050406030204" pitchFamily="18" charset="0"/>
                              </a:rPr>
                              <m:t>R</m:t>
                            </m:r>
                          </m:sub>
                        </m:sSub>
                      </m:num>
                      <m:den>
                        <m:r>
                          <m:rPr>
                            <m:sty m:val="p"/>
                          </m:rPr>
                          <a:rPr lang="en-US" altLang="zh-TW" b="0" dirty="0">
                            <a:latin typeface="Cambria Math" panose="02040503050406030204" pitchFamily="18" charset="0"/>
                          </a:rPr>
                          <m:t>P</m:t>
                        </m:r>
                      </m:den>
                    </m:f>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sub>
                    </m:sSub>
                    <m:sSup>
                      <m:sSupPr>
                        <m:ctrlPr>
                          <a:rPr lang="en-US" altLang="zh-TW" b="0" i="1" dirty="0">
                            <a:latin typeface="Cambria Math" panose="02040503050406030204" pitchFamily="18" charset="0"/>
                          </a:rPr>
                        </m:ctrlPr>
                      </m:sSupPr>
                      <m:e>
                        <m:d>
                          <m:dPr>
                            <m:ctrlPr>
                              <a:rPr lang="en-US" altLang="zh-TW" b="0" i="1" dirty="0">
                                <a:latin typeface="Cambria Math" panose="02040503050406030204" pitchFamily="18" charset="0"/>
                              </a:rPr>
                            </m:ctrlPr>
                          </m:dPr>
                          <m:e>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e>
                        </m:d>
                      </m:e>
                      <m:sup>
                        <m:r>
                          <a:rPr lang="en-US" altLang="zh-TW" b="0" dirty="0">
                            <a:latin typeface="Cambria Math" panose="02040503050406030204" pitchFamily="18" charset="0"/>
                          </a:rPr>
                          <m:t>−</m:t>
                        </m:r>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1</m:t>
                            </m:r>
                          </m:sub>
                        </m:sSub>
                      </m:sup>
                    </m:sSup>
                  </m:oMath>
                </a14:m>
                <a:endParaRPr lang="en-US" altLang="zh-TW" b="0" dirty="0"/>
              </a:p>
              <a:p>
                <a:pPr>
                  <a:lnSpc>
                    <a:spcPct val="100000"/>
                  </a:lnSpc>
                </a:pPr>
                <a:r>
                  <a:rPr lang="zh-TW" altLang="en-US" b="0" dirty="0"/>
                  <a:t>傳統理論假設所有投資者皆持正確信念，則</a:t>
                </a:r>
                <a14:m>
                  <m:oMath xmlns:m="http://schemas.openxmlformats.org/officeDocument/2006/math">
                    <m:sSub>
                      <m:sSubPr>
                        <m:ctrlPr>
                          <a:rPr lang="en-US" altLang="zh-TW" b="0" i="1" dirty="0">
                            <a:latin typeface="Cambria Math" panose="02040503050406030204" pitchFamily="18" charset="0"/>
                          </a:rPr>
                        </m:ctrlPr>
                      </m:sSubPr>
                      <m:e>
                        <m:r>
                          <m:rPr>
                            <m:sty m:val="p"/>
                          </m:rPr>
                          <a:rPr lang="en-US" altLang="zh-TW" b="0" dirty="0">
                            <a:latin typeface="Cambria Math" panose="02040503050406030204" pitchFamily="18" charset="0"/>
                          </a:rPr>
                          <m:t>P</m:t>
                        </m:r>
                      </m:e>
                      <m:sub>
                        <m:r>
                          <m:rPr>
                            <m:sty m:val="p"/>
                          </m:rPr>
                          <a:rPr lang="en-US" altLang="zh-TW" b="0" dirty="0">
                            <a:latin typeface="Cambria Math" panose="02040503050406030204" pitchFamily="18" charset="0"/>
                          </a:rPr>
                          <m:t>R</m:t>
                        </m:r>
                      </m:sub>
                    </m:sSub>
                    <m:r>
                      <a:rPr lang="en-US" altLang="zh-TW" b="0" i="1" dirty="0">
                        <a:latin typeface="Cambria Math" panose="02040503050406030204" pitchFamily="18" charset="0"/>
                      </a:rPr>
                      <m:t> </m:t>
                    </m:r>
                  </m:oMath>
                </a14:m>
                <a:r>
                  <a:rPr lang="en-US" altLang="zh-TW" b="0" dirty="0"/>
                  <a:t>= </a:t>
                </a:r>
                <a14:m>
                  <m:oMath xmlns:m="http://schemas.openxmlformats.org/officeDocument/2006/math">
                    <m:r>
                      <m:rPr>
                        <m:sty m:val="p"/>
                      </m:rPr>
                      <a:rPr lang="en-US" altLang="zh-TW" b="0" dirty="0">
                        <a:latin typeface="Cambria Math" panose="02040503050406030204" pitchFamily="18" charset="0"/>
                      </a:rPr>
                      <m:t>P</m:t>
                    </m:r>
                    <m:r>
                      <a:rPr lang="en-US" altLang="zh-TW" b="0" i="1" dirty="0">
                        <a:latin typeface="Cambria Math" panose="02040503050406030204" pitchFamily="18" charset="0"/>
                      </a:rPr>
                      <m:t> </m:t>
                    </m:r>
                  </m:oMath>
                </a14:m>
                <a:r>
                  <a:rPr lang="zh-TW" altLang="en-US" b="0" dirty="0"/>
                  <a:t>，</a:t>
                </a:r>
                <a:r>
                  <a:rPr lang="en-US" altLang="zh-TW" b="0" dirty="0"/>
                  <a:t> </a:t>
                </a:r>
                <a14:m>
                  <m:oMath xmlns:m="http://schemas.openxmlformats.org/officeDocument/2006/math">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sub>
                    </m:sSub>
                    <m:r>
                      <a:rPr lang="en-US" altLang="zh-TW" b="0" i="1" dirty="0">
                        <a:latin typeface="Cambria Math" panose="02040503050406030204" pitchFamily="18" charset="0"/>
                      </a:rPr>
                      <m:t> </m:t>
                    </m:r>
                  </m:oMath>
                </a14:m>
                <a:r>
                  <a:rPr lang="en-US" altLang="zh-TW" b="0" dirty="0"/>
                  <a:t>= </a:t>
                </a:r>
                <a14:m>
                  <m:oMath xmlns:m="http://schemas.openxmlformats.org/officeDocument/2006/math">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r>
                          <a:rPr lang="en-US" altLang="zh-TW" b="0" i="1" dirty="0">
                            <a:latin typeface="Cambria Math" panose="02040503050406030204" pitchFamily="18" charset="0"/>
                          </a:rPr>
                          <m:t>,</m:t>
                        </m:r>
                        <m:r>
                          <m:rPr>
                            <m:sty m:val="p"/>
                          </m:rPr>
                          <a:rPr lang="en-US" altLang="zh-TW" b="0" i="1" dirty="0">
                            <a:latin typeface="Cambria Math" panose="02040503050406030204" pitchFamily="18" charset="0"/>
                          </a:rPr>
                          <m:t>e</m:t>
                        </m:r>
                      </m:sub>
                    </m:sSub>
                    <m:r>
                      <a:rPr lang="en-US" altLang="zh-TW" b="0" i="1" dirty="0">
                        <a:latin typeface="Cambria Math" panose="02040503050406030204" pitchFamily="18" charset="0"/>
                      </a:rPr>
                      <m:t> </m:t>
                    </m:r>
                  </m:oMath>
                </a14:m>
                <a:r>
                  <a:rPr lang="zh-TW" altLang="en-US" b="0" dirty="0"/>
                  <a:t>，定義此時的定價核為</a:t>
                </a:r>
                <a14:m>
                  <m:oMath xmlns:m="http://schemas.openxmlformats.org/officeDocument/2006/math">
                    <m:sSub>
                      <m:sSubPr>
                        <m:ctrlPr>
                          <a:rPr lang="en-US" altLang="zh-TW" b="0" i="1" smtClean="0">
                            <a:latin typeface="Cambria Math" panose="02040503050406030204" pitchFamily="18" charset="0"/>
                          </a:rPr>
                        </m:ctrlPr>
                      </m:sSubPr>
                      <m:e>
                        <m:r>
                          <m:rPr>
                            <m:sty m:val="p"/>
                          </m:rPr>
                          <a:rPr lang="en-US" altLang="zh-TW" b="0" i="1">
                            <a:latin typeface="Cambria Math" panose="02040503050406030204" pitchFamily="18" charset="0"/>
                          </a:rPr>
                          <m:t>M</m:t>
                        </m:r>
                      </m:e>
                      <m:sub>
                        <m:r>
                          <m:rPr>
                            <m:sty m:val="p"/>
                          </m:rPr>
                          <a:rPr lang="en-US" altLang="zh-TW" b="0" i="1">
                            <a:latin typeface="Cambria Math" panose="02040503050406030204" pitchFamily="18" charset="0"/>
                          </a:rPr>
                          <m:t>e</m:t>
                        </m:r>
                      </m:sub>
                    </m:sSub>
                  </m:oMath>
                </a14:m>
                <a:endParaRPr lang="en-US" altLang="zh-TW" b="0" dirty="0"/>
              </a:p>
              <a:p>
                <a:pPr>
                  <a:lnSpc>
                    <a:spcPct val="100000"/>
                  </a:lnSpc>
                </a:pPr>
                <a14:m>
                  <m:oMathPara xmlns:m="http://schemas.openxmlformats.org/officeDocument/2006/math">
                    <m:oMathParaPr>
                      <m:jc m:val="centerGroup"/>
                    </m:oMathParaPr>
                    <m:oMath xmlns:m="http://schemas.openxmlformats.org/officeDocument/2006/math">
                      <m:sSub>
                        <m:sSubPr>
                          <m:ctrlPr>
                            <a:rPr lang="en-US" altLang="zh-TW" b="0" i="1">
                              <a:latin typeface="Cambria Math" panose="02040503050406030204" pitchFamily="18" charset="0"/>
                            </a:rPr>
                          </m:ctrlPr>
                        </m:sSubPr>
                        <m:e>
                          <m:r>
                            <m:rPr>
                              <m:sty m:val="p"/>
                            </m:rPr>
                            <a:rPr lang="en-US" altLang="zh-TW" b="0" i="1">
                              <a:latin typeface="Cambria Math" panose="02040503050406030204" pitchFamily="18" charset="0"/>
                            </a:rPr>
                            <m:t>M</m:t>
                          </m:r>
                        </m:e>
                        <m:sub>
                          <m:r>
                            <m:rPr>
                              <m:sty m:val="p"/>
                            </m:rPr>
                            <a:rPr lang="en-US" altLang="zh-TW" b="0" i="1">
                              <a:latin typeface="Cambria Math" panose="02040503050406030204" pitchFamily="18" charset="0"/>
                            </a:rPr>
                            <m:t>e</m:t>
                          </m:r>
                        </m:sub>
                      </m:sSub>
                      <m:r>
                        <a:rPr lang="en-US" altLang="zh-TW" b="0" i="1">
                          <a:latin typeface="Cambria Math" panose="02040503050406030204" pitchFamily="18" charset="0"/>
                        </a:rPr>
                        <m:t>=</m:t>
                      </m:r>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r>
                            <a:rPr lang="en-US" altLang="zh-TW" b="0" i="1" dirty="0">
                              <a:latin typeface="Cambria Math" panose="02040503050406030204" pitchFamily="18" charset="0"/>
                            </a:rPr>
                            <m:t>,</m:t>
                          </m:r>
                          <m:r>
                            <m:rPr>
                              <m:sty m:val="p"/>
                            </m:rPr>
                            <a:rPr lang="en-US" altLang="zh-TW" b="0" i="1" dirty="0">
                              <a:latin typeface="Cambria Math" panose="02040503050406030204" pitchFamily="18" charset="0"/>
                            </a:rPr>
                            <m:t>e</m:t>
                          </m:r>
                        </m:sub>
                      </m:sSub>
                      <m:sSup>
                        <m:sSupPr>
                          <m:ctrlPr>
                            <a:rPr lang="en-US" altLang="zh-TW" b="0" i="1" dirty="0">
                              <a:latin typeface="Cambria Math" panose="02040503050406030204" pitchFamily="18" charset="0"/>
                            </a:rPr>
                          </m:ctrlPr>
                        </m:sSupPr>
                        <m:e>
                          <m:d>
                            <m:dPr>
                              <m:ctrlPr>
                                <a:rPr lang="en-US" altLang="zh-TW" b="0" i="1" dirty="0">
                                  <a:latin typeface="Cambria Math" panose="02040503050406030204" pitchFamily="18" charset="0"/>
                                </a:rPr>
                              </m:ctrlPr>
                            </m:dPr>
                            <m:e>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e>
                          </m:d>
                        </m:e>
                        <m:sup>
                          <m:r>
                            <a:rPr lang="en-US" altLang="zh-TW" b="0" dirty="0">
                              <a:latin typeface="Cambria Math" panose="02040503050406030204" pitchFamily="18" charset="0"/>
                            </a:rPr>
                            <m:t>−</m:t>
                          </m:r>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1</m:t>
                              </m:r>
                            </m:sub>
                          </m:sSub>
                        </m:sup>
                      </m:sSup>
                    </m:oMath>
                  </m:oMathPara>
                </a14:m>
                <a:endParaRPr lang="en-US" altLang="zh-TW" b="0" dirty="0"/>
              </a:p>
              <a:p>
                <a:pPr>
                  <a:lnSpc>
                    <a:spcPct val="100000"/>
                  </a:lnSpc>
                </a:pPr>
                <a14:m>
                  <m:oMathPara xmlns:m="http://schemas.openxmlformats.org/officeDocument/2006/math">
                    <m:oMathParaPr>
                      <m:jc m:val="centerGroup"/>
                    </m:oMathParaPr>
                    <m:oMath xmlns:m="http://schemas.openxmlformats.org/officeDocument/2006/math">
                      <m:r>
                        <m:rPr>
                          <m:sty m:val="p"/>
                        </m:rPr>
                        <a:rPr lang="en-US" altLang="zh-TW" b="0" dirty="0">
                          <a:latin typeface="Cambria Math" panose="02040503050406030204" pitchFamily="18" charset="0"/>
                        </a:rPr>
                        <m:t>M</m:t>
                      </m:r>
                      <m:r>
                        <a:rPr lang="zh-TW" altLang="en-US" b="0" dirty="0">
                          <a:latin typeface="Cambria Math" panose="02040503050406030204" pitchFamily="18" charset="0"/>
                        </a:rPr>
                        <m:t> </m:t>
                      </m:r>
                      <m:r>
                        <a:rPr lang="en-US" altLang="zh-TW" b="0" dirty="0">
                          <a:latin typeface="Cambria Math" panose="02040503050406030204" pitchFamily="18" charset="0"/>
                        </a:rPr>
                        <m:t>=</m:t>
                      </m:r>
                      <m:r>
                        <a:rPr lang="zh-TW" altLang="en-US" b="0" dirty="0">
                          <a:latin typeface="Cambria Math" panose="02040503050406030204" pitchFamily="18" charset="0"/>
                        </a:rPr>
                        <m:t> </m:t>
                      </m:r>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m:rPr>
                                  <m:sty m:val="p"/>
                                </m:rPr>
                                <a:rPr lang="en-US" altLang="zh-TW" b="0" dirty="0">
                                  <a:latin typeface="Cambria Math" panose="02040503050406030204" pitchFamily="18" charset="0"/>
                                </a:rPr>
                                <m:t>P</m:t>
                              </m:r>
                            </m:e>
                            <m:sub>
                              <m:r>
                                <m:rPr>
                                  <m:sty m:val="p"/>
                                </m:rPr>
                                <a:rPr lang="en-US" altLang="zh-TW" b="0" dirty="0">
                                  <a:latin typeface="Cambria Math" panose="02040503050406030204" pitchFamily="18" charset="0"/>
                                </a:rPr>
                                <m:t>R</m:t>
                              </m:r>
                            </m:sub>
                          </m:sSub>
                        </m:num>
                        <m:den>
                          <m:r>
                            <m:rPr>
                              <m:sty m:val="p"/>
                            </m:rPr>
                            <a:rPr lang="en-US" altLang="zh-TW" b="0" dirty="0">
                              <a:latin typeface="Cambria Math" panose="02040503050406030204" pitchFamily="18" charset="0"/>
                            </a:rPr>
                            <m:t>P</m:t>
                          </m:r>
                        </m:den>
                      </m:f>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sub>
                      </m:sSub>
                      <m:sSup>
                        <m:sSupPr>
                          <m:ctrlPr>
                            <a:rPr lang="en-US" altLang="zh-TW" b="0" i="1" dirty="0">
                              <a:latin typeface="Cambria Math" panose="02040503050406030204" pitchFamily="18" charset="0"/>
                            </a:rPr>
                          </m:ctrlPr>
                        </m:sSupPr>
                        <m:e>
                          <m:d>
                            <m:dPr>
                              <m:ctrlPr>
                                <a:rPr lang="en-US" altLang="zh-TW" b="0" i="1" dirty="0">
                                  <a:latin typeface="Cambria Math" panose="02040503050406030204" pitchFamily="18" charset="0"/>
                                </a:rPr>
                              </m:ctrlPr>
                            </m:dPr>
                            <m:e>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e>
                          </m:d>
                        </m:e>
                        <m:sup>
                          <m:r>
                            <a:rPr lang="en-US" altLang="zh-TW" b="0" dirty="0">
                              <a:latin typeface="Cambria Math" panose="02040503050406030204" pitchFamily="18" charset="0"/>
                            </a:rPr>
                            <m:t>−</m:t>
                          </m:r>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1</m:t>
                              </m:r>
                            </m:sub>
                          </m:sSub>
                        </m:sup>
                      </m:sSup>
                      <m:r>
                        <a:rPr lang="en-US" altLang="zh-TW" b="0" i="1" dirty="0" smtClean="0">
                          <a:latin typeface="Cambria Math" panose="02040503050406030204" pitchFamily="18" charset="0"/>
                          <a:ea typeface="Cambria Math" panose="02040503050406030204" pitchFamily="18" charset="0"/>
                        </a:rPr>
                        <m:t>×</m:t>
                      </m:r>
                      <m:f>
                        <m:fPr>
                          <m:ctrlPr>
                            <a:rPr lang="en-US" altLang="zh-TW" b="0" i="1" dirty="0" smtClean="0">
                              <a:latin typeface="Cambria Math" panose="02040503050406030204" pitchFamily="18" charset="0"/>
                              <a:ea typeface="Cambria Math" panose="02040503050406030204" pitchFamily="18" charset="0"/>
                            </a:rPr>
                          </m:ctrlPr>
                        </m:fPr>
                        <m:num>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r>
                                <a:rPr lang="en-US" altLang="zh-TW" b="0" i="1" dirty="0">
                                  <a:latin typeface="Cambria Math" panose="02040503050406030204" pitchFamily="18" charset="0"/>
                                </a:rPr>
                                <m:t>,</m:t>
                              </m:r>
                              <m:r>
                                <m:rPr>
                                  <m:sty m:val="p"/>
                                </m:rPr>
                                <a:rPr lang="en-US" altLang="zh-TW" b="0" i="1" dirty="0">
                                  <a:latin typeface="Cambria Math" panose="02040503050406030204" pitchFamily="18" charset="0"/>
                                </a:rPr>
                                <m:t>e</m:t>
                              </m:r>
                            </m:sub>
                          </m:sSub>
                        </m:num>
                        <m:den>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r>
                                <a:rPr lang="en-US" altLang="zh-TW" b="0" i="1" dirty="0">
                                  <a:latin typeface="Cambria Math" panose="02040503050406030204" pitchFamily="18" charset="0"/>
                                </a:rPr>
                                <m:t>,</m:t>
                              </m:r>
                              <m:r>
                                <m:rPr>
                                  <m:sty m:val="p"/>
                                </m:rPr>
                                <a:rPr lang="en-US" altLang="zh-TW" b="0" i="1" dirty="0">
                                  <a:latin typeface="Cambria Math" panose="02040503050406030204" pitchFamily="18" charset="0"/>
                                </a:rPr>
                                <m:t>e</m:t>
                              </m:r>
                            </m:sub>
                          </m:sSub>
                        </m:den>
                      </m:f>
                      <m:r>
                        <a:rPr lang="en-US" altLang="zh-TW" b="0" i="1" dirty="0">
                          <a:latin typeface="Cambria Math" panose="02040503050406030204" pitchFamily="18" charset="0"/>
                          <a:ea typeface="Cambria Math" panose="02040503050406030204" pitchFamily="18" charset="0"/>
                        </a:rPr>
                        <m:t>=</m:t>
                      </m:r>
                      <m:f>
                        <m:fPr>
                          <m:ctrlPr>
                            <a:rPr lang="en-US" altLang="zh-TW" b="0" i="1" dirty="0">
                              <a:latin typeface="Cambria Math" panose="02040503050406030204" pitchFamily="18" charset="0"/>
                              <a:ea typeface="Cambria Math" panose="02040503050406030204" pitchFamily="18" charset="0"/>
                            </a:rPr>
                          </m:ctrlPr>
                        </m:fPr>
                        <m:num>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sub>
                          </m:sSub>
                        </m:num>
                        <m:den>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r>
                                <a:rPr lang="en-US" altLang="zh-TW" b="0" i="1" dirty="0">
                                  <a:latin typeface="Cambria Math" panose="02040503050406030204" pitchFamily="18" charset="0"/>
                                </a:rPr>
                                <m:t>,</m:t>
                              </m:r>
                              <m:r>
                                <m:rPr>
                                  <m:sty m:val="p"/>
                                </m:rPr>
                                <a:rPr lang="en-US" altLang="zh-TW" b="0" i="1" dirty="0">
                                  <a:latin typeface="Cambria Math" panose="02040503050406030204" pitchFamily="18" charset="0"/>
                                </a:rPr>
                                <m:t>e</m:t>
                              </m:r>
                            </m:sub>
                          </m:sSub>
                        </m:den>
                      </m:f>
                      <m:r>
                        <a:rPr lang="en-US" altLang="zh-TW" b="0" i="1" dirty="0" smtClean="0">
                          <a:latin typeface="Cambria Math" panose="02040503050406030204" pitchFamily="18" charset="0"/>
                          <a:ea typeface="Cambria Math" panose="02040503050406030204" pitchFamily="18" charset="0"/>
                        </a:rPr>
                        <m:t>∙</m:t>
                      </m:r>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m:rPr>
                                  <m:sty m:val="p"/>
                                </m:rPr>
                                <a:rPr lang="en-US" altLang="zh-TW" b="0" dirty="0">
                                  <a:latin typeface="Cambria Math" panose="02040503050406030204" pitchFamily="18" charset="0"/>
                                </a:rPr>
                                <m:t>P</m:t>
                              </m:r>
                            </m:e>
                            <m:sub>
                              <m:r>
                                <m:rPr>
                                  <m:sty m:val="p"/>
                                </m:rPr>
                                <a:rPr lang="en-US" altLang="zh-TW" b="0" dirty="0">
                                  <a:latin typeface="Cambria Math" panose="02040503050406030204" pitchFamily="18" charset="0"/>
                                </a:rPr>
                                <m:t>R</m:t>
                              </m:r>
                            </m:sub>
                          </m:sSub>
                        </m:num>
                        <m:den>
                          <m:r>
                            <m:rPr>
                              <m:sty m:val="p"/>
                            </m:rPr>
                            <a:rPr lang="en-US" altLang="zh-TW" b="0" dirty="0">
                              <a:latin typeface="Cambria Math" panose="02040503050406030204" pitchFamily="18" charset="0"/>
                            </a:rPr>
                            <m:t>P</m:t>
                          </m:r>
                        </m:den>
                      </m:f>
                      <m:r>
                        <a:rPr lang="en-US" altLang="zh-TW" b="0" dirty="0">
                          <a:latin typeface="Cambria Math" panose="02040503050406030204" pitchFamily="18" charset="0"/>
                        </a:rPr>
                        <m:t>∙</m:t>
                      </m:r>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r>
                            <a:rPr lang="en-US" altLang="zh-TW" b="0" i="1" dirty="0">
                              <a:latin typeface="Cambria Math" panose="02040503050406030204" pitchFamily="18" charset="0"/>
                            </a:rPr>
                            <m:t>,</m:t>
                          </m:r>
                          <m:r>
                            <m:rPr>
                              <m:sty m:val="p"/>
                            </m:rPr>
                            <a:rPr lang="en-US" altLang="zh-TW" b="0" i="1" dirty="0">
                              <a:latin typeface="Cambria Math" panose="02040503050406030204" pitchFamily="18" charset="0"/>
                            </a:rPr>
                            <m:t>e</m:t>
                          </m:r>
                        </m:sub>
                      </m:sSub>
                      <m:sSup>
                        <m:sSupPr>
                          <m:ctrlPr>
                            <a:rPr lang="en-US" altLang="zh-TW" b="0" i="1" dirty="0">
                              <a:latin typeface="Cambria Math" panose="02040503050406030204" pitchFamily="18" charset="0"/>
                            </a:rPr>
                          </m:ctrlPr>
                        </m:sSupPr>
                        <m:e>
                          <m:d>
                            <m:dPr>
                              <m:ctrlPr>
                                <a:rPr lang="en-US" altLang="zh-TW" b="0" i="1" dirty="0">
                                  <a:latin typeface="Cambria Math" panose="02040503050406030204" pitchFamily="18" charset="0"/>
                                </a:rPr>
                              </m:ctrlPr>
                            </m:dPr>
                            <m:e>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e>
                          </m:d>
                        </m:e>
                        <m:sup>
                          <m:r>
                            <a:rPr lang="en-US" altLang="zh-TW" b="0" dirty="0">
                              <a:latin typeface="Cambria Math" panose="02040503050406030204" pitchFamily="18" charset="0"/>
                            </a:rPr>
                            <m:t>−</m:t>
                          </m:r>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1</m:t>
                              </m:r>
                            </m:sub>
                          </m:sSub>
                        </m:sup>
                      </m:sSup>
                      <m:r>
                        <a:rPr lang="en-US" altLang="zh-TW" b="0" i="1" dirty="0">
                          <a:latin typeface="Cambria Math" panose="02040503050406030204" pitchFamily="18" charset="0"/>
                        </a:rPr>
                        <m:t>=</m:t>
                      </m:r>
                      <m:r>
                        <a:rPr lang="zh-TW" altLang="en-US" b="0" i="1" dirty="0">
                          <a:latin typeface="Cambria Math" panose="02040503050406030204" pitchFamily="18" charset="0"/>
                        </a:rPr>
                        <m:t> </m:t>
                      </m:r>
                      <m:sSup>
                        <m:sSupPr>
                          <m:ctrlPr>
                            <a:rPr lang="en-US" altLang="zh-TW" b="0" i="1">
                              <a:latin typeface="Cambria Math" panose="02040503050406030204" pitchFamily="18" charset="0"/>
                            </a:rPr>
                          </m:ctrlPr>
                        </m:sSupPr>
                        <m:e>
                          <m:r>
                            <a:rPr lang="en-US" altLang="zh-TW" b="0" i="1">
                              <a:latin typeface="Cambria Math" panose="02040503050406030204" pitchFamily="18" charset="0"/>
                            </a:rPr>
                            <m:t>𝑒</m:t>
                          </m:r>
                        </m:e>
                        <m:sup>
                          <m:r>
                            <m:rPr>
                              <m:sty m:val="p"/>
                            </m:rPr>
                            <a:rPr lang="el-GR" altLang="zh-TW" b="0" i="1">
                              <a:latin typeface="Cambria Math" panose="02040503050406030204" pitchFamily="18" charset="0"/>
                              <a:ea typeface="Cambria Math" panose="02040503050406030204" pitchFamily="18" charset="0"/>
                            </a:rPr>
                            <m:t>Λ</m:t>
                          </m:r>
                        </m:sup>
                      </m:sSup>
                      <m:sSub>
                        <m:sSubPr>
                          <m:ctrlPr>
                            <a:rPr lang="en-US" altLang="zh-TW" b="0" i="1">
                              <a:latin typeface="Cambria Math" panose="02040503050406030204" pitchFamily="18" charset="0"/>
                            </a:rPr>
                          </m:ctrlPr>
                        </m:sSubPr>
                        <m:e>
                          <m:r>
                            <m:rPr>
                              <m:sty m:val="p"/>
                            </m:rPr>
                            <a:rPr lang="en-US" altLang="zh-TW" b="0" i="1">
                              <a:latin typeface="Cambria Math" panose="02040503050406030204" pitchFamily="18" charset="0"/>
                            </a:rPr>
                            <m:t>M</m:t>
                          </m:r>
                        </m:e>
                        <m:sub>
                          <m:r>
                            <m:rPr>
                              <m:sty m:val="p"/>
                            </m:rPr>
                            <a:rPr lang="en-US" altLang="zh-TW" b="0" i="1">
                              <a:latin typeface="Cambria Math" panose="02040503050406030204" pitchFamily="18" charset="0"/>
                            </a:rPr>
                            <m:t>e</m:t>
                          </m:r>
                        </m:sub>
                      </m:sSub>
                    </m:oMath>
                  </m:oMathPara>
                </a14:m>
                <a:endParaRPr lang="en-US" altLang="zh-TW" b="0" dirty="0"/>
              </a:p>
              <a:p>
                <a:pPr>
                  <a:lnSpc>
                    <a:spcPct val="150000"/>
                  </a:lnSpc>
                </a:pPr>
                <a:r>
                  <a:rPr lang="zh-TW" altLang="en-US" b="0" dirty="0"/>
                  <a:t>實證定價核拆解為理論定價核估計項</a:t>
                </a:r>
                <a14:m>
                  <m:oMath xmlns:m="http://schemas.openxmlformats.org/officeDocument/2006/math">
                    <m:sSub>
                      <m:sSubPr>
                        <m:ctrlPr>
                          <a:rPr lang="en-US" altLang="zh-TW" b="0" i="1">
                            <a:latin typeface="Cambria Math" panose="02040503050406030204" pitchFamily="18" charset="0"/>
                          </a:rPr>
                        </m:ctrlPr>
                      </m:sSubPr>
                      <m:e>
                        <m:r>
                          <m:rPr>
                            <m:sty m:val="p"/>
                          </m:rPr>
                          <a:rPr lang="en-US" altLang="zh-TW" b="0" i="1">
                            <a:latin typeface="Cambria Math" panose="02040503050406030204" pitchFamily="18" charset="0"/>
                          </a:rPr>
                          <m:t>M</m:t>
                        </m:r>
                      </m:e>
                      <m:sub>
                        <m:r>
                          <m:rPr>
                            <m:sty m:val="p"/>
                          </m:rPr>
                          <a:rPr lang="en-US" altLang="zh-TW" b="0" i="1">
                            <a:latin typeface="Cambria Math" panose="02040503050406030204" pitchFamily="18" charset="0"/>
                          </a:rPr>
                          <m:t>e</m:t>
                        </m:r>
                      </m:sub>
                    </m:sSub>
                  </m:oMath>
                </a14:m>
                <a:r>
                  <a:rPr lang="zh-TW" altLang="en-US" b="0" dirty="0"/>
                  <a:t>與代表性投資人情緒估計項</a:t>
                </a:r>
                <a14:m>
                  <m:oMath xmlns:m="http://schemas.openxmlformats.org/officeDocument/2006/math">
                    <m:r>
                      <m:rPr>
                        <m:sty m:val="p"/>
                      </m:rPr>
                      <a:rPr lang="el-GR" altLang="zh-TW" b="0" i="1">
                        <a:latin typeface="Cambria Math" panose="02040503050406030204" pitchFamily="18" charset="0"/>
                        <a:ea typeface="Cambria Math" panose="02040503050406030204" pitchFamily="18" charset="0"/>
                      </a:rPr>
                      <m:t>Λ</m:t>
                    </m:r>
                  </m:oMath>
                </a14:m>
                <a:endParaRPr lang="en-US" altLang="zh-TW" b="0" dirty="0"/>
              </a:p>
              <a:p>
                <a:pPr>
                  <a:lnSpc>
                    <a:spcPct val="100000"/>
                  </a:lnSpc>
                </a:pPr>
                <a:endParaRPr lang="zh-TW" altLang="en-US" b="0" dirty="0"/>
              </a:p>
            </p:txBody>
          </p:sp>
        </mc:Choice>
        <mc:Fallback xmlns="">
          <p:sp>
            <p:nvSpPr>
              <p:cNvPr id="7" name="內容版面配置區 6">
                <a:extLst>
                  <a:ext uri="{FF2B5EF4-FFF2-40B4-BE49-F238E27FC236}">
                    <a16:creationId xmlns:a16="http://schemas.microsoft.com/office/drawing/2014/main" id="{EF0A0C33-38DE-A09E-9751-59FF5BF5865E}"/>
                  </a:ext>
                </a:extLst>
              </p:cNvPr>
              <p:cNvSpPr>
                <a:spLocks noGrp="1" noRot="1" noChangeAspect="1" noMove="1" noResize="1" noEditPoints="1" noAdjustHandles="1" noChangeArrowheads="1" noChangeShapeType="1" noTextEdit="1"/>
              </p:cNvSpPr>
              <p:nvPr>
                <p:ph sz="quarter" idx="14"/>
              </p:nvPr>
            </p:nvSpPr>
            <p:spPr>
              <a:xfrm>
                <a:off x="422438" y="866223"/>
                <a:ext cx="11595391" cy="5727410"/>
              </a:xfrm>
              <a:blipFill>
                <a:blip r:embed="rId2"/>
                <a:stretch>
                  <a:fillRect l="-526" t="-5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305330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1DE477E3-EC35-6077-C371-0181E36433D1}"/>
              </a:ext>
            </a:extLst>
          </p:cNvPr>
          <p:cNvSpPr>
            <a:spLocks noGrp="1"/>
          </p:cNvSpPr>
          <p:nvPr>
            <p:ph type="body" sz="quarter" idx="10"/>
          </p:nvPr>
        </p:nvSpPr>
        <p:spPr>
          <a:xfrm>
            <a:off x="2098386" y="200315"/>
            <a:ext cx="6124994" cy="436563"/>
          </a:xfrm>
        </p:spPr>
        <p:txBody>
          <a:bodyPr/>
          <a:lstStyle/>
          <a:p>
            <a:r>
              <a:rPr lang="zh-TW" altLang="en-US" dirty="0"/>
              <a:t>定價核轉換投資者情緒代理變數</a:t>
            </a:r>
          </a:p>
          <a:p>
            <a:endParaRPr lang="zh-TW" altLang="en-US" dirty="0"/>
          </a:p>
        </p:txBody>
      </p:sp>
      <p:sp>
        <p:nvSpPr>
          <p:cNvPr id="4" name="內容版面配置區 3">
            <a:extLst>
              <a:ext uri="{FF2B5EF4-FFF2-40B4-BE49-F238E27FC236}">
                <a16:creationId xmlns:a16="http://schemas.microsoft.com/office/drawing/2014/main" id="{50F4DF12-54D0-E4B6-B34D-DFE94AB1BE8E}"/>
              </a:ext>
            </a:extLst>
          </p:cNvPr>
          <p:cNvSpPr>
            <a:spLocks noGrp="1"/>
          </p:cNvSpPr>
          <p:nvPr>
            <p:ph sz="quarter" idx="11"/>
          </p:nvPr>
        </p:nvSpPr>
        <p:spPr/>
        <p:txBody>
          <a:bodyPr/>
          <a:lstStyle/>
          <a:p>
            <a:r>
              <a:rPr lang="en-US" altLang="zh-TW" dirty="0"/>
              <a:t>3.1</a:t>
            </a:r>
            <a:endParaRPr lang="zh-TW" altLang="en-US" dirty="0"/>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EF0A0C33-38DE-A09E-9751-59FF5BF5865E}"/>
                  </a:ext>
                </a:extLst>
              </p:cNvPr>
              <p:cNvSpPr>
                <a:spLocks noGrp="1"/>
              </p:cNvSpPr>
              <p:nvPr>
                <p:ph sz="quarter" idx="14"/>
              </p:nvPr>
            </p:nvSpPr>
            <p:spPr>
              <a:xfrm>
                <a:off x="422438" y="866223"/>
                <a:ext cx="11595391" cy="5727410"/>
              </a:xfrm>
            </p:spPr>
            <p:txBody>
              <a:bodyPr/>
              <a:lstStyle/>
              <a:p>
                <a:pPr>
                  <a:lnSpc>
                    <a:spcPct val="100000"/>
                  </a:lnSpc>
                </a:pPr>
                <a14:m>
                  <m:oMathPara xmlns:m="http://schemas.openxmlformats.org/officeDocument/2006/math">
                    <m:oMathParaPr>
                      <m:jc m:val="centerGroup"/>
                    </m:oMathParaPr>
                    <m:oMath xmlns:m="http://schemas.openxmlformats.org/officeDocument/2006/math">
                      <m:func>
                        <m:funcPr>
                          <m:ctrlPr>
                            <a:rPr lang="en-US" altLang="zh-TW" b="0" i="1">
                              <a:latin typeface="Cambria Math" panose="02040503050406030204" pitchFamily="18" charset="0"/>
                              <a:ea typeface="Cambria Math" panose="02040503050406030204" pitchFamily="18" charset="0"/>
                            </a:rPr>
                          </m:ctrlPr>
                        </m:funcPr>
                        <m:fName>
                          <m:r>
                            <m:rPr>
                              <m:sty m:val="p"/>
                            </m:rPr>
                            <a:rPr lang="en-US" altLang="zh-TW" b="0">
                              <a:latin typeface="Cambria Math" panose="02040503050406030204" pitchFamily="18" charset="0"/>
                              <a:ea typeface="Cambria Math" panose="02040503050406030204" pitchFamily="18" charset="0"/>
                            </a:rPr>
                            <m:t>ln</m:t>
                          </m:r>
                        </m:fName>
                        <m:e>
                          <m:d>
                            <m:dPr>
                              <m:ctrlPr>
                                <a:rPr lang="en-US" altLang="zh-TW" b="0" i="1">
                                  <a:latin typeface="Cambria Math" panose="02040503050406030204" pitchFamily="18" charset="0"/>
                                  <a:ea typeface="Cambria Math" panose="02040503050406030204" pitchFamily="18" charset="0"/>
                                </a:rPr>
                              </m:ctrlPr>
                            </m:dPr>
                            <m:e>
                              <m:r>
                                <a:rPr lang="en-US" altLang="zh-TW" b="0" i="1">
                                  <a:latin typeface="Cambria Math" panose="02040503050406030204" pitchFamily="18" charset="0"/>
                                  <a:ea typeface="Cambria Math" panose="02040503050406030204" pitchFamily="18" charset="0"/>
                                </a:rPr>
                                <m:t>𝑀</m:t>
                              </m:r>
                            </m:e>
                          </m:d>
                        </m:e>
                      </m:func>
                      <m:r>
                        <a:rPr lang="en-US" altLang="zh-TW" b="0" i="1">
                          <a:latin typeface="Cambria Math" panose="02040503050406030204" pitchFamily="18" charset="0"/>
                          <a:ea typeface="Cambria Math" panose="02040503050406030204" pitchFamily="18" charset="0"/>
                        </a:rPr>
                        <m:t>=</m:t>
                      </m:r>
                      <m:r>
                        <m:rPr>
                          <m:sty m:val="p"/>
                        </m:rPr>
                        <a:rPr lang="el-GR" altLang="zh-TW" b="0" i="1">
                          <a:latin typeface="Cambria Math" panose="02040503050406030204" pitchFamily="18" charset="0"/>
                          <a:ea typeface="Cambria Math" panose="02040503050406030204" pitchFamily="18" charset="0"/>
                        </a:rPr>
                        <m:t>Λ</m:t>
                      </m:r>
                      <m:r>
                        <a:rPr lang="en-US" altLang="zh-TW" b="0" i="1">
                          <a:latin typeface="Cambria Math" panose="02040503050406030204" pitchFamily="18" charset="0"/>
                          <a:ea typeface="Cambria Math" panose="02040503050406030204" pitchFamily="18" charset="0"/>
                        </a:rPr>
                        <m:t>+</m:t>
                      </m:r>
                      <m:func>
                        <m:funcPr>
                          <m:ctrlPr>
                            <a:rPr lang="en-US" altLang="zh-TW" b="0" i="1">
                              <a:latin typeface="Cambria Math" panose="02040503050406030204" pitchFamily="18" charset="0"/>
                              <a:ea typeface="Cambria Math" panose="02040503050406030204" pitchFamily="18" charset="0"/>
                            </a:rPr>
                          </m:ctrlPr>
                        </m:funcPr>
                        <m:fName>
                          <m:r>
                            <m:rPr>
                              <m:sty m:val="p"/>
                            </m:rPr>
                            <a:rPr lang="en-US" altLang="zh-TW" b="0">
                              <a:latin typeface="Cambria Math" panose="02040503050406030204" pitchFamily="18" charset="0"/>
                              <a:ea typeface="Cambria Math" panose="02040503050406030204" pitchFamily="18" charset="0"/>
                            </a:rPr>
                            <m:t>ln</m:t>
                          </m:r>
                        </m:fName>
                        <m:e>
                          <m:d>
                            <m:dPr>
                              <m:ctrlPr>
                                <a:rPr lang="en-US" altLang="zh-TW" b="0" i="1">
                                  <a:latin typeface="Cambria Math" panose="02040503050406030204" pitchFamily="18" charset="0"/>
                                  <a:ea typeface="Cambria Math" panose="02040503050406030204" pitchFamily="18" charset="0"/>
                                </a:rPr>
                              </m:ctrlPr>
                            </m:dPr>
                            <m:e>
                              <m:sSub>
                                <m:sSubPr>
                                  <m:ctrlPr>
                                    <a:rPr lang="en-US" altLang="zh-TW" b="0" i="1">
                                      <a:latin typeface="Cambria Math" panose="02040503050406030204" pitchFamily="18" charset="0"/>
                                    </a:rPr>
                                  </m:ctrlPr>
                                </m:sSubPr>
                                <m:e>
                                  <m:r>
                                    <m:rPr>
                                      <m:sty m:val="p"/>
                                    </m:rPr>
                                    <a:rPr lang="en-US" altLang="zh-TW" b="0" i="1">
                                      <a:latin typeface="Cambria Math" panose="02040503050406030204" pitchFamily="18" charset="0"/>
                                    </a:rPr>
                                    <m:t>M</m:t>
                                  </m:r>
                                </m:e>
                                <m:sub>
                                  <m:r>
                                    <m:rPr>
                                      <m:sty m:val="p"/>
                                    </m:rPr>
                                    <a:rPr lang="en-US" altLang="zh-TW" b="0" i="1">
                                      <a:latin typeface="Cambria Math" panose="02040503050406030204" pitchFamily="18" charset="0"/>
                                    </a:rPr>
                                    <m:t>e</m:t>
                                  </m:r>
                                </m:sub>
                              </m:sSub>
                            </m:e>
                          </m:d>
                        </m:e>
                      </m:func>
                      <m:r>
                        <a:rPr lang="en-US" altLang="zh-TW" b="0" i="1">
                          <a:latin typeface="Cambria Math" panose="02040503050406030204" pitchFamily="18" charset="0"/>
                          <a:ea typeface="Cambria Math" panose="02040503050406030204" pitchFamily="18" charset="0"/>
                        </a:rPr>
                        <m:t>=</m:t>
                      </m:r>
                      <m:r>
                        <m:rPr>
                          <m:sty m:val="p"/>
                        </m:rPr>
                        <a:rPr lang="el-GR" altLang="zh-TW" b="0" i="1">
                          <a:latin typeface="Cambria Math" panose="02040503050406030204" pitchFamily="18" charset="0"/>
                          <a:ea typeface="Cambria Math" panose="02040503050406030204" pitchFamily="18" charset="0"/>
                        </a:rPr>
                        <m:t>Λ</m:t>
                      </m:r>
                      <m:r>
                        <a:rPr lang="en-US" altLang="zh-TW" b="0" i="1">
                          <a:latin typeface="Cambria Math" panose="02040503050406030204" pitchFamily="18" charset="0"/>
                          <a:ea typeface="Cambria Math" panose="02040503050406030204" pitchFamily="18" charset="0"/>
                        </a:rPr>
                        <m:t>+</m:t>
                      </m:r>
                      <m:func>
                        <m:funcPr>
                          <m:ctrlPr>
                            <a:rPr lang="en-US" altLang="zh-TW" b="0" i="1">
                              <a:latin typeface="Cambria Math" panose="02040503050406030204" pitchFamily="18" charset="0"/>
                              <a:ea typeface="Cambria Math" panose="02040503050406030204" pitchFamily="18" charset="0"/>
                            </a:rPr>
                          </m:ctrlPr>
                        </m:funcPr>
                        <m:fName>
                          <m:r>
                            <m:rPr>
                              <m:sty m:val="p"/>
                            </m:rPr>
                            <a:rPr lang="en-US" altLang="zh-TW" b="0">
                              <a:latin typeface="Cambria Math" panose="02040503050406030204" pitchFamily="18" charset="0"/>
                              <a:ea typeface="Cambria Math" panose="02040503050406030204" pitchFamily="18" charset="0"/>
                            </a:rPr>
                            <m:t>ln</m:t>
                          </m:r>
                        </m:fName>
                        <m:e>
                          <m:d>
                            <m:dPr>
                              <m:ctrlPr>
                                <a:rPr lang="en-US" altLang="zh-TW" b="0" i="1">
                                  <a:latin typeface="Cambria Math" panose="02040503050406030204" pitchFamily="18" charset="0"/>
                                  <a:ea typeface="Cambria Math" panose="02040503050406030204" pitchFamily="18" charset="0"/>
                                </a:rPr>
                              </m:ctrlPr>
                            </m:dPr>
                            <m:e>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0</m:t>
                                  </m:r>
                                  <m:r>
                                    <a:rPr lang="en-US" altLang="zh-TW" b="0" i="1" dirty="0">
                                      <a:latin typeface="Cambria Math" panose="02040503050406030204" pitchFamily="18" charset="0"/>
                                    </a:rPr>
                                    <m:t>,</m:t>
                                  </m:r>
                                  <m:r>
                                    <m:rPr>
                                      <m:sty m:val="p"/>
                                    </m:rPr>
                                    <a:rPr lang="en-US" altLang="zh-TW" b="0" i="1" dirty="0">
                                      <a:latin typeface="Cambria Math" panose="02040503050406030204" pitchFamily="18" charset="0"/>
                                    </a:rPr>
                                    <m:t>e</m:t>
                                  </m:r>
                                </m:sub>
                              </m:sSub>
                            </m:e>
                          </m:d>
                        </m:e>
                      </m:func>
                      <m:r>
                        <a:rPr lang="en-US" altLang="zh-TW" b="0" i="1">
                          <a:latin typeface="Cambria Math" panose="02040503050406030204" pitchFamily="18" charset="0"/>
                          <a:ea typeface="Cambria Math" panose="02040503050406030204" pitchFamily="18" charset="0"/>
                        </a:rPr>
                        <m:t>−</m:t>
                      </m:r>
                      <m:sSub>
                        <m:sSubPr>
                          <m:ctrlPr>
                            <a:rPr lang="en-US" altLang="zh-TW" b="0" i="1" dirty="0">
                              <a:latin typeface="Cambria Math" panose="02040503050406030204" pitchFamily="18" charset="0"/>
                            </a:rPr>
                          </m:ctrlPr>
                        </m:sSubPr>
                        <m:e>
                          <m:r>
                            <a:rPr lang="zh-TW" altLang="en-US" b="0" dirty="0">
                              <a:latin typeface="Cambria Math" panose="02040503050406030204" pitchFamily="18" charset="0"/>
                            </a:rPr>
                            <m:t>𝜃</m:t>
                          </m:r>
                        </m:e>
                        <m:sub>
                          <m:r>
                            <a:rPr lang="en-US" altLang="zh-TW" b="0" dirty="0">
                              <a:latin typeface="Cambria Math" panose="02040503050406030204" pitchFamily="18" charset="0"/>
                            </a:rPr>
                            <m:t>1</m:t>
                          </m:r>
                        </m:sub>
                      </m:sSub>
                      <m:r>
                        <m:rPr>
                          <m:sty m:val="p"/>
                        </m:rPr>
                        <a:rPr lang="en-US" altLang="zh-TW" b="0" dirty="0">
                          <a:latin typeface="Cambria Math" panose="02040503050406030204" pitchFamily="18" charset="0"/>
                        </a:rPr>
                        <m:t>ln</m:t>
                      </m:r>
                      <m:r>
                        <a:rPr lang="en-US" altLang="zh-TW" b="0" i="1" dirty="0">
                          <a:latin typeface="Cambria Math" panose="02040503050406030204" pitchFamily="18" charset="0"/>
                        </a:rPr>
                        <m:t>⁡(</m:t>
                      </m:r>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r>
                        <a:rPr lang="en-US" altLang="zh-TW" b="0" i="1" dirty="0">
                          <a:latin typeface="Cambria Math" panose="02040503050406030204" pitchFamily="18" charset="0"/>
                        </a:rPr>
                        <m:t>)</m:t>
                      </m:r>
                    </m:oMath>
                  </m:oMathPara>
                </a14:m>
                <a:endParaRPr lang="en-US" altLang="zh-TW" b="0" dirty="0"/>
              </a:p>
              <a:p>
                <a:pPr>
                  <a:lnSpc>
                    <a:spcPct val="100000"/>
                  </a:lnSpc>
                </a:pPr>
                <a:r>
                  <a:rPr lang="zh-TW" altLang="en-US" b="0" dirty="0"/>
                  <a:t>運用</a:t>
                </a:r>
                <a14:m>
                  <m:oMath xmlns:m="http://schemas.openxmlformats.org/officeDocument/2006/math">
                    <m:func>
                      <m:funcPr>
                        <m:ctrlPr>
                          <a:rPr lang="en-US" altLang="zh-TW" b="0" i="1">
                            <a:latin typeface="Cambria Math" panose="02040503050406030204" pitchFamily="18" charset="0"/>
                            <a:ea typeface="Cambria Math" panose="02040503050406030204" pitchFamily="18" charset="0"/>
                          </a:rPr>
                        </m:ctrlPr>
                      </m:funcPr>
                      <m:fName>
                        <m:r>
                          <m:rPr>
                            <m:sty m:val="p"/>
                          </m:rPr>
                          <a:rPr lang="en-US" altLang="zh-TW" b="0">
                            <a:latin typeface="Cambria Math" panose="02040503050406030204" pitchFamily="18" charset="0"/>
                            <a:ea typeface="Cambria Math" panose="02040503050406030204" pitchFamily="18" charset="0"/>
                          </a:rPr>
                          <m:t>ln</m:t>
                        </m:r>
                      </m:fName>
                      <m:e>
                        <m:d>
                          <m:dPr>
                            <m:ctrlPr>
                              <a:rPr lang="en-US" altLang="zh-TW" b="0" i="1">
                                <a:latin typeface="Cambria Math" panose="02040503050406030204" pitchFamily="18" charset="0"/>
                                <a:ea typeface="Cambria Math" panose="02040503050406030204" pitchFamily="18" charset="0"/>
                              </a:rPr>
                            </m:ctrlPr>
                          </m:dPr>
                          <m:e>
                            <m:r>
                              <a:rPr lang="en-US" altLang="zh-TW" b="0" i="1">
                                <a:latin typeface="Cambria Math" panose="02040503050406030204" pitchFamily="18" charset="0"/>
                                <a:ea typeface="Cambria Math" panose="02040503050406030204" pitchFamily="18" charset="0"/>
                              </a:rPr>
                              <m:t>𝑀</m:t>
                            </m:r>
                          </m:e>
                        </m:d>
                      </m:e>
                    </m:func>
                  </m:oMath>
                </a14:m>
                <a:r>
                  <a:rPr lang="zh-TW" altLang="en-US" b="0" dirty="0"/>
                  <a:t>及</a:t>
                </a:r>
                <a14:m>
                  <m:oMath xmlns:m="http://schemas.openxmlformats.org/officeDocument/2006/math">
                    <m:r>
                      <m:rPr>
                        <m:sty m:val="p"/>
                      </m:rPr>
                      <a:rPr lang="en-US" altLang="zh-TW" b="0" dirty="0">
                        <a:latin typeface="Cambria Math" panose="02040503050406030204" pitchFamily="18" charset="0"/>
                      </a:rPr>
                      <m:t>ln</m:t>
                    </m:r>
                    <m:r>
                      <a:rPr lang="en-US" altLang="zh-TW" b="0" i="1" dirty="0">
                        <a:latin typeface="Cambria Math" panose="02040503050406030204" pitchFamily="18" charset="0"/>
                      </a:rPr>
                      <m:t>⁡(</m:t>
                    </m:r>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r>
                      <a:rPr lang="en-US" altLang="zh-TW" b="0" i="1" dirty="0">
                        <a:latin typeface="Cambria Math" panose="02040503050406030204" pitchFamily="18" charset="0"/>
                      </a:rPr>
                      <m:t>)</m:t>
                    </m:r>
                  </m:oMath>
                </a14:m>
                <a:r>
                  <a:rPr lang="zh-TW" altLang="en-US" b="0" dirty="0"/>
                  <a:t>進行</a:t>
                </a:r>
                <a:r>
                  <a:rPr lang="en-US" altLang="zh-TW" b="0" dirty="0"/>
                  <a:t>log-log </a:t>
                </a:r>
                <a:r>
                  <a:rPr lang="zh-TW" altLang="en-US" b="0" dirty="0"/>
                  <a:t>迴歸可得</a:t>
                </a:r>
                <a14:m>
                  <m:oMath xmlns:m="http://schemas.openxmlformats.org/officeDocument/2006/math">
                    <m:func>
                      <m:funcPr>
                        <m:ctrlPr>
                          <a:rPr lang="en-US" altLang="zh-TW" b="0" i="1">
                            <a:latin typeface="Cambria Math" panose="02040503050406030204" pitchFamily="18" charset="0"/>
                            <a:ea typeface="Cambria Math" panose="02040503050406030204" pitchFamily="18" charset="0"/>
                          </a:rPr>
                        </m:ctrlPr>
                      </m:funcPr>
                      <m:fName>
                        <m:r>
                          <m:rPr>
                            <m:sty m:val="p"/>
                          </m:rPr>
                          <a:rPr lang="en-US" altLang="zh-TW" b="0">
                            <a:latin typeface="Cambria Math" panose="02040503050406030204" pitchFamily="18" charset="0"/>
                            <a:ea typeface="Cambria Math" panose="02040503050406030204" pitchFamily="18" charset="0"/>
                          </a:rPr>
                          <m:t>ln</m:t>
                        </m:r>
                      </m:fName>
                      <m:e>
                        <m:d>
                          <m:dPr>
                            <m:ctrlPr>
                              <a:rPr lang="en-US" altLang="zh-TW" b="0" i="1">
                                <a:latin typeface="Cambria Math" panose="02040503050406030204" pitchFamily="18" charset="0"/>
                                <a:ea typeface="Cambria Math" panose="02040503050406030204" pitchFamily="18" charset="0"/>
                              </a:rPr>
                            </m:ctrlPr>
                          </m:dPr>
                          <m:e>
                            <m:sSub>
                              <m:sSubPr>
                                <m:ctrlPr>
                                  <a:rPr lang="en-US" altLang="zh-TW" b="0" i="1" dirty="0">
                                    <a:latin typeface="Cambria Math" panose="02040503050406030204" pitchFamily="18" charset="0"/>
                                  </a:rPr>
                                </m:ctrlPr>
                              </m:sSubPr>
                              <m:e>
                                <m:acc>
                                  <m:accPr>
                                    <m:chr m:val="̂"/>
                                    <m:ctrlPr>
                                      <a:rPr lang="en-US" altLang="zh-TW" b="0" i="1" dirty="0">
                                        <a:latin typeface="Cambria Math" panose="02040503050406030204" pitchFamily="18" charset="0"/>
                                        <a:ea typeface="Cambria Math" panose="02040503050406030204" pitchFamily="18" charset="0"/>
                                      </a:rPr>
                                    </m:ctrlPr>
                                  </m:accPr>
                                  <m:e>
                                    <m:r>
                                      <a:rPr lang="zh-TW" altLang="en-US" b="0" dirty="0">
                                        <a:latin typeface="Cambria Math" panose="02040503050406030204" pitchFamily="18" charset="0"/>
                                      </a:rPr>
                                      <m:t>𝜃</m:t>
                                    </m:r>
                                  </m:e>
                                </m:acc>
                              </m:e>
                              <m:sub>
                                <m:r>
                                  <a:rPr lang="en-US" altLang="zh-TW" b="0" dirty="0">
                                    <a:latin typeface="Cambria Math" panose="02040503050406030204" pitchFamily="18" charset="0"/>
                                  </a:rPr>
                                  <m:t>0</m:t>
                                </m:r>
                                <m:r>
                                  <a:rPr lang="en-US" altLang="zh-TW" b="0" i="1" dirty="0">
                                    <a:latin typeface="Cambria Math" panose="02040503050406030204" pitchFamily="18" charset="0"/>
                                  </a:rPr>
                                  <m:t>,</m:t>
                                </m:r>
                                <m:r>
                                  <m:rPr>
                                    <m:sty m:val="p"/>
                                  </m:rPr>
                                  <a:rPr lang="en-US" altLang="zh-TW" b="0" i="1" dirty="0">
                                    <a:latin typeface="Cambria Math" panose="02040503050406030204" pitchFamily="18" charset="0"/>
                                  </a:rPr>
                                  <m:t>e</m:t>
                                </m:r>
                              </m:sub>
                            </m:sSub>
                          </m:e>
                        </m:d>
                      </m:e>
                    </m:func>
                    <m:r>
                      <a:rPr lang="zh-TW" altLang="en-US" b="0" i="1" dirty="0">
                        <a:latin typeface="Cambria Math" panose="02040503050406030204" pitchFamily="18" charset="0"/>
                      </a:rPr>
                      <m:t>、</m:t>
                    </m:r>
                    <m:sSub>
                      <m:sSubPr>
                        <m:ctrlPr>
                          <a:rPr lang="en-US" altLang="zh-TW" b="0" i="1" dirty="0">
                            <a:latin typeface="Cambria Math" panose="02040503050406030204" pitchFamily="18" charset="0"/>
                          </a:rPr>
                        </m:ctrlPr>
                      </m:sSubPr>
                      <m:e>
                        <m:acc>
                          <m:accPr>
                            <m:chr m:val="̂"/>
                            <m:ctrlPr>
                              <a:rPr lang="en-US" altLang="zh-TW" b="0" i="1" dirty="0">
                                <a:latin typeface="Cambria Math" panose="02040503050406030204" pitchFamily="18" charset="0"/>
                                <a:ea typeface="Cambria Math" panose="02040503050406030204" pitchFamily="18" charset="0"/>
                              </a:rPr>
                            </m:ctrlPr>
                          </m:accPr>
                          <m:e>
                            <m:r>
                              <a:rPr lang="zh-TW" altLang="en-US" b="0" dirty="0">
                                <a:latin typeface="Cambria Math" panose="02040503050406030204" pitchFamily="18" charset="0"/>
                              </a:rPr>
                              <m:t>𝜃</m:t>
                            </m:r>
                          </m:e>
                        </m:acc>
                      </m:e>
                      <m:sub>
                        <m:r>
                          <a:rPr lang="en-US" altLang="zh-TW" b="0" dirty="0">
                            <a:latin typeface="Cambria Math" panose="02040503050406030204" pitchFamily="18" charset="0"/>
                          </a:rPr>
                          <m:t>1</m:t>
                        </m:r>
                      </m:sub>
                    </m:sSub>
                  </m:oMath>
                </a14:m>
                <a:r>
                  <a:rPr lang="zh-TW" altLang="en-US" b="0" dirty="0"/>
                  <a:t>後可估計理論定價核</a:t>
                </a:r>
                <a14:m>
                  <m:oMath xmlns:m="http://schemas.openxmlformats.org/officeDocument/2006/math">
                    <m:sSub>
                      <m:sSubPr>
                        <m:ctrlPr>
                          <a:rPr lang="en-US" altLang="zh-TW" b="0" i="1">
                            <a:latin typeface="Cambria Math" panose="02040503050406030204" pitchFamily="18" charset="0"/>
                          </a:rPr>
                        </m:ctrlPr>
                      </m:sSubPr>
                      <m:e>
                        <m:r>
                          <m:rPr>
                            <m:sty m:val="p"/>
                          </m:rPr>
                          <a:rPr lang="en-US" altLang="zh-TW" b="0" i="1">
                            <a:latin typeface="Cambria Math" panose="02040503050406030204" pitchFamily="18" charset="0"/>
                          </a:rPr>
                          <m:t>M</m:t>
                        </m:r>
                      </m:e>
                      <m:sub>
                        <m:r>
                          <m:rPr>
                            <m:sty m:val="p"/>
                          </m:rPr>
                          <a:rPr lang="en-US" altLang="zh-TW" b="0" i="1">
                            <a:latin typeface="Cambria Math" panose="02040503050406030204" pitchFamily="18" charset="0"/>
                          </a:rPr>
                          <m:t>e</m:t>
                        </m:r>
                      </m:sub>
                    </m:sSub>
                  </m:oMath>
                </a14:m>
                <a:endParaRPr lang="en-US" altLang="zh-TW" b="0" dirty="0"/>
              </a:p>
              <a:p>
                <a:pPr>
                  <a:lnSpc>
                    <a:spcPct val="100000"/>
                  </a:lnSpc>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ln</m:t>
                          </m:r>
                        </m:fName>
                        <m:e>
                          <m:d>
                            <m:dPr>
                              <m:ctrlPr>
                                <a:rPr lang="en-US" altLang="zh-TW" b="0" i="1" smtClean="0">
                                  <a:latin typeface="Cambria Math" panose="02040503050406030204" pitchFamily="18" charset="0"/>
                                  <a:ea typeface="Cambria Math" panose="02040503050406030204" pitchFamily="18" charset="0"/>
                                </a:rPr>
                              </m:ctrlPr>
                            </m:dPr>
                            <m:e>
                              <m:acc>
                                <m:accPr>
                                  <m:chr m:val="̂"/>
                                  <m:ctrlPr>
                                    <a:rPr lang="en-US" altLang="zh-TW" b="0" i="1" smtClean="0">
                                      <a:latin typeface="Cambria Math" panose="02040503050406030204" pitchFamily="18" charset="0"/>
                                      <a:ea typeface="Cambria Math" panose="02040503050406030204" pitchFamily="18" charset="0"/>
                                    </a:rPr>
                                  </m:ctrlPr>
                                </m:accPr>
                                <m:e>
                                  <m:sSub>
                                    <m:sSubPr>
                                      <m:ctrlPr>
                                        <a:rPr lang="en-US" altLang="zh-TW" b="0" i="1">
                                          <a:latin typeface="Cambria Math" panose="02040503050406030204" pitchFamily="18" charset="0"/>
                                        </a:rPr>
                                      </m:ctrlPr>
                                    </m:sSubPr>
                                    <m:e>
                                      <m:r>
                                        <m:rPr>
                                          <m:sty m:val="p"/>
                                        </m:rPr>
                                        <a:rPr lang="en-US" altLang="zh-TW" b="0" i="1">
                                          <a:latin typeface="Cambria Math" panose="02040503050406030204" pitchFamily="18" charset="0"/>
                                        </a:rPr>
                                        <m:t>M</m:t>
                                      </m:r>
                                    </m:e>
                                    <m:sub>
                                      <m:r>
                                        <m:rPr>
                                          <m:sty m:val="p"/>
                                        </m:rPr>
                                        <a:rPr lang="en-US" altLang="zh-TW" b="0" i="1">
                                          <a:latin typeface="Cambria Math" panose="02040503050406030204" pitchFamily="18" charset="0"/>
                                        </a:rPr>
                                        <m:t>e</m:t>
                                      </m:r>
                                    </m:sub>
                                  </m:sSub>
                                </m:e>
                              </m:acc>
                            </m:e>
                          </m:d>
                        </m:e>
                      </m:func>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ln</m:t>
                          </m:r>
                        </m:fName>
                        <m:e>
                          <m:d>
                            <m:dPr>
                              <m:ctrlPr>
                                <a:rPr lang="en-US" altLang="zh-TW" b="0" i="1" smtClean="0">
                                  <a:latin typeface="Cambria Math" panose="02040503050406030204" pitchFamily="18" charset="0"/>
                                  <a:ea typeface="Cambria Math" panose="02040503050406030204" pitchFamily="18" charset="0"/>
                                </a:rPr>
                              </m:ctrlPr>
                            </m:dPr>
                            <m:e>
                              <m:sSub>
                                <m:sSubPr>
                                  <m:ctrlPr>
                                    <a:rPr lang="en-US" altLang="zh-TW" b="0" i="1" dirty="0">
                                      <a:latin typeface="Cambria Math" panose="02040503050406030204" pitchFamily="18" charset="0"/>
                                    </a:rPr>
                                  </m:ctrlPr>
                                </m:sSubPr>
                                <m:e>
                                  <m:acc>
                                    <m:accPr>
                                      <m:chr m:val="̂"/>
                                      <m:ctrlPr>
                                        <a:rPr lang="en-US" altLang="zh-TW" b="0" i="1" dirty="0" smtClean="0">
                                          <a:latin typeface="Cambria Math" panose="02040503050406030204" pitchFamily="18" charset="0"/>
                                          <a:ea typeface="Cambria Math" panose="02040503050406030204" pitchFamily="18" charset="0"/>
                                        </a:rPr>
                                      </m:ctrlPr>
                                    </m:accPr>
                                    <m:e>
                                      <m:r>
                                        <a:rPr lang="zh-TW" altLang="en-US" b="0" dirty="0">
                                          <a:latin typeface="Cambria Math" panose="02040503050406030204" pitchFamily="18" charset="0"/>
                                        </a:rPr>
                                        <m:t>𝜃</m:t>
                                      </m:r>
                                    </m:e>
                                  </m:acc>
                                </m:e>
                                <m:sub>
                                  <m:r>
                                    <a:rPr lang="en-US" altLang="zh-TW" b="0" dirty="0">
                                      <a:latin typeface="Cambria Math" panose="02040503050406030204" pitchFamily="18" charset="0"/>
                                    </a:rPr>
                                    <m:t>0</m:t>
                                  </m:r>
                                  <m:r>
                                    <a:rPr lang="en-US" altLang="zh-TW" b="0" i="1" dirty="0">
                                      <a:latin typeface="Cambria Math" panose="02040503050406030204" pitchFamily="18" charset="0"/>
                                    </a:rPr>
                                    <m:t>,</m:t>
                                  </m:r>
                                  <m:r>
                                    <m:rPr>
                                      <m:sty m:val="p"/>
                                    </m:rPr>
                                    <a:rPr lang="en-US" altLang="zh-TW" b="0" i="1" dirty="0">
                                      <a:latin typeface="Cambria Math" panose="02040503050406030204" pitchFamily="18" charset="0"/>
                                    </a:rPr>
                                    <m:t>e</m:t>
                                  </m:r>
                                </m:sub>
                              </m:sSub>
                            </m:e>
                          </m:d>
                        </m:e>
                      </m:func>
                      <m:r>
                        <a:rPr lang="en-US" altLang="zh-TW" b="0" i="1" smtClean="0">
                          <a:latin typeface="Cambria Math" panose="02040503050406030204" pitchFamily="18" charset="0"/>
                          <a:ea typeface="Cambria Math" panose="02040503050406030204" pitchFamily="18" charset="0"/>
                        </a:rPr>
                        <m:t>−</m:t>
                      </m:r>
                      <m:sSub>
                        <m:sSubPr>
                          <m:ctrlPr>
                            <a:rPr lang="en-US" altLang="zh-TW" b="0" i="1" dirty="0">
                              <a:latin typeface="Cambria Math" panose="02040503050406030204" pitchFamily="18" charset="0"/>
                            </a:rPr>
                          </m:ctrlPr>
                        </m:sSubPr>
                        <m:e>
                          <m:acc>
                            <m:accPr>
                              <m:chr m:val="̂"/>
                              <m:ctrlPr>
                                <a:rPr lang="en-US" altLang="zh-TW" b="0" i="1" dirty="0" smtClean="0">
                                  <a:latin typeface="Cambria Math" panose="02040503050406030204" pitchFamily="18" charset="0"/>
                                  <a:ea typeface="Cambria Math" panose="02040503050406030204" pitchFamily="18" charset="0"/>
                                </a:rPr>
                              </m:ctrlPr>
                            </m:accPr>
                            <m:e>
                              <m:r>
                                <a:rPr lang="zh-TW" altLang="en-US" b="0" dirty="0">
                                  <a:latin typeface="Cambria Math" panose="02040503050406030204" pitchFamily="18" charset="0"/>
                                </a:rPr>
                                <m:t>𝜃</m:t>
                              </m:r>
                            </m:e>
                          </m:acc>
                        </m:e>
                        <m:sub>
                          <m:r>
                            <a:rPr lang="en-US" altLang="zh-TW" b="0" i="0" dirty="0" smtClean="0">
                              <a:latin typeface="Cambria Math" panose="02040503050406030204" pitchFamily="18" charset="0"/>
                            </a:rPr>
                            <m:t>1</m:t>
                          </m:r>
                        </m:sub>
                      </m:sSub>
                      <m:r>
                        <m:rPr>
                          <m:sty m:val="p"/>
                        </m:rPr>
                        <a:rPr lang="en-US" altLang="zh-TW" b="0" i="0" dirty="0" smtClean="0">
                          <a:latin typeface="Cambria Math" panose="02040503050406030204" pitchFamily="18" charset="0"/>
                        </a:rPr>
                        <m:t>ln</m:t>
                      </m:r>
                      <m:r>
                        <a:rPr lang="en-US" altLang="zh-TW" b="0" i="1" dirty="0" smtClean="0">
                          <a:latin typeface="Cambria Math" panose="02040503050406030204" pitchFamily="18" charset="0"/>
                        </a:rPr>
                        <m:t>⁡(</m:t>
                      </m:r>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r>
                        <a:rPr lang="en-US" altLang="zh-TW" b="0" i="1" dirty="0" smtClean="0">
                          <a:latin typeface="Cambria Math" panose="02040503050406030204" pitchFamily="18" charset="0"/>
                        </a:rPr>
                        <m:t>)</m:t>
                      </m:r>
                    </m:oMath>
                  </m:oMathPara>
                </a14:m>
                <a:endParaRPr lang="en-US" altLang="zh-TW" b="0" dirty="0"/>
              </a:p>
              <a:p>
                <a:pPr>
                  <a:lnSpc>
                    <a:spcPct val="150000"/>
                  </a:lnSpc>
                </a:pPr>
                <a:r>
                  <a:rPr lang="zh-TW" altLang="en-US" b="0" dirty="0"/>
                  <a:t>將對數實證定價核與對數理論定價核相減可得代表性投資人情緒估計項</a:t>
                </a:r>
                <a14:m>
                  <m:oMath xmlns:m="http://schemas.openxmlformats.org/officeDocument/2006/math">
                    <m:r>
                      <m:rPr>
                        <m:sty m:val="p"/>
                      </m:rPr>
                      <a:rPr lang="el-GR" altLang="zh-TW" b="0" i="1">
                        <a:latin typeface="Cambria Math" panose="02040503050406030204" pitchFamily="18" charset="0"/>
                        <a:ea typeface="Cambria Math" panose="02040503050406030204" pitchFamily="18" charset="0"/>
                      </a:rPr>
                      <m:t>Λ</m:t>
                    </m:r>
                  </m:oMath>
                </a14:m>
                <a:endParaRPr lang="en-US" altLang="zh-TW" b="0" dirty="0"/>
              </a:p>
              <a:p>
                <a:pPr>
                  <a:lnSpc>
                    <a:spcPct val="150000"/>
                  </a:lnSpc>
                </a:pPr>
                <a14:m>
                  <m:oMathPara xmlns:m="http://schemas.openxmlformats.org/officeDocument/2006/math">
                    <m:oMathParaPr>
                      <m:jc m:val="centerGroup"/>
                    </m:oMathParaPr>
                    <m:oMath xmlns:m="http://schemas.openxmlformats.org/officeDocument/2006/math">
                      <m:r>
                        <m:rPr>
                          <m:sty m:val="p"/>
                        </m:rPr>
                        <a:rPr lang="el-GR" altLang="zh-TW" b="0" i="1">
                          <a:latin typeface="Cambria Math" panose="02040503050406030204" pitchFamily="18" charset="0"/>
                          <a:ea typeface="Cambria Math" panose="02040503050406030204" pitchFamily="18" charset="0"/>
                        </a:rPr>
                        <m:t>Λ</m:t>
                      </m:r>
                      <m:r>
                        <a:rPr lang="en-US" altLang="zh-TW" b="0" i="1">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ln</m:t>
                          </m:r>
                        </m:fName>
                        <m:e>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𝑀</m:t>
                              </m:r>
                            </m:e>
                          </m:d>
                        </m:e>
                      </m:func>
                      <m:r>
                        <a:rPr lang="en-US" altLang="zh-TW" b="0" i="1" smtClean="0">
                          <a:latin typeface="Cambria Math" panose="02040503050406030204" pitchFamily="18" charset="0"/>
                          <a:ea typeface="Cambria Math" panose="02040503050406030204" pitchFamily="18" charset="0"/>
                        </a:rPr>
                        <m:t>−</m:t>
                      </m:r>
                      <m:func>
                        <m:funcPr>
                          <m:ctrlPr>
                            <a:rPr lang="en-US" altLang="zh-TW" b="0" i="1">
                              <a:latin typeface="Cambria Math" panose="02040503050406030204" pitchFamily="18" charset="0"/>
                              <a:ea typeface="Cambria Math" panose="02040503050406030204" pitchFamily="18" charset="0"/>
                            </a:rPr>
                          </m:ctrlPr>
                        </m:funcPr>
                        <m:fName>
                          <m:r>
                            <m:rPr>
                              <m:sty m:val="p"/>
                            </m:rPr>
                            <a:rPr lang="en-US" altLang="zh-TW" b="0">
                              <a:latin typeface="Cambria Math" panose="02040503050406030204" pitchFamily="18" charset="0"/>
                              <a:ea typeface="Cambria Math" panose="02040503050406030204" pitchFamily="18" charset="0"/>
                            </a:rPr>
                            <m:t>ln</m:t>
                          </m:r>
                        </m:fName>
                        <m:e>
                          <m:d>
                            <m:dPr>
                              <m:ctrlPr>
                                <a:rPr lang="en-US" altLang="zh-TW" b="0" i="1">
                                  <a:latin typeface="Cambria Math" panose="02040503050406030204" pitchFamily="18" charset="0"/>
                                  <a:ea typeface="Cambria Math" panose="02040503050406030204" pitchFamily="18" charset="0"/>
                                </a:rPr>
                              </m:ctrlPr>
                            </m:dPr>
                            <m:e>
                              <m:acc>
                                <m:accPr>
                                  <m:chr m:val="̂"/>
                                  <m:ctrlPr>
                                    <a:rPr lang="en-US" altLang="zh-TW" b="0" i="1">
                                      <a:latin typeface="Cambria Math" panose="02040503050406030204" pitchFamily="18" charset="0"/>
                                      <a:ea typeface="Cambria Math" panose="02040503050406030204" pitchFamily="18" charset="0"/>
                                    </a:rPr>
                                  </m:ctrlPr>
                                </m:accPr>
                                <m:e>
                                  <m:sSub>
                                    <m:sSubPr>
                                      <m:ctrlPr>
                                        <a:rPr lang="en-US" altLang="zh-TW" b="0" i="1">
                                          <a:latin typeface="Cambria Math" panose="02040503050406030204" pitchFamily="18" charset="0"/>
                                        </a:rPr>
                                      </m:ctrlPr>
                                    </m:sSubPr>
                                    <m:e>
                                      <m:r>
                                        <m:rPr>
                                          <m:sty m:val="p"/>
                                        </m:rPr>
                                        <a:rPr lang="en-US" altLang="zh-TW" b="0" i="1">
                                          <a:latin typeface="Cambria Math" panose="02040503050406030204" pitchFamily="18" charset="0"/>
                                        </a:rPr>
                                        <m:t>M</m:t>
                                      </m:r>
                                    </m:e>
                                    <m:sub>
                                      <m:r>
                                        <m:rPr>
                                          <m:sty m:val="p"/>
                                        </m:rPr>
                                        <a:rPr lang="en-US" altLang="zh-TW" b="0" i="1">
                                          <a:latin typeface="Cambria Math" panose="02040503050406030204" pitchFamily="18" charset="0"/>
                                        </a:rPr>
                                        <m:t>e</m:t>
                                      </m:r>
                                    </m:sub>
                                  </m:sSub>
                                </m:e>
                              </m:acc>
                            </m:e>
                          </m:d>
                        </m:e>
                      </m:func>
                    </m:oMath>
                  </m:oMathPara>
                </a14:m>
                <a:endParaRPr lang="en-US" altLang="zh-TW" b="0" dirty="0"/>
              </a:p>
              <a:p>
                <a:pPr>
                  <a:lnSpc>
                    <a:spcPct val="100000"/>
                  </a:lnSpc>
                </a:pPr>
                <a:r>
                  <a:rPr lang="zh-TW" altLang="en-US" b="0" dirty="0"/>
                  <a:t>得到投資人情緒估計項</a:t>
                </a:r>
                <a14:m>
                  <m:oMath xmlns:m="http://schemas.openxmlformats.org/officeDocument/2006/math">
                    <m:r>
                      <m:rPr>
                        <m:sty m:val="p"/>
                      </m:rPr>
                      <a:rPr lang="el-GR" altLang="zh-TW" b="0" i="1">
                        <a:latin typeface="Cambria Math" panose="02040503050406030204" pitchFamily="18" charset="0"/>
                        <a:ea typeface="Cambria Math" panose="02040503050406030204" pitchFamily="18" charset="0"/>
                      </a:rPr>
                      <m:t>Λ</m:t>
                    </m:r>
                  </m:oMath>
                </a14:m>
                <a:r>
                  <a:rPr lang="zh-TW" altLang="en-US" b="0" dirty="0"/>
                  <a:t>及，由實證定價核反推而得之客觀機率密度函數</a:t>
                </a:r>
                <a14:m>
                  <m:oMath xmlns:m="http://schemas.openxmlformats.org/officeDocument/2006/math">
                    <m:r>
                      <a:rPr lang="en-US" altLang="zh-TW" b="0" i="1">
                        <a:latin typeface="Cambria Math" panose="02040503050406030204" pitchFamily="18" charset="0"/>
                      </a:rPr>
                      <m:t>𝑃</m:t>
                    </m:r>
                  </m:oMath>
                </a14:m>
                <a:r>
                  <a:rPr lang="zh-TW" altLang="en-US" b="0" dirty="0"/>
                  <a:t>後，可利用</a:t>
                </a:r>
                <a14:m>
                  <m:oMath xmlns:m="http://schemas.openxmlformats.org/officeDocument/2006/math">
                    <m:sSub>
                      <m:sSubPr>
                        <m:ctrlPr>
                          <a:rPr lang="en-US" altLang="zh-TW" b="0" i="1">
                            <a:latin typeface="Cambria Math" panose="02040503050406030204" pitchFamily="18" charset="0"/>
                          </a:rPr>
                        </m:ctrlPr>
                      </m:sSubPr>
                      <m:e>
                        <m:r>
                          <a:rPr lang="en-US" altLang="zh-TW" b="0" i="1">
                            <a:latin typeface="Cambria Math" panose="02040503050406030204" pitchFamily="18" charset="0"/>
                          </a:rPr>
                          <m:t>𝑃</m:t>
                        </m:r>
                      </m:e>
                      <m:sub>
                        <m:r>
                          <a:rPr lang="en-US" altLang="zh-TW" b="0" i="1">
                            <a:latin typeface="Cambria Math" panose="02040503050406030204" pitchFamily="18" charset="0"/>
                          </a:rPr>
                          <m:t>𝑅</m:t>
                        </m:r>
                      </m:sub>
                    </m:sSub>
                    <m:r>
                      <a:rPr lang="en-US" altLang="zh-TW" b="0" i="1">
                        <a:latin typeface="Cambria Math" panose="02040503050406030204" pitchFamily="18" charset="0"/>
                      </a:rPr>
                      <m:t>=</m:t>
                    </m:r>
                    <m:r>
                      <a:rPr lang="en-US" altLang="zh-TW" b="0" i="1">
                        <a:latin typeface="Cambria Math" panose="02040503050406030204" pitchFamily="18" charset="0"/>
                      </a:rPr>
                      <m:t>𝑃</m:t>
                    </m:r>
                    <m:sSup>
                      <m:sSupPr>
                        <m:ctrlPr>
                          <a:rPr lang="en-US" altLang="zh-TW" b="0" i="1">
                            <a:latin typeface="Cambria Math" panose="02040503050406030204" pitchFamily="18" charset="0"/>
                          </a:rPr>
                        </m:ctrlPr>
                      </m:sSupPr>
                      <m:e>
                        <m:r>
                          <a:rPr lang="en-US" altLang="zh-TW" b="0" i="1">
                            <a:latin typeface="Cambria Math" panose="02040503050406030204" pitchFamily="18" charset="0"/>
                          </a:rPr>
                          <m:t>𝑒</m:t>
                        </m:r>
                      </m:e>
                      <m:sup>
                        <m:r>
                          <m:rPr>
                            <m:sty m:val="p"/>
                          </m:rPr>
                          <a:rPr lang="el-GR" altLang="zh-TW" b="0" i="1">
                            <a:latin typeface="Cambria Math" panose="02040503050406030204" pitchFamily="18" charset="0"/>
                            <a:ea typeface="Cambria Math" panose="02040503050406030204" pitchFamily="18" charset="0"/>
                          </a:rPr>
                          <m:t>Λ</m:t>
                        </m:r>
                      </m:sup>
                    </m:sSup>
                  </m:oMath>
                </a14:m>
                <a:r>
                  <a:rPr lang="zh-TW" altLang="en-US" b="0" dirty="0"/>
                  <a:t>得到投資人主觀機率密度函數</a:t>
                </a:r>
                <a14:m>
                  <m:oMath xmlns:m="http://schemas.openxmlformats.org/officeDocument/2006/math">
                    <m:sSub>
                      <m:sSubPr>
                        <m:ctrlPr>
                          <a:rPr lang="en-US" altLang="zh-TW" b="0" i="1">
                            <a:latin typeface="Cambria Math" panose="02040503050406030204" pitchFamily="18" charset="0"/>
                          </a:rPr>
                        </m:ctrlPr>
                      </m:sSubPr>
                      <m:e>
                        <m:r>
                          <a:rPr lang="en-US" altLang="zh-TW" b="0" i="1">
                            <a:latin typeface="Cambria Math" panose="02040503050406030204" pitchFamily="18" charset="0"/>
                          </a:rPr>
                          <m:t>𝑃</m:t>
                        </m:r>
                      </m:e>
                      <m:sub>
                        <m:r>
                          <a:rPr lang="en-US" altLang="zh-TW" b="0" i="1">
                            <a:latin typeface="Cambria Math" panose="02040503050406030204" pitchFamily="18" charset="0"/>
                          </a:rPr>
                          <m:t>𝑅</m:t>
                        </m:r>
                      </m:sub>
                    </m:sSub>
                  </m:oMath>
                </a14:m>
                <a:endParaRPr lang="en-US" altLang="zh-TW" b="0" dirty="0"/>
              </a:p>
              <a:p>
                <a:pPr marL="447675" lvl="1" indent="-180975">
                  <a:lnSpc>
                    <a:spcPct val="100000"/>
                  </a:lnSpc>
                  <a:buFont typeface="Arial" panose="020B0604020202020204" pitchFamily="34" charset="0"/>
                  <a:buChar char="•"/>
                </a:pPr>
                <a:r>
                  <a:rPr lang="zh-TW" altLang="en-US" b="0" dirty="0"/>
                  <a:t>將客觀信念與投資人主觀信念間期望報酬的差異</a:t>
                </a:r>
                <a14:m>
                  <m:oMath xmlns:m="http://schemas.openxmlformats.org/officeDocument/2006/math">
                    <m:sSub>
                      <m:sSubPr>
                        <m:ctrlPr>
                          <a:rPr lang="en-US" altLang="zh-TW" b="0" i="1" smtClean="0">
                            <a:latin typeface="Cambria Math" panose="02040503050406030204" pitchFamily="18" charset="0"/>
                          </a:rPr>
                        </m:ctrlPr>
                      </m:sSubPr>
                      <m:e>
                        <m:r>
                          <m:rPr>
                            <m:sty m:val="p"/>
                          </m:rPr>
                          <a:rPr lang="en-US" altLang="zh-TW" b="0" i="1">
                            <a:latin typeface="Cambria Math" panose="02040503050406030204" pitchFamily="18" charset="0"/>
                          </a:rPr>
                          <m:t>E</m:t>
                        </m:r>
                      </m:e>
                      <m:sub>
                        <m:sSub>
                          <m:sSubPr>
                            <m:ctrlPr>
                              <a:rPr lang="en-US" altLang="zh-TW" b="0" i="1" smtClean="0">
                                <a:latin typeface="Cambria Math" panose="02040503050406030204" pitchFamily="18" charset="0"/>
                              </a:rPr>
                            </m:ctrlPr>
                          </m:sSubPr>
                          <m:e>
                            <m:r>
                              <m:rPr>
                                <m:sty m:val="p"/>
                              </m:rPr>
                              <a:rPr lang="en-US" altLang="zh-TW" b="0" i="1">
                                <a:latin typeface="Cambria Math" panose="02040503050406030204" pitchFamily="18" charset="0"/>
                              </a:rPr>
                              <m:t>P</m:t>
                            </m:r>
                          </m:e>
                          <m:sub>
                            <m:r>
                              <m:rPr>
                                <m:sty m:val="p"/>
                              </m:rPr>
                              <a:rPr lang="en-US" altLang="zh-TW" b="0" i="1">
                                <a:latin typeface="Cambria Math" panose="02040503050406030204" pitchFamily="18" charset="0"/>
                              </a:rPr>
                              <m:t>R</m:t>
                            </m:r>
                          </m:sub>
                        </m:sSub>
                      </m:sub>
                    </m:sSub>
                    <m:r>
                      <a:rPr lang="en-US" altLang="zh-TW" b="0" i="1">
                        <a:latin typeface="Cambria Math" panose="02040503050406030204" pitchFamily="18" charset="0"/>
                      </a:rPr>
                      <m:t>[</m:t>
                    </m:r>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sSub>
                      <m:sSubPr>
                        <m:ctrlPr>
                          <a:rPr lang="en-US" altLang="zh-TW" b="0" i="1">
                            <a:latin typeface="Cambria Math" panose="02040503050406030204" pitchFamily="18" charset="0"/>
                          </a:rPr>
                        </m:ctrlPr>
                      </m:sSubPr>
                      <m:e>
                        <m:r>
                          <m:rPr>
                            <m:sty m:val="p"/>
                          </m:rPr>
                          <a:rPr lang="en-US" altLang="zh-TW" b="0" i="1">
                            <a:latin typeface="Cambria Math" panose="02040503050406030204" pitchFamily="18" charset="0"/>
                          </a:rPr>
                          <m:t>E</m:t>
                        </m:r>
                      </m:e>
                      <m:sub>
                        <m:r>
                          <m:rPr>
                            <m:sty m:val="p"/>
                          </m:rPr>
                          <a:rPr lang="en-US" altLang="zh-TW" b="0" i="1">
                            <a:latin typeface="Cambria Math" panose="02040503050406030204" pitchFamily="18" charset="0"/>
                          </a:rPr>
                          <m:t>P</m:t>
                        </m:r>
                      </m:sub>
                    </m:sSub>
                    <m:r>
                      <a:rPr lang="en-US" altLang="zh-TW" b="0" i="1">
                        <a:latin typeface="Cambria Math" panose="02040503050406030204" pitchFamily="18" charset="0"/>
                      </a:rPr>
                      <m:t>[</m:t>
                    </m:r>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r>
                      <a:rPr lang="en-US" altLang="zh-TW" b="0" i="1">
                        <a:latin typeface="Cambria Math" panose="02040503050406030204" pitchFamily="18" charset="0"/>
                      </a:rPr>
                      <m:t>]</m:t>
                    </m:r>
                  </m:oMath>
                </a14:m>
                <a:r>
                  <a:rPr lang="zh-TW" altLang="en-US" b="0" dirty="0"/>
                  <a:t>定義為投資者過度樂觀之代理變數</a:t>
                </a:r>
                <a:endParaRPr lang="en-US" altLang="zh-TW" b="0" dirty="0"/>
              </a:p>
              <a:p>
                <a:pPr marL="447675" lvl="1" indent="-180975">
                  <a:lnSpc>
                    <a:spcPct val="100000"/>
                  </a:lnSpc>
                  <a:buFont typeface="Arial" panose="020B0604020202020204" pitchFamily="34" charset="0"/>
                  <a:buChar char="•"/>
                </a:pPr>
                <a:r>
                  <a:rPr lang="zh-TW" altLang="en-US" b="0" dirty="0"/>
                  <a:t>將標準差差異</a:t>
                </a:r>
                <a14:m>
                  <m:oMath xmlns:m="http://schemas.openxmlformats.org/officeDocument/2006/math">
                    <m:sSub>
                      <m:sSubPr>
                        <m:ctrlPr>
                          <a:rPr lang="en-US" altLang="zh-TW" b="0" i="1">
                            <a:latin typeface="Cambria Math" panose="02040503050406030204" pitchFamily="18" charset="0"/>
                          </a:rPr>
                        </m:ctrlPr>
                      </m:sSubPr>
                      <m:e>
                        <m:r>
                          <a:rPr lang="zh-TW" altLang="en-US" b="0" i="1">
                            <a:latin typeface="Cambria Math" panose="02040503050406030204" pitchFamily="18" charset="0"/>
                          </a:rPr>
                          <m:t>𝜎</m:t>
                        </m:r>
                      </m:e>
                      <m:sub>
                        <m:r>
                          <m:rPr>
                            <m:sty m:val="p"/>
                          </m:rPr>
                          <a:rPr lang="en-US" altLang="zh-TW" b="0" i="1">
                            <a:latin typeface="Cambria Math" panose="02040503050406030204" pitchFamily="18" charset="0"/>
                          </a:rPr>
                          <m:t>P</m:t>
                        </m:r>
                      </m:sub>
                    </m:sSub>
                    <m:r>
                      <a:rPr lang="en-US" altLang="zh-TW" b="0" i="1">
                        <a:latin typeface="Cambria Math" panose="02040503050406030204" pitchFamily="18" charset="0"/>
                      </a:rPr>
                      <m:t>[</m:t>
                    </m:r>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r>
                      <a:rPr lang="en-US" altLang="zh-TW" b="0" i="1">
                        <a:latin typeface="Cambria Math" panose="02040503050406030204" pitchFamily="18" charset="0"/>
                      </a:rPr>
                      <m:t>]</m:t>
                    </m:r>
                    <m:r>
                      <a:rPr lang="en-US" altLang="zh-TW" b="0" i="1">
                        <a:latin typeface="Cambria Math" panose="02040503050406030204" pitchFamily="18" charset="0"/>
                        <a:ea typeface="Cambria Math" panose="02040503050406030204" pitchFamily="18" charset="0"/>
                      </a:rPr>
                      <m:t>−</m:t>
                    </m:r>
                    <m:sSub>
                      <m:sSubPr>
                        <m:ctrlPr>
                          <a:rPr lang="en-US" altLang="zh-TW" b="0" i="1">
                            <a:latin typeface="Cambria Math" panose="02040503050406030204" pitchFamily="18" charset="0"/>
                          </a:rPr>
                        </m:ctrlPr>
                      </m:sSubPr>
                      <m:e>
                        <m:r>
                          <a:rPr lang="en-US" altLang="zh-TW" b="0" i="1">
                            <a:latin typeface="Cambria Math" panose="02040503050406030204" pitchFamily="18" charset="0"/>
                            <a:ea typeface="Cambria Math" panose="02040503050406030204" pitchFamily="18" charset="0"/>
                          </a:rPr>
                          <m:t>𝜎</m:t>
                        </m:r>
                      </m:e>
                      <m:sub>
                        <m:sSub>
                          <m:sSubPr>
                            <m:ctrlPr>
                              <a:rPr lang="en-US" altLang="zh-TW" b="0" i="1">
                                <a:latin typeface="Cambria Math" panose="02040503050406030204" pitchFamily="18" charset="0"/>
                              </a:rPr>
                            </m:ctrlPr>
                          </m:sSubPr>
                          <m:e>
                            <m:r>
                              <m:rPr>
                                <m:sty m:val="p"/>
                              </m:rPr>
                              <a:rPr lang="en-US" altLang="zh-TW" b="0" i="1">
                                <a:latin typeface="Cambria Math" panose="02040503050406030204" pitchFamily="18" charset="0"/>
                              </a:rPr>
                              <m:t>P</m:t>
                            </m:r>
                          </m:e>
                          <m:sub>
                            <m:r>
                              <m:rPr>
                                <m:sty m:val="p"/>
                              </m:rPr>
                              <a:rPr lang="en-US" altLang="zh-TW" b="0" i="1">
                                <a:latin typeface="Cambria Math" panose="02040503050406030204" pitchFamily="18" charset="0"/>
                              </a:rPr>
                              <m:t>R</m:t>
                            </m:r>
                          </m:sub>
                        </m:sSub>
                      </m:sub>
                    </m:sSub>
                    <m:r>
                      <a:rPr lang="en-US" altLang="zh-TW" b="0" i="1">
                        <a:latin typeface="Cambria Math" panose="02040503050406030204" pitchFamily="18" charset="0"/>
                      </a:rPr>
                      <m:t>[</m:t>
                    </m:r>
                    <m:f>
                      <m:fPr>
                        <m:ctrlPr>
                          <a:rPr lang="en-US" altLang="zh-TW" b="0" i="1" dirty="0">
                            <a:latin typeface="Cambria Math" panose="02040503050406030204" pitchFamily="18" charset="0"/>
                          </a:rPr>
                        </m:ctrlPr>
                      </m:fPr>
                      <m:num>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m:rPr>
                                <m:sty m:val="p"/>
                              </m:rPr>
                              <a:rPr lang="en-US" altLang="zh-TW" b="0" dirty="0">
                                <a:latin typeface="Cambria Math" panose="02040503050406030204" pitchFamily="18" charset="0"/>
                              </a:rPr>
                              <m:t>T</m:t>
                            </m:r>
                          </m:sub>
                        </m:sSub>
                      </m:num>
                      <m:den>
                        <m:sSub>
                          <m:sSubPr>
                            <m:ctrlPr>
                              <a:rPr lang="en-US" altLang="zh-TW" b="0" i="1" dirty="0">
                                <a:latin typeface="Cambria Math" panose="02040503050406030204" pitchFamily="18" charset="0"/>
                              </a:rPr>
                            </m:ctrlPr>
                          </m:sSubPr>
                          <m:e>
                            <m:r>
                              <a:rPr lang="en-US" altLang="zh-TW" b="0" dirty="0">
                                <a:latin typeface="Cambria Math" panose="02040503050406030204" pitchFamily="18" charset="0"/>
                              </a:rPr>
                              <m:t>𝑆</m:t>
                            </m:r>
                          </m:e>
                          <m:sub>
                            <m:r>
                              <a:rPr lang="en-US" altLang="zh-TW" b="0" dirty="0">
                                <a:latin typeface="Cambria Math" panose="02040503050406030204" pitchFamily="18" charset="0"/>
                              </a:rPr>
                              <m:t>𝑡</m:t>
                            </m:r>
                          </m:sub>
                        </m:sSub>
                      </m:den>
                    </m:f>
                    <m:r>
                      <a:rPr lang="en-US" altLang="zh-TW" b="0" i="1">
                        <a:latin typeface="Cambria Math" panose="02040503050406030204" pitchFamily="18" charset="0"/>
                      </a:rPr>
                      <m:t>]</m:t>
                    </m:r>
                  </m:oMath>
                </a14:m>
                <a:r>
                  <a:rPr lang="zh-TW" altLang="en-US" b="0" dirty="0"/>
                  <a:t>定義為投資者過度自信之代理變數</a:t>
                </a:r>
              </a:p>
            </p:txBody>
          </p:sp>
        </mc:Choice>
        <mc:Fallback xmlns="">
          <p:sp>
            <p:nvSpPr>
              <p:cNvPr id="7" name="內容版面配置區 6">
                <a:extLst>
                  <a:ext uri="{FF2B5EF4-FFF2-40B4-BE49-F238E27FC236}">
                    <a16:creationId xmlns:a16="http://schemas.microsoft.com/office/drawing/2014/main" id="{EF0A0C33-38DE-A09E-9751-59FF5BF5865E}"/>
                  </a:ext>
                </a:extLst>
              </p:cNvPr>
              <p:cNvSpPr>
                <a:spLocks noGrp="1" noRot="1" noChangeAspect="1" noMove="1" noResize="1" noEditPoints="1" noAdjustHandles="1" noChangeArrowheads="1" noChangeShapeType="1" noTextEdit="1"/>
              </p:cNvSpPr>
              <p:nvPr>
                <p:ph sz="quarter" idx="14"/>
              </p:nvPr>
            </p:nvSpPr>
            <p:spPr>
              <a:xfrm>
                <a:off x="422438" y="866223"/>
                <a:ext cx="11595391" cy="5727410"/>
              </a:xfrm>
              <a:blipFill>
                <a:blip r:embed="rId3"/>
                <a:stretch>
                  <a:fillRect l="-526" r="-21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904877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DA8F4E23-9112-333B-0C23-387EFCB0AF22}"/>
              </a:ext>
            </a:extLst>
          </p:cNvPr>
          <p:cNvSpPr>
            <a:spLocks noGrp="1"/>
          </p:cNvSpPr>
          <p:nvPr>
            <p:ph sz="quarter" idx="10"/>
          </p:nvPr>
        </p:nvSpPr>
        <p:spPr/>
        <p:txBody>
          <a:bodyPr/>
          <a:lstStyle/>
          <a:p>
            <a:pPr>
              <a:buFont typeface="+mj-lt"/>
              <a:buAutoNum type="arabicPeriod" startAt="2"/>
            </a:pPr>
            <a:r>
              <a:rPr lang="zh-TW" altLang="en-US" dirty="0"/>
              <a:t> 實驗結果</a:t>
            </a:r>
          </a:p>
        </p:txBody>
      </p:sp>
    </p:spTree>
    <p:extLst>
      <p:ext uri="{BB962C8B-B14F-4D97-AF65-F5344CB8AC3E}">
        <p14:creationId xmlns:p14="http://schemas.microsoft.com/office/powerpoint/2010/main" val="10846073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4F48BD3D-59FF-5A22-9D42-FC5F7A44FEB7}"/>
              </a:ext>
            </a:extLst>
          </p:cNvPr>
          <p:cNvSpPr>
            <a:spLocks noGrp="1"/>
          </p:cNvSpPr>
          <p:nvPr>
            <p:ph type="body" sz="quarter" idx="10"/>
          </p:nvPr>
        </p:nvSpPr>
        <p:spPr>
          <a:xfrm>
            <a:off x="1268964" y="200315"/>
            <a:ext cx="6669836" cy="436563"/>
          </a:xfrm>
        </p:spPr>
        <p:txBody>
          <a:bodyPr/>
          <a:lstStyle/>
          <a:p>
            <a:r>
              <a:rPr lang="zh-TW" altLang="en-US" dirty="0"/>
              <a:t>資料集與變數定義</a:t>
            </a:r>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5BD4136-8377-C887-B2A9-05EF5016C37F}"/>
                  </a:ext>
                </a:extLst>
              </p:cNvPr>
              <p:cNvSpPr txBox="1"/>
              <p:nvPr/>
            </p:nvSpPr>
            <p:spPr>
              <a:xfrm>
                <a:off x="291663" y="1088573"/>
                <a:ext cx="11247195" cy="5016758"/>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投資人情緒分析實驗使用</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913765" lvl="1" indent="-457200">
                  <a:buClr>
                    <a:schemeClr val="accent1"/>
                  </a:buClr>
                  <a:buFont typeface="+mj-lt"/>
                  <a:buAutoNum type="arabicPeriod"/>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加入權重限制式之原始</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(2.2.3)</a:t>
                </a:r>
              </a:p>
              <a:p>
                <a:pPr marL="913765" lvl="1" indent="-457200">
                  <a:buClr>
                    <a:schemeClr val="accent1"/>
                  </a:buClr>
                  <a:buFont typeface="+mj-lt"/>
                  <a:buAutoNum type="arabicPeriod"/>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加入權重限制式之以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優化之</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(2.2.4)</a:t>
                </a:r>
              </a:p>
              <a:p>
                <a:pPr marL="266700" indent="-26670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參數設定為</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913765" lvl="1" indent="-457200">
                  <a:buClr>
                    <a:schemeClr val="accent1"/>
                  </a:buClr>
                  <a:buFont typeface="+mj-lt"/>
                  <a:buAutoNum type="arabicPeriod"/>
                </a:pP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datasize</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 = 208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base = 11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hlinkClick r:id="rId2" action="ppaction://hlinksldjump"/>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p>
              <a:p>
                <a:pPr marL="913765" lvl="1" indent="-457200">
                  <a:buClr>
                    <a:schemeClr val="accent1"/>
                  </a:buClr>
                  <a:buFont typeface="+mj-lt"/>
                  <a:buAutoNum type="arabicPeriod"/>
                </a:pPr>
                <a:r>
                  <a:rPr lang="it-IT" altLang="zh-TW" sz="2000" dirty="0">
                    <a:solidFill>
                      <a:schemeClr val="tx2"/>
                    </a:solidFill>
                    <a:latin typeface="Microsoft JhengHei" panose="020B0604030504040204" pitchFamily="34" charset="-120"/>
                    <a:ea typeface="Microsoft JhengHei" panose="020B0604030504040204" pitchFamily="34" charset="-120"/>
                    <a:cs typeface="+mn-ea"/>
                  </a:rPr>
                  <a:t>datasize=217</a:t>
                </a:r>
                <a:r>
                  <a:rPr lang="zh-TW" altLang="it-IT" sz="2000" dirty="0">
                    <a:solidFill>
                      <a:schemeClr val="tx2"/>
                    </a:solidFill>
                    <a:latin typeface="Microsoft JhengHei" panose="020B0604030504040204" pitchFamily="34" charset="-120"/>
                    <a:ea typeface="Microsoft JhengHei" panose="020B0604030504040204" pitchFamily="34" charset="-120"/>
                    <a:cs typeface="+mn-ea"/>
                  </a:rPr>
                  <a:t>，</a:t>
                </a:r>
                <a:r>
                  <a:rPr lang="it-IT" altLang="zh-TW" sz="2000" dirty="0">
                    <a:solidFill>
                      <a:schemeClr val="tx2"/>
                    </a:solidFill>
                    <a:latin typeface="Microsoft JhengHei" panose="020B0604030504040204" pitchFamily="34" charset="-120"/>
                    <a:ea typeface="Microsoft JhengHei" panose="020B0604030504040204" pitchFamily="34" charset="-120"/>
                    <a:cs typeface="+mn-ea"/>
                  </a:rPr>
                  <a:t>base=13</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hlinkClick r:id="rId2" action="ppaction://hlinksldjump"/>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endParaRPr lang="it-IT" altLang="zh-TW" sz="2000" dirty="0">
                  <a:solidFill>
                    <a:schemeClr val="tx2"/>
                  </a:solidFill>
                  <a:latin typeface="Microsoft JhengHei" panose="020B0604030504040204" pitchFamily="34" charset="-120"/>
                  <a:ea typeface="Microsoft JhengHei" panose="020B0604030504040204" pitchFamily="34" charset="-120"/>
                  <a:cs typeface="+mn-ea"/>
                </a:endParaRPr>
              </a:p>
              <a:p>
                <a:pPr indent="266700">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估計之</a:t>
                </a:r>
                <a14:m>
                  <m:oMath xmlns:m="http://schemas.openxmlformats.org/officeDocument/2006/math">
                    <m:r>
                      <a:rPr lang="zh-TW" altLang="en-US" sz="2000" i="1">
                        <a:solidFill>
                          <a:schemeClr val="tx2"/>
                        </a:solidFill>
                        <a:latin typeface="Cambria Math" panose="02040503050406030204" pitchFamily="18" charset="0"/>
                        <a:ea typeface="Microsoft JhengHei" panose="020B0604030504040204" pitchFamily="34" charset="-120"/>
                        <a:cs typeface="+mn-ea"/>
                      </a:rPr>
                      <m:t>𝜏</m:t>
                    </m:r>
                    <m:r>
                      <a:rPr lang="en-US" altLang="zh-TW" sz="2000" i="1">
                        <a:solidFill>
                          <a:schemeClr val="tx2"/>
                        </a:solidFill>
                        <a:latin typeface="Cambria Math" panose="02040503050406030204" pitchFamily="18" charset="0"/>
                        <a:ea typeface="Microsoft JhengHei" panose="020B0604030504040204" pitchFamily="34" charset="-120"/>
                        <a:cs typeface="+mn-ea"/>
                      </a:rPr>
                      <m:t>=1</m:t>
                    </m:r>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定價核估計結果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a:buClr>
                    <a:schemeClr val="accent1"/>
                  </a:buClr>
                </a:pP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使用定價核轉換投資者情緒代理變數方法，將以上定價核結果轉換為過度樂觀與過度自信代理變數</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與以下短期市場動態代理變數進行回歸分析：</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913765" lvl="1" indent="-457200">
                  <a:buClr>
                    <a:schemeClr val="accent1"/>
                  </a:buClr>
                  <a:buFont typeface="+mj-lt"/>
                  <a:buAutoNum type="arabicPeriod"/>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前一交易日之市場真實對數報酬率</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913765" lvl="1" indent="-457200">
                  <a:buClr>
                    <a:schemeClr val="accent1"/>
                  </a:buClr>
                  <a:buFont typeface="+mj-lt"/>
                  <a:buAutoNum type="arabicPeriod"/>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當日市場真實對數報酬率</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913765" lvl="1" indent="-457200">
                  <a:buClr>
                    <a:schemeClr val="accent1"/>
                  </a:buClr>
                  <a:buFont typeface="+mj-lt"/>
                  <a:buAutoNum type="arabicPeriod"/>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前五個交易日的對數報酬率之標準差</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以此做為短期波動率之代理變數</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p>
              <a:p>
                <a:pPr marL="913765" lvl="1" indent="-457200">
                  <a:buClr>
                    <a:schemeClr val="accent1"/>
                  </a:buClr>
                  <a:buFont typeface="+mj-lt"/>
                  <a:buAutoNum type="arabicPeriod"/>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情緒代理變數之前一期滯後值</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(Lag1)</a:t>
                </a:r>
              </a:p>
              <a:p>
                <a:pPr marL="913765" lvl="1" indent="-457200">
                  <a:buClr>
                    <a:schemeClr val="accent1"/>
                  </a:buClr>
                  <a:buFont typeface="+mj-lt"/>
                  <a:buAutoNum type="arabicPeriod"/>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未來一個交易日之市場真實對數報酬率</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目的為檢驗情緒代理變數是否與短期市場動態代理變數產生顯著關聯</a:t>
                </a:r>
              </a:p>
            </p:txBody>
          </p:sp>
        </mc:Choice>
        <mc:Fallback xmlns="">
          <p:sp>
            <p:nvSpPr>
              <p:cNvPr id="7" name="文字方塊 6">
                <a:extLst>
                  <a:ext uri="{FF2B5EF4-FFF2-40B4-BE49-F238E27FC236}">
                    <a16:creationId xmlns:a16="http://schemas.microsoft.com/office/drawing/2014/main" id="{35BD4136-8377-C887-B2A9-05EF5016C37F}"/>
                  </a:ext>
                </a:extLst>
              </p:cNvPr>
              <p:cNvSpPr txBox="1">
                <a:spLocks noRot="1" noChangeAspect="1" noMove="1" noResize="1" noEditPoints="1" noAdjustHandles="1" noChangeArrowheads="1" noChangeShapeType="1" noTextEdit="1"/>
              </p:cNvSpPr>
              <p:nvPr/>
            </p:nvSpPr>
            <p:spPr>
              <a:xfrm>
                <a:off x="291663" y="1088573"/>
                <a:ext cx="11247195" cy="5016758"/>
              </a:xfrm>
              <a:prstGeom prst="rect">
                <a:avLst/>
              </a:prstGeom>
              <a:blipFill>
                <a:blip r:embed="rId3"/>
                <a:stretch>
                  <a:fillRect l="-596" t="-729" b="-121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74290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EE742D55-CB14-A2F2-ABCC-579C0800A1E9}"/>
              </a:ext>
            </a:extLst>
          </p:cNvPr>
          <p:cNvSpPr>
            <a:spLocks noGrp="1"/>
          </p:cNvSpPr>
          <p:nvPr>
            <p:ph sz="quarter" idx="10"/>
          </p:nvPr>
        </p:nvSpPr>
        <p:spPr>
          <a:xfrm>
            <a:off x="3495870" y="2257714"/>
            <a:ext cx="8011886" cy="1171286"/>
          </a:xfrm>
        </p:spPr>
        <p:txBody>
          <a:bodyPr/>
          <a:lstStyle/>
          <a:p>
            <a:pPr>
              <a:buFont typeface="Wingdings" panose="05000000000000000000" pitchFamily="2" charset="2"/>
              <a:buAutoNum type="circleNumWdWhitePlain"/>
            </a:pPr>
            <a:r>
              <a:rPr lang="zh-TW" altLang="en-US" dirty="0"/>
              <a:t>短期市場動態與投資人過度樂觀情緒之關聯</a:t>
            </a:r>
          </a:p>
        </p:txBody>
      </p:sp>
    </p:spTree>
    <p:extLst>
      <p:ext uri="{BB962C8B-B14F-4D97-AF65-F5344CB8AC3E}">
        <p14:creationId xmlns:p14="http://schemas.microsoft.com/office/powerpoint/2010/main" val="33116481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82D6358D-F87F-6D99-8766-90373386AC6A}"/>
              </a:ext>
            </a:extLst>
          </p:cNvPr>
          <p:cNvSpPr>
            <a:spLocks noGrp="1"/>
          </p:cNvSpPr>
          <p:nvPr>
            <p:ph sz="quarter" idx="14"/>
          </p:nvPr>
        </p:nvSpPr>
        <p:spPr/>
        <p:txBody>
          <a:bodyPr>
            <a:normAutofit fontScale="92500" lnSpcReduction="10000"/>
          </a:bodyPr>
          <a:lstStyle/>
          <a:p>
            <a:r>
              <a:rPr lang="en-US" altLang="zh-TW" dirty="0"/>
              <a:t>3.2.1</a:t>
            </a:r>
            <a:endParaRPr lang="zh-TW" altLang="en-US" dirty="0"/>
          </a:p>
        </p:txBody>
      </p:sp>
      <p:pic>
        <p:nvPicPr>
          <p:cNvPr id="9" name="圖片 8">
            <a:extLst>
              <a:ext uri="{FF2B5EF4-FFF2-40B4-BE49-F238E27FC236}">
                <a16:creationId xmlns:a16="http://schemas.microsoft.com/office/drawing/2014/main" id="{7CD174D1-5700-9F47-45E3-7E729B516844}"/>
              </a:ext>
            </a:extLst>
          </p:cNvPr>
          <p:cNvPicPr>
            <a:picLocks noChangeAspect="1"/>
          </p:cNvPicPr>
          <p:nvPr/>
        </p:nvPicPr>
        <p:blipFill>
          <a:blip r:embed="rId2"/>
          <a:stretch>
            <a:fillRect/>
          </a:stretch>
        </p:blipFill>
        <p:spPr>
          <a:xfrm>
            <a:off x="5282398" y="0"/>
            <a:ext cx="6839905" cy="6858000"/>
          </a:xfrm>
          <a:prstGeom prst="rect">
            <a:avLst/>
          </a:prstGeom>
        </p:spPr>
      </p:pic>
      <p:sp>
        <p:nvSpPr>
          <p:cNvPr id="13" name="文字版面配置區 12">
            <a:extLst>
              <a:ext uri="{FF2B5EF4-FFF2-40B4-BE49-F238E27FC236}">
                <a16:creationId xmlns:a16="http://schemas.microsoft.com/office/drawing/2014/main" id="{4F5B9C66-ECB5-44B0-F2D5-0B8AFD781663}"/>
              </a:ext>
            </a:extLst>
          </p:cNvPr>
          <p:cNvSpPr>
            <a:spLocks noGrp="1"/>
          </p:cNvSpPr>
          <p:nvPr>
            <p:ph type="body" sz="quarter" idx="13"/>
          </p:nvPr>
        </p:nvSpPr>
        <p:spPr>
          <a:xfrm>
            <a:off x="1175525" y="124302"/>
            <a:ext cx="5840413" cy="436563"/>
          </a:xfrm>
        </p:spPr>
        <p:txBody>
          <a:bodyPr>
            <a:normAutofit/>
          </a:bodyPr>
          <a:lstStyle/>
          <a:p>
            <a:r>
              <a:rPr lang="en-US" altLang="zh-TW" sz="2000" dirty="0" err="1"/>
              <a:t>datasize</a:t>
            </a:r>
            <a:r>
              <a:rPr lang="en-US" altLang="zh-TW" sz="2000" dirty="0"/>
              <a:t> = 208</a:t>
            </a:r>
            <a:r>
              <a:rPr lang="zh-TW" altLang="en-US" sz="2000" dirty="0"/>
              <a:t>，</a:t>
            </a:r>
            <a:r>
              <a:rPr lang="en-US" altLang="zh-TW" sz="2000" dirty="0"/>
              <a:t>base = 11</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8B7212C6-9EF3-69C9-FEB1-501AA5B5B8D6}"/>
                  </a:ext>
                </a:extLst>
              </p:cNvPr>
              <p:cNvSpPr txBox="1"/>
              <p:nvPr/>
            </p:nvSpPr>
            <p:spPr>
              <a:xfrm>
                <a:off x="285443" y="802434"/>
                <a:ext cx="4996956" cy="4555093"/>
              </a:xfrm>
              <a:prstGeom prst="rect">
                <a:avLst/>
              </a:prstGeom>
              <a:noFill/>
            </p:spPr>
            <p:txBody>
              <a:bodyPr wrap="square" rtlCol="0">
                <a:spAutoFit/>
              </a:bodyPr>
              <a:lstStyle/>
              <a:p>
                <a:pPr>
                  <a:lnSpc>
                    <a:spcPct val="150000"/>
                  </a:lnSpc>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被解釋變數：</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over</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optimism</a:t>
                </a: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根據調整後</a:t>
                </a:r>
                <a14:m>
                  <m:oMath xmlns:m="http://schemas.openxmlformats.org/officeDocument/2006/math">
                    <m:sSup>
                      <m:sSupPr>
                        <m:ctrlPr>
                          <a:rPr lang="en-US" altLang="zh-TW" sz="2000" i="1" smtClean="0">
                            <a:solidFill>
                              <a:schemeClr val="tx2"/>
                            </a:solidFill>
                            <a:latin typeface="Cambria Math" panose="02040503050406030204" pitchFamily="18" charset="0"/>
                            <a:ea typeface="Microsoft JhengHei" panose="020B0604030504040204" pitchFamily="34" charset="-120"/>
                            <a:cs typeface="+mn-ea"/>
                          </a:rPr>
                        </m:ctrlPr>
                      </m:sSupPr>
                      <m:e>
                        <m:r>
                          <m:rPr>
                            <m:sty m:val="p"/>
                          </m:rPr>
                          <a:rPr lang="en-US" altLang="zh-TW" sz="2000" i="1">
                            <a:solidFill>
                              <a:schemeClr val="tx2"/>
                            </a:solidFill>
                            <a:latin typeface="Cambria Math" panose="02040503050406030204" pitchFamily="18" charset="0"/>
                            <a:ea typeface="Microsoft JhengHei" panose="020B0604030504040204" pitchFamily="34" charset="-120"/>
                            <a:cs typeface="+mn-ea"/>
                          </a:rPr>
                          <m:t>R</m:t>
                        </m:r>
                      </m:e>
                      <m:sup>
                        <m:r>
                          <a:rPr lang="en-US" altLang="zh-TW" sz="2000" i="1">
                            <a:solidFill>
                              <a:schemeClr val="tx2"/>
                            </a:solidFill>
                            <a:latin typeface="Cambria Math" panose="02040503050406030204" pitchFamily="18" charset="0"/>
                            <a:ea typeface="Microsoft JhengHei" panose="020B0604030504040204" pitchFamily="34" charset="-120"/>
                            <a:cs typeface="+mn-ea"/>
                          </a:rPr>
                          <m:t>2</m:t>
                        </m:r>
                      </m:sup>
                    </m:sSup>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與權重限制式優化</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方法估計的過度樂觀結果展現更多與短期市場動態變數的相關性</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過去</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5</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日波動率的係數在統計上達到顯著水準，反映投資人短期過度樂觀情緒受到近期市場波動率的正向影響</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過度樂觀情緒的滯後項係數高度顯著，顯示過度樂觀具有強烈的持續性特徵</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buClr>
                    <a:schemeClr val="accent1"/>
                  </a:buClr>
                  <a:buFont typeface="Arial" panose="020B0604020202020204" pitchFamily="34" charset="0"/>
                  <a:buChar char="•"/>
                </a:pP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Choice>
        <mc:Fallback xmlns="">
          <p:sp>
            <p:nvSpPr>
              <p:cNvPr id="14" name="文字方塊 13">
                <a:extLst>
                  <a:ext uri="{FF2B5EF4-FFF2-40B4-BE49-F238E27FC236}">
                    <a16:creationId xmlns:a16="http://schemas.microsoft.com/office/drawing/2014/main" id="{8B7212C6-9EF3-69C9-FEB1-501AA5B5B8D6}"/>
                  </a:ext>
                </a:extLst>
              </p:cNvPr>
              <p:cNvSpPr txBox="1">
                <a:spLocks noRot="1" noChangeAspect="1" noMove="1" noResize="1" noEditPoints="1" noAdjustHandles="1" noChangeArrowheads="1" noChangeShapeType="1" noTextEdit="1"/>
              </p:cNvSpPr>
              <p:nvPr/>
            </p:nvSpPr>
            <p:spPr>
              <a:xfrm>
                <a:off x="285443" y="802434"/>
                <a:ext cx="4996956" cy="4555093"/>
              </a:xfrm>
              <a:prstGeom prst="rect">
                <a:avLst/>
              </a:prstGeom>
              <a:blipFill>
                <a:blip r:embed="rId3"/>
                <a:stretch>
                  <a:fillRect l="-1341" r="-976"/>
                </a:stretch>
              </a:blipFill>
            </p:spPr>
            <p:txBody>
              <a:bodyPr/>
              <a:lstStyle/>
              <a:p>
                <a:r>
                  <a:rPr lang="zh-TW" altLang="en-US">
                    <a:noFill/>
                  </a:rPr>
                  <a:t> </a:t>
                </a:r>
              </a:p>
            </p:txBody>
          </p:sp>
        </mc:Fallback>
      </mc:AlternateContent>
      <p:sp>
        <p:nvSpPr>
          <p:cNvPr id="15" name="矩形 14">
            <a:extLst>
              <a:ext uri="{FF2B5EF4-FFF2-40B4-BE49-F238E27FC236}">
                <a16:creationId xmlns:a16="http://schemas.microsoft.com/office/drawing/2014/main" id="{366F7EFC-7E20-B30D-11A5-BBC197F23EB5}"/>
              </a:ext>
            </a:extLst>
          </p:cNvPr>
          <p:cNvSpPr/>
          <p:nvPr/>
        </p:nvSpPr>
        <p:spPr>
          <a:xfrm>
            <a:off x="9032033" y="1412033"/>
            <a:ext cx="659363" cy="46653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78975C7-35C4-8BF7-61F4-B41DDD1B1349}"/>
              </a:ext>
            </a:extLst>
          </p:cNvPr>
          <p:cNvSpPr/>
          <p:nvPr/>
        </p:nvSpPr>
        <p:spPr>
          <a:xfrm>
            <a:off x="10086392" y="1810139"/>
            <a:ext cx="706016" cy="34894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2408248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82D6358D-F87F-6D99-8766-90373386AC6A}"/>
              </a:ext>
            </a:extLst>
          </p:cNvPr>
          <p:cNvSpPr>
            <a:spLocks noGrp="1"/>
          </p:cNvSpPr>
          <p:nvPr>
            <p:ph sz="quarter" idx="14"/>
          </p:nvPr>
        </p:nvSpPr>
        <p:spPr/>
        <p:txBody>
          <a:bodyPr>
            <a:normAutofit fontScale="92500" lnSpcReduction="10000"/>
          </a:bodyPr>
          <a:lstStyle/>
          <a:p>
            <a:r>
              <a:rPr lang="en-US" altLang="zh-TW" dirty="0"/>
              <a:t>3.2.1</a:t>
            </a:r>
            <a:endParaRPr lang="zh-TW" altLang="en-US" dirty="0"/>
          </a:p>
        </p:txBody>
      </p:sp>
      <p:pic>
        <p:nvPicPr>
          <p:cNvPr id="9" name="圖片 8">
            <a:extLst>
              <a:ext uri="{FF2B5EF4-FFF2-40B4-BE49-F238E27FC236}">
                <a16:creationId xmlns:a16="http://schemas.microsoft.com/office/drawing/2014/main" id="{7CD174D1-5700-9F47-45E3-7E729B5168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00469" y="0"/>
            <a:ext cx="6803762" cy="6858000"/>
          </a:xfrm>
          <a:prstGeom prst="rect">
            <a:avLst/>
          </a:prstGeom>
        </p:spPr>
      </p:pic>
      <p:sp>
        <p:nvSpPr>
          <p:cNvPr id="13" name="文字版面配置區 12">
            <a:extLst>
              <a:ext uri="{FF2B5EF4-FFF2-40B4-BE49-F238E27FC236}">
                <a16:creationId xmlns:a16="http://schemas.microsoft.com/office/drawing/2014/main" id="{4F5B9C66-ECB5-44B0-F2D5-0B8AFD781663}"/>
              </a:ext>
            </a:extLst>
          </p:cNvPr>
          <p:cNvSpPr>
            <a:spLocks noGrp="1"/>
          </p:cNvSpPr>
          <p:nvPr>
            <p:ph type="body" sz="quarter" idx="13"/>
          </p:nvPr>
        </p:nvSpPr>
        <p:spPr>
          <a:xfrm>
            <a:off x="1175525" y="124302"/>
            <a:ext cx="5840413" cy="436563"/>
          </a:xfrm>
        </p:spPr>
        <p:txBody>
          <a:bodyPr>
            <a:normAutofit/>
          </a:bodyPr>
          <a:lstStyle/>
          <a:p>
            <a:r>
              <a:rPr lang="en-US" altLang="zh-TW" sz="2000" dirty="0" err="1"/>
              <a:t>datasize</a:t>
            </a:r>
            <a:r>
              <a:rPr lang="en-US" altLang="zh-TW" sz="2000" dirty="0"/>
              <a:t> = 217</a:t>
            </a:r>
            <a:r>
              <a:rPr lang="zh-TW" altLang="en-US" sz="2000" dirty="0"/>
              <a:t>，</a:t>
            </a:r>
            <a:r>
              <a:rPr lang="en-US" altLang="zh-TW" sz="2000" dirty="0"/>
              <a:t>base = 13</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8B7212C6-9EF3-69C9-FEB1-501AA5B5B8D6}"/>
                  </a:ext>
                </a:extLst>
              </p:cNvPr>
              <p:cNvSpPr txBox="1"/>
              <p:nvPr/>
            </p:nvSpPr>
            <p:spPr>
              <a:xfrm>
                <a:off x="254341" y="601813"/>
                <a:ext cx="4996956" cy="6037422"/>
              </a:xfrm>
              <a:prstGeom prst="rect">
                <a:avLst/>
              </a:prstGeom>
              <a:noFill/>
            </p:spPr>
            <p:txBody>
              <a:bodyPr wrap="square" rtlCol="0">
                <a:spAutoFit/>
              </a:bodyPr>
              <a:lstStyle/>
              <a:p>
                <a:pPr>
                  <a:lnSpc>
                    <a:spcPct val="150000"/>
                  </a:lnSpc>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被解釋變數：</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over</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optimism</a:t>
                </a: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參數設定確實影響估計結果與短期真實市場的相關性</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根據調整後</a:t>
                </a:r>
                <a14:m>
                  <m:oMath xmlns:m="http://schemas.openxmlformats.org/officeDocument/2006/math">
                    <m:sSup>
                      <m:sSupPr>
                        <m:ctrlPr>
                          <a:rPr lang="en-US" altLang="zh-TW" sz="2000" i="1">
                            <a:solidFill>
                              <a:schemeClr val="tx2"/>
                            </a:solidFill>
                            <a:latin typeface="Cambria Math" panose="02040503050406030204" pitchFamily="18" charset="0"/>
                            <a:ea typeface="Microsoft JhengHei" panose="020B0604030504040204" pitchFamily="34" charset="-120"/>
                            <a:cs typeface="+mn-ea"/>
                          </a:rPr>
                        </m:ctrlPr>
                      </m:sSupPr>
                      <m:e>
                        <m:r>
                          <m:rPr>
                            <m:sty m:val="p"/>
                          </m:rPr>
                          <a:rPr lang="en-US" altLang="zh-TW" sz="2000" i="1">
                            <a:solidFill>
                              <a:schemeClr val="tx2"/>
                            </a:solidFill>
                            <a:latin typeface="Cambria Math" panose="02040503050406030204" pitchFamily="18" charset="0"/>
                            <a:ea typeface="Microsoft JhengHei" panose="020B0604030504040204" pitchFamily="34" charset="-120"/>
                            <a:cs typeface="+mn-ea"/>
                          </a:rPr>
                          <m:t>R</m:t>
                        </m:r>
                      </m:e>
                      <m:sup>
                        <m:r>
                          <a:rPr lang="en-US" altLang="zh-TW" sz="2000" i="1">
                            <a:solidFill>
                              <a:schemeClr val="tx2"/>
                            </a:solidFill>
                            <a:latin typeface="Cambria Math" panose="02040503050406030204" pitchFamily="18" charset="0"/>
                            <a:ea typeface="Microsoft JhengHei" panose="020B0604030504040204" pitchFamily="34" charset="-120"/>
                            <a:cs typeface="+mn-ea"/>
                          </a:rPr>
                          <m:t>2</m:t>
                        </m:r>
                      </m:sup>
                    </m:sSup>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與權重限制式優化</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方法估計的過度樂觀結果依然展現較好的結果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過去</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5</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日波動率</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依然為正相關</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取得更為顯著的相關性</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僅使用過去</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日報酬率進行回歸分析時獲得不顯著的結果，但同時以過去</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日報酬率與過去</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5</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日波動率進行分析時，兩者皆出現顯著相關結果，顯示單一市場因素可能無法單獨驅動投資者的情緒</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Choice>
        <mc:Fallback xmlns="">
          <p:sp>
            <p:nvSpPr>
              <p:cNvPr id="14" name="文字方塊 13">
                <a:extLst>
                  <a:ext uri="{FF2B5EF4-FFF2-40B4-BE49-F238E27FC236}">
                    <a16:creationId xmlns:a16="http://schemas.microsoft.com/office/drawing/2014/main" id="{8B7212C6-9EF3-69C9-FEB1-501AA5B5B8D6}"/>
                  </a:ext>
                </a:extLst>
              </p:cNvPr>
              <p:cNvSpPr txBox="1">
                <a:spLocks noRot="1" noChangeAspect="1" noMove="1" noResize="1" noEditPoints="1" noAdjustHandles="1" noChangeArrowheads="1" noChangeShapeType="1" noTextEdit="1"/>
              </p:cNvSpPr>
              <p:nvPr/>
            </p:nvSpPr>
            <p:spPr>
              <a:xfrm>
                <a:off x="254341" y="601813"/>
                <a:ext cx="4996956" cy="6037422"/>
              </a:xfrm>
              <a:prstGeom prst="rect">
                <a:avLst/>
              </a:prstGeom>
              <a:blipFill>
                <a:blip r:embed="rId3"/>
                <a:stretch>
                  <a:fillRect l="-1343" r="-1099" b="-909"/>
                </a:stretch>
              </a:blipFill>
            </p:spPr>
            <p:txBody>
              <a:bodyPr/>
              <a:lstStyle/>
              <a:p>
                <a:r>
                  <a:rPr lang="zh-TW" altLang="en-US">
                    <a:noFill/>
                  </a:rPr>
                  <a:t> </a:t>
                </a:r>
              </a:p>
            </p:txBody>
          </p:sp>
        </mc:Fallback>
      </mc:AlternateContent>
      <p:sp>
        <p:nvSpPr>
          <p:cNvPr id="15" name="矩形 14">
            <a:extLst>
              <a:ext uri="{FF2B5EF4-FFF2-40B4-BE49-F238E27FC236}">
                <a16:creationId xmlns:a16="http://schemas.microsoft.com/office/drawing/2014/main" id="{366F7EFC-7E20-B30D-11A5-BBC197F23EB5}"/>
              </a:ext>
            </a:extLst>
          </p:cNvPr>
          <p:cNvSpPr/>
          <p:nvPr/>
        </p:nvSpPr>
        <p:spPr>
          <a:xfrm>
            <a:off x="9032033" y="1412033"/>
            <a:ext cx="706016" cy="46653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78975C7-35C4-8BF7-61F4-B41DDD1B1349}"/>
              </a:ext>
            </a:extLst>
          </p:cNvPr>
          <p:cNvSpPr/>
          <p:nvPr/>
        </p:nvSpPr>
        <p:spPr>
          <a:xfrm>
            <a:off x="6777133" y="2481943"/>
            <a:ext cx="2960915" cy="34894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0685003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EE742D55-CB14-A2F2-ABCC-579C0800A1E9}"/>
              </a:ext>
            </a:extLst>
          </p:cNvPr>
          <p:cNvSpPr>
            <a:spLocks noGrp="1"/>
          </p:cNvSpPr>
          <p:nvPr>
            <p:ph sz="quarter" idx="10"/>
          </p:nvPr>
        </p:nvSpPr>
        <p:spPr>
          <a:xfrm>
            <a:off x="3495870" y="2257714"/>
            <a:ext cx="8011886" cy="1171286"/>
          </a:xfrm>
        </p:spPr>
        <p:txBody>
          <a:bodyPr/>
          <a:lstStyle/>
          <a:p>
            <a:pPr>
              <a:buFont typeface="Wingdings" panose="05000000000000000000" pitchFamily="2" charset="2"/>
              <a:buAutoNum type="circleNumWdWhitePlain" startAt="2"/>
            </a:pPr>
            <a:r>
              <a:rPr lang="zh-TW" altLang="en-US" dirty="0"/>
              <a:t>投資人過度樂觀情緒與未來短期市場之關聯</a:t>
            </a:r>
          </a:p>
        </p:txBody>
      </p:sp>
    </p:spTree>
    <p:extLst>
      <p:ext uri="{BB962C8B-B14F-4D97-AF65-F5344CB8AC3E}">
        <p14:creationId xmlns:p14="http://schemas.microsoft.com/office/powerpoint/2010/main" val="37548264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7CD174D1-5700-9F47-45E3-7E729B516844}"/>
              </a:ext>
            </a:extLst>
          </p:cNvPr>
          <p:cNvPicPr>
            <a:picLocks noChangeAspect="1"/>
          </p:cNvPicPr>
          <p:nvPr/>
        </p:nvPicPr>
        <p:blipFill>
          <a:blip r:embed="rId3">
            <a:extLst>
              <a:ext uri="{28A0092B-C50C-407E-A947-70E740481C1C}">
                <a14:useLocalDpi xmlns:a14="http://schemas.microsoft.com/office/drawing/2010/main" val="0"/>
              </a:ext>
            </a:extLst>
          </a:blip>
          <a:srcRect r="3922" b="2281"/>
          <a:stretch>
            <a:fillRect/>
          </a:stretch>
        </p:blipFill>
        <p:spPr>
          <a:xfrm>
            <a:off x="1" y="1"/>
            <a:ext cx="6199000" cy="6394580"/>
          </a:xfrm>
          <a:prstGeom prst="rect">
            <a:avLst/>
          </a:prstGeom>
        </p:spPr>
      </p:pic>
      <p:sp>
        <p:nvSpPr>
          <p:cNvPr id="15" name="矩形 14">
            <a:extLst>
              <a:ext uri="{FF2B5EF4-FFF2-40B4-BE49-F238E27FC236}">
                <a16:creationId xmlns:a16="http://schemas.microsoft.com/office/drawing/2014/main" id="{366F7EFC-7E20-B30D-11A5-BBC197F23EB5}"/>
              </a:ext>
            </a:extLst>
          </p:cNvPr>
          <p:cNvSpPr/>
          <p:nvPr/>
        </p:nvSpPr>
        <p:spPr>
          <a:xfrm>
            <a:off x="1134818" y="3648721"/>
            <a:ext cx="864636" cy="2873828"/>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78975C7-35C4-8BF7-61F4-B41DDD1B1349}"/>
              </a:ext>
            </a:extLst>
          </p:cNvPr>
          <p:cNvSpPr/>
          <p:nvPr/>
        </p:nvSpPr>
        <p:spPr>
          <a:xfrm>
            <a:off x="7008963" y="2409228"/>
            <a:ext cx="706016" cy="34894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直線接點 10">
            <a:extLst>
              <a:ext uri="{FF2B5EF4-FFF2-40B4-BE49-F238E27FC236}">
                <a16:creationId xmlns:a16="http://schemas.microsoft.com/office/drawing/2014/main" id="{76767733-DC4B-001B-06A2-8B8A9EAE0A8B}"/>
              </a:ext>
            </a:extLst>
          </p:cNvPr>
          <p:cNvCxnSpPr/>
          <p:nvPr/>
        </p:nvCxnSpPr>
        <p:spPr>
          <a:xfrm>
            <a:off x="6199001" y="0"/>
            <a:ext cx="0" cy="6394581"/>
          </a:xfrm>
          <a:prstGeom prst="line">
            <a:avLst/>
          </a:prstGeom>
        </p:spPr>
        <p:style>
          <a:lnRef idx="3">
            <a:schemeClr val="accent1"/>
          </a:lnRef>
          <a:fillRef idx="0">
            <a:schemeClr val="accent1"/>
          </a:fillRef>
          <a:effectRef idx="2">
            <a:schemeClr val="accent1"/>
          </a:effectRef>
          <a:fontRef idx="minor">
            <a:schemeClr val="tx1"/>
          </a:fontRef>
        </p:style>
      </p:cxnSp>
      <p:pic>
        <p:nvPicPr>
          <p:cNvPr id="17" name="圖片 16">
            <a:extLst>
              <a:ext uri="{FF2B5EF4-FFF2-40B4-BE49-F238E27FC236}">
                <a16:creationId xmlns:a16="http://schemas.microsoft.com/office/drawing/2014/main" id="{90754A41-B118-1381-5515-C1EE0626F8C8}"/>
              </a:ext>
            </a:extLst>
          </p:cNvPr>
          <p:cNvPicPr>
            <a:picLocks noChangeAspect="1"/>
          </p:cNvPicPr>
          <p:nvPr/>
        </p:nvPicPr>
        <p:blipFill>
          <a:blip r:embed="rId4"/>
          <a:srcRect l="10057"/>
          <a:stretch>
            <a:fillRect/>
          </a:stretch>
        </p:blipFill>
        <p:spPr>
          <a:xfrm>
            <a:off x="6282819" y="-1"/>
            <a:ext cx="5808281" cy="6394580"/>
          </a:xfrm>
          <a:prstGeom prst="rect">
            <a:avLst/>
          </a:prstGeom>
        </p:spPr>
      </p:pic>
      <p:sp>
        <p:nvSpPr>
          <p:cNvPr id="18" name="矩形 17">
            <a:extLst>
              <a:ext uri="{FF2B5EF4-FFF2-40B4-BE49-F238E27FC236}">
                <a16:creationId xmlns:a16="http://schemas.microsoft.com/office/drawing/2014/main" id="{C77C1C21-32B0-1F55-0179-B28FF1842A43}"/>
              </a:ext>
            </a:extLst>
          </p:cNvPr>
          <p:cNvSpPr/>
          <p:nvPr/>
        </p:nvSpPr>
        <p:spPr>
          <a:xfrm>
            <a:off x="6850343" y="610181"/>
            <a:ext cx="864636" cy="275102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41F3B592-B560-BA62-C39E-9CD489B75E5A}"/>
              </a:ext>
            </a:extLst>
          </p:cNvPr>
          <p:cNvSpPr txBox="1"/>
          <p:nvPr/>
        </p:nvSpPr>
        <p:spPr>
          <a:xfrm>
            <a:off x="1790963" y="2309032"/>
            <a:ext cx="9339493" cy="2416046"/>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被解釋變數：</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future 1 day log return</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，解釋變數：</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over</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optimism</a:t>
            </a:r>
          </a:p>
          <a:p>
            <a:pPr>
              <a:buClr>
                <a:schemeClr val="accent1"/>
              </a:buClr>
            </a:pP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342900" indent="-34290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在</a:t>
            </a: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datasize</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 = 208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base = 11 </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原始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 </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方法取得較好的模型解釋力，且模型表現出投資者的過度樂觀情緒與未來一日的對數報酬率呈現顯著負相關</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342900" indent="-342900">
              <a:buClr>
                <a:schemeClr val="accent1"/>
              </a:buClr>
              <a:buFont typeface="Arial" panose="020B0604020202020204" pitchFamily="34" charset="0"/>
              <a:buChar char="•"/>
            </a:pPr>
            <a:endParaRPr lang="en-US" altLang="zh-TW" sz="1100" dirty="0">
              <a:solidFill>
                <a:schemeClr val="tx2"/>
              </a:solidFill>
              <a:latin typeface="Microsoft JhengHei" panose="020B0604030504040204" pitchFamily="34" charset="-120"/>
              <a:ea typeface="Microsoft JhengHei" panose="020B0604030504040204" pitchFamily="34" charset="-120"/>
              <a:cs typeface="+mn-ea"/>
            </a:endParaRPr>
          </a:p>
          <a:p>
            <a:pPr marL="342900" indent="-34290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在</a:t>
            </a: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datasize</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base= 13</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的設定下，則是以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與權重限制式優化</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方法估計的過度樂觀結果對未來一日的對數報酬率展現較好的解釋力，並且，在此過度樂觀情緒與未來一日的對數報酬率呈現更顯著的正相關性</a:t>
            </a:r>
          </a:p>
        </p:txBody>
      </p:sp>
    </p:spTree>
    <p:extLst>
      <p:ext uri="{BB962C8B-B14F-4D97-AF65-F5344CB8AC3E}">
        <p14:creationId xmlns:p14="http://schemas.microsoft.com/office/powerpoint/2010/main" val="3203205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EE742D55-CB14-A2F2-ABCC-579C0800A1E9}"/>
              </a:ext>
            </a:extLst>
          </p:cNvPr>
          <p:cNvSpPr>
            <a:spLocks noGrp="1"/>
          </p:cNvSpPr>
          <p:nvPr>
            <p:ph sz="quarter" idx="10"/>
          </p:nvPr>
        </p:nvSpPr>
        <p:spPr>
          <a:xfrm>
            <a:off x="3495870" y="2257714"/>
            <a:ext cx="8011886" cy="1171286"/>
          </a:xfrm>
        </p:spPr>
        <p:txBody>
          <a:bodyPr/>
          <a:lstStyle/>
          <a:p>
            <a:pPr>
              <a:buFont typeface="Wingdings" panose="05000000000000000000" pitchFamily="2" charset="2"/>
              <a:buAutoNum type="circleNumWdWhitePlain" startAt="3"/>
            </a:pPr>
            <a:r>
              <a:rPr lang="zh-TW" altLang="en-US" dirty="0"/>
              <a:t>短期市場動態與投資人過度自信情緒之關聯</a:t>
            </a:r>
          </a:p>
        </p:txBody>
      </p:sp>
    </p:spTree>
    <p:extLst>
      <p:ext uri="{BB962C8B-B14F-4D97-AF65-F5344CB8AC3E}">
        <p14:creationId xmlns:p14="http://schemas.microsoft.com/office/powerpoint/2010/main" val="34601679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82D6358D-F87F-6D99-8766-90373386AC6A}"/>
              </a:ext>
            </a:extLst>
          </p:cNvPr>
          <p:cNvSpPr>
            <a:spLocks noGrp="1"/>
          </p:cNvSpPr>
          <p:nvPr>
            <p:ph sz="quarter" idx="14"/>
          </p:nvPr>
        </p:nvSpPr>
        <p:spPr/>
        <p:txBody>
          <a:bodyPr>
            <a:normAutofit fontScale="92500" lnSpcReduction="10000"/>
          </a:bodyPr>
          <a:lstStyle/>
          <a:p>
            <a:r>
              <a:rPr lang="en-US" altLang="zh-TW" dirty="0"/>
              <a:t>3.2.3</a:t>
            </a:r>
            <a:endParaRPr lang="zh-TW" altLang="en-US" dirty="0"/>
          </a:p>
        </p:txBody>
      </p:sp>
      <p:pic>
        <p:nvPicPr>
          <p:cNvPr id="9" name="圖片 8">
            <a:extLst>
              <a:ext uri="{FF2B5EF4-FFF2-40B4-BE49-F238E27FC236}">
                <a16:creationId xmlns:a16="http://schemas.microsoft.com/office/drawing/2014/main" id="{7CD174D1-5700-9F47-45E3-7E729B5168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94499" y="0"/>
            <a:ext cx="6815703" cy="6858000"/>
          </a:xfrm>
          <a:prstGeom prst="rect">
            <a:avLst/>
          </a:prstGeom>
        </p:spPr>
      </p:pic>
      <p:sp>
        <p:nvSpPr>
          <p:cNvPr id="13" name="文字版面配置區 12">
            <a:extLst>
              <a:ext uri="{FF2B5EF4-FFF2-40B4-BE49-F238E27FC236}">
                <a16:creationId xmlns:a16="http://schemas.microsoft.com/office/drawing/2014/main" id="{4F5B9C66-ECB5-44B0-F2D5-0B8AFD781663}"/>
              </a:ext>
            </a:extLst>
          </p:cNvPr>
          <p:cNvSpPr>
            <a:spLocks noGrp="1"/>
          </p:cNvSpPr>
          <p:nvPr>
            <p:ph type="body" sz="quarter" idx="13"/>
          </p:nvPr>
        </p:nvSpPr>
        <p:spPr>
          <a:xfrm>
            <a:off x="1175525" y="124302"/>
            <a:ext cx="5840413" cy="436563"/>
          </a:xfrm>
        </p:spPr>
        <p:txBody>
          <a:bodyPr>
            <a:normAutofit/>
          </a:bodyPr>
          <a:lstStyle/>
          <a:p>
            <a:r>
              <a:rPr lang="en-US" altLang="zh-TW" sz="2000" dirty="0" err="1"/>
              <a:t>datasize</a:t>
            </a:r>
            <a:r>
              <a:rPr lang="en-US" altLang="zh-TW" sz="2000" dirty="0"/>
              <a:t> = 208</a:t>
            </a:r>
            <a:r>
              <a:rPr lang="zh-TW" altLang="en-US" sz="2000" dirty="0"/>
              <a:t>，</a:t>
            </a:r>
            <a:r>
              <a:rPr lang="en-US" altLang="zh-TW" sz="2000" dirty="0"/>
              <a:t>base = 11</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8B7212C6-9EF3-69C9-FEB1-501AA5B5B8D6}"/>
                  </a:ext>
                </a:extLst>
              </p:cNvPr>
              <p:cNvSpPr txBox="1"/>
              <p:nvPr/>
            </p:nvSpPr>
            <p:spPr>
              <a:xfrm>
                <a:off x="285443" y="802434"/>
                <a:ext cx="4996956" cy="6037422"/>
              </a:xfrm>
              <a:prstGeom prst="rect">
                <a:avLst/>
              </a:prstGeom>
              <a:noFill/>
            </p:spPr>
            <p:txBody>
              <a:bodyPr wrap="square" rtlCol="0">
                <a:spAutoFit/>
              </a:bodyPr>
              <a:lstStyle/>
              <a:p>
                <a:pPr>
                  <a:lnSpc>
                    <a:spcPct val="150000"/>
                  </a:lnSpc>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被解釋變數：</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over</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confidence</a:t>
                </a: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根據調整後</a:t>
                </a:r>
                <a14:m>
                  <m:oMath xmlns:m="http://schemas.openxmlformats.org/officeDocument/2006/math">
                    <m:sSup>
                      <m:sSupPr>
                        <m:ctrlPr>
                          <a:rPr lang="en-US" altLang="zh-TW" sz="2000" i="1">
                            <a:solidFill>
                              <a:schemeClr val="tx2"/>
                            </a:solidFill>
                            <a:latin typeface="Cambria Math" panose="02040503050406030204" pitchFamily="18" charset="0"/>
                            <a:ea typeface="Microsoft JhengHei" panose="020B0604030504040204" pitchFamily="34" charset="-120"/>
                            <a:cs typeface="+mn-ea"/>
                          </a:rPr>
                        </m:ctrlPr>
                      </m:sSupPr>
                      <m:e>
                        <m:r>
                          <m:rPr>
                            <m:sty m:val="p"/>
                          </m:rPr>
                          <a:rPr lang="en-US" altLang="zh-TW" sz="2000" i="1">
                            <a:solidFill>
                              <a:schemeClr val="tx2"/>
                            </a:solidFill>
                            <a:latin typeface="Cambria Math" panose="02040503050406030204" pitchFamily="18" charset="0"/>
                            <a:ea typeface="Microsoft JhengHei" panose="020B0604030504040204" pitchFamily="34" charset="-120"/>
                            <a:cs typeface="+mn-ea"/>
                          </a:rPr>
                          <m:t>R</m:t>
                        </m:r>
                      </m:e>
                      <m:sup>
                        <m:r>
                          <a:rPr lang="en-US" altLang="zh-TW" sz="2000" i="1">
                            <a:solidFill>
                              <a:schemeClr val="tx2"/>
                            </a:solidFill>
                            <a:latin typeface="Cambria Math" panose="02040503050406030204" pitchFamily="18" charset="0"/>
                            <a:ea typeface="Microsoft JhengHei" panose="020B0604030504040204" pitchFamily="34" charset="-120"/>
                            <a:cs typeface="+mn-ea"/>
                          </a:rPr>
                          <m:t>2</m:t>
                        </m:r>
                      </m:sup>
                    </m:sSup>
                    <m:r>
                      <a:rPr lang="en-US" altLang="zh-TW" sz="2000" i="1">
                        <a:solidFill>
                          <a:schemeClr val="tx2"/>
                        </a:solidFill>
                        <a:latin typeface="Cambria Math" panose="02040503050406030204" pitchFamily="18" charset="0"/>
                        <a:ea typeface="Microsoft JhengHei" panose="020B0604030504040204" pitchFamily="34" charset="-120"/>
                        <a:cs typeface="+mn-ea"/>
                      </a:rPr>
                      <m:t> </m:t>
                    </m:r>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與權重限制式優化</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方法估計的過度自信結果展現更多與短期市場動態變數的相關性</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短期市場動態變數皆無法呈現高度顯著的相關性，僅有：</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913765" lvl="1" indent="-457200">
                  <a:lnSpc>
                    <a:spcPct val="150000"/>
                  </a:lnSpc>
                  <a:buClr>
                    <a:schemeClr val="accent1"/>
                  </a:buClr>
                  <a:buFont typeface="+mj-lt"/>
                  <a:buAutoNum type="arabicPeriod"/>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過去</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5</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日波動率</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913765" lvl="1" indent="-457200">
                  <a:lnSpc>
                    <a:spcPct val="150000"/>
                  </a:lnSpc>
                  <a:buClr>
                    <a:schemeClr val="accent1"/>
                  </a:buClr>
                  <a:buFont typeface="+mj-lt"/>
                  <a:buAutoNum type="arabicPeriod"/>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加入前一交易日對數報酬率作為控制變數的當日對數報酬率</a:t>
                </a:r>
              </a:p>
              <a:p>
                <a:pPr indent="271463">
                  <a:lnSpc>
                    <a:spcPct val="150000"/>
                  </a:lnSpc>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呈現些微顯著</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342900" indent="-34290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過度自信的滯後項亦呈現高度顯著，顯示過度自信情緒具有強烈的持續性特徵</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indent="271463">
                  <a:lnSpc>
                    <a:spcPct val="150000"/>
                  </a:lnSpc>
                  <a:buClr>
                    <a:schemeClr val="accent1"/>
                  </a:buClr>
                </a:pP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Choice>
        <mc:Fallback xmlns="">
          <p:sp>
            <p:nvSpPr>
              <p:cNvPr id="14" name="文字方塊 13">
                <a:extLst>
                  <a:ext uri="{FF2B5EF4-FFF2-40B4-BE49-F238E27FC236}">
                    <a16:creationId xmlns:a16="http://schemas.microsoft.com/office/drawing/2014/main" id="{8B7212C6-9EF3-69C9-FEB1-501AA5B5B8D6}"/>
                  </a:ext>
                </a:extLst>
              </p:cNvPr>
              <p:cNvSpPr txBox="1">
                <a:spLocks noRot="1" noChangeAspect="1" noMove="1" noResize="1" noEditPoints="1" noAdjustHandles="1" noChangeArrowheads="1" noChangeShapeType="1" noTextEdit="1"/>
              </p:cNvSpPr>
              <p:nvPr/>
            </p:nvSpPr>
            <p:spPr>
              <a:xfrm>
                <a:off x="285443" y="802434"/>
                <a:ext cx="4996956" cy="6037422"/>
              </a:xfrm>
              <a:prstGeom prst="rect">
                <a:avLst/>
              </a:prstGeom>
              <a:blipFill>
                <a:blip r:embed="rId3"/>
                <a:stretch>
                  <a:fillRect l="-1341" r="-976"/>
                </a:stretch>
              </a:blipFill>
            </p:spPr>
            <p:txBody>
              <a:bodyPr/>
              <a:lstStyle/>
              <a:p>
                <a:r>
                  <a:rPr lang="zh-TW" altLang="en-US">
                    <a:noFill/>
                  </a:rPr>
                  <a:t> </a:t>
                </a:r>
              </a:p>
            </p:txBody>
          </p:sp>
        </mc:Fallback>
      </mc:AlternateContent>
      <p:sp>
        <p:nvSpPr>
          <p:cNvPr id="15" name="矩形 14">
            <a:extLst>
              <a:ext uri="{FF2B5EF4-FFF2-40B4-BE49-F238E27FC236}">
                <a16:creationId xmlns:a16="http://schemas.microsoft.com/office/drawing/2014/main" id="{366F7EFC-7E20-B30D-11A5-BBC197F23EB5}"/>
              </a:ext>
            </a:extLst>
          </p:cNvPr>
          <p:cNvSpPr/>
          <p:nvPr/>
        </p:nvSpPr>
        <p:spPr>
          <a:xfrm>
            <a:off x="8985381" y="1412033"/>
            <a:ext cx="706016" cy="46653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78975C7-35C4-8BF7-61F4-B41DDD1B1349}"/>
              </a:ext>
            </a:extLst>
          </p:cNvPr>
          <p:cNvSpPr/>
          <p:nvPr/>
        </p:nvSpPr>
        <p:spPr>
          <a:xfrm>
            <a:off x="6709804" y="2144368"/>
            <a:ext cx="1799757" cy="34894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矩形 1">
            <a:extLst>
              <a:ext uri="{FF2B5EF4-FFF2-40B4-BE49-F238E27FC236}">
                <a16:creationId xmlns:a16="http://schemas.microsoft.com/office/drawing/2014/main" id="{805914A3-720E-D89E-925C-C32ACF6A0804}"/>
              </a:ext>
            </a:extLst>
          </p:cNvPr>
          <p:cNvSpPr/>
          <p:nvPr/>
        </p:nvSpPr>
        <p:spPr>
          <a:xfrm>
            <a:off x="10027299" y="1775927"/>
            <a:ext cx="706016" cy="46653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752870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82D6358D-F87F-6D99-8766-90373386AC6A}"/>
              </a:ext>
            </a:extLst>
          </p:cNvPr>
          <p:cNvSpPr>
            <a:spLocks noGrp="1"/>
          </p:cNvSpPr>
          <p:nvPr>
            <p:ph sz="quarter" idx="14"/>
          </p:nvPr>
        </p:nvSpPr>
        <p:spPr/>
        <p:txBody>
          <a:bodyPr>
            <a:normAutofit fontScale="92500" lnSpcReduction="10000"/>
          </a:bodyPr>
          <a:lstStyle/>
          <a:p>
            <a:r>
              <a:rPr lang="en-US" altLang="zh-TW" dirty="0"/>
              <a:t>3.2.3</a:t>
            </a:r>
            <a:endParaRPr lang="zh-TW" altLang="en-US" dirty="0"/>
          </a:p>
        </p:txBody>
      </p:sp>
      <p:pic>
        <p:nvPicPr>
          <p:cNvPr id="9" name="圖片 8">
            <a:extLst>
              <a:ext uri="{FF2B5EF4-FFF2-40B4-BE49-F238E27FC236}">
                <a16:creationId xmlns:a16="http://schemas.microsoft.com/office/drawing/2014/main" id="{7CD174D1-5700-9F47-45E3-7E729B5168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06524" y="0"/>
            <a:ext cx="6791651" cy="6858000"/>
          </a:xfrm>
          <a:prstGeom prst="rect">
            <a:avLst/>
          </a:prstGeom>
        </p:spPr>
      </p:pic>
      <p:sp>
        <p:nvSpPr>
          <p:cNvPr id="13" name="文字版面配置區 12">
            <a:extLst>
              <a:ext uri="{FF2B5EF4-FFF2-40B4-BE49-F238E27FC236}">
                <a16:creationId xmlns:a16="http://schemas.microsoft.com/office/drawing/2014/main" id="{4F5B9C66-ECB5-44B0-F2D5-0B8AFD781663}"/>
              </a:ext>
            </a:extLst>
          </p:cNvPr>
          <p:cNvSpPr>
            <a:spLocks noGrp="1"/>
          </p:cNvSpPr>
          <p:nvPr>
            <p:ph type="body" sz="quarter" idx="13"/>
          </p:nvPr>
        </p:nvSpPr>
        <p:spPr>
          <a:xfrm>
            <a:off x="1175525" y="124302"/>
            <a:ext cx="5840413" cy="436563"/>
          </a:xfrm>
        </p:spPr>
        <p:txBody>
          <a:bodyPr>
            <a:normAutofit/>
          </a:bodyPr>
          <a:lstStyle/>
          <a:p>
            <a:r>
              <a:rPr lang="en-US" altLang="zh-TW" sz="2000" dirty="0" err="1"/>
              <a:t>datasize</a:t>
            </a:r>
            <a:r>
              <a:rPr lang="en-US" altLang="zh-TW" sz="2000" dirty="0"/>
              <a:t> = 217</a:t>
            </a:r>
            <a:r>
              <a:rPr lang="zh-TW" altLang="en-US" sz="2000" dirty="0"/>
              <a:t>，</a:t>
            </a:r>
            <a:r>
              <a:rPr lang="en-US" altLang="zh-TW" sz="2000" dirty="0"/>
              <a:t>base = 13</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8B7212C6-9EF3-69C9-FEB1-501AA5B5B8D6}"/>
                  </a:ext>
                </a:extLst>
              </p:cNvPr>
              <p:cNvSpPr txBox="1"/>
              <p:nvPr/>
            </p:nvSpPr>
            <p:spPr>
              <a:xfrm>
                <a:off x="254340" y="601813"/>
                <a:ext cx="5052183" cy="4190763"/>
              </a:xfrm>
              <a:prstGeom prst="rect">
                <a:avLst/>
              </a:prstGeom>
              <a:noFill/>
            </p:spPr>
            <p:txBody>
              <a:bodyPr wrap="square" rtlCol="0">
                <a:spAutoFit/>
              </a:bodyPr>
              <a:lstStyle/>
              <a:p>
                <a:pPr>
                  <a:lnSpc>
                    <a:spcPct val="150000"/>
                  </a:lnSpc>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被解釋變數：</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over</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confidence</a:t>
                </a: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參數的調整為大部分的模型帶來較高的調整後</a:t>
                </a:r>
                <a14:m>
                  <m:oMath xmlns:m="http://schemas.openxmlformats.org/officeDocument/2006/math">
                    <m:sSup>
                      <m:sSupPr>
                        <m:ctrlPr>
                          <a:rPr lang="en-US" altLang="zh-TW" sz="2000" i="1">
                            <a:solidFill>
                              <a:schemeClr val="tx2"/>
                            </a:solidFill>
                            <a:latin typeface="Cambria Math" panose="02040503050406030204" pitchFamily="18" charset="0"/>
                            <a:ea typeface="Microsoft JhengHei" panose="020B0604030504040204" pitchFamily="34" charset="-120"/>
                            <a:cs typeface="+mn-ea"/>
                          </a:rPr>
                        </m:ctrlPr>
                      </m:sSupPr>
                      <m:e>
                        <m:r>
                          <m:rPr>
                            <m:sty m:val="p"/>
                          </m:rPr>
                          <a:rPr lang="en-US" altLang="zh-TW" sz="2000" i="1">
                            <a:solidFill>
                              <a:schemeClr val="tx2"/>
                            </a:solidFill>
                            <a:latin typeface="Cambria Math" panose="02040503050406030204" pitchFamily="18" charset="0"/>
                            <a:ea typeface="Microsoft JhengHei" panose="020B0604030504040204" pitchFamily="34" charset="-120"/>
                            <a:cs typeface="+mn-ea"/>
                          </a:rPr>
                          <m:t>R</m:t>
                        </m:r>
                      </m:e>
                      <m:sup>
                        <m:r>
                          <a:rPr lang="en-US" altLang="zh-TW" sz="2000" i="1">
                            <a:solidFill>
                              <a:schemeClr val="tx2"/>
                            </a:solidFill>
                            <a:latin typeface="Cambria Math" panose="02040503050406030204" pitchFamily="18" charset="0"/>
                            <a:ea typeface="Microsoft JhengHei" panose="020B0604030504040204" pitchFamily="34" charset="-120"/>
                            <a:cs typeface="+mn-ea"/>
                          </a:rPr>
                          <m:t>2</m:t>
                        </m:r>
                      </m:sup>
                    </m:sSup>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與權重限制式優化</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方法估計的過度自信結果依然展現較好的結果，且滯後項由高度顯著變為些微顯著</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過去</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5</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日波動率依然取得顯著的相關性</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285750" indent="-28575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前一交易日對數報酬率在加入過去</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5</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日波動率作為控制變數後呈現顯著負相關影響</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mc:Choice>
        <mc:Fallback xmlns="">
          <p:sp>
            <p:nvSpPr>
              <p:cNvPr id="14" name="文字方塊 13">
                <a:extLst>
                  <a:ext uri="{FF2B5EF4-FFF2-40B4-BE49-F238E27FC236}">
                    <a16:creationId xmlns:a16="http://schemas.microsoft.com/office/drawing/2014/main" id="{8B7212C6-9EF3-69C9-FEB1-501AA5B5B8D6}"/>
                  </a:ext>
                </a:extLst>
              </p:cNvPr>
              <p:cNvSpPr txBox="1">
                <a:spLocks noRot="1" noChangeAspect="1" noMove="1" noResize="1" noEditPoints="1" noAdjustHandles="1" noChangeArrowheads="1" noChangeShapeType="1" noTextEdit="1"/>
              </p:cNvSpPr>
              <p:nvPr/>
            </p:nvSpPr>
            <p:spPr>
              <a:xfrm>
                <a:off x="254340" y="601813"/>
                <a:ext cx="5052183" cy="4190763"/>
              </a:xfrm>
              <a:prstGeom prst="rect">
                <a:avLst/>
              </a:prstGeom>
              <a:blipFill>
                <a:blip r:embed="rId3"/>
                <a:stretch>
                  <a:fillRect l="-1329" r="-1329" b="-1747"/>
                </a:stretch>
              </a:blipFill>
            </p:spPr>
            <p:txBody>
              <a:bodyPr/>
              <a:lstStyle/>
              <a:p>
                <a:r>
                  <a:rPr lang="zh-TW" altLang="en-US">
                    <a:noFill/>
                  </a:rPr>
                  <a:t> </a:t>
                </a:r>
              </a:p>
            </p:txBody>
          </p:sp>
        </mc:Fallback>
      </mc:AlternateContent>
      <p:sp>
        <p:nvSpPr>
          <p:cNvPr id="15" name="矩形 14">
            <a:extLst>
              <a:ext uri="{FF2B5EF4-FFF2-40B4-BE49-F238E27FC236}">
                <a16:creationId xmlns:a16="http://schemas.microsoft.com/office/drawing/2014/main" id="{366F7EFC-7E20-B30D-11A5-BBC197F23EB5}"/>
              </a:ext>
            </a:extLst>
          </p:cNvPr>
          <p:cNvSpPr/>
          <p:nvPr/>
        </p:nvSpPr>
        <p:spPr>
          <a:xfrm>
            <a:off x="9032033" y="1412033"/>
            <a:ext cx="706016" cy="46653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78975C7-35C4-8BF7-61F4-B41DDD1B1349}"/>
              </a:ext>
            </a:extLst>
          </p:cNvPr>
          <p:cNvSpPr/>
          <p:nvPr/>
        </p:nvSpPr>
        <p:spPr>
          <a:xfrm>
            <a:off x="6777133" y="2481943"/>
            <a:ext cx="2960915" cy="34894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319479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EE742D55-CB14-A2F2-ABCC-579C0800A1E9}"/>
              </a:ext>
            </a:extLst>
          </p:cNvPr>
          <p:cNvSpPr>
            <a:spLocks noGrp="1"/>
          </p:cNvSpPr>
          <p:nvPr>
            <p:ph sz="quarter" idx="10"/>
          </p:nvPr>
        </p:nvSpPr>
        <p:spPr>
          <a:xfrm>
            <a:off x="3495870" y="2257714"/>
            <a:ext cx="8011886" cy="1171286"/>
          </a:xfrm>
        </p:spPr>
        <p:txBody>
          <a:bodyPr/>
          <a:lstStyle/>
          <a:p>
            <a:pPr>
              <a:buFont typeface="Wingdings" panose="05000000000000000000" pitchFamily="2" charset="2"/>
              <a:buAutoNum type="circleNumWdWhitePlain" startAt="4"/>
            </a:pPr>
            <a:r>
              <a:rPr lang="zh-TW" altLang="en-US" dirty="0"/>
              <a:t>投資人過度自信情緒與未來短期市場之關聯</a:t>
            </a:r>
          </a:p>
        </p:txBody>
      </p:sp>
    </p:spTree>
    <p:extLst>
      <p:ext uri="{BB962C8B-B14F-4D97-AF65-F5344CB8AC3E}">
        <p14:creationId xmlns:p14="http://schemas.microsoft.com/office/powerpoint/2010/main" val="39376682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789A8DE8-EE37-49FB-44B1-5A968ED736AE}"/>
              </a:ext>
            </a:extLst>
          </p:cNvPr>
          <p:cNvPicPr>
            <a:picLocks noChangeAspect="1"/>
          </p:cNvPicPr>
          <p:nvPr/>
        </p:nvPicPr>
        <p:blipFill>
          <a:blip r:embed="rId3"/>
          <a:srcRect b="2805"/>
          <a:stretch>
            <a:fillRect/>
          </a:stretch>
        </p:blipFill>
        <p:spPr>
          <a:xfrm>
            <a:off x="6255992" y="-1"/>
            <a:ext cx="5842934" cy="6394581"/>
          </a:xfrm>
          <a:prstGeom prst="rect">
            <a:avLst/>
          </a:prstGeom>
        </p:spPr>
      </p:pic>
      <p:pic>
        <p:nvPicPr>
          <p:cNvPr id="3" name="圖片 2">
            <a:extLst>
              <a:ext uri="{FF2B5EF4-FFF2-40B4-BE49-F238E27FC236}">
                <a16:creationId xmlns:a16="http://schemas.microsoft.com/office/drawing/2014/main" id="{7F4597A3-11BE-0407-0015-1FF50E530379}"/>
              </a:ext>
            </a:extLst>
          </p:cNvPr>
          <p:cNvPicPr>
            <a:picLocks noChangeAspect="1"/>
          </p:cNvPicPr>
          <p:nvPr/>
        </p:nvPicPr>
        <p:blipFill>
          <a:blip r:embed="rId4"/>
          <a:srcRect t="-1" r="4246" b="2354"/>
          <a:stretch>
            <a:fillRect/>
          </a:stretch>
        </p:blipFill>
        <p:spPr>
          <a:xfrm>
            <a:off x="-28494" y="0"/>
            <a:ext cx="6199000" cy="6394581"/>
          </a:xfrm>
          <a:prstGeom prst="rect">
            <a:avLst/>
          </a:prstGeom>
        </p:spPr>
      </p:pic>
      <p:cxnSp>
        <p:nvCxnSpPr>
          <p:cNvPr id="11" name="直線接點 10">
            <a:extLst>
              <a:ext uri="{FF2B5EF4-FFF2-40B4-BE49-F238E27FC236}">
                <a16:creationId xmlns:a16="http://schemas.microsoft.com/office/drawing/2014/main" id="{76767733-DC4B-001B-06A2-8B8A9EAE0A8B}"/>
              </a:ext>
            </a:extLst>
          </p:cNvPr>
          <p:cNvCxnSpPr/>
          <p:nvPr/>
        </p:nvCxnSpPr>
        <p:spPr>
          <a:xfrm>
            <a:off x="6199001" y="0"/>
            <a:ext cx="0" cy="6394581"/>
          </a:xfrm>
          <a:prstGeom prst="line">
            <a:avLst/>
          </a:prstGeom>
        </p:spPr>
        <p:style>
          <a:lnRef idx="3">
            <a:schemeClr val="accent1"/>
          </a:lnRef>
          <a:fillRef idx="0">
            <a:schemeClr val="accent1"/>
          </a:fillRef>
          <a:effectRef idx="2">
            <a:schemeClr val="accent1"/>
          </a:effectRef>
          <a:fontRef idx="minor">
            <a:schemeClr val="tx1"/>
          </a:fontRef>
        </p:style>
      </p:cxnSp>
      <p:sp>
        <p:nvSpPr>
          <p:cNvPr id="18" name="矩形 17">
            <a:extLst>
              <a:ext uri="{FF2B5EF4-FFF2-40B4-BE49-F238E27FC236}">
                <a16:creationId xmlns:a16="http://schemas.microsoft.com/office/drawing/2014/main" id="{C77C1C21-32B0-1F55-0179-B28FF1842A43}"/>
              </a:ext>
            </a:extLst>
          </p:cNvPr>
          <p:cNvSpPr/>
          <p:nvPr/>
        </p:nvSpPr>
        <p:spPr>
          <a:xfrm>
            <a:off x="6850343" y="610181"/>
            <a:ext cx="864636" cy="5784399"/>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69A313AF-41E6-84BC-405A-816670C2E3E0}"/>
              </a:ext>
            </a:extLst>
          </p:cNvPr>
          <p:cNvSpPr txBox="1"/>
          <p:nvPr/>
        </p:nvSpPr>
        <p:spPr>
          <a:xfrm>
            <a:off x="1790963" y="2309032"/>
            <a:ext cx="9339493" cy="2246769"/>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被解釋變數：</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future 1 day log return</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，解釋變數：</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over</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confidence</a:t>
            </a:r>
          </a:p>
          <a:p>
            <a:pPr>
              <a:buClr>
                <a:schemeClr val="accent1"/>
              </a:buClr>
            </a:pP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342900" indent="-34290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在</a:t>
            </a: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datasize</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 = 208</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base = 11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設定下，投資人過度自信情緒對未來一個工作日的對數報酬率無呈現顯著影響</a:t>
            </a:r>
            <a:endParaRPr lang="en-US" altLang="zh-TW" sz="1100" dirty="0">
              <a:solidFill>
                <a:schemeClr val="tx2"/>
              </a:solidFill>
              <a:latin typeface="Microsoft JhengHei" panose="020B0604030504040204" pitchFamily="34" charset="-120"/>
              <a:ea typeface="Microsoft JhengHei" panose="020B0604030504040204" pitchFamily="34" charset="-120"/>
              <a:cs typeface="+mn-ea"/>
            </a:endParaRPr>
          </a:p>
          <a:p>
            <a:pPr marL="342900" indent="-342900">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在</a:t>
            </a:r>
            <a:r>
              <a:rPr lang="en-US" altLang="zh-TW" sz="2000" dirty="0" err="1">
                <a:solidFill>
                  <a:schemeClr val="tx2"/>
                </a:solidFill>
                <a:latin typeface="Microsoft JhengHei" panose="020B0604030504040204" pitchFamily="34" charset="-120"/>
                <a:ea typeface="Microsoft JhengHei" panose="020B0604030504040204" pitchFamily="34" charset="-120"/>
                <a:cs typeface="+mn-ea"/>
              </a:rPr>
              <a:t>datasize</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=217</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base= 13</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的設定下，不管使用何種方式估計定價核，投資人過度自信情緒對未來一個工作日的對數報酬率皆能呈現顯著正相關影響，並且以</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與權重限制式優化</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方法估計的結果呈現更為顯著的關聯性</a:t>
            </a:r>
          </a:p>
        </p:txBody>
      </p:sp>
    </p:spTree>
    <p:extLst>
      <p:ext uri="{BB962C8B-B14F-4D97-AF65-F5344CB8AC3E}">
        <p14:creationId xmlns:p14="http://schemas.microsoft.com/office/powerpoint/2010/main" val="175585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6010AD07-9778-ACFC-7E78-9B36A3D6082C}"/>
              </a:ext>
            </a:extLst>
          </p:cNvPr>
          <p:cNvSpPr>
            <a:spLocks noGrp="1"/>
          </p:cNvSpPr>
          <p:nvPr>
            <p:ph sz="quarter" idx="10"/>
          </p:nvPr>
        </p:nvSpPr>
        <p:spPr>
          <a:xfrm>
            <a:off x="5063837" y="2843357"/>
            <a:ext cx="6095999" cy="1171286"/>
          </a:xfrm>
        </p:spPr>
        <p:txBody>
          <a:bodyPr/>
          <a:lstStyle/>
          <a:p>
            <a:pPr>
              <a:buFont typeface="+mj-ea"/>
              <a:buAutoNum type="ea1ChtPeriod" startAt="4"/>
            </a:pPr>
            <a:r>
              <a:rPr lang="zh-TW" altLang="en-US" dirty="0"/>
              <a:t> 結論與未來研究建議</a:t>
            </a:r>
          </a:p>
        </p:txBody>
      </p:sp>
    </p:spTree>
    <p:extLst>
      <p:ext uri="{BB962C8B-B14F-4D97-AF65-F5344CB8AC3E}">
        <p14:creationId xmlns:p14="http://schemas.microsoft.com/office/powerpoint/2010/main" val="32854020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7E27B76C-E814-E3AF-3412-B9984EC6F9FA}"/>
              </a:ext>
            </a:extLst>
          </p:cNvPr>
          <p:cNvSpPr>
            <a:spLocks noGrp="1"/>
          </p:cNvSpPr>
          <p:nvPr>
            <p:ph type="body" sz="quarter" idx="10"/>
          </p:nvPr>
        </p:nvSpPr>
        <p:spPr/>
        <p:txBody>
          <a:bodyPr/>
          <a:lstStyle/>
          <a:p>
            <a:r>
              <a:rPr lang="zh-TW" altLang="en-US" dirty="0"/>
              <a:t>結論</a:t>
            </a:r>
          </a:p>
        </p:txBody>
      </p:sp>
      <p:sp>
        <p:nvSpPr>
          <p:cNvPr id="4" name="內容版面配置區 3">
            <a:extLst>
              <a:ext uri="{FF2B5EF4-FFF2-40B4-BE49-F238E27FC236}">
                <a16:creationId xmlns:a16="http://schemas.microsoft.com/office/drawing/2014/main" id="{FF04016E-7040-F13C-12F0-D48C28B69246}"/>
              </a:ext>
            </a:extLst>
          </p:cNvPr>
          <p:cNvSpPr>
            <a:spLocks noGrp="1"/>
          </p:cNvSpPr>
          <p:nvPr>
            <p:ph sz="quarter" idx="11"/>
          </p:nvPr>
        </p:nvSpPr>
        <p:spPr/>
        <p:txBody>
          <a:bodyPr/>
          <a:lstStyle/>
          <a:p>
            <a:r>
              <a:rPr lang="en-US" altLang="zh-TW" dirty="0"/>
              <a:t>4.1</a:t>
            </a:r>
            <a:endParaRPr lang="zh-TW" altLang="en-US" dirty="0"/>
          </a:p>
        </p:txBody>
      </p:sp>
      <p:sp>
        <p:nvSpPr>
          <p:cNvPr id="7" name="內容版面配置區 6">
            <a:extLst>
              <a:ext uri="{FF2B5EF4-FFF2-40B4-BE49-F238E27FC236}">
                <a16:creationId xmlns:a16="http://schemas.microsoft.com/office/drawing/2014/main" id="{9FD06BF8-151A-5D24-BB78-14D915B9A47C}"/>
              </a:ext>
            </a:extLst>
          </p:cNvPr>
          <p:cNvSpPr>
            <a:spLocks noGrp="1"/>
          </p:cNvSpPr>
          <p:nvPr>
            <p:ph sz="quarter" idx="14"/>
          </p:nvPr>
        </p:nvSpPr>
        <p:spPr>
          <a:xfrm>
            <a:off x="846761" y="1154035"/>
            <a:ext cx="10498478" cy="4322413"/>
          </a:xfrm>
        </p:spPr>
        <p:txBody>
          <a:bodyPr/>
          <a:lstStyle/>
          <a:p>
            <a:pPr>
              <a:lnSpc>
                <a:spcPct val="150000"/>
              </a:lnSpc>
            </a:pPr>
            <a:r>
              <a:rPr lang="zh-TW" altLang="en-US" b="0" dirty="0"/>
              <a:t>歸納本研究結果，我們提出以神經網路選擇權價格預測模型改善之短期定價核估計方法，並透過實驗證實其確實存在較優異之估計效果，並將之應用於投資人短期情緒分析，透過回歸分析證實，以，我們提出的方法得到的短期定價核估計結果，轉換而成的投資人短期情緒代理變數，確實與真實市場存在顯著相關性。</a:t>
            </a:r>
          </a:p>
        </p:txBody>
      </p:sp>
    </p:spTree>
    <p:extLst>
      <p:ext uri="{BB962C8B-B14F-4D97-AF65-F5344CB8AC3E}">
        <p14:creationId xmlns:p14="http://schemas.microsoft.com/office/powerpoint/2010/main" val="3984309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7E27B76C-E814-E3AF-3412-B9984EC6F9FA}"/>
              </a:ext>
            </a:extLst>
          </p:cNvPr>
          <p:cNvSpPr>
            <a:spLocks noGrp="1"/>
          </p:cNvSpPr>
          <p:nvPr>
            <p:ph type="body" sz="quarter" idx="10"/>
          </p:nvPr>
        </p:nvSpPr>
        <p:spPr/>
        <p:txBody>
          <a:bodyPr/>
          <a:lstStyle/>
          <a:p>
            <a:r>
              <a:rPr lang="zh-TW" altLang="en-US" dirty="0"/>
              <a:t>未來研究建議</a:t>
            </a:r>
          </a:p>
        </p:txBody>
      </p:sp>
      <p:sp>
        <p:nvSpPr>
          <p:cNvPr id="4" name="內容版面配置區 3">
            <a:extLst>
              <a:ext uri="{FF2B5EF4-FFF2-40B4-BE49-F238E27FC236}">
                <a16:creationId xmlns:a16="http://schemas.microsoft.com/office/drawing/2014/main" id="{FF04016E-7040-F13C-12F0-D48C28B69246}"/>
              </a:ext>
            </a:extLst>
          </p:cNvPr>
          <p:cNvSpPr>
            <a:spLocks noGrp="1"/>
          </p:cNvSpPr>
          <p:nvPr>
            <p:ph sz="quarter" idx="11"/>
          </p:nvPr>
        </p:nvSpPr>
        <p:spPr/>
        <p:txBody>
          <a:bodyPr/>
          <a:lstStyle/>
          <a:p>
            <a:r>
              <a:rPr lang="en-US" altLang="zh-TW" dirty="0"/>
              <a:t>4.2</a:t>
            </a:r>
            <a:endParaRPr lang="zh-TW" altLang="en-US" dirty="0"/>
          </a:p>
        </p:txBody>
      </p:sp>
      <p:sp>
        <p:nvSpPr>
          <p:cNvPr id="7" name="內容版面配置區 6">
            <a:extLst>
              <a:ext uri="{FF2B5EF4-FFF2-40B4-BE49-F238E27FC236}">
                <a16:creationId xmlns:a16="http://schemas.microsoft.com/office/drawing/2014/main" id="{9FD06BF8-151A-5D24-BB78-14D915B9A47C}"/>
              </a:ext>
            </a:extLst>
          </p:cNvPr>
          <p:cNvSpPr>
            <a:spLocks noGrp="1"/>
          </p:cNvSpPr>
          <p:nvPr>
            <p:ph sz="quarter" idx="14"/>
          </p:nvPr>
        </p:nvSpPr>
        <p:spPr>
          <a:xfrm>
            <a:off x="689106" y="876561"/>
            <a:ext cx="10498478" cy="5568382"/>
          </a:xfrm>
        </p:spPr>
        <p:txBody>
          <a:bodyPr/>
          <a:lstStyle/>
          <a:p>
            <a:pPr marL="457200" indent="-457200">
              <a:lnSpc>
                <a:spcPct val="150000"/>
              </a:lnSpc>
              <a:buClr>
                <a:schemeClr val="accent1"/>
              </a:buClr>
              <a:buFont typeface="+mj-lt"/>
              <a:buAutoNum type="arabicPeriod"/>
            </a:pPr>
            <a:r>
              <a:rPr lang="zh-TW" altLang="en-US" dirty="0"/>
              <a:t>不同天期參數設定下的實驗</a:t>
            </a:r>
            <a:endParaRPr lang="en-US" altLang="zh-TW" dirty="0"/>
          </a:p>
          <a:p>
            <a:pPr lvl="1" indent="0">
              <a:lnSpc>
                <a:spcPct val="100000"/>
              </a:lnSpc>
              <a:buNone/>
            </a:pPr>
            <a:r>
              <a:rPr lang="zh-TW" altLang="en-US" sz="1800" b="0" dirty="0"/>
              <a:t>本研究因</a:t>
            </a:r>
            <a:r>
              <a:rPr lang="en-US" altLang="zh-TW" sz="1800" b="0" dirty="0"/>
              <a:t>CV</a:t>
            </a:r>
            <a:r>
              <a:rPr lang="zh-TW" altLang="en-US" sz="1800" b="0" dirty="0"/>
              <a:t> </a:t>
            </a:r>
            <a:r>
              <a:rPr lang="en-US" altLang="zh-TW" sz="1800" b="0" dirty="0"/>
              <a:t>model</a:t>
            </a:r>
            <a:r>
              <a:rPr lang="zh-TW" altLang="en-US" sz="1800" b="0" dirty="0"/>
              <a:t>僅有</a:t>
            </a:r>
            <a:r>
              <a:rPr lang="en-US" altLang="zh-TW" sz="1800" b="0" dirty="0"/>
              <a:t>2016</a:t>
            </a:r>
            <a:r>
              <a:rPr lang="zh-TW" altLang="en-US" sz="1800" b="0" dirty="0"/>
              <a:t>年</a:t>
            </a:r>
            <a:r>
              <a:rPr lang="en-US" altLang="zh-TW" sz="1800" b="0" dirty="0"/>
              <a:t>06</a:t>
            </a:r>
            <a:r>
              <a:rPr lang="zh-TW" altLang="en-US" sz="1800" b="0" dirty="0"/>
              <a:t>月至</a:t>
            </a:r>
            <a:r>
              <a:rPr lang="en-US" altLang="zh-TW" sz="1800" b="0" dirty="0"/>
              <a:t>2017</a:t>
            </a:r>
            <a:r>
              <a:rPr lang="zh-TW" altLang="en-US" sz="1800" b="0" dirty="0"/>
              <a:t>年</a:t>
            </a:r>
            <a:r>
              <a:rPr lang="en-US" altLang="zh-TW" sz="1800" b="0" dirty="0"/>
              <a:t>8</a:t>
            </a:r>
            <a:r>
              <a:rPr lang="zh-TW" altLang="en-US" sz="1800" b="0" dirty="0"/>
              <a:t>月之數據，因此僅針對</a:t>
            </a:r>
            <a:r>
              <a:rPr lang="en-US" altLang="zh-TW" sz="1800" b="0" dirty="0"/>
              <a:t>τ =1</a:t>
            </a:r>
            <a:r>
              <a:rPr lang="zh-TW" altLang="en-US" sz="1800" b="0" dirty="0"/>
              <a:t>的設定，比較原始</a:t>
            </a:r>
            <a:r>
              <a:rPr lang="en-US" altLang="zh-TW" sz="1800" b="0" dirty="0"/>
              <a:t>CDI</a:t>
            </a:r>
            <a:r>
              <a:rPr lang="zh-TW" altLang="en-US" sz="1800" b="0" dirty="0"/>
              <a:t>方法與以</a:t>
            </a:r>
            <a:r>
              <a:rPr lang="en-US" altLang="zh-TW" sz="1800" b="0" dirty="0"/>
              <a:t>CV</a:t>
            </a:r>
            <a:r>
              <a:rPr lang="zh-TW" altLang="en-US" sz="1800" b="0" dirty="0"/>
              <a:t> </a:t>
            </a:r>
            <a:r>
              <a:rPr lang="en-US" altLang="zh-TW" sz="1800" b="0" dirty="0"/>
              <a:t>Model</a:t>
            </a:r>
            <a:r>
              <a:rPr lang="zh-TW" altLang="en-US" sz="1800" b="0" dirty="0"/>
              <a:t>改良之</a:t>
            </a:r>
            <a:r>
              <a:rPr lang="en-US" altLang="zh-TW" sz="1800" b="0" dirty="0"/>
              <a:t>CDI</a:t>
            </a:r>
            <a:r>
              <a:rPr lang="zh-TW" altLang="en-US" sz="1800" b="0" dirty="0"/>
              <a:t>方法的短期定價核結果。</a:t>
            </a:r>
          </a:p>
          <a:p>
            <a:pPr lvl="1" indent="0">
              <a:lnSpc>
                <a:spcPct val="100000"/>
              </a:lnSpc>
              <a:buNone/>
            </a:pPr>
            <a:r>
              <a:rPr lang="zh-TW" altLang="en-US" sz="1800" b="0" dirty="0"/>
              <a:t>若要進一步檢驗方法的穩定性，建議在</a:t>
            </a:r>
            <a:r>
              <a:rPr lang="en-US" altLang="zh-TW" sz="1800" b="0" dirty="0"/>
              <a:t>τ =10</a:t>
            </a:r>
            <a:r>
              <a:rPr lang="zh-TW" altLang="en-US" sz="1800" b="0" dirty="0"/>
              <a:t>與</a:t>
            </a:r>
            <a:r>
              <a:rPr lang="en-US" altLang="zh-TW" sz="1800" b="0" dirty="0"/>
              <a:t>τ =22</a:t>
            </a:r>
            <a:r>
              <a:rPr lang="zh-TW" altLang="en-US" sz="1800" b="0" dirty="0"/>
              <a:t>的設定下進行實驗。特別是當</a:t>
            </a:r>
            <a:r>
              <a:rPr lang="en-US" altLang="zh-TW" sz="1800" b="0" dirty="0"/>
              <a:t>τ =22</a:t>
            </a:r>
            <a:r>
              <a:rPr lang="zh-TW" altLang="en-US" sz="1800" b="0" dirty="0"/>
              <a:t>時，市場選擇權數據可構成不重疊的時間序列，不再出現需以</a:t>
            </a:r>
            <a:r>
              <a:rPr lang="en-US" altLang="zh-TW" sz="1800" b="0" dirty="0"/>
              <a:t>CV</a:t>
            </a:r>
            <a:r>
              <a:rPr lang="zh-TW" altLang="en-US" sz="1800" b="0" dirty="0"/>
              <a:t> </a:t>
            </a:r>
            <a:r>
              <a:rPr lang="en-US" altLang="zh-TW" sz="1800" b="0" dirty="0"/>
              <a:t>Model </a:t>
            </a:r>
            <a:r>
              <a:rPr lang="zh-TW" altLang="en-US" sz="1800" b="0" dirty="0"/>
              <a:t>補足資料缺口的情況，此時</a:t>
            </a:r>
            <a:r>
              <a:rPr lang="en-US" altLang="zh-TW" sz="1800" b="0" dirty="0"/>
              <a:t>CV</a:t>
            </a:r>
            <a:r>
              <a:rPr lang="zh-TW" altLang="en-US" sz="1800" b="0" dirty="0"/>
              <a:t> </a:t>
            </a:r>
            <a:r>
              <a:rPr lang="en-US" altLang="zh-TW" sz="1800" b="0" dirty="0"/>
              <a:t>Model</a:t>
            </a:r>
            <a:r>
              <a:rPr lang="zh-TW" altLang="en-US" sz="1800" b="0" dirty="0"/>
              <a:t>改良的優勢將主要體現在估計風險中立機率密度函數時減輕尾部截斷的問題。</a:t>
            </a:r>
            <a:endParaRPr lang="en-US" altLang="zh-TW" sz="1800" b="0" dirty="0"/>
          </a:p>
          <a:p>
            <a:pPr marL="457200" indent="-457200">
              <a:lnSpc>
                <a:spcPct val="150000"/>
              </a:lnSpc>
              <a:buClr>
                <a:schemeClr val="accent1"/>
              </a:buClr>
              <a:buFont typeface="+mj-lt"/>
              <a:buAutoNum type="arabicPeriod"/>
            </a:pPr>
            <a:r>
              <a:rPr lang="zh-TW" altLang="en-US" dirty="0"/>
              <a:t>不同市場波動情境</a:t>
            </a:r>
            <a:endParaRPr lang="en-US" altLang="zh-TW" dirty="0"/>
          </a:p>
          <a:p>
            <a:pPr lvl="1" indent="0">
              <a:lnSpc>
                <a:spcPct val="100000"/>
              </a:lnSpc>
              <a:buNone/>
            </a:pPr>
            <a:r>
              <a:rPr lang="zh-TW" altLang="en-US" sz="1800" b="0" dirty="0"/>
              <a:t>本研究僅估計</a:t>
            </a:r>
            <a:r>
              <a:rPr lang="en-US" altLang="zh-TW" sz="1800" b="0" dirty="0"/>
              <a:t>2017</a:t>
            </a:r>
            <a:r>
              <a:rPr lang="zh-TW" altLang="en-US" sz="1800" b="0" dirty="0"/>
              <a:t>年</a:t>
            </a:r>
            <a:r>
              <a:rPr lang="en-US" altLang="zh-TW" sz="1800" b="0" dirty="0"/>
              <a:t>3</a:t>
            </a:r>
            <a:r>
              <a:rPr lang="zh-TW" altLang="en-US" sz="1800" b="0" dirty="0"/>
              <a:t>月至</a:t>
            </a:r>
            <a:r>
              <a:rPr lang="en-US" altLang="zh-TW" sz="1800" b="0" dirty="0"/>
              <a:t>8</a:t>
            </a:r>
            <a:r>
              <a:rPr lang="zh-TW" altLang="en-US" sz="1800" b="0" dirty="0"/>
              <a:t>月的短期定價核，並將其轉換為投資人情緒估計項，與同期的短期市場動態變數進行回歸分析。然而，此區間內市場並未經歷劇烈波動，且游竣瑜</a:t>
            </a:r>
            <a:r>
              <a:rPr lang="en-US" altLang="zh-TW" sz="1800" b="0" dirty="0"/>
              <a:t>(2024)</a:t>
            </a:r>
            <a:r>
              <a:rPr lang="zh-TW" altLang="en-US" sz="1800" b="0" dirty="0"/>
              <a:t>指出，</a:t>
            </a:r>
            <a:r>
              <a:rPr lang="en-US" altLang="zh-TW" sz="1800" b="0" dirty="0"/>
              <a:t>CV</a:t>
            </a:r>
            <a:r>
              <a:rPr lang="zh-TW" altLang="en-US" sz="1800" b="0" dirty="0"/>
              <a:t> </a:t>
            </a:r>
            <a:r>
              <a:rPr lang="en-US" altLang="zh-TW" sz="1800" b="0" dirty="0"/>
              <a:t>Model</a:t>
            </a:r>
            <a:r>
              <a:rPr lang="zh-TW" altLang="en-US" sz="1800" b="0" dirty="0"/>
              <a:t>在重大事件發生時可能低估選擇權價格，因此本研究所提出之改良方法在市場劇烈波動下的穩定性仍有待檢驗，建議後續可針對此情境進行測試。</a:t>
            </a:r>
            <a:endParaRPr lang="en-US" altLang="zh-TW" sz="1800" b="0" dirty="0"/>
          </a:p>
          <a:p>
            <a:pPr marL="457200" indent="-457200">
              <a:lnSpc>
                <a:spcPct val="150000"/>
              </a:lnSpc>
              <a:buClr>
                <a:schemeClr val="accent1"/>
              </a:buClr>
              <a:buFont typeface="+mj-lt"/>
              <a:buAutoNum type="arabicPeriod"/>
            </a:pPr>
            <a:r>
              <a:rPr lang="zh-TW" altLang="en-US" dirty="0"/>
              <a:t>結合既有投資者情緒指標</a:t>
            </a:r>
            <a:endParaRPr lang="en-US" altLang="zh-TW" dirty="0"/>
          </a:p>
          <a:p>
            <a:pPr lvl="1" indent="0">
              <a:lnSpc>
                <a:spcPct val="100000"/>
              </a:lnSpc>
              <a:buNone/>
            </a:pPr>
            <a:r>
              <a:rPr lang="zh-TW" altLang="en-US" sz="1800" b="0" dirty="0"/>
              <a:t>目前市面上多數投資人情緒指標為月頻率數據，若能以</a:t>
            </a:r>
            <a:r>
              <a:rPr lang="en-US" altLang="zh-TW" sz="1800" b="0" dirty="0"/>
              <a:t>CV</a:t>
            </a:r>
            <a:r>
              <a:rPr lang="zh-TW" altLang="en-US" sz="1800" b="0" dirty="0"/>
              <a:t> </a:t>
            </a:r>
            <a:r>
              <a:rPr lang="en-US" altLang="zh-TW" sz="1800" b="0" dirty="0"/>
              <a:t>Model</a:t>
            </a:r>
            <a:r>
              <a:rPr lang="zh-TW" altLang="en-US" sz="1800" b="0" dirty="0"/>
              <a:t>改良之</a:t>
            </a:r>
            <a:r>
              <a:rPr lang="en-US" altLang="zh-TW" sz="1800" b="0" dirty="0"/>
              <a:t>CDI</a:t>
            </a:r>
            <a:r>
              <a:rPr lang="zh-TW" altLang="en-US" sz="1800" b="0" dirty="0"/>
              <a:t>方法進行每月定價核估計實驗，或是在</a:t>
            </a:r>
            <a:r>
              <a:rPr lang="en-US" altLang="zh-TW" sz="1800" b="0" dirty="0"/>
              <a:t>τ =22</a:t>
            </a:r>
            <a:r>
              <a:rPr lang="zh-TW" altLang="en-US" sz="1800" b="0" dirty="0"/>
              <a:t>的設定下進行實驗，則可將所估計之投資人情緒代理變數與既有市場情緒指數進行相關性檢驗，以驗證在投資人情緒研究中的解釋力。</a:t>
            </a:r>
          </a:p>
        </p:txBody>
      </p:sp>
    </p:spTree>
    <p:extLst>
      <p:ext uri="{BB962C8B-B14F-4D97-AF65-F5344CB8AC3E}">
        <p14:creationId xmlns:p14="http://schemas.microsoft.com/office/powerpoint/2010/main" val="3378884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DF08D68F-E0E6-0615-7318-43534706927D}"/>
              </a:ext>
            </a:extLst>
          </p:cNvPr>
          <p:cNvSpPr>
            <a:spLocks noGrp="1"/>
          </p:cNvSpPr>
          <p:nvPr>
            <p:ph sz="quarter" idx="10"/>
          </p:nvPr>
        </p:nvSpPr>
        <p:spPr/>
        <p:txBody>
          <a:bodyPr/>
          <a:lstStyle/>
          <a:p>
            <a:pPr marL="0" indent="0">
              <a:buNone/>
            </a:pPr>
            <a:r>
              <a:rPr lang="en-US" altLang="zh-TW" dirty="0"/>
              <a:t>Appendix</a:t>
            </a:r>
            <a:endParaRPr lang="zh-TW" altLang="en-US" dirty="0"/>
          </a:p>
        </p:txBody>
      </p:sp>
    </p:spTree>
    <p:extLst>
      <p:ext uri="{BB962C8B-B14F-4D97-AF65-F5344CB8AC3E}">
        <p14:creationId xmlns:p14="http://schemas.microsoft.com/office/powerpoint/2010/main" val="21854240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2BCA1282-80C0-70F3-230D-94464E86E6AD}"/>
              </a:ext>
            </a:extLst>
          </p:cNvPr>
          <p:cNvSpPr>
            <a:spLocks noGrp="1"/>
          </p:cNvSpPr>
          <p:nvPr>
            <p:ph type="body" sz="quarter" idx="10"/>
          </p:nvPr>
        </p:nvSpPr>
        <p:spPr/>
        <p:txBody>
          <a:bodyPr/>
          <a:lstStyle/>
          <a:p>
            <a:r>
              <a:rPr lang="zh-TW" altLang="en-US" dirty="0"/>
              <a:t>定價核圖形</a:t>
            </a: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3A722EEE-5F74-6F63-17EA-567D22C17668}"/>
                  </a:ext>
                </a:extLst>
              </p:cNvPr>
              <p:cNvSpPr txBox="1"/>
              <p:nvPr/>
            </p:nvSpPr>
            <p:spPr>
              <a:xfrm>
                <a:off x="264019" y="833536"/>
                <a:ext cx="11663961" cy="3267433"/>
              </a:xfrm>
              <a:prstGeom prst="rect">
                <a:avLst/>
              </a:prstGeom>
              <a:noFill/>
            </p:spPr>
            <p:txBody>
              <a:bodyPr wrap="square" rtlCol="0">
                <a:spAutoFit/>
              </a:bodyPr>
              <a:lstStyle/>
              <a:p>
                <a:pPr>
                  <a:lnSpc>
                    <a:spcPct val="150000"/>
                  </a:lnSpc>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我們嘗試觀察定價核圖形與</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KS test </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結果之關聯</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marL="799465" lvl="1" indent="-34290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定價核倒數對風險中立密度函數進行積分應服從</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[0,1]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均勻分布</a:t>
                </a:r>
              </a:p>
              <a:p>
                <a:pPr marL="799465" lvl="1" indent="-34290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使用</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 KS Test</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 檢定定價核估計結果是否服從此性質，作為實驗結果優劣標準</a:t>
                </a:r>
              </a:p>
              <a:p>
                <a:pPr marL="799465" lvl="1" indent="-342900">
                  <a:lnSpc>
                    <a:spcPct val="150000"/>
                  </a:lnSpc>
                  <a:buClr>
                    <a:schemeClr val="accent1"/>
                  </a:buClr>
                  <a:buFont typeface="Arial" panose="020B0604020202020204" pitchFamily="34" charset="0"/>
                  <a:buChar cha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信心水準</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5%</a:t>
                </a:r>
              </a:p>
              <a:p>
                <a:pPr lvl="2">
                  <a:lnSpc>
                    <a:spcPct val="150000"/>
                  </a:lnSpc>
                  <a:buClr>
                    <a:schemeClr val="accent1"/>
                  </a:buClr>
                </a:pPr>
                <a14:m>
                  <m:oMath xmlns:m="http://schemas.openxmlformats.org/officeDocument/2006/math">
                    <m:r>
                      <m:rPr>
                        <m:sty m:val="p"/>
                      </m:rPr>
                      <a:rPr lang="en-US" altLang="zh-TW" sz="2000" i="1" dirty="0">
                        <a:solidFill>
                          <a:schemeClr val="tx2"/>
                        </a:solidFill>
                        <a:latin typeface="Cambria Math" panose="02040503050406030204" pitchFamily="18" charset="0"/>
                        <a:ea typeface="Microsoft JhengHei" panose="020B0604030504040204" pitchFamily="34" charset="-120"/>
                        <a:cs typeface="+mn-ea"/>
                      </a:rPr>
                      <m:t>P</m:t>
                    </m:r>
                    <m:r>
                      <a:rPr lang="en-US" altLang="zh-TW" sz="2000" i="1" dirty="0">
                        <a:solidFill>
                          <a:schemeClr val="tx2"/>
                        </a:solidFill>
                        <a:latin typeface="Cambria Math" panose="02040503050406030204" pitchFamily="18" charset="0"/>
                        <a:ea typeface="Microsoft JhengHei" panose="020B0604030504040204" pitchFamily="34" charset="-120"/>
                        <a:cs typeface="+mn-ea"/>
                      </a:rPr>
                      <m:t>−</m:t>
                    </m:r>
                    <m:r>
                      <m:rPr>
                        <m:sty m:val="p"/>
                      </m:rPr>
                      <a:rPr lang="en-US" altLang="zh-TW" sz="2000" i="1" dirty="0">
                        <a:solidFill>
                          <a:schemeClr val="tx2"/>
                        </a:solidFill>
                        <a:latin typeface="Cambria Math" panose="02040503050406030204" pitchFamily="18" charset="0"/>
                        <a:ea typeface="Microsoft JhengHei" panose="020B0604030504040204" pitchFamily="34" charset="-120"/>
                        <a:cs typeface="+mn-ea"/>
                      </a:rPr>
                      <m:t>Value</m:t>
                    </m:r>
                    <m:r>
                      <a:rPr lang="en-US" altLang="zh-TW" sz="2000" i="1" dirty="0">
                        <a:solidFill>
                          <a:schemeClr val="tx2"/>
                        </a:solidFill>
                        <a:latin typeface="Cambria Math" panose="02040503050406030204" pitchFamily="18" charset="0"/>
                        <a:ea typeface="Cambria Math" panose="02040503050406030204" pitchFamily="18" charset="0"/>
                        <a:cs typeface="+mn-ea"/>
                      </a:rPr>
                      <m:t>&lt;</m:t>
                    </m:r>
                    <m:r>
                      <a:rPr lang="en-US" altLang="zh-TW" sz="2000" b="0" i="1" dirty="0" smtClean="0">
                        <a:solidFill>
                          <a:schemeClr val="tx2"/>
                        </a:solidFill>
                        <a:latin typeface="Cambria Math" panose="02040503050406030204" pitchFamily="18" charset="0"/>
                        <a:ea typeface="Cambria Math" panose="02040503050406030204" pitchFamily="18" charset="0"/>
                        <a:cs typeface="+mn-ea"/>
                      </a:rPr>
                      <m:t>0.05</m:t>
                    </m:r>
                    <m:r>
                      <a:rPr lang="zh-TW" altLang="en-US" sz="2000" i="1" dirty="0">
                        <a:solidFill>
                          <a:schemeClr val="tx2"/>
                        </a:solidFill>
                        <a:latin typeface="Cambria Math" panose="02040503050406030204" pitchFamily="18" charset="0"/>
                        <a:ea typeface="Cambria Math" panose="02040503050406030204" pitchFamily="18" charset="0"/>
                        <a:cs typeface="+mn-ea"/>
                      </a:rPr>
                      <m:t>：</m:t>
                    </m:r>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顯著異於</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[0,1]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均勻分布</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a:p>
                <a:pPr lvl="2">
                  <a:lnSpc>
                    <a:spcPct val="150000"/>
                  </a:lnSpc>
                  <a:buClr>
                    <a:schemeClr val="accent1"/>
                  </a:buClr>
                </a:pPr>
                <a14:m>
                  <m:oMath xmlns:m="http://schemas.openxmlformats.org/officeDocument/2006/math">
                    <m:r>
                      <m:rPr>
                        <m:sty m:val="p"/>
                      </m:rPr>
                      <a:rPr lang="en-US" altLang="zh-TW" sz="2000" i="1" dirty="0">
                        <a:solidFill>
                          <a:schemeClr val="tx2"/>
                        </a:solidFill>
                        <a:latin typeface="Cambria Math" panose="02040503050406030204" pitchFamily="18" charset="0"/>
                        <a:ea typeface="Microsoft JhengHei" panose="020B0604030504040204" pitchFamily="34" charset="-120"/>
                        <a:cs typeface="+mn-ea"/>
                      </a:rPr>
                      <m:t>P</m:t>
                    </m:r>
                    <m:r>
                      <a:rPr lang="en-US" altLang="zh-TW" sz="2000" i="1" dirty="0">
                        <a:solidFill>
                          <a:schemeClr val="tx2"/>
                        </a:solidFill>
                        <a:latin typeface="Cambria Math" panose="02040503050406030204" pitchFamily="18" charset="0"/>
                        <a:ea typeface="Microsoft JhengHei" panose="020B0604030504040204" pitchFamily="34" charset="-120"/>
                        <a:cs typeface="+mn-ea"/>
                      </a:rPr>
                      <m:t>−</m:t>
                    </m:r>
                    <m:r>
                      <m:rPr>
                        <m:sty m:val="p"/>
                      </m:rPr>
                      <a:rPr lang="en-US" altLang="zh-TW" sz="2000" i="1" dirty="0">
                        <a:solidFill>
                          <a:schemeClr val="tx2"/>
                        </a:solidFill>
                        <a:latin typeface="Cambria Math" panose="02040503050406030204" pitchFamily="18" charset="0"/>
                        <a:ea typeface="Microsoft JhengHei" panose="020B0604030504040204" pitchFamily="34" charset="-120"/>
                        <a:cs typeface="+mn-ea"/>
                      </a:rPr>
                      <m:t>Value</m:t>
                    </m:r>
                    <m:r>
                      <a:rPr lang="en-US" altLang="zh-TW" sz="2000" i="1" dirty="0" smtClean="0">
                        <a:solidFill>
                          <a:schemeClr val="tx2"/>
                        </a:solidFill>
                        <a:latin typeface="Cambria Math" panose="02040503050406030204" pitchFamily="18" charset="0"/>
                        <a:ea typeface="Cambria Math" panose="02040503050406030204" pitchFamily="18" charset="0"/>
                        <a:cs typeface="+mn-ea"/>
                      </a:rPr>
                      <m:t>≥</m:t>
                    </m:r>
                    <m:r>
                      <a:rPr lang="en-US" altLang="zh-TW" sz="2000" i="1" dirty="0">
                        <a:solidFill>
                          <a:schemeClr val="tx2"/>
                        </a:solidFill>
                        <a:latin typeface="Cambria Math" panose="02040503050406030204" pitchFamily="18" charset="0"/>
                        <a:ea typeface="Cambria Math" panose="02040503050406030204" pitchFamily="18" charset="0"/>
                        <a:cs typeface="+mn-ea"/>
                      </a:rPr>
                      <m:t>0.05</m:t>
                    </m:r>
                  </m:oMath>
                </a14:m>
                <a:r>
                  <a:rPr lang="zh-TW" altLang="en-US" sz="2000" dirty="0">
                    <a:solidFill>
                      <a:schemeClr val="tx2"/>
                    </a:solidFill>
                    <a:latin typeface="Microsoft JhengHei" panose="020B0604030504040204" pitchFamily="34" charset="-120"/>
                    <a:ea typeface="Microsoft JhengHei" panose="020B0604030504040204" pitchFamily="34" charset="-120"/>
                    <a:cs typeface="+mn-ea"/>
                  </a:rPr>
                  <a:t>：無法顯著拒絕服從</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[0,1]</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均勻分布</a:t>
                </a:r>
              </a:p>
              <a:p>
                <a:pPr lvl="2">
                  <a:lnSpc>
                    <a:spcPct val="150000"/>
                  </a:lnSpc>
                  <a:buClr>
                    <a:schemeClr val="accent1"/>
                  </a:buClr>
                </a:pPr>
                <a:endParaRPr lang="zh-TW" altLang="en-US" sz="2000" dirty="0">
                  <a:solidFill>
                    <a:schemeClr val="tx2"/>
                  </a:solidFill>
                  <a:latin typeface="Microsoft JhengHei" panose="020B0604030504040204" pitchFamily="34" charset="-120"/>
                  <a:ea typeface="Microsoft JhengHei" panose="020B0604030504040204" pitchFamily="34" charset="-120"/>
                  <a:cs typeface="+mn-ea"/>
                </a:endParaRPr>
              </a:p>
            </p:txBody>
          </p:sp>
        </mc:Choice>
        <mc:Fallback xmlns="">
          <p:sp>
            <p:nvSpPr>
              <p:cNvPr id="5" name="文字方塊 4">
                <a:extLst>
                  <a:ext uri="{FF2B5EF4-FFF2-40B4-BE49-F238E27FC236}">
                    <a16:creationId xmlns:a16="http://schemas.microsoft.com/office/drawing/2014/main" id="{3A722EEE-5F74-6F63-17EA-567D22C17668}"/>
                  </a:ext>
                </a:extLst>
              </p:cNvPr>
              <p:cNvSpPr txBox="1">
                <a:spLocks noRot="1" noChangeAspect="1" noMove="1" noResize="1" noEditPoints="1" noAdjustHandles="1" noChangeArrowheads="1" noChangeShapeType="1" noTextEdit="1"/>
              </p:cNvSpPr>
              <p:nvPr/>
            </p:nvSpPr>
            <p:spPr>
              <a:xfrm>
                <a:off x="264019" y="833536"/>
                <a:ext cx="11663961" cy="3267433"/>
              </a:xfrm>
              <a:prstGeom prst="rect">
                <a:avLst/>
              </a:prstGeom>
              <a:blipFill>
                <a:blip r:embed="rId2"/>
                <a:stretch>
                  <a:fillRect l="-52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06869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2BCA1282-80C0-70F3-230D-94464E86E6AD}"/>
              </a:ext>
            </a:extLst>
          </p:cNvPr>
          <p:cNvSpPr>
            <a:spLocks noGrp="1"/>
          </p:cNvSpPr>
          <p:nvPr>
            <p:ph type="body" sz="quarter" idx="10"/>
          </p:nvPr>
        </p:nvSpPr>
        <p:spPr/>
        <p:txBody>
          <a:bodyPr/>
          <a:lstStyle/>
          <a:p>
            <a:r>
              <a:rPr lang="zh-TW" altLang="en-US" dirty="0"/>
              <a:t>定價核圖形</a:t>
            </a:r>
          </a:p>
        </p:txBody>
      </p:sp>
      <p:sp>
        <p:nvSpPr>
          <p:cNvPr id="5" name="文字方塊 4">
            <a:extLst>
              <a:ext uri="{FF2B5EF4-FFF2-40B4-BE49-F238E27FC236}">
                <a16:creationId xmlns:a16="http://schemas.microsoft.com/office/drawing/2014/main" id="{3A722EEE-5F74-6F63-17EA-567D22C17668}"/>
              </a:ext>
            </a:extLst>
          </p:cNvPr>
          <p:cNvSpPr txBox="1"/>
          <p:nvPr/>
        </p:nvSpPr>
        <p:spPr>
          <a:xfrm>
            <a:off x="264019" y="833536"/>
            <a:ext cx="11663961" cy="497444"/>
          </a:xfrm>
          <a:prstGeom prst="rect">
            <a:avLst/>
          </a:prstGeom>
          <a:noFill/>
        </p:spPr>
        <p:txBody>
          <a:bodyPr wrap="square" rtlCol="0">
            <a:spAutoFit/>
          </a:bodyPr>
          <a:lstStyle/>
          <a:p>
            <a:pPr>
              <a:lnSpc>
                <a:spcPct val="150000"/>
              </a:lnSpc>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觀察使用</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 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改良並加入權重限制式之</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方法估計的定價核圖形</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p:pic>
        <p:nvPicPr>
          <p:cNvPr id="23" name="圖片 22">
            <a:extLst>
              <a:ext uri="{FF2B5EF4-FFF2-40B4-BE49-F238E27FC236}">
                <a16:creationId xmlns:a16="http://schemas.microsoft.com/office/drawing/2014/main" id="{C7850B9F-BB5F-FFF1-85ED-879DCCC813CE}"/>
              </a:ext>
            </a:extLst>
          </p:cNvPr>
          <p:cNvPicPr>
            <a:picLocks noChangeAspect="1"/>
          </p:cNvPicPr>
          <p:nvPr/>
        </p:nvPicPr>
        <p:blipFill>
          <a:blip r:embed="rId2"/>
          <a:stretch>
            <a:fillRect/>
          </a:stretch>
        </p:blipFill>
        <p:spPr>
          <a:xfrm>
            <a:off x="53041" y="1462377"/>
            <a:ext cx="6042959" cy="4462560"/>
          </a:xfrm>
          <a:prstGeom prst="rect">
            <a:avLst/>
          </a:prstGeom>
        </p:spPr>
      </p:pic>
      <p:pic>
        <p:nvPicPr>
          <p:cNvPr id="25" name="圖片 24">
            <a:extLst>
              <a:ext uri="{FF2B5EF4-FFF2-40B4-BE49-F238E27FC236}">
                <a16:creationId xmlns:a16="http://schemas.microsoft.com/office/drawing/2014/main" id="{C0EF05EF-DCD5-3344-C72A-CD9FD8020AC0}"/>
              </a:ext>
            </a:extLst>
          </p:cNvPr>
          <p:cNvPicPr>
            <a:picLocks noChangeAspect="1"/>
          </p:cNvPicPr>
          <p:nvPr/>
        </p:nvPicPr>
        <p:blipFill>
          <a:blip r:embed="rId3"/>
          <a:stretch>
            <a:fillRect/>
          </a:stretch>
        </p:blipFill>
        <p:spPr>
          <a:xfrm>
            <a:off x="5996846" y="1462377"/>
            <a:ext cx="6142113" cy="4462560"/>
          </a:xfrm>
          <a:prstGeom prst="rect">
            <a:avLst/>
          </a:prstGeom>
        </p:spPr>
      </p:pic>
    </p:spTree>
    <p:extLst>
      <p:ext uri="{BB962C8B-B14F-4D97-AF65-F5344CB8AC3E}">
        <p14:creationId xmlns:p14="http://schemas.microsoft.com/office/powerpoint/2010/main" val="19370796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2BCA1282-80C0-70F3-230D-94464E86E6AD}"/>
              </a:ext>
            </a:extLst>
          </p:cNvPr>
          <p:cNvSpPr>
            <a:spLocks noGrp="1"/>
          </p:cNvSpPr>
          <p:nvPr>
            <p:ph type="body" sz="quarter" idx="10"/>
          </p:nvPr>
        </p:nvSpPr>
        <p:spPr/>
        <p:txBody>
          <a:bodyPr/>
          <a:lstStyle/>
          <a:p>
            <a:r>
              <a:rPr lang="zh-TW" altLang="en-US" dirty="0"/>
              <a:t>定價核圖形</a:t>
            </a:r>
          </a:p>
        </p:txBody>
      </p:sp>
      <p:sp>
        <p:nvSpPr>
          <p:cNvPr id="5" name="文字方塊 4">
            <a:extLst>
              <a:ext uri="{FF2B5EF4-FFF2-40B4-BE49-F238E27FC236}">
                <a16:creationId xmlns:a16="http://schemas.microsoft.com/office/drawing/2014/main" id="{3A722EEE-5F74-6F63-17EA-567D22C17668}"/>
              </a:ext>
            </a:extLst>
          </p:cNvPr>
          <p:cNvSpPr txBox="1"/>
          <p:nvPr/>
        </p:nvSpPr>
        <p:spPr>
          <a:xfrm>
            <a:off x="264019" y="833536"/>
            <a:ext cx="11663961" cy="497444"/>
          </a:xfrm>
          <a:prstGeom prst="rect">
            <a:avLst/>
          </a:prstGeom>
          <a:noFill/>
        </p:spPr>
        <p:txBody>
          <a:bodyPr wrap="square" rtlCol="0">
            <a:spAutoFit/>
          </a:bodyPr>
          <a:lstStyle/>
          <a:p>
            <a:pPr>
              <a:lnSpc>
                <a:spcPct val="150000"/>
              </a:lnSpc>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觀察使用</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 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改良並加入權重限制式之</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方法估計的定價核圖形</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p:pic>
        <p:nvPicPr>
          <p:cNvPr id="23" name="圖片 22">
            <a:extLst>
              <a:ext uri="{FF2B5EF4-FFF2-40B4-BE49-F238E27FC236}">
                <a16:creationId xmlns:a16="http://schemas.microsoft.com/office/drawing/2014/main" id="{C7850B9F-BB5F-FFF1-85ED-879DCCC813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041" y="1477466"/>
            <a:ext cx="6042959" cy="4432381"/>
          </a:xfrm>
          <a:prstGeom prst="rect">
            <a:avLst/>
          </a:prstGeom>
        </p:spPr>
      </p:pic>
      <p:pic>
        <p:nvPicPr>
          <p:cNvPr id="25" name="圖片 24">
            <a:extLst>
              <a:ext uri="{FF2B5EF4-FFF2-40B4-BE49-F238E27FC236}">
                <a16:creationId xmlns:a16="http://schemas.microsoft.com/office/drawing/2014/main" id="{C0EF05EF-DCD5-3344-C72A-CD9FD8020AC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58524" y="1462377"/>
            <a:ext cx="6018757" cy="4462560"/>
          </a:xfrm>
          <a:prstGeom prst="rect">
            <a:avLst/>
          </a:prstGeom>
        </p:spPr>
      </p:pic>
    </p:spTree>
    <p:extLst>
      <p:ext uri="{BB962C8B-B14F-4D97-AF65-F5344CB8AC3E}">
        <p14:creationId xmlns:p14="http://schemas.microsoft.com/office/powerpoint/2010/main" val="11766538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2BCA1282-80C0-70F3-230D-94464E86E6AD}"/>
              </a:ext>
            </a:extLst>
          </p:cNvPr>
          <p:cNvSpPr>
            <a:spLocks noGrp="1"/>
          </p:cNvSpPr>
          <p:nvPr>
            <p:ph type="body" sz="quarter" idx="10"/>
          </p:nvPr>
        </p:nvSpPr>
        <p:spPr/>
        <p:txBody>
          <a:bodyPr/>
          <a:lstStyle/>
          <a:p>
            <a:r>
              <a:rPr lang="zh-TW" altLang="en-US" dirty="0"/>
              <a:t>定價核圖形</a:t>
            </a:r>
          </a:p>
        </p:txBody>
      </p:sp>
      <p:sp>
        <p:nvSpPr>
          <p:cNvPr id="5" name="文字方塊 4">
            <a:extLst>
              <a:ext uri="{FF2B5EF4-FFF2-40B4-BE49-F238E27FC236}">
                <a16:creationId xmlns:a16="http://schemas.microsoft.com/office/drawing/2014/main" id="{3A722EEE-5F74-6F63-17EA-567D22C17668}"/>
              </a:ext>
            </a:extLst>
          </p:cNvPr>
          <p:cNvSpPr txBox="1"/>
          <p:nvPr/>
        </p:nvSpPr>
        <p:spPr>
          <a:xfrm>
            <a:off x="264019" y="833536"/>
            <a:ext cx="11663961" cy="497444"/>
          </a:xfrm>
          <a:prstGeom prst="rect">
            <a:avLst/>
          </a:prstGeom>
          <a:noFill/>
        </p:spPr>
        <p:txBody>
          <a:bodyPr wrap="square" rtlCol="0">
            <a:spAutoFit/>
          </a:bodyPr>
          <a:lstStyle/>
          <a:p>
            <a:pPr>
              <a:lnSpc>
                <a:spcPct val="150000"/>
              </a:lnSpc>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觀察使用</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CV Model</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改良並加入權重限制式之</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CDI</a:t>
            </a:r>
            <a:r>
              <a:rPr lang="zh-TW" altLang="en-US" sz="2000" dirty="0">
                <a:solidFill>
                  <a:schemeClr val="tx2"/>
                </a:solidFill>
                <a:latin typeface="Microsoft JhengHei" panose="020B0604030504040204" pitchFamily="34" charset="-120"/>
                <a:ea typeface="Microsoft JhengHei" panose="020B0604030504040204" pitchFamily="34" charset="-120"/>
                <a:cs typeface="+mn-ea"/>
              </a:rPr>
              <a:t>方法估計的定價核圖形</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p:pic>
        <p:nvPicPr>
          <p:cNvPr id="23" name="圖片 22">
            <a:extLst>
              <a:ext uri="{FF2B5EF4-FFF2-40B4-BE49-F238E27FC236}">
                <a16:creationId xmlns:a16="http://schemas.microsoft.com/office/drawing/2014/main" id="{C7850B9F-BB5F-FFF1-85ED-879DCCC813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8664" y="1477466"/>
            <a:ext cx="5891712" cy="4432381"/>
          </a:xfrm>
          <a:prstGeom prst="rect">
            <a:avLst/>
          </a:prstGeom>
        </p:spPr>
      </p:pic>
      <p:pic>
        <p:nvPicPr>
          <p:cNvPr id="25" name="圖片 24">
            <a:extLst>
              <a:ext uri="{FF2B5EF4-FFF2-40B4-BE49-F238E27FC236}">
                <a16:creationId xmlns:a16="http://schemas.microsoft.com/office/drawing/2014/main" id="{C0EF05EF-DCD5-3344-C72A-CD9FD8020AC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72329" y="1462377"/>
            <a:ext cx="5991146" cy="4462560"/>
          </a:xfrm>
          <a:prstGeom prst="rect">
            <a:avLst/>
          </a:prstGeom>
        </p:spPr>
      </p:pic>
      <p:sp>
        <p:nvSpPr>
          <p:cNvPr id="2" name="文字方塊 1">
            <a:extLst>
              <a:ext uri="{FF2B5EF4-FFF2-40B4-BE49-F238E27FC236}">
                <a16:creationId xmlns:a16="http://schemas.microsoft.com/office/drawing/2014/main" id="{2B0892CA-26B4-5138-AB9C-96E4837E1B1C}"/>
              </a:ext>
            </a:extLst>
          </p:cNvPr>
          <p:cNvSpPr txBox="1"/>
          <p:nvPr/>
        </p:nvSpPr>
        <p:spPr>
          <a:xfrm>
            <a:off x="264018" y="5944179"/>
            <a:ext cx="11663961" cy="497444"/>
          </a:xfrm>
          <a:prstGeom prst="rect">
            <a:avLst/>
          </a:prstGeom>
          <a:noFill/>
        </p:spPr>
        <p:txBody>
          <a:bodyPr wrap="square" rtlCol="0">
            <a:spAutoFit/>
          </a:bodyPr>
          <a:lstStyle/>
          <a:p>
            <a:pPr>
              <a:lnSpc>
                <a:spcPct val="150000"/>
              </a:lnSpc>
              <a:buClr>
                <a:schemeClr val="accent1"/>
              </a:buClr>
            </a:pPr>
            <a:r>
              <a:rPr lang="zh-TW" altLang="en-US" sz="2000" dirty="0">
                <a:solidFill>
                  <a:schemeClr val="tx2"/>
                </a:solidFill>
                <a:latin typeface="Microsoft JhengHei" panose="020B0604030504040204" pitchFamily="34" charset="-120"/>
                <a:ea typeface="Microsoft JhengHei" panose="020B0604030504040204" pitchFamily="34" charset="-120"/>
                <a:cs typeface="+mn-ea"/>
              </a:rPr>
              <a:t>猜測通過</a:t>
            </a:r>
            <a:r>
              <a:rPr lang="en-US" altLang="zh-TW" sz="2000" dirty="0">
                <a:solidFill>
                  <a:schemeClr val="tx2"/>
                </a:solidFill>
                <a:latin typeface="Microsoft JhengHei" panose="020B0604030504040204" pitchFamily="34" charset="-120"/>
                <a:ea typeface="Microsoft JhengHei" panose="020B0604030504040204" pitchFamily="34" charset="-120"/>
                <a:cs typeface="+mn-ea"/>
              </a:rPr>
              <a:t>KS test</a:t>
            </a:r>
            <a:r>
              <a:rPr lang="zh-TW" altLang="en-US" sz="2000">
                <a:solidFill>
                  <a:schemeClr val="tx2"/>
                </a:solidFill>
                <a:latin typeface="Microsoft JhengHei" panose="020B0604030504040204" pitchFamily="34" charset="-120"/>
                <a:ea typeface="Microsoft JhengHei" panose="020B0604030504040204" pitchFamily="34" charset="-120"/>
                <a:cs typeface="+mn-ea"/>
              </a:rPr>
              <a:t>之定價核估計結果較能展現定價核圖形的單調遞減理論特性</a:t>
            </a:r>
            <a:endParaRPr lang="en-US" altLang="zh-TW" sz="2000" dirty="0">
              <a:solidFill>
                <a:schemeClr val="tx2"/>
              </a:solidFill>
              <a:latin typeface="Microsoft JhengHei" panose="020B0604030504040204" pitchFamily="34" charset="-120"/>
              <a:ea typeface="Microsoft JhengHei" panose="020B0604030504040204" pitchFamily="34" charset="-120"/>
              <a:cs typeface="+mn-ea"/>
            </a:endParaRPr>
          </a:p>
        </p:txBody>
      </p:sp>
    </p:spTree>
    <p:extLst>
      <p:ext uri="{BB962C8B-B14F-4D97-AF65-F5344CB8AC3E}">
        <p14:creationId xmlns:p14="http://schemas.microsoft.com/office/powerpoint/2010/main" val="12374667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7D01-35DB-BF14-D777-555659C57587}"/>
            </a:ext>
          </a:extLst>
        </p:cNvPr>
        <p:cNvGrpSpPr/>
        <p:nvPr/>
      </p:nvGrpSpPr>
      <p:grpSpPr>
        <a:xfrm>
          <a:off x="0" y="0"/>
          <a:ext cx="0" cy="0"/>
          <a:chOff x="0" y="0"/>
          <a:chExt cx="0" cy="0"/>
        </a:xfrm>
      </p:grpSpPr>
      <p:sp>
        <p:nvSpPr>
          <p:cNvPr id="4" name="標題 3">
            <a:extLst>
              <a:ext uri="{FF2B5EF4-FFF2-40B4-BE49-F238E27FC236}">
                <a16:creationId xmlns:a16="http://schemas.microsoft.com/office/drawing/2014/main" id="{774C9F81-61F6-6E1E-688D-A25D516EB51B}"/>
              </a:ext>
            </a:extLst>
          </p:cNvPr>
          <p:cNvSpPr>
            <a:spLocks noGrp="1"/>
          </p:cNvSpPr>
          <p:nvPr>
            <p:ph type="title"/>
          </p:nvPr>
        </p:nvSpPr>
        <p:spPr/>
        <p:txBody>
          <a:bodyPr/>
          <a:lstStyle/>
          <a:p>
            <a:pPr algn="ctr">
              <a:lnSpc>
                <a:spcPct val="100000"/>
              </a:lnSpc>
            </a:pPr>
            <a:r>
              <a:rPr lang="zh-TW" altLang="en-US" sz="3600" dirty="0"/>
              <a:t>神經網路模型改良</a:t>
            </a:r>
            <a:r>
              <a:rPr lang="en-US" altLang="zh-TW" sz="3600" dirty="0"/>
              <a:t>CDI</a:t>
            </a:r>
            <a:r>
              <a:rPr lang="zh-TW" altLang="en-US" sz="3600" dirty="0"/>
              <a:t>方法之短期定價核估計</a:t>
            </a:r>
            <a:br>
              <a:rPr lang="en-US" altLang="zh-TW" sz="3600" dirty="0"/>
            </a:br>
            <a:r>
              <a:rPr lang="zh-TW" altLang="en-US" sz="3600" dirty="0"/>
              <a:t>與</a:t>
            </a:r>
            <a:br>
              <a:rPr lang="en-US" altLang="zh-TW" sz="3600" dirty="0"/>
            </a:br>
            <a:r>
              <a:rPr lang="zh-TW" altLang="en-US" sz="3600" dirty="0"/>
              <a:t>投資者情緒分析</a:t>
            </a:r>
          </a:p>
        </p:txBody>
      </p:sp>
      <p:sp>
        <p:nvSpPr>
          <p:cNvPr id="5" name="內容版面配置區 4">
            <a:extLst>
              <a:ext uri="{FF2B5EF4-FFF2-40B4-BE49-F238E27FC236}">
                <a16:creationId xmlns:a16="http://schemas.microsoft.com/office/drawing/2014/main" id="{E8AA5CE2-8DC7-55E0-5C57-7105167AAAB3}"/>
              </a:ext>
            </a:extLst>
          </p:cNvPr>
          <p:cNvSpPr>
            <a:spLocks noGrp="1"/>
          </p:cNvSpPr>
          <p:nvPr>
            <p:ph sz="quarter" idx="10"/>
          </p:nvPr>
        </p:nvSpPr>
        <p:spPr/>
        <p:txBody>
          <a:bodyPr/>
          <a:lstStyle/>
          <a:p>
            <a:pPr algn="dist"/>
            <a:r>
              <a:rPr lang="zh-CN" altLang="en-US" sz="2400" dirty="0">
                <a:sym typeface="思源宋体 CN Light" panose="02020300000000000000" pitchFamily="18" charset="-122"/>
              </a:rPr>
              <a:t>指導教</a:t>
            </a:r>
            <a:r>
              <a:rPr lang="zh-TW" altLang="en-US" sz="2400" dirty="0">
                <a:sym typeface="思源宋体 CN Light" panose="02020300000000000000" pitchFamily="18" charset="-122"/>
              </a:rPr>
              <a:t>授</a:t>
            </a:r>
            <a:r>
              <a:rPr lang="en-US" altLang="zh-TW" sz="2400" dirty="0">
                <a:sym typeface="思源宋体 CN Light" panose="02020300000000000000" pitchFamily="18" charset="-122"/>
              </a:rPr>
              <a:t>:</a:t>
            </a:r>
            <a:r>
              <a:rPr lang="zh-CN" altLang="en-US" sz="2400" dirty="0">
                <a:sym typeface="思源宋体 CN Light" panose="02020300000000000000" pitchFamily="18" charset="-122"/>
              </a:rPr>
              <a:t>戴天時 教授</a:t>
            </a:r>
          </a:p>
          <a:p>
            <a:pPr algn="ctr"/>
            <a:r>
              <a:rPr lang="zh-CN" altLang="en-US" sz="2400" dirty="0">
                <a:sym typeface="思源宋体 CN Light" panose="02020300000000000000" pitchFamily="18" charset="-122"/>
              </a:rPr>
              <a:t>研究生</a:t>
            </a:r>
            <a:r>
              <a:rPr lang="en-US" altLang="zh-CN" sz="2400" dirty="0">
                <a:sym typeface="思源宋体 CN Light" panose="02020300000000000000" pitchFamily="18" charset="-122"/>
              </a:rPr>
              <a:t>:</a:t>
            </a:r>
            <a:r>
              <a:rPr lang="zh-TW" altLang="en-US" sz="2400" dirty="0">
                <a:sym typeface="思源宋体 CN Light" panose="02020300000000000000" pitchFamily="18" charset="-122"/>
              </a:rPr>
              <a:t>張祐慈</a:t>
            </a:r>
            <a:endParaRPr lang="zh-CN" altLang="en-US" sz="2400" dirty="0">
              <a:sym typeface="思源宋体 CN Light" panose="02020300000000000000" pitchFamily="18" charset="-122"/>
            </a:endParaRPr>
          </a:p>
        </p:txBody>
      </p:sp>
      <p:sp>
        <p:nvSpPr>
          <p:cNvPr id="2" name="文字方塊 1">
            <a:extLst>
              <a:ext uri="{FF2B5EF4-FFF2-40B4-BE49-F238E27FC236}">
                <a16:creationId xmlns:a16="http://schemas.microsoft.com/office/drawing/2014/main" id="{7B64DE94-C222-32D8-2EBD-65A06B88A008}"/>
              </a:ext>
            </a:extLst>
          </p:cNvPr>
          <p:cNvSpPr txBox="1"/>
          <p:nvPr/>
        </p:nvSpPr>
        <p:spPr>
          <a:xfrm>
            <a:off x="2258168" y="5046736"/>
            <a:ext cx="2595382" cy="646331"/>
          </a:xfrm>
          <a:prstGeom prst="rect">
            <a:avLst/>
          </a:prstGeom>
          <a:noFill/>
        </p:spPr>
        <p:txBody>
          <a:bodyPr wrap="square" rtlCol="0">
            <a:spAutoFit/>
          </a:bodyPr>
          <a:lstStyle/>
          <a:p>
            <a:pPr algn="ctr"/>
            <a:r>
              <a:rPr lang="en-US" altLang="zh-TW" sz="3600" b="1" spc="400" dirty="0">
                <a:solidFill>
                  <a:schemeClr val="accent2"/>
                </a:solidFill>
                <a:ea typeface="思源黑体 CN Light" panose="020B0300000000000000" pitchFamily="34" charset="-122"/>
                <a:cs typeface="+mn-ea"/>
              </a:rPr>
              <a:t>THE</a:t>
            </a:r>
            <a:r>
              <a:rPr lang="zh-TW" altLang="en-US" sz="3600" b="1" spc="400" dirty="0">
                <a:solidFill>
                  <a:schemeClr val="accent2"/>
                </a:solidFill>
                <a:cs typeface="+mn-ea"/>
              </a:rPr>
              <a:t> </a:t>
            </a:r>
            <a:r>
              <a:rPr lang="en-US" altLang="zh-TW" sz="3600" b="1" spc="400" dirty="0">
                <a:solidFill>
                  <a:schemeClr val="accent2"/>
                </a:solidFill>
                <a:ea typeface="思源黑体 CN Light" panose="020B0300000000000000" pitchFamily="34" charset="-122"/>
                <a:cs typeface="+mn-ea"/>
              </a:rPr>
              <a:t>END</a:t>
            </a:r>
            <a:endParaRPr lang="zh-TW" altLang="en-US" sz="3600" b="1" spc="400" dirty="0">
              <a:solidFill>
                <a:schemeClr val="accent2"/>
              </a:solidFill>
              <a:cs typeface="+mn-ea"/>
            </a:endParaRPr>
          </a:p>
        </p:txBody>
      </p:sp>
    </p:spTree>
    <p:extLst>
      <p:ext uri="{BB962C8B-B14F-4D97-AF65-F5344CB8AC3E}">
        <p14:creationId xmlns:p14="http://schemas.microsoft.com/office/powerpoint/2010/main" val="27658534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a:extLst>
              <a:ext uri="{FF2B5EF4-FFF2-40B4-BE49-F238E27FC236}">
                <a16:creationId xmlns:a16="http://schemas.microsoft.com/office/drawing/2014/main" id="{BAC2F789-43CC-F8D6-4FC1-0393C3BB018A}"/>
              </a:ext>
            </a:extLst>
          </p:cNvPr>
          <p:cNvSpPr>
            <a:spLocks noGrp="1"/>
          </p:cNvSpPr>
          <p:nvPr>
            <p:ph type="body" sz="quarter" idx="10"/>
          </p:nvPr>
        </p:nvSpPr>
        <p:spPr>
          <a:xfrm>
            <a:off x="2098386" y="200315"/>
            <a:ext cx="7431279" cy="436563"/>
          </a:xfrm>
        </p:spPr>
        <p:txBody>
          <a:bodyPr/>
          <a:lstStyle/>
          <a:p>
            <a:r>
              <a:rPr lang="en-US" altLang="zh-TW" dirty="0">
                <a:solidFill>
                  <a:srgbClr val="44546A"/>
                </a:solidFill>
              </a:rPr>
              <a:t>Breeden and Litzenberger (1978</a:t>
            </a:r>
            <a:r>
              <a:rPr lang="en-US" altLang="zh-TW" b="0" dirty="0">
                <a:solidFill>
                  <a:srgbClr val="44546A"/>
                </a:solidFill>
              </a:rPr>
              <a:t>)</a:t>
            </a:r>
          </a:p>
          <a:p>
            <a:endParaRPr lang="zh-TW" alt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801890C2-CB7F-5D57-659A-1C25530D75AD}"/>
                  </a:ext>
                </a:extLst>
              </p:cNvPr>
              <p:cNvSpPr txBox="1"/>
              <p:nvPr/>
            </p:nvSpPr>
            <p:spPr>
              <a:xfrm>
                <a:off x="777551" y="1212979"/>
                <a:ext cx="10711543" cy="4891404"/>
              </a:xfrm>
              <a:prstGeom prst="rect">
                <a:avLst/>
              </a:prstGeom>
              <a:noFill/>
            </p:spPr>
            <p:txBody>
              <a:bodyPr wrap="square" rtlCol="0">
                <a:spAutoFit/>
              </a:bodyPr>
              <a:lstStyle/>
              <a:p>
                <a:pPr marR="0" lvl="0" algn="l" defTabSz="912684" rtl="0" eaLnBrk="1" fontAlgn="auto" latinLnBrk="0" hangingPunct="1">
                  <a:lnSpc>
                    <a:spcPct val="150000"/>
                  </a:lnSpc>
                  <a:spcBef>
                    <a:spcPts val="1000"/>
                  </a:spcBef>
                  <a:spcAft>
                    <a:spcPts val="0"/>
                  </a:spcAft>
                  <a:buClr>
                    <a:srgbClr val="BA8D2D"/>
                  </a:buClr>
                  <a:buSzTx/>
                  <a:tabLst/>
                  <a:defRPr/>
                </a:pPr>
                <a:r>
                  <a:rPr kumimoji="0" lang="zh-TW" altLang="en-US" sz="2000" b="1"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選擇權價格估計標的物價格之風險中立機率密度函數</a:t>
                </a:r>
                <a:r>
                  <a:rPr kumimoji="0" lang="en-US" altLang="zh-TW" sz="2000" b="1"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g</a:t>
                </a:r>
                <a:r>
                  <a:rPr kumimoji="0" lang="zh-TW" altLang="en-US" sz="2000" b="1"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 </a:t>
                </a:r>
                <a:r>
                  <a:rPr kumimoji="0" lang="en-US" altLang="zh-TW" sz="2000" b="1"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by Breeden and Litzenberger (1978</a:t>
                </a:r>
                <a:r>
                  <a:rPr kumimoji="0" lang="en-US" altLang="zh-TW"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a:t>
                </a:r>
              </a:p>
              <a:p>
                <a:pPr marL="456342" marR="0" lvl="1" indent="0" algn="l" defTabSz="912684" rtl="0" eaLnBrk="1" fontAlgn="auto" latinLnBrk="0" hangingPunct="1">
                  <a:lnSpc>
                    <a:spcPct val="150000"/>
                  </a:lnSpc>
                  <a:spcBef>
                    <a:spcPts val="500"/>
                  </a:spcBef>
                  <a:spcAft>
                    <a:spcPts val="0"/>
                  </a:spcAft>
                  <a:buClr>
                    <a:srgbClr val="BA8D2D"/>
                  </a:buClr>
                  <a:buSzTx/>
                  <a:buFont typeface="+mj-lt"/>
                  <a:buNone/>
                  <a:tabLst/>
                  <a:defRPr/>
                </a:pPr>
                <a:r>
                  <a:rPr kumimoji="0" lang="zh-TW" altLang="en-US"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買權價格</a:t>
                </a:r>
                <a14:m>
                  <m:oMath xmlns:m="http://schemas.openxmlformats.org/officeDocument/2006/math">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𝑐</m:t>
                    </m:r>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 </m:t>
                    </m:r>
                    <m:sSup>
                      <m:sSupPr>
                        <m:ctrl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ctrlPr>
                      </m:sSupPr>
                      <m:e>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𝑒</m:t>
                        </m:r>
                      </m:e>
                      <m:sup>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m:t>
                        </m:r>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𝑟𝑇</m:t>
                        </m:r>
                      </m:sup>
                    </m:sSup>
                    <m:nary>
                      <m:naryPr>
                        <m:ctrl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ctrlPr>
                      </m:naryPr>
                      <m:sub>
                        <m:sSub>
                          <m:sSubPr>
                            <m:ctrl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ctrlPr>
                          </m:sSubPr>
                          <m:e>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𝑆</m:t>
                            </m:r>
                          </m:e>
                          <m:sub>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𝑇</m:t>
                            </m:r>
                          </m:sub>
                        </m:sSub>
                        <m:r>
                          <m:rPr>
                            <m:brk m:alnAt="23"/>
                          </m:r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m:t>
                        </m:r>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𝐾</m:t>
                        </m:r>
                      </m:sub>
                      <m:sup>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ea typeface="Cambria Math" panose="02040503050406030204" pitchFamily="18" charset="0"/>
                          </a:rPr>
                          <m:t>∞</m:t>
                        </m:r>
                      </m:sup>
                      <m:e>
                        <m:d>
                          <m:dPr>
                            <m:ctrl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ctrlPr>
                          </m:dPr>
                          <m:e>
                            <m:sSub>
                              <m:sSubPr>
                                <m:ctrl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ctrlPr>
                              </m:sSubPr>
                              <m:e>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𝑆</m:t>
                                </m:r>
                              </m:e>
                              <m:sub>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𝑇</m:t>
                                </m:r>
                              </m:sub>
                            </m:sSub>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m:t>
                            </m:r>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𝐾</m:t>
                            </m:r>
                          </m:e>
                        </m:d>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𝑔</m:t>
                        </m:r>
                        <m:d>
                          <m:dPr>
                            <m:ctrl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ctrlPr>
                          </m:dPr>
                          <m:e>
                            <m:sSub>
                              <m:sSub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sSubPr>
                              <m:e>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𝑆</m:t>
                                </m:r>
                              </m:e>
                              <m:sub>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𝑇</m:t>
                                </m:r>
                              </m:sub>
                            </m:sSub>
                          </m:e>
                        </m:d>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𝑑</m:t>
                        </m:r>
                        <m:sSub>
                          <m:sSub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sSubPr>
                          <m:e>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𝑆</m:t>
                            </m:r>
                          </m:e>
                          <m:sub>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𝑇</m:t>
                            </m:r>
                          </m:sub>
                        </m:sSub>
                      </m:e>
                    </m:nary>
                  </m:oMath>
                </a14:m>
                <a:endParaRPr kumimoji="0" lang="en-US" altLang="zh-TW"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endParaRPr>
              </a:p>
              <a:p>
                <a:pPr marL="456342" marR="0" lvl="1" indent="0" algn="l" defTabSz="912684" rtl="0" eaLnBrk="1" fontAlgn="auto" latinLnBrk="0" hangingPunct="1">
                  <a:lnSpc>
                    <a:spcPct val="150000"/>
                  </a:lnSpc>
                  <a:spcBef>
                    <a:spcPts val="500"/>
                  </a:spcBef>
                  <a:spcAft>
                    <a:spcPts val="0"/>
                  </a:spcAft>
                  <a:buClr>
                    <a:srgbClr val="BA8D2D"/>
                  </a:buClr>
                  <a:buSzTx/>
                  <a:buFont typeface="+mj-lt"/>
                  <a:buNone/>
                  <a:tabLst/>
                  <a:defRPr/>
                </a:pPr>
                <a:r>
                  <a:rPr kumimoji="0" lang="zh-TW" altLang="en-US"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以履約價格對</a:t>
                </a:r>
                <a14:m>
                  <m:oMath xmlns:m="http://schemas.openxmlformats.org/officeDocument/2006/math">
                    <m:r>
                      <a:rPr kumimoji="0" lang="zh-TW" altLang="en-US" sz="2000" b="0" i="1" u="none" strike="noStrike" kern="1200" cap="none" spc="0" normalizeH="0" baseline="0" noProof="0" smtClean="0">
                        <a:ln>
                          <a:noFill/>
                        </a:ln>
                        <a:solidFill>
                          <a:srgbClr val="44546A"/>
                        </a:solidFill>
                        <a:effectLst/>
                        <a:uLnTx/>
                        <a:uFillTx/>
                        <a:latin typeface="Cambria Math" panose="02040503050406030204" pitchFamily="18" charset="0"/>
                      </a:rPr>
                      <m:t>買權價格進行二次微分可得</m:t>
                    </m:r>
                    <m:f>
                      <m:fPr>
                        <m:ctrl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ctrlPr>
                      </m:fPr>
                      <m:num>
                        <m:sSup>
                          <m:sSupPr>
                            <m:ctrl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ctrlPr>
                          </m:sSupPr>
                          <m:e>
                            <m:r>
                              <a:rPr kumimoji="0" lang="zh-TW" altLang="en-US" sz="2000" b="0" i="1" u="none" strike="noStrike" kern="1200" cap="none" spc="0" normalizeH="0" baseline="0" noProof="0" smtClean="0">
                                <a:ln>
                                  <a:noFill/>
                                </a:ln>
                                <a:solidFill>
                                  <a:srgbClr val="44546A"/>
                                </a:solidFill>
                                <a:effectLst/>
                                <a:uLnTx/>
                                <a:uFillTx/>
                                <a:latin typeface="Cambria Math" panose="02040503050406030204" pitchFamily="18" charset="0"/>
                              </a:rPr>
                              <m:t>𝜕</m:t>
                            </m:r>
                          </m:e>
                          <m:sup>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2</m:t>
                            </m:r>
                          </m:sup>
                        </m:sSup>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𝑐</m:t>
                        </m:r>
                      </m:num>
                      <m:den>
                        <m:r>
                          <a:rPr kumimoji="0" lang="zh-TW" altLang="en-US" sz="2000" b="0" i="1" u="none" strike="noStrike" kern="1200" cap="none" spc="0" normalizeH="0" baseline="0" noProof="0" smtClean="0">
                            <a:ln>
                              <a:noFill/>
                            </a:ln>
                            <a:solidFill>
                              <a:srgbClr val="44546A"/>
                            </a:solidFill>
                            <a:effectLst/>
                            <a:uLnTx/>
                            <a:uFillTx/>
                            <a:latin typeface="Cambria Math" panose="02040503050406030204" pitchFamily="18" charset="0"/>
                          </a:rPr>
                          <m:t>𝜕</m:t>
                        </m:r>
                        <m:sSup>
                          <m:sSupPr>
                            <m:ctrl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ctrlPr>
                          </m:sSupPr>
                          <m:e>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𝐾</m:t>
                            </m:r>
                          </m:e>
                          <m:sup>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2</m:t>
                            </m:r>
                          </m:sup>
                        </m:sSup>
                      </m:den>
                    </m:f>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m:t>
                    </m:r>
                    <m:sSup>
                      <m:sSup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sSupPr>
                      <m:e>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𝑒</m:t>
                        </m:r>
                      </m:e>
                      <m:sup>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m:t>
                        </m:r>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𝑟𝑇</m:t>
                        </m:r>
                      </m:sup>
                    </m:sSup>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𝑔</m:t>
                    </m:r>
                    <m:d>
                      <m:dPr>
                        <m:ctrlP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ctrlPr>
                      </m:dPr>
                      <m:e>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𝐾</m:t>
                        </m:r>
                      </m:e>
                    </m:d>
                    <m:r>
                      <a:rPr kumimoji="0" lang="zh-TW" altLang="en-US" sz="2000" b="0" i="1" u="none" strike="noStrike" kern="1200" cap="none" spc="0" normalizeH="0" baseline="0" noProof="0" smtClean="0">
                        <a:ln>
                          <a:noFill/>
                        </a:ln>
                        <a:solidFill>
                          <a:srgbClr val="44546A"/>
                        </a:solidFill>
                        <a:effectLst/>
                        <a:uLnTx/>
                        <a:uFillTx/>
                        <a:latin typeface="Cambria Math" panose="02040503050406030204" pitchFamily="18" charset="0"/>
                      </a:rPr>
                      <m:t>⟹</m:t>
                    </m:r>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𝑔</m:t>
                    </m:r>
                    <m:d>
                      <m:d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dPr>
                      <m:e>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𝐾</m:t>
                        </m:r>
                      </m:e>
                    </m:d>
                    <m:r>
                      <a:rPr kumimoji="0" lang="en-US" altLang="zh-TW" sz="2000" b="0" i="1" u="none" strike="noStrike" kern="1200" cap="none" spc="0" normalizeH="0" baseline="0" noProof="0" smtClean="0">
                        <a:ln>
                          <a:noFill/>
                        </a:ln>
                        <a:solidFill>
                          <a:srgbClr val="44546A"/>
                        </a:solidFill>
                        <a:effectLst/>
                        <a:uLnTx/>
                        <a:uFillTx/>
                        <a:latin typeface="Cambria Math" panose="02040503050406030204" pitchFamily="18" charset="0"/>
                      </a:rPr>
                      <m:t>=</m:t>
                    </m:r>
                    <m:sSup>
                      <m:sSup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sSupPr>
                      <m:e>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𝑒</m:t>
                        </m:r>
                      </m:e>
                      <m:sup>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𝑟𝑇</m:t>
                        </m:r>
                      </m:sup>
                    </m:sSup>
                    <m:f>
                      <m:f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fPr>
                      <m:num>
                        <m:sSup>
                          <m:sSup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sSupPr>
                          <m:e>
                            <m:r>
                              <a:rPr kumimoji="0" lang="zh-TW" altLang="en-US" sz="2000" b="0" i="1" u="none" strike="noStrike" kern="1200" cap="none" spc="0" normalizeH="0" baseline="0" noProof="0">
                                <a:ln>
                                  <a:noFill/>
                                </a:ln>
                                <a:solidFill>
                                  <a:srgbClr val="44546A"/>
                                </a:solidFill>
                                <a:effectLst/>
                                <a:uLnTx/>
                                <a:uFillTx/>
                                <a:latin typeface="Cambria Math" panose="02040503050406030204" pitchFamily="18" charset="0"/>
                              </a:rPr>
                              <m:t>𝜕</m:t>
                            </m:r>
                          </m:e>
                          <m:sup>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2</m:t>
                            </m:r>
                          </m:sup>
                        </m:sSup>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𝑐</m:t>
                        </m:r>
                      </m:num>
                      <m:den>
                        <m:r>
                          <a:rPr kumimoji="0" lang="zh-TW" altLang="en-US" sz="2000" b="0" i="1" u="none" strike="noStrike" kern="1200" cap="none" spc="0" normalizeH="0" baseline="0" noProof="0">
                            <a:ln>
                              <a:noFill/>
                            </a:ln>
                            <a:solidFill>
                              <a:srgbClr val="44546A"/>
                            </a:solidFill>
                            <a:effectLst/>
                            <a:uLnTx/>
                            <a:uFillTx/>
                            <a:latin typeface="Cambria Math" panose="02040503050406030204" pitchFamily="18" charset="0"/>
                          </a:rPr>
                          <m:t>𝜕</m:t>
                        </m:r>
                        <m:sSup>
                          <m:sSup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sSupPr>
                          <m:e>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𝐾</m:t>
                            </m:r>
                          </m:e>
                          <m:sup>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2</m:t>
                            </m:r>
                          </m:sup>
                        </m:sSup>
                      </m:den>
                    </m:f>
                  </m:oMath>
                </a14:m>
                <a:endParaRPr kumimoji="0" lang="en-US" altLang="zh-TW"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endParaRPr>
              </a:p>
              <a:p>
                <a:pPr marL="456342" marR="0" lvl="1" indent="0" algn="l" defTabSz="912684" rtl="0" eaLnBrk="1" fontAlgn="auto" latinLnBrk="0" hangingPunct="1">
                  <a:lnSpc>
                    <a:spcPct val="150000"/>
                  </a:lnSpc>
                  <a:spcBef>
                    <a:spcPts val="500"/>
                  </a:spcBef>
                  <a:spcAft>
                    <a:spcPts val="0"/>
                  </a:spcAft>
                  <a:buClr>
                    <a:srgbClr val="BA8D2D"/>
                  </a:buClr>
                  <a:buSzTx/>
                  <a:buFont typeface="+mj-lt"/>
                  <a:buNone/>
                  <a:tabLst/>
                  <a:defRPr/>
                </a:pPr>
                <a:r>
                  <a:rPr kumimoji="0" lang="zh-TW" altLang="en-US"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可使用數值方法近似此結果</a:t>
                </a:r>
                <a14:m>
                  <m:oMath xmlns:m="http://schemas.openxmlformats.org/officeDocument/2006/math">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𝑔</m:t>
                    </m:r>
                    <m:d>
                      <m:dPr>
                        <m:ctrlP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ctrlPr>
                      </m:dPr>
                      <m:e>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𝐾</m:t>
                        </m:r>
                      </m:e>
                    </m:d>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m:t>
                    </m:r>
                    <m:sSup>
                      <m:sSupPr>
                        <m:ctrlP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ctrlPr>
                      </m:sSupPr>
                      <m:e>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𝑒</m:t>
                        </m:r>
                      </m:e>
                      <m:sup>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𝑟𝑇</m:t>
                        </m:r>
                      </m:sup>
                    </m:sSup>
                    <m:f>
                      <m:fPr>
                        <m:ctrlP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ctrlPr>
                      </m:fPr>
                      <m:num>
                        <m:sSup>
                          <m:sSupPr>
                            <m:ctrlP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ctrlPr>
                          </m:sSupPr>
                          <m:e>
                            <m:r>
                              <a:rPr kumimoji="0" lang="zh-TW" altLang="en-US" sz="2400" b="0" i="1" u="none" strike="noStrike" kern="1200" cap="none" spc="0" normalizeH="0" baseline="0" noProof="0">
                                <a:ln>
                                  <a:noFill/>
                                </a:ln>
                                <a:solidFill>
                                  <a:srgbClr val="44546A"/>
                                </a:solidFill>
                                <a:effectLst/>
                                <a:uLnTx/>
                                <a:uFillTx/>
                                <a:latin typeface="Cambria Math" panose="02040503050406030204" pitchFamily="18" charset="0"/>
                              </a:rPr>
                              <m:t>𝜕</m:t>
                            </m:r>
                          </m:e>
                          <m:sup>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2</m:t>
                            </m:r>
                          </m:sup>
                        </m:sSup>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𝑐</m:t>
                        </m:r>
                      </m:num>
                      <m:den>
                        <m:r>
                          <a:rPr kumimoji="0" lang="zh-TW" altLang="en-US" sz="2400" b="0" i="1" u="none" strike="noStrike" kern="1200" cap="none" spc="0" normalizeH="0" baseline="0" noProof="0">
                            <a:ln>
                              <a:noFill/>
                            </a:ln>
                            <a:solidFill>
                              <a:srgbClr val="44546A"/>
                            </a:solidFill>
                            <a:effectLst/>
                            <a:uLnTx/>
                            <a:uFillTx/>
                            <a:latin typeface="Cambria Math" panose="02040503050406030204" pitchFamily="18" charset="0"/>
                          </a:rPr>
                          <m:t>𝜕</m:t>
                        </m:r>
                        <m:sSup>
                          <m:sSupPr>
                            <m:ctrlP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ctrlPr>
                          </m:sSupPr>
                          <m:e>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𝐾</m:t>
                            </m:r>
                          </m:e>
                          <m:sup>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2</m:t>
                            </m:r>
                          </m:sup>
                        </m:sSup>
                      </m:den>
                    </m:f>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ea typeface="Cambria Math" panose="02040503050406030204" pitchFamily="18" charset="0"/>
                      </a:rPr>
                      <m:t>≈</m:t>
                    </m:r>
                    <m:sSup>
                      <m:sSupPr>
                        <m:ctrlP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ctrlPr>
                      </m:sSupPr>
                      <m:e>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𝑒</m:t>
                        </m:r>
                      </m:e>
                      <m:sup>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𝑟𝑇</m:t>
                        </m:r>
                      </m:sup>
                    </m:sSup>
                    <m:f>
                      <m:fPr>
                        <m:ctrlP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ctrlPr>
                      </m:fPr>
                      <m:num>
                        <m:sSub>
                          <m:sSubPr>
                            <m:ctrlP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ctrlPr>
                          </m:sSubPr>
                          <m:e>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𝑐</m:t>
                            </m:r>
                          </m:e>
                          <m:sub>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1</m:t>
                            </m:r>
                          </m:sub>
                        </m:sSub>
                        <m:r>
                          <a:rPr kumimoji="0" lang="en-US" altLang="zh-TW" sz="2400" b="0" i="1" u="none" strike="noStrike" kern="1200" cap="none" spc="0" normalizeH="0" baseline="0" noProof="0" smtClean="0">
                            <a:ln>
                              <a:noFill/>
                            </a:ln>
                            <a:solidFill>
                              <a:srgbClr val="44546A"/>
                            </a:solidFill>
                            <a:effectLst/>
                            <a:uLnTx/>
                            <a:uFillTx/>
                            <a:latin typeface="Cambria Math" panose="02040503050406030204" pitchFamily="18" charset="0"/>
                          </a:rPr>
                          <m:t>+</m:t>
                        </m:r>
                        <m:sSub>
                          <m:sSubPr>
                            <m:ctrlPr>
                              <a:rPr kumimoji="0" lang="en-US" altLang="zh-TW" sz="2400" b="0" i="1" u="none" strike="noStrike" kern="1200" cap="none" spc="0" normalizeH="0" baseline="0" noProof="0" smtClean="0">
                                <a:ln>
                                  <a:noFill/>
                                </a:ln>
                                <a:solidFill>
                                  <a:srgbClr val="44546A"/>
                                </a:solidFill>
                                <a:effectLst/>
                                <a:uLnTx/>
                                <a:uFillTx/>
                                <a:latin typeface="Cambria Math" panose="02040503050406030204" pitchFamily="18" charset="0"/>
                              </a:rPr>
                            </m:ctrlPr>
                          </m:sSubPr>
                          <m:e>
                            <m:r>
                              <m:rPr>
                                <m:sty m:val="p"/>
                              </m:rP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c</m:t>
                            </m:r>
                          </m:e>
                          <m:sub>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3</m:t>
                            </m:r>
                          </m:sub>
                        </m:sSub>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m:t>
                        </m:r>
                        <m:r>
                          <a:rPr kumimoji="0" lang="en-US" altLang="zh-TW" sz="2400" b="0" i="1" u="none" strike="noStrike" kern="1200" cap="none" spc="0" normalizeH="0" baseline="0" noProof="0" smtClean="0">
                            <a:ln>
                              <a:noFill/>
                            </a:ln>
                            <a:solidFill>
                              <a:srgbClr val="44546A"/>
                            </a:solidFill>
                            <a:effectLst/>
                            <a:uLnTx/>
                            <a:uFillTx/>
                            <a:latin typeface="Cambria Math" panose="02040503050406030204" pitchFamily="18" charset="0"/>
                          </a:rPr>
                          <m:t>2</m:t>
                        </m:r>
                        <m:sSub>
                          <m:sSubPr>
                            <m:ctrlPr>
                              <a:rPr kumimoji="0" lang="en-US" altLang="zh-TW" sz="2400" b="0" i="1" u="none" strike="noStrike" kern="1200" cap="none" spc="0" normalizeH="0" baseline="0" noProof="0" smtClean="0">
                                <a:ln>
                                  <a:noFill/>
                                </a:ln>
                                <a:solidFill>
                                  <a:srgbClr val="44546A"/>
                                </a:solidFill>
                                <a:effectLst/>
                                <a:uLnTx/>
                                <a:uFillTx/>
                                <a:latin typeface="Cambria Math" panose="02040503050406030204" pitchFamily="18" charset="0"/>
                              </a:rPr>
                            </m:ctrlPr>
                          </m:sSubPr>
                          <m:e>
                            <m:r>
                              <m:rPr>
                                <m:sty m:val="p"/>
                              </m:rP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c</m:t>
                            </m:r>
                          </m:e>
                          <m:sub>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2</m:t>
                            </m:r>
                          </m:sub>
                        </m:sSub>
                      </m:num>
                      <m:den>
                        <m:sSup>
                          <m:sSupPr>
                            <m:ctrlPr>
                              <a:rPr kumimoji="0" lang="en-US" altLang="zh-TW" sz="2400" b="0" i="1" u="none" strike="noStrike" kern="1200" cap="none" spc="0" normalizeH="0" baseline="0" noProof="0" smtClean="0">
                                <a:ln>
                                  <a:noFill/>
                                </a:ln>
                                <a:solidFill>
                                  <a:srgbClr val="44546A"/>
                                </a:solidFill>
                                <a:effectLst/>
                                <a:uLnTx/>
                                <a:uFillTx/>
                                <a:latin typeface="Cambria Math" panose="02040503050406030204" pitchFamily="18" charset="0"/>
                              </a:rPr>
                            </m:ctrlPr>
                          </m:sSupPr>
                          <m:e>
                            <m:r>
                              <a:rPr kumimoji="0" lang="zh-TW" altLang="en-US" sz="2400" b="0" i="1" u="none" strike="noStrike" kern="1200" cap="none" spc="0" normalizeH="0" baseline="0" noProof="0" smtClean="0">
                                <a:ln>
                                  <a:noFill/>
                                </a:ln>
                                <a:solidFill>
                                  <a:srgbClr val="44546A"/>
                                </a:solidFill>
                                <a:effectLst/>
                                <a:uLnTx/>
                                <a:uFillTx/>
                                <a:latin typeface="Cambria Math" panose="02040503050406030204" pitchFamily="18" charset="0"/>
                              </a:rPr>
                              <m:t>𝛿</m:t>
                            </m:r>
                          </m:e>
                          <m:sup>
                            <m:r>
                              <a:rPr kumimoji="0" lang="en-US" altLang="zh-TW" sz="2400" b="0" i="1" u="none" strike="noStrike" kern="1200" cap="none" spc="0" normalizeH="0" baseline="0" noProof="0">
                                <a:ln>
                                  <a:noFill/>
                                </a:ln>
                                <a:solidFill>
                                  <a:srgbClr val="44546A"/>
                                </a:solidFill>
                                <a:effectLst/>
                                <a:uLnTx/>
                                <a:uFillTx/>
                                <a:latin typeface="Cambria Math" panose="02040503050406030204" pitchFamily="18" charset="0"/>
                              </a:rPr>
                              <m:t>2</m:t>
                            </m:r>
                          </m:sup>
                        </m:sSup>
                      </m:den>
                    </m:f>
                  </m:oMath>
                </a14:m>
                <a:endParaRPr kumimoji="0" lang="en-US" altLang="zh-TW"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endParaRPr>
              </a:p>
              <a:p>
                <a:pPr marL="456342" marR="0" lvl="1" indent="0" algn="l" defTabSz="912684" rtl="0" eaLnBrk="1" fontAlgn="auto" latinLnBrk="0" hangingPunct="1">
                  <a:lnSpc>
                    <a:spcPct val="150000"/>
                  </a:lnSpc>
                  <a:spcBef>
                    <a:spcPts val="500"/>
                  </a:spcBef>
                  <a:spcAft>
                    <a:spcPts val="0"/>
                  </a:spcAft>
                  <a:buClr>
                    <a:srgbClr val="BA8D2D"/>
                  </a:buClr>
                  <a:buSzTx/>
                  <a:buFont typeface="+mj-lt"/>
                  <a:buNone/>
                  <a:tabLst/>
                  <a:defRPr/>
                </a:pPr>
                <a14:m>
                  <m:oMath xmlns:m="http://schemas.openxmlformats.org/officeDocument/2006/math">
                    <m:r>
                      <a:rPr kumimoji="0" lang="zh-TW" altLang="en-US" sz="2000" b="0" i="1" u="none" strike="noStrike" kern="1200" cap="none" spc="0" normalizeH="0" baseline="0" noProof="0">
                        <a:ln>
                          <a:noFill/>
                        </a:ln>
                        <a:solidFill>
                          <a:srgbClr val="44546A"/>
                        </a:solidFill>
                        <a:effectLst/>
                        <a:uLnTx/>
                        <a:uFillTx/>
                        <a:latin typeface="Cambria Math" panose="02040503050406030204" pitchFamily="18" charset="0"/>
                      </a:rPr>
                      <m:t>𝛿</m:t>
                    </m:r>
                  </m:oMath>
                </a14:m>
                <a:r>
                  <a:rPr kumimoji="0" lang="zh-TW" altLang="en-US"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表示極小的價格間距，</a:t>
                </a:r>
                <a:r>
                  <a:rPr kumimoji="0" lang="en-US" altLang="zh-TW"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 </a:t>
                </a:r>
                <a14:m>
                  <m:oMath xmlns:m="http://schemas.openxmlformats.org/officeDocument/2006/math">
                    <m:sSub>
                      <m:sSub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sSubPr>
                      <m:e>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𝑐</m:t>
                        </m:r>
                      </m:e>
                      <m:sub>
                        <m: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1</m:t>
                        </m:r>
                      </m:sub>
                    </m:sSub>
                    <m:r>
                      <a:rPr kumimoji="0" lang="zh-TW" altLang="en-US" sz="2000" b="0" i="1" u="none" strike="noStrike" kern="1200" cap="none" spc="0" normalizeH="0" baseline="0" noProof="0">
                        <a:ln>
                          <a:noFill/>
                        </a:ln>
                        <a:solidFill>
                          <a:srgbClr val="44546A"/>
                        </a:solidFill>
                        <a:effectLst/>
                        <a:uLnTx/>
                        <a:uFillTx/>
                        <a:latin typeface="Cambria Math" panose="02040503050406030204" pitchFamily="18" charset="0"/>
                      </a:rPr>
                      <m:t>、</m:t>
                    </m:r>
                    <m:sSub>
                      <m:sSub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sSubPr>
                      <m:e>
                        <m:r>
                          <m:rPr>
                            <m:sty m:val="p"/>
                          </m:r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c</m:t>
                        </m:r>
                      </m:e>
                      <m:sub>
                        <m:r>
                          <a:rPr lang="en-US" altLang="zh-TW" sz="2000" i="1">
                            <a:solidFill>
                              <a:srgbClr val="44546A"/>
                            </a:solidFill>
                            <a:latin typeface="Cambria Math" panose="02040503050406030204" pitchFamily="18" charset="0"/>
                          </a:rPr>
                          <m:t>2</m:t>
                        </m:r>
                      </m:sub>
                    </m:sSub>
                    <m:r>
                      <a:rPr kumimoji="0" lang="zh-TW" altLang="en-US" sz="2000" b="0" i="1" u="none" strike="noStrike" kern="1200" cap="none" spc="0" normalizeH="0" baseline="0" noProof="0">
                        <a:ln>
                          <a:noFill/>
                        </a:ln>
                        <a:solidFill>
                          <a:srgbClr val="44546A"/>
                        </a:solidFill>
                        <a:effectLst/>
                        <a:uLnTx/>
                        <a:uFillTx/>
                        <a:latin typeface="Cambria Math" panose="02040503050406030204" pitchFamily="18" charset="0"/>
                      </a:rPr>
                      <m:t>、</m:t>
                    </m:r>
                    <m:sSub>
                      <m:sSubPr>
                        <m:ctrl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ctrlPr>
                      </m:sSubPr>
                      <m:e>
                        <m:r>
                          <m:rPr>
                            <m:sty m:val="p"/>
                          </m:rPr>
                          <a:rPr kumimoji="0" lang="en-US" altLang="zh-TW" sz="2000" b="0" i="1" u="none" strike="noStrike" kern="1200" cap="none" spc="0" normalizeH="0" baseline="0" noProof="0">
                            <a:ln>
                              <a:noFill/>
                            </a:ln>
                            <a:solidFill>
                              <a:srgbClr val="44546A"/>
                            </a:solidFill>
                            <a:effectLst/>
                            <a:uLnTx/>
                            <a:uFillTx/>
                            <a:latin typeface="Cambria Math" panose="02040503050406030204" pitchFamily="18" charset="0"/>
                          </a:rPr>
                          <m:t>c</m:t>
                        </m:r>
                      </m:e>
                      <m:sub>
                        <m:r>
                          <a:rPr lang="en-US" altLang="zh-TW" sz="2000" i="1">
                            <a:solidFill>
                              <a:srgbClr val="44546A"/>
                            </a:solidFill>
                            <a:latin typeface="Cambria Math" panose="02040503050406030204" pitchFamily="18" charset="0"/>
                          </a:rPr>
                          <m:t>3</m:t>
                        </m:r>
                      </m:sub>
                    </m:sSub>
                  </m:oMath>
                </a14:m>
                <a:r>
                  <a:rPr kumimoji="0" lang="zh-TW" altLang="en-US"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為相同到期日，履約價分別為</a:t>
                </a:r>
                <a14:m>
                  <m:oMath xmlns:m="http://schemas.openxmlformats.org/officeDocument/2006/math">
                    <m:r>
                      <m:rPr>
                        <m:sty m:val="p"/>
                      </m:rPr>
                      <a:rPr kumimoji="0" lang="en-US" altLang="zh-TW" sz="2000" b="0" i="1" u="none" strike="noStrike" kern="1200" cap="none" spc="0" normalizeH="0" baseline="0" noProof="0" dirty="0">
                        <a:ln>
                          <a:noFill/>
                        </a:ln>
                        <a:solidFill>
                          <a:srgbClr val="44546A"/>
                        </a:solidFill>
                        <a:effectLst/>
                        <a:uLnTx/>
                        <a:uFillTx/>
                        <a:latin typeface="Cambria Math" panose="02040503050406030204" pitchFamily="18" charset="0"/>
                      </a:rPr>
                      <m:t>K</m:t>
                    </m:r>
                    <m:r>
                      <a:rPr kumimoji="0" lang="en-US" altLang="zh-TW" sz="2000" b="0" i="1" u="none" strike="noStrike" kern="1200" cap="none" spc="0" normalizeH="0" baseline="0" noProof="0" dirty="0" smtClean="0">
                        <a:ln>
                          <a:noFill/>
                        </a:ln>
                        <a:solidFill>
                          <a:srgbClr val="44546A"/>
                        </a:solidFill>
                        <a:effectLst/>
                        <a:uLnTx/>
                        <a:uFillTx/>
                        <a:latin typeface="Cambria Math" panose="02040503050406030204" pitchFamily="18" charset="0"/>
                      </a:rPr>
                      <m:t>−</m:t>
                    </m:r>
                    <m:r>
                      <a:rPr kumimoji="0" lang="zh-TW" altLang="en-US" sz="2000" b="0" i="1" u="none" strike="noStrike" kern="1200" cap="none" spc="0" normalizeH="0" baseline="0" noProof="0">
                        <a:ln>
                          <a:noFill/>
                        </a:ln>
                        <a:solidFill>
                          <a:srgbClr val="44546A"/>
                        </a:solidFill>
                        <a:effectLst/>
                        <a:uLnTx/>
                        <a:uFillTx/>
                        <a:latin typeface="Cambria Math" panose="02040503050406030204" pitchFamily="18" charset="0"/>
                      </a:rPr>
                      <m:t>𝛿</m:t>
                    </m:r>
                  </m:oMath>
                </a14:m>
                <a:r>
                  <a:rPr kumimoji="0" lang="zh-TW" altLang="en-US"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a:t>
                </a:r>
                <a14:m>
                  <m:oMath xmlns:m="http://schemas.openxmlformats.org/officeDocument/2006/math">
                    <m:r>
                      <m:rPr>
                        <m:sty m:val="p"/>
                      </m:rPr>
                      <a:rPr kumimoji="0" lang="en-US" altLang="zh-TW" sz="2000" b="0" i="1" u="none" strike="noStrike" kern="1200" cap="none" spc="0" normalizeH="0" baseline="0" noProof="0" dirty="0">
                        <a:ln>
                          <a:noFill/>
                        </a:ln>
                        <a:solidFill>
                          <a:srgbClr val="44546A"/>
                        </a:solidFill>
                        <a:effectLst/>
                        <a:uLnTx/>
                        <a:uFillTx/>
                        <a:latin typeface="Cambria Math" panose="02040503050406030204" pitchFamily="18" charset="0"/>
                      </a:rPr>
                      <m:t>K</m:t>
                    </m:r>
                  </m:oMath>
                </a14:m>
                <a:r>
                  <a:rPr kumimoji="0" lang="zh-TW" altLang="en-US"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a:t>
                </a:r>
                <a14:m>
                  <m:oMath xmlns:m="http://schemas.openxmlformats.org/officeDocument/2006/math">
                    <m:r>
                      <m:rPr>
                        <m:sty m:val="p"/>
                      </m:rPr>
                      <a:rPr kumimoji="0" lang="en-US" altLang="zh-TW" sz="2000" b="0" i="1" u="none" strike="noStrike" kern="1200" cap="none" spc="0" normalizeH="0" baseline="0" noProof="0" dirty="0">
                        <a:ln>
                          <a:noFill/>
                        </a:ln>
                        <a:solidFill>
                          <a:srgbClr val="44546A"/>
                        </a:solidFill>
                        <a:effectLst/>
                        <a:uLnTx/>
                        <a:uFillTx/>
                        <a:latin typeface="Cambria Math" panose="02040503050406030204" pitchFamily="18" charset="0"/>
                      </a:rPr>
                      <m:t>K</m:t>
                    </m:r>
                    <m:r>
                      <a:rPr kumimoji="0" lang="en-US" altLang="zh-TW" sz="2000" b="0" i="1" u="none" strike="noStrike" kern="1200" cap="none" spc="0" normalizeH="0" baseline="0" noProof="0" dirty="0" smtClean="0">
                        <a:ln>
                          <a:noFill/>
                        </a:ln>
                        <a:solidFill>
                          <a:srgbClr val="44546A"/>
                        </a:solidFill>
                        <a:effectLst/>
                        <a:uLnTx/>
                        <a:uFillTx/>
                        <a:latin typeface="Cambria Math" panose="02040503050406030204" pitchFamily="18" charset="0"/>
                      </a:rPr>
                      <m:t>+</m:t>
                    </m:r>
                    <m:r>
                      <a:rPr kumimoji="0" lang="zh-TW" altLang="en-US" sz="2000" b="0" i="1" u="none" strike="noStrike" kern="1200" cap="none" spc="0" normalizeH="0" baseline="0" noProof="0">
                        <a:ln>
                          <a:noFill/>
                        </a:ln>
                        <a:solidFill>
                          <a:srgbClr val="44546A"/>
                        </a:solidFill>
                        <a:effectLst/>
                        <a:uLnTx/>
                        <a:uFillTx/>
                        <a:latin typeface="Cambria Math" panose="02040503050406030204" pitchFamily="18" charset="0"/>
                      </a:rPr>
                      <m:t>𝛿</m:t>
                    </m:r>
                  </m:oMath>
                </a14:m>
                <a:r>
                  <a:rPr kumimoji="0" lang="zh-TW" altLang="en-US"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的買權價格</a:t>
                </a:r>
                <a:endParaRPr kumimoji="0" lang="en-US" altLang="zh-TW"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endParaRPr>
              </a:p>
              <a:p>
                <a:pPr marL="456342" marR="0" lvl="1" indent="0" algn="l" defTabSz="912684" rtl="0" eaLnBrk="1" fontAlgn="auto" latinLnBrk="0" hangingPunct="1">
                  <a:lnSpc>
                    <a:spcPct val="150000"/>
                  </a:lnSpc>
                  <a:spcBef>
                    <a:spcPts val="500"/>
                  </a:spcBef>
                  <a:spcAft>
                    <a:spcPts val="0"/>
                  </a:spcAft>
                  <a:buClr>
                    <a:srgbClr val="BA8D2D"/>
                  </a:buClr>
                  <a:buSzTx/>
                  <a:buFont typeface="+mj-lt"/>
                  <a:buNone/>
                  <a:tabLst/>
                  <a:defRPr/>
                </a:pPr>
                <a:r>
                  <a:rPr kumimoji="0" lang="zh-TW" altLang="en-US" sz="2000" b="0" i="0" u="none" strike="noStrike" kern="1200" cap="none" spc="0" normalizeH="0" baseline="0" noProof="0" dirty="0">
                    <a:ln>
                      <a:noFill/>
                    </a:ln>
                    <a:solidFill>
                      <a:srgbClr val="44546A"/>
                    </a:solidFill>
                    <a:effectLst/>
                    <a:uLnTx/>
                    <a:uFillTx/>
                    <a:latin typeface="Microsoft JhengHei" panose="020B0604030504040204" pitchFamily="34" charset="-120"/>
                    <a:ea typeface="Microsoft JhengHei" panose="020B0604030504040204" pitchFamily="34" charset="-120"/>
                  </a:rPr>
                  <a:t>實務上經常將離散的隱含波動度利用插值函數轉換為平滑的隱含波動度曲線後，利用公式解計算得到價格間距極小的選擇權理論價格，代入至此式，得到風險中立機率密度函數</a:t>
                </a:r>
              </a:p>
            </p:txBody>
          </p:sp>
        </mc:Choice>
        <mc:Fallback xmlns="">
          <p:sp>
            <p:nvSpPr>
              <p:cNvPr id="6" name="文字方塊 5">
                <a:extLst>
                  <a:ext uri="{FF2B5EF4-FFF2-40B4-BE49-F238E27FC236}">
                    <a16:creationId xmlns:a16="http://schemas.microsoft.com/office/drawing/2014/main" id="{801890C2-CB7F-5D57-659A-1C25530D75AD}"/>
                  </a:ext>
                </a:extLst>
              </p:cNvPr>
              <p:cNvSpPr txBox="1">
                <a:spLocks noRot="1" noChangeAspect="1" noMove="1" noResize="1" noEditPoints="1" noAdjustHandles="1" noChangeArrowheads="1" noChangeShapeType="1" noTextEdit="1"/>
              </p:cNvSpPr>
              <p:nvPr/>
            </p:nvSpPr>
            <p:spPr>
              <a:xfrm>
                <a:off x="777551" y="1212979"/>
                <a:ext cx="10711543" cy="4891404"/>
              </a:xfrm>
              <a:prstGeom prst="rect">
                <a:avLst/>
              </a:prstGeom>
              <a:blipFill>
                <a:blip r:embed="rId2"/>
                <a:stretch>
                  <a:fillRect l="-626" b="-137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4A86EC9-9027-533B-0689-75EF03B0687D}"/>
                  </a:ext>
                </a:extLst>
              </p:cNvPr>
              <p:cNvSpPr txBox="1"/>
              <p:nvPr/>
            </p:nvSpPr>
            <p:spPr>
              <a:xfrm>
                <a:off x="9732831" y="233930"/>
                <a:ext cx="8301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1" smtClean="0">
                          <a:solidFill>
                            <a:schemeClr val="tx2"/>
                          </a:solidFill>
                          <a:latin typeface="Cambria Math" panose="02040503050406030204" pitchFamily="18" charset="0"/>
                          <a:hlinkClick r:id="rId3" action="ppaction://hlinksldjump"/>
                        </a:rPr>
                        <m:t>↪</m:t>
                      </m:r>
                      <m:r>
                        <a:rPr lang="en-US" altLang="zh-TW" b="0" i="1" smtClean="0">
                          <a:solidFill>
                            <a:schemeClr val="tx2"/>
                          </a:solidFill>
                          <a:latin typeface="Cambria Math" panose="02040503050406030204" pitchFamily="18" charset="0"/>
                          <a:hlinkClick r:id="rId3" action="ppaction://hlinksldjump"/>
                        </a:rPr>
                        <m:t>2.1.1</m:t>
                      </m:r>
                    </m:oMath>
                  </m:oMathPara>
                </a14:m>
                <a:endParaRPr lang="zh-TW" altLang="en-US" dirty="0">
                  <a:solidFill>
                    <a:schemeClr val="tx2"/>
                  </a:solidFill>
                </a:endParaRPr>
              </a:p>
            </p:txBody>
          </p:sp>
        </mc:Choice>
        <mc:Fallback xmlns="">
          <p:sp>
            <p:nvSpPr>
              <p:cNvPr id="7" name="文字方塊 6">
                <a:extLst>
                  <a:ext uri="{FF2B5EF4-FFF2-40B4-BE49-F238E27FC236}">
                    <a16:creationId xmlns:a16="http://schemas.microsoft.com/office/drawing/2014/main" id="{94A86EC9-9027-533B-0689-75EF03B0687D}"/>
                  </a:ext>
                </a:extLst>
              </p:cNvPr>
              <p:cNvSpPr txBox="1">
                <a:spLocks noRot="1" noChangeAspect="1" noMove="1" noResize="1" noEditPoints="1" noAdjustHandles="1" noChangeArrowheads="1" noChangeShapeType="1" noTextEdit="1"/>
              </p:cNvSpPr>
              <p:nvPr/>
            </p:nvSpPr>
            <p:spPr>
              <a:xfrm>
                <a:off x="9732831" y="233930"/>
                <a:ext cx="830118" cy="369332"/>
              </a:xfrm>
              <a:prstGeom prst="rect">
                <a:avLst/>
              </a:prstGeom>
              <a:blipFill>
                <a:blip r:embed="rId4"/>
                <a:stretch>
                  <a:fillRect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C70AF384-D709-47AD-55AA-2B92BF8003B3}"/>
                  </a:ext>
                </a:extLst>
              </p:cNvPr>
              <p:cNvSpPr txBox="1"/>
              <p:nvPr/>
            </p:nvSpPr>
            <p:spPr>
              <a:xfrm>
                <a:off x="10766115" y="227778"/>
                <a:ext cx="8301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1" smtClean="0">
                          <a:solidFill>
                            <a:schemeClr val="tx2"/>
                          </a:solidFill>
                          <a:latin typeface="Cambria Math" panose="02040503050406030204" pitchFamily="18" charset="0"/>
                          <a:hlinkClick r:id="rId5" action="ppaction://hlinksldjump"/>
                        </a:rPr>
                        <m:t>↪</m:t>
                      </m:r>
                      <m:r>
                        <a:rPr lang="en-US" altLang="zh-TW" i="1">
                          <a:solidFill>
                            <a:schemeClr val="tx2"/>
                          </a:solidFill>
                          <a:latin typeface="Cambria Math" panose="02040503050406030204" pitchFamily="18" charset="0"/>
                          <a:hlinkClick r:id="rId5" action="ppaction://hlinksldjump"/>
                        </a:rPr>
                        <m:t>2.1.2</m:t>
                      </m:r>
                    </m:oMath>
                  </m:oMathPara>
                </a14:m>
                <a:endParaRPr lang="zh-TW" altLang="en-US" dirty="0">
                  <a:solidFill>
                    <a:schemeClr val="tx2"/>
                  </a:solidFill>
                </a:endParaRPr>
              </a:p>
            </p:txBody>
          </p:sp>
        </mc:Choice>
        <mc:Fallback xmlns="">
          <p:sp>
            <p:nvSpPr>
              <p:cNvPr id="8" name="文字方塊 7">
                <a:extLst>
                  <a:ext uri="{FF2B5EF4-FFF2-40B4-BE49-F238E27FC236}">
                    <a16:creationId xmlns:a16="http://schemas.microsoft.com/office/drawing/2014/main" id="{C70AF384-D709-47AD-55AA-2B92BF8003B3}"/>
                  </a:ext>
                </a:extLst>
              </p:cNvPr>
              <p:cNvSpPr txBox="1">
                <a:spLocks noRot="1" noChangeAspect="1" noMove="1" noResize="1" noEditPoints="1" noAdjustHandles="1" noChangeArrowheads="1" noChangeShapeType="1" noTextEdit="1"/>
              </p:cNvSpPr>
              <p:nvPr/>
            </p:nvSpPr>
            <p:spPr>
              <a:xfrm>
                <a:off x="10766115" y="227778"/>
                <a:ext cx="830118" cy="369332"/>
              </a:xfrm>
              <a:prstGeom prst="rect">
                <a:avLst/>
              </a:prstGeom>
              <a:blipFill>
                <a:blip r:embed="rId6"/>
                <a:stretch>
                  <a:fillRect t="-819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928757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438C005-097B-7449-3316-BCCED0BB32B3}"/>
              </a:ext>
            </a:extLst>
          </p:cNvPr>
          <p:cNvPicPr>
            <a:picLocks noChangeAspect="1"/>
          </p:cNvPicPr>
          <p:nvPr/>
        </p:nvPicPr>
        <p:blipFill>
          <a:blip r:embed="rId3"/>
          <a:stretch>
            <a:fillRect/>
          </a:stretch>
        </p:blipFill>
        <p:spPr>
          <a:xfrm>
            <a:off x="0" y="1273921"/>
            <a:ext cx="6668536" cy="5365102"/>
          </a:xfrm>
          <a:prstGeom prst="rect">
            <a:avLst/>
          </a:prstGeom>
        </p:spPr>
      </p:pic>
      <p:pic>
        <p:nvPicPr>
          <p:cNvPr id="8" name="圖片 7">
            <a:extLst>
              <a:ext uri="{FF2B5EF4-FFF2-40B4-BE49-F238E27FC236}">
                <a16:creationId xmlns:a16="http://schemas.microsoft.com/office/drawing/2014/main" id="{FAECD3BC-89B6-8475-8141-254AD2D73858}"/>
              </a:ext>
            </a:extLst>
          </p:cNvPr>
          <p:cNvPicPr>
            <a:picLocks noChangeAspect="1"/>
          </p:cNvPicPr>
          <p:nvPr/>
        </p:nvPicPr>
        <p:blipFill>
          <a:blip r:embed="rId4"/>
          <a:stretch>
            <a:fillRect/>
          </a:stretch>
        </p:blipFill>
        <p:spPr>
          <a:xfrm>
            <a:off x="6413069" y="1020147"/>
            <a:ext cx="5778931" cy="5837853"/>
          </a:xfrm>
          <a:prstGeom prst="rect">
            <a:avLst/>
          </a:prstGeom>
        </p:spPr>
      </p:pic>
      <p:sp>
        <p:nvSpPr>
          <p:cNvPr id="9" name="文字方塊 8">
            <a:extLst>
              <a:ext uri="{FF2B5EF4-FFF2-40B4-BE49-F238E27FC236}">
                <a16:creationId xmlns:a16="http://schemas.microsoft.com/office/drawing/2014/main" id="{1DABF51A-8819-C795-477A-0784214140A2}"/>
              </a:ext>
            </a:extLst>
          </p:cNvPr>
          <p:cNvSpPr txBox="1"/>
          <p:nvPr/>
        </p:nvSpPr>
        <p:spPr>
          <a:xfrm>
            <a:off x="267478" y="906917"/>
            <a:ext cx="4323183" cy="369332"/>
          </a:xfrm>
          <a:prstGeom prst="rect">
            <a:avLst/>
          </a:prstGeom>
          <a:noFill/>
        </p:spPr>
        <p:txBody>
          <a:bodyPr wrap="square" rtlCol="0">
            <a:spAutoFit/>
          </a:bodyPr>
          <a:lstStyle/>
          <a:p>
            <a:r>
              <a:rPr lang="zh-TW" altLang="en-US" dirty="0"/>
              <a:t>選擇權數據不重疊之時間序列</a:t>
            </a:r>
          </a:p>
        </p:txBody>
      </p:sp>
      <p:sp>
        <p:nvSpPr>
          <p:cNvPr id="10" name="文字方塊 9">
            <a:extLst>
              <a:ext uri="{FF2B5EF4-FFF2-40B4-BE49-F238E27FC236}">
                <a16:creationId xmlns:a16="http://schemas.microsoft.com/office/drawing/2014/main" id="{5B2B1BAD-5754-8652-3F5E-85A0EB5E089D}"/>
              </a:ext>
            </a:extLst>
          </p:cNvPr>
          <p:cNvSpPr txBox="1"/>
          <p:nvPr/>
        </p:nvSpPr>
        <p:spPr>
          <a:xfrm>
            <a:off x="6413069" y="819216"/>
            <a:ext cx="4323183" cy="369332"/>
          </a:xfrm>
          <a:prstGeom prst="rect">
            <a:avLst/>
          </a:prstGeom>
          <a:noFill/>
        </p:spPr>
        <p:txBody>
          <a:bodyPr wrap="square" rtlCol="0">
            <a:spAutoFit/>
          </a:bodyPr>
          <a:lstStyle/>
          <a:p>
            <a:r>
              <a:rPr lang="zh-TW" altLang="en-US" dirty="0"/>
              <a:t>選擇權數據重疊之時間序列</a:t>
            </a:r>
          </a:p>
        </p:txBody>
      </p:sp>
      <p:sp>
        <p:nvSpPr>
          <p:cNvPr id="12" name="文字版面配置區 11">
            <a:extLst>
              <a:ext uri="{FF2B5EF4-FFF2-40B4-BE49-F238E27FC236}">
                <a16:creationId xmlns:a16="http://schemas.microsoft.com/office/drawing/2014/main" id="{B4CE010C-BFBB-B6DC-0328-1CF3FFC0A500}"/>
              </a:ext>
            </a:extLst>
          </p:cNvPr>
          <p:cNvSpPr>
            <a:spLocks noGrp="1"/>
          </p:cNvSpPr>
          <p:nvPr>
            <p:ph type="body" sz="quarter" idx="10"/>
          </p:nvPr>
        </p:nvSpPr>
        <p:spPr/>
        <p:txBody>
          <a:bodyPr/>
          <a:lstStyle/>
          <a:p>
            <a:r>
              <a:rPr lang="zh-TW" altLang="en-US" dirty="0"/>
              <a:t>選擇權時間序列</a:t>
            </a: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AD733189-EEBA-22F8-7DA0-1D26B2AC4744}"/>
                  </a:ext>
                </a:extLst>
              </p:cNvPr>
              <p:cNvSpPr txBox="1"/>
              <p:nvPr/>
            </p:nvSpPr>
            <p:spPr>
              <a:xfrm>
                <a:off x="10945809" y="233930"/>
                <a:ext cx="8978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1" smtClean="0">
                          <a:solidFill>
                            <a:schemeClr val="tx2"/>
                          </a:solidFill>
                          <a:latin typeface="Cambria Math" panose="02040503050406030204" pitchFamily="18" charset="0"/>
                          <a:hlinkClick r:id="rId5" action="ppaction://hlinksldjump"/>
                        </a:rPr>
                        <m:t>↪</m:t>
                      </m:r>
                      <m:r>
                        <a:rPr lang="en-US" altLang="zh-TW" b="0" i="1" smtClean="0">
                          <a:solidFill>
                            <a:schemeClr val="tx2"/>
                          </a:solidFill>
                          <a:latin typeface="Cambria Math" panose="02040503050406030204" pitchFamily="18" charset="0"/>
                          <a:hlinkClick r:id="rId5" action="ppaction://hlinksldjump"/>
                        </a:rPr>
                        <m:t>2.1.1</m:t>
                      </m:r>
                    </m:oMath>
                  </m:oMathPara>
                </a14:m>
                <a:endParaRPr lang="zh-TW" altLang="en-US" dirty="0">
                  <a:solidFill>
                    <a:schemeClr val="tx2"/>
                  </a:solidFill>
                </a:endParaRPr>
              </a:p>
            </p:txBody>
          </p:sp>
        </mc:Choice>
        <mc:Fallback xmlns="">
          <p:sp>
            <p:nvSpPr>
              <p:cNvPr id="4" name="文字方塊 3">
                <a:extLst>
                  <a:ext uri="{FF2B5EF4-FFF2-40B4-BE49-F238E27FC236}">
                    <a16:creationId xmlns:a16="http://schemas.microsoft.com/office/drawing/2014/main" id="{AD733189-EEBA-22F8-7DA0-1D26B2AC4744}"/>
                  </a:ext>
                </a:extLst>
              </p:cNvPr>
              <p:cNvSpPr txBox="1">
                <a:spLocks noRot="1" noChangeAspect="1" noMove="1" noResize="1" noEditPoints="1" noAdjustHandles="1" noChangeArrowheads="1" noChangeShapeType="1" noTextEdit="1"/>
              </p:cNvSpPr>
              <p:nvPr/>
            </p:nvSpPr>
            <p:spPr>
              <a:xfrm>
                <a:off x="10945809" y="233930"/>
                <a:ext cx="897847" cy="369332"/>
              </a:xfrm>
              <a:prstGeom prst="rect">
                <a:avLst/>
              </a:prstGeom>
              <a:blipFill>
                <a:blip r:embed="rId6"/>
                <a:stretch>
                  <a:fillRect r="-68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288939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438C005-097B-7449-3316-BCCED0BB32B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435" y="1273921"/>
            <a:ext cx="5968565" cy="5365102"/>
          </a:xfrm>
          <a:prstGeom prst="rect">
            <a:avLst/>
          </a:prstGeom>
        </p:spPr>
      </p:pic>
      <p:pic>
        <p:nvPicPr>
          <p:cNvPr id="8" name="圖片 7">
            <a:extLst>
              <a:ext uri="{FF2B5EF4-FFF2-40B4-BE49-F238E27FC236}">
                <a16:creationId xmlns:a16="http://schemas.microsoft.com/office/drawing/2014/main" id="{FAECD3BC-89B6-8475-8141-254AD2D7385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175189" y="1444495"/>
            <a:ext cx="6016812" cy="5194528"/>
          </a:xfrm>
          <a:prstGeom prst="rect">
            <a:avLst/>
          </a:prstGeom>
        </p:spPr>
      </p:pic>
      <p:sp>
        <p:nvSpPr>
          <p:cNvPr id="9" name="文字方塊 8">
            <a:extLst>
              <a:ext uri="{FF2B5EF4-FFF2-40B4-BE49-F238E27FC236}">
                <a16:creationId xmlns:a16="http://schemas.microsoft.com/office/drawing/2014/main" id="{1DABF51A-8819-C795-477A-0784214140A2}"/>
              </a:ext>
            </a:extLst>
          </p:cNvPr>
          <p:cNvSpPr txBox="1"/>
          <p:nvPr/>
        </p:nvSpPr>
        <p:spPr>
          <a:xfrm>
            <a:off x="267478" y="906917"/>
            <a:ext cx="4323183" cy="369332"/>
          </a:xfrm>
          <a:prstGeom prst="rect">
            <a:avLst/>
          </a:prstGeom>
          <a:noFill/>
        </p:spPr>
        <p:txBody>
          <a:bodyPr wrap="square" rtlCol="0">
            <a:spAutoFit/>
          </a:bodyPr>
          <a:lstStyle/>
          <a:p>
            <a:r>
              <a:rPr lang="zh-TW" altLang="en-US" dirty="0"/>
              <a:t>規劃之選擇權數據不重疊時間序列</a:t>
            </a:r>
          </a:p>
        </p:txBody>
      </p:sp>
      <p:sp>
        <p:nvSpPr>
          <p:cNvPr id="10" name="文字方塊 9">
            <a:extLst>
              <a:ext uri="{FF2B5EF4-FFF2-40B4-BE49-F238E27FC236}">
                <a16:creationId xmlns:a16="http://schemas.microsoft.com/office/drawing/2014/main" id="{5B2B1BAD-5754-8652-3F5E-85A0EB5E089D}"/>
              </a:ext>
            </a:extLst>
          </p:cNvPr>
          <p:cNvSpPr txBox="1"/>
          <p:nvPr/>
        </p:nvSpPr>
        <p:spPr>
          <a:xfrm>
            <a:off x="6236043" y="906917"/>
            <a:ext cx="4323183" cy="369332"/>
          </a:xfrm>
          <a:prstGeom prst="rect">
            <a:avLst/>
          </a:prstGeom>
          <a:noFill/>
        </p:spPr>
        <p:txBody>
          <a:bodyPr wrap="square" rtlCol="0">
            <a:spAutoFit/>
          </a:bodyPr>
          <a:lstStyle/>
          <a:p>
            <a:r>
              <a:rPr lang="zh-TW" altLang="en-US" dirty="0"/>
              <a:t>選擇權數據資料缺口之時間序列</a:t>
            </a:r>
          </a:p>
        </p:txBody>
      </p:sp>
      <p:sp>
        <p:nvSpPr>
          <p:cNvPr id="12" name="文字版面配置區 11">
            <a:extLst>
              <a:ext uri="{FF2B5EF4-FFF2-40B4-BE49-F238E27FC236}">
                <a16:creationId xmlns:a16="http://schemas.microsoft.com/office/drawing/2014/main" id="{B4CE010C-BFBB-B6DC-0328-1CF3FFC0A500}"/>
              </a:ext>
            </a:extLst>
          </p:cNvPr>
          <p:cNvSpPr>
            <a:spLocks noGrp="1"/>
          </p:cNvSpPr>
          <p:nvPr>
            <p:ph type="body" sz="quarter" idx="10"/>
          </p:nvPr>
        </p:nvSpPr>
        <p:spPr/>
        <p:txBody>
          <a:bodyPr/>
          <a:lstStyle/>
          <a:p>
            <a:r>
              <a:rPr lang="zh-TW" altLang="en-US" dirty="0"/>
              <a:t>短期選擇權時間序列</a:t>
            </a:r>
          </a:p>
        </p:txBody>
      </p: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DCE2987C-CA73-1111-0456-4B789BBA0BCD}"/>
                  </a:ext>
                </a:extLst>
              </p:cNvPr>
              <p:cNvSpPr txBox="1"/>
              <p:nvPr/>
            </p:nvSpPr>
            <p:spPr>
              <a:xfrm>
                <a:off x="10972801" y="233930"/>
                <a:ext cx="8301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1" smtClean="0">
                          <a:solidFill>
                            <a:schemeClr val="tx2"/>
                          </a:solidFill>
                          <a:latin typeface="Cambria Math" panose="02040503050406030204" pitchFamily="18" charset="0"/>
                          <a:hlinkClick r:id="rId5" action="ppaction://hlinksldjump"/>
                        </a:rPr>
                        <m:t>↪</m:t>
                      </m:r>
                      <m:r>
                        <a:rPr lang="en-US" altLang="zh-TW" b="0" i="1" smtClean="0">
                          <a:solidFill>
                            <a:schemeClr val="tx2"/>
                          </a:solidFill>
                          <a:latin typeface="Cambria Math" panose="02040503050406030204" pitchFamily="18" charset="0"/>
                          <a:hlinkClick r:id="rId5" action="ppaction://hlinksldjump"/>
                        </a:rPr>
                        <m:t>2.1.1</m:t>
                      </m:r>
                    </m:oMath>
                  </m:oMathPara>
                </a14:m>
                <a:endParaRPr lang="zh-TW" altLang="en-US" dirty="0">
                  <a:solidFill>
                    <a:schemeClr val="tx2"/>
                  </a:solidFill>
                </a:endParaRPr>
              </a:p>
            </p:txBody>
          </p:sp>
        </mc:Choice>
        <mc:Fallback xmlns="">
          <p:sp>
            <p:nvSpPr>
              <p:cNvPr id="2" name="文字方塊 1">
                <a:extLst>
                  <a:ext uri="{FF2B5EF4-FFF2-40B4-BE49-F238E27FC236}">
                    <a16:creationId xmlns:a16="http://schemas.microsoft.com/office/drawing/2014/main" id="{DCE2987C-CA73-1111-0456-4B789BBA0BCD}"/>
                  </a:ext>
                </a:extLst>
              </p:cNvPr>
              <p:cNvSpPr txBox="1">
                <a:spLocks noRot="1" noChangeAspect="1" noMove="1" noResize="1" noEditPoints="1" noAdjustHandles="1" noChangeArrowheads="1" noChangeShapeType="1" noTextEdit="1"/>
              </p:cNvSpPr>
              <p:nvPr/>
            </p:nvSpPr>
            <p:spPr>
              <a:xfrm>
                <a:off x="10972801" y="233930"/>
                <a:ext cx="830118" cy="369332"/>
              </a:xfrm>
              <a:prstGeom prst="rect">
                <a:avLst/>
              </a:prstGeom>
              <a:blipFill>
                <a:blip r:embed="rId6"/>
                <a:stretch>
                  <a:fillRect t="-819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987336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a:extLst>
              <a:ext uri="{FF2B5EF4-FFF2-40B4-BE49-F238E27FC236}">
                <a16:creationId xmlns:a16="http://schemas.microsoft.com/office/drawing/2014/main" id="{04187741-08AE-1F50-D33F-346B464B4385}"/>
              </a:ext>
            </a:extLst>
          </p:cNvPr>
          <p:cNvSpPr>
            <a:spLocks noGrp="1"/>
          </p:cNvSpPr>
          <p:nvPr>
            <p:ph type="body" sz="quarter" idx="10"/>
          </p:nvPr>
        </p:nvSpPr>
        <p:spPr/>
        <p:txBody>
          <a:bodyPr/>
          <a:lstStyle/>
          <a:p>
            <a:r>
              <a:rPr lang="zh-TW" altLang="en-US" dirty="0"/>
              <a:t>定價核結果之參數排名</a:t>
            </a:r>
          </a:p>
        </p:txBody>
      </p:sp>
      <p:pic>
        <p:nvPicPr>
          <p:cNvPr id="7" name="圖片 6">
            <a:extLst>
              <a:ext uri="{FF2B5EF4-FFF2-40B4-BE49-F238E27FC236}">
                <a16:creationId xmlns:a16="http://schemas.microsoft.com/office/drawing/2014/main" id="{792D6DF8-A884-F051-0F2D-B7CAF629F8DD}"/>
              </a:ext>
            </a:extLst>
          </p:cNvPr>
          <p:cNvPicPr>
            <a:picLocks noChangeAspect="1"/>
          </p:cNvPicPr>
          <p:nvPr/>
        </p:nvPicPr>
        <p:blipFill>
          <a:blip r:embed="rId2"/>
          <a:stretch>
            <a:fillRect/>
          </a:stretch>
        </p:blipFill>
        <p:spPr>
          <a:xfrm>
            <a:off x="1679510" y="757722"/>
            <a:ext cx="9136526" cy="7440776"/>
          </a:xfrm>
          <a:prstGeom prst="rect">
            <a:avLst/>
          </a:prstGeom>
        </p:spPr>
      </p:pic>
      <p:sp>
        <p:nvSpPr>
          <p:cNvPr id="2" name="矩形 1">
            <a:extLst>
              <a:ext uri="{FF2B5EF4-FFF2-40B4-BE49-F238E27FC236}">
                <a16:creationId xmlns:a16="http://schemas.microsoft.com/office/drawing/2014/main" id="{D2EEA232-D798-02C1-0B72-6D82D35A70EF}"/>
              </a:ext>
            </a:extLst>
          </p:cNvPr>
          <p:cNvSpPr/>
          <p:nvPr/>
        </p:nvSpPr>
        <p:spPr>
          <a:xfrm>
            <a:off x="1723053" y="1567543"/>
            <a:ext cx="8994710" cy="33590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B3D84700-699C-35C9-8E4B-D84DEDBDDB94}"/>
              </a:ext>
            </a:extLst>
          </p:cNvPr>
          <p:cNvSpPr/>
          <p:nvPr/>
        </p:nvSpPr>
        <p:spPr>
          <a:xfrm>
            <a:off x="1750418" y="6267061"/>
            <a:ext cx="8994710" cy="335902"/>
          </a:xfrm>
          <a:prstGeom prst="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4868428F-4CC6-24DE-55BD-BE7F8FA333F4}"/>
                  </a:ext>
                </a:extLst>
              </p:cNvPr>
              <p:cNvSpPr txBox="1"/>
              <p:nvPr/>
            </p:nvSpPr>
            <p:spPr>
              <a:xfrm>
                <a:off x="10972801" y="233930"/>
                <a:ext cx="8301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1" smtClean="0">
                          <a:solidFill>
                            <a:schemeClr val="tx2"/>
                          </a:solidFill>
                          <a:latin typeface="Cambria Math" panose="02040503050406030204" pitchFamily="18" charset="0"/>
                          <a:hlinkClick r:id="rId3" action="ppaction://hlinksldjump"/>
                        </a:rPr>
                        <m:t>↪</m:t>
                      </m:r>
                      <m:r>
                        <a:rPr lang="en-US" altLang="zh-TW" b="0" i="1" smtClean="0">
                          <a:solidFill>
                            <a:schemeClr val="tx2"/>
                          </a:solidFill>
                          <a:latin typeface="Cambria Math" panose="02040503050406030204" pitchFamily="18" charset="0"/>
                          <a:hlinkClick r:id="rId3" action="ppaction://hlinksldjump"/>
                        </a:rPr>
                        <m:t>3.2</m:t>
                      </m:r>
                    </m:oMath>
                  </m:oMathPara>
                </a14:m>
                <a:endParaRPr lang="zh-TW" altLang="en-US" dirty="0">
                  <a:solidFill>
                    <a:schemeClr val="tx2"/>
                  </a:solidFill>
                </a:endParaRPr>
              </a:p>
            </p:txBody>
          </p:sp>
        </mc:Choice>
        <mc:Fallback xmlns="">
          <p:sp>
            <p:nvSpPr>
              <p:cNvPr id="5" name="文字方塊 4">
                <a:extLst>
                  <a:ext uri="{FF2B5EF4-FFF2-40B4-BE49-F238E27FC236}">
                    <a16:creationId xmlns:a16="http://schemas.microsoft.com/office/drawing/2014/main" id="{4868428F-4CC6-24DE-55BD-BE7F8FA333F4}"/>
                  </a:ext>
                </a:extLst>
              </p:cNvPr>
              <p:cNvSpPr txBox="1">
                <a:spLocks noRot="1" noChangeAspect="1" noMove="1" noResize="1" noEditPoints="1" noAdjustHandles="1" noChangeArrowheads="1" noChangeShapeType="1" noTextEdit="1"/>
              </p:cNvSpPr>
              <p:nvPr/>
            </p:nvSpPr>
            <p:spPr>
              <a:xfrm>
                <a:off x="10972801" y="233930"/>
                <a:ext cx="830118" cy="369332"/>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31412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a:extLst>
              <a:ext uri="{FF2B5EF4-FFF2-40B4-BE49-F238E27FC236}">
                <a16:creationId xmlns:a16="http://schemas.microsoft.com/office/drawing/2014/main" id="{04187741-08AE-1F50-D33F-346B464B4385}"/>
              </a:ext>
            </a:extLst>
          </p:cNvPr>
          <p:cNvSpPr>
            <a:spLocks noGrp="1"/>
          </p:cNvSpPr>
          <p:nvPr>
            <p:ph type="body" sz="quarter" idx="10"/>
          </p:nvPr>
        </p:nvSpPr>
        <p:spPr/>
        <p:txBody>
          <a:bodyPr/>
          <a:lstStyle/>
          <a:p>
            <a:r>
              <a:rPr lang="zh-TW" altLang="en-US" dirty="0"/>
              <a:t>定價核結果之參數排名</a:t>
            </a:r>
          </a:p>
        </p:txBody>
      </p:sp>
      <p:pic>
        <p:nvPicPr>
          <p:cNvPr id="9" name="圖片 8">
            <a:extLst>
              <a:ext uri="{FF2B5EF4-FFF2-40B4-BE49-F238E27FC236}">
                <a16:creationId xmlns:a16="http://schemas.microsoft.com/office/drawing/2014/main" id="{37BDCA09-2D17-8714-B0D3-B98E43C223DF}"/>
              </a:ext>
            </a:extLst>
          </p:cNvPr>
          <p:cNvPicPr>
            <a:picLocks noChangeAspect="1"/>
          </p:cNvPicPr>
          <p:nvPr/>
        </p:nvPicPr>
        <p:blipFill>
          <a:blip r:embed="rId2"/>
          <a:srcRect t="2349"/>
          <a:stretch>
            <a:fillRect/>
          </a:stretch>
        </p:blipFill>
        <p:spPr>
          <a:xfrm>
            <a:off x="1630467" y="789992"/>
            <a:ext cx="9229644" cy="6068008"/>
          </a:xfrm>
          <a:prstGeom prst="rect">
            <a:avLst/>
          </a:prstGeom>
        </p:spPr>
      </p:pic>
      <p:sp>
        <p:nvSpPr>
          <p:cNvPr id="10" name="矩形 9">
            <a:extLst>
              <a:ext uri="{FF2B5EF4-FFF2-40B4-BE49-F238E27FC236}">
                <a16:creationId xmlns:a16="http://schemas.microsoft.com/office/drawing/2014/main" id="{7A47FBBB-C6F1-6238-79E4-CACBE0E143AB}"/>
              </a:ext>
            </a:extLst>
          </p:cNvPr>
          <p:cNvSpPr/>
          <p:nvPr/>
        </p:nvSpPr>
        <p:spPr>
          <a:xfrm>
            <a:off x="1747934" y="1667070"/>
            <a:ext cx="8994710" cy="33590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08685DF2-F6DC-3C65-028E-60C37C45C843}"/>
              </a:ext>
            </a:extLst>
          </p:cNvPr>
          <p:cNvSpPr/>
          <p:nvPr/>
        </p:nvSpPr>
        <p:spPr>
          <a:xfrm>
            <a:off x="1747934" y="2802294"/>
            <a:ext cx="8994710" cy="335902"/>
          </a:xfrm>
          <a:prstGeom prst="rect">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55D4ACD1-5CF7-37C3-BCB6-9C24997F5DFF}"/>
                  </a:ext>
                </a:extLst>
              </p:cNvPr>
              <p:cNvSpPr txBox="1"/>
              <p:nvPr/>
            </p:nvSpPr>
            <p:spPr>
              <a:xfrm>
                <a:off x="10972801" y="233930"/>
                <a:ext cx="8301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b="0" i="1" smtClean="0">
                          <a:solidFill>
                            <a:schemeClr val="tx2"/>
                          </a:solidFill>
                          <a:latin typeface="Cambria Math" panose="02040503050406030204" pitchFamily="18" charset="0"/>
                          <a:hlinkClick r:id="rId3" action="ppaction://hlinksldjump"/>
                        </a:rPr>
                        <m:t>↪</m:t>
                      </m:r>
                      <m:r>
                        <a:rPr lang="en-US" altLang="zh-TW" b="0" i="1" smtClean="0">
                          <a:solidFill>
                            <a:schemeClr val="tx2"/>
                          </a:solidFill>
                          <a:latin typeface="Cambria Math" panose="02040503050406030204" pitchFamily="18" charset="0"/>
                          <a:hlinkClick r:id="rId3" action="ppaction://hlinksldjump"/>
                        </a:rPr>
                        <m:t>3.2</m:t>
                      </m:r>
                    </m:oMath>
                  </m:oMathPara>
                </a14:m>
                <a:endParaRPr lang="zh-TW" altLang="en-US" dirty="0">
                  <a:solidFill>
                    <a:schemeClr val="tx2"/>
                  </a:solidFill>
                </a:endParaRPr>
              </a:p>
            </p:txBody>
          </p:sp>
        </mc:Choice>
        <mc:Fallback xmlns="">
          <p:sp>
            <p:nvSpPr>
              <p:cNvPr id="12" name="文字方塊 11">
                <a:extLst>
                  <a:ext uri="{FF2B5EF4-FFF2-40B4-BE49-F238E27FC236}">
                    <a16:creationId xmlns:a16="http://schemas.microsoft.com/office/drawing/2014/main" id="{55D4ACD1-5CF7-37C3-BCB6-9C24997F5DFF}"/>
                  </a:ext>
                </a:extLst>
              </p:cNvPr>
              <p:cNvSpPr txBox="1">
                <a:spLocks noRot="1" noChangeAspect="1" noMove="1" noResize="1" noEditPoints="1" noAdjustHandles="1" noChangeArrowheads="1" noChangeShapeType="1" noTextEdit="1"/>
              </p:cNvSpPr>
              <p:nvPr/>
            </p:nvSpPr>
            <p:spPr>
              <a:xfrm>
                <a:off x="10972801" y="233930"/>
                <a:ext cx="830118" cy="369332"/>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315240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D2236A83-61C2-A2E6-0815-E07F4DA710DC}"/>
              </a:ext>
            </a:extLst>
          </p:cNvPr>
          <p:cNvSpPr>
            <a:spLocks noGrp="1"/>
          </p:cNvSpPr>
          <p:nvPr>
            <p:ph type="body" sz="quarter" idx="10"/>
          </p:nvPr>
        </p:nvSpPr>
        <p:spPr>
          <a:xfrm>
            <a:off x="2098386" y="200315"/>
            <a:ext cx="9309843" cy="436563"/>
          </a:xfrm>
        </p:spPr>
        <p:txBody>
          <a:bodyPr/>
          <a:lstStyle/>
          <a:p>
            <a:r>
              <a:rPr lang="en-US" altLang="zh-TW" dirty="0"/>
              <a:t>CV Model</a:t>
            </a:r>
            <a:r>
              <a:rPr lang="zh-TW" altLang="en-US" dirty="0"/>
              <a:t>架構</a:t>
            </a:r>
            <a:endParaRPr lang="en-US" altLang="zh-TW" dirty="0"/>
          </a:p>
          <a:p>
            <a:endParaRPr lang="zh-TW" altLang="en-US" dirty="0"/>
          </a:p>
        </p:txBody>
      </p:sp>
      <p:pic>
        <p:nvPicPr>
          <p:cNvPr id="5" name="圖片 4">
            <a:extLst>
              <a:ext uri="{FF2B5EF4-FFF2-40B4-BE49-F238E27FC236}">
                <a16:creationId xmlns:a16="http://schemas.microsoft.com/office/drawing/2014/main" id="{4E042B7A-641C-FDD1-E734-8ECCA079900B}"/>
              </a:ext>
            </a:extLst>
          </p:cNvPr>
          <p:cNvPicPr>
            <a:picLocks noChangeAspect="1"/>
          </p:cNvPicPr>
          <p:nvPr/>
        </p:nvPicPr>
        <p:blipFill>
          <a:blip r:embed="rId2"/>
          <a:stretch>
            <a:fillRect/>
          </a:stretch>
        </p:blipFill>
        <p:spPr>
          <a:xfrm>
            <a:off x="6985519" y="771088"/>
            <a:ext cx="5125880" cy="6037148"/>
          </a:xfrm>
          <a:prstGeom prst="rect">
            <a:avLst/>
          </a:prstGeom>
        </p:spPr>
      </p:pic>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60AA75CF-7111-E002-BBCD-233B5066F60A}"/>
                  </a:ext>
                </a:extLst>
              </p:cNvPr>
              <p:cNvSpPr>
                <a:spLocks noGrp="1"/>
              </p:cNvSpPr>
              <p:nvPr>
                <p:ph sz="quarter" idx="14"/>
              </p:nvPr>
            </p:nvSpPr>
            <p:spPr>
              <a:xfrm>
                <a:off x="366454" y="1001550"/>
                <a:ext cx="7875587" cy="5436571"/>
              </a:xfrm>
            </p:spPr>
            <p:txBody>
              <a:bodyPr/>
              <a:lstStyle/>
              <a:p>
                <a:pPr>
                  <a:lnSpc>
                    <a:spcPct val="150000"/>
                  </a:lnSpc>
                </a:pPr>
                <a:r>
                  <a:rPr lang="da-DK" altLang="zh-TW" b="0" dirty="0"/>
                  <a:t>Hsu et al. (2024) </a:t>
                </a:r>
                <a:r>
                  <a:rPr lang="zh-TW" altLang="en-US" b="0" dirty="0"/>
                  <a:t>提出一神經網路選擇權價格預測模型 </a:t>
                </a:r>
                <a:r>
                  <a:rPr lang="en-US" altLang="zh-TW" b="0" dirty="0"/>
                  <a:t>(CV</a:t>
                </a:r>
                <a:r>
                  <a:rPr lang="zh-TW" altLang="en-US" b="0" dirty="0"/>
                  <a:t> </a:t>
                </a:r>
                <a:r>
                  <a:rPr lang="en-US" altLang="zh-TW" b="0" dirty="0"/>
                  <a:t>Model)</a:t>
                </a:r>
              </a:p>
              <a:p>
                <a:pPr lvl="1">
                  <a:lnSpc>
                    <a:spcPct val="150000"/>
                  </a:lnSpc>
                  <a:buFont typeface="Arial" panose="020B0604020202020204" pitchFamily="34" charset="0"/>
                  <a:buChar char="•"/>
                </a:pPr>
                <a:r>
                  <a:rPr lang="en-US" altLang="zh-TW" b="0" dirty="0"/>
                  <a:t>Input</a:t>
                </a:r>
                <a:r>
                  <a:rPr lang="zh-TW" altLang="en-US" b="0" dirty="0"/>
                  <a:t>：標的物價格</a:t>
                </a:r>
                <a:r>
                  <a:rPr lang="en-US" altLang="zh-TW" b="0" dirty="0"/>
                  <a:t> </a:t>
                </a:r>
                <a14:m>
                  <m:oMath xmlns:m="http://schemas.openxmlformats.org/officeDocument/2006/math">
                    <m:sSub>
                      <m:sSubPr>
                        <m:ctrlPr>
                          <a:rPr lang="en-US" altLang="zh-TW" b="0" i="1">
                            <a:latin typeface="Cambria Math" panose="02040503050406030204" pitchFamily="18" charset="0"/>
                          </a:rPr>
                        </m:ctrlPr>
                      </m:sSubPr>
                      <m:e>
                        <m:r>
                          <m:rPr>
                            <m:sty m:val="p"/>
                          </m:rPr>
                          <a:rPr lang="en-US" altLang="zh-TW" b="0" i="1">
                            <a:latin typeface="Cambria Math" panose="02040503050406030204" pitchFamily="18" charset="0"/>
                          </a:rPr>
                          <m:t>S</m:t>
                        </m:r>
                      </m:e>
                      <m:sub>
                        <m:r>
                          <m:rPr>
                            <m:sty m:val="p"/>
                          </m:rPr>
                          <a:rPr lang="en-US" altLang="zh-TW" b="0" i="1">
                            <a:latin typeface="Cambria Math" panose="02040503050406030204" pitchFamily="18" charset="0"/>
                          </a:rPr>
                          <m:t>t</m:t>
                        </m:r>
                      </m:sub>
                    </m:sSub>
                    <m:r>
                      <a:rPr lang="zh-TW" altLang="en-US" b="0" i="1">
                        <a:latin typeface="Cambria Math" panose="02040503050406030204" pitchFamily="18" charset="0"/>
                      </a:rPr>
                      <m:t>、</m:t>
                    </m:r>
                  </m:oMath>
                </a14:m>
                <a:r>
                  <a:rPr lang="zh-TW" altLang="en-US" b="0" dirty="0"/>
                  <a:t>履約價格</a:t>
                </a:r>
                <a:r>
                  <a:rPr lang="en-US" altLang="zh-TW" b="0" dirty="0"/>
                  <a:t>K</a:t>
                </a:r>
                <a:r>
                  <a:rPr lang="zh-TW" altLang="en-US" b="0" dirty="0"/>
                  <a:t>、距到期日交易天數𝜏</a:t>
                </a:r>
                <a:endParaRPr lang="en-US" altLang="zh-TW" b="0" dirty="0"/>
              </a:p>
              <a:p>
                <a:pPr lvl="1">
                  <a:lnSpc>
                    <a:spcPct val="150000"/>
                  </a:lnSpc>
                  <a:buFont typeface="Arial" panose="020B0604020202020204" pitchFamily="34" charset="0"/>
                  <a:buChar char="•"/>
                </a:pPr>
                <a:r>
                  <a:rPr lang="en-US" altLang="zh-TW" b="0" dirty="0"/>
                  <a:t>ITM Model</a:t>
                </a:r>
                <a:r>
                  <a:rPr lang="zh-TW" altLang="en-US" b="0" dirty="0"/>
                  <a:t>：</a:t>
                </a:r>
                <a:r>
                  <a:rPr lang="en-US" altLang="zh-TW" b="0" dirty="0"/>
                  <a:t>TV+IV</a:t>
                </a:r>
                <a:r>
                  <a:rPr lang="zh-TW" altLang="en-US" b="0" dirty="0"/>
                  <a:t> </a:t>
                </a:r>
                <a:endParaRPr lang="en-US" altLang="zh-TW" b="0" dirty="0"/>
              </a:p>
              <a:p>
                <a:pPr lvl="1">
                  <a:lnSpc>
                    <a:spcPct val="150000"/>
                  </a:lnSpc>
                  <a:buFont typeface="Arial" panose="020B0604020202020204" pitchFamily="34" charset="0"/>
                  <a:buChar char="•"/>
                </a:pPr>
                <a:r>
                  <a:rPr lang="en-US" altLang="zh-TW" b="0" dirty="0"/>
                  <a:t>OTM Model</a:t>
                </a:r>
                <a:r>
                  <a:rPr lang="zh-TW" altLang="en-US" b="0" dirty="0"/>
                  <a:t>：</a:t>
                </a:r>
                <a:r>
                  <a:rPr lang="en-US" altLang="zh-TW" b="0" dirty="0"/>
                  <a:t>TV+IV</a:t>
                </a:r>
                <a:r>
                  <a:rPr lang="zh-TW" altLang="en-US" b="0" dirty="0"/>
                  <a:t> </a:t>
                </a:r>
                <a:r>
                  <a:rPr lang="en-US" altLang="zh-TW" b="0" dirty="0"/>
                  <a:t>(</a:t>
                </a:r>
                <a:r>
                  <a:rPr lang="zh-TW" altLang="en-US" b="0" dirty="0"/>
                  <a:t> </a:t>
                </a:r>
                <a:r>
                  <a:rPr lang="en-US" altLang="zh-TW" b="0" dirty="0"/>
                  <a:t>=</a:t>
                </a:r>
                <a:r>
                  <a:rPr lang="zh-TW" altLang="en-US" b="0" dirty="0"/>
                  <a:t> </a:t>
                </a:r>
                <a:r>
                  <a:rPr lang="en-US" altLang="zh-TW" b="0" dirty="0"/>
                  <a:t>0)</a:t>
                </a:r>
              </a:p>
              <a:p>
                <a:pPr lvl="1">
                  <a:lnSpc>
                    <a:spcPct val="150000"/>
                  </a:lnSpc>
                  <a:buFont typeface="Arial" panose="020B0604020202020204" pitchFamily="34" charset="0"/>
                  <a:buChar char="•"/>
                </a:pPr>
                <a:r>
                  <a:rPr lang="en-US" altLang="zh-TW" b="0" dirty="0"/>
                  <a:t>Output</a:t>
                </a:r>
                <a:r>
                  <a:rPr lang="zh-TW" altLang="en-US" b="0" dirty="0"/>
                  <a:t>：</a:t>
                </a:r>
                <a:r>
                  <a:rPr lang="en-US" altLang="zh-TW" b="0" dirty="0"/>
                  <a:t>Predicted Reasonable Option Value</a:t>
                </a:r>
              </a:p>
              <a:p>
                <a:pPr lvl="1">
                  <a:lnSpc>
                    <a:spcPct val="150000"/>
                  </a:lnSpc>
                  <a:buFont typeface="Arial" panose="020B0604020202020204" pitchFamily="34" charset="0"/>
                  <a:buChar char="•"/>
                </a:pPr>
                <a:endParaRPr lang="zh-TW" altLang="en-US" b="0" dirty="0"/>
              </a:p>
            </p:txBody>
          </p:sp>
        </mc:Choice>
        <mc:Fallback xmlns="">
          <p:sp>
            <p:nvSpPr>
              <p:cNvPr id="7" name="內容版面配置區 6">
                <a:extLst>
                  <a:ext uri="{FF2B5EF4-FFF2-40B4-BE49-F238E27FC236}">
                    <a16:creationId xmlns:a16="http://schemas.microsoft.com/office/drawing/2014/main" id="{60AA75CF-7111-E002-BBCD-233B5066F60A}"/>
                  </a:ext>
                </a:extLst>
              </p:cNvPr>
              <p:cNvSpPr>
                <a:spLocks noGrp="1" noRot="1" noChangeAspect="1" noMove="1" noResize="1" noEditPoints="1" noAdjustHandles="1" noChangeArrowheads="1" noChangeShapeType="1" noTextEdit="1"/>
              </p:cNvSpPr>
              <p:nvPr>
                <p:ph sz="quarter" idx="14"/>
              </p:nvPr>
            </p:nvSpPr>
            <p:spPr>
              <a:xfrm>
                <a:off x="366454" y="1001550"/>
                <a:ext cx="7875587" cy="5436571"/>
              </a:xfrm>
              <a:blipFill>
                <a:blip r:embed="rId3"/>
                <a:stretch>
                  <a:fillRect l="-77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592712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佈景主題1">
  <a:themeElements>
    <a:clrScheme name="自定义 12">
      <a:dk1>
        <a:srgbClr val="000000"/>
      </a:dk1>
      <a:lt1>
        <a:srgbClr val="FFFFFF"/>
      </a:lt1>
      <a:dk2>
        <a:srgbClr val="44546A"/>
      </a:dk2>
      <a:lt2>
        <a:srgbClr val="E7E6E6"/>
      </a:lt2>
      <a:accent1>
        <a:srgbClr val="BA8D2D"/>
      </a:accent1>
      <a:accent2>
        <a:srgbClr val="293247"/>
      </a:accent2>
      <a:accent3>
        <a:srgbClr val="A5A5A5"/>
      </a:accent3>
      <a:accent4>
        <a:srgbClr val="767171"/>
      </a:accent4>
      <a:accent5>
        <a:srgbClr val="4472C4"/>
      </a:accent5>
      <a:accent6>
        <a:srgbClr val="70AD47"/>
      </a:accent6>
      <a:hlink>
        <a:srgbClr val="0563C1"/>
      </a:hlink>
      <a:folHlink>
        <a:srgbClr val="954F72"/>
      </a:folHlink>
    </a:clrScheme>
    <a:fontScheme name="4f3my3wi">
      <a:majorFont>
        <a:latin typeface="字魂59号-创粗黑"/>
        <a:ea typeface="字魂59号-创粗黑"/>
        <a:cs typeface=""/>
      </a:majorFont>
      <a:minorFont>
        <a:latin typeface="字魂59号-创粗黑"/>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佈景主題1" id="{F0D394CD-19E3-48DE-A746-413A727713EB}" vid="{AEEB0E68-694E-4011-BFA5-DE6CC0108C63}"/>
    </a:ext>
  </a:extLst>
</a:theme>
</file>

<file path=ppt/theme/theme2.xml><?xml version="1.0" encoding="utf-8"?>
<a:theme xmlns:a="http://schemas.openxmlformats.org/drawingml/2006/main" name="1_佈景主題1">
  <a:themeElements>
    <a:clrScheme name="自定义 12">
      <a:dk1>
        <a:srgbClr val="000000"/>
      </a:dk1>
      <a:lt1>
        <a:srgbClr val="FFFFFF"/>
      </a:lt1>
      <a:dk2>
        <a:srgbClr val="44546A"/>
      </a:dk2>
      <a:lt2>
        <a:srgbClr val="E7E6E6"/>
      </a:lt2>
      <a:accent1>
        <a:srgbClr val="BA8D2D"/>
      </a:accent1>
      <a:accent2>
        <a:srgbClr val="293247"/>
      </a:accent2>
      <a:accent3>
        <a:srgbClr val="A5A5A5"/>
      </a:accent3>
      <a:accent4>
        <a:srgbClr val="767171"/>
      </a:accent4>
      <a:accent5>
        <a:srgbClr val="4472C4"/>
      </a:accent5>
      <a:accent6>
        <a:srgbClr val="70AD47"/>
      </a:accent6>
      <a:hlink>
        <a:srgbClr val="0563C1"/>
      </a:hlink>
      <a:folHlink>
        <a:srgbClr val="954F72"/>
      </a:folHlink>
    </a:clrScheme>
    <a:fontScheme name="4f3my3wi">
      <a:majorFont>
        <a:latin typeface="字魂59号-创粗黑"/>
        <a:ea typeface="字魂59号-创粗黑"/>
        <a:cs typeface=""/>
      </a:majorFont>
      <a:minorFont>
        <a:latin typeface="字魂59号-创粗黑"/>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佈景主題1" id="{F0D394CD-19E3-48DE-A746-413A727713EB}" vid="{AEEB0E68-694E-4011-BFA5-DE6CC0108C63}"/>
    </a:ext>
  </a:extLst>
</a:theme>
</file>

<file path=ppt/theme/theme3.xml><?xml version="1.0" encoding="utf-8"?>
<a:theme xmlns:a="http://schemas.openxmlformats.org/drawingml/2006/main" name="2_佈景主題1">
  <a:themeElements>
    <a:clrScheme name="自定义 12">
      <a:dk1>
        <a:srgbClr val="000000"/>
      </a:dk1>
      <a:lt1>
        <a:srgbClr val="FFFFFF"/>
      </a:lt1>
      <a:dk2>
        <a:srgbClr val="44546A"/>
      </a:dk2>
      <a:lt2>
        <a:srgbClr val="E7E6E6"/>
      </a:lt2>
      <a:accent1>
        <a:srgbClr val="BA8D2D"/>
      </a:accent1>
      <a:accent2>
        <a:srgbClr val="293247"/>
      </a:accent2>
      <a:accent3>
        <a:srgbClr val="A5A5A5"/>
      </a:accent3>
      <a:accent4>
        <a:srgbClr val="767171"/>
      </a:accent4>
      <a:accent5>
        <a:srgbClr val="4472C4"/>
      </a:accent5>
      <a:accent6>
        <a:srgbClr val="70AD47"/>
      </a:accent6>
      <a:hlink>
        <a:srgbClr val="0563C1"/>
      </a:hlink>
      <a:folHlink>
        <a:srgbClr val="954F72"/>
      </a:folHlink>
    </a:clrScheme>
    <a:fontScheme name="4f3my3wi">
      <a:majorFont>
        <a:latin typeface="字魂59号-创粗黑"/>
        <a:ea typeface="字魂59号-创粗黑"/>
        <a:cs typeface=""/>
      </a:majorFont>
      <a:minorFont>
        <a:latin typeface="字魂59号-创粗黑"/>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佈景主題1" id="{F0D394CD-19E3-48DE-A746-413A727713EB}" vid="{AEEB0E68-694E-4011-BFA5-DE6CC0108C63}"/>
    </a:ext>
  </a:extLst>
</a:theme>
</file>

<file path=ppt/theme/theme4.xml><?xml version="1.0" encoding="utf-8"?>
<a:theme xmlns:a="http://schemas.openxmlformats.org/drawingml/2006/main" name="1_Office 主题​​">
  <a:themeElements>
    <a:clrScheme name="Office">
      <a:dk1>
        <a:srgbClr val="000000"/>
      </a:dk1>
      <a:lt1>
        <a:srgbClr val="FFFFFF"/>
      </a:lt1>
      <a:dk2>
        <a:srgbClr val="44546A"/>
      </a:dk2>
      <a:lt2>
        <a:srgbClr val="E7E6E6"/>
      </a:lt2>
      <a:accent1>
        <a:srgbClr val="BA8D2D"/>
      </a:accent1>
      <a:accent2>
        <a:srgbClr val="293247"/>
      </a:accent2>
      <a:accent3>
        <a:srgbClr val="A5A5A5"/>
      </a:accent3>
      <a:accent4>
        <a:srgbClr val="767171"/>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佈景主題1</Template>
  <TotalTime>1727</TotalTime>
  <Words>6452</Words>
  <Application>Microsoft Office PowerPoint</Application>
  <PresentationFormat>寬螢幕</PresentationFormat>
  <Paragraphs>487</Paragraphs>
  <Slides>69</Slides>
  <Notes>23</Notes>
  <HiddenSlides>0</HiddenSlides>
  <MMClips>0</MMClips>
  <ScaleCrop>false</ScaleCrop>
  <HeadingPairs>
    <vt:vector size="6" baseType="variant">
      <vt:variant>
        <vt:lpstr>使用字型</vt:lpstr>
      </vt:variant>
      <vt:variant>
        <vt:i4>8</vt:i4>
      </vt:variant>
      <vt:variant>
        <vt:lpstr>佈景主題</vt:lpstr>
      </vt:variant>
      <vt:variant>
        <vt:i4>4</vt:i4>
      </vt:variant>
      <vt:variant>
        <vt:lpstr>投影片標題</vt:lpstr>
      </vt:variant>
      <vt:variant>
        <vt:i4>69</vt:i4>
      </vt:variant>
    </vt:vector>
  </HeadingPairs>
  <TitlesOfParts>
    <vt:vector size="81" baseType="lpstr">
      <vt:lpstr>思源宋体 CN Light</vt:lpstr>
      <vt:lpstr>思源黑体 CN Light</vt:lpstr>
      <vt:lpstr>Microsoft JhengHei</vt:lpstr>
      <vt:lpstr>Microsoft JhengHei</vt:lpstr>
      <vt:lpstr>Aptos</vt:lpstr>
      <vt:lpstr>Arial</vt:lpstr>
      <vt:lpstr>Cambria Math</vt:lpstr>
      <vt:lpstr>Wingdings</vt:lpstr>
      <vt:lpstr>佈景主題1</vt:lpstr>
      <vt:lpstr>1_佈景主題1</vt:lpstr>
      <vt:lpstr>2_佈景主題1</vt:lpstr>
      <vt:lpstr>1_Office 主题​​</vt:lpstr>
      <vt:lpstr>神經網路模型改良CDI方法之短期定價核估計 與 投資者情緒分析</vt:lpstr>
      <vt:lpstr>目錄</vt:lpstr>
      <vt:lpstr>目錄</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神經網路模型改良CDI方法之短期定價核估計 與 投資者情緒分析</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張祐慈</dc:creator>
  <cp:lastModifiedBy>張祐慈</cp:lastModifiedBy>
  <cp:revision>51</cp:revision>
  <dcterms:created xsi:type="dcterms:W3CDTF">2025-08-04T06:14:06Z</dcterms:created>
  <dcterms:modified xsi:type="dcterms:W3CDTF">2025-08-28T06:47:54Z</dcterms:modified>
</cp:coreProperties>
</file>