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2"/>
  </p:notesMasterIdLst>
  <p:sldIdLst>
    <p:sldId id="256" r:id="rId2"/>
    <p:sldId id="257" r:id="rId3"/>
    <p:sldId id="258" r:id="rId4"/>
    <p:sldId id="299" r:id="rId5"/>
    <p:sldId id="279" r:id="rId6"/>
    <p:sldId id="312" r:id="rId7"/>
    <p:sldId id="313" r:id="rId8"/>
    <p:sldId id="317" r:id="rId9"/>
    <p:sldId id="295" r:id="rId10"/>
    <p:sldId id="259" r:id="rId11"/>
    <p:sldId id="267" r:id="rId12"/>
    <p:sldId id="297" r:id="rId13"/>
    <p:sldId id="262" r:id="rId14"/>
    <p:sldId id="263" r:id="rId15"/>
    <p:sldId id="264" r:id="rId16"/>
    <p:sldId id="266" r:id="rId17"/>
    <p:sldId id="269" r:id="rId18"/>
    <p:sldId id="277" r:id="rId19"/>
    <p:sldId id="302" r:id="rId20"/>
    <p:sldId id="303" r:id="rId21"/>
    <p:sldId id="304" r:id="rId22"/>
    <p:sldId id="305" r:id="rId23"/>
    <p:sldId id="306" r:id="rId24"/>
    <p:sldId id="307" r:id="rId25"/>
    <p:sldId id="315" r:id="rId26"/>
    <p:sldId id="308" r:id="rId27"/>
    <p:sldId id="309" r:id="rId28"/>
    <p:sldId id="310" r:id="rId29"/>
    <p:sldId id="296" r:id="rId30"/>
    <p:sldId id="354" r:id="rId31"/>
    <p:sldId id="311" r:id="rId32"/>
    <p:sldId id="316" r:id="rId33"/>
    <p:sldId id="314" r:id="rId34"/>
    <p:sldId id="330" r:id="rId35"/>
    <p:sldId id="331" r:id="rId36"/>
    <p:sldId id="333" r:id="rId37"/>
    <p:sldId id="318" r:id="rId38"/>
    <p:sldId id="319" r:id="rId39"/>
    <p:sldId id="322" r:id="rId40"/>
    <p:sldId id="345" r:id="rId41"/>
    <p:sldId id="346" r:id="rId42"/>
    <p:sldId id="337" r:id="rId43"/>
    <p:sldId id="325" r:id="rId44"/>
    <p:sldId id="326" r:id="rId45"/>
    <p:sldId id="327" r:id="rId46"/>
    <p:sldId id="350" r:id="rId47"/>
    <p:sldId id="328" r:id="rId48"/>
    <p:sldId id="338" r:id="rId49"/>
    <p:sldId id="352" r:id="rId50"/>
    <p:sldId id="353" r:id="rId51"/>
    <p:sldId id="341" r:id="rId52"/>
    <p:sldId id="342" r:id="rId53"/>
    <p:sldId id="339" r:id="rId54"/>
    <p:sldId id="320" r:id="rId55"/>
    <p:sldId id="321" r:id="rId56"/>
    <p:sldId id="343" r:id="rId57"/>
    <p:sldId id="347" r:id="rId58"/>
    <p:sldId id="348" r:id="rId59"/>
    <p:sldId id="344" r:id="rId60"/>
    <p:sldId id="355" r:id="rId6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6CC73469-8C9C-490F-90BA-83C99DB9DAF3}">
          <p14:sldIdLst>
            <p14:sldId id="256"/>
          </p14:sldIdLst>
        </p14:section>
        <p14:section name="Agenda" id="{D2052289-6743-45E6-B194-4DC83CDC2EEC}">
          <p14:sldIdLst>
            <p14:sldId id="257"/>
          </p14:sldIdLst>
        </p14:section>
        <p14:section name="研究動機與文獻回顧" id="{2C21E4D8-721B-4616-BAD9-8E86ACE784C9}">
          <p14:sldIdLst>
            <p14:sldId id="258"/>
            <p14:sldId id="299"/>
            <p14:sldId id="279"/>
            <p14:sldId id="312"/>
            <p14:sldId id="313"/>
          </p14:sldIdLst>
        </p14:section>
        <p14:section name="設定" id="{FB7F7A27-BFE6-4F21-8F3D-72F3B6BF5BCA}">
          <p14:sldIdLst>
            <p14:sldId id="317"/>
            <p14:sldId id="295"/>
            <p14:sldId id="259"/>
            <p14:sldId id="267"/>
            <p14:sldId id="297"/>
            <p14:sldId id="262"/>
          </p14:sldIdLst>
        </p14:section>
        <p14:section name="到期日" id="{A1543915-851A-48BA-B1F8-3714B891AADF}">
          <p14:sldIdLst>
            <p14:sldId id="263"/>
            <p14:sldId id="264"/>
          </p14:sldIdLst>
        </p14:section>
        <p14:section name="到期前" id="{4AAE5370-CF88-4A10-8E62-699FA24265B5}">
          <p14:sldIdLst>
            <p14:sldId id="266"/>
            <p14:sldId id="269"/>
          </p14:sldIdLst>
        </p14:section>
        <p14:section name="發行日" id="{DE075660-DA62-45D8-968B-127BE2B6721D}">
          <p14:sldIdLst>
            <p14:sldId id="277"/>
          </p14:sldIdLst>
        </p14:section>
        <p14:section name="計算Nash 均衡" id="{0F05D7CB-E4A5-4CE8-9C24-EB5B80F7EC18}">
          <p14:sldIdLst>
            <p14:sldId id="302"/>
            <p14:sldId id="303"/>
            <p14:sldId id="304"/>
            <p14:sldId id="305"/>
            <p14:sldId id="306"/>
            <p14:sldId id="307"/>
            <p14:sldId id="315"/>
            <p14:sldId id="308"/>
            <p14:sldId id="309"/>
            <p14:sldId id="310"/>
            <p14:sldId id="296"/>
            <p14:sldId id="354"/>
            <p14:sldId id="311"/>
            <p14:sldId id="316"/>
            <p14:sldId id="314"/>
            <p14:sldId id="330"/>
            <p14:sldId id="331"/>
            <p14:sldId id="333"/>
          </p14:sldIdLst>
        </p14:section>
        <p14:section name="數值結果" id="{0072658D-65ED-44AF-A93E-75842B017010}">
          <p14:sldIdLst>
            <p14:sldId id="318"/>
            <p14:sldId id="319"/>
            <p14:sldId id="322"/>
            <p14:sldId id="345"/>
            <p14:sldId id="346"/>
            <p14:sldId id="337"/>
            <p14:sldId id="325"/>
            <p14:sldId id="326"/>
            <p14:sldId id="327"/>
            <p14:sldId id="350"/>
            <p14:sldId id="328"/>
            <p14:sldId id="338"/>
            <p14:sldId id="352"/>
            <p14:sldId id="353"/>
            <p14:sldId id="341"/>
            <p14:sldId id="342"/>
          </p14:sldIdLst>
        </p14:section>
        <p14:section name="結論" id="{9D23F07C-C7E2-409E-AF29-C46F1971AAAD}">
          <p14:sldIdLst>
            <p14:sldId id="339"/>
            <p14:sldId id="320"/>
            <p14:sldId id="321"/>
            <p14:sldId id="343"/>
            <p14:sldId id="347"/>
            <p14:sldId id="348"/>
            <p14:sldId id="344"/>
            <p14:sldId id="3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87732" autoAdjust="0"/>
  </p:normalViewPr>
  <p:slideViewPr>
    <p:cSldViewPr snapToGrid="0">
      <p:cViewPr varScale="1">
        <p:scale>
          <a:sx n="65" d="100"/>
          <a:sy n="65" d="100"/>
        </p:scale>
        <p:origin x="942" y="72"/>
      </p:cViewPr>
      <p:guideLst/>
    </p:cSldViewPr>
  </p:slideViewPr>
  <p:notesTextViewPr>
    <p:cViewPr>
      <p:scale>
        <a:sx n="3" d="2"/>
        <a:sy n="3" d="2"/>
      </p:scale>
      <p:origin x="0" y="0"/>
    </p:cViewPr>
  </p:notesTextViewPr>
  <p:sorterViewPr>
    <p:cViewPr>
      <p:scale>
        <a:sx n="100" d="100"/>
        <a:sy n="100" d="100"/>
      </p:scale>
      <p:origin x="0" y="-306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___1.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4002495589690644"/>
          <c:y val="6.9919072615923034E-2"/>
          <c:w val="0.60850544925278183"/>
          <c:h val="0.8326195683872849"/>
        </c:manualLayout>
      </c:layout>
      <c:scatterChart>
        <c:scatterStyle val="smoothMarker"/>
        <c:varyColors val="0"/>
        <c:ser>
          <c:idx val="0"/>
          <c:order val="0"/>
          <c:tx>
            <c:v>持有者2的best response function</c:v>
          </c:tx>
          <c:xVal>
            <c:numRef>
              <c:f>工作表1!$L$63:$L$73</c:f>
              <c:numCache>
                <c:formatCode>0%</c:formatCode>
                <c:ptCount val="11"/>
                <c:pt idx="0">
                  <c:v>0</c:v>
                </c:pt>
                <c:pt idx="1">
                  <c:v>0.05</c:v>
                </c:pt>
                <c:pt idx="2">
                  <c:v>0.1</c:v>
                </c:pt>
                <c:pt idx="3">
                  <c:v>0.15</c:v>
                </c:pt>
                <c:pt idx="4">
                  <c:v>0.2</c:v>
                </c:pt>
                <c:pt idx="5">
                  <c:v>0.25</c:v>
                </c:pt>
                <c:pt idx="6">
                  <c:v>0.3</c:v>
                </c:pt>
                <c:pt idx="7">
                  <c:v>0.35</c:v>
                </c:pt>
                <c:pt idx="8">
                  <c:v>0.4</c:v>
                </c:pt>
                <c:pt idx="9">
                  <c:v>0.45</c:v>
                </c:pt>
                <c:pt idx="10">
                  <c:v>0.5</c:v>
                </c:pt>
              </c:numCache>
            </c:numRef>
          </c:xVal>
          <c:yVal>
            <c:numRef>
              <c:f>工作表1!$M$63:$M$73</c:f>
              <c:numCache>
                <c:formatCode>0.00%</c:formatCode>
                <c:ptCount val="11"/>
                <c:pt idx="0">
                  <c:v>0.30515864914088342</c:v>
                </c:pt>
                <c:pt idx="1">
                  <c:v>0.29094326667945603</c:v>
                </c:pt>
                <c:pt idx="2">
                  <c:v>0.27549988005756543</c:v>
                </c:pt>
                <c:pt idx="3">
                  <c:v>0.25894685335083678</c:v>
                </c:pt>
                <c:pt idx="4">
                  <c:v>0.24138467590631069</c:v>
                </c:pt>
                <c:pt idx="5">
                  <c:v>0.22289952759811199</c:v>
                </c:pt>
                <c:pt idx="6">
                  <c:v>0.20356597876946381</c:v>
                </c:pt>
                <c:pt idx="7">
                  <c:v>0.18344906849297737</c:v>
                </c:pt>
                <c:pt idx="8">
                  <c:v>0.16260592763905518</c:v>
                </c:pt>
                <c:pt idx="9">
                  <c:v>0.1410870629817299</c:v>
                </c:pt>
                <c:pt idx="10">
                  <c:v>0.11893738504512608</c:v>
                </c:pt>
              </c:numCache>
            </c:numRef>
          </c:yVal>
          <c:smooth val="1"/>
        </c:ser>
        <c:ser>
          <c:idx val="1"/>
          <c:order val="1"/>
          <c:tx>
            <c:v>持有者1的best response function</c:v>
          </c:tx>
          <c:xVal>
            <c:numRef>
              <c:f>工作表1!$L$76:$L$86</c:f>
              <c:numCache>
                <c:formatCode>0.00%</c:formatCode>
                <c:ptCount val="11"/>
                <c:pt idx="0">
                  <c:v>0.30515864914088342</c:v>
                </c:pt>
                <c:pt idx="1">
                  <c:v>0.29094326667945603</c:v>
                </c:pt>
                <c:pt idx="2">
                  <c:v>0.27549988005756543</c:v>
                </c:pt>
                <c:pt idx="3">
                  <c:v>0.25894685335083678</c:v>
                </c:pt>
                <c:pt idx="4">
                  <c:v>0.24138467590631069</c:v>
                </c:pt>
                <c:pt idx="5">
                  <c:v>0.22289952759811199</c:v>
                </c:pt>
                <c:pt idx="6">
                  <c:v>0.20356597876946381</c:v>
                </c:pt>
                <c:pt idx="7">
                  <c:v>0.18344906849297737</c:v>
                </c:pt>
                <c:pt idx="8">
                  <c:v>0.16260592763905518</c:v>
                </c:pt>
                <c:pt idx="9">
                  <c:v>0.1410870629817299</c:v>
                </c:pt>
                <c:pt idx="10">
                  <c:v>0.11893738504512608</c:v>
                </c:pt>
              </c:numCache>
            </c:numRef>
          </c:xVal>
          <c:yVal>
            <c:numRef>
              <c:f>工作表1!$M$76:$M$86</c:f>
              <c:numCache>
                <c:formatCode>0%</c:formatCode>
                <c:ptCount val="11"/>
                <c:pt idx="0">
                  <c:v>0</c:v>
                </c:pt>
                <c:pt idx="1">
                  <c:v>0.05</c:v>
                </c:pt>
                <c:pt idx="2">
                  <c:v>0.1</c:v>
                </c:pt>
                <c:pt idx="3">
                  <c:v>0.15</c:v>
                </c:pt>
                <c:pt idx="4">
                  <c:v>0.2</c:v>
                </c:pt>
                <c:pt idx="5">
                  <c:v>0.25</c:v>
                </c:pt>
                <c:pt idx="6">
                  <c:v>0.3</c:v>
                </c:pt>
                <c:pt idx="7">
                  <c:v>0.35</c:v>
                </c:pt>
                <c:pt idx="8">
                  <c:v>0.4</c:v>
                </c:pt>
                <c:pt idx="9">
                  <c:v>0.45</c:v>
                </c:pt>
                <c:pt idx="10">
                  <c:v>0.5</c:v>
                </c:pt>
              </c:numCache>
            </c:numRef>
          </c:yVal>
          <c:smooth val="1"/>
        </c:ser>
        <c:dLbls>
          <c:showLegendKey val="0"/>
          <c:showVal val="0"/>
          <c:showCatName val="0"/>
          <c:showSerName val="0"/>
          <c:showPercent val="0"/>
          <c:showBubbleSize val="0"/>
        </c:dLbls>
        <c:axId val="-237474800"/>
        <c:axId val="-237472080"/>
      </c:scatterChart>
      <c:valAx>
        <c:axId val="-237474800"/>
        <c:scaling>
          <c:orientation val="minMax"/>
        </c:scaling>
        <c:delete val="0"/>
        <c:axPos val="b"/>
        <c:numFmt formatCode="0%" sourceLinked="1"/>
        <c:majorTickMark val="out"/>
        <c:minorTickMark val="none"/>
        <c:tickLblPos val="nextTo"/>
        <c:txPr>
          <a:bodyPr/>
          <a:lstStyle/>
          <a:p>
            <a:pPr>
              <a:defRPr sz="1600"/>
            </a:pPr>
            <a:endParaRPr lang="zh-TW"/>
          </a:p>
        </c:txPr>
        <c:crossAx val="-237472080"/>
        <c:crosses val="autoZero"/>
        <c:crossBetween val="midCat"/>
      </c:valAx>
      <c:valAx>
        <c:axId val="-237472080"/>
        <c:scaling>
          <c:orientation val="minMax"/>
        </c:scaling>
        <c:delete val="0"/>
        <c:axPos val="l"/>
        <c:majorGridlines/>
        <c:numFmt formatCode="0.00%" sourceLinked="1"/>
        <c:majorTickMark val="out"/>
        <c:minorTickMark val="none"/>
        <c:tickLblPos val="nextTo"/>
        <c:txPr>
          <a:bodyPr/>
          <a:lstStyle/>
          <a:p>
            <a:pPr>
              <a:defRPr sz="1600"/>
            </a:pPr>
            <a:endParaRPr lang="zh-TW"/>
          </a:p>
        </c:txPr>
        <c:crossAx val="-237474800"/>
        <c:crosses val="autoZero"/>
        <c:crossBetween val="midCat"/>
      </c:valAx>
    </c:plotArea>
    <c:legend>
      <c:legendPos val="r"/>
      <c:legendEntry>
        <c:idx val="0"/>
        <c:txPr>
          <a:bodyPr/>
          <a:lstStyle/>
          <a:p>
            <a:pPr>
              <a:defRPr sz="1800"/>
            </a:pPr>
            <a:endParaRPr lang="zh-TW"/>
          </a:p>
        </c:txPr>
      </c:legendEntry>
      <c:legendEntry>
        <c:idx val="1"/>
        <c:txPr>
          <a:bodyPr/>
          <a:lstStyle/>
          <a:p>
            <a:pPr>
              <a:defRPr sz="1800"/>
            </a:pPr>
            <a:endParaRPr lang="zh-TW"/>
          </a:p>
        </c:txPr>
      </c:legendEntry>
      <c:layout>
        <c:manualLayout>
          <c:xMode val="edge"/>
          <c:yMode val="edge"/>
          <c:x val="0.54180054971967662"/>
          <c:y val="0.35664558607985281"/>
          <c:w val="0.44364265317303792"/>
          <c:h val="0.28670845365083558"/>
        </c:manualLayout>
      </c:layout>
      <c:overlay val="0"/>
    </c:legend>
    <c:plotVisOnly val="1"/>
    <c:dispBlanksAs val="gap"/>
    <c:showDLblsOverMax val="0"/>
  </c:chart>
  <c:externalData r:id="rId2">
    <c:autoUpdate val="0"/>
  </c:externalData>
</c:chartSpace>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7.wmf"/><Relationship Id="rId4"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885C0E-890B-4D4B-BD33-716FD746583B}" type="datetimeFigureOut">
              <a:rPr lang="zh-TW" altLang="en-US" smtClean="0"/>
              <a:t>2014/7/5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552296-C13A-4BD0-9A5A-23EF3EC5F30D}" type="slidenum">
              <a:rPr lang="zh-TW" altLang="en-US" smtClean="0"/>
              <a:t>‹#›</a:t>
            </a:fld>
            <a:endParaRPr lang="zh-TW" altLang="en-US"/>
          </a:p>
        </p:txBody>
      </p:sp>
    </p:spTree>
    <p:extLst>
      <p:ext uri="{BB962C8B-B14F-4D97-AF65-F5344CB8AC3E}">
        <p14:creationId xmlns:p14="http://schemas.microsoft.com/office/powerpoint/2010/main" val="2497762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7552296-C13A-4BD0-9A5A-23EF3EC5F30D}" type="slidenum">
              <a:rPr lang="zh-TW" altLang="en-US" smtClean="0"/>
              <a:t>2</a:t>
            </a:fld>
            <a:endParaRPr lang="zh-TW" altLang="en-US"/>
          </a:p>
        </p:txBody>
      </p:sp>
    </p:spTree>
    <p:extLst>
      <p:ext uri="{BB962C8B-B14F-4D97-AF65-F5344CB8AC3E}">
        <p14:creationId xmlns:p14="http://schemas.microsoft.com/office/powerpoint/2010/main" val="631248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7552296-C13A-4BD0-9A5A-23EF3EC5F30D}" type="slidenum">
              <a:rPr lang="zh-TW" altLang="en-US" smtClean="0"/>
              <a:t>3</a:t>
            </a:fld>
            <a:endParaRPr lang="zh-TW" altLang="en-US"/>
          </a:p>
        </p:txBody>
      </p:sp>
    </p:spTree>
    <p:extLst>
      <p:ext uri="{BB962C8B-B14F-4D97-AF65-F5344CB8AC3E}">
        <p14:creationId xmlns:p14="http://schemas.microsoft.com/office/powerpoint/2010/main" val="411982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7552296-C13A-4BD0-9A5A-23EF3EC5F30D}" type="slidenum">
              <a:rPr lang="zh-TW" altLang="en-US" smtClean="0"/>
              <a:t>5</a:t>
            </a:fld>
            <a:endParaRPr lang="zh-TW" altLang="en-US"/>
          </a:p>
        </p:txBody>
      </p:sp>
    </p:spTree>
    <p:extLst>
      <p:ext uri="{BB962C8B-B14F-4D97-AF65-F5344CB8AC3E}">
        <p14:creationId xmlns:p14="http://schemas.microsoft.com/office/powerpoint/2010/main" val="2209767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7552296-C13A-4BD0-9A5A-23EF3EC5F30D}" type="slidenum">
              <a:rPr lang="zh-TW" altLang="en-US" smtClean="0"/>
              <a:t>19</a:t>
            </a:fld>
            <a:endParaRPr lang="zh-TW" altLang="en-US"/>
          </a:p>
        </p:txBody>
      </p:sp>
    </p:spTree>
    <p:extLst>
      <p:ext uri="{BB962C8B-B14F-4D97-AF65-F5344CB8AC3E}">
        <p14:creationId xmlns:p14="http://schemas.microsoft.com/office/powerpoint/2010/main" val="2252975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7552296-C13A-4BD0-9A5A-23EF3EC5F30D}" type="slidenum">
              <a:rPr lang="zh-TW" altLang="en-US" smtClean="0"/>
              <a:t>22</a:t>
            </a:fld>
            <a:endParaRPr lang="zh-TW" altLang="en-US"/>
          </a:p>
        </p:txBody>
      </p:sp>
    </p:spTree>
    <p:extLst>
      <p:ext uri="{BB962C8B-B14F-4D97-AF65-F5344CB8AC3E}">
        <p14:creationId xmlns:p14="http://schemas.microsoft.com/office/powerpoint/2010/main" val="312752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7552296-C13A-4BD0-9A5A-23EF3EC5F30D}" type="slidenum">
              <a:rPr lang="zh-TW" altLang="en-US" smtClean="0"/>
              <a:t>28</a:t>
            </a:fld>
            <a:endParaRPr lang="zh-TW" altLang="en-US"/>
          </a:p>
        </p:txBody>
      </p:sp>
    </p:spTree>
    <p:extLst>
      <p:ext uri="{BB962C8B-B14F-4D97-AF65-F5344CB8AC3E}">
        <p14:creationId xmlns:p14="http://schemas.microsoft.com/office/powerpoint/2010/main" val="656047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CB91DDB-0693-4F73-BC81-D34620440A90}" type="datetime1">
              <a:rPr lang="zh-TW" altLang="en-US" smtClean="0"/>
              <a:t>2014/7/5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751980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E974009-AF97-486C-87BD-3FD7298ACA97}" type="datetime1">
              <a:rPr lang="zh-TW" altLang="en-US" smtClean="0"/>
              <a:t>2014/7/5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1954974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C3822AC-C79D-4707-AEB8-0A55C5F70D50}" type="datetime1">
              <a:rPr lang="zh-TW" altLang="en-US" smtClean="0"/>
              <a:t>2014/7/5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3839158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945605F4-18C1-412A-B381-36D005B0E9AE}" type="datetime1">
              <a:rPr lang="zh-TW" altLang="en-US" smtClean="0"/>
              <a:t>2014/7/5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2743341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9FDDE195-C451-440C-9641-C050EE98CF3D}" type="datetime1">
              <a:rPr lang="zh-TW" altLang="en-US" smtClean="0"/>
              <a:t>2014/7/5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979112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4D1ADC75-1CBC-466E-89A3-82C794555849}" type="datetime1">
              <a:rPr lang="zh-TW" altLang="en-US" smtClean="0"/>
              <a:t>2014/7/5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2585271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186F1A8-869C-43EC-9F62-A1EC5B1B2766}" type="datetime1">
              <a:rPr lang="zh-TW" altLang="en-US" smtClean="0"/>
              <a:t>2014/7/5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2601592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FE84AC0-AA86-4A11-B952-4B9FBED8FBB4}" type="datetime1">
              <a:rPr lang="zh-TW" altLang="en-US" smtClean="0"/>
              <a:t>2014/7/5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326707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645320B-3BA0-4441-A73C-DD3E4079F509}" type="datetime1">
              <a:rPr lang="zh-TW" altLang="en-US" smtClean="0"/>
              <a:t>2014/7/5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2796741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C6593D7-7594-438E-81E2-34AF52518093}" type="datetime1">
              <a:rPr lang="zh-TW" altLang="en-US" smtClean="0"/>
              <a:t>2014/7/5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135788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E75541-315F-4815-AB7B-CFCE43227F5E}" type="datetime1">
              <a:rPr lang="zh-TW" altLang="en-US" smtClean="0"/>
              <a:t>2014/7/5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3170554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CBEAEF-5D54-4987-A514-8651F9C9C723}" type="datetime1">
              <a:rPr lang="zh-TW" altLang="en-US" smtClean="0"/>
              <a:t>2014/7/5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F877B7-FBF6-49BA-8BEB-3DB32DB27243}" type="slidenum">
              <a:rPr lang="zh-TW" altLang="en-US" smtClean="0"/>
              <a:t>‹#›</a:t>
            </a:fld>
            <a:endParaRPr lang="zh-TW" altLang="en-US"/>
          </a:p>
        </p:txBody>
      </p:sp>
    </p:spTree>
    <p:extLst>
      <p:ext uri="{BB962C8B-B14F-4D97-AF65-F5344CB8AC3E}">
        <p14:creationId xmlns:p14="http://schemas.microsoft.com/office/powerpoint/2010/main" val="245608065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 Id="rId9"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6.bin"/><Relationship Id="rId10" Type="http://schemas.openxmlformats.org/officeDocument/2006/relationships/image" Target="../media/image12.wmf"/><Relationship Id="rId4" Type="http://schemas.openxmlformats.org/officeDocument/2006/relationships/image" Target="../media/image10.wmf"/><Relationship Id="rId9"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5.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6.wmf"/><Relationship Id="rId4" Type="http://schemas.openxmlformats.org/officeDocument/2006/relationships/image" Target="../media/image14.wmf"/><Relationship Id="rId9"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notesSlide" Target="../notesSlides/notesSlide4.xml"/><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6.bin"/><Relationship Id="rId11" Type="http://schemas.openxmlformats.org/officeDocument/2006/relationships/image" Target="../media/image20.png"/><Relationship Id="rId5" Type="http://schemas.openxmlformats.org/officeDocument/2006/relationships/image" Target="../media/image6.wmf"/><Relationship Id="rId10" Type="http://schemas.openxmlformats.org/officeDocument/2006/relationships/image" Target="../media/image19.png"/><Relationship Id="rId4" Type="http://schemas.openxmlformats.org/officeDocument/2006/relationships/oleObject" Target="../embeddings/oleObject15.bin"/><Relationship Id="rId9" Type="http://schemas.openxmlformats.org/officeDocument/2006/relationships/image" Target="../media/image18.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0.wmf"/><Relationship Id="rId5" Type="http://schemas.openxmlformats.org/officeDocument/2006/relationships/oleObject" Target="../embeddings/oleObject20.bin"/><Relationship Id="rId4" Type="http://schemas.openxmlformats.org/officeDocument/2006/relationships/image" Target="../media/image19.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slide" Target="slide26.xml"/><Relationship Id="rId4" Type="http://schemas.openxmlformats.org/officeDocument/2006/relationships/image" Target="../media/image21.wmf"/></Relationships>
</file>

<file path=ppt/slides/_rels/slide22.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notesSlide" Target="../notesSlides/notesSlide5.xml"/><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4.png"/><Relationship Id="rId5" Type="http://schemas.openxmlformats.org/officeDocument/2006/relationships/image" Target="../media/image22.wmf"/><Relationship Id="rId4"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slide" Target="slide26.xml"/><Relationship Id="rId4" Type="http://schemas.openxmlformats.org/officeDocument/2006/relationships/image" Target="../media/image25.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6.wmf"/></Relationships>
</file>

<file path=ppt/slides/_rels/slide2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oleObject" Target="../embeddings/oleObject26.bin"/><Relationship Id="rId7" Type="http://schemas.openxmlformats.org/officeDocument/2006/relationships/slide" Target="slide23.xml"/><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8.wmf"/><Relationship Id="rId5" Type="http://schemas.openxmlformats.org/officeDocument/2006/relationships/oleObject" Target="../embeddings/oleObject27.bin"/><Relationship Id="rId4" Type="http://schemas.openxmlformats.org/officeDocument/2006/relationships/image" Target="../media/image27.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0.wmf"/><Relationship Id="rId5" Type="http://schemas.openxmlformats.org/officeDocument/2006/relationships/oleObject" Target="../embeddings/oleObject29.bin"/><Relationship Id="rId4" Type="http://schemas.openxmlformats.org/officeDocument/2006/relationships/image" Target="../media/image29.wmf"/></Relationships>
</file>

<file path=ppt/slides/_rels/slide28.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41.png"/><Relationship Id="rId7"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1.bin"/><Relationship Id="rId5" Type="http://schemas.openxmlformats.org/officeDocument/2006/relationships/image" Target="../media/image31.wmf"/><Relationship Id="rId4" Type="http://schemas.openxmlformats.org/officeDocument/2006/relationships/oleObject" Target="../embeddings/oleObject30.bin"/><Relationship Id="rId9" Type="http://schemas.openxmlformats.org/officeDocument/2006/relationships/image" Target="../media/image33.wmf"/></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4.wmf"/><Relationship Id="rId4" Type="http://schemas.openxmlformats.org/officeDocument/2006/relationships/oleObject" Target="../embeddings/oleObject33.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410.png"/><Relationship Id="rId4" Type="http://schemas.openxmlformats.org/officeDocument/2006/relationships/image" Target="../media/image35.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slide" Target="slide57.xml"/><Relationship Id="rId1" Type="http://schemas.openxmlformats.org/officeDocument/2006/relationships/slideLayout" Target="../slideLayouts/slideLayout2.xml"/><Relationship Id="rId4" Type="http://schemas.openxmlformats.org/officeDocument/2006/relationships/slide" Target="slide59.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461.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 Id="rId4" Type="http://schemas.openxmlformats.org/officeDocument/2006/relationships/image" Target="../media/image480.png"/></Relationships>
</file>

<file path=ppt/slides/_rels/slide49.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4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slide" Target="slide51.xml"/><Relationship Id="rId4" Type="http://schemas.openxmlformats.org/officeDocument/2006/relationships/image" Target="../media/image42.wmf"/></Relationships>
</file>

<file path=ppt/slides/_rels/slide57.xml.rels><?xml version="1.0" encoding="UTF-8" standalone="yes"?>
<Relationships xmlns="http://schemas.openxmlformats.org/package/2006/relationships"><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75480" y="999533"/>
            <a:ext cx="11041039" cy="2387600"/>
          </a:xfrm>
        </p:spPr>
        <p:txBody>
          <a:bodyPr>
            <a:normAutofit/>
          </a:bodyPr>
          <a:lstStyle/>
          <a:p>
            <a:r>
              <a:rPr lang="zh-TW" altLang="en-US" dirty="0">
                <a:latin typeface="標楷體" panose="03000509000000000000" pitchFamily="65" charset="-120"/>
                <a:ea typeface="標楷體" panose="03000509000000000000" pitchFamily="65" charset="-120"/>
              </a:rPr>
              <a:t>以賽局</a:t>
            </a:r>
            <a:r>
              <a:rPr lang="zh-TW" altLang="en-US" dirty="0" smtClean="0">
                <a:latin typeface="標楷體" panose="03000509000000000000" pitchFamily="65" charset="-120"/>
                <a:ea typeface="標楷體" panose="03000509000000000000" pitchFamily="65" charset="-120"/>
              </a:rPr>
              <a:t>理論評價可</a:t>
            </a:r>
            <a:r>
              <a:rPr lang="zh-TW" altLang="en-US" dirty="0">
                <a:latin typeface="標楷體" panose="03000509000000000000" pitchFamily="65" charset="-120"/>
                <a:ea typeface="標楷體" panose="03000509000000000000" pitchFamily="65" charset="-120"/>
              </a:rPr>
              <a:t>轉換</a:t>
            </a:r>
            <a:r>
              <a:rPr lang="zh-TW" altLang="en-US" dirty="0" smtClean="0">
                <a:latin typeface="標楷體" panose="03000509000000000000" pitchFamily="65" charset="-120"/>
                <a:ea typeface="標楷體" panose="03000509000000000000" pitchFamily="65" charset="-120"/>
              </a:rPr>
              <a:t>公司債</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a:t>
            </a:r>
            <a:r>
              <a:rPr lang="zh-TW" altLang="en-US" sz="4400" dirty="0" smtClean="0">
                <a:latin typeface="標楷體" panose="03000509000000000000" pitchFamily="65" charset="-120"/>
                <a:ea typeface="標楷體" panose="03000509000000000000" pitchFamily="65" charset="-120"/>
              </a:rPr>
              <a:t>寡占債權人間部分轉換策略的探討</a:t>
            </a:r>
            <a:endParaRPr lang="zh-TW" altLang="en-US" sz="4400" dirty="0">
              <a:latin typeface="標楷體" panose="03000509000000000000" pitchFamily="65" charset="-120"/>
              <a:ea typeface="標楷體" panose="03000509000000000000" pitchFamily="65" charset="-120"/>
            </a:endParaRPr>
          </a:p>
        </p:txBody>
      </p:sp>
      <p:sp>
        <p:nvSpPr>
          <p:cNvPr id="3" name="副標題 2"/>
          <p:cNvSpPr>
            <a:spLocks noGrp="1"/>
          </p:cNvSpPr>
          <p:nvPr>
            <p:ph type="subTitle" idx="1"/>
          </p:nvPr>
        </p:nvSpPr>
        <p:spPr>
          <a:xfrm>
            <a:off x="1523999" y="4257131"/>
            <a:ext cx="9144000" cy="1655762"/>
          </a:xfrm>
        </p:spPr>
        <p:txBody>
          <a:bodyPr>
            <a:normAutofit/>
          </a:bodyPr>
          <a:lstStyle/>
          <a:p>
            <a:r>
              <a:rPr lang="zh-TW" altLang="en-US" sz="3200" dirty="0" smtClean="0">
                <a:latin typeface="標楷體" panose="03000509000000000000" pitchFamily="65" charset="-120"/>
                <a:ea typeface="標楷體" panose="03000509000000000000" pitchFamily="65" charset="-120"/>
              </a:rPr>
              <a:t>指導教授：戴天時博士 陳柏安博</a:t>
            </a:r>
            <a:r>
              <a:rPr lang="zh-TW" altLang="en-US" sz="3200" dirty="0">
                <a:latin typeface="標楷體" panose="03000509000000000000" pitchFamily="65" charset="-120"/>
                <a:ea typeface="標楷體" panose="03000509000000000000" pitchFamily="65" charset="-120"/>
              </a:rPr>
              <a:t>士</a:t>
            </a:r>
          </a:p>
          <a:p>
            <a:r>
              <a:rPr lang="zh-TW" altLang="en-US" sz="3200" dirty="0">
                <a:latin typeface="標楷體" panose="03000509000000000000" pitchFamily="65" charset="-120"/>
                <a:ea typeface="標楷體" panose="03000509000000000000" pitchFamily="65" charset="-120"/>
              </a:rPr>
              <a:t>財金所　</a:t>
            </a:r>
            <a:r>
              <a:rPr lang="zh-TW" altLang="en-US" sz="3200" dirty="0" smtClean="0">
                <a:latin typeface="標楷體" panose="03000509000000000000" pitchFamily="65" charset="-120"/>
                <a:ea typeface="標楷體" panose="03000509000000000000" pitchFamily="65" charset="-120"/>
              </a:rPr>
              <a:t>林哲</a:t>
            </a:r>
            <a:r>
              <a:rPr lang="zh-TW" altLang="en-US" sz="3200" dirty="0">
                <a:latin typeface="標楷體" panose="03000509000000000000" pitchFamily="65" charset="-120"/>
                <a:ea typeface="標楷體" panose="03000509000000000000" pitchFamily="65" charset="-120"/>
              </a:rPr>
              <a:t>宇</a:t>
            </a: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1</a:t>
            </a:fld>
            <a:endParaRPr lang="zh-TW" altLang="en-US"/>
          </a:p>
        </p:txBody>
      </p:sp>
    </p:spTree>
    <p:extLst>
      <p:ext uri="{BB962C8B-B14F-4D97-AF65-F5344CB8AC3E}">
        <p14:creationId xmlns:p14="http://schemas.microsoft.com/office/powerpoint/2010/main" val="27626232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Agenda</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zh-TW" altLang="en-US" sz="3200" dirty="0" smtClean="0">
                <a:latin typeface="標楷體" panose="03000509000000000000" pitchFamily="65" charset="-120"/>
                <a:ea typeface="標楷體" panose="03000509000000000000" pitchFamily="65" charset="-120"/>
              </a:rPr>
              <a:t>研究動機</a:t>
            </a:r>
            <a:endParaRPr lang="en-US" altLang="zh-TW" sz="3200" dirty="0" smtClean="0">
              <a:latin typeface="標楷體" panose="03000509000000000000" pitchFamily="65" charset="-120"/>
              <a:ea typeface="標楷體" panose="03000509000000000000" pitchFamily="65" charset="-120"/>
            </a:endParaRPr>
          </a:p>
          <a:p>
            <a:r>
              <a:rPr lang="zh-TW" altLang="en-US" sz="3200" dirty="0" smtClean="0">
                <a:latin typeface="標楷體" panose="03000509000000000000" pitchFamily="65" charset="-120"/>
                <a:ea typeface="標楷體" panose="03000509000000000000" pitchFamily="65" charset="-120"/>
              </a:rPr>
              <a:t>文獻回顧</a:t>
            </a:r>
            <a:endParaRPr lang="en-US" altLang="zh-TW" sz="3200" dirty="0" smtClean="0">
              <a:latin typeface="標楷體" panose="03000509000000000000" pitchFamily="65" charset="-120"/>
              <a:ea typeface="標楷體" panose="03000509000000000000" pitchFamily="65" charset="-120"/>
            </a:endParaRPr>
          </a:p>
          <a:p>
            <a:r>
              <a:rPr lang="zh-TW" altLang="zh-TW" sz="3200" dirty="0">
                <a:latin typeface="Times New Roman" panose="02020603050405020304" pitchFamily="18" charset="0"/>
                <a:ea typeface="標楷體" panose="03000509000000000000" pitchFamily="65" charset="-120"/>
                <a:cs typeface="Times New Roman" panose="02020603050405020304" pitchFamily="18" charset="0"/>
              </a:rPr>
              <a:t>研究方法與</a:t>
            </a:r>
            <a:r>
              <a:rPr lang="zh-TW" altLang="zh-TW" sz="3200" dirty="0" smtClean="0">
                <a:latin typeface="Times New Roman" panose="02020603050405020304" pitchFamily="18" charset="0"/>
                <a:ea typeface="標楷體" panose="03000509000000000000" pitchFamily="65" charset="-120"/>
                <a:cs typeface="Times New Roman" panose="02020603050405020304" pitchFamily="18" charset="0"/>
              </a:rPr>
              <a:t>分析</a:t>
            </a:r>
            <a:endParaRPr lang="en-US" altLang="zh-TW" sz="3200"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zh-TW" altLang="zh-TW" sz="3200" dirty="0">
                <a:latin typeface="Times New Roman" panose="02020603050405020304" pitchFamily="18" charset="0"/>
                <a:ea typeface="標楷體" panose="03000509000000000000" pitchFamily="65" charset="-120"/>
                <a:cs typeface="Times New Roman" panose="02020603050405020304" pitchFamily="18" charset="0"/>
              </a:rPr>
              <a:t>數值分析</a:t>
            </a:r>
            <a:r>
              <a:rPr lang="zh-TW" altLang="zh-TW" sz="3200" dirty="0" smtClean="0">
                <a:latin typeface="Times New Roman" panose="02020603050405020304" pitchFamily="18" charset="0"/>
                <a:ea typeface="標楷體" panose="03000509000000000000" pitchFamily="65" charset="-120"/>
                <a:cs typeface="Times New Roman" panose="02020603050405020304" pitchFamily="18" charset="0"/>
              </a:rPr>
              <a:t>結果</a:t>
            </a:r>
            <a:endParaRPr lang="en-US" altLang="zh-TW" sz="3200"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3200" dirty="0" smtClean="0">
                <a:latin typeface="標楷體" panose="03000509000000000000" pitchFamily="65" charset="-120"/>
                <a:ea typeface="標楷體" panose="03000509000000000000" pitchFamily="65" charset="-120"/>
              </a:rPr>
              <a:t>結論</a:t>
            </a:r>
            <a:endParaRPr lang="en-US" altLang="zh-TW" sz="3200" dirty="0" smtClean="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a:t>
            </a:fld>
            <a:endParaRPr lang="zh-TW" altLang="en-US"/>
          </a:p>
        </p:txBody>
      </p:sp>
    </p:spTree>
    <p:extLst>
      <p:ext uri="{BB962C8B-B14F-4D97-AF65-F5344CB8AC3E}">
        <p14:creationId xmlns:p14="http://schemas.microsoft.com/office/powerpoint/2010/main" val="29039140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研究動機</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normAutofit/>
          </a:bodyPr>
          <a:lstStyle/>
          <a:p>
            <a:r>
              <a:rPr lang="zh-TW" altLang="en-US" dirty="0" smtClean="0">
                <a:latin typeface="標楷體" panose="03000509000000000000" pitchFamily="65" charset="-120"/>
                <a:ea typeface="標楷體" panose="03000509000000000000" pitchFamily="65" charset="-120"/>
              </a:rPr>
              <a:t>可轉換公司債為具有債權與股權雙重性質的債券</a:t>
            </a:r>
            <a:endParaRPr lang="en-US" altLang="zh-TW" dirty="0" smtClean="0">
              <a:latin typeface="標楷體" panose="03000509000000000000" pitchFamily="65" charset="-120"/>
              <a:ea typeface="標楷體" panose="03000509000000000000" pitchFamily="65" charset="-120"/>
            </a:endParaRPr>
          </a:p>
          <a:p>
            <a:pPr lvl="1">
              <a:buFont typeface="Wingdings" panose="05000000000000000000" pitchFamily="2" charset="2"/>
              <a:buChar char="Ø"/>
            </a:pPr>
            <a:r>
              <a:rPr lang="zh-TW" altLang="en-US" dirty="0" smtClean="0">
                <a:latin typeface="標楷體" panose="03000509000000000000" pitchFamily="65" charset="-120"/>
                <a:ea typeface="標楷體" panose="03000509000000000000" pitchFamily="65" charset="-120"/>
              </a:rPr>
              <a:t>當公司績效好，債權人會想把手中的可轉換公司債轉換成股票</a:t>
            </a:r>
            <a:endParaRPr lang="en-US" altLang="zh-TW" dirty="0" smtClean="0">
              <a:latin typeface="標楷體" panose="03000509000000000000" pitchFamily="65" charset="-120"/>
              <a:ea typeface="標楷體" panose="03000509000000000000" pitchFamily="65" charset="-120"/>
            </a:endParaRPr>
          </a:p>
          <a:p>
            <a:pPr lvl="1">
              <a:buFont typeface="Wingdings" panose="05000000000000000000" pitchFamily="2" charset="2"/>
              <a:buChar char="Ø"/>
            </a:pPr>
            <a:r>
              <a:rPr lang="zh-TW" altLang="en-US" dirty="0" smtClean="0">
                <a:latin typeface="標楷體" panose="03000509000000000000" pitchFamily="65" charset="-120"/>
                <a:ea typeface="標楷體" panose="03000509000000000000" pitchFamily="65" charset="-120"/>
              </a:rPr>
              <a:t>當公司績效差，債權人繼續持有可轉債，領取固定利息</a:t>
            </a:r>
            <a:endParaRPr lang="en-US" altLang="zh-TW" dirty="0" smtClean="0">
              <a:latin typeface="標楷體" panose="03000509000000000000" pitchFamily="65" charset="-120"/>
              <a:ea typeface="標楷體" panose="03000509000000000000" pitchFamily="65" charset="-120"/>
            </a:endParaRPr>
          </a:p>
          <a:p>
            <a:pPr lvl="1">
              <a:buFont typeface="Wingdings" panose="05000000000000000000" pitchFamily="2" charset="2"/>
              <a:buChar char="Ø"/>
            </a:pP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在實務中發現可轉換公司債可能存在逐步轉換情形</a:t>
            </a:r>
            <a:endParaRPr lang="en-US" altLang="zh-TW" dirty="0" smtClean="0">
              <a:latin typeface="標楷體" panose="03000509000000000000" pitchFamily="65" charset="-120"/>
              <a:ea typeface="標楷體" panose="03000509000000000000" pitchFamily="65" charset="-120"/>
            </a:endParaRPr>
          </a:p>
          <a:p>
            <a:pPr lvl="1">
              <a:buFont typeface="Wingdings" panose="05000000000000000000" pitchFamily="2" charset="2"/>
              <a:buChar char="Ø"/>
            </a:pP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林亨</a:t>
            </a:r>
            <a:r>
              <a:rPr lang="zh-TW" altLang="en-US" dirty="0">
                <a:latin typeface="標楷體" panose="03000509000000000000" pitchFamily="65" charset="-120"/>
                <a:ea typeface="標楷體" panose="03000509000000000000" pitchFamily="65" charset="-120"/>
                <a:cs typeface="Times New Roman" panose="02020603050405020304" pitchFamily="18" charset="0"/>
              </a:rPr>
              <a:t>利</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(2012)</a:t>
            </a:r>
            <a:r>
              <a:rPr lang="zh-TW" altLang="en-US" dirty="0" smtClean="0">
                <a:latin typeface="標楷體" panose="03000509000000000000" pitchFamily="65" charset="-120"/>
                <a:ea typeface="標楷體" panose="03000509000000000000" pitchFamily="65" charset="-120"/>
              </a:rPr>
              <a:t>中，</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延伸</a:t>
            </a:r>
            <a:r>
              <a:rPr lang="en-US" altLang="zh-TW" dirty="0" err="1" smtClean="0">
                <a:latin typeface="Times New Roman" panose="02020603050405020304" pitchFamily="18" charset="0"/>
                <a:ea typeface="標楷體" panose="03000509000000000000" pitchFamily="65" charset="-120"/>
              </a:rPr>
              <a:t>Constantinides</a:t>
            </a:r>
            <a:r>
              <a:rPr lang="en-US" altLang="zh-TW" dirty="0" smtClean="0">
                <a:latin typeface="Times New Roman" panose="02020603050405020304" pitchFamily="18" charset="0"/>
                <a:ea typeface="標楷體" panose="03000509000000000000" pitchFamily="65" charset="-120"/>
              </a:rPr>
              <a:t> </a:t>
            </a:r>
            <a:r>
              <a:rPr lang="en-US" altLang="zh-TW" dirty="0">
                <a:latin typeface="Times New Roman" panose="02020603050405020304" pitchFamily="18" charset="0"/>
                <a:ea typeface="標楷體" panose="03000509000000000000" pitchFamily="65" charset="-120"/>
              </a:rPr>
              <a:t>(1984)</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所提出之模型</a:t>
            </a:r>
            <a:r>
              <a:rPr lang="zh-TW" altLang="en-US" dirty="0" smtClean="0">
                <a:latin typeface="標楷體" panose="03000509000000000000" pitchFamily="65" charset="-120"/>
                <a:ea typeface="標楷體" panose="03000509000000000000" pitchFamily="65" charset="-120"/>
              </a:rPr>
              <a:t>，探討了可轉換公司債在加入稅盾及破產成本下，利用賽局理論對於發行者的贖回策略以及持有者人數</a:t>
            </a: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人及多人，人數多到無法對價格有影響力</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與轉換策略</a:t>
            </a:r>
            <a:r>
              <a:rPr lang="zh-TW" altLang="en-US" dirty="0">
                <a:latin typeface="標楷體" panose="03000509000000000000" pitchFamily="65" charset="-120"/>
                <a:ea typeface="標楷體" panose="03000509000000000000" pitchFamily="65" charset="-120"/>
              </a:rPr>
              <a:t>的</a:t>
            </a:r>
            <a:r>
              <a:rPr lang="zh-TW" altLang="en-US" dirty="0" smtClean="0">
                <a:latin typeface="標楷體" panose="03000509000000000000" pitchFamily="65" charset="-120"/>
                <a:ea typeface="標楷體" panose="03000509000000000000" pitchFamily="65" charset="-120"/>
              </a:rPr>
              <a:t>探討</a:t>
            </a:r>
            <a:endParaRPr lang="en-US" altLang="zh-TW" dirty="0" smtClean="0">
              <a:latin typeface="標楷體" panose="03000509000000000000" pitchFamily="65" charset="-120"/>
              <a:ea typeface="標楷體" panose="03000509000000000000" pitchFamily="65" charset="-120"/>
            </a:endParaRPr>
          </a:p>
          <a:p>
            <a:pPr marL="0" indent="0">
              <a:buNone/>
            </a:pPr>
            <a:endParaRPr lang="en-US" altLang="zh-TW" dirty="0" smtClean="0">
              <a:latin typeface="標楷體" panose="03000509000000000000" pitchFamily="65" charset="-120"/>
              <a:ea typeface="標楷體" panose="03000509000000000000" pitchFamily="65" charset="-120"/>
            </a:endParaRPr>
          </a:p>
          <a:p>
            <a:pPr marL="0" indent="0">
              <a:buNone/>
            </a:pPr>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3</a:t>
            </a:fld>
            <a:endParaRPr lang="zh-TW" altLang="en-US"/>
          </a:p>
        </p:txBody>
      </p:sp>
    </p:spTree>
    <p:extLst>
      <p:ext uri="{BB962C8B-B14F-4D97-AF65-F5344CB8AC3E}">
        <p14:creationId xmlns:p14="http://schemas.microsoft.com/office/powerpoint/2010/main" val="28705874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研究動機</a:t>
            </a:r>
            <a:endParaRPr lang="zh-TW" altLang="en-US" dirty="0"/>
          </a:p>
        </p:txBody>
      </p:sp>
      <p:sp>
        <p:nvSpPr>
          <p:cNvPr id="3" name="內容版面配置區 2"/>
          <p:cNvSpPr>
            <a:spLocks noGrp="1"/>
          </p:cNvSpPr>
          <p:nvPr>
            <p:ph idx="1"/>
          </p:nvPr>
        </p:nvSpPr>
        <p:spPr/>
        <p:txBody>
          <a:bodyPr/>
          <a:lstStyle/>
          <a:p>
            <a:pPr lvl="1"/>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延伸</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林亨利</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(2012)</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的模型</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，假定發行者不得贖回可轉換公司債</a:t>
            </a:r>
            <a:endParaRPr lang="en-US" altLang="zh-TW" dirty="0">
              <a:latin typeface="標楷體" panose="03000509000000000000" pitchFamily="65" charset="-120"/>
              <a:ea typeface="標楷體" panose="03000509000000000000" pitchFamily="65" charset="-120"/>
            </a:endParaRPr>
          </a:p>
          <a:p>
            <a:pPr marL="914400" lvl="2"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(i.e. pure convertible bond)</a:t>
            </a:r>
          </a:p>
          <a:p>
            <a:pPr lvl="1"/>
            <a:endParaRPr lang="en-US" altLang="zh-TW" dirty="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探討</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寡占</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(2</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人</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)CB</a:t>
            </a:r>
            <a:r>
              <a:rPr lang="zh-TW" altLang="en-US" dirty="0">
                <a:latin typeface="標楷體" panose="03000509000000000000" pitchFamily="65" charset="-120"/>
                <a:ea typeface="標楷體" panose="03000509000000000000" pitchFamily="65" charset="-120"/>
              </a:rPr>
              <a:t>持有者持有比例在相同以及懸殊的情況下的賽</a:t>
            </a:r>
            <a:r>
              <a:rPr lang="zh-TW" altLang="en-US" dirty="0" smtClean="0">
                <a:latin typeface="標楷體" panose="03000509000000000000" pitchFamily="65" charset="-120"/>
                <a:ea typeface="標楷體" panose="03000509000000000000" pitchFamily="65" charset="-120"/>
              </a:rPr>
              <a:t>局</a:t>
            </a:r>
            <a:endParaRPr lang="en-US" altLang="zh-TW" dirty="0" smtClean="0">
              <a:latin typeface="標楷體" panose="03000509000000000000" pitchFamily="65" charset="-120"/>
              <a:ea typeface="標楷體" panose="03000509000000000000" pitchFamily="65" charset="-120"/>
            </a:endParaRPr>
          </a:p>
          <a:p>
            <a:pPr lvl="1"/>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與獨佔和完全競爭債券持有型態進行比較</a:t>
            </a:r>
            <a:endParaRPr lang="en-US" altLang="zh-TW" dirty="0">
              <a:latin typeface="標楷體" panose="03000509000000000000" pitchFamily="65" charset="-120"/>
              <a:ea typeface="標楷體" panose="03000509000000000000" pitchFamily="65" charset="-120"/>
            </a:endParaRPr>
          </a:p>
          <a:p>
            <a:pPr lvl="1"/>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分析利率水準、票面利率及稅率對債券價格、當期</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CB</a:t>
            </a:r>
            <a:r>
              <a:rPr lang="zh-TW" altLang="en-US" dirty="0" smtClean="0">
                <a:latin typeface="標楷體" panose="03000509000000000000" pitchFamily="65" charset="-120"/>
                <a:ea typeface="標楷體" panose="03000509000000000000" pitchFamily="65" charset="-120"/>
              </a:rPr>
              <a:t>轉換策略的影響</a:t>
            </a:r>
            <a:endParaRPr lang="en-US" altLang="zh-TW" dirty="0">
              <a:latin typeface="標楷體" panose="03000509000000000000" pitchFamily="65" charset="-120"/>
              <a:ea typeface="標楷體" panose="03000509000000000000" pitchFamily="65" charset="-120"/>
            </a:endParaRPr>
          </a:p>
          <a:p>
            <a:pPr>
              <a:buFont typeface="Wingdings" panose="05000000000000000000" pitchFamily="2" charset="2"/>
              <a:buChar char="l"/>
            </a:pPr>
            <a:endParaRPr lang="en-US" altLang="zh-TW" dirty="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4</a:t>
            </a:fld>
            <a:endParaRPr lang="zh-TW" altLang="en-US"/>
          </a:p>
        </p:txBody>
      </p:sp>
    </p:spTree>
    <p:extLst>
      <p:ext uri="{BB962C8B-B14F-4D97-AF65-F5344CB8AC3E}">
        <p14:creationId xmlns:p14="http://schemas.microsoft.com/office/powerpoint/2010/main" val="23874439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文獻回顧─持有型態分析</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en-US" altLang="zh-TW" b="1" dirty="0" err="1">
                <a:latin typeface="標楷體" pitchFamily="65" charset="-120"/>
                <a:ea typeface="標楷體" pitchFamily="65" charset="-120"/>
              </a:rPr>
              <a:t>Constantinides</a:t>
            </a:r>
            <a:r>
              <a:rPr lang="en-US" altLang="zh-TW" b="1" dirty="0">
                <a:latin typeface="標楷體" pitchFamily="65" charset="-120"/>
                <a:ea typeface="標楷體" pitchFamily="65" charset="-120"/>
              </a:rPr>
              <a:t>(1984)</a:t>
            </a:r>
            <a:r>
              <a:rPr lang="zh-TW" altLang="en-US" dirty="0">
                <a:latin typeface="標楷體" pitchFamily="65" charset="-120"/>
                <a:ea typeface="標楷體" pitchFamily="65" charset="-120"/>
              </a:rPr>
              <a:t>中提出了公司權證</a:t>
            </a:r>
            <a:r>
              <a:rPr lang="en-US" altLang="zh-TW" dirty="0">
                <a:latin typeface="標楷體" pitchFamily="65" charset="-120"/>
                <a:ea typeface="標楷體" pitchFamily="65" charset="-120"/>
              </a:rPr>
              <a:t>(warrant)</a:t>
            </a:r>
            <a:r>
              <a:rPr lang="zh-TW" altLang="en-US" dirty="0">
                <a:latin typeface="標楷體" pitchFamily="65" charset="-120"/>
                <a:ea typeface="標楷體" pitchFamily="65" charset="-120"/>
              </a:rPr>
              <a:t>在塊狀履約、獨佔以及完全競爭的情況下的履約情形。其中：</a:t>
            </a:r>
            <a:endParaRPr lang="en-US" altLang="zh-TW" dirty="0">
              <a:latin typeface="標楷體" pitchFamily="65" charset="-120"/>
              <a:ea typeface="標楷體" pitchFamily="65" charset="-120"/>
            </a:endParaRPr>
          </a:p>
          <a:p>
            <a:pPr lvl="1"/>
            <a:r>
              <a:rPr lang="zh-TW" altLang="en-US" dirty="0">
                <a:latin typeface="標楷體" pitchFamily="65" charset="-120"/>
                <a:ea typeface="標楷體" pitchFamily="65" charset="-120"/>
              </a:rPr>
              <a:t>塊狀履約</a:t>
            </a:r>
            <a:r>
              <a:rPr lang="en-US" altLang="zh-TW" dirty="0">
                <a:latin typeface="標楷體" pitchFamily="65" charset="-120"/>
                <a:ea typeface="標楷體" pitchFamily="65" charset="-120"/>
              </a:rPr>
              <a:t>(block)</a:t>
            </a:r>
            <a:r>
              <a:rPr lang="zh-TW" altLang="en-US" dirty="0">
                <a:latin typeface="標楷體" pitchFamily="65" charset="-120"/>
                <a:ea typeface="標楷體" pitchFamily="65" charset="-120"/>
              </a:rPr>
              <a:t>：</a:t>
            </a:r>
            <a:r>
              <a:rPr lang="en-US" altLang="zh-TW" dirty="0">
                <a:latin typeface="標楷體" pitchFamily="65" charset="-120"/>
                <a:ea typeface="標楷體" pitchFamily="65" charset="-120"/>
              </a:rPr>
              <a:t/>
            </a:r>
            <a:br>
              <a:rPr lang="en-US" altLang="zh-TW" dirty="0">
                <a:latin typeface="標楷體" pitchFamily="65" charset="-120"/>
                <a:ea typeface="標楷體" pitchFamily="65" charset="-120"/>
              </a:rPr>
            </a:br>
            <a:r>
              <a:rPr lang="zh-TW" altLang="en-US" dirty="0">
                <a:latin typeface="標楷體" pitchFamily="65" charset="-120"/>
                <a:ea typeface="標楷體" pitchFamily="65" charset="-120"/>
              </a:rPr>
              <a:t>持有人履約時必須一次就將手中部位全數進行履約。</a:t>
            </a:r>
            <a:endParaRPr lang="en-US" altLang="zh-TW" dirty="0">
              <a:latin typeface="標楷體" pitchFamily="65" charset="-120"/>
              <a:ea typeface="標楷體" pitchFamily="65" charset="-120"/>
            </a:endParaRPr>
          </a:p>
          <a:p>
            <a:pPr lvl="1"/>
            <a:r>
              <a:rPr lang="zh-TW" altLang="en-US" dirty="0">
                <a:latin typeface="標楷體" pitchFamily="65" charset="-120"/>
                <a:ea typeface="標楷體" pitchFamily="65" charset="-120"/>
              </a:rPr>
              <a:t>分期履約</a:t>
            </a:r>
            <a:r>
              <a:rPr lang="en-US" altLang="zh-TW" dirty="0">
                <a:latin typeface="標楷體" pitchFamily="65" charset="-120"/>
                <a:ea typeface="標楷體" pitchFamily="65" charset="-120"/>
              </a:rPr>
              <a:t>(sequential):</a:t>
            </a:r>
            <a:br>
              <a:rPr lang="en-US" altLang="zh-TW" dirty="0">
                <a:latin typeface="標楷體" pitchFamily="65" charset="-120"/>
                <a:ea typeface="標楷體" pitchFamily="65" charset="-120"/>
              </a:rPr>
            </a:br>
            <a:r>
              <a:rPr lang="zh-TW" altLang="en-US" dirty="0">
                <a:latin typeface="標楷體" pitchFamily="65" charset="-120"/>
                <a:ea typeface="標楷體" pitchFamily="65" charset="-120"/>
              </a:rPr>
              <a:t>持有人履約時可以將手中未履約部分以任何比例進行履約動作。</a:t>
            </a:r>
            <a:endParaRPr lang="en-US" altLang="zh-TW" dirty="0">
              <a:latin typeface="標楷體" pitchFamily="65" charset="-120"/>
              <a:ea typeface="標楷體" pitchFamily="65" charset="-120"/>
            </a:endParaRPr>
          </a:p>
          <a:p>
            <a:pPr lvl="2"/>
            <a:r>
              <a:rPr lang="zh-TW" altLang="en-US" dirty="0">
                <a:latin typeface="標楷體" pitchFamily="65" charset="-120"/>
                <a:ea typeface="標楷體" pitchFamily="65" charset="-120"/>
              </a:rPr>
              <a:t>獨佔</a:t>
            </a:r>
            <a:r>
              <a:rPr lang="en-US" altLang="zh-TW" dirty="0">
                <a:latin typeface="標楷體" pitchFamily="65" charset="-120"/>
                <a:ea typeface="標楷體" pitchFamily="65" charset="-120"/>
              </a:rPr>
              <a:t>(monopoly)</a:t>
            </a:r>
          </a:p>
          <a:p>
            <a:pPr lvl="2"/>
            <a:r>
              <a:rPr lang="zh-TW" altLang="en-US" dirty="0">
                <a:latin typeface="標楷體" pitchFamily="65" charset="-120"/>
                <a:ea typeface="標楷體" pitchFamily="65" charset="-120"/>
              </a:rPr>
              <a:t>完全競爭</a:t>
            </a:r>
            <a:r>
              <a:rPr lang="en-US" altLang="zh-TW" dirty="0">
                <a:latin typeface="標楷體" pitchFamily="65" charset="-120"/>
                <a:ea typeface="標楷體" pitchFamily="65" charset="-120"/>
              </a:rPr>
              <a:t>(competitive</a:t>
            </a:r>
            <a:r>
              <a:rPr lang="en-US" altLang="zh-TW" dirty="0" smtClean="0">
                <a:latin typeface="標楷體" pitchFamily="65" charset="-120"/>
                <a:ea typeface="標楷體" pitchFamily="65" charset="-120"/>
              </a:rPr>
              <a:t>)</a:t>
            </a:r>
          </a:p>
          <a:p>
            <a:pPr lvl="1"/>
            <a:r>
              <a:rPr lang="zh-TW" altLang="en-US" dirty="0">
                <a:latin typeface="標楷體" pitchFamily="65" charset="-120"/>
                <a:ea typeface="標楷體" pitchFamily="65" charset="-120"/>
              </a:rPr>
              <a:t>可轉換公司債也同樣存在這個現象</a:t>
            </a:r>
          </a:p>
          <a:p>
            <a:pPr lvl="2"/>
            <a:endParaRPr lang="zh-TW" altLang="en-US" dirty="0">
              <a:latin typeface="標楷體" pitchFamily="65" charset="-120"/>
              <a:ea typeface="標楷體" pitchFamily="65" charset="-120"/>
            </a:endParaRPr>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5</a:t>
            </a:fld>
            <a:endParaRPr lang="zh-TW" altLang="en-US"/>
          </a:p>
        </p:txBody>
      </p:sp>
    </p:spTree>
    <p:extLst>
      <p:ext uri="{BB962C8B-B14F-4D97-AF65-F5344CB8AC3E}">
        <p14:creationId xmlns:p14="http://schemas.microsoft.com/office/powerpoint/2010/main" val="10483537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solidFill>
                  <a:prstClr val="black"/>
                </a:solidFill>
                <a:latin typeface="標楷體" panose="03000509000000000000" pitchFamily="65" charset="-120"/>
                <a:ea typeface="標楷體" panose="03000509000000000000" pitchFamily="65" charset="-120"/>
              </a:rPr>
              <a:t>文獻回顧─</a:t>
            </a:r>
            <a:r>
              <a:rPr lang="zh-TW" altLang="en-US" dirty="0" smtClean="0">
                <a:latin typeface="標楷體" panose="03000509000000000000" pitchFamily="65" charset="-120"/>
                <a:ea typeface="標楷體" panose="03000509000000000000" pitchFamily="65" charset="-120"/>
              </a:rPr>
              <a:t>賽局理論</a:t>
            </a:r>
            <a:endParaRPr lang="zh-TW" altLang="en-US" dirty="0">
              <a:latin typeface="標楷體" panose="03000509000000000000" pitchFamily="65" charset="-120"/>
              <a:ea typeface="標楷體" panose="03000509000000000000" pitchFamily="65" charset="-12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77500" lnSpcReduction="20000"/>
              </a:bodyPr>
              <a:lstStyle/>
              <a:p>
                <a:pPr algn="just">
                  <a:lnSpc>
                    <a:spcPct val="120000"/>
                  </a:lnSpc>
                </a:pPr>
                <a:r>
                  <a:rPr lang="zh-TW" altLang="zh-TW" b="1" dirty="0" smtClean="0">
                    <a:latin typeface="標楷體" panose="03000509000000000000" pitchFamily="65" charset="-120"/>
                    <a:ea typeface="標楷體" panose="03000509000000000000" pitchFamily="65" charset="-120"/>
                  </a:rPr>
                  <a:t>賽局</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(Game)</a:t>
                </a:r>
                <a:r>
                  <a:rPr lang="zh-TW" altLang="zh-TW" b="1" dirty="0">
                    <a:latin typeface="標楷體" panose="03000509000000000000" pitchFamily="65" charset="-120"/>
                    <a:ea typeface="標楷體" panose="03000509000000000000" pitchFamily="65" charset="-120"/>
                  </a:rPr>
                  <a:t>：</a:t>
                </a:r>
                <a:r>
                  <a:rPr lang="zh-TW" altLang="zh-TW" dirty="0">
                    <a:latin typeface="標楷體" panose="03000509000000000000" pitchFamily="65" charset="-120"/>
                    <a:ea typeface="標楷體" panose="03000509000000000000" pitchFamily="65" charset="-120"/>
                  </a:rPr>
                  <a:t>一場賽局包含了一些參賽者</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(players</a:t>
                </a:r>
                <a:r>
                  <a:rPr lang="zh-TW" altLang="zh-TW" dirty="0">
                    <a:latin typeface="標楷體" panose="03000509000000000000" pitchFamily="65" charset="-120"/>
                    <a:ea typeface="標楷體" panose="03000509000000000000" pitchFamily="65" charset="-120"/>
                  </a:rPr>
                  <a:t>，參賽者人數可以有限多人也可以無限多人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標楷體" panose="03000509000000000000" pitchFamily="65" charset="-120"/>
                    <a:ea typeface="標楷體" panose="03000509000000000000" pitchFamily="65" charset="-120"/>
                  </a:rPr>
                  <a:t>，每個參賽者各自有各自的策略集合</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sub>
                    </m:sSub>
                  </m:oMath>
                </a14:m>
                <a:r>
                  <a:rPr lang="zh-TW" altLang="zh-TW" dirty="0">
                    <a:latin typeface="標楷體" panose="03000509000000000000" pitchFamily="65" charset="-120"/>
                    <a:ea typeface="標楷體" panose="03000509000000000000" pitchFamily="65" charset="-120"/>
                  </a:rPr>
                  <a:t>和一個報酬函數</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(payoff function ) </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𝑖</m:t>
                        </m:r>
                      </m:sub>
                    </m:sSub>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𝑛</m:t>
                        </m:r>
                      </m:sub>
                    </m:sSub>
                    <m:r>
                      <a:rPr lang="en-US" altLang="zh-TW" i="1">
                        <a:latin typeface="Cambria Math" panose="02040503050406030204" pitchFamily="18" charset="0"/>
                      </a:rPr>
                      <m:t>→</m:t>
                    </m:r>
                    <m:r>
                      <a:rPr lang="en-US" altLang="zh-TW" i="1">
                        <a:latin typeface="Cambria Math" panose="02040503050406030204" pitchFamily="18" charset="0"/>
                      </a:rPr>
                      <m:t>𝑅</m:t>
                    </m:r>
                  </m:oMath>
                </a14:m>
                <a:r>
                  <a:rPr lang="zh-TW" altLang="zh-TW" dirty="0">
                    <a:latin typeface="標楷體" panose="03000509000000000000" pitchFamily="65" charset="-120"/>
                    <a:ea typeface="標楷體" panose="03000509000000000000" pitchFamily="65" charset="-120"/>
                  </a:rPr>
                  <a:t>，每個參賽者都想讓自己的報酬最佳化</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(optimal)</a:t>
                </a:r>
                <a:r>
                  <a:rPr lang="zh-TW" altLang="zh-TW" dirty="0">
                    <a:latin typeface="標楷體" panose="03000509000000000000" pitchFamily="65" charset="-120"/>
                    <a:ea typeface="標楷體" panose="03000509000000000000" pitchFamily="65" charset="-120"/>
                  </a:rPr>
                  <a:t>。</a:t>
                </a:r>
              </a:p>
              <a:p>
                <a:pPr algn="just"/>
                <a:endParaRPr lang="zh-TW" altLang="zh-TW" dirty="0">
                  <a:latin typeface="標楷體" panose="03000509000000000000" pitchFamily="65" charset="-120"/>
                  <a:ea typeface="標楷體" panose="03000509000000000000" pitchFamily="65" charset="-120"/>
                </a:endParaRPr>
              </a:p>
              <a:p>
                <a:pPr algn="just">
                  <a:lnSpc>
                    <a:spcPct val="12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Pure Nash Equilibrium</a:t>
                </a:r>
                <a:r>
                  <a:rPr lang="zh-TW" altLang="zh-TW" b="1"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smtClean="0">
                    <a:latin typeface="標楷體" panose="03000509000000000000" pitchFamily="65" charset="-120"/>
                    <a:ea typeface="標楷體" panose="03000509000000000000" pitchFamily="65" charset="-120"/>
                  </a:rPr>
                  <a:t>如果策略組合</a:t>
                </a:r>
                <a14:m>
                  <m:oMath xmlns:m="http://schemas.openxmlformats.org/officeDocument/2006/math">
                    <m:r>
                      <m:rPr>
                        <m:sty m:val="p"/>
                      </m:rPr>
                      <a:rPr lang="en-US" altLang="zh-TW">
                        <a:latin typeface="Cambria Math" panose="02040503050406030204" pitchFamily="18" charset="0"/>
                      </a:rPr>
                      <m:t>s</m:t>
                    </m:r>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1</m:t>
                        </m:r>
                      </m:sub>
                    </m:sSub>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𝑛</m:t>
                        </m:r>
                      </m:sub>
                    </m:sSub>
                    <m:r>
                      <a:rPr lang="en-US" altLang="zh-TW">
                        <a:latin typeface="Cambria Math" panose="02040503050406030204" pitchFamily="18" charset="0"/>
                      </a:rPr>
                      <m:t>)</m:t>
                    </m:r>
                  </m:oMath>
                </a14:m>
                <a:r>
                  <a:rPr lang="zh-TW" altLang="zh-TW" dirty="0">
                    <a:latin typeface="標楷體" panose="03000509000000000000" pitchFamily="65" charset="-120"/>
                    <a:ea typeface="標楷體" panose="03000509000000000000" pitchFamily="65" charset="-120"/>
                  </a:rPr>
                  <a:t>，</a:t>
                </a:r>
                <a:r>
                  <a:rPr lang="zh-TW" altLang="zh-TW" dirty="0" smtClean="0">
                    <a:latin typeface="標楷體" panose="03000509000000000000" pitchFamily="65" charset="-120"/>
                    <a:ea typeface="標楷體" panose="03000509000000000000" pitchFamily="65" charset="-120"/>
                  </a:rPr>
                  <a:t>對於</a:t>
                </a:r>
                <a:r>
                  <a:rPr lang="zh-TW" altLang="zh-TW" dirty="0">
                    <a:latin typeface="標楷體" panose="03000509000000000000" pitchFamily="65" charset="-120"/>
                    <a:ea typeface="標楷體" panose="03000509000000000000" pitchFamily="65" charset="-120"/>
                  </a:rPr>
                  <a:t>每個參賽者</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i</a:t>
                </a:r>
                <a:r>
                  <a:rPr lang="zh-TW" altLang="zh-TW" dirty="0">
                    <a:latin typeface="標楷體" panose="03000509000000000000" pitchFamily="65" charset="-120"/>
                    <a:ea typeface="標楷體" panose="03000509000000000000" pitchFamily="65" charset="-120"/>
                  </a:rPr>
                  <a:t>，滿足</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1</m:t>
                            </m:r>
                          </m:sub>
                        </m:sSub>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𝑖</m:t>
                            </m:r>
                          </m:sub>
                        </m:sSub>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𝑛</m:t>
                            </m:r>
                          </m:sub>
                        </m:sSub>
                      </m:e>
                    </m:d>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1</m:t>
                            </m:r>
                          </m:sub>
                        </m:sSub>
                        <m:r>
                          <a:rPr lang="en-US" altLang="zh-TW">
                            <a:latin typeface="Cambria Math" panose="02040503050406030204" pitchFamily="18" charset="0"/>
                          </a:rPr>
                          <m:t>,⋯,</m:t>
                        </m:r>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𝑠</m:t>
                            </m:r>
                          </m:e>
                          <m:sub>
                            <m:r>
                              <a:rPr lang="en-US" altLang="zh-TW" i="1">
                                <a:latin typeface="Cambria Math" panose="02040503050406030204" pitchFamily="18" charset="0"/>
                              </a:rPr>
                              <m:t>𝑖</m:t>
                            </m:r>
                          </m:sub>
                          <m:sup>
                            <m:r>
                              <a:rPr lang="en-US" altLang="zh-TW" i="1">
                                <a:latin typeface="Cambria Math" panose="02040503050406030204" pitchFamily="18" charset="0"/>
                              </a:rPr>
                              <m:t>′</m:t>
                            </m:r>
                          </m:sup>
                        </m:sSubSup>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𝑛</m:t>
                            </m:r>
                          </m:sub>
                        </m:sSub>
                      </m:e>
                    </m:d>
                    <m:r>
                      <a:rPr lang="en-US" altLang="zh-TW">
                        <a:latin typeface="Cambria Math" panose="02040503050406030204" pitchFamily="18" charset="0"/>
                      </a:rPr>
                      <m:t>,</m:t>
                    </m:r>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 </m:t>
                        </m:r>
                        <m:r>
                          <a:rPr lang="en-US" altLang="zh-TW" i="1">
                            <a:latin typeface="Cambria Math" panose="02040503050406030204" pitchFamily="18" charset="0"/>
                          </a:rPr>
                          <m:t>𝑠</m:t>
                        </m:r>
                      </m:e>
                      <m:sub>
                        <m:r>
                          <a:rPr lang="en-US" altLang="zh-TW" i="1">
                            <a:latin typeface="Cambria Math" panose="02040503050406030204" pitchFamily="18" charset="0"/>
                          </a:rPr>
                          <m:t>𝑖</m:t>
                        </m:r>
                      </m:sub>
                      <m:sup>
                        <m:r>
                          <a:rPr lang="en-US" altLang="zh-TW" i="1">
                            <a:latin typeface="Cambria Math" panose="02040503050406030204" pitchFamily="18" charset="0"/>
                          </a:rPr>
                          <m:t>′</m:t>
                        </m:r>
                      </m:sup>
                    </m:sSubSup>
                    <m:r>
                      <a:rPr lang="en-US" altLang="zh-TW" i="1">
                        <a:latin typeface="Cambria Math" panose="02040503050406030204" pitchFamily="18" charset="0"/>
                      </a:rPr>
                      <m:t>𝜖</m:t>
                    </m:r>
                    <m:sSub>
                      <m:sSubPr>
                        <m:ctrlPr>
                          <a:rPr lang="zh-TW"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sub>
                    </m:sSub>
                  </m:oMath>
                </a14:m>
                <a:r>
                  <a:rPr lang="en-US" altLang="zh-TW" dirty="0">
                    <a:latin typeface="標楷體" panose="03000509000000000000" pitchFamily="65" charset="-120"/>
                    <a:ea typeface="標楷體" panose="03000509000000000000" pitchFamily="65" charset="-120"/>
                  </a:rPr>
                  <a:t> </a:t>
                </a:r>
                <a:r>
                  <a:rPr lang="zh-TW" altLang="zh-TW" dirty="0">
                    <a:latin typeface="標楷體" panose="03000509000000000000" pitchFamily="65" charset="-120"/>
                    <a:ea typeface="標楷體" panose="03000509000000000000" pitchFamily="65" charset="-120"/>
                  </a:rPr>
                  <a:t>，則我們稱策略組合</a:t>
                </a:r>
                <a14:m>
                  <m:oMath xmlns:m="http://schemas.openxmlformats.org/officeDocument/2006/math">
                    <m:r>
                      <m:rPr>
                        <m:sty m:val="p"/>
                      </m:rPr>
                      <a:rPr lang="en-US" altLang="zh-TW">
                        <a:latin typeface="Cambria Math" panose="02040503050406030204" pitchFamily="18" charset="0"/>
                      </a:rPr>
                      <m:t>s</m:t>
                    </m:r>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1</m:t>
                        </m:r>
                      </m:sub>
                    </m:sSub>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𝑛</m:t>
                        </m:r>
                      </m:sub>
                    </m:sSub>
                    <m:r>
                      <a:rPr lang="en-US" altLang="zh-TW">
                        <a:latin typeface="Cambria Math" panose="02040503050406030204" pitchFamily="18" charset="0"/>
                      </a:rPr>
                      <m:t>)</m:t>
                    </m:r>
                  </m:oMath>
                </a14:m>
                <a:r>
                  <a:rPr lang="zh-TW" altLang="zh-TW" dirty="0">
                    <a:latin typeface="標楷體" panose="03000509000000000000" pitchFamily="65" charset="-120"/>
                    <a:ea typeface="標楷體" panose="03000509000000000000" pitchFamily="65" charset="-120"/>
                  </a:rPr>
                  <a:t>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Pure Nash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Equilibrium</a:t>
                </a:r>
                <a:r>
                  <a:rPr lang="zh-TW" altLang="zh-TW" dirty="0" smtClean="0">
                    <a:latin typeface="標楷體" panose="03000509000000000000" pitchFamily="65" charset="-120"/>
                    <a:ea typeface="標楷體" panose="03000509000000000000" pitchFamily="65" charset="-120"/>
                  </a:rPr>
                  <a:t>。</a:t>
                </a:r>
              </a:p>
              <a:p>
                <a:pPr algn="just"/>
                <a:endParaRPr lang="zh-TW" altLang="zh-TW" dirty="0" smtClean="0">
                  <a:latin typeface="標楷體" panose="03000509000000000000" pitchFamily="65" charset="-120"/>
                  <a:ea typeface="標楷體" panose="03000509000000000000" pitchFamily="65" charset="-120"/>
                </a:endParaRPr>
              </a:p>
              <a:p>
                <a:pPr algn="just">
                  <a:lnSpc>
                    <a:spcPct val="120000"/>
                  </a:lnSpc>
                </a:pPr>
                <a:r>
                  <a:rPr lang="en-US" altLang="zh-TW" b="1" dirty="0" smtClean="0">
                    <a:latin typeface="Times New Roman" panose="02020603050405020304" pitchFamily="18" charset="0"/>
                    <a:ea typeface="標楷體" panose="03000509000000000000" pitchFamily="65" charset="-120"/>
                    <a:cs typeface="Times New Roman" panose="02020603050405020304" pitchFamily="18" charset="0"/>
                  </a:rPr>
                  <a:t>ε-</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 Nash Equilibrium</a:t>
                </a:r>
                <a:r>
                  <a:rPr lang="zh-TW" altLang="zh-TW"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標楷體" panose="03000509000000000000" pitchFamily="65" charset="-120"/>
                    <a:ea typeface="標楷體" panose="03000509000000000000" pitchFamily="65" charset="-120"/>
                  </a:rPr>
                  <a:t>對於一個</a:t>
                </a:r>
                <a14:m>
                  <m:oMath xmlns:m="http://schemas.openxmlformats.org/officeDocument/2006/math">
                    <m:r>
                      <m:rPr>
                        <m:sty m:val="p"/>
                      </m:rPr>
                      <a:rPr lang="en-US" altLang="zh-TW">
                        <a:latin typeface="Cambria Math" panose="02040503050406030204" pitchFamily="18" charset="0"/>
                      </a:rPr>
                      <m:t>ε</m:t>
                    </m:r>
                    <m:r>
                      <a:rPr lang="en-US" altLang="zh-TW">
                        <a:latin typeface="Cambria Math" panose="02040503050406030204" pitchFamily="18" charset="0"/>
                      </a:rPr>
                      <m:t>&gt;0</m:t>
                    </m:r>
                  </m:oMath>
                </a14:m>
                <a:r>
                  <a:rPr lang="zh-TW" altLang="en-US" dirty="0" smtClean="0">
                    <a:latin typeface="標楷體" panose="03000509000000000000" pitchFamily="65" charset="-120"/>
                    <a:ea typeface="標楷體" panose="03000509000000000000" pitchFamily="65" charset="-120"/>
                  </a:rPr>
                  <a:t>，</a:t>
                </a:r>
                <a:r>
                  <a:rPr lang="zh-TW" altLang="zh-TW" dirty="0">
                    <a:latin typeface="標楷體" panose="03000509000000000000" pitchFamily="65" charset="-120"/>
                    <a:ea typeface="標楷體" panose="03000509000000000000" pitchFamily="65" charset="-120"/>
                  </a:rPr>
                  <a:t>我們稱策略組合</a:t>
                </a:r>
                <a14:m>
                  <m:oMath xmlns:m="http://schemas.openxmlformats.org/officeDocument/2006/math">
                    <m:r>
                      <m:rPr>
                        <m:sty m:val="p"/>
                      </m:rPr>
                      <a:rPr lang="en-US" altLang="zh-TW">
                        <a:latin typeface="Cambria Math" panose="02040503050406030204" pitchFamily="18" charset="0"/>
                      </a:rPr>
                      <m:t>s</m:t>
                    </m:r>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1</m:t>
                        </m:r>
                      </m:sub>
                    </m:sSub>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𝑛</m:t>
                        </m:r>
                      </m:sub>
                    </m:sSub>
                    <m:r>
                      <a:rPr lang="en-US" altLang="zh-TW">
                        <a:latin typeface="Cambria Math" panose="02040503050406030204" pitchFamily="18" charset="0"/>
                      </a:rPr>
                      <m:t>)</m:t>
                    </m:r>
                  </m:oMath>
                </a14:m>
                <a:r>
                  <a:rPr lang="zh-TW" altLang="zh-TW" dirty="0">
                    <a:latin typeface="標楷體" panose="03000509000000000000" pitchFamily="65" charset="-120"/>
                    <a:ea typeface="標楷體" panose="03000509000000000000" pitchFamily="65" charset="-120"/>
                  </a:rPr>
                  <a:t>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ε- Nash Equilibrium </a:t>
                </a:r>
                <a:r>
                  <a:rPr lang="zh-TW" altLang="en-US" dirty="0" smtClean="0">
                    <a:latin typeface="標楷體" panose="03000509000000000000" pitchFamily="65" charset="-120"/>
                    <a:ea typeface="標楷體" panose="03000509000000000000" pitchFamily="65" charset="-120"/>
                  </a:rPr>
                  <a:t>，其定義為</a:t>
                </a:r>
                <a:r>
                  <a:rPr lang="zh-TW" altLang="zh-TW" dirty="0" smtClean="0">
                    <a:latin typeface="標楷體" panose="03000509000000000000" pitchFamily="65" charset="-120"/>
                    <a:ea typeface="標楷體" panose="03000509000000000000" pitchFamily="65" charset="-120"/>
                  </a:rPr>
                  <a:t>對於</a:t>
                </a:r>
                <a:r>
                  <a:rPr lang="zh-TW" altLang="zh-TW" dirty="0">
                    <a:latin typeface="標楷體" panose="03000509000000000000" pitchFamily="65" charset="-120"/>
                    <a:ea typeface="標楷體" panose="03000509000000000000" pitchFamily="65" charset="-120"/>
                  </a:rPr>
                  <a:t>每個參賽者</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i</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dirty="0" smtClean="0">
                    <a:latin typeface="標楷體" panose="03000509000000000000" pitchFamily="65" charset="-120"/>
                    <a:ea typeface="標楷體" panose="03000509000000000000" pitchFamily="65" charset="-120"/>
                  </a:rPr>
                  <a:t>，若</a:t>
                </a:r>
                <a:r>
                  <a:rPr lang="zh-TW" altLang="en-US" dirty="0" smtClean="0">
                    <a:latin typeface="標楷體" panose="03000509000000000000" pitchFamily="65" charset="-120"/>
                    <a:ea typeface="標楷體" panose="03000509000000000000" pitchFamily="65" charset="-120"/>
                  </a:rPr>
                  <a:t>此</a:t>
                </a:r>
                <a:r>
                  <a:rPr lang="zh-TW" altLang="zh-TW" dirty="0" smtClean="0">
                    <a:latin typeface="標楷體" panose="03000509000000000000" pitchFamily="65" charset="-120"/>
                    <a:ea typeface="標楷體" panose="03000509000000000000" pitchFamily="65" charset="-120"/>
                  </a:rPr>
                  <a:t>策略</a:t>
                </a:r>
                <a:r>
                  <a:rPr lang="zh-TW" altLang="zh-TW" dirty="0">
                    <a:latin typeface="標楷體" panose="03000509000000000000" pitchFamily="65" charset="-120"/>
                    <a:ea typeface="標楷體" panose="03000509000000000000" pitchFamily="65" charset="-120"/>
                  </a:rPr>
                  <a:t>組合滿足</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1</m:t>
                            </m:r>
                          </m:sub>
                        </m:sSub>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𝑖</m:t>
                            </m:r>
                          </m:sub>
                        </m:sSub>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𝑛</m:t>
                            </m:r>
                          </m:sub>
                        </m:sSub>
                      </m:e>
                    </m:d>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1</m:t>
                            </m:r>
                          </m:sub>
                        </m:sSub>
                        <m:r>
                          <a:rPr lang="en-US" altLang="zh-TW">
                            <a:latin typeface="Cambria Math" panose="02040503050406030204" pitchFamily="18" charset="0"/>
                          </a:rPr>
                          <m:t>,⋯,</m:t>
                        </m:r>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𝑠</m:t>
                            </m:r>
                          </m:e>
                          <m:sub>
                            <m:r>
                              <a:rPr lang="en-US" altLang="zh-TW" i="1">
                                <a:latin typeface="Cambria Math" panose="02040503050406030204" pitchFamily="18" charset="0"/>
                              </a:rPr>
                              <m:t>𝑖</m:t>
                            </m:r>
                          </m:sub>
                          <m:sup>
                            <m:r>
                              <a:rPr lang="en-US" altLang="zh-TW" i="1">
                                <a:latin typeface="Cambria Math" panose="02040503050406030204" pitchFamily="18" charset="0"/>
                              </a:rPr>
                              <m:t>′</m:t>
                            </m:r>
                          </m:sup>
                        </m:sSubSup>
                        <m:r>
                          <a:rPr lang="en-US" altLang="zh-TW">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i="1">
                                <a:latin typeface="Cambria Math" panose="02040503050406030204" pitchFamily="18" charset="0"/>
                              </a:rPr>
                              <m:t>𝑛</m:t>
                            </m:r>
                          </m:sub>
                        </m:sSub>
                      </m:e>
                    </m:d>
                    <m:r>
                      <a:rPr lang="en-US" altLang="zh-TW" i="1">
                        <a:latin typeface="Cambria Math" panose="02040503050406030204" pitchFamily="18" charset="0"/>
                      </a:rPr>
                      <m:t>−</m:t>
                    </m:r>
                    <m:r>
                      <a:rPr lang="en-US" altLang="zh-TW" i="1">
                        <a:latin typeface="Cambria Math" panose="02040503050406030204" pitchFamily="18" charset="0"/>
                      </a:rPr>
                      <m:t>𝜀</m:t>
                    </m:r>
                    <m:r>
                      <a:rPr lang="en-US" altLang="zh-TW">
                        <a:latin typeface="Cambria Math" panose="02040503050406030204" pitchFamily="18" charset="0"/>
                      </a:rPr>
                      <m:t>,∀ </m:t>
                    </m:r>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𝑠</m:t>
                        </m:r>
                      </m:e>
                      <m:sub>
                        <m:r>
                          <a:rPr lang="en-US" altLang="zh-TW" i="1">
                            <a:latin typeface="Cambria Math" panose="02040503050406030204" pitchFamily="18" charset="0"/>
                          </a:rPr>
                          <m:t>𝑖</m:t>
                        </m:r>
                      </m:sub>
                      <m:sup>
                        <m:r>
                          <a:rPr lang="en-US" altLang="zh-TW" i="1">
                            <a:latin typeface="Cambria Math" panose="02040503050406030204" pitchFamily="18" charset="0"/>
                          </a:rPr>
                          <m:t>′</m:t>
                        </m:r>
                      </m:sup>
                    </m:sSubSup>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sub>
                    </m:sSub>
                  </m:oMath>
                </a14:m>
                <a:r>
                  <a:rPr lang="en-US" altLang="zh-TW" dirty="0">
                    <a:latin typeface="標楷體" panose="03000509000000000000" pitchFamily="65" charset="-120"/>
                    <a:ea typeface="標楷體" panose="03000509000000000000" pitchFamily="65" charset="-120"/>
                  </a:rPr>
                  <a:t> </a:t>
                </a:r>
                <a:r>
                  <a:rPr lang="zh-TW" altLang="zh-TW" dirty="0" smtClean="0">
                    <a:latin typeface="標楷體" panose="03000509000000000000" pitchFamily="65" charset="-120"/>
                    <a:ea typeface="標楷體" panose="03000509000000000000" pitchFamily="65" charset="-120"/>
                  </a:rPr>
                  <a:t>。</a:t>
                </a:r>
                <a:endParaRPr lang="zh-TW" altLang="zh-TW" dirty="0">
                  <a:latin typeface="標楷體" panose="03000509000000000000" pitchFamily="65" charset="-120"/>
                  <a:ea typeface="標楷體" panose="03000509000000000000" pitchFamily="65" charset="-120"/>
                </a:endParaRPr>
              </a:p>
              <a:p>
                <a:endParaRPr lang="zh-TW" altLang="en-US" dirty="0">
                  <a:latin typeface="標楷體" panose="03000509000000000000" pitchFamily="65" charset="-120"/>
                  <a:ea typeface="標楷體" panose="03000509000000000000" pitchFamily="65"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696" t="-840" r="-156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6</a:t>
            </a:fld>
            <a:endParaRPr lang="zh-TW" altLang="en-US"/>
          </a:p>
        </p:txBody>
      </p:sp>
    </p:spTree>
    <p:extLst>
      <p:ext uri="{BB962C8B-B14F-4D97-AF65-F5344CB8AC3E}">
        <p14:creationId xmlns:p14="http://schemas.microsoft.com/office/powerpoint/2010/main" val="27398651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文獻回顧─</a:t>
            </a:r>
            <a:r>
              <a:rPr lang="zh-TW" altLang="en-US" dirty="0" smtClean="0">
                <a:solidFill>
                  <a:prstClr val="black"/>
                </a:solidFill>
                <a:latin typeface="標楷體" panose="03000509000000000000" pitchFamily="65" charset="-120"/>
                <a:ea typeface="標楷體" panose="03000509000000000000" pitchFamily="65" charset="-120"/>
              </a:rPr>
              <a:t>賽</a:t>
            </a:r>
            <a:r>
              <a:rPr lang="zh-TW" altLang="en-US" dirty="0">
                <a:solidFill>
                  <a:prstClr val="black"/>
                </a:solidFill>
                <a:latin typeface="標楷體" panose="03000509000000000000" pitchFamily="65" charset="-120"/>
                <a:ea typeface="標楷體" panose="03000509000000000000" pitchFamily="65" charset="-120"/>
              </a:rPr>
              <a:t>局理論</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85000" lnSpcReduction="10000"/>
              </a:bodyPr>
              <a:lstStyle/>
              <a:p>
                <a:pPr algn="just">
                  <a:lnSpc>
                    <a:spcPct val="110000"/>
                  </a:lnSpc>
                </a:pP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Best response</a:t>
                </a:r>
                <a:r>
                  <a:rPr lang="zh-TW" altLang="zh-TW" sz="2400"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400" dirty="0">
                    <a:latin typeface="標楷體" panose="03000509000000000000" pitchFamily="65" charset="-120"/>
                    <a:ea typeface="標楷體" panose="03000509000000000000" pitchFamily="65" charset="-120"/>
                  </a:rPr>
                  <a:t>對於一位賽局參賽者</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i</a:t>
                </a:r>
                <a:r>
                  <a:rPr lang="zh-TW" altLang="zh-TW" sz="2400" dirty="0">
                    <a:latin typeface="標楷體" panose="03000509000000000000" pitchFamily="65" charset="-120"/>
                    <a:ea typeface="標楷體" panose="03000509000000000000" pitchFamily="65" charset="-120"/>
                  </a:rPr>
                  <a:t>，若給定其他參賽者採用的策略為</a:t>
                </a:r>
                <a14:m>
                  <m:oMath xmlns:m="http://schemas.openxmlformats.org/officeDocument/2006/math">
                    <m:d>
                      <m:dPr>
                        <m:ctrlPr>
                          <a:rPr lang="zh-TW" altLang="zh-TW" sz="2400" i="1">
                            <a:latin typeface="Cambria Math" panose="02040503050406030204" pitchFamily="18" charset="0"/>
                          </a:rPr>
                        </m:ctrlPr>
                      </m:dPr>
                      <m:e>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1</m:t>
                            </m:r>
                          </m:sub>
                        </m:sSub>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Sub>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𝑛</m:t>
                            </m:r>
                          </m:sub>
                        </m:sSub>
                      </m:e>
                    </m:d>
                  </m:oMath>
                </a14:m>
                <a:r>
                  <a:rPr lang="zh-TW" altLang="zh-TW" sz="2400" dirty="0">
                    <a:latin typeface="標楷體" panose="03000509000000000000" pitchFamily="65" charset="-120"/>
                    <a:ea typeface="標楷體" panose="03000509000000000000" pitchFamily="65" charset="-120"/>
                  </a:rPr>
                  <a:t>，其策略 </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𝑖</m:t>
                        </m:r>
                      </m:sub>
                    </m:sSub>
                  </m:oMath>
                </a14:m>
                <a:r>
                  <a:rPr lang="en-US" altLang="zh-TW" sz="2400" dirty="0">
                    <a:latin typeface="標楷體" panose="03000509000000000000" pitchFamily="65" charset="-120"/>
                    <a:ea typeface="標楷體" panose="03000509000000000000" pitchFamily="65" charset="-120"/>
                  </a:rPr>
                  <a:t> </a:t>
                </a:r>
                <a:r>
                  <a:rPr lang="zh-TW" altLang="zh-TW" sz="2400" dirty="0">
                    <a:latin typeface="標楷體" panose="03000509000000000000" pitchFamily="65" charset="-120"/>
                    <a:ea typeface="標楷體" panose="03000509000000000000" pitchFamily="65" charset="-120"/>
                  </a:rPr>
                  <a:t>能使參賽者</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i</a:t>
                </a:r>
                <a:r>
                  <a:rPr lang="zh-TW" altLang="zh-TW" sz="2400" dirty="0">
                    <a:latin typeface="標楷體" panose="03000509000000000000" pitchFamily="65" charset="-120"/>
                    <a:ea typeface="標楷體" panose="03000509000000000000" pitchFamily="65" charset="-120"/>
                  </a:rPr>
                  <a:t>自身報酬最佳</a:t>
                </a:r>
                <a:r>
                  <a:rPr lang="en-US" altLang="zh-TW" sz="2400" dirty="0">
                    <a:latin typeface="標楷體" panose="03000509000000000000" pitchFamily="65" charset="-120"/>
                    <a:ea typeface="標楷體" panose="03000509000000000000" pitchFamily="65" charset="-120"/>
                  </a:rPr>
                  <a:t>(</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𝑖</m:t>
                        </m:r>
                      </m:sub>
                    </m:sSub>
                    <m:d>
                      <m:dPr>
                        <m:ctrlPr>
                          <a:rPr lang="zh-TW" altLang="zh-TW" sz="2400" i="1">
                            <a:latin typeface="Cambria Math" panose="02040503050406030204" pitchFamily="18" charset="0"/>
                          </a:rPr>
                        </m:ctrlPr>
                      </m:dPr>
                      <m:e>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1</m:t>
                            </m:r>
                          </m:sub>
                        </m:sSub>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𝑛</m:t>
                            </m:r>
                          </m:sub>
                        </m:sSub>
                      </m:e>
                    </m:d>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𝑖</m:t>
                        </m:r>
                      </m:sub>
                    </m:sSub>
                    <m:d>
                      <m:dPr>
                        <m:ctrlPr>
                          <a:rPr lang="zh-TW" altLang="zh-TW" sz="2400" i="1">
                            <a:latin typeface="Cambria Math" panose="02040503050406030204" pitchFamily="18" charset="0"/>
                          </a:rPr>
                        </m:ctrlPr>
                      </m:dPr>
                      <m:e>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1</m:t>
                            </m:r>
                          </m:sub>
                        </m:sSub>
                        <m:r>
                          <a:rPr lang="en-US" altLang="zh-TW" sz="2400">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m:t>
                            </m:r>
                          </m:sup>
                        </m:sSubSup>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𝑛</m:t>
                            </m:r>
                          </m:sub>
                        </m:sSub>
                      </m:e>
                    </m:d>
                    <m:r>
                      <a:rPr lang="en-US" altLang="zh-TW" sz="2400" i="1">
                        <a:latin typeface="Cambria Math" panose="02040503050406030204" pitchFamily="18" charset="0"/>
                      </a:rPr>
                      <m:t> </m:t>
                    </m:r>
                    <m:r>
                      <a:rPr lang="en-US" altLang="zh-TW" sz="2400">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 </m:t>
                        </m:r>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m:t>
                        </m:r>
                      </m:sup>
                    </m:sSubSup>
                    <m:r>
                      <a:rPr lang="en-US" altLang="zh-TW" sz="2400" i="1">
                        <a:latin typeface="Cambria Math" panose="02040503050406030204" pitchFamily="18" charset="0"/>
                      </a:rPr>
                      <m:t>𝜖</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𝑖</m:t>
                        </m:r>
                      </m:sub>
                    </m:sSub>
                  </m:oMath>
                </a14:m>
                <a:r>
                  <a:rPr lang="en-US" altLang="zh-TW" sz="2400" dirty="0">
                    <a:latin typeface="標楷體" panose="03000509000000000000" pitchFamily="65" charset="-120"/>
                    <a:ea typeface="標楷體" panose="03000509000000000000" pitchFamily="65" charset="-120"/>
                  </a:rPr>
                  <a:t>)</a:t>
                </a:r>
                <a:r>
                  <a:rPr lang="zh-TW" altLang="zh-TW" sz="2400" dirty="0">
                    <a:latin typeface="標楷體" panose="03000509000000000000" pitchFamily="65" charset="-120"/>
                    <a:ea typeface="標楷體" panose="03000509000000000000" pitchFamily="65" charset="-120"/>
                  </a:rPr>
                  <a:t>，我們稱其策略</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Sub>
                  </m:oMath>
                </a14:m>
                <a:r>
                  <a:rPr lang="zh-TW" altLang="zh-TW" sz="2400" dirty="0">
                    <a:latin typeface="標楷體" panose="03000509000000000000" pitchFamily="65" charset="-120"/>
                    <a:ea typeface="標楷體" panose="03000509000000000000" pitchFamily="65" charset="-120"/>
                  </a:rPr>
                  <a:t>為</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best response</a:t>
                </a:r>
                <a:r>
                  <a:rPr lang="zh-TW" altLang="zh-TW" sz="2400" dirty="0" smtClean="0">
                    <a:latin typeface="標楷體" panose="03000509000000000000" pitchFamily="65" charset="-120"/>
                    <a:ea typeface="標楷體" panose="03000509000000000000" pitchFamily="65" charset="-120"/>
                  </a:rPr>
                  <a:t>。</a:t>
                </a:r>
                <a:endParaRPr lang="en-US" altLang="zh-TW" sz="2400" dirty="0" smtClean="0">
                  <a:latin typeface="標楷體" panose="03000509000000000000" pitchFamily="65" charset="-120"/>
                  <a:ea typeface="標楷體" panose="03000509000000000000" pitchFamily="65" charset="-120"/>
                </a:endParaRPr>
              </a:p>
              <a:p>
                <a:pPr algn="just">
                  <a:lnSpc>
                    <a:spcPct val="110000"/>
                  </a:lnSpc>
                </a:pPr>
                <a:endParaRPr lang="zh-TW" altLang="zh-TW" sz="2400" dirty="0">
                  <a:latin typeface="標楷體" panose="03000509000000000000" pitchFamily="65" charset="-120"/>
                  <a:ea typeface="標楷體" panose="03000509000000000000" pitchFamily="65" charset="-120"/>
                </a:endParaRPr>
              </a:p>
              <a:p>
                <a:pPr algn="just">
                  <a:lnSpc>
                    <a:spcPct val="110000"/>
                  </a:lnSpc>
                </a:pPr>
                <a:r>
                  <a:rPr lang="zh-TW" altLang="zh-TW" sz="2400" dirty="0">
                    <a:latin typeface="標楷體" panose="03000509000000000000" pitchFamily="65" charset="-120"/>
                    <a:ea typeface="標楷體" panose="03000509000000000000" pitchFamily="65" charset="-120"/>
                  </a:rPr>
                  <a:t>如果存在一個函數 </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1</m:t>
                        </m:r>
                      </m:sub>
                    </m:sSub>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Sub>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𝑛</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𝑖</m:t>
                        </m:r>
                      </m:sub>
                    </m:sSub>
                  </m:oMath>
                </a14:m>
                <a:r>
                  <a:rPr lang="zh-TW" altLang="zh-TW" sz="2400" dirty="0">
                    <a:latin typeface="標楷體" panose="03000509000000000000" pitchFamily="65" charset="-120"/>
                    <a:ea typeface="標楷體" panose="03000509000000000000" pitchFamily="65" charset="-120"/>
                  </a:rPr>
                  <a:t>，任意給定一組參賽者策略</a:t>
                </a:r>
                <a14:m>
                  <m:oMath xmlns:m="http://schemas.openxmlformats.org/officeDocument/2006/math">
                    <m:d>
                      <m:dPr>
                        <m:ctrlPr>
                          <a:rPr lang="zh-TW" altLang="zh-TW" sz="2400" i="1">
                            <a:latin typeface="Cambria Math" panose="02040503050406030204" pitchFamily="18" charset="0"/>
                          </a:rPr>
                        </m:ctrlPr>
                      </m:dPr>
                      <m:e>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i="1">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𝑛</m:t>
                            </m:r>
                          </m:sub>
                          <m:sup>
                            <m:r>
                              <a:rPr lang="en-US" altLang="zh-TW" sz="2400" i="1">
                                <a:latin typeface="Cambria Math" panose="02040503050406030204" pitchFamily="18" charset="0"/>
                              </a:rPr>
                              <m:t>∗</m:t>
                            </m:r>
                          </m:sup>
                        </m:sSubSup>
                      </m:e>
                    </m:d>
                  </m:oMath>
                </a14:m>
                <a:r>
                  <a:rPr lang="zh-TW" altLang="zh-TW" sz="2400" dirty="0">
                    <a:latin typeface="標楷體" panose="03000509000000000000" pitchFamily="65" charset="-120"/>
                    <a:ea typeface="標楷體" panose="03000509000000000000" pitchFamily="65" charset="-120"/>
                  </a:rPr>
                  <a:t>使得</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𝑖</m:t>
                        </m:r>
                      </m:sub>
                    </m:sSub>
                    <m:d>
                      <m:dPr>
                        <m:ctrlPr>
                          <a:rPr lang="zh-TW" altLang="zh-TW" sz="2400" i="1">
                            <a:latin typeface="Cambria Math" panose="02040503050406030204" pitchFamily="18" charset="0"/>
                          </a:rPr>
                        </m:ctrlPr>
                      </m:dPr>
                      <m:e>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i="1">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𝑛</m:t>
                            </m:r>
                          </m:sub>
                          <m:sup>
                            <m:r>
                              <a:rPr lang="en-US" altLang="zh-TW" sz="2400" i="1">
                                <a:latin typeface="Cambria Math" panose="02040503050406030204" pitchFamily="18" charset="0"/>
                              </a:rPr>
                              <m:t>∗</m:t>
                            </m:r>
                          </m:sup>
                        </m:sSubSup>
                      </m:e>
                    </m:d>
                    <m:r>
                      <a:rPr lang="en-US" altLang="zh-TW" sz="2400" i="1">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m:t>
                        </m:r>
                      </m:sup>
                    </m:sSubSup>
                  </m:oMath>
                </a14:m>
                <a:r>
                  <a:rPr lang="zh-TW" altLang="zh-TW" sz="2400" dirty="0">
                    <a:latin typeface="標楷體" panose="03000509000000000000" pitchFamily="65" charset="-120"/>
                    <a:ea typeface="標楷體" panose="03000509000000000000" pitchFamily="65" charset="-120"/>
                  </a:rPr>
                  <a:t>，且策略</a:t>
                </a:r>
                <a14:m>
                  <m:oMath xmlns:m="http://schemas.openxmlformats.org/officeDocument/2006/math">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m:t>
                        </m:r>
                      </m:sup>
                    </m:sSubSup>
                  </m:oMath>
                </a14:m>
                <a:r>
                  <a:rPr lang="zh-TW" altLang="zh-TW" sz="2400" dirty="0">
                    <a:latin typeface="標楷體" panose="03000509000000000000" pitchFamily="65" charset="-120"/>
                    <a:ea typeface="標楷體" panose="03000509000000000000" pitchFamily="65" charset="-120"/>
                  </a:rPr>
                  <a:t>能使參賽者</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i</a:t>
                </a:r>
                <a:r>
                  <a:rPr lang="zh-TW" altLang="zh-TW" sz="2400" dirty="0">
                    <a:latin typeface="標楷體" panose="03000509000000000000" pitchFamily="65" charset="-120"/>
                    <a:ea typeface="標楷體" panose="03000509000000000000" pitchFamily="65" charset="-120"/>
                  </a:rPr>
                  <a:t>自身報酬最佳化，我們稱函數</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𝑖</m:t>
                        </m:r>
                      </m:sub>
                    </m:sSub>
                  </m:oMath>
                </a14:m>
                <a:r>
                  <a:rPr lang="zh-TW" altLang="zh-TW" sz="2400" dirty="0">
                    <a:latin typeface="標楷體" panose="03000509000000000000" pitchFamily="65" charset="-120"/>
                    <a:ea typeface="標楷體" panose="03000509000000000000" pitchFamily="65" charset="-120"/>
                  </a:rPr>
                  <a:t>為</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best response function</a:t>
                </a:r>
                <a:r>
                  <a:rPr lang="zh-TW" altLang="zh-TW" sz="2400" dirty="0">
                    <a:latin typeface="標楷體" panose="03000509000000000000" pitchFamily="65" charset="-120"/>
                    <a:ea typeface="標楷體" panose="03000509000000000000" pitchFamily="65" charset="-120"/>
                  </a:rPr>
                  <a:t>。若策略組合</a:t>
                </a:r>
                <a14:m>
                  <m:oMath xmlns:m="http://schemas.openxmlformats.org/officeDocument/2006/math">
                    <m:sSup>
                      <m:sSupPr>
                        <m:ctrlPr>
                          <a:rPr lang="zh-TW" altLang="zh-TW" sz="2400" i="1">
                            <a:latin typeface="Cambria Math" panose="02040503050406030204" pitchFamily="18" charset="0"/>
                          </a:rPr>
                        </m:ctrlPr>
                      </m:sSupPr>
                      <m:e>
                        <m:r>
                          <a:rPr lang="en-US" altLang="zh-TW" sz="2400" i="1">
                            <a:latin typeface="Cambria Math" panose="02040503050406030204" pitchFamily="18" charset="0"/>
                          </a:rPr>
                          <m:t>𝑠</m:t>
                        </m:r>
                      </m:e>
                      <m:sup>
                        <m:r>
                          <a:rPr lang="en-US" altLang="zh-TW" sz="2400" i="1">
                            <a:latin typeface="Cambria Math" panose="02040503050406030204" pitchFamily="18" charset="0"/>
                          </a:rPr>
                          <m:t>∗</m:t>
                        </m:r>
                      </m:sup>
                    </m:sSup>
                    <m:r>
                      <a:rPr lang="en-US" altLang="zh-TW" sz="2400" i="1">
                        <a:latin typeface="Cambria Math" panose="02040503050406030204" pitchFamily="18" charset="0"/>
                      </a:rPr>
                      <m:t>=</m:t>
                    </m:r>
                    <m:d>
                      <m:dPr>
                        <m:ctrlPr>
                          <a:rPr lang="zh-TW" altLang="zh-TW" sz="2400" i="1">
                            <a:latin typeface="Cambria Math" panose="02040503050406030204" pitchFamily="18" charset="0"/>
                          </a:rPr>
                        </m:ctrlPr>
                      </m:dPr>
                      <m:e>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𝑛</m:t>
                            </m:r>
                          </m:sub>
                          <m:sup>
                            <m:r>
                              <a:rPr lang="en-US" altLang="zh-TW" sz="2400" i="1">
                                <a:latin typeface="Cambria Math" panose="02040503050406030204" pitchFamily="18" charset="0"/>
                              </a:rPr>
                              <m:t>∗</m:t>
                            </m:r>
                          </m:sup>
                        </m:sSubSup>
                      </m:e>
                    </m:d>
                  </m:oMath>
                </a14:m>
                <a:r>
                  <a:rPr lang="zh-TW" altLang="zh-TW" sz="2400" dirty="0">
                    <a:latin typeface="標楷體" panose="03000509000000000000" pitchFamily="65" charset="-120"/>
                    <a:ea typeface="標楷體" panose="03000509000000000000" pitchFamily="65" charset="-120"/>
                  </a:rPr>
                  <a:t>能此彼此互為</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best response </a:t>
                </a:r>
                <a:r>
                  <a:rPr lang="en-US" altLang="zh-TW" sz="2400" dirty="0">
                    <a:latin typeface="標楷體" panose="03000509000000000000" pitchFamily="65" charset="-120"/>
                    <a:ea typeface="標楷體" panose="03000509000000000000" pitchFamily="65" charset="-120"/>
                  </a:rPr>
                  <a:t>(</a:t>
                </a:r>
                <a:r>
                  <a:rPr lang="zh-TW" altLang="zh-TW" sz="2400" dirty="0">
                    <a:latin typeface="標楷體" panose="03000509000000000000" pitchFamily="65" charset="-120"/>
                    <a:ea typeface="標楷體" panose="03000509000000000000" pitchFamily="65" charset="-120"/>
                  </a:rPr>
                  <a:t>賽局理論中稱之為</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mutual best response</a:t>
                </a:r>
                <a:r>
                  <a:rPr lang="en-US" altLang="zh-TW" sz="2400" dirty="0">
                    <a:latin typeface="標楷體" panose="03000509000000000000" pitchFamily="65" charset="-120"/>
                    <a:ea typeface="標楷體" panose="03000509000000000000" pitchFamily="65" charset="-120"/>
                  </a:rPr>
                  <a:t>)</a:t>
                </a:r>
                <a:r>
                  <a:rPr lang="zh-TW" altLang="zh-TW" sz="2400" dirty="0">
                    <a:latin typeface="標楷體" panose="03000509000000000000" pitchFamily="65" charset="-120"/>
                    <a:ea typeface="標楷體" panose="03000509000000000000" pitchFamily="65" charset="-120"/>
                  </a:rPr>
                  <a:t>，則我們稱</a:t>
                </a:r>
                <a14:m>
                  <m:oMath xmlns:m="http://schemas.openxmlformats.org/officeDocument/2006/math">
                    <m:sSup>
                      <m:sSupPr>
                        <m:ctrlPr>
                          <a:rPr lang="zh-TW" altLang="zh-TW" sz="2400" i="1">
                            <a:latin typeface="Cambria Math" panose="02040503050406030204" pitchFamily="18" charset="0"/>
                          </a:rPr>
                        </m:ctrlPr>
                      </m:sSupPr>
                      <m:e>
                        <m:r>
                          <a:rPr lang="en-US" altLang="zh-TW" sz="2400" i="1">
                            <a:latin typeface="Cambria Math" panose="02040503050406030204" pitchFamily="18" charset="0"/>
                          </a:rPr>
                          <m:t>𝑠</m:t>
                        </m:r>
                      </m:e>
                      <m:sup>
                        <m:r>
                          <a:rPr lang="en-US" altLang="zh-TW" sz="2400" i="1">
                            <a:latin typeface="Cambria Math" panose="02040503050406030204" pitchFamily="18" charset="0"/>
                          </a:rPr>
                          <m:t>∗</m:t>
                        </m:r>
                      </m:sup>
                    </m:sSup>
                  </m:oMath>
                </a14:m>
                <a:r>
                  <a:rPr lang="zh-TW" altLang="zh-TW" sz="2400" dirty="0">
                    <a:latin typeface="標楷體" panose="03000509000000000000" pitchFamily="65" charset="-120"/>
                    <a:ea typeface="標楷體" panose="03000509000000000000" pitchFamily="65" charset="-120"/>
                  </a:rPr>
                  <a:t>為</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Nash Equilibrium</a:t>
                </a:r>
                <a:r>
                  <a:rPr lang="zh-TW" altLang="zh-TW" sz="2400" dirty="0" smtClean="0">
                    <a:latin typeface="標楷體" panose="03000509000000000000" pitchFamily="65" charset="-120"/>
                    <a:ea typeface="標楷體" panose="03000509000000000000" pitchFamily="65" charset="-120"/>
                  </a:rPr>
                  <a:t>。</a:t>
                </a:r>
                <a:endParaRPr lang="en-US" altLang="zh-TW" sz="2400" dirty="0" smtClean="0">
                  <a:latin typeface="標楷體" panose="03000509000000000000" pitchFamily="65" charset="-120"/>
                  <a:ea typeface="標楷體" panose="03000509000000000000" pitchFamily="65" charset="-120"/>
                </a:endParaRPr>
              </a:p>
              <a:p>
                <a:pPr algn="just">
                  <a:lnSpc>
                    <a:spcPct val="110000"/>
                  </a:lnSpc>
                </a:pPr>
                <a:endParaRPr lang="zh-TW" altLang="zh-TW" sz="2400" dirty="0">
                  <a:latin typeface="標楷體" panose="03000509000000000000" pitchFamily="65" charset="-120"/>
                  <a:ea typeface="標楷體" panose="03000509000000000000" pitchFamily="65" charset="-120"/>
                </a:endParaRPr>
              </a:p>
              <a:p>
                <a:pPr algn="just">
                  <a:lnSpc>
                    <a:spcPct val="110000"/>
                  </a:lnSpc>
                </a:pPr>
                <a:r>
                  <a:rPr lang="zh-TW" altLang="zh-TW" sz="2400" dirty="0">
                    <a:latin typeface="標楷體" panose="03000509000000000000" pitchFamily="65" charset="-120"/>
                    <a:ea typeface="標楷體" panose="03000509000000000000" pitchFamily="65" charset="-120"/>
                  </a:rPr>
                  <a:t>若存在一種更動策略組合規則，其內容為每位參賽者依序尋找自己的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best response</a:t>
                </a:r>
                <a:r>
                  <a:rPr lang="en-US" altLang="zh-TW" sz="2400" dirty="0">
                    <a:latin typeface="標楷體" panose="03000509000000000000" pitchFamily="65" charset="-120"/>
                    <a:ea typeface="標楷體" panose="03000509000000000000" pitchFamily="65" charset="-120"/>
                  </a:rPr>
                  <a:t> </a:t>
                </a:r>
                <a14:m>
                  <m:oMath xmlns:m="http://schemas.openxmlformats.org/officeDocument/2006/math">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m:t>
                        </m:r>
                      </m:sup>
                    </m:sSubSup>
                  </m:oMath>
                </a14:m>
                <a:r>
                  <a:rPr lang="zh-TW" altLang="zh-TW" sz="2400" dirty="0">
                    <a:latin typeface="標楷體" panose="03000509000000000000" pitchFamily="65" charset="-120"/>
                    <a:ea typeface="標楷體" panose="03000509000000000000" pitchFamily="65" charset="-120"/>
                  </a:rPr>
                  <a:t>，再把</a:t>
                </a:r>
                <a14:m>
                  <m:oMath xmlns:m="http://schemas.openxmlformats.org/officeDocument/2006/math">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m:t>
                        </m:r>
                      </m:sup>
                    </m:sSubSup>
                  </m:oMath>
                </a14:m>
                <a:r>
                  <a:rPr lang="zh-TW" altLang="zh-TW" sz="2400" dirty="0">
                    <a:latin typeface="標楷體" panose="03000509000000000000" pitchFamily="65" charset="-120"/>
                    <a:ea typeface="標楷體" panose="03000509000000000000" pitchFamily="65" charset="-120"/>
                  </a:rPr>
                  <a:t>代替原先策略組合中的策略，我們稱其規則為</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best response dynamics</a:t>
                </a:r>
                <a:r>
                  <a:rPr lang="zh-TW" altLang="zh-TW" sz="2400" dirty="0">
                    <a:latin typeface="標楷體" panose="03000509000000000000" pitchFamily="65" charset="-120"/>
                    <a:ea typeface="標楷體" panose="03000509000000000000" pitchFamily="65" charset="-120"/>
                  </a:rPr>
                  <a:t>。當每位參賽者不再更動自己在策略組合中的策略，我們稱其策略為</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Nash Equilibrium</a:t>
                </a:r>
                <a:r>
                  <a:rPr lang="zh-TW" altLang="zh-TW" sz="2400" dirty="0">
                    <a:latin typeface="標楷體" panose="03000509000000000000" pitchFamily="65" charset="-120"/>
                    <a:ea typeface="標楷體" panose="03000509000000000000" pitchFamily="65" charset="-120"/>
                  </a:rPr>
                  <a:t>。</a:t>
                </a: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522" t="-700" r="-580" b="-42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7</a:t>
            </a:fld>
            <a:endParaRPr lang="zh-TW" altLang="en-US" dirty="0"/>
          </a:p>
        </p:txBody>
      </p:sp>
    </p:spTree>
    <p:extLst>
      <p:ext uri="{BB962C8B-B14F-4D97-AF65-F5344CB8AC3E}">
        <p14:creationId xmlns:p14="http://schemas.microsoft.com/office/powerpoint/2010/main" val="23858418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ctrTitle"/>
          </p:nvPr>
        </p:nvSpPr>
        <p:spPr/>
        <p:txBody>
          <a:bodyPr/>
          <a:lstStyle/>
          <a:p>
            <a:r>
              <a:rPr lang="zh-TW" altLang="en-US" dirty="0" smtClean="0">
                <a:latin typeface="標楷體" panose="03000509000000000000" pitchFamily="65" charset="-120"/>
                <a:ea typeface="標楷體" panose="03000509000000000000" pitchFamily="65" charset="-120"/>
              </a:rPr>
              <a:t>研究方法與分析</a:t>
            </a:r>
            <a:endParaRPr lang="zh-TW" altLang="en-US" dirty="0">
              <a:latin typeface="標楷體" panose="03000509000000000000" pitchFamily="65" charset="-120"/>
              <a:ea typeface="標楷體" panose="03000509000000000000" pitchFamily="65" charset="-120"/>
            </a:endParaRPr>
          </a:p>
        </p:txBody>
      </p:sp>
      <p:sp>
        <p:nvSpPr>
          <p:cNvPr id="6" name="副標題 5"/>
          <p:cNvSpPr>
            <a:spLocks noGrp="1"/>
          </p:cNvSpPr>
          <p:nvPr>
            <p:ph type="subTitle" idx="1"/>
          </p:nvPr>
        </p:nvSpPr>
        <p:spPr>
          <a:xfrm>
            <a:off x="1524000" y="3602038"/>
            <a:ext cx="9144000" cy="2194078"/>
          </a:xfrm>
        </p:spPr>
        <p:txBody>
          <a:bodyPr>
            <a:normAutofit lnSpcReduction="10000"/>
          </a:bodyPr>
          <a:lstStyle/>
          <a:p>
            <a:r>
              <a:rPr lang="zh-TW" altLang="en-US" dirty="0" smtClean="0">
                <a:latin typeface="標楷體" panose="03000509000000000000" pitchFamily="65" charset="-120"/>
                <a:ea typeface="標楷體" panose="03000509000000000000" pitchFamily="65" charset="-120"/>
              </a:rPr>
              <a:t>建構</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CRR</a:t>
            </a:r>
            <a:r>
              <a:rPr lang="zh-TW" altLang="en-US" dirty="0" smtClean="0">
                <a:latin typeface="標楷體" panose="03000509000000000000" pitchFamily="65" charset="-120"/>
                <a:ea typeface="標楷體" panose="03000509000000000000" pitchFamily="65" charset="-120"/>
              </a:rPr>
              <a:t>資產樹</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參數設定</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倒推法</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(Backward Induction)</a:t>
            </a:r>
          </a:p>
          <a:p>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計算</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r>
              <a:rPr lang="el-GR" altLang="zh-TW" dirty="0" smtClean="0">
                <a:latin typeface="Times New Roman" panose="02020603050405020304" pitchFamily="18" charset="0"/>
                <a:ea typeface="標楷體" panose="03000509000000000000" pitchFamily="65" charset="-120"/>
                <a:cs typeface="Times New Roman" panose="02020603050405020304" pitchFamily="18" charset="0"/>
              </a:rPr>
              <a:t>ε</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-)Nash </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均衡</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dirty="0">
                <a:solidFill>
                  <a:prstClr val="black"/>
                </a:solidFill>
                <a:latin typeface="標楷體" panose="03000509000000000000" pitchFamily="65" charset="-120"/>
                <a:ea typeface="標楷體" panose="03000509000000000000" pitchFamily="65" charset="-120"/>
              </a:rPr>
              <a:t>證明</a:t>
            </a:r>
            <a:r>
              <a:rPr lang="en-US" altLang="zh-TW" dirty="0">
                <a:solidFill>
                  <a:prstClr val="black"/>
                </a:solidFill>
                <a:latin typeface="Times New Roman" panose="02020603050405020304" pitchFamily="18" charset="0"/>
                <a:cs typeface="Times New Roman" panose="02020603050405020304" pitchFamily="18" charset="0"/>
              </a:rPr>
              <a:t>ε</a:t>
            </a:r>
            <a:r>
              <a:rPr lang="en-US" altLang="zh-TW"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 Nash Equilibrium</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smtClean="0"/>
          </a:p>
          <a:p>
            <a:endParaRPr lang="en-US" altLang="zh-TW" dirty="0" smtClean="0"/>
          </a:p>
          <a:p>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8</a:t>
            </a:fld>
            <a:endParaRPr lang="zh-TW" altLang="en-US"/>
          </a:p>
        </p:txBody>
      </p:sp>
    </p:spTree>
    <p:extLst>
      <p:ext uri="{BB962C8B-B14F-4D97-AF65-F5344CB8AC3E}">
        <p14:creationId xmlns:p14="http://schemas.microsoft.com/office/powerpoint/2010/main" val="23540331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建構</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CRR</a:t>
            </a:r>
            <a:r>
              <a:rPr lang="zh-TW" altLang="en-US" dirty="0" smtClean="0">
                <a:latin typeface="標楷體" panose="03000509000000000000" pitchFamily="65" charset="-120"/>
                <a:ea typeface="標楷體" panose="03000509000000000000" pitchFamily="65" charset="-120"/>
                <a:cs typeface="Tahoma" panose="020B0604030504040204" pitchFamily="34" charset="0"/>
              </a:rPr>
              <a:t>資產樹</a:t>
            </a:r>
            <a:endParaRPr lang="zh-TW" altLang="en-US" dirty="0">
              <a:latin typeface="標楷體" panose="03000509000000000000" pitchFamily="65" charset="-120"/>
              <a:ea typeface="標楷體" panose="03000509000000000000" pitchFamily="65" charset="-120"/>
              <a:cs typeface="Tahoma" panose="020B0604030504040204" pitchFamily="34" charset="0"/>
            </a:endParaRPr>
          </a:p>
        </p:txBody>
      </p:sp>
      <p:pic>
        <p:nvPicPr>
          <p:cNvPr id="5" name="內容版面配置區 4"/>
          <p:cNvPicPr>
            <a:picLocks noGrp="1" noChangeAspect="1"/>
          </p:cNvPicPr>
          <p:nvPr>
            <p:ph idx="1"/>
          </p:nvPr>
        </p:nvPicPr>
        <p:blipFill>
          <a:blip r:embed="rId2"/>
          <a:stretch>
            <a:fillRect/>
          </a:stretch>
        </p:blipFill>
        <p:spPr>
          <a:xfrm>
            <a:off x="1056562" y="2109787"/>
            <a:ext cx="4828450" cy="3590855"/>
          </a:xfrm>
          <a:prstGeom prst="rect">
            <a:avLst/>
          </a:prstGeom>
        </p:spPr>
      </p:pic>
      <p:sp>
        <p:nvSpPr>
          <p:cNvPr id="4" name="投影片編號版面配置區 3"/>
          <p:cNvSpPr>
            <a:spLocks noGrp="1"/>
          </p:cNvSpPr>
          <p:nvPr>
            <p:ph type="sldNum" sz="quarter" idx="12"/>
          </p:nvPr>
        </p:nvSpPr>
        <p:spPr/>
        <p:txBody>
          <a:bodyPr/>
          <a:lstStyle/>
          <a:p>
            <a:fld id="{31F877B7-FBF6-49BA-8BEB-3DB32DB27243}" type="slidenum">
              <a:rPr lang="zh-TW" altLang="en-US" smtClean="0"/>
              <a:t>9</a:t>
            </a:fld>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5589640" y="2190852"/>
                <a:ext cx="6005414" cy="3865930"/>
              </a:xfrm>
              <a:prstGeom prst="rect">
                <a:avLst/>
              </a:prstGeom>
              <a:noFill/>
            </p:spPr>
            <p:txBody>
              <a:bodyPr wrap="square" rtlCol="0">
                <a:spAutoFit/>
              </a:bodyPr>
              <a:lstStyle/>
              <a:p>
                <a:r>
                  <a:rPr lang="zh-TW" altLang="zh-TW" sz="2000" dirty="0" smtClean="0">
                    <a:latin typeface="Times New Roman" panose="02020603050405020304" pitchFamily="18" charset="0"/>
                    <a:ea typeface="標楷體" panose="03000509000000000000" pitchFamily="65" charset="-120"/>
                    <a:cs typeface="Times New Roman" panose="02020603050405020304" pitchFamily="18" charset="0"/>
                  </a:rPr>
                  <a:t>假設</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公司資產遵從</a:t>
                </a:r>
                <a14:m>
                  <m:oMath xmlns:m="http://schemas.openxmlformats.org/officeDocument/2006/math">
                    <m:sSub>
                      <m:sSubPr>
                        <m:ctrlPr>
                          <a:rPr lang="en-US" altLang="zh-TW" sz="2000" i="1" smtClean="0">
                            <a:latin typeface="Cambria Math" panose="02040503050406030204" pitchFamily="18" charset="0"/>
                            <a:ea typeface="標楷體" panose="03000509000000000000" pitchFamily="65" charset="-120"/>
                            <a:cs typeface="Times New Roman" panose="02020603050405020304" pitchFamily="18" charset="0"/>
                          </a:rPr>
                        </m:ctrlPr>
                      </m:sSubPr>
                      <m:e>
                        <m:r>
                          <m:rPr>
                            <m:sty m:val="p"/>
                          </m:rPr>
                          <a:rPr lang="en-US" altLang="zh-TW" sz="2000" i="1">
                            <a:latin typeface="Cambria Math" panose="02040503050406030204" pitchFamily="18" charset="0"/>
                            <a:ea typeface="標楷體" panose="03000509000000000000" pitchFamily="65" charset="-120"/>
                            <a:cs typeface="Times New Roman" panose="02020603050405020304" pitchFamily="18" charset="0"/>
                          </a:rPr>
                          <m:t>V</m:t>
                        </m:r>
                      </m:e>
                      <m:sub>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𝑡</m:t>
                        </m:r>
                      </m:sub>
                    </m:sSub>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𝑉</m:t>
                        </m:r>
                      </m:e>
                      <m:sub>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0</m:t>
                        </m:r>
                      </m:sub>
                    </m:sSub>
                    <m:sSup>
                      <m:sSup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𝑒</m:t>
                        </m:r>
                      </m:e>
                      <m:sup>
                        <m:d>
                          <m:d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𝑟</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1</m:t>
                                </m:r>
                              </m:num>
                              <m:den>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2</m:t>
                                </m:r>
                              </m:den>
                            </m:f>
                            <m:sSubSup>
                              <m:sSubSup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sSubSupPr>
                              <m:e>
                                <m:r>
                                  <a:rPr lang="zh-TW" altLang="en-US" sz="2000" b="0" i="1" smtClean="0">
                                    <a:latin typeface="Cambria Math" panose="02040503050406030204" pitchFamily="18" charset="0"/>
                                    <a:ea typeface="標楷體" panose="03000509000000000000" pitchFamily="65" charset="-120"/>
                                    <a:cs typeface="Times New Roman" panose="02020603050405020304" pitchFamily="18" charset="0"/>
                                  </a:rPr>
                                  <m:t>𝜎</m:t>
                                </m:r>
                              </m:e>
                              <m:sub>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𝑉</m:t>
                                </m:r>
                              </m:sub>
                              <m:sup>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2</m:t>
                                </m:r>
                              </m:sup>
                            </m:sSubSup>
                          </m:e>
                        </m:d>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𝑡</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sz="2000" b="0" i="1" smtClean="0">
                                <a:latin typeface="Cambria Math" panose="02040503050406030204" pitchFamily="18" charset="0"/>
                                <a:ea typeface="標楷體" panose="03000509000000000000" pitchFamily="65" charset="-120"/>
                                <a:cs typeface="Times New Roman" panose="02020603050405020304" pitchFamily="18" charset="0"/>
                              </a:rPr>
                              <m:t>𝜎</m:t>
                            </m:r>
                          </m:e>
                          <m:sub>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𝑉</m:t>
                            </m:r>
                          </m:sub>
                        </m:sSub>
                        <m:sSub>
                          <m:sSub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sSubPr>
                          <m:e>
                            <m:r>
                              <m:rPr>
                                <m:sty m:val="p"/>
                              </m:rPr>
                              <a:rPr lang="en-US" altLang="zh-TW" sz="2000" i="1">
                                <a:latin typeface="Cambria Math" panose="02040503050406030204" pitchFamily="18" charset="0"/>
                                <a:ea typeface="標楷體" panose="03000509000000000000" pitchFamily="65" charset="-120"/>
                                <a:cs typeface="Times New Roman" panose="02020603050405020304" pitchFamily="18" charset="0"/>
                              </a:rPr>
                              <m:t>W</m:t>
                            </m:r>
                          </m:e>
                          <m:sub>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𝑡</m:t>
                            </m:r>
                          </m:sub>
                        </m:sSub>
                      </m:sup>
                    </m:sSup>
                  </m:oMath>
                </a14:m>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smtClean="0">
                    <a:latin typeface="Times New Roman" panose="02020603050405020304" pitchFamily="18" charset="0"/>
                    <a:ea typeface="標楷體" panose="03000509000000000000" pitchFamily="65" charset="-120"/>
                    <a:cs typeface="Times New Roman" panose="02020603050405020304" pitchFamily="18" charset="0"/>
                  </a:rPr>
                  <a:t>公司初始資產為</a:t>
                </a:r>
                <a14:m>
                  <m:oMath xmlns:m="http://schemas.openxmlformats.org/officeDocument/2006/math">
                    <m:sSub>
                      <m:sSubPr>
                        <m:ctrlPr>
                          <a:rPr lang="zh-TW" altLang="zh-TW"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𝑉</m:t>
                        </m:r>
                      </m:e>
                      <m:sub>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0</m:t>
                        </m:r>
                      </m:sub>
                    </m:sSub>
                  </m:oMath>
                </a14:m>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，公司資產波動度為</a:t>
                </a:r>
                <a14:m>
                  <m:oMath xmlns:m="http://schemas.openxmlformats.org/officeDocument/2006/math">
                    <m:sSub>
                      <m:sSubPr>
                        <m:ctrlPr>
                          <a:rPr lang="zh-TW" altLang="zh-TW"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𝜎</m:t>
                        </m:r>
                      </m:e>
                      <m:sub>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𝑉</m:t>
                        </m:r>
                      </m:sub>
                    </m:sSub>
                  </m:oMath>
                </a14:m>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，無風險利率</a:t>
                </a:r>
                <a:r>
                  <a:rPr lang="en-US" altLang="zh-TW" sz="2000" dirty="0">
                    <a:effectLst/>
                    <a:latin typeface="Times New Roman" panose="02020603050405020304" pitchFamily="18" charset="0"/>
                    <a:ea typeface="標楷體" panose="03000509000000000000" pitchFamily="65" charset="-120"/>
                    <a:cs typeface="Times New Roman" panose="02020603050405020304" pitchFamily="18" charset="0"/>
                  </a:rPr>
                  <a:t>r</a:t>
                </a:r>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，每一期的時間長度為</a:t>
                </a:r>
                <a14:m>
                  <m:oMath xmlns:m="http://schemas.openxmlformats.org/officeDocument/2006/math">
                    <m:r>
                      <m:rPr>
                        <m:sty m:val="p"/>
                      </m:rPr>
                      <a:rPr lang="en-US" altLang="zh-TW" sz="2000">
                        <a:effectLst/>
                        <a:latin typeface="Cambria Math" panose="02040503050406030204" pitchFamily="18" charset="0"/>
                        <a:ea typeface="標楷體" panose="03000509000000000000" pitchFamily="65" charset="-120"/>
                        <a:cs typeface="Times New Roman" panose="02020603050405020304" pitchFamily="18" charset="0"/>
                      </a:rPr>
                      <m:t>Δt</m:t>
                    </m:r>
                  </m:oMath>
                </a14:m>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，每一期公司資產</a:t>
                </a:r>
                <a:r>
                  <a:rPr lang="en-US" altLang="zh-TW" sz="2000" dirty="0">
                    <a:effectLst/>
                    <a:latin typeface="Times New Roman" panose="02020603050405020304" pitchFamily="18" charset="0"/>
                    <a:ea typeface="標楷體" panose="03000509000000000000" pitchFamily="65" charset="-120"/>
                    <a:cs typeface="Times New Roman" panose="02020603050405020304" pitchFamily="18" charset="0"/>
                  </a:rPr>
                  <a:t>V</a:t>
                </a:r>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在下一期可能變成</a:t>
                </a:r>
                <a:r>
                  <a:rPr lang="en-US" altLang="zh-TW" sz="2000" dirty="0">
                    <a:effectLst/>
                    <a:latin typeface="Times New Roman" panose="02020603050405020304" pitchFamily="18" charset="0"/>
                    <a:ea typeface="標楷體" panose="03000509000000000000" pitchFamily="65" charset="-120"/>
                    <a:cs typeface="Times New Roman" panose="02020603050405020304" pitchFamily="18" charset="0"/>
                  </a:rPr>
                  <a:t>Vu</a:t>
                </a:r>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或</a:t>
                </a:r>
                <a:r>
                  <a:rPr lang="en-US" altLang="zh-TW" sz="2000" dirty="0" err="1" smtClean="0">
                    <a:effectLst/>
                    <a:latin typeface="Times New Roman" panose="02020603050405020304" pitchFamily="18" charset="0"/>
                    <a:ea typeface="標楷體" panose="03000509000000000000" pitchFamily="65" charset="-120"/>
                    <a:cs typeface="Times New Roman" panose="02020603050405020304" pitchFamily="18" charset="0"/>
                  </a:rPr>
                  <a:t>Vd</a:t>
                </a:r>
                <a:endParaRPr lang="en-US" altLang="zh-TW" sz="20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000" dirty="0" smtClean="0">
                  <a:effectLst/>
                  <a:latin typeface="Times New Roman" panose="02020603050405020304" pitchFamily="18" charset="0"/>
                  <a:ea typeface="標楷體" panose="03000509000000000000" pitchFamily="65" charset="-120"/>
                </a:endParaRPr>
              </a:p>
              <a:p>
                <a14:m>
                  <m:oMath xmlns:m="http://schemas.openxmlformats.org/officeDocument/2006/math">
                    <m:r>
                      <m:rPr>
                        <m:sty m:val="p"/>
                      </m:rPr>
                      <a:rPr lang="en-US" altLang="zh-TW" sz="2000" b="0" i="0" smtClean="0">
                        <a:latin typeface="Cambria Math" panose="02040503050406030204" pitchFamily="18" charset="0"/>
                        <a:ea typeface="標楷體" panose="03000509000000000000" pitchFamily="65" charset="-120"/>
                        <a:cs typeface="Times New Roman" panose="02020603050405020304" pitchFamily="18" charset="0"/>
                      </a:rPr>
                      <m:t>u</m:t>
                    </m:r>
                    <m:r>
                      <a:rPr lang="en-US" altLang="zh-TW" sz="2000">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𝑒</m:t>
                        </m:r>
                      </m:e>
                      <m:sup>
                        <m:sSub>
                          <m:sSubPr>
                            <m:ctrlPr>
                              <a:rPr lang="zh-TW" altLang="zh-TW"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𝜎</m:t>
                            </m:r>
                          </m:e>
                          <m:sub>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𝑉</m:t>
                            </m:r>
                          </m:sub>
                        </m:sSub>
                        <m:rad>
                          <m:radPr>
                            <m:degHide m:val="on"/>
                            <m:ctrlPr>
                              <a:rPr lang="zh-TW" altLang="zh-TW" sz="2000" i="1">
                                <a:effectLst/>
                                <a:latin typeface="Cambria Math" panose="02040503050406030204" pitchFamily="18" charset="0"/>
                                <a:ea typeface="Cambria Math" panose="02040503050406030204" pitchFamily="18" charset="0"/>
                                <a:cs typeface="Times New Roman" panose="02020603050405020304" pitchFamily="18" charset="0"/>
                              </a:rPr>
                            </m:ctrlPr>
                          </m:radPr>
                          <m:deg/>
                          <m:e>
                            <m:r>
                              <m:rPr>
                                <m:sty m:val="p"/>
                              </m:rPr>
                              <a:rPr lang="en-US" altLang="zh-TW" sz="2000">
                                <a:effectLst/>
                                <a:latin typeface="Cambria Math" panose="02040503050406030204" pitchFamily="18" charset="0"/>
                                <a:ea typeface="標楷體" panose="03000509000000000000" pitchFamily="65" charset="-120"/>
                                <a:cs typeface="Times New Roman" panose="02020603050405020304" pitchFamily="18" charset="0"/>
                              </a:rPr>
                              <m:t>Δt</m:t>
                            </m:r>
                          </m:e>
                        </m:rad>
                      </m:sup>
                    </m:sSup>
                    <m:r>
                      <a:rPr lang="en-US" altLang="zh-TW" sz="2000">
                        <a:effectLst/>
                        <a:latin typeface="Cambria Math" panose="02040503050406030204" pitchFamily="18" charset="0"/>
                        <a:ea typeface="標楷體" panose="03000509000000000000" pitchFamily="65" charset="-120"/>
                        <a:cs typeface="Times New Roman" panose="02020603050405020304" pitchFamily="18" charset="0"/>
                      </a:rPr>
                      <m:t> </m:t>
                    </m:r>
                  </m:oMath>
                </a14:m>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，為下期上漲幅度，發生機率</a:t>
                </a:r>
                <a:r>
                  <a:rPr lang="en-US" altLang="zh-TW" sz="2000" dirty="0" smtClean="0">
                    <a:effectLst/>
                    <a:latin typeface="Times New Roman" panose="02020603050405020304" pitchFamily="18" charset="0"/>
                    <a:ea typeface="標楷體" panose="03000509000000000000" pitchFamily="65" charset="-120"/>
                    <a:cs typeface="Times New Roman" panose="02020603050405020304" pitchFamily="18" charset="0"/>
                  </a:rPr>
                  <a:t>p</a:t>
                </a:r>
              </a:p>
              <a:p>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r>
                      <m:rPr>
                        <m:sty m:val="p"/>
                      </m:rPr>
                      <a:rPr lang="en-US" altLang="zh-TW" sz="2000">
                        <a:effectLst/>
                        <a:latin typeface="Cambria Math" panose="02040503050406030204" pitchFamily="18" charset="0"/>
                        <a:ea typeface="標楷體" panose="03000509000000000000" pitchFamily="65" charset="-120"/>
                        <a:cs typeface="Times New Roman" panose="02020603050405020304" pitchFamily="18" charset="0"/>
                      </a:rPr>
                      <m:t>d</m:t>
                    </m:r>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1</m:t>
                        </m:r>
                      </m:num>
                      <m:den>
                        <m:r>
                          <a:rPr lang="en-US" altLang="zh-TW" sz="2000" i="1">
                            <a:effectLst/>
                            <a:latin typeface="Cambria Math" panose="02040503050406030204" pitchFamily="18" charset="0"/>
                            <a:ea typeface="標楷體" panose="03000509000000000000" pitchFamily="65" charset="-120"/>
                            <a:cs typeface="Times New Roman" panose="02020603050405020304" pitchFamily="18" charset="0"/>
                          </a:rPr>
                          <m:t>𝑢</m:t>
                        </m:r>
                      </m:den>
                    </m:f>
                  </m:oMath>
                </a14:m>
                <a:r>
                  <a:rPr lang="zh-TW" altLang="zh-TW" sz="20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rPr>
                  <a:t>為下期下跌幅度，發生機率</a:t>
                </a:r>
                <a14:m>
                  <m:oMath xmlns:m="http://schemas.openxmlformats.org/officeDocument/2006/math">
                    <m:r>
                      <a:rPr lang="en-US" altLang="zh-TW" sz="2000">
                        <a:effectLst/>
                        <a:latin typeface="Cambria Math" panose="02040503050406030204" pitchFamily="18" charset="0"/>
                        <a:ea typeface="標楷體" panose="03000509000000000000" pitchFamily="65" charset="-120"/>
                        <a:cs typeface="Times New Roman" panose="02020603050405020304" pitchFamily="18" charset="0"/>
                      </a:rPr>
                      <m:t>1</m:t>
                    </m:r>
                    <m:r>
                      <a:rPr lang="en-US" altLang="zh-TW" sz="2000" i="1">
                        <a:effectLst/>
                        <a:latin typeface="Cambria Math" panose="02040503050406030204" pitchFamily="18" charset="0"/>
                        <a:ea typeface="MS Mincho" panose="02020609040205080304" pitchFamily="49" charset="-128"/>
                        <a:cs typeface="Times New Roman" panose="02020603050405020304" pitchFamily="18" charset="0"/>
                      </a:rPr>
                      <m:t>−</m:t>
                    </m:r>
                    <m:r>
                      <m:rPr>
                        <m:sty m:val="p"/>
                      </m:rPr>
                      <a:rPr lang="en-US" altLang="zh-TW" sz="2000">
                        <a:effectLst/>
                        <a:latin typeface="Cambria Math" panose="02040503050406030204" pitchFamily="18" charset="0"/>
                        <a:ea typeface="標楷體" panose="03000509000000000000" pitchFamily="65" charset="-120"/>
                        <a:cs typeface="Times New Roman" panose="02020603050405020304" pitchFamily="18" charset="0"/>
                      </a:rPr>
                      <m:t>p</m:t>
                    </m:r>
                  </m:oMath>
                </a14:m>
                <a:endParaRPr lang="en-US" altLang="zh-TW" sz="20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endParaRPr lang="zh-TW" altLang="zh-TW" sz="2000" dirty="0">
                  <a:effectLst/>
                  <a:latin typeface="Times New Roman" panose="02020603050405020304" pitchFamily="18" charset="0"/>
                  <a:ea typeface="標楷體" panose="03000509000000000000" pitchFamily="65" charset="-12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TW" sz="2000" b="0" i="1" smtClean="0">
                          <a:latin typeface="Cambria Math" panose="02040503050406030204" pitchFamily="18" charset="0"/>
                        </a:rPr>
                        <m:t>𝑝</m:t>
                      </m:r>
                      <m:r>
                        <a:rPr lang="en-US" altLang="zh-TW" sz="2000" b="0" i="1" smtClean="0">
                          <a:latin typeface="Cambria Math" panose="02040503050406030204" pitchFamily="18" charset="0"/>
                        </a:rPr>
                        <m:t>=</m:t>
                      </m:r>
                      <m:f>
                        <m:fPr>
                          <m:ctrlPr>
                            <a:rPr lang="en-US" altLang="zh-TW" sz="2000" b="0" i="1" smtClean="0">
                              <a:latin typeface="Cambria Math" panose="02040503050406030204" pitchFamily="18" charset="0"/>
                            </a:rPr>
                          </m:ctrlPr>
                        </m:fPr>
                        <m:num>
                          <m:sSup>
                            <m:sSupPr>
                              <m:ctrlPr>
                                <a:rPr lang="en-US" altLang="zh-TW" sz="2000" b="0" i="1" smtClean="0">
                                  <a:latin typeface="Cambria Math" panose="02040503050406030204" pitchFamily="18" charset="0"/>
                                </a:rPr>
                              </m:ctrlPr>
                            </m:sSupPr>
                            <m:e>
                              <m:r>
                                <a:rPr lang="en-US" altLang="zh-TW" sz="2000" b="0" i="1" smtClean="0">
                                  <a:latin typeface="Cambria Math" panose="02040503050406030204" pitchFamily="18" charset="0"/>
                                </a:rPr>
                                <m:t>𝑒</m:t>
                              </m:r>
                            </m:e>
                            <m:sup>
                              <m:r>
                                <a:rPr lang="en-US" altLang="zh-TW" sz="2000" b="0" i="1" smtClean="0">
                                  <a:latin typeface="Cambria Math" panose="02040503050406030204" pitchFamily="18" charset="0"/>
                                </a:rPr>
                                <m:t>𝑟</m:t>
                              </m:r>
                              <m:r>
                                <a:rPr lang="en-US" altLang="zh-TW" sz="2000" b="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𝑡</m:t>
                              </m:r>
                            </m:sup>
                          </m:sSup>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𝑑</m:t>
                          </m:r>
                        </m:num>
                        <m:den>
                          <m:r>
                            <a:rPr lang="en-US" altLang="zh-TW" sz="2000" b="0" i="1" smtClean="0">
                              <a:latin typeface="Cambria Math" panose="02040503050406030204" pitchFamily="18" charset="0"/>
                            </a:rPr>
                            <m:t>𝑢</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𝑑</m:t>
                          </m:r>
                        </m:den>
                      </m:f>
                    </m:oMath>
                  </m:oMathPara>
                </a14:m>
                <a:endParaRPr lang="zh-TW" altLang="en-US"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5589640" y="2190852"/>
                <a:ext cx="6005414" cy="3865930"/>
              </a:xfrm>
              <a:prstGeom prst="rect">
                <a:avLst/>
              </a:prstGeom>
              <a:blipFill rotWithShape="0">
                <a:blip r:embed="rId3"/>
                <a:stretch>
                  <a:fillRect l="-1117" r="-203"/>
                </a:stretch>
              </a:blipFill>
            </p:spPr>
            <p:txBody>
              <a:bodyPr/>
              <a:lstStyle/>
              <a:p>
                <a:r>
                  <a:rPr lang="zh-TW" altLang="en-US">
                    <a:noFill/>
                  </a:rPr>
                  <a:t> </a:t>
                </a:r>
              </a:p>
            </p:txBody>
          </p:sp>
        </mc:Fallback>
      </mc:AlternateContent>
      <p:sp>
        <p:nvSpPr>
          <p:cNvPr id="48" name="Rectangle 14"/>
          <p:cNvSpPr>
            <a:spLocks noChangeArrowheads="1"/>
          </p:cNvSpPr>
          <p:nvPr/>
        </p:nvSpPr>
        <p:spPr bwMode="auto">
          <a:xfrm>
            <a:off x="241253" y="155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50" name="Rectangle 15"/>
          <p:cNvSpPr>
            <a:spLocks noChangeArrowheads="1"/>
          </p:cNvSpPr>
          <p:nvPr/>
        </p:nvSpPr>
        <p:spPr bwMode="auto">
          <a:xfrm>
            <a:off x="241253" y="574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dirty="0" smtClean="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	 </a:t>
            </a:r>
            <a:r>
              <a:rPr kumimoji="0" lang="en-US" altLang="zh-TW" sz="1100" b="0" i="0" u="none" strike="noStrike" cap="none" normalizeH="0" baseline="0" dirty="0" smtClean="0">
                <a:ln>
                  <a:noFill/>
                </a:ln>
                <a:solidFill>
                  <a:schemeClr val="tx1"/>
                </a:solidFill>
                <a:effectLst/>
              </a:rPr>
              <a:t> </a:t>
            </a:r>
            <a:endParaRPr kumimoji="0" lang="en-US" altLang="zh-TW"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63735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假設</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pPr marL="342900" lvl="0" indent="-342900" algn="just">
              <a:lnSpc>
                <a:spcPct val="107000"/>
              </a:lnSpc>
              <a:spcAft>
                <a:spcPts val="800"/>
              </a:spcAft>
              <a:buFont typeface="+mj-lt"/>
              <a:buAutoNum type="arabicPeriod"/>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公司只發行可轉換公司債</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(CB)</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及股東權益</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(Equity)</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，無發行其他有價證券</a:t>
            </a:r>
            <a:endParaRPr lang="zh-TW"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gn="just">
              <a:lnSpc>
                <a:spcPct val="107000"/>
              </a:lnSpc>
              <a:spcAft>
                <a:spcPts val="800"/>
              </a:spcAft>
              <a:buFont typeface="+mj-lt"/>
              <a:buAutoNum type="arabicPeriod"/>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假定該可轉換公司債為私募發行，只有</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2</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個</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投資者</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，且</a:t>
            </a:r>
            <a:r>
              <a:rPr lang="zh-TW" altLang="zh-TW" dirty="0" smtClean="0">
                <a:latin typeface="Times New Roman" panose="02020603050405020304" pitchFamily="18" charset="0"/>
                <a:ea typeface="標楷體" panose="03000509000000000000" pitchFamily="65" charset="-120"/>
              </a:rPr>
              <a:t>發行者</a:t>
            </a:r>
            <a:r>
              <a:rPr lang="zh-TW" altLang="en-US" dirty="0">
                <a:latin typeface="Times New Roman" panose="02020603050405020304" pitchFamily="18" charset="0"/>
                <a:ea typeface="標楷體" panose="03000509000000000000" pitchFamily="65" charset="-120"/>
              </a:rPr>
              <a:t>沒有</a:t>
            </a:r>
            <a:r>
              <a:rPr lang="zh-TW" altLang="en-US" dirty="0" smtClean="0">
                <a:latin typeface="Times New Roman" panose="02020603050405020304" pitchFamily="18" charset="0"/>
                <a:ea typeface="標楷體" panose="03000509000000000000" pitchFamily="65" charset="-120"/>
              </a:rPr>
              <a:t>贖回權利</a:t>
            </a:r>
            <a:endParaRPr lang="zh-TW"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lvl="0" indent="-342900" algn="just">
              <a:lnSpc>
                <a:spcPct val="107000"/>
              </a:lnSpc>
              <a:spcAft>
                <a:spcPts val="800"/>
              </a:spcAft>
              <a:buFont typeface="+mj-lt"/>
              <a:buAutoNum type="arabicPeriod"/>
            </a:pP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公司破產時，公司會依照債權人手中剩餘的可轉換公司債占全部剩餘可轉換公司債的比例進行償債</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342900" lvl="0" indent="-342900" algn="just">
              <a:lnSpc>
                <a:spcPct val="107000"/>
              </a:lnSpc>
              <a:spcAft>
                <a:spcPts val="800"/>
              </a:spcAft>
              <a:buFont typeface="+mj-lt"/>
              <a:buAutoNum type="arabicPeriod"/>
            </a:pPr>
            <a:endParaRPr lang="zh-TW" altLang="zh-TW" sz="2400" dirty="0">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10</a:t>
            </a:fld>
            <a:endParaRPr lang="zh-TW" altLang="en-US"/>
          </a:p>
        </p:txBody>
      </p:sp>
    </p:spTree>
    <p:extLst>
      <p:ext uri="{BB962C8B-B14F-4D97-AF65-F5344CB8AC3E}">
        <p14:creationId xmlns:p14="http://schemas.microsoft.com/office/powerpoint/2010/main" val="33646316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參數設定</a:t>
            </a:r>
            <a:endParaRPr lang="zh-TW" altLang="en-US" dirty="0">
              <a:latin typeface="標楷體" panose="03000509000000000000" pitchFamily="65" charset="-12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8" name="內容版面配置區 7"/>
              <p:cNvGraphicFramePr>
                <a:graphicFrameLocks noGrp="1"/>
              </p:cNvGraphicFramePr>
              <p:nvPr>
                <p:ph idx="1"/>
                <p:extLst>
                  <p:ext uri="{D42A27DB-BD31-4B8C-83A1-F6EECF244321}">
                    <p14:modId xmlns:p14="http://schemas.microsoft.com/office/powerpoint/2010/main" val="3282058364"/>
                  </p:ext>
                </p:extLst>
              </p:nvPr>
            </p:nvGraphicFramePr>
            <p:xfrm>
              <a:off x="395749" y="1488466"/>
              <a:ext cx="7155425" cy="3510820"/>
            </p:xfrm>
            <a:graphic>
              <a:graphicData uri="http://schemas.openxmlformats.org/drawingml/2006/table">
                <a:tbl>
                  <a:tblPr firstRow="1" bandRow="1"/>
                  <a:tblGrid>
                    <a:gridCol w="1484625"/>
                    <a:gridCol w="1507842"/>
                    <a:gridCol w="151397"/>
                    <a:gridCol w="942138"/>
                    <a:gridCol w="252481"/>
                    <a:gridCol w="1177982"/>
                    <a:gridCol w="1638960"/>
                  </a:tblGrid>
                  <a:tr h="438556">
                    <a:tc>
                      <a:txBody>
                        <a:bodyPr/>
                        <a:lstStyle/>
                        <a:p>
                          <a:pPr algn="ctr"/>
                          <a:endParaRPr lang="zh-TW" sz="1400" kern="100" dirty="0">
                            <a:effectLst/>
                            <a:latin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價值</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數量</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面額</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zh-TW" alt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票面</a:t>
                          </a: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利率</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40685">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可轉換公司債</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l">
                            <a:spcAft>
                              <a:spcPts val="0"/>
                            </a:spcAft>
                          </a:pPr>
                          <a14:m>
                            <m:oMathPara xmlns:m="http://schemas.openxmlformats.org/officeDocument/2006/math">
                              <m:oMathParaPr>
                                <m:jc m:val="left"/>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𝑪𝑩</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smtClean="0">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=0,1,……….,n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𝑵</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𝒄</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𝑭</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𝒄</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𝑪</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𝒄</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40685">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股東權益</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l">
                            <a:spcAft>
                              <a:spcPts val="0"/>
                            </a:spcAft>
                          </a:pPr>
                          <a14:m>
                            <m:oMathPara xmlns:m="http://schemas.openxmlformats.org/officeDocument/2006/math">
                              <m:oMathParaPr>
                                <m:jc m:val="left"/>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𝑬𝒒𝒖𝒊𝒕𝒚</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=0,1</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𝑵</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𝑶</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zh-TW" alt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zh-TW" altLang="en-US" sz="14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gridSpan="7">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l">
                            <a:spcAft>
                              <a:spcPts val="0"/>
                            </a:spcAft>
                          </a:pP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pPr algn="ctr">
                            <a:spcAft>
                              <a:spcPts val="0"/>
                            </a:spcAft>
                          </a:pP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3332">
                    <a:tc>
                      <a:txBody>
                        <a:bodyPr/>
                        <a:lstStyle/>
                        <a:p>
                          <a:pPr algn="ctr"/>
                          <a:endParaRPr lang="zh-TW" sz="1400" kern="100">
                            <a:effectLst/>
                            <a:latin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價值</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起始</a:t>
                          </a:r>
                          <a:endParaRPr lang="en-US" alt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持有</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比例</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gridSpan="2">
                      <a:txBody>
                        <a:bodyPr/>
                        <a:lstStyle/>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endParaRPr lang="en-US" alt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轉換</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比例</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當</a:t>
                          </a: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期</a:t>
                          </a:r>
                          <a:endParaRPr lang="en-US" alt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最佳</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轉換比例</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56381">
                    <a:tc>
                      <a:txBody>
                        <a:bodyPr/>
                        <a:lstStyle/>
                        <a:p>
                          <a:pPr algn="ctr">
                            <a:spcAft>
                              <a:spcPts val="0"/>
                            </a:spcAft>
                          </a:pP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14:m>
                            <m:oMathPara xmlns:m="http://schemas.openxmlformats.org/officeDocument/2006/math">
                              <m:oMathParaPr>
                                <m:jc m:val="left"/>
                              </m:oMathParaPr>
                              <m:oMath xmlns:m="http://schemas.openxmlformats.org/officeDocument/2006/math">
                                <m:sSubSup>
                                  <m:sSubSup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𝑪𝑩</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up>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𝟏</m:t>
                                    </m:r>
                                  </m:sup>
                                </m:sSubSup>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=0,1</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en-US" sz="1400" b="1" kern="10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gridSpan="2">
                      <a:txBody>
                        <a:bodyPr/>
                        <a:lstStyle/>
                        <a:p>
                          <a:pPr algn="ctr">
                            <a:spcAft>
                              <a:spcPts val="0"/>
                            </a:spcAft>
                          </a:pPr>
                          <a14:m>
                            <m:oMathPara xmlns:m="http://schemas.openxmlformats.org/officeDocument/2006/math">
                              <m:oMathParaPr>
                                <m:jc m:val="left"/>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𝒂</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=0,1</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a:txBody>
                        <a:bodyPr/>
                        <a:lstStyle/>
                        <a:p>
                          <a:pPr algn="ctr">
                            <a:spcAft>
                              <a:spcPts val="0"/>
                            </a:spcAft>
                          </a:pPr>
                          <a14:m>
                            <m:oMathPara xmlns:m="http://schemas.openxmlformats.org/officeDocument/2006/math">
                              <m:oMathParaPr>
                                <m:jc m:val="left"/>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𝜶</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=0,1</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56381">
                    <a:tc>
                      <a:txBody>
                        <a:bodyPr/>
                        <a:lstStyle/>
                        <a:p>
                          <a:pPr algn="ctr">
                            <a:spcAft>
                              <a:spcPts val="0"/>
                            </a:spcAft>
                          </a:pP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14:m>
                            <m:oMathPara xmlns:m="http://schemas.openxmlformats.org/officeDocument/2006/math">
                              <m:oMathParaPr>
                                <m:jc m:val="left"/>
                              </m:oMathParaPr>
                              <m:oMath xmlns:m="http://schemas.openxmlformats.org/officeDocument/2006/math">
                                <m:sSubSup>
                                  <m:sSubSup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𝑪𝑩</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up>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𝟐</m:t>
                                    </m:r>
                                  </m:sup>
                                </m:sSubSup>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=0,1</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en-US" sz="1400" b="1" kern="10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gridSpan="2">
                      <a:txBody>
                        <a:bodyPr/>
                        <a:lstStyle/>
                        <a:p>
                          <a:pPr algn="ctr">
                            <a:spcAft>
                              <a:spcPts val="0"/>
                            </a:spcAft>
                          </a:pPr>
                          <a14:m>
                            <m:oMathPara xmlns:m="http://schemas.openxmlformats.org/officeDocument/2006/math">
                              <m:oMathParaPr>
                                <m:jc m:val="left"/>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𝒃</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=0,1</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a:txBody>
                        <a:bodyPr/>
                        <a:lstStyle/>
                        <a:p>
                          <a:pPr algn="ctr">
                            <a:spcAft>
                              <a:spcPts val="0"/>
                            </a:spcAft>
                          </a:pPr>
                          <a14:m>
                            <m:oMathPara xmlns:m="http://schemas.openxmlformats.org/officeDocument/2006/math">
                              <m:oMathParaPr>
                                <m:jc m:val="left"/>
                              </m:oMathParaPr>
                              <m:oMath xmlns:m="http://schemas.openxmlformats.org/officeDocument/2006/math">
                                <m:sSub>
                                  <m:sSubPr>
                                    <m:ctrlPr>
                                      <a:rPr lang="zh-TW" sz="14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𝜷</m:t>
                                    </m:r>
                                  </m:e>
                                  <m:sub>
                                    <m:r>
                                      <a:rPr lang="en-US" sz="1400" b="1" i="1" kern="100">
                                        <a:effectLst/>
                                        <a:latin typeface="Cambria Math" panose="02040503050406030204" pitchFamily="18" charset="0"/>
                                        <a:ea typeface="標楷體" panose="03000509000000000000" pitchFamily="65" charset="-120"/>
                                        <a:cs typeface="Times New Roman" panose="02020603050405020304" pitchFamily="18" charset="0"/>
                                      </a:rPr>
                                      <m:t>𝒊</m:t>
                                    </m:r>
                                  </m:sub>
                                </m:sSub>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l">
                            <a:spcAft>
                              <a:spcPts val="0"/>
                            </a:spcAft>
                          </a:pPr>
                          <a:r>
                            <a:rPr lang="en-US" sz="1400" b="1" kern="100"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=0,1</a:t>
                          </a:r>
                          <a:r>
                            <a:rPr 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mc:Choice>
        <mc:Fallback xmlns="">
          <p:graphicFrame>
            <p:nvGraphicFramePr>
              <p:cNvPr id="8" name="內容版面配置區 7"/>
              <p:cNvGraphicFramePr>
                <a:graphicFrameLocks noGrp="1"/>
              </p:cNvGraphicFramePr>
              <p:nvPr>
                <p:ph idx="1"/>
                <p:extLst>
                  <p:ext uri="{D42A27DB-BD31-4B8C-83A1-F6EECF244321}">
                    <p14:modId xmlns:p14="http://schemas.microsoft.com/office/powerpoint/2010/main" val="3282058364"/>
                  </p:ext>
                </p:extLst>
              </p:nvPr>
            </p:nvGraphicFramePr>
            <p:xfrm>
              <a:off x="395749" y="1488466"/>
              <a:ext cx="7155425" cy="3510820"/>
            </p:xfrm>
            <a:graphic>
              <a:graphicData uri="http://schemas.openxmlformats.org/drawingml/2006/table">
                <a:tbl>
                  <a:tblPr firstRow="1" bandRow="1"/>
                  <a:tblGrid>
                    <a:gridCol w="1484625"/>
                    <a:gridCol w="1507842"/>
                    <a:gridCol w="151397"/>
                    <a:gridCol w="942138"/>
                    <a:gridCol w="252481"/>
                    <a:gridCol w="1177982"/>
                    <a:gridCol w="1638960"/>
                  </a:tblGrid>
                  <a:tr h="438556">
                    <a:tc>
                      <a:txBody>
                        <a:bodyPr/>
                        <a:lstStyle/>
                        <a:p>
                          <a:pPr algn="ctr"/>
                          <a:endParaRPr lang="zh-TW" sz="1400" kern="100" dirty="0">
                            <a:effectLst/>
                            <a:latin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價值</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數量</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面額</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zh-TW" altLang="en-US"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票面</a:t>
                          </a: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利率</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40685">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可轉換公司債</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90074" t="-82022" r="-243015" b="-475281"/>
                          </a:stretch>
                        </a:blip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63776" t="-82022" r="-237245" b="-475281"/>
                          </a:stretch>
                        </a:blip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367526" t="-82022" r="-139691" b="-475281"/>
                          </a:stretch>
                        </a:blipFill>
                      </a:tcPr>
                    </a:tc>
                    <a:tc>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337175" t="-82022" r="-743" b="-475281"/>
                          </a:stretch>
                        </a:blipFill>
                      </a:tcPr>
                    </a:tc>
                  </a:tr>
                  <a:tr h="540685">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股東權益</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90074" t="-182022" r="-243015" b="-375281"/>
                          </a:stretch>
                        </a:blipFill>
                      </a:tcPr>
                    </a:tc>
                    <a:tc hMerge="1">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63776" t="-182022" r="-237245" b="-375281"/>
                          </a:stretch>
                        </a:blipFill>
                      </a:tcPr>
                    </a:tc>
                    <a:tc hMerge="1">
                      <a:txBody>
                        <a:bodyPr/>
                        <a:lstStyle/>
                        <a:p>
                          <a:pPr algn="ctr">
                            <a:spcAft>
                              <a:spcPts val="0"/>
                            </a:spcAft>
                          </a:pP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zh-TW" alt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zh-TW" altLang="en-US" sz="14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04800">
                    <a:tc gridSpan="7">
                      <a:txBody>
                        <a:bodyPr/>
                        <a:lstStyle/>
                        <a:p>
                          <a:pPr algn="ctr">
                            <a:spcAft>
                              <a:spcPts val="0"/>
                            </a:spcAft>
                          </a:pP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algn="l">
                            <a:spcAft>
                              <a:spcPts val="0"/>
                            </a:spcAft>
                          </a:pP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pPr algn="ctr">
                            <a:spcAft>
                              <a:spcPts val="0"/>
                            </a:spcAft>
                          </a:pP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3332">
                    <a:tc>
                      <a:txBody>
                        <a:bodyPr/>
                        <a:lstStyle/>
                        <a:p>
                          <a:pPr algn="ctr"/>
                          <a:endParaRPr lang="zh-TW" sz="1400" kern="100">
                            <a:effectLst/>
                            <a:latin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價值</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起始</a:t>
                          </a:r>
                          <a:endParaRPr lang="en-US" alt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持有</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比例</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gridSpan="2">
                      <a:txBody>
                        <a:bodyPr/>
                        <a:lstStyle/>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endParaRPr lang="en-US" alt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轉換</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比例</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a:txBody>
                        <a:bodyPr/>
                        <a:lstStyle/>
                        <a:p>
                          <a:pPr algn="ctr">
                            <a:spcAft>
                              <a:spcPts val="0"/>
                            </a:spcAft>
                          </a:pP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當</a:t>
                          </a: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期</a:t>
                          </a:r>
                          <a:endParaRPr lang="en-US" alt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ctr">
                            <a:spcAft>
                              <a:spcPts val="0"/>
                            </a:spcAft>
                          </a:pPr>
                          <a:r>
                            <a:rPr lang="zh-TW" sz="1400" b="1" kern="100" dirty="0" smtClean="0">
                              <a:effectLst/>
                              <a:latin typeface="Times New Roman" panose="02020603050405020304" pitchFamily="18" charset="0"/>
                              <a:ea typeface="標楷體" panose="03000509000000000000" pitchFamily="65" charset="-120"/>
                              <a:cs typeface="Times New Roman" panose="02020603050405020304" pitchFamily="18" charset="0"/>
                            </a:rPr>
                            <a:t>最佳</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轉換比例</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56381">
                    <a:tc>
                      <a:txBody>
                        <a:bodyPr/>
                        <a:lstStyle/>
                        <a:p>
                          <a:pPr algn="ctr">
                            <a:spcAft>
                              <a:spcPts val="0"/>
                            </a:spcAft>
                          </a:pP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99190" t="-429348" r="-277733" b="-106522"/>
                          </a:stretch>
                        </a:blipFill>
                      </a:tcPr>
                    </a:tc>
                    <a:tc gridSpan="2">
                      <a:txBody>
                        <a:bodyPr/>
                        <a:lstStyle/>
                        <a:p>
                          <a:pPr algn="ctr">
                            <a:spcAft>
                              <a:spcPts val="0"/>
                            </a:spcAft>
                          </a:pPr>
                          <a:r>
                            <a:rPr lang="en-US" sz="1400" b="1" kern="10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gridSpan="2">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85957" t="-429348" r="-115319" b="-106522"/>
                          </a:stretch>
                        </a:blipFill>
                      </a:tcPr>
                    </a:tc>
                    <a:tc hMerge="1">
                      <a:txBody>
                        <a:bodyPr/>
                        <a:lstStyle/>
                        <a:p>
                          <a:endParaRPr lang="zh-TW" altLang="en-US"/>
                        </a:p>
                      </a:txBody>
                      <a:tcPr/>
                    </a:tc>
                    <a:tc>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337175" t="-429348" r="-743" b="-106522"/>
                          </a:stretch>
                        </a:blipFill>
                      </a:tcPr>
                    </a:tc>
                  </a:tr>
                  <a:tr h="556381">
                    <a:tc>
                      <a:txBody>
                        <a:bodyPr/>
                        <a:lstStyle/>
                        <a:p>
                          <a:pPr algn="ctr">
                            <a:spcAft>
                              <a:spcPts val="0"/>
                            </a:spcAft>
                          </a:pP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400" b="1" kern="1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99190" t="-535165" r="-277733" b="-7692"/>
                          </a:stretch>
                        </a:blipFill>
                      </a:tcPr>
                    </a:tc>
                    <a:tc gridSpan="2">
                      <a:txBody>
                        <a:bodyPr/>
                        <a:lstStyle/>
                        <a:p>
                          <a:pPr algn="ctr">
                            <a:spcAft>
                              <a:spcPts val="0"/>
                            </a:spcAft>
                          </a:pPr>
                          <a:r>
                            <a:rPr lang="en-US" sz="1400" b="1" kern="10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gridSpan="2">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85957" t="-535165" r="-115319" b="-7692"/>
                          </a:stretch>
                        </a:blipFill>
                      </a:tcPr>
                    </a:tc>
                    <a:tc hMerge="1">
                      <a:txBody>
                        <a:bodyPr/>
                        <a:lstStyle/>
                        <a:p>
                          <a:endParaRPr lang="zh-TW" altLang="en-US"/>
                        </a:p>
                      </a:txBody>
                      <a:tcPr/>
                    </a:tc>
                    <a:tc>
                      <a:txBody>
                        <a:bodyPr/>
                        <a:lstStyle/>
                        <a:p>
                          <a:endParaRPr lang="zh-TW"/>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337175" t="-535165" r="-743" b="-7692"/>
                          </a:stretch>
                        </a:blipFill>
                      </a:tcPr>
                    </a:tc>
                  </a:tr>
                </a:tbl>
              </a:graphicData>
            </a:graphic>
          </p:graphicFrame>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11</a:t>
            </a:fld>
            <a:endParaRPr lang="zh-TW" altLang="en-US"/>
          </a:p>
        </p:txBody>
      </p:sp>
      <mc:AlternateContent xmlns:mc="http://schemas.openxmlformats.org/markup-compatibility/2006" xmlns:a14="http://schemas.microsoft.com/office/drawing/2010/main">
        <mc:Choice Requires="a14">
          <p:sp>
            <p:nvSpPr>
              <p:cNvPr id="9" name="文字方塊 8"/>
              <p:cNvSpPr txBox="1"/>
              <p:nvPr/>
            </p:nvSpPr>
            <p:spPr>
              <a:xfrm>
                <a:off x="7368653" y="1474278"/>
                <a:ext cx="3985147" cy="3158557"/>
              </a:xfrm>
              <a:prstGeom prst="rect">
                <a:avLst/>
              </a:prstGeom>
              <a:noFill/>
            </p:spPr>
            <p:txBody>
              <a:bodyPr wrap="square" rtlCol="0">
                <a:spAutoFit/>
              </a:bodyPr>
              <a:lstStyle/>
              <a:p>
                <a:pPr marL="419100">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a:effectLst/>
                              <a:latin typeface="Cambria Math" panose="02040503050406030204" pitchFamily="18" charset="0"/>
                              <a:ea typeface="標楷體" panose="03000509000000000000" pitchFamily="65" charset="-120"/>
                              <a:cs typeface="Times New Roman" panose="02020603050405020304" pitchFamily="18" charset="0"/>
                            </a:rPr>
                            <m:t>y</m:t>
                          </m:r>
                        </m:e>
                        <m:sub>
                          <m:r>
                            <m:rPr>
                              <m:sty m:val="p"/>
                            </m:rPr>
                            <a:rPr lang="en-US" altLang="zh-TW">
                              <a:effectLst/>
                              <a:latin typeface="Cambria Math" panose="02040503050406030204" pitchFamily="18" charset="0"/>
                              <a:ea typeface="標楷體" panose="03000509000000000000" pitchFamily="65" charset="-120"/>
                              <a:cs typeface="Times New Roman" panose="02020603050405020304" pitchFamily="18" charset="0"/>
                            </a:rPr>
                            <m:t>i</m:t>
                          </m:r>
                        </m:sub>
                      </m:sSub>
                      <m:r>
                        <a:rPr lang="zh-TW" altLang="zh-TW">
                          <a:effectLst/>
                          <a:latin typeface="Cambria Math" panose="02040503050406030204" pitchFamily="18" charset="0"/>
                          <a:ea typeface="標楷體" panose="03000509000000000000" pitchFamily="65" charset="-120"/>
                          <a:cs typeface="Times New Roman" panose="02020603050405020304" pitchFamily="18" charset="0"/>
                        </a:rPr>
                        <m:t>：當期累積總轉換比例</m:t>
                      </m:r>
                      <m:r>
                        <a:rPr lang="en-US" altLang="zh-TW">
                          <a:effectLst/>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effectLst/>
                              <a:latin typeface="Cambria Math" panose="02040503050406030204" pitchFamily="18" charset="0"/>
                              <a:ea typeface="標楷體" panose="03000509000000000000" pitchFamily="65" charset="-120"/>
                              <a:cs typeface="Times New Roman" panose="02020603050405020304" pitchFamily="18" charset="0"/>
                            </a:rPr>
                            <m:t>𝑎</m:t>
                          </m:r>
                        </m:e>
                        <m:sub>
                          <m:r>
                            <a:rPr lang="en-US" altLang="zh-TW" i="1">
                              <a:effectLst/>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a:effectLst/>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effectLst/>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i="1">
                              <a:effectLst/>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a:effectLst/>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zh-TW" dirty="0">
                  <a:effectLst/>
                  <a:latin typeface="Times New Roman" panose="02020603050405020304" pitchFamily="18" charset="0"/>
                  <a:ea typeface="標楷體" panose="03000509000000000000" pitchFamily="65" charset="-120"/>
                  <a:cs typeface="Times New Roman" panose="02020603050405020304" pitchFamily="18" charset="0"/>
                </a:endParaRPr>
              </a:p>
              <a:p>
                <a:pPr marL="419100">
                  <a:lnSpc>
                    <a:spcPct val="107000"/>
                  </a:lnSpc>
                  <a:spcAft>
                    <a:spcPts val="0"/>
                  </a:spcAft>
                </a:pP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T</a:t>
                </a:r>
                <a:r>
                  <a:rPr lang="zh-TW" altLang="zh-TW"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solidFill>
                      <a:srgbClr val="000000"/>
                    </a:solidFill>
                    <a:latin typeface="新細明體" panose="02020500000000000000" pitchFamily="18" charset="-120"/>
                    <a:ea typeface="Times New Roman" panose="02020603050405020304" pitchFamily="18" charset="0"/>
                    <a:cs typeface="新細明體" panose="02020500000000000000" pitchFamily="18" charset="-120"/>
                  </a:rPr>
                  <a:t> </a:t>
                </a:r>
                <a:r>
                  <a:rPr lang="zh-TW" altLang="zh-TW" dirty="0">
                    <a:solidFill>
                      <a:srgbClr val="000000"/>
                    </a:solidFill>
                    <a:latin typeface="新細明體" panose="02020500000000000000" pitchFamily="18" charset="-120"/>
                    <a:ea typeface="標楷體" panose="03000509000000000000" pitchFamily="65" charset="-120"/>
                  </a:rPr>
                  <a:t>可轉換公司債到期日</a:t>
                </a:r>
                <a:endParaRPr lang="zh-TW" altLang="zh-TW" dirty="0">
                  <a:latin typeface="新細明體" panose="02020500000000000000" pitchFamily="18" charset="-120"/>
                  <a:cs typeface="新細明體" panose="02020500000000000000" pitchFamily="18" charset="-120"/>
                </a:endParaRPr>
              </a:p>
              <a:p>
                <a:pPr marL="419100">
                  <a:lnSpc>
                    <a:spcPct val="107000"/>
                  </a:lnSpc>
                  <a:spcAft>
                    <a:spcPts val="0"/>
                  </a:spcAft>
                </a:pP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n</a:t>
                </a:r>
                <a:r>
                  <a:rPr lang="zh-TW" altLang="zh-TW"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solidFill>
                      <a:srgbClr val="000000"/>
                    </a:solidFill>
                    <a:latin typeface="新細明體" panose="02020500000000000000" pitchFamily="18" charset="-120"/>
                    <a:ea typeface="標楷體" panose="03000509000000000000" pitchFamily="65" charset="-120"/>
                  </a:rPr>
                  <a:t>資產樹的總期數</a:t>
                </a:r>
                <a:endParaRPr lang="zh-TW" altLang="zh-TW" dirty="0">
                  <a:latin typeface="新細明體" panose="02020500000000000000" pitchFamily="18" charset="-120"/>
                  <a:cs typeface="新細明體" panose="02020500000000000000" pitchFamily="18" charset="-120"/>
                </a:endParaRPr>
              </a:p>
              <a:p>
                <a:pPr marL="419100">
                  <a:lnSpc>
                    <a:spcPct val="107000"/>
                  </a:lnSpc>
                  <a:spcAft>
                    <a:spcPts val="0"/>
                  </a:spcAft>
                </a:pPr>
                <a:r>
                  <a:rPr lang="en-US" altLang="zh-TW" dirty="0" err="1">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Δt</a:t>
                </a:r>
                <a:r>
                  <a:rPr lang="zh-TW" altLang="zh-TW"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solidFill>
                      <a:srgbClr val="000000"/>
                    </a:solidFill>
                    <a:latin typeface="新細明體" panose="02020500000000000000" pitchFamily="18" charset="-120"/>
                    <a:ea typeface="標楷體" panose="03000509000000000000" pitchFamily="65" charset="-120"/>
                  </a:rPr>
                  <a:t>時間間隔</a:t>
                </a: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 T/n )</a:t>
                </a:r>
                <a:endParaRPr lang="zh-TW" altLang="zh-TW" dirty="0">
                  <a:latin typeface="新細明體" panose="02020500000000000000" pitchFamily="18" charset="-120"/>
                  <a:cs typeface="新細明體" panose="02020500000000000000" pitchFamily="18" charset="-120"/>
                </a:endParaRPr>
              </a:p>
              <a:p>
                <a:pPr marL="419100">
                  <a:lnSpc>
                    <a:spcPct val="107000"/>
                  </a:lnSpc>
                  <a:spcAft>
                    <a:spcPts val="0"/>
                  </a:spcAft>
                </a:pPr>
                <a:r>
                  <a:rPr lang="en-US" altLang="zh-TW" dirty="0" err="1">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i</a:t>
                </a:r>
                <a:r>
                  <a:rPr lang="zh-TW" altLang="zh-TW"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solidFill>
                      <a:srgbClr val="000000"/>
                    </a:solidFill>
                    <a:latin typeface="新細明體" panose="02020500000000000000" pitchFamily="18" charset="-120"/>
                    <a:ea typeface="標楷體" panose="03000509000000000000" pitchFamily="65" charset="-120"/>
                  </a:rPr>
                  <a:t>資產樹期數，</a:t>
                </a: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0 ≤ </a:t>
                </a:r>
                <a:r>
                  <a:rPr lang="en-US" altLang="zh-TW" dirty="0" err="1">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i</a:t>
                </a: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 ≤ n</a:t>
                </a:r>
                <a:endParaRPr lang="zh-TW" altLang="zh-TW" dirty="0">
                  <a:latin typeface="新細明體" panose="02020500000000000000" pitchFamily="18" charset="-120"/>
                  <a:cs typeface="新細明體" panose="02020500000000000000" pitchFamily="18" charset="-120"/>
                </a:endParaRPr>
              </a:p>
              <a:p>
                <a:pPr marL="419100">
                  <a:lnSpc>
                    <a:spcPct val="107000"/>
                  </a:lnSpc>
                  <a:spcAft>
                    <a:spcPts val="0"/>
                  </a:spcAft>
                </a:pP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γ</a:t>
                </a:r>
                <a:r>
                  <a:rPr lang="zh-TW" altLang="zh-TW"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solidFill>
                      <a:srgbClr val="000000"/>
                    </a:solidFill>
                    <a:latin typeface="新細明體" panose="02020500000000000000" pitchFamily="18" charset="-120"/>
                    <a:ea typeface="標楷體" panose="03000509000000000000" pitchFamily="65" charset="-120"/>
                  </a:rPr>
                  <a:t>債券轉換成股票的比例</a:t>
                </a:r>
                <a:r>
                  <a:rPr lang="en-US" altLang="zh-TW" dirty="0">
                    <a:solidFill>
                      <a:srgbClr val="000000"/>
                    </a:solidFill>
                    <a:latin typeface="新細明體" panose="02020500000000000000" pitchFamily="18" charset="-120"/>
                    <a:ea typeface="標楷體" panose="03000509000000000000" pitchFamily="65" charset="-120"/>
                  </a:rPr>
                  <a:t> (i.e.</a:t>
                </a:r>
                <a:r>
                  <a:rPr lang="zh-TW" altLang="zh-TW" dirty="0">
                    <a:solidFill>
                      <a:srgbClr val="000000"/>
                    </a:solidFill>
                    <a:latin typeface="新細明體" panose="02020500000000000000" pitchFamily="18" charset="-120"/>
                    <a:ea typeface="標楷體" panose="03000509000000000000" pitchFamily="65" charset="-120"/>
                  </a:rPr>
                  <a:t>一張債券可換γ股的股票</a:t>
                </a:r>
                <a:r>
                  <a:rPr lang="en-US" altLang="zh-TW" dirty="0">
                    <a:solidFill>
                      <a:srgbClr val="000000"/>
                    </a:solidFill>
                    <a:latin typeface="新細明體" panose="02020500000000000000" pitchFamily="18" charset="-120"/>
                    <a:ea typeface="標楷體" panose="03000509000000000000" pitchFamily="65" charset="-120"/>
                  </a:rPr>
                  <a:t>)</a:t>
                </a:r>
                <a:endParaRPr lang="zh-TW" altLang="zh-TW" dirty="0">
                  <a:latin typeface="新細明體" panose="02020500000000000000" pitchFamily="18" charset="-120"/>
                  <a:cs typeface="新細明體" panose="02020500000000000000" pitchFamily="18" charset="-120"/>
                </a:endParaRPr>
              </a:p>
              <a:p>
                <a:pPr marL="419100">
                  <a:lnSpc>
                    <a:spcPct val="107000"/>
                  </a:lnSpc>
                  <a:spcAft>
                    <a:spcPts val="0"/>
                  </a:spcAft>
                </a:pPr>
                <a:r>
                  <a:rPr lang="en-US" altLang="zh-TW" dirty="0" smtClean="0">
                    <a:solidFill>
                      <a:srgbClr val="000000"/>
                    </a:solidFill>
                    <a:latin typeface="標楷體" panose="03000509000000000000" pitchFamily="65" charset="-120"/>
                  </a:rPr>
                  <a:t>r</a:t>
                </a:r>
                <a:r>
                  <a:rPr lang="zh-TW" altLang="zh-TW" dirty="0">
                    <a:solidFill>
                      <a:srgbClr val="000000"/>
                    </a:solidFill>
                    <a:latin typeface="新細明體" panose="02020500000000000000" pitchFamily="18" charset="-120"/>
                    <a:ea typeface="標楷體" panose="03000509000000000000" pitchFamily="65" charset="-120"/>
                  </a:rPr>
                  <a:t>：無風險</a:t>
                </a:r>
                <a:r>
                  <a:rPr lang="zh-TW" altLang="zh-TW" dirty="0" smtClean="0">
                    <a:solidFill>
                      <a:srgbClr val="000000"/>
                    </a:solidFill>
                    <a:latin typeface="新細明體" panose="02020500000000000000" pitchFamily="18" charset="-120"/>
                    <a:ea typeface="標楷體" panose="03000509000000000000" pitchFamily="65" charset="-120"/>
                  </a:rPr>
                  <a:t>利率</a:t>
                </a:r>
                <a:endParaRPr lang="en-US" altLang="zh-TW" dirty="0" smtClean="0">
                  <a:solidFill>
                    <a:srgbClr val="000000"/>
                  </a:solidFill>
                  <a:latin typeface="新細明體" panose="02020500000000000000" pitchFamily="18" charset="-120"/>
                  <a:ea typeface="標楷體" panose="03000509000000000000" pitchFamily="65" charset="-120"/>
                </a:endParaRPr>
              </a:p>
              <a:p>
                <a:pPr marL="419100">
                  <a:lnSpc>
                    <a:spcPct val="107000"/>
                  </a:lnSpc>
                </a:pP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τ</a:t>
                </a:r>
                <a:r>
                  <a:rPr lang="zh-TW" altLang="zh-TW"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solidFill>
                      <a:srgbClr val="000000"/>
                    </a:solidFill>
                    <a:latin typeface="新細明體" panose="02020500000000000000" pitchFamily="18" charset="-120"/>
                    <a:ea typeface="標楷體" panose="03000509000000000000" pitchFamily="65" charset="-120"/>
                  </a:rPr>
                  <a:t>稅率 </a:t>
                </a:r>
                <a:endParaRPr lang="zh-TW" altLang="zh-TW" dirty="0">
                  <a:latin typeface="新細明體" panose="02020500000000000000" pitchFamily="18" charset="-120"/>
                  <a:cs typeface="新細明體" panose="02020500000000000000" pitchFamily="18" charset="-120"/>
                </a:endParaRPr>
              </a:p>
              <a:p>
                <a:pPr marL="419100">
                  <a:lnSpc>
                    <a:spcPct val="107000"/>
                  </a:lnSpc>
                  <a:spcAft>
                    <a:spcPts val="0"/>
                  </a:spcAft>
                </a:pPr>
                <a:r>
                  <a:rPr lang="en-US" altLang="zh-TW" dirty="0">
                    <a:solidFill>
                      <a:srgbClr val="000000"/>
                    </a:solidFill>
                    <a:latin typeface="Times New Roman" panose="02020603050405020304" pitchFamily="18" charset="0"/>
                    <a:ea typeface="標楷體" panose="03000509000000000000" pitchFamily="65" charset="-120"/>
                    <a:cs typeface="新細明體" panose="02020500000000000000" pitchFamily="18" charset="-120"/>
                  </a:rPr>
                  <a:t>ρ</a:t>
                </a:r>
                <a:r>
                  <a:rPr lang="zh-TW" altLang="zh-TW"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solidFill>
                      <a:srgbClr val="000000"/>
                    </a:solidFill>
                    <a:latin typeface="新細明體" panose="02020500000000000000" pitchFamily="18" charset="-120"/>
                    <a:ea typeface="標楷體" panose="03000509000000000000" pitchFamily="65" charset="-120"/>
                  </a:rPr>
                  <a:t>破產</a:t>
                </a:r>
                <a:r>
                  <a:rPr lang="zh-TW" altLang="zh-TW" dirty="0" smtClean="0">
                    <a:solidFill>
                      <a:srgbClr val="000000"/>
                    </a:solidFill>
                    <a:latin typeface="新細明體" panose="02020500000000000000" pitchFamily="18" charset="-120"/>
                    <a:ea typeface="標楷體" panose="03000509000000000000" pitchFamily="65" charset="-120"/>
                  </a:rPr>
                  <a:t>成本</a:t>
                </a:r>
                <a:endParaRPr lang="zh-TW" altLang="zh-TW" dirty="0">
                  <a:latin typeface="新細明體" panose="02020500000000000000" pitchFamily="18" charset="-120"/>
                  <a:cs typeface="新細明體" panose="02020500000000000000" pitchFamily="18" charset="-120"/>
                </a:endParaRPr>
              </a:p>
            </p:txBody>
          </p:sp>
        </mc:Choice>
        <mc:Fallback xmlns="">
          <p:sp>
            <p:nvSpPr>
              <p:cNvPr id="9" name="文字方塊 8"/>
              <p:cNvSpPr txBox="1">
                <a:spLocks noRot="1" noChangeAspect="1" noMove="1" noResize="1" noEditPoints="1" noAdjustHandles="1" noChangeArrowheads="1" noChangeShapeType="1" noTextEdit="1"/>
              </p:cNvSpPr>
              <p:nvPr/>
            </p:nvSpPr>
            <p:spPr>
              <a:xfrm>
                <a:off x="7368653" y="1474278"/>
                <a:ext cx="3985147" cy="3158557"/>
              </a:xfrm>
              <a:prstGeom prst="rect">
                <a:avLst/>
              </a:prstGeom>
              <a:blipFill rotWithShape="0">
                <a:blip r:embed="rId3"/>
                <a:stretch>
                  <a:fillRect b="-17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p:cNvSpPr txBox="1"/>
              <p:nvPr/>
            </p:nvSpPr>
            <p:spPr>
              <a:xfrm>
                <a:off x="0" y="5169743"/>
                <a:ext cx="8320548" cy="1186607"/>
              </a:xfrm>
              <a:prstGeom prst="rect">
                <a:avLst/>
              </a:prstGeom>
              <a:noFill/>
            </p:spPr>
            <p:txBody>
              <a:bodyPr wrap="square" rtlCol="0">
                <a:spAutoFit/>
              </a:bodyPr>
              <a:lstStyle/>
              <a:p>
                <a:pPr marL="419100">
                  <a:lnSpc>
                    <a:spcPct val="107000"/>
                  </a:lnSpc>
                  <a:spcAft>
                    <a:spcPts val="800"/>
                  </a:spcAft>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註：</a:t>
                </a:r>
              </a:p>
              <a:p>
                <a:pPr marL="800100" lvl="1" indent="-342900">
                  <a:lnSpc>
                    <a:spcPct val="107000"/>
                  </a:lnSpc>
                  <a:spcAft>
                    <a:spcPts val="800"/>
                  </a:spcAft>
                  <a:buFont typeface="+mj-lt"/>
                  <a:buAutoNum type="arabicPeriod"/>
                </a:pPr>
                <a:r>
                  <a:rPr lang="zh-TW" altLang="zh-TW" dirty="0">
                    <a:effectLst/>
                    <a:latin typeface="Times New Roman" panose="02020603050405020304" pitchFamily="18" charset="0"/>
                    <a:ea typeface="標楷體" panose="03000509000000000000" pitchFamily="65" charset="-120"/>
                    <a:cs typeface="Times New Roman" panose="02020603050405020304" pitchFamily="18" charset="0"/>
                  </a:rPr>
                  <a:t>其中足標代表期數，例如</a:t>
                </a:r>
                <a14:m>
                  <m:oMath xmlns:m="http://schemas.openxmlformats.org/officeDocument/2006/math">
                    <m:sSub>
                      <m:sSubPr>
                        <m:ctrlPr>
                          <a:rPr lang="zh-TW" altLang="zh-TW"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effectLst/>
                            <a:latin typeface="Cambria Math" panose="02040503050406030204" pitchFamily="18" charset="0"/>
                            <a:ea typeface="標楷體" panose="03000509000000000000" pitchFamily="65" charset="-120"/>
                            <a:cs typeface="Times New Roman" panose="02020603050405020304" pitchFamily="18" charset="0"/>
                          </a:rPr>
                          <m:t>𝐶𝐵</m:t>
                        </m:r>
                      </m:e>
                      <m:sub>
                        <m:r>
                          <a:rPr lang="en-US" altLang="zh-TW" i="1">
                            <a:effectLst/>
                            <a:latin typeface="Cambria Math" panose="02040503050406030204" pitchFamily="18" charset="0"/>
                            <a:ea typeface="標楷體" panose="03000509000000000000" pitchFamily="65" charset="-120"/>
                            <a:cs typeface="Times New Roman" panose="02020603050405020304" pitchFamily="18" charset="0"/>
                          </a:rPr>
                          <m:t>𝑖</m:t>
                        </m:r>
                      </m:sub>
                    </m:sSub>
                  </m:oMath>
                </a14:m>
                <a:r>
                  <a:rPr lang="zh-TW" altLang="zh-TW" dirty="0">
                    <a:effectLst/>
                    <a:latin typeface="Times New Roman" panose="02020603050405020304" pitchFamily="18" charset="0"/>
                    <a:ea typeface="標楷體" panose="03000509000000000000" pitchFamily="65" charset="-120"/>
                    <a:cs typeface="Times New Roman" panose="02020603050405020304" pitchFamily="18" charset="0"/>
                  </a:rPr>
                  <a:t>代表的第</a:t>
                </a:r>
                <a:r>
                  <a:rPr lang="en-US" altLang="zh-TW" dirty="0" err="1">
                    <a:effectLst/>
                    <a:latin typeface="Times New Roman" panose="02020603050405020304" pitchFamily="18" charset="0"/>
                    <a:ea typeface="標楷體" panose="03000509000000000000" pitchFamily="65" charset="-120"/>
                    <a:cs typeface="Times New Roman" panose="02020603050405020304" pitchFamily="18" charset="0"/>
                  </a:rPr>
                  <a:t>i</a:t>
                </a:r>
                <a:r>
                  <a:rPr lang="zh-TW" altLang="zh-TW" dirty="0">
                    <a:effectLst/>
                    <a:latin typeface="Times New Roman" panose="02020603050405020304" pitchFamily="18" charset="0"/>
                    <a:ea typeface="標楷體" panose="03000509000000000000" pitchFamily="65" charset="-120"/>
                    <a:cs typeface="Times New Roman" panose="02020603050405020304" pitchFamily="18" charset="0"/>
                  </a:rPr>
                  <a:t>期的可轉換公司債價值</a:t>
                </a:r>
              </a:p>
              <a:p>
                <a:pPr marL="800100" lvl="1" indent="-342900">
                  <a:lnSpc>
                    <a:spcPct val="107000"/>
                  </a:lnSpc>
                  <a:spcAft>
                    <a:spcPts val="800"/>
                  </a:spcAft>
                  <a:buFont typeface="+mj-lt"/>
                  <a:buAutoNum type="arabicPeriod"/>
                </a:pPr>
                <a:r>
                  <a:rPr lang="zh-TW" altLang="zh-TW" dirty="0">
                    <a:effectLst/>
                    <a:latin typeface="Times New Roman" panose="02020603050405020304" pitchFamily="18" charset="0"/>
                    <a:ea typeface="標楷體" panose="03000509000000000000" pitchFamily="65" charset="-120"/>
                    <a:cs typeface="Times New Roman" panose="02020603050405020304" pitchFamily="18" charset="0"/>
                  </a:rPr>
                  <a:t>可轉換公司債價值皆已扣除之前已轉換的可轉換公司債價值</a:t>
                </a:r>
              </a:p>
            </p:txBody>
          </p:sp>
        </mc:Choice>
        <mc:Fallback xmlns="">
          <p:sp>
            <p:nvSpPr>
              <p:cNvPr id="3" name="文字方塊 2"/>
              <p:cNvSpPr txBox="1">
                <a:spLocks noRot="1" noChangeAspect="1" noMove="1" noResize="1" noEditPoints="1" noAdjustHandles="1" noChangeArrowheads="1" noChangeShapeType="1" noTextEdit="1"/>
              </p:cNvSpPr>
              <p:nvPr/>
            </p:nvSpPr>
            <p:spPr>
              <a:xfrm>
                <a:off x="0" y="5169743"/>
                <a:ext cx="8320548" cy="1186607"/>
              </a:xfrm>
              <a:prstGeom prst="rect">
                <a:avLst/>
              </a:prstGeom>
              <a:blipFill rotWithShape="0">
                <a:blip r:embed="rId4"/>
                <a:stretch>
                  <a:fillRect t="-2051" b="-615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464564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marL="342900" lvl="0" indent="-342900">
              <a:lnSpc>
                <a:spcPct val="107000"/>
              </a:lnSpc>
              <a:spcAft>
                <a:spcPts val="800"/>
              </a:spcAft>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模擬可轉換轉換比例</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方式</a:t>
            </a:r>
            <a:endParaRPr lang="zh-TW" altLang="en-US" dirty="0"/>
          </a:p>
        </p:txBody>
      </p:sp>
      <p:pic>
        <p:nvPicPr>
          <p:cNvPr id="5" name="內容版面配置區 4"/>
          <p:cNvPicPr>
            <a:picLocks noGrp="1" noChangeAspect="1"/>
          </p:cNvPicPr>
          <p:nvPr>
            <p:ph idx="1"/>
          </p:nvPr>
        </p:nvPicPr>
        <p:blipFill>
          <a:blip r:embed="rId2"/>
          <a:stretch>
            <a:fillRect/>
          </a:stretch>
        </p:blipFill>
        <p:spPr>
          <a:xfrm>
            <a:off x="33064" y="1434356"/>
            <a:ext cx="11320736" cy="4488886"/>
          </a:xfrm>
          <a:prstGeom prst="rect">
            <a:avLst/>
          </a:prstGeom>
        </p:spPr>
      </p:pic>
      <p:sp>
        <p:nvSpPr>
          <p:cNvPr id="4" name="投影片編號版面配置區 3"/>
          <p:cNvSpPr>
            <a:spLocks noGrp="1"/>
          </p:cNvSpPr>
          <p:nvPr>
            <p:ph type="sldNum" sz="quarter" idx="12"/>
          </p:nvPr>
        </p:nvSpPr>
        <p:spPr/>
        <p:txBody>
          <a:bodyPr/>
          <a:lstStyle/>
          <a:p>
            <a:fld id="{31F877B7-FBF6-49BA-8BEB-3DB32DB27243}" type="slidenum">
              <a:rPr lang="zh-TW" altLang="en-US" smtClean="0"/>
              <a:t>12</a:t>
            </a:fld>
            <a:endParaRPr lang="zh-TW" altLang="en-US"/>
          </a:p>
        </p:txBody>
      </p:sp>
      <p:sp>
        <p:nvSpPr>
          <p:cNvPr id="6" name="文字方塊 5"/>
          <p:cNvSpPr txBox="1"/>
          <p:nvPr/>
        </p:nvSpPr>
        <p:spPr>
          <a:xfrm>
            <a:off x="5250428" y="3274142"/>
            <a:ext cx="6291536" cy="2215991"/>
          </a:xfrm>
          <a:prstGeom prst="rect">
            <a:avLst/>
          </a:prstGeom>
          <a:noFill/>
        </p:spPr>
        <p:txBody>
          <a:bodyPr wrap="square" rtlCol="0">
            <a:spAutoFit/>
          </a:bodyPr>
          <a:lstStyle/>
          <a:p>
            <a:r>
              <a:rPr lang="zh-TW" altLang="en-US" sz="2400" dirty="0" smtClean="0">
                <a:latin typeface="標楷體" panose="03000509000000000000" pitchFamily="65" charset="-120"/>
                <a:ea typeface="標楷體" panose="03000509000000000000" pitchFamily="65" charset="-120"/>
              </a:rPr>
              <a:t>橫軸表示第</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i-1</a:t>
            </a:r>
            <a:r>
              <a:rPr lang="zh-TW" altLang="en-US" sz="2400" dirty="0" smtClean="0">
                <a:latin typeface="標楷體" panose="03000509000000000000" pitchFamily="65" charset="-120"/>
                <a:ea typeface="標楷體" panose="03000509000000000000" pitchFamily="65" charset="-120"/>
              </a:rPr>
              <a:t>期</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CB</a:t>
            </a:r>
            <a:r>
              <a:rPr lang="zh-TW" altLang="en-US" sz="2400" dirty="0" smtClean="0">
                <a:latin typeface="標楷體" panose="03000509000000000000" pitchFamily="65" charset="-120"/>
                <a:ea typeface="標楷體" panose="03000509000000000000" pitchFamily="65" charset="-120"/>
              </a:rPr>
              <a:t>持有者</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1</a:t>
            </a:r>
            <a:r>
              <a:rPr lang="zh-TW" altLang="en-US" sz="2400" dirty="0" smtClean="0">
                <a:latin typeface="標楷體" panose="03000509000000000000" pitchFamily="65" charset="-120"/>
                <a:ea typeface="標楷體" panose="03000509000000000000" pitchFamily="65" charset="-120"/>
              </a:rPr>
              <a:t>累積已轉換比例</a:t>
            </a:r>
            <a:endParaRPr lang="en-US" altLang="zh-TW" sz="2400" dirty="0" smtClean="0">
              <a:latin typeface="標楷體" panose="03000509000000000000" pitchFamily="65" charset="-120"/>
              <a:ea typeface="標楷體" panose="03000509000000000000" pitchFamily="65" charset="-120"/>
            </a:endParaRPr>
          </a:p>
          <a:p>
            <a:r>
              <a:rPr lang="zh-TW" altLang="en-US" sz="2400" dirty="0" smtClean="0">
                <a:latin typeface="標楷體" panose="03000509000000000000" pitchFamily="65" charset="-120"/>
                <a:ea typeface="標楷體" panose="03000509000000000000" pitchFamily="65" charset="-120"/>
              </a:rPr>
              <a:t>縱軸表示第</a:t>
            </a:r>
            <a:r>
              <a:rPr lang="en-US" altLang="zh-TW" sz="2400" dirty="0" err="1" smtClean="0">
                <a:latin typeface="Times New Roman" panose="02020603050405020304" pitchFamily="18" charset="0"/>
                <a:ea typeface="標楷體" panose="03000509000000000000" pitchFamily="65" charset="-120"/>
                <a:cs typeface="Times New Roman" panose="02020603050405020304" pitchFamily="18" charset="0"/>
              </a:rPr>
              <a:t>i</a:t>
            </a:r>
            <a:r>
              <a:rPr lang="zh-TW" altLang="en-US" sz="2400" dirty="0" smtClean="0">
                <a:latin typeface="標楷體" panose="03000509000000000000" pitchFamily="65" charset="-120"/>
                <a:ea typeface="標楷體" panose="03000509000000000000" pitchFamily="65" charset="-120"/>
              </a:rPr>
              <a:t>期</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CB</a:t>
            </a:r>
            <a:r>
              <a:rPr lang="zh-TW" altLang="en-US" sz="2400" dirty="0" smtClean="0">
                <a:latin typeface="標楷體" panose="03000509000000000000" pitchFamily="65" charset="-120"/>
                <a:ea typeface="標楷體" panose="03000509000000000000" pitchFamily="65" charset="-120"/>
              </a:rPr>
              <a:t>持有者</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1</a:t>
            </a:r>
            <a:r>
              <a:rPr lang="zh-TW" altLang="en-US" sz="2400" dirty="0" smtClean="0">
                <a:latin typeface="標楷體" panose="03000509000000000000" pitchFamily="65" charset="-120"/>
                <a:ea typeface="標楷體" panose="03000509000000000000" pitchFamily="65" charset="-120"/>
              </a:rPr>
              <a:t>累積已轉換比例</a:t>
            </a:r>
            <a:endParaRPr lang="en-US" altLang="zh-TW" sz="2400" dirty="0">
              <a:latin typeface="標楷體" panose="03000509000000000000" pitchFamily="65" charset="-120"/>
              <a:ea typeface="標楷體" panose="03000509000000000000" pitchFamily="65" charset="-120"/>
            </a:endParaRPr>
          </a:p>
          <a:p>
            <a:endParaRPr lang="en-US" altLang="zh-TW" dirty="0" smtClean="0">
              <a:latin typeface="標楷體" panose="03000509000000000000" pitchFamily="65" charset="-120"/>
              <a:ea typeface="標楷體" panose="03000509000000000000" pitchFamily="65" charset="-120"/>
            </a:endParaRPr>
          </a:p>
          <a:p>
            <a:endParaRPr lang="en-US" altLang="zh-TW" dirty="0"/>
          </a:p>
          <a:p>
            <a:endParaRPr lang="en-US" altLang="zh-TW" dirty="0" smtClean="0"/>
          </a:p>
          <a:p>
            <a:endParaRPr lang="en-US" altLang="zh-TW" dirty="0"/>
          </a:p>
          <a:p>
            <a:endParaRPr lang="zh-TW" altLang="en-US" dirty="0"/>
          </a:p>
        </p:txBody>
      </p:sp>
    </p:spTree>
    <p:extLst>
      <p:ext uri="{BB962C8B-B14F-4D97-AF65-F5344CB8AC3E}">
        <p14:creationId xmlns:p14="http://schemas.microsoft.com/office/powerpoint/2010/main" val="30130021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latin typeface="標楷體" panose="03000509000000000000" pitchFamily="65" charset="-120"/>
                <a:ea typeface="標楷體" panose="03000509000000000000" pitchFamily="65" charset="-120"/>
              </a:rPr>
              <a:t>倒推法</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(Backward Induction)</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內容版面配置區 2"/>
          <p:cNvSpPr>
            <a:spLocks noGrp="1"/>
          </p:cNvSpPr>
          <p:nvPr>
            <p:ph idx="1"/>
          </p:nvPr>
        </p:nvSpPr>
        <p:spPr/>
        <p:txBody>
          <a:bodyPr/>
          <a:lstStyle/>
          <a:p>
            <a:pPr marL="342900" lvl="0" indent="-342900">
              <a:lnSpc>
                <a:spcPct val="100000"/>
              </a:lnSpc>
              <a:spcBef>
                <a:spcPct val="20000"/>
              </a:spcBef>
            </a:pPr>
            <a:r>
              <a:rPr lang="zh-TW" altLang="en-US" sz="3200" dirty="0" smtClean="0">
                <a:solidFill>
                  <a:prstClr val="black"/>
                </a:solidFill>
                <a:latin typeface="標楷體" pitchFamily="65" charset="-120"/>
                <a:ea typeface="標楷體" pitchFamily="65" charset="-120"/>
              </a:rPr>
              <a:t>我們將把樹狀結構分成</a:t>
            </a:r>
            <a:r>
              <a:rPr lang="zh-TW" altLang="en-US" sz="3200" dirty="0">
                <a:solidFill>
                  <a:prstClr val="black"/>
                </a:solidFill>
                <a:latin typeface="標楷體" pitchFamily="65" charset="-120"/>
                <a:ea typeface="標楷體" pitchFamily="65" charset="-120"/>
              </a:rPr>
              <a:t>三個階段來討論</a:t>
            </a:r>
            <a:endParaRPr lang="en-US" altLang="zh-TW" sz="3200" dirty="0">
              <a:solidFill>
                <a:prstClr val="black"/>
              </a:solidFill>
              <a:latin typeface="標楷體" pitchFamily="65" charset="-120"/>
              <a:ea typeface="標楷體" pitchFamily="65" charset="-120"/>
            </a:endParaRPr>
          </a:p>
          <a:p>
            <a:pPr marL="971550" lvl="1" indent="-514350">
              <a:lnSpc>
                <a:spcPct val="100000"/>
              </a:lnSpc>
              <a:spcBef>
                <a:spcPct val="20000"/>
              </a:spcBef>
              <a:buFont typeface="+mj-lt"/>
              <a:buAutoNum type="arabicPeriod"/>
            </a:pPr>
            <a:r>
              <a:rPr lang="zh-TW" altLang="en-US" sz="2800" dirty="0">
                <a:solidFill>
                  <a:prstClr val="black"/>
                </a:solidFill>
                <a:latin typeface="標楷體" pitchFamily="65" charset="-120"/>
                <a:ea typeface="標楷體" pitchFamily="65" charset="-120"/>
              </a:rPr>
              <a:t>到期日</a:t>
            </a:r>
            <a:endParaRPr lang="en-US" altLang="zh-TW" sz="2800" dirty="0">
              <a:solidFill>
                <a:prstClr val="black"/>
              </a:solidFill>
              <a:latin typeface="標楷體" pitchFamily="65" charset="-120"/>
              <a:ea typeface="標楷體" pitchFamily="65" charset="-120"/>
            </a:endParaRPr>
          </a:p>
          <a:p>
            <a:pPr marL="971550" lvl="1" indent="-514350">
              <a:lnSpc>
                <a:spcPct val="100000"/>
              </a:lnSpc>
              <a:spcBef>
                <a:spcPct val="20000"/>
              </a:spcBef>
              <a:buFont typeface="+mj-lt"/>
              <a:buAutoNum type="arabicPeriod"/>
            </a:pPr>
            <a:r>
              <a:rPr lang="zh-TW" altLang="en-US" sz="2800" dirty="0">
                <a:solidFill>
                  <a:prstClr val="black"/>
                </a:solidFill>
                <a:latin typeface="標楷體" pitchFamily="65" charset="-120"/>
                <a:ea typeface="標楷體" pitchFamily="65" charset="-120"/>
              </a:rPr>
              <a:t>到期前</a:t>
            </a:r>
            <a:endParaRPr lang="en-US" altLang="zh-TW" sz="2800" dirty="0">
              <a:solidFill>
                <a:prstClr val="black"/>
              </a:solidFill>
              <a:latin typeface="標楷體" pitchFamily="65" charset="-120"/>
              <a:ea typeface="標楷體" pitchFamily="65" charset="-120"/>
            </a:endParaRPr>
          </a:p>
          <a:p>
            <a:pPr marL="971550" lvl="1" indent="-514350">
              <a:lnSpc>
                <a:spcPct val="100000"/>
              </a:lnSpc>
              <a:spcBef>
                <a:spcPct val="20000"/>
              </a:spcBef>
              <a:buFont typeface="+mj-lt"/>
              <a:buAutoNum type="arabicPeriod"/>
            </a:pPr>
            <a:r>
              <a:rPr lang="zh-TW" altLang="en-US" sz="2800" dirty="0">
                <a:solidFill>
                  <a:prstClr val="black"/>
                </a:solidFill>
                <a:latin typeface="標楷體" pitchFamily="65" charset="-120"/>
                <a:ea typeface="標楷體" pitchFamily="65" charset="-120"/>
              </a:rPr>
              <a:t>發行日</a:t>
            </a:r>
            <a:endParaRPr lang="en-US" altLang="zh-TW" sz="2800" dirty="0">
              <a:solidFill>
                <a:prstClr val="black"/>
              </a:solidFill>
              <a:latin typeface="標楷體" pitchFamily="65" charset="-120"/>
              <a:ea typeface="標楷體" pitchFamily="65" charset="-120"/>
            </a:endParaRPr>
          </a:p>
          <a:p>
            <a:pPr marL="571500" lvl="0" indent="-514350">
              <a:lnSpc>
                <a:spcPct val="100000"/>
              </a:lnSpc>
              <a:spcBef>
                <a:spcPct val="20000"/>
              </a:spcBef>
            </a:pPr>
            <a:r>
              <a:rPr lang="zh-TW" altLang="en-US" sz="3200" dirty="0">
                <a:solidFill>
                  <a:prstClr val="black"/>
                </a:solidFill>
                <a:latin typeface="標楷體" pitchFamily="65" charset="-120"/>
                <a:ea typeface="標楷體" pitchFamily="65" charset="-120"/>
              </a:rPr>
              <a:t>每個節點中又分成</a:t>
            </a:r>
            <a:endParaRPr lang="en-US" altLang="zh-TW" sz="3200" dirty="0">
              <a:solidFill>
                <a:prstClr val="black"/>
              </a:solidFill>
              <a:latin typeface="標楷體" pitchFamily="65" charset="-120"/>
              <a:ea typeface="標楷體" pitchFamily="65" charset="-120"/>
            </a:endParaRPr>
          </a:p>
          <a:p>
            <a:pPr marL="971550" lvl="1" indent="-514350">
              <a:lnSpc>
                <a:spcPct val="100000"/>
              </a:lnSpc>
              <a:spcBef>
                <a:spcPct val="20000"/>
              </a:spcBef>
              <a:buFont typeface="Arial" pitchFamily="34" charset="0"/>
              <a:buChar char="–"/>
            </a:pPr>
            <a:r>
              <a:rPr lang="en-US" altLang="zh-TW" sz="2800" dirty="0">
                <a:solidFill>
                  <a:prstClr val="black"/>
                </a:solidFill>
                <a:latin typeface="Times New Roman" panose="02020603050405020304" pitchFamily="18" charset="0"/>
                <a:ea typeface="標楷體" pitchFamily="65" charset="-120"/>
                <a:cs typeface="Times New Roman" panose="02020603050405020304" pitchFamily="18" charset="0"/>
              </a:rPr>
              <a:t>Equity</a:t>
            </a:r>
          </a:p>
          <a:p>
            <a:pPr marL="971550" lvl="1" indent="-514350">
              <a:lnSpc>
                <a:spcPct val="100000"/>
              </a:lnSpc>
              <a:spcBef>
                <a:spcPct val="20000"/>
              </a:spcBef>
              <a:buFont typeface="Arial" pitchFamily="34" charset="0"/>
              <a:buChar char="–"/>
            </a:pPr>
            <a:r>
              <a:rPr lang="en-US" altLang="zh-TW" sz="2800" dirty="0" smtClean="0">
                <a:solidFill>
                  <a:prstClr val="black"/>
                </a:solidFill>
                <a:latin typeface="Times New Roman" panose="02020603050405020304" pitchFamily="18" charset="0"/>
                <a:ea typeface="標楷體" pitchFamily="65" charset="-120"/>
                <a:cs typeface="Times New Roman" panose="02020603050405020304" pitchFamily="18" charset="0"/>
              </a:rPr>
              <a:t>Convertible </a:t>
            </a:r>
            <a:r>
              <a:rPr lang="en-US" altLang="zh-TW" sz="2800" dirty="0">
                <a:solidFill>
                  <a:prstClr val="black"/>
                </a:solidFill>
                <a:latin typeface="Times New Roman" panose="02020603050405020304" pitchFamily="18" charset="0"/>
                <a:ea typeface="標楷體" pitchFamily="65" charset="-120"/>
                <a:cs typeface="Times New Roman" panose="02020603050405020304" pitchFamily="18" charset="0"/>
              </a:rPr>
              <a:t>Bond</a:t>
            </a:r>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13</a:t>
            </a:fld>
            <a:endParaRPr lang="zh-TW" altLang="en-US"/>
          </a:p>
        </p:txBody>
      </p:sp>
    </p:spTree>
    <p:extLst>
      <p:ext uri="{BB962C8B-B14F-4D97-AF65-F5344CB8AC3E}">
        <p14:creationId xmlns:p14="http://schemas.microsoft.com/office/powerpoint/2010/main" val="34977908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Equity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到期日：</a:t>
            </a:r>
            <a:endParaRPr lang="en-US" altLang="zh-TW" dirty="0" smtClean="0">
              <a:latin typeface="標楷體" panose="03000509000000000000" pitchFamily="65" charset="-120"/>
              <a:ea typeface="標楷體" panose="03000509000000000000" pitchFamily="65" charset="-120"/>
            </a:endParaRPr>
          </a:p>
          <a:p>
            <a:endParaRPr lang="en-US" altLang="zh-TW" dirty="0"/>
          </a:p>
          <a:p>
            <a:endParaRPr lang="en-US" altLang="zh-TW" dirty="0" smtClean="0"/>
          </a:p>
          <a:p>
            <a:r>
              <a:rPr lang="zh-TW" altLang="en-US" dirty="0" smtClean="0">
                <a:latin typeface="標楷體" panose="03000509000000000000" pitchFamily="65" charset="-120"/>
                <a:ea typeface="標楷體" panose="03000509000000000000" pitchFamily="65" charset="-120"/>
              </a:rPr>
              <a:t>股票價值計算：</a:t>
            </a:r>
            <a:endParaRPr lang="en-US" altLang="zh-TW" dirty="0" smtClean="0">
              <a:latin typeface="標楷體" panose="03000509000000000000" pitchFamily="65" charset="-120"/>
              <a:ea typeface="標楷體" panose="03000509000000000000" pitchFamily="65" charset="-120"/>
            </a:endParaRPr>
          </a:p>
          <a:p>
            <a:endParaRPr lang="en-US" altLang="zh-TW" dirty="0" smtClean="0"/>
          </a:p>
          <a:p>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14</a:t>
            </a:fld>
            <a:endParaRPr lang="zh-TW" altLang="en-US"/>
          </a:p>
        </p:txBody>
      </p:sp>
      <p:graphicFrame>
        <p:nvGraphicFramePr>
          <p:cNvPr id="18" name="物件 17"/>
          <p:cNvGraphicFramePr>
            <a:graphicFrameLocks noChangeAspect="1"/>
          </p:cNvGraphicFramePr>
          <p:nvPr>
            <p:extLst>
              <p:ext uri="{D42A27DB-BD31-4B8C-83A1-F6EECF244321}">
                <p14:modId xmlns:p14="http://schemas.microsoft.com/office/powerpoint/2010/main" val="2327326608"/>
              </p:ext>
            </p:extLst>
          </p:nvPr>
        </p:nvGraphicFramePr>
        <p:xfrm>
          <a:off x="1473200" y="2398713"/>
          <a:ext cx="7916863" cy="522287"/>
        </p:xfrm>
        <a:graphic>
          <a:graphicData uri="http://schemas.openxmlformats.org/presentationml/2006/ole">
            <mc:AlternateContent xmlns:mc="http://schemas.openxmlformats.org/markup-compatibility/2006">
              <mc:Choice xmlns:v="urn:schemas-microsoft-com:vml" Requires="v">
                <p:oleObj spid="_x0000_s4534" name="方程式" r:id="rId3" imgW="3466800" imgH="228600" progId="Equation.3">
                  <p:embed/>
                </p:oleObj>
              </mc:Choice>
              <mc:Fallback>
                <p:oleObj name="方程式" r:id="rId3" imgW="3466800" imgH="228600" progId="Equation.3">
                  <p:embed/>
                  <p:pic>
                    <p:nvPicPr>
                      <p:cNvPr id="0" name=""/>
                      <p:cNvPicPr/>
                      <p:nvPr/>
                    </p:nvPicPr>
                    <p:blipFill>
                      <a:blip r:embed="rId4"/>
                      <a:stretch>
                        <a:fillRect/>
                      </a:stretch>
                    </p:blipFill>
                    <p:spPr>
                      <a:xfrm>
                        <a:off x="1473200" y="2398713"/>
                        <a:ext cx="7916863" cy="522287"/>
                      </a:xfrm>
                      <a:prstGeom prst="rect">
                        <a:avLst/>
                      </a:prstGeom>
                    </p:spPr>
                  </p:pic>
                </p:oleObj>
              </mc:Fallback>
            </mc:AlternateContent>
          </a:graphicData>
        </a:graphic>
      </p:graphicFrame>
      <p:graphicFrame>
        <p:nvGraphicFramePr>
          <p:cNvPr id="19" name="物件 18"/>
          <p:cNvGraphicFramePr>
            <a:graphicFrameLocks noChangeAspect="1"/>
          </p:cNvGraphicFramePr>
          <p:nvPr>
            <p:extLst>
              <p:ext uri="{D42A27DB-BD31-4B8C-83A1-F6EECF244321}">
                <p14:modId xmlns:p14="http://schemas.microsoft.com/office/powerpoint/2010/main" val="276714706"/>
              </p:ext>
            </p:extLst>
          </p:nvPr>
        </p:nvGraphicFramePr>
        <p:xfrm>
          <a:off x="6038850" y="3319463"/>
          <a:ext cx="114300" cy="215900"/>
        </p:xfrm>
        <a:graphic>
          <a:graphicData uri="http://schemas.openxmlformats.org/presentationml/2006/ole">
            <mc:AlternateContent xmlns:mc="http://schemas.openxmlformats.org/markup-compatibility/2006">
              <mc:Choice xmlns:v="urn:schemas-microsoft-com:vml" Requires="v">
                <p:oleObj spid="_x0000_s4535" name="方程式" r:id="rId5" imgW="114120" imgH="215640" progId="Equation.3">
                  <p:embed/>
                </p:oleObj>
              </mc:Choice>
              <mc:Fallback>
                <p:oleObj name="方程式" r:id="rId5" imgW="114120" imgH="215640" progId="Equation.3">
                  <p:embed/>
                  <p:pic>
                    <p:nvPicPr>
                      <p:cNvPr id="0" name=""/>
                      <p:cNvPicPr/>
                      <p:nvPr/>
                    </p:nvPicPr>
                    <p:blipFill>
                      <a:blip r:embed="rId6"/>
                      <a:stretch>
                        <a:fillRect/>
                      </a:stretch>
                    </p:blipFill>
                    <p:spPr>
                      <a:xfrm>
                        <a:off x="6038850" y="3319463"/>
                        <a:ext cx="114300" cy="215900"/>
                      </a:xfrm>
                      <a:prstGeom prst="rect">
                        <a:avLst/>
                      </a:prstGeom>
                    </p:spPr>
                  </p:pic>
                </p:oleObj>
              </mc:Fallback>
            </mc:AlternateContent>
          </a:graphicData>
        </a:graphic>
      </p:graphicFrame>
      <p:graphicFrame>
        <p:nvGraphicFramePr>
          <p:cNvPr id="20" name="物件 19"/>
          <p:cNvGraphicFramePr>
            <a:graphicFrameLocks noChangeAspect="1"/>
          </p:cNvGraphicFramePr>
          <p:nvPr>
            <p:extLst>
              <p:ext uri="{D42A27DB-BD31-4B8C-83A1-F6EECF244321}">
                <p14:modId xmlns:p14="http://schemas.microsoft.com/office/powerpoint/2010/main" val="1418400323"/>
              </p:ext>
            </p:extLst>
          </p:nvPr>
        </p:nvGraphicFramePr>
        <p:xfrm>
          <a:off x="1560513" y="4248047"/>
          <a:ext cx="3971925" cy="893762"/>
        </p:xfrm>
        <a:graphic>
          <a:graphicData uri="http://schemas.openxmlformats.org/presentationml/2006/ole">
            <mc:AlternateContent xmlns:mc="http://schemas.openxmlformats.org/markup-compatibility/2006">
              <mc:Choice xmlns:v="urn:schemas-microsoft-com:vml" Requires="v">
                <p:oleObj spid="_x0000_s4536" name="方程式" r:id="rId7" imgW="1917360" imgH="431640" progId="Equation.3">
                  <p:embed/>
                </p:oleObj>
              </mc:Choice>
              <mc:Fallback>
                <p:oleObj name="方程式" r:id="rId7" imgW="1917360" imgH="431640" progId="Equation.3">
                  <p:embed/>
                  <p:pic>
                    <p:nvPicPr>
                      <p:cNvPr id="0" name=""/>
                      <p:cNvPicPr/>
                      <p:nvPr/>
                    </p:nvPicPr>
                    <p:blipFill>
                      <a:blip r:embed="rId8"/>
                      <a:stretch>
                        <a:fillRect/>
                      </a:stretch>
                    </p:blipFill>
                    <p:spPr>
                      <a:xfrm>
                        <a:off x="1560513" y="4248047"/>
                        <a:ext cx="3971925" cy="893762"/>
                      </a:xfrm>
                      <a:prstGeom prst="rect">
                        <a:avLst/>
                      </a:prstGeom>
                    </p:spPr>
                  </p:pic>
                </p:oleObj>
              </mc:Fallback>
            </mc:AlternateContent>
          </a:graphicData>
        </a:graphic>
      </p:graphicFrame>
      <p:sp>
        <p:nvSpPr>
          <p:cNvPr id="21" name="文字方塊 20"/>
          <p:cNvSpPr txBox="1"/>
          <p:nvPr/>
        </p:nvSpPr>
        <p:spPr>
          <a:xfrm>
            <a:off x="3848669" y="2934269"/>
            <a:ext cx="1119116"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公司價值</a:t>
            </a:r>
            <a:endParaRPr lang="zh-TW" altLang="en-US" dirty="0">
              <a:solidFill>
                <a:srgbClr val="FF0000"/>
              </a:solidFill>
              <a:latin typeface="標楷體" panose="03000509000000000000" pitchFamily="65" charset="-120"/>
              <a:ea typeface="標楷體" panose="03000509000000000000" pitchFamily="65" charset="-120"/>
            </a:endParaRPr>
          </a:p>
        </p:txBody>
      </p:sp>
      <p:sp>
        <p:nvSpPr>
          <p:cNvPr id="22" name="文字方塊 21"/>
          <p:cNvSpPr txBox="1"/>
          <p:nvPr/>
        </p:nvSpPr>
        <p:spPr>
          <a:xfrm>
            <a:off x="5745707" y="2950131"/>
            <a:ext cx="3002507"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未轉換之可轉換公司債價值</a:t>
            </a:r>
            <a:endParaRPr lang="zh-TW" altLang="en-US" dirty="0">
              <a:solidFill>
                <a:srgbClr val="FF0000"/>
              </a:solidFill>
              <a:latin typeface="標楷體" panose="03000509000000000000" pitchFamily="65" charset="-120"/>
              <a:ea typeface="標楷體" panose="03000509000000000000" pitchFamily="65" charset="-120"/>
            </a:endParaRPr>
          </a:p>
        </p:txBody>
      </p:sp>
      <p:pic>
        <p:nvPicPr>
          <p:cNvPr id="5" name="圖片 4"/>
          <p:cNvPicPr>
            <a:picLocks noChangeAspect="1"/>
          </p:cNvPicPr>
          <p:nvPr/>
        </p:nvPicPr>
        <p:blipFill>
          <a:blip r:embed="rId9"/>
          <a:stretch>
            <a:fillRect/>
          </a:stretch>
        </p:blipFill>
        <p:spPr>
          <a:xfrm>
            <a:off x="5665977" y="4399739"/>
            <a:ext cx="5889246" cy="701101"/>
          </a:xfrm>
          <a:prstGeom prst="rect">
            <a:avLst/>
          </a:prstGeom>
        </p:spPr>
      </p:pic>
    </p:spTree>
    <p:extLst>
      <p:ext uri="{BB962C8B-B14F-4D97-AF65-F5344CB8AC3E}">
        <p14:creationId xmlns:p14="http://schemas.microsoft.com/office/powerpoint/2010/main" val="31090049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Convertible Bond</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5" name="內容版面配置區 4"/>
          <p:cNvGraphicFramePr>
            <a:graphicFrameLocks noGrp="1" noChangeAspect="1"/>
          </p:cNvGraphicFramePr>
          <p:nvPr>
            <p:ph idx="1"/>
            <p:extLst>
              <p:ext uri="{D42A27DB-BD31-4B8C-83A1-F6EECF244321}">
                <p14:modId xmlns:p14="http://schemas.microsoft.com/office/powerpoint/2010/main" val="1017709242"/>
              </p:ext>
            </p:extLst>
          </p:nvPr>
        </p:nvGraphicFramePr>
        <p:xfrm>
          <a:off x="1101725" y="2354263"/>
          <a:ext cx="9913938" cy="1925637"/>
        </p:xfrm>
        <a:graphic>
          <a:graphicData uri="http://schemas.openxmlformats.org/presentationml/2006/ole">
            <mc:AlternateContent xmlns:mc="http://schemas.openxmlformats.org/markup-compatibility/2006">
              <mc:Choice xmlns:v="urn:schemas-microsoft-com:vml" Requires="v">
                <p:oleObj spid="_x0000_s5337" name="方程式" r:id="rId3" imgW="4838400" imgH="939600" progId="Equation.3">
                  <p:embed/>
                </p:oleObj>
              </mc:Choice>
              <mc:Fallback>
                <p:oleObj name="方程式" r:id="rId3" imgW="4838400" imgH="939600" progId="Equation.3">
                  <p:embed/>
                  <p:pic>
                    <p:nvPicPr>
                      <p:cNvPr id="0" name=""/>
                      <p:cNvPicPr/>
                      <p:nvPr/>
                    </p:nvPicPr>
                    <p:blipFill>
                      <a:blip r:embed="rId4"/>
                      <a:stretch>
                        <a:fillRect/>
                      </a:stretch>
                    </p:blipFill>
                    <p:spPr>
                      <a:xfrm>
                        <a:off x="1101725" y="2354263"/>
                        <a:ext cx="9913938" cy="1925637"/>
                      </a:xfrm>
                      <a:prstGeom prst="rect">
                        <a:avLst/>
                      </a:prstGeom>
                    </p:spPr>
                  </p:pic>
                </p:oleObj>
              </mc:Fallback>
            </mc:AlternateContent>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15</a:t>
            </a:fld>
            <a:endParaRPr lang="zh-TW" altLang="en-US"/>
          </a:p>
        </p:txBody>
      </p:sp>
      <p:sp>
        <p:nvSpPr>
          <p:cNvPr id="6" name="文字方塊 5"/>
          <p:cNvSpPr txBox="1"/>
          <p:nvPr/>
        </p:nvSpPr>
        <p:spPr>
          <a:xfrm>
            <a:off x="838200" y="1690688"/>
            <a:ext cx="10174407" cy="523220"/>
          </a:xfrm>
          <a:prstGeom prst="rect">
            <a:avLst/>
          </a:prstGeom>
          <a:noFill/>
        </p:spPr>
        <p:txBody>
          <a:bodyPr wrap="square" rtlCol="0">
            <a:spAutoFit/>
          </a:bodyPr>
          <a:lstStyle/>
          <a:p>
            <a:pPr marL="285750" indent="-285750">
              <a:buFont typeface="Arial" panose="020B0604020202020204" pitchFamily="34" charset="0"/>
              <a:buChar char="•"/>
            </a:pPr>
            <a:r>
              <a:rPr lang="zh-TW" altLang="en-US" sz="2800" dirty="0" smtClean="0">
                <a:latin typeface="標楷體" panose="03000509000000000000" pitchFamily="65" charset="-120"/>
                <a:ea typeface="標楷體" panose="03000509000000000000" pitchFamily="65" charset="-120"/>
              </a:rPr>
              <a:t>到期日</a:t>
            </a:r>
            <a:r>
              <a:rPr lang="en-US" altLang="zh-TW" sz="2800" dirty="0" smtClean="0">
                <a:latin typeface="標楷體" panose="03000509000000000000" pitchFamily="65" charset="-120"/>
                <a:ea typeface="標楷體" panose="03000509000000000000" pitchFamily="65" charset="-120"/>
              </a:rPr>
              <a:t>(</a:t>
            </a:r>
            <a:r>
              <a:rPr lang="zh-TW" altLang="en-US" sz="2800" dirty="0" smtClean="0">
                <a:latin typeface="標楷體" panose="03000509000000000000" pitchFamily="65" charset="-120"/>
                <a:ea typeface="標楷體" panose="03000509000000000000" pitchFamily="65" charset="-120"/>
              </a:rPr>
              <a:t>以</a:t>
            </a:r>
            <a:r>
              <a:rPr lang="en-US" altLang="zh-TW" sz="2800" dirty="0" smtClean="0">
                <a:latin typeface="標楷體" panose="03000509000000000000" pitchFamily="65" charset="-120"/>
                <a:ea typeface="標楷體" panose="03000509000000000000" pitchFamily="65" charset="-120"/>
              </a:rPr>
              <a:t>CB</a:t>
            </a:r>
            <a:r>
              <a:rPr lang="zh-TW" altLang="en-US" sz="2800" dirty="0" smtClean="0">
                <a:latin typeface="標楷體" panose="03000509000000000000" pitchFamily="65" charset="-120"/>
                <a:ea typeface="標楷體" panose="03000509000000000000" pitchFamily="65" charset="-120"/>
              </a:rPr>
              <a:t>持有者</a:t>
            </a:r>
            <a:r>
              <a:rPr lang="en-US" altLang="zh-TW" sz="2800" dirty="0" smtClean="0">
                <a:latin typeface="標楷體" panose="03000509000000000000" pitchFamily="65" charset="-120"/>
                <a:ea typeface="標楷體" panose="03000509000000000000" pitchFamily="65" charset="-120"/>
              </a:rPr>
              <a:t>1</a:t>
            </a:r>
            <a:r>
              <a:rPr lang="zh-TW" altLang="en-US" sz="2800" dirty="0" smtClean="0">
                <a:latin typeface="標楷體" panose="03000509000000000000" pitchFamily="65" charset="-120"/>
                <a:ea typeface="標楷體" panose="03000509000000000000" pitchFamily="65" charset="-120"/>
              </a:rPr>
              <a:t>為例</a:t>
            </a:r>
            <a:r>
              <a:rPr lang="en-US" altLang="zh-TW" sz="2800" dirty="0" smtClean="0">
                <a:latin typeface="標楷體" panose="03000509000000000000" pitchFamily="65" charset="-120"/>
                <a:ea typeface="標楷體" panose="03000509000000000000" pitchFamily="65" charset="-120"/>
              </a:rPr>
              <a:t>)</a:t>
            </a:r>
            <a:endParaRPr lang="zh-TW" altLang="en-US" sz="2800" dirty="0">
              <a:latin typeface="標楷體" panose="03000509000000000000" pitchFamily="65" charset="-120"/>
              <a:ea typeface="標楷體" panose="03000509000000000000" pitchFamily="65" charset="-120"/>
            </a:endParaRPr>
          </a:p>
        </p:txBody>
      </p:sp>
      <p:sp>
        <p:nvSpPr>
          <p:cNvPr id="8" name="文字方塊 7"/>
          <p:cNvSpPr txBox="1"/>
          <p:nvPr/>
        </p:nvSpPr>
        <p:spPr>
          <a:xfrm>
            <a:off x="5520518" y="3254688"/>
            <a:ext cx="2825087" cy="338554"/>
          </a:xfrm>
          <a:prstGeom prst="rect">
            <a:avLst/>
          </a:prstGeom>
          <a:noFill/>
        </p:spPr>
        <p:txBody>
          <a:bodyPr wrap="square" rtlCol="0">
            <a:spAutoFit/>
          </a:bodyPr>
          <a:lstStyle/>
          <a:p>
            <a:r>
              <a:rPr lang="zh-TW" altLang="en-US" sz="1600" dirty="0" smtClean="0">
                <a:solidFill>
                  <a:srgbClr val="FF0000"/>
                </a:solidFill>
                <a:latin typeface="標楷體" panose="03000509000000000000" pitchFamily="65" charset="-120"/>
                <a:ea typeface="標楷體" panose="03000509000000000000" pitchFamily="65" charset="-120"/>
              </a:rPr>
              <a:t>當期可轉換公司債轉換價值</a:t>
            </a:r>
            <a:endParaRPr lang="zh-TW" altLang="en-US" sz="1600" dirty="0">
              <a:solidFill>
                <a:srgbClr val="FF0000"/>
              </a:solidFill>
              <a:latin typeface="標楷體" panose="03000509000000000000" pitchFamily="65" charset="-120"/>
              <a:ea typeface="標楷體" panose="03000509000000000000" pitchFamily="65" charset="-120"/>
            </a:endParaRPr>
          </a:p>
        </p:txBody>
      </p:sp>
      <p:sp>
        <p:nvSpPr>
          <p:cNvPr id="9" name="文字方塊 8"/>
          <p:cNvSpPr txBox="1"/>
          <p:nvPr/>
        </p:nvSpPr>
        <p:spPr>
          <a:xfrm>
            <a:off x="1461850" y="3200917"/>
            <a:ext cx="3698543" cy="338554"/>
          </a:xfrm>
          <a:prstGeom prst="rect">
            <a:avLst/>
          </a:prstGeom>
          <a:noFill/>
        </p:spPr>
        <p:txBody>
          <a:bodyPr wrap="square" rtlCol="0">
            <a:spAutoFit/>
          </a:bodyPr>
          <a:lstStyle/>
          <a:p>
            <a:r>
              <a:rPr lang="en-US" altLang="zh-TW" sz="1600" dirty="0" smtClean="0">
                <a:solidFill>
                  <a:srgbClr val="FF0000"/>
                </a:solidFill>
                <a:latin typeface="標楷體" panose="03000509000000000000" pitchFamily="65" charset="-120"/>
                <a:ea typeface="標楷體" panose="03000509000000000000" pitchFamily="65" charset="-120"/>
              </a:rPr>
              <a:t>CB</a:t>
            </a:r>
            <a:r>
              <a:rPr lang="zh-TW" altLang="en-US" sz="1600" dirty="0" smtClean="0">
                <a:solidFill>
                  <a:srgbClr val="FF0000"/>
                </a:solidFill>
                <a:latin typeface="標楷體" panose="03000509000000000000" pitchFamily="65" charset="-120"/>
                <a:ea typeface="標楷體" panose="03000509000000000000" pitchFamily="65" charset="-120"/>
              </a:rPr>
              <a:t>持有者</a:t>
            </a:r>
            <a:r>
              <a:rPr lang="en-US" altLang="zh-TW" sz="1600" dirty="0" smtClean="0">
                <a:solidFill>
                  <a:srgbClr val="FF0000"/>
                </a:solidFill>
                <a:latin typeface="標楷體" panose="03000509000000000000" pitchFamily="65" charset="-120"/>
                <a:ea typeface="標楷體" panose="03000509000000000000" pitchFamily="65" charset="-120"/>
              </a:rPr>
              <a:t>1</a:t>
            </a:r>
            <a:r>
              <a:rPr lang="zh-TW" altLang="en-US" sz="1600" dirty="0" smtClean="0">
                <a:solidFill>
                  <a:srgbClr val="FF0000"/>
                </a:solidFill>
                <a:latin typeface="標楷體" panose="03000509000000000000" pitchFamily="65" charset="-120"/>
                <a:ea typeface="標楷體" panose="03000509000000000000" pitchFamily="65" charset="-120"/>
              </a:rPr>
              <a:t>未轉換之可轉換公司債價值</a:t>
            </a:r>
            <a:endParaRPr lang="zh-TW" altLang="en-US" sz="1600" dirty="0">
              <a:solidFill>
                <a:srgbClr val="FF0000"/>
              </a:solidFill>
              <a:latin typeface="標楷體" panose="03000509000000000000" pitchFamily="65" charset="-120"/>
              <a:ea typeface="標楷體" panose="03000509000000000000" pitchFamily="65" charset="-120"/>
            </a:endParaRPr>
          </a:p>
        </p:txBody>
      </p:sp>
      <p:sp>
        <p:nvSpPr>
          <p:cNvPr id="3" name="文字方塊 2"/>
          <p:cNvSpPr txBox="1"/>
          <p:nvPr/>
        </p:nvSpPr>
        <p:spPr>
          <a:xfrm>
            <a:off x="1268361" y="4142283"/>
            <a:ext cx="3262432" cy="338554"/>
          </a:xfrm>
          <a:prstGeom prst="rect">
            <a:avLst/>
          </a:prstGeom>
          <a:noFill/>
        </p:spPr>
        <p:txBody>
          <a:bodyPr wrap="none" rtlCol="0">
            <a:spAutoFit/>
          </a:bodyPr>
          <a:lstStyle/>
          <a:p>
            <a:r>
              <a:rPr lang="zh-TW" altLang="en-US" sz="1600" dirty="0" smtClean="0">
                <a:solidFill>
                  <a:srgbClr val="FF0000"/>
                </a:solidFill>
                <a:latin typeface="標楷體" panose="03000509000000000000" pitchFamily="65" charset="-120"/>
                <a:ea typeface="標楷體" panose="03000509000000000000" pitchFamily="65" charset="-120"/>
              </a:rPr>
              <a:t>扣除破產成本後依照剩餘比例分配</a:t>
            </a:r>
            <a:endParaRPr lang="zh-TW" altLang="en-US" sz="1600"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720360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Equity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到期前</a:t>
            </a:r>
            <a:endParaRPr lang="en-US" altLang="zh-TW" dirty="0" smtClean="0">
              <a:latin typeface="標楷體" panose="03000509000000000000" pitchFamily="65" charset="-120"/>
              <a:ea typeface="標楷體" panose="03000509000000000000" pitchFamily="65" charset="-120"/>
            </a:endParaRPr>
          </a:p>
          <a:p>
            <a:endParaRPr lang="en-US" altLang="zh-TW" dirty="0"/>
          </a:p>
          <a:p>
            <a:endParaRPr lang="en-US" altLang="zh-TW" dirty="0" smtClean="0"/>
          </a:p>
          <a:p>
            <a:pPr marL="0" indent="0">
              <a:buNone/>
            </a:pP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股票價值計算</a:t>
            </a:r>
            <a:endParaRPr lang="en-US" altLang="zh-TW" dirty="0" smtClean="0">
              <a:latin typeface="標楷體" panose="03000509000000000000" pitchFamily="65" charset="-120"/>
              <a:ea typeface="標楷體" panose="03000509000000000000" pitchFamily="65" charset="-120"/>
            </a:endParaRPr>
          </a:p>
          <a:p>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16</a:t>
            </a:fld>
            <a:endParaRPr lang="zh-TW" altLang="en-US" dirty="0"/>
          </a:p>
        </p:txBody>
      </p:sp>
      <p:graphicFrame>
        <p:nvGraphicFramePr>
          <p:cNvPr id="5" name="物件 4"/>
          <p:cNvGraphicFramePr>
            <a:graphicFrameLocks noChangeAspect="1"/>
          </p:cNvGraphicFramePr>
          <p:nvPr>
            <p:extLst>
              <p:ext uri="{D42A27DB-BD31-4B8C-83A1-F6EECF244321}">
                <p14:modId xmlns:p14="http://schemas.microsoft.com/office/powerpoint/2010/main" val="348818003"/>
              </p:ext>
            </p:extLst>
          </p:nvPr>
        </p:nvGraphicFramePr>
        <p:xfrm>
          <a:off x="1247775" y="2382838"/>
          <a:ext cx="10287000" cy="503237"/>
        </p:xfrm>
        <a:graphic>
          <a:graphicData uri="http://schemas.openxmlformats.org/presentationml/2006/ole">
            <mc:AlternateContent xmlns:mc="http://schemas.openxmlformats.org/markup-compatibility/2006">
              <mc:Choice xmlns:v="urn:schemas-microsoft-com:vml" Requires="v">
                <p:oleObj spid="_x0000_s6664" name="方程式" r:id="rId3" imgW="4927320" imgH="241200" progId="Equation.3">
                  <p:embed/>
                </p:oleObj>
              </mc:Choice>
              <mc:Fallback>
                <p:oleObj name="方程式" r:id="rId3" imgW="4927320" imgH="241200" progId="Equation.3">
                  <p:embed/>
                  <p:pic>
                    <p:nvPicPr>
                      <p:cNvPr id="0" name=""/>
                      <p:cNvPicPr/>
                      <p:nvPr/>
                    </p:nvPicPr>
                    <p:blipFill>
                      <a:blip r:embed="rId4"/>
                      <a:stretch>
                        <a:fillRect/>
                      </a:stretch>
                    </p:blipFill>
                    <p:spPr>
                      <a:xfrm>
                        <a:off x="1247775" y="2382838"/>
                        <a:ext cx="10287000" cy="503237"/>
                      </a:xfrm>
                      <a:prstGeom prst="rect">
                        <a:avLst/>
                      </a:prstGeom>
                    </p:spPr>
                  </p:pic>
                </p:oleObj>
              </mc:Fallback>
            </mc:AlternateContent>
          </a:graphicData>
        </a:graphic>
      </p:graphicFrame>
      <p:graphicFrame>
        <p:nvGraphicFramePr>
          <p:cNvPr id="6" name="物件 5"/>
          <p:cNvGraphicFramePr>
            <a:graphicFrameLocks noChangeAspect="1"/>
          </p:cNvGraphicFramePr>
          <p:nvPr>
            <p:extLst>
              <p:ext uri="{D42A27DB-BD31-4B8C-83A1-F6EECF244321}">
                <p14:modId xmlns:p14="http://schemas.microsoft.com/office/powerpoint/2010/main" val="2599422856"/>
              </p:ext>
            </p:extLst>
          </p:nvPr>
        </p:nvGraphicFramePr>
        <p:xfrm>
          <a:off x="1247775" y="3317514"/>
          <a:ext cx="8653463" cy="485775"/>
        </p:xfrm>
        <a:graphic>
          <a:graphicData uri="http://schemas.openxmlformats.org/presentationml/2006/ole">
            <mc:AlternateContent xmlns:mc="http://schemas.openxmlformats.org/markup-compatibility/2006">
              <mc:Choice xmlns:v="urn:schemas-microsoft-com:vml" Requires="v">
                <p:oleObj spid="_x0000_s6665" name="方程式" r:id="rId5" imgW="4520880" imgH="253800" progId="Equation.3">
                  <p:embed/>
                </p:oleObj>
              </mc:Choice>
              <mc:Fallback>
                <p:oleObj name="方程式" r:id="rId5" imgW="4520880" imgH="253800" progId="Equation.3">
                  <p:embed/>
                  <p:pic>
                    <p:nvPicPr>
                      <p:cNvPr id="0" name=""/>
                      <p:cNvPicPr/>
                      <p:nvPr/>
                    </p:nvPicPr>
                    <p:blipFill>
                      <a:blip r:embed="rId6"/>
                      <a:stretch>
                        <a:fillRect/>
                      </a:stretch>
                    </p:blipFill>
                    <p:spPr>
                      <a:xfrm>
                        <a:off x="1247775" y="3317514"/>
                        <a:ext cx="8653463" cy="485775"/>
                      </a:xfrm>
                      <a:prstGeom prst="rect">
                        <a:avLst/>
                      </a:prstGeom>
                    </p:spPr>
                  </p:pic>
                </p:oleObj>
              </mc:Fallback>
            </mc:AlternateContent>
          </a:graphicData>
        </a:graphic>
      </p:graphicFrame>
      <p:sp>
        <p:nvSpPr>
          <p:cNvPr id="7" name="文字方塊 6"/>
          <p:cNvSpPr txBox="1"/>
          <p:nvPr/>
        </p:nvSpPr>
        <p:spPr>
          <a:xfrm>
            <a:off x="3671247" y="2866030"/>
            <a:ext cx="3439236"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股價期望折現*流通在外股數</a:t>
            </a:r>
            <a:endParaRPr lang="zh-TW" altLang="en-US" dirty="0">
              <a:solidFill>
                <a:srgbClr val="FF0000"/>
              </a:solidFill>
              <a:latin typeface="標楷體" panose="03000509000000000000" pitchFamily="65" charset="-120"/>
              <a:ea typeface="標楷體" panose="03000509000000000000" pitchFamily="65" charset="-120"/>
            </a:endParaRPr>
          </a:p>
        </p:txBody>
      </p:sp>
      <p:sp>
        <p:nvSpPr>
          <p:cNvPr id="8" name="文字方塊 7"/>
          <p:cNvSpPr txBox="1"/>
          <p:nvPr/>
        </p:nvSpPr>
        <p:spPr>
          <a:xfrm>
            <a:off x="8071437" y="2866030"/>
            <a:ext cx="3744185"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未轉換之可轉換公司債利息</a:t>
            </a:r>
            <a:endParaRPr lang="zh-TW" altLang="en-US" dirty="0">
              <a:solidFill>
                <a:srgbClr val="FF0000"/>
              </a:solidFill>
              <a:latin typeface="標楷體" panose="03000509000000000000" pitchFamily="65" charset="-120"/>
              <a:ea typeface="標楷體" panose="03000509000000000000" pitchFamily="65" charset="-120"/>
            </a:endParaRPr>
          </a:p>
        </p:txBody>
      </p:sp>
      <p:graphicFrame>
        <p:nvGraphicFramePr>
          <p:cNvPr id="9" name="物件 8"/>
          <p:cNvGraphicFramePr>
            <a:graphicFrameLocks noChangeAspect="1"/>
          </p:cNvGraphicFramePr>
          <p:nvPr>
            <p:extLst>
              <p:ext uri="{D42A27DB-BD31-4B8C-83A1-F6EECF244321}">
                <p14:modId xmlns:p14="http://schemas.microsoft.com/office/powerpoint/2010/main" val="503465576"/>
              </p:ext>
            </p:extLst>
          </p:nvPr>
        </p:nvGraphicFramePr>
        <p:xfrm>
          <a:off x="6038850" y="3319463"/>
          <a:ext cx="114300" cy="215900"/>
        </p:xfrm>
        <a:graphic>
          <a:graphicData uri="http://schemas.openxmlformats.org/presentationml/2006/ole">
            <mc:AlternateContent xmlns:mc="http://schemas.openxmlformats.org/markup-compatibility/2006">
              <mc:Choice xmlns:v="urn:schemas-microsoft-com:vml" Requires="v">
                <p:oleObj spid="_x0000_s6666" name="方程式" r:id="rId7" imgW="114120" imgH="215640" progId="Equation.3">
                  <p:embed/>
                </p:oleObj>
              </mc:Choice>
              <mc:Fallback>
                <p:oleObj name="方程式" r:id="rId7" imgW="114120" imgH="215640" progId="Equation.3">
                  <p:embed/>
                  <p:pic>
                    <p:nvPicPr>
                      <p:cNvPr id="0" name=""/>
                      <p:cNvPicPr/>
                      <p:nvPr/>
                    </p:nvPicPr>
                    <p:blipFill>
                      <a:blip r:embed="rId8"/>
                      <a:stretch>
                        <a:fillRect/>
                      </a:stretch>
                    </p:blipFill>
                    <p:spPr>
                      <a:xfrm>
                        <a:off x="6038850" y="3319463"/>
                        <a:ext cx="114300" cy="215900"/>
                      </a:xfrm>
                      <a:prstGeom prst="rect">
                        <a:avLst/>
                      </a:prstGeom>
                    </p:spPr>
                  </p:pic>
                </p:oleObj>
              </mc:Fallback>
            </mc:AlternateContent>
          </a:graphicData>
        </a:graphic>
      </p:graphicFrame>
      <p:graphicFrame>
        <p:nvGraphicFramePr>
          <p:cNvPr id="10" name="物件 9"/>
          <p:cNvGraphicFramePr>
            <a:graphicFrameLocks noChangeAspect="1"/>
          </p:cNvGraphicFramePr>
          <p:nvPr>
            <p:extLst>
              <p:ext uri="{D42A27DB-BD31-4B8C-83A1-F6EECF244321}">
                <p14:modId xmlns:p14="http://schemas.microsoft.com/office/powerpoint/2010/main" val="3320904072"/>
              </p:ext>
            </p:extLst>
          </p:nvPr>
        </p:nvGraphicFramePr>
        <p:xfrm>
          <a:off x="1524000" y="4581525"/>
          <a:ext cx="4092575" cy="958850"/>
        </p:xfrm>
        <a:graphic>
          <a:graphicData uri="http://schemas.openxmlformats.org/presentationml/2006/ole">
            <mc:AlternateContent xmlns:mc="http://schemas.openxmlformats.org/markup-compatibility/2006">
              <mc:Choice xmlns:v="urn:schemas-microsoft-com:vml" Requires="v">
                <p:oleObj spid="_x0000_s6667" name="方程式" r:id="rId9" imgW="1841400" imgH="431640" progId="Equation.3">
                  <p:embed/>
                </p:oleObj>
              </mc:Choice>
              <mc:Fallback>
                <p:oleObj name="方程式" r:id="rId9" imgW="1841400" imgH="431640" progId="Equation.3">
                  <p:embed/>
                  <p:pic>
                    <p:nvPicPr>
                      <p:cNvPr id="0" name=""/>
                      <p:cNvPicPr/>
                      <p:nvPr/>
                    </p:nvPicPr>
                    <p:blipFill>
                      <a:blip r:embed="rId10"/>
                      <a:stretch>
                        <a:fillRect/>
                      </a:stretch>
                    </p:blipFill>
                    <p:spPr>
                      <a:xfrm>
                        <a:off x="1524000" y="4581525"/>
                        <a:ext cx="4092575" cy="958850"/>
                      </a:xfrm>
                      <a:prstGeom prst="rect">
                        <a:avLst/>
                      </a:prstGeom>
                    </p:spPr>
                  </p:pic>
                </p:oleObj>
              </mc:Fallback>
            </mc:AlternateContent>
          </a:graphicData>
        </a:graphic>
      </p:graphicFrame>
      <p:cxnSp>
        <p:nvCxnSpPr>
          <p:cNvPr id="20" name="直線單箭頭接點 19"/>
          <p:cNvCxnSpPr/>
          <p:nvPr/>
        </p:nvCxnSpPr>
        <p:spPr>
          <a:xfrm flipV="1">
            <a:off x="4029654" y="679316"/>
            <a:ext cx="1017638" cy="52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a:off x="4029654" y="1200733"/>
            <a:ext cx="1017638" cy="437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字方塊 25"/>
          <p:cNvSpPr txBox="1"/>
          <p:nvPr/>
        </p:nvSpPr>
        <p:spPr>
          <a:xfrm>
            <a:off x="3391073" y="866353"/>
            <a:ext cx="521071" cy="584775"/>
          </a:xfrm>
          <a:prstGeom prst="rect">
            <a:avLst/>
          </a:prstGeom>
          <a:noFill/>
        </p:spPr>
        <p:txBody>
          <a:bodyPr wrap="square" rtlCol="0">
            <a:spAutoFit/>
          </a:bodyPr>
          <a:lstStyle/>
          <a:p>
            <a:r>
              <a:rPr lang="en-US" altLang="zh-TW" sz="3200" dirty="0" err="1" smtClean="0">
                <a:latin typeface="Times New Roman" panose="02020603050405020304" pitchFamily="18" charset="0"/>
                <a:cs typeface="Times New Roman" panose="02020603050405020304" pitchFamily="18" charset="0"/>
              </a:rPr>
              <a:t>y</a:t>
            </a:r>
            <a:r>
              <a:rPr lang="en-US" altLang="zh-TW" sz="1600" dirty="0" err="1" smtClean="0">
                <a:latin typeface="Times New Roman" panose="02020603050405020304" pitchFamily="18" charset="0"/>
                <a:cs typeface="Times New Roman" panose="02020603050405020304" pitchFamily="18" charset="0"/>
              </a:rPr>
              <a:t>i</a:t>
            </a:r>
            <a:endParaRPr lang="zh-TW" altLang="en-US" sz="1600" dirty="0">
              <a:latin typeface="Times New Roman" panose="02020603050405020304" pitchFamily="18" charset="0"/>
              <a:cs typeface="Times New Roman" panose="02020603050405020304" pitchFamily="18" charset="0"/>
            </a:endParaRPr>
          </a:p>
        </p:txBody>
      </p:sp>
      <p:sp>
        <p:nvSpPr>
          <p:cNvPr id="27" name="文字方塊 26"/>
          <p:cNvSpPr txBox="1"/>
          <p:nvPr/>
        </p:nvSpPr>
        <p:spPr>
          <a:xfrm>
            <a:off x="4996188" y="318285"/>
            <a:ext cx="1799304" cy="584775"/>
          </a:xfrm>
          <a:prstGeom prst="rect">
            <a:avLst/>
          </a:prstGeom>
          <a:noFill/>
        </p:spPr>
        <p:txBody>
          <a:bodyPr wrap="square" rtlCol="0">
            <a:spAutoFit/>
          </a:bodyPr>
          <a:lstStyle/>
          <a:p>
            <a:r>
              <a:rPr lang="en-US" altLang="zh-TW" sz="3200" dirty="0">
                <a:latin typeface="Times New Roman" panose="02020603050405020304" pitchFamily="18" charset="0"/>
                <a:cs typeface="Times New Roman" panose="02020603050405020304" pitchFamily="18" charset="0"/>
              </a:rPr>
              <a:t>y</a:t>
            </a:r>
            <a:r>
              <a:rPr lang="en-US" altLang="zh-TW" dirty="0" smtClean="0">
                <a:latin typeface="Times New Roman" panose="02020603050405020304" pitchFamily="18" charset="0"/>
                <a:cs typeface="Times New Roman" panose="02020603050405020304" pitchFamily="18" charset="0"/>
              </a:rPr>
              <a:t>u,i+1</a:t>
            </a:r>
            <a:endParaRPr lang="zh-TW" altLang="en-US" dirty="0">
              <a:latin typeface="Times New Roman" panose="02020603050405020304" pitchFamily="18" charset="0"/>
              <a:cs typeface="Times New Roman" panose="02020603050405020304" pitchFamily="18" charset="0"/>
            </a:endParaRPr>
          </a:p>
        </p:txBody>
      </p:sp>
      <p:sp>
        <p:nvSpPr>
          <p:cNvPr id="28" name="文字方塊 27"/>
          <p:cNvSpPr txBox="1"/>
          <p:nvPr/>
        </p:nvSpPr>
        <p:spPr>
          <a:xfrm>
            <a:off x="5021937" y="1288194"/>
            <a:ext cx="1799304" cy="584775"/>
          </a:xfrm>
          <a:prstGeom prst="rect">
            <a:avLst/>
          </a:prstGeom>
          <a:noFill/>
        </p:spPr>
        <p:txBody>
          <a:bodyPr wrap="square" rtlCol="0">
            <a:spAutoFit/>
          </a:bodyPr>
          <a:lstStyle/>
          <a:p>
            <a:r>
              <a:rPr lang="en-US" altLang="zh-TW" sz="3200" dirty="0" smtClean="0">
                <a:latin typeface="Times New Roman" panose="02020603050405020304" pitchFamily="18" charset="0"/>
                <a:cs typeface="Times New Roman" panose="02020603050405020304" pitchFamily="18" charset="0"/>
              </a:rPr>
              <a:t>y</a:t>
            </a:r>
            <a:r>
              <a:rPr lang="en-US" altLang="zh-TW" dirty="0">
                <a:latin typeface="Times New Roman" panose="02020603050405020304" pitchFamily="18" charset="0"/>
                <a:cs typeface="Times New Roman" panose="02020603050405020304" pitchFamily="18" charset="0"/>
              </a:rPr>
              <a:t>d</a:t>
            </a:r>
            <a:r>
              <a:rPr lang="en-US" altLang="zh-TW" dirty="0" smtClean="0">
                <a:latin typeface="Times New Roman" panose="02020603050405020304" pitchFamily="18" charset="0"/>
                <a:cs typeface="Times New Roman" panose="02020603050405020304" pitchFamily="18" charset="0"/>
              </a:rPr>
              <a:t>,i+1</a:t>
            </a:r>
            <a:endParaRPr lang="zh-TW" altLang="en-US" dirty="0">
              <a:latin typeface="Times New Roman" panose="02020603050405020304" pitchFamily="18" charset="0"/>
              <a:cs typeface="Times New Roman" panose="02020603050405020304" pitchFamily="18" charset="0"/>
            </a:endParaRPr>
          </a:p>
        </p:txBody>
      </p:sp>
      <p:sp>
        <p:nvSpPr>
          <p:cNvPr id="29" name="文字方塊 28"/>
          <p:cNvSpPr txBox="1"/>
          <p:nvPr/>
        </p:nvSpPr>
        <p:spPr>
          <a:xfrm>
            <a:off x="4339515" y="559587"/>
            <a:ext cx="539163" cy="461665"/>
          </a:xfrm>
          <a:prstGeom prst="rect">
            <a:avLst/>
          </a:prstGeom>
          <a:noFill/>
        </p:spPr>
        <p:txBody>
          <a:bodyPr wrap="square" rtlCol="0">
            <a:spAutoFit/>
          </a:bodyPr>
          <a:lstStyle/>
          <a:p>
            <a:r>
              <a:rPr lang="en-US" altLang="zh-TW" sz="2400" dirty="0" smtClean="0"/>
              <a:t>p</a:t>
            </a:r>
            <a:endParaRPr lang="zh-TW" altLang="en-US" sz="2400" dirty="0"/>
          </a:p>
        </p:txBody>
      </p:sp>
      <p:sp>
        <p:nvSpPr>
          <p:cNvPr id="30" name="文字方塊 29"/>
          <p:cNvSpPr txBox="1"/>
          <p:nvPr/>
        </p:nvSpPr>
        <p:spPr>
          <a:xfrm>
            <a:off x="4199543" y="1331570"/>
            <a:ext cx="704884" cy="461665"/>
          </a:xfrm>
          <a:prstGeom prst="rect">
            <a:avLst/>
          </a:prstGeom>
          <a:noFill/>
        </p:spPr>
        <p:txBody>
          <a:bodyPr wrap="square" rtlCol="0">
            <a:spAutoFit/>
          </a:bodyPr>
          <a:lstStyle/>
          <a:p>
            <a:r>
              <a:rPr lang="en-US" altLang="zh-TW" sz="2400" dirty="0" smtClean="0"/>
              <a:t>1-p</a:t>
            </a:r>
            <a:endParaRPr lang="zh-TW" altLang="en-US" sz="2400" dirty="0"/>
          </a:p>
        </p:txBody>
      </p:sp>
      <p:sp>
        <p:nvSpPr>
          <p:cNvPr id="21" name="文字方塊 20"/>
          <p:cNvSpPr txBox="1"/>
          <p:nvPr/>
        </p:nvSpPr>
        <p:spPr>
          <a:xfrm>
            <a:off x="5921589" y="4876284"/>
            <a:ext cx="3266656" cy="369332"/>
          </a:xfrm>
          <a:prstGeom prst="rect">
            <a:avLst/>
          </a:prstGeom>
          <a:noFill/>
        </p:spPr>
        <p:txBody>
          <a:bodyPr wrap="square" rtlCol="0">
            <a:spAutoFit/>
          </a:bodyPr>
          <a:lstStyle/>
          <a:p>
            <a:r>
              <a:rPr lang="en-US" altLang="zh-TW" dirty="0" smtClean="0">
                <a:solidFill>
                  <a:srgbClr val="FF0000"/>
                </a:solidFill>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股東權益</a:t>
            </a:r>
            <a:r>
              <a:rPr lang="en-US" altLang="zh-TW" dirty="0" smtClean="0">
                <a:solidFill>
                  <a:srgbClr val="FF0000"/>
                </a:solidFill>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當期流通在外股數</a:t>
            </a:r>
            <a:r>
              <a:rPr lang="en-US" altLang="zh-TW" dirty="0" smtClean="0">
                <a:solidFill>
                  <a:srgbClr val="FF0000"/>
                </a:solidFill>
                <a:latin typeface="標楷體" panose="03000509000000000000" pitchFamily="65" charset="-120"/>
                <a:ea typeface="標楷體" panose="03000509000000000000" pitchFamily="65" charset="-120"/>
              </a:rPr>
              <a:t>)</a:t>
            </a:r>
            <a:endParaRPr lang="zh-TW" altLang="en-US"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119704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Convertible Bond</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到期前</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以</a:t>
            </a:r>
            <a:r>
              <a:rPr lang="en-US" altLang="zh-TW" dirty="0" smtClean="0">
                <a:latin typeface="標楷體" panose="03000509000000000000" pitchFamily="65" charset="-120"/>
                <a:ea typeface="標楷體" panose="03000509000000000000" pitchFamily="65" charset="-120"/>
              </a:rPr>
              <a:t>CB</a:t>
            </a:r>
            <a:r>
              <a:rPr lang="zh-TW" altLang="en-US" dirty="0" smtClean="0">
                <a:latin typeface="標楷體" panose="03000509000000000000" pitchFamily="65" charset="-120"/>
                <a:ea typeface="標楷體" panose="03000509000000000000" pitchFamily="65" charset="-120"/>
              </a:rPr>
              <a:t>持有者</a:t>
            </a: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為例</a:t>
            </a:r>
            <a:r>
              <a:rPr lang="en-US" altLang="zh-TW" dirty="0" smtClean="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17</a:t>
            </a:fld>
            <a:endParaRPr lang="zh-TW" altLang="en-US"/>
          </a:p>
        </p:txBody>
      </p:sp>
      <p:graphicFrame>
        <p:nvGraphicFramePr>
          <p:cNvPr id="5" name="物件 4"/>
          <p:cNvGraphicFramePr>
            <a:graphicFrameLocks noChangeAspect="1"/>
          </p:cNvGraphicFramePr>
          <p:nvPr>
            <p:extLst>
              <p:ext uri="{D42A27DB-BD31-4B8C-83A1-F6EECF244321}">
                <p14:modId xmlns:p14="http://schemas.microsoft.com/office/powerpoint/2010/main" val="828875973"/>
              </p:ext>
            </p:extLst>
          </p:nvPr>
        </p:nvGraphicFramePr>
        <p:xfrm>
          <a:off x="1559387" y="2376190"/>
          <a:ext cx="8558212" cy="3652837"/>
        </p:xfrm>
        <a:graphic>
          <a:graphicData uri="http://schemas.openxmlformats.org/presentationml/2006/ole">
            <mc:AlternateContent xmlns:mc="http://schemas.openxmlformats.org/markup-compatibility/2006">
              <mc:Choice xmlns:v="urn:schemas-microsoft-com:vml" Requires="v">
                <p:oleObj spid="_x0000_s7300" name="方程式" r:id="rId3" imgW="4076640" imgH="1739880" progId="Equation.3">
                  <p:embed/>
                </p:oleObj>
              </mc:Choice>
              <mc:Fallback>
                <p:oleObj name="方程式" r:id="rId3" imgW="4076640" imgH="1739880" progId="Equation.3">
                  <p:embed/>
                  <p:pic>
                    <p:nvPicPr>
                      <p:cNvPr id="0" name=""/>
                      <p:cNvPicPr/>
                      <p:nvPr/>
                    </p:nvPicPr>
                    <p:blipFill>
                      <a:blip r:embed="rId4"/>
                      <a:stretch>
                        <a:fillRect/>
                      </a:stretch>
                    </p:blipFill>
                    <p:spPr>
                      <a:xfrm>
                        <a:off x="1559387" y="2376190"/>
                        <a:ext cx="8558212" cy="3652837"/>
                      </a:xfrm>
                      <a:prstGeom prst="rect">
                        <a:avLst/>
                      </a:prstGeom>
                    </p:spPr>
                  </p:pic>
                </p:oleObj>
              </mc:Fallback>
            </mc:AlternateContent>
          </a:graphicData>
        </a:graphic>
      </p:graphicFrame>
      <p:cxnSp>
        <p:nvCxnSpPr>
          <p:cNvPr id="6" name="直線單箭頭接點 5"/>
          <p:cNvCxnSpPr/>
          <p:nvPr/>
        </p:nvCxnSpPr>
        <p:spPr>
          <a:xfrm flipV="1">
            <a:off x="8347587" y="1267260"/>
            <a:ext cx="1017638" cy="52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8347587" y="1804118"/>
            <a:ext cx="1017638" cy="437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字方塊 10"/>
              <p:cNvSpPr txBox="1"/>
              <p:nvPr/>
            </p:nvSpPr>
            <p:spPr>
              <a:xfrm>
                <a:off x="9406807" y="1095354"/>
                <a:ext cx="1927066"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𝐶𝐵</m:t>
                          </m:r>
                        </m:e>
                        <m:sub>
                          <m:r>
                            <a:rPr lang="en-US" altLang="zh-TW" sz="2400" b="0" i="1" smtClean="0">
                              <a:latin typeface="Cambria Math" panose="02040503050406030204" pitchFamily="18" charset="0"/>
                            </a:rPr>
                            <m:t>𝑢</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1</m:t>
                          </m:r>
                        </m:sup>
                      </m:sSubSup>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9406807" y="1095354"/>
                <a:ext cx="1927066" cy="416845"/>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9406807" y="2017719"/>
                <a:ext cx="1928733"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𝐶𝐵</m:t>
                          </m:r>
                        </m:e>
                        <m:sub>
                          <m:r>
                            <a:rPr lang="en-US" altLang="zh-TW" sz="2400" b="0" i="1" smtClean="0">
                              <a:latin typeface="Cambria Math" panose="02040503050406030204" pitchFamily="18" charset="0"/>
                            </a:rPr>
                            <m:t>𝑑</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1</m:t>
                          </m:r>
                        </m:sup>
                      </m:sSubSup>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oMath>
                  </m:oMathPara>
                </a14:m>
                <a:endParaRPr lang="zh-TW" altLang="en-US" sz="24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9406807" y="2017719"/>
                <a:ext cx="1928733" cy="416845"/>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4970206" y="1541485"/>
                <a:ext cx="3374307" cy="3885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𝐶𝐵</m:t>
                          </m:r>
                        </m:e>
                        <m:sub>
                          <m:r>
                            <a:rPr lang="en-US" altLang="zh-TW" sz="2400" b="0" i="1" smtClean="0">
                              <a:latin typeface="Cambria Math" panose="02040503050406030204" pitchFamily="18" charset="0"/>
                            </a:rPr>
                            <m:t>𝑖</m:t>
                          </m:r>
                        </m:sub>
                        <m:sup>
                          <m:r>
                            <a:rPr lang="en-US" altLang="zh-TW" sz="2400" b="0" i="1" smtClean="0">
                              <a:latin typeface="Cambria Math" panose="02040503050406030204" pitchFamily="18" charset="0"/>
                            </a:rPr>
                            <m:t>1</m:t>
                          </m:r>
                        </m:sup>
                      </m:sSubSup>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zh-TW" altLang="en-US" sz="2400" b="0" i="1" smtClean="0">
                              <a:latin typeface="Cambria Math" panose="02040503050406030204" pitchFamily="18" charset="0"/>
                            </a:rPr>
                            <m:t>𝛼</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zh-TW" altLang="en-US" sz="2400" b="0" i="1" smtClean="0">
                              <a:latin typeface="Cambria Math" panose="02040503050406030204" pitchFamily="18" charset="0"/>
                            </a:rPr>
                            <m:t>𝛽</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4970206" y="1541485"/>
                <a:ext cx="3374307" cy="388568"/>
              </a:xfrm>
              <a:prstGeom prst="rect">
                <a:avLst/>
              </a:prstGeom>
              <a:blipFill rotWithShape="0">
                <a:blip r:embed="rId7"/>
                <a:stretch>
                  <a:fillRect/>
                </a:stretch>
              </a:blipFill>
            </p:spPr>
            <p:txBody>
              <a:bodyPr/>
              <a:lstStyle/>
              <a:p>
                <a:r>
                  <a:rPr lang="zh-TW" altLang="en-US">
                    <a:noFill/>
                  </a:rPr>
                  <a:t> </a:t>
                </a:r>
              </a:p>
            </p:txBody>
          </p:sp>
        </mc:Fallback>
      </mc:AlternateContent>
      <p:sp>
        <p:nvSpPr>
          <p:cNvPr id="14" name="文字方塊 13"/>
          <p:cNvSpPr txBox="1"/>
          <p:nvPr/>
        </p:nvSpPr>
        <p:spPr>
          <a:xfrm>
            <a:off x="8610600" y="1184573"/>
            <a:ext cx="539163" cy="461665"/>
          </a:xfrm>
          <a:prstGeom prst="rect">
            <a:avLst/>
          </a:prstGeom>
          <a:noFill/>
        </p:spPr>
        <p:txBody>
          <a:bodyPr wrap="square" rtlCol="0">
            <a:spAutoFit/>
          </a:bodyPr>
          <a:lstStyle/>
          <a:p>
            <a:r>
              <a:rPr lang="en-US" altLang="zh-TW" sz="2400" dirty="0" smtClean="0"/>
              <a:t>p</a:t>
            </a:r>
            <a:endParaRPr lang="zh-TW" altLang="en-US" sz="2400" dirty="0"/>
          </a:p>
        </p:txBody>
      </p:sp>
      <p:sp>
        <p:nvSpPr>
          <p:cNvPr id="15" name="文字方塊 14"/>
          <p:cNvSpPr txBox="1"/>
          <p:nvPr/>
        </p:nvSpPr>
        <p:spPr>
          <a:xfrm>
            <a:off x="8474572" y="1870075"/>
            <a:ext cx="763667" cy="461665"/>
          </a:xfrm>
          <a:prstGeom prst="rect">
            <a:avLst/>
          </a:prstGeom>
          <a:noFill/>
        </p:spPr>
        <p:txBody>
          <a:bodyPr wrap="square" rtlCol="0">
            <a:spAutoFit/>
          </a:bodyPr>
          <a:lstStyle/>
          <a:p>
            <a:r>
              <a:rPr lang="en-US" altLang="zh-TW" sz="2400" dirty="0" smtClean="0"/>
              <a:t>1-p</a:t>
            </a:r>
            <a:endParaRPr lang="zh-TW" altLang="en-US" sz="2400" dirty="0"/>
          </a:p>
        </p:txBody>
      </p:sp>
      <p:sp>
        <p:nvSpPr>
          <p:cNvPr id="8" name="矩形 7"/>
          <p:cNvSpPr/>
          <p:nvPr/>
        </p:nvSpPr>
        <p:spPr>
          <a:xfrm>
            <a:off x="3379807" y="3318076"/>
            <a:ext cx="2954655" cy="369332"/>
          </a:xfrm>
          <a:prstGeom prst="rect">
            <a:avLst/>
          </a:prstGeom>
        </p:spPr>
        <p:txBody>
          <a:bodyPr wrap="none">
            <a:spAutoFit/>
          </a:bodyPr>
          <a:lstStyle/>
          <a:p>
            <a:r>
              <a:rPr lang="zh-TW" altLang="en-US" dirty="0">
                <a:solidFill>
                  <a:srgbClr val="FF0000"/>
                </a:solidFill>
                <a:latin typeface="標楷體" panose="03000509000000000000" pitchFamily="65" charset="-120"/>
                <a:ea typeface="標楷體" panose="03000509000000000000" pitchFamily="65" charset="-120"/>
              </a:rPr>
              <a:t>當期可轉換公司債轉換價值</a:t>
            </a:r>
          </a:p>
        </p:txBody>
      </p:sp>
      <p:sp>
        <p:nvSpPr>
          <p:cNvPr id="9" name="矩形 8"/>
          <p:cNvSpPr/>
          <p:nvPr/>
        </p:nvSpPr>
        <p:spPr>
          <a:xfrm>
            <a:off x="1915599" y="3318076"/>
            <a:ext cx="1107996" cy="369332"/>
          </a:xfrm>
          <a:prstGeom prst="rect">
            <a:avLst/>
          </a:prstGeom>
        </p:spPr>
        <p:txBody>
          <a:bodyPr wrap="none">
            <a:spAutoFit/>
          </a:bodyPr>
          <a:lstStyle/>
          <a:p>
            <a:r>
              <a:rPr lang="zh-TW" altLang="en-US" dirty="0" smtClean="0">
                <a:solidFill>
                  <a:srgbClr val="FF0000"/>
                </a:solidFill>
                <a:latin typeface="標楷體" panose="03000509000000000000" pitchFamily="65" charset="-120"/>
                <a:ea typeface="標楷體" panose="03000509000000000000" pitchFamily="65" charset="-120"/>
              </a:rPr>
              <a:t>存續價值</a:t>
            </a:r>
            <a:endParaRPr lang="zh-TW" altLang="en-US"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1565782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Equity&amp;Convertible</a:t>
            </a:r>
            <a:r>
              <a:rPr lang="en-US" altLang="zh-TW"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Bond</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發行日</a:t>
            </a:r>
            <a:endParaRPr lang="en-US" altLang="zh-TW" dirty="0"/>
          </a:p>
          <a:p>
            <a:endParaRPr lang="en-US" altLang="zh-TW" dirty="0" smtClean="0"/>
          </a:p>
          <a:p>
            <a:pPr marL="0" indent="0">
              <a:buNone/>
            </a:pPr>
            <a:endParaRPr lang="en-US" altLang="zh-TW" dirty="0" smtClean="0">
              <a:latin typeface="標楷體" panose="03000509000000000000" pitchFamily="65" charset="-120"/>
              <a:ea typeface="標楷體" panose="03000509000000000000" pitchFamily="65" charset="-120"/>
            </a:endParaRPr>
          </a:p>
          <a:p>
            <a:endParaRPr lang="en-US" altLang="zh-TW" dirty="0" smtClean="0">
              <a:latin typeface="標楷體" panose="03000509000000000000" pitchFamily="65" charset="-120"/>
              <a:ea typeface="標楷體" panose="03000509000000000000" pitchFamily="65" charset="-120"/>
            </a:endParaRPr>
          </a:p>
          <a:p>
            <a:pPr marL="0" indent="0">
              <a:buNone/>
            </a:pPr>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solidFill>
                  <a:prstClr val="black">
                    <a:tint val="75000"/>
                  </a:prstClr>
                </a:solidFill>
              </a:rPr>
              <a:pPr/>
              <a:t>18</a:t>
            </a:fld>
            <a:endParaRPr lang="zh-TW" altLang="en-US">
              <a:solidFill>
                <a:prstClr val="black">
                  <a:tint val="75000"/>
                </a:prstClr>
              </a:solidFill>
            </a:endParaRPr>
          </a:p>
        </p:txBody>
      </p:sp>
      <p:graphicFrame>
        <p:nvGraphicFramePr>
          <p:cNvPr id="5" name="物件 4"/>
          <p:cNvGraphicFramePr>
            <a:graphicFrameLocks noChangeAspect="1"/>
          </p:cNvGraphicFramePr>
          <p:nvPr>
            <p:extLst>
              <p:ext uri="{D42A27DB-BD31-4B8C-83A1-F6EECF244321}">
                <p14:modId xmlns:p14="http://schemas.microsoft.com/office/powerpoint/2010/main" val="3537234468"/>
              </p:ext>
            </p:extLst>
          </p:nvPr>
        </p:nvGraphicFramePr>
        <p:xfrm>
          <a:off x="1316038" y="2439988"/>
          <a:ext cx="5472112" cy="425450"/>
        </p:xfrm>
        <a:graphic>
          <a:graphicData uri="http://schemas.openxmlformats.org/presentationml/2006/ole">
            <mc:AlternateContent xmlns:mc="http://schemas.openxmlformats.org/markup-compatibility/2006">
              <mc:Choice xmlns:v="urn:schemas-microsoft-com:vml" Requires="v">
                <p:oleObj spid="_x0000_s9727" name="方程式" r:id="rId3" imgW="2933640" imgH="228600" progId="Equation.3">
                  <p:embed/>
                </p:oleObj>
              </mc:Choice>
              <mc:Fallback>
                <p:oleObj name="方程式" r:id="rId3" imgW="2933640" imgH="228600" progId="Equation.3">
                  <p:embed/>
                  <p:pic>
                    <p:nvPicPr>
                      <p:cNvPr id="0" name=""/>
                      <p:cNvPicPr/>
                      <p:nvPr/>
                    </p:nvPicPr>
                    <p:blipFill>
                      <a:blip r:embed="rId4"/>
                      <a:stretch>
                        <a:fillRect/>
                      </a:stretch>
                    </p:blipFill>
                    <p:spPr>
                      <a:xfrm>
                        <a:off x="1316038" y="2439988"/>
                        <a:ext cx="5472112" cy="425450"/>
                      </a:xfrm>
                      <a:prstGeom prst="rect">
                        <a:avLst/>
                      </a:prstGeom>
                    </p:spPr>
                  </p:pic>
                </p:oleObj>
              </mc:Fallback>
            </mc:AlternateContent>
          </a:graphicData>
        </a:graphic>
      </p:graphicFrame>
      <p:graphicFrame>
        <p:nvGraphicFramePr>
          <p:cNvPr id="6" name="物件 5"/>
          <p:cNvGraphicFramePr>
            <a:graphicFrameLocks noChangeAspect="1"/>
          </p:cNvGraphicFramePr>
          <p:nvPr>
            <p:extLst>
              <p:ext uri="{D42A27DB-BD31-4B8C-83A1-F6EECF244321}">
                <p14:modId xmlns:p14="http://schemas.microsoft.com/office/powerpoint/2010/main" val="2704806824"/>
              </p:ext>
            </p:extLst>
          </p:nvPr>
        </p:nvGraphicFramePr>
        <p:xfrm>
          <a:off x="1316038" y="3127729"/>
          <a:ext cx="8142287" cy="485775"/>
        </p:xfrm>
        <a:graphic>
          <a:graphicData uri="http://schemas.openxmlformats.org/presentationml/2006/ole">
            <mc:AlternateContent xmlns:mc="http://schemas.openxmlformats.org/markup-compatibility/2006">
              <mc:Choice xmlns:v="urn:schemas-microsoft-com:vml" Requires="v">
                <p:oleObj spid="_x0000_s9728" name="方程式" r:id="rId5" imgW="4254480" imgH="253800" progId="Equation.3">
                  <p:embed/>
                </p:oleObj>
              </mc:Choice>
              <mc:Fallback>
                <p:oleObj name="方程式" r:id="rId5" imgW="4254480" imgH="253800" progId="Equation.3">
                  <p:embed/>
                  <p:pic>
                    <p:nvPicPr>
                      <p:cNvPr id="0" name=""/>
                      <p:cNvPicPr/>
                      <p:nvPr/>
                    </p:nvPicPr>
                    <p:blipFill>
                      <a:blip r:embed="rId6"/>
                      <a:stretch>
                        <a:fillRect/>
                      </a:stretch>
                    </p:blipFill>
                    <p:spPr>
                      <a:xfrm>
                        <a:off x="1316038" y="3127729"/>
                        <a:ext cx="8142287" cy="485775"/>
                      </a:xfrm>
                      <a:prstGeom prst="rect">
                        <a:avLst/>
                      </a:prstGeom>
                    </p:spPr>
                  </p:pic>
                </p:oleObj>
              </mc:Fallback>
            </mc:AlternateContent>
          </a:graphicData>
        </a:graphic>
      </p:graphicFrame>
      <p:sp>
        <p:nvSpPr>
          <p:cNvPr id="7" name="文字方塊 6"/>
          <p:cNvSpPr txBox="1"/>
          <p:nvPr/>
        </p:nvSpPr>
        <p:spPr>
          <a:xfrm>
            <a:off x="3232814" y="2837733"/>
            <a:ext cx="3439236"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股價期望折現*流通在外股數</a:t>
            </a:r>
            <a:endParaRPr lang="zh-TW" altLang="en-US" dirty="0">
              <a:solidFill>
                <a:srgbClr val="FF0000"/>
              </a:solidFill>
              <a:latin typeface="標楷體" panose="03000509000000000000" pitchFamily="65" charset="-120"/>
              <a:ea typeface="標楷體" panose="03000509000000000000" pitchFamily="65" charset="-120"/>
            </a:endParaRPr>
          </a:p>
        </p:txBody>
      </p:sp>
      <p:graphicFrame>
        <p:nvGraphicFramePr>
          <p:cNvPr id="9" name="物件 8"/>
          <p:cNvGraphicFramePr>
            <a:graphicFrameLocks noChangeAspect="1"/>
          </p:cNvGraphicFramePr>
          <p:nvPr/>
        </p:nvGraphicFramePr>
        <p:xfrm>
          <a:off x="6038850" y="3319463"/>
          <a:ext cx="114300" cy="215900"/>
        </p:xfrm>
        <a:graphic>
          <a:graphicData uri="http://schemas.openxmlformats.org/presentationml/2006/ole">
            <mc:AlternateContent xmlns:mc="http://schemas.openxmlformats.org/markup-compatibility/2006">
              <mc:Choice xmlns:v="urn:schemas-microsoft-com:vml" Requires="v">
                <p:oleObj spid="_x0000_s9729" name="方程式" r:id="rId7" imgW="114120" imgH="215640" progId="Equation.3">
                  <p:embed/>
                </p:oleObj>
              </mc:Choice>
              <mc:Fallback>
                <p:oleObj name="方程式" r:id="rId7" imgW="114120" imgH="215640" progId="Equation.3">
                  <p:embed/>
                  <p:pic>
                    <p:nvPicPr>
                      <p:cNvPr id="0" name=""/>
                      <p:cNvPicPr/>
                      <p:nvPr/>
                    </p:nvPicPr>
                    <p:blipFill>
                      <a:blip r:embed="rId8"/>
                      <a:stretch>
                        <a:fillRect/>
                      </a:stretch>
                    </p:blipFill>
                    <p:spPr>
                      <a:xfrm>
                        <a:off x="6038850" y="3319463"/>
                        <a:ext cx="114300" cy="215900"/>
                      </a:xfrm>
                      <a:prstGeom prst="rect">
                        <a:avLst/>
                      </a:prstGeom>
                    </p:spPr>
                  </p:pic>
                </p:oleObj>
              </mc:Fallback>
            </mc:AlternateContent>
          </a:graphicData>
        </a:graphic>
      </p:graphicFrame>
      <p:graphicFrame>
        <p:nvGraphicFramePr>
          <p:cNvPr id="10" name="物件 9"/>
          <p:cNvGraphicFramePr>
            <a:graphicFrameLocks noChangeAspect="1"/>
          </p:cNvGraphicFramePr>
          <p:nvPr>
            <p:extLst>
              <p:ext uri="{D42A27DB-BD31-4B8C-83A1-F6EECF244321}">
                <p14:modId xmlns:p14="http://schemas.microsoft.com/office/powerpoint/2010/main" val="2715459094"/>
              </p:ext>
            </p:extLst>
          </p:nvPr>
        </p:nvGraphicFramePr>
        <p:xfrm>
          <a:off x="1342509" y="3738602"/>
          <a:ext cx="4206875" cy="958850"/>
        </p:xfrm>
        <a:graphic>
          <a:graphicData uri="http://schemas.openxmlformats.org/presentationml/2006/ole">
            <mc:AlternateContent xmlns:mc="http://schemas.openxmlformats.org/markup-compatibility/2006">
              <mc:Choice xmlns:v="urn:schemas-microsoft-com:vml" Requires="v">
                <p:oleObj spid="_x0000_s9730" name="方程式" r:id="rId9" imgW="1892160" imgH="431640" progId="Equation.3">
                  <p:embed/>
                </p:oleObj>
              </mc:Choice>
              <mc:Fallback>
                <p:oleObj name="方程式" r:id="rId9" imgW="1892160" imgH="431640" progId="Equation.3">
                  <p:embed/>
                  <p:pic>
                    <p:nvPicPr>
                      <p:cNvPr id="0" name=""/>
                      <p:cNvPicPr/>
                      <p:nvPr/>
                    </p:nvPicPr>
                    <p:blipFill>
                      <a:blip r:embed="rId10"/>
                      <a:stretch>
                        <a:fillRect/>
                      </a:stretch>
                    </p:blipFill>
                    <p:spPr>
                      <a:xfrm>
                        <a:off x="1342509" y="3738602"/>
                        <a:ext cx="4206875" cy="958850"/>
                      </a:xfrm>
                      <a:prstGeom prst="rect">
                        <a:avLst/>
                      </a:prstGeom>
                    </p:spPr>
                  </p:pic>
                </p:oleObj>
              </mc:Fallback>
            </mc:AlternateContent>
          </a:graphicData>
        </a:graphic>
      </p:graphicFrame>
      <p:sp>
        <p:nvSpPr>
          <p:cNvPr id="11" name="文字方塊 10"/>
          <p:cNvSpPr txBox="1"/>
          <p:nvPr/>
        </p:nvSpPr>
        <p:spPr>
          <a:xfrm>
            <a:off x="2857944" y="4575292"/>
            <a:ext cx="3465394" cy="369332"/>
          </a:xfrm>
          <a:prstGeom prst="rect">
            <a:avLst/>
          </a:prstGeom>
          <a:noFill/>
        </p:spPr>
        <p:txBody>
          <a:bodyPr wrap="square" rtlCol="0">
            <a:spAutoFit/>
          </a:bodyPr>
          <a:lstStyle/>
          <a:p>
            <a:r>
              <a:rPr lang="en-US" altLang="zh-TW" dirty="0" smtClean="0">
                <a:solidFill>
                  <a:srgbClr val="FF0000"/>
                </a:solidFill>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股東權益</a:t>
            </a:r>
            <a:r>
              <a:rPr lang="en-US" altLang="zh-TW" dirty="0">
                <a:solidFill>
                  <a:srgbClr val="FF0000"/>
                </a:solidFill>
                <a:latin typeface="標楷體" panose="03000509000000000000" pitchFamily="65" charset="-120"/>
                <a:ea typeface="標楷體" panose="03000509000000000000" pitchFamily="65" charset="-120"/>
              </a:rPr>
              <a:t>/</a:t>
            </a:r>
            <a:r>
              <a:rPr lang="zh-TW" altLang="en-US" dirty="0">
                <a:solidFill>
                  <a:srgbClr val="FF0000"/>
                </a:solidFill>
                <a:latin typeface="標楷體" panose="03000509000000000000" pitchFamily="65" charset="-120"/>
                <a:ea typeface="標楷體" panose="03000509000000000000" pitchFamily="65" charset="-120"/>
              </a:rPr>
              <a:t>當期流通在外股</a:t>
            </a:r>
            <a:r>
              <a:rPr lang="zh-TW" altLang="en-US" dirty="0" smtClean="0">
                <a:solidFill>
                  <a:srgbClr val="FF0000"/>
                </a:solidFill>
                <a:latin typeface="標楷體" panose="03000509000000000000" pitchFamily="65" charset="-120"/>
                <a:ea typeface="標楷體" panose="03000509000000000000" pitchFamily="65" charset="-120"/>
              </a:rPr>
              <a:t>數</a:t>
            </a:r>
            <a:r>
              <a:rPr lang="en-US" altLang="zh-TW" dirty="0" smtClean="0">
                <a:solidFill>
                  <a:srgbClr val="FF0000"/>
                </a:solidFill>
                <a:latin typeface="標楷體" panose="03000509000000000000" pitchFamily="65" charset="-120"/>
                <a:ea typeface="標楷體" panose="03000509000000000000" pitchFamily="65" charset="-120"/>
              </a:rPr>
              <a:t>)</a:t>
            </a:r>
            <a:endParaRPr lang="zh-TW" altLang="en-US" dirty="0">
              <a:solidFill>
                <a:srgbClr val="FF0000"/>
              </a:solidFill>
              <a:latin typeface="標楷體" panose="03000509000000000000" pitchFamily="65" charset="-120"/>
              <a:ea typeface="標楷體" panose="03000509000000000000" pitchFamily="65" charset="-120"/>
            </a:endParaRPr>
          </a:p>
        </p:txBody>
      </p:sp>
      <p:sp>
        <p:nvSpPr>
          <p:cNvPr id="8" name="矩形 7"/>
          <p:cNvSpPr/>
          <p:nvPr/>
        </p:nvSpPr>
        <p:spPr>
          <a:xfrm>
            <a:off x="7582356" y="2439988"/>
            <a:ext cx="2954655" cy="369332"/>
          </a:xfrm>
          <a:prstGeom prst="rect">
            <a:avLst/>
          </a:prstGeom>
        </p:spPr>
        <p:txBody>
          <a:bodyPr wrap="none">
            <a:spAutoFit/>
          </a:bodyPr>
          <a:lstStyle/>
          <a:p>
            <a:r>
              <a:rPr lang="zh-TW" altLang="en-US" dirty="0" smtClean="0">
                <a:solidFill>
                  <a:srgbClr val="FF0000"/>
                </a:solidFill>
                <a:latin typeface="標楷體" panose="03000509000000000000" pitchFamily="65" charset="-120"/>
                <a:ea typeface="標楷體" panose="03000509000000000000" pitchFamily="65" charset="-120"/>
              </a:rPr>
              <a:t>發行日不需要付債權人債息</a:t>
            </a:r>
            <a:endParaRPr lang="zh-TW" altLang="en-US" dirty="0">
              <a:solidFill>
                <a:srgbClr val="FF0000"/>
              </a:solidFill>
              <a:latin typeface="標楷體" panose="03000509000000000000" pitchFamily="65" charset="-120"/>
              <a:ea typeface="標楷體" panose="03000509000000000000" pitchFamily="65" charset="-120"/>
            </a:endParaRPr>
          </a:p>
        </p:txBody>
      </p:sp>
      <p:graphicFrame>
        <p:nvGraphicFramePr>
          <p:cNvPr id="12" name="物件 11"/>
          <p:cNvGraphicFramePr>
            <a:graphicFrameLocks noChangeAspect="1"/>
          </p:cNvGraphicFramePr>
          <p:nvPr>
            <p:extLst>
              <p:ext uri="{D42A27DB-BD31-4B8C-83A1-F6EECF244321}">
                <p14:modId xmlns:p14="http://schemas.microsoft.com/office/powerpoint/2010/main" val="3410119981"/>
              </p:ext>
            </p:extLst>
          </p:nvPr>
        </p:nvGraphicFramePr>
        <p:xfrm>
          <a:off x="1316038" y="4971726"/>
          <a:ext cx="9145588" cy="1066800"/>
        </p:xfrm>
        <a:graphic>
          <a:graphicData uri="http://schemas.openxmlformats.org/presentationml/2006/ole">
            <mc:AlternateContent xmlns:mc="http://schemas.openxmlformats.org/markup-compatibility/2006">
              <mc:Choice xmlns:v="urn:schemas-microsoft-com:vml" Requires="v">
                <p:oleObj spid="_x0000_s9731" name="方程式" r:id="rId11" imgW="4356000" imgH="507960" progId="Equation.3">
                  <p:embed/>
                </p:oleObj>
              </mc:Choice>
              <mc:Fallback>
                <p:oleObj name="方程式" r:id="rId11" imgW="4356000" imgH="507960" progId="Equation.3">
                  <p:embed/>
                  <p:pic>
                    <p:nvPicPr>
                      <p:cNvPr id="0" name=""/>
                      <p:cNvPicPr/>
                      <p:nvPr/>
                    </p:nvPicPr>
                    <p:blipFill>
                      <a:blip r:embed="rId12"/>
                      <a:stretch>
                        <a:fillRect/>
                      </a:stretch>
                    </p:blipFill>
                    <p:spPr>
                      <a:xfrm>
                        <a:off x="1316038" y="4971726"/>
                        <a:ext cx="9145588" cy="1066800"/>
                      </a:xfrm>
                      <a:prstGeom prst="rect">
                        <a:avLst/>
                      </a:prstGeom>
                    </p:spPr>
                  </p:pic>
                </p:oleObj>
              </mc:Fallback>
            </mc:AlternateContent>
          </a:graphicData>
        </a:graphic>
      </p:graphicFrame>
      <p:sp>
        <p:nvSpPr>
          <p:cNvPr id="13" name="文字方塊 12"/>
          <p:cNvSpPr txBox="1"/>
          <p:nvPr/>
        </p:nvSpPr>
        <p:spPr>
          <a:xfrm>
            <a:off x="2826775" y="5938777"/>
            <a:ext cx="3333135"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下一期</a:t>
            </a:r>
            <a:r>
              <a:rPr lang="en-US" altLang="zh-TW" dirty="0" smtClean="0">
                <a:solidFill>
                  <a:srgbClr val="FF0000"/>
                </a:solidFill>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第</a:t>
            </a:r>
            <a:r>
              <a:rPr lang="en-US" altLang="zh-TW" dirty="0" smtClean="0">
                <a:solidFill>
                  <a:srgbClr val="FF0000"/>
                </a:solidFill>
                <a:latin typeface="標楷體" panose="03000509000000000000" pitchFamily="65" charset="-120"/>
                <a:ea typeface="標楷體" panose="03000509000000000000" pitchFamily="65" charset="-120"/>
              </a:rPr>
              <a:t>1</a:t>
            </a:r>
            <a:r>
              <a:rPr lang="zh-TW" altLang="en-US" dirty="0" smtClean="0">
                <a:solidFill>
                  <a:srgbClr val="FF0000"/>
                </a:solidFill>
                <a:latin typeface="標楷體" panose="03000509000000000000" pitchFamily="65" charset="-120"/>
                <a:ea typeface="標楷體" panose="03000509000000000000" pitchFamily="65" charset="-120"/>
              </a:rPr>
              <a:t>期</a:t>
            </a:r>
            <a:r>
              <a:rPr lang="en-US" altLang="zh-TW" dirty="0" smtClean="0">
                <a:solidFill>
                  <a:srgbClr val="FF0000"/>
                </a:solidFill>
                <a:latin typeface="標楷體" panose="03000509000000000000" pitchFamily="65" charset="-120"/>
                <a:ea typeface="標楷體" panose="03000509000000000000" pitchFamily="65" charset="-120"/>
              </a:rPr>
              <a:t>)CB</a:t>
            </a:r>
            <a:r>
              <a:rPr lang="zh-TW" altLang="en-US" dirty="0" smtClean="0">
                <a:solidFill>
                  <a:srgbClr val="FF0000"/>
                </a:solidFill>
                <a:latin typeface="標楷體" panose="03000509000000000000" pitchFamily="65" charset="-120"/>
                <a:ea typeface="標楷體" panose="03000509000000000000" pitchFamily="65" charset="-120"/>
              </a:rPr>
              <a:t>價值期望</a:t>
            </a:r>
            <a:r>
              <a:rPr lang="zh-TW" altLang="en-US" dirty="0">
                <a:solidFill>
                  <a:srgbClr val="FF0000"/>
                </a:solidFill>
                <a:latin typeface="標楷體" panose="03000509000000000000" pitchFamily="65" charset="-120"/>
                <a:ea typeface="標楷體" panose="03000509000000000000" pitchFamily="65" charset="-120"/>
              </a:rPr>
              <a:t>折現</a:t>
            </a:r>
          </a:p>
        </p:txBody>
      </p:sp>
      <p:sp>
        <p:nvSpPr>
          <p:cNvPr id="14" name="文字方塊 13"/>
          <p:cNvSpPr txBox="1"/>
          <p:nvPr/>
        </p:nvSpPr>
        <p:spPr>
          <a:xfrm>
            <a:off x="7400003" y="5923079"/>
            <a:ext cx="2713703"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當期</a:t>
            </a:r>
            <a:r>
              <a:rPr lang="en-US" altLang="zh-TW" dirty="0" smtClean="0">
                <a:solidFill>
                  <a:srgbClr val="FF0000"/>
                </a:solidFill>
                <a:latin typeface="標楷體" panose="03000509000000000000" pitchFamily="65" charset="-120"/>
                <a:ea typeface="標楷體" panose="03000509000000000000" pitchFamily="65" charset="-120"/>
              </a:rPr>
              <a:t>CB</a:t>
            </a:r>
            <a:r>
              <a:rPr lang="zh-TW" altLang="en-US" dirty="0" smtClean="0">
                <a:solidFill>
                  <a:srgbClr val="FF0000"/>
                </a:solidFill>
                <a:latin typeface="標楷體" panose="03000509000000000000" pitchFamily="65" charset="-120"/>
                <a:ea typeface="標楷體" panose="03000509000000000000" pitchFamily="65" charset="-120"/>
              </a:rPr>
              <a:t>轉換成股票價值</a:t>
            </a:r>
            <a:endParaRPr lang="zh-TW" altLang="en-US"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1143346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a:t>
            </a:r>
            <a:r>
              <a:rPr lang="zh-TW" altLang="en-US" dirty="0" smtClean="0">
                <a:solidFill>
                  <a:prstClr val="black"/>
                </a:solidFill>
                <a:latin typeface="標楷體" panose="03000509000000000000" pitchFamily="65" charset="-120"/>
                <a:ea typeface="標楷體" panose="03000509000000000000" pitchFamily="65" charset="-120"/>
              </a:rPr>
              <a:t>比例</a:t>
            </a:r>
            <a:endParaRPr lang="zh-TW" altLang="en-US" dirty="0"/>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利用</a:t>
            </a:r>
            <a:r>
              <a:rPr lang="en-US" altLang="zh-TW" dirty="0" smtClean="0">
                <a:latin typeface="Times New Roman" panose="02020603050405020304" pitchFamily="18" charset="0"/>
                <a:cs typeface="Times New Roman" panose="02020603050405020304" pitchFamily="18" charset="0"/>
              </a:rPr>
              <a:t>best response function</a:t>
            </a:r>
          </a:p>
          <a:p>
            <a:pPr marL="514350" indent="-514350">
              <a:buFont typeface="+mj-lt"/>
              <a:buAutoNum type="arabicPeriod"/>
            </a:pPr>
            <a:r>
              <a:rPr lang="zh-TW" altLang="en-US" dirty="0" smtClean="0">
                <a:latin typeface="標楷體" panose="03000509000000000000" pitchFamily="65" charset="-120"/>
                <a:ea typeface="標楷體" panose="03000509000000000000" pitchFamily="65" charset="-120"/>
              </a:rPr>
              <a:t>已知到期日的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Convertible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Bond</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及</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Stock</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表示方式</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19</a:t>
            </a:fld>
            <a:endParaRPr lang="zh-TW" altLang="en-US"/>
          </a:p>
        </p:txBody>
      </p:sp>
      <p:graphicFrame>
        <p:nvGraphicFramePr>
          <p:cNvPr id="5" name="物件 4"/>
          <p:cNvGraphicFramePr>
            <a:graphicFrameLocks noChangeAspect="1"/>
          </p:cNvGraphicFramePr>
          <p:nvPr>
            <p:extLst/>
          </p:nvPr>
        </p:nvGraphicFramePr>
        <p:xfrm>
          <a:off x="6038850" y="3319463"/>
          <a:ext cx="114300" cy="215900"/>
        </p:xfrm>
        <a:graphic>
          <a:graphicData uri="http://schemas.openxmlformats.org/presentationml/2006/ole">
            <mc:AlternateContent xmlns:mc="http://schemas.openxmlformats.org/markup-compatibility/2006">
              <mc:Choice xmlns:v="urn:schemas-microsoft-com:vml" Requires="v">
                <p:oleObj spid="_x0000_s27941" name="方程式" r:id="rId4" imgW="114120" imgH="215640" progId="Equation.3">
                  <p:embed/>
                </p:oleObj>
              </mc:Choice>
              <mc:Fallback>
                <p:oleObj name="方程式" r:id="rId4" imgW="114120" imgH="215640" progId="Equation.3">
                  <p:embed/>
                  <p:pic>
                    <p:nvPicPr>
                      <p:cNvPr id="0" name=""/>
                      <p:cNvPicPr/>
                      <p:nvPr/>
                    </p:nvPicPr>
                    <p:blipFill>
                      <a:blip r:embed="rId5"/>
                      <a:stretch>
                        <a:fillRect/>
                      </a:stretch>
                    </p:blipFill>
                    <p:spPr>
                      <a:xfrm>
                        <a:off x="6038850" y="3319463"/>
                        <a:ext cx="114300" cy="215900"/>
                      </a:xfrm>
                      <a:prstGeom prst="rect">
                        <a:avLst/>
                      </a:prstGeom>
                    </p:spPr>
                  </p:pic>
                </p:oleObj>
              </mc:Fallback>
            </mc:AlternateContent>
          </a:graphicData>
        </a:graphic>
      </p:graphicFrame>
      <p:graphicFrame>
        <p:nvGraphicFramePr>
          <p:cNvPr id="6" name="物件 5"/>
          <p:cNvGraphicFramePr>
            <a:graphicFrameLocks noChangeAspect="1"/>
          </p:cNvGraphicFramePr>
          <p:nvPr>
            <p:extLst/>
          </p:nvPr>
        </p:nvGraphicFramePr>
        <p:xfrm>
          <a:off x="6038850" y="3319463"/>
          <a:ext cx="114300" cy="215900"/>
        </p:xfrm>
        <a:graphic>
          <a:graphicData uri="http://schemas.openxmlformats.org/presentationml/2006/ole">
            <mc:AlternateContent xmlns:mc="http://schemas.openxmlformats.org/markup-compatibility/2006">
              <mc:Choice xmlns:v="urn:schemas-microsoft-com:vml" Requires="v">
                <p:oleObj spid="_x0000_s27942" name="方程式" r:id="rId6" imgW="114120" imgH="215640" progId="Equation.3">
                  <p:embed/>
                </p:oleObj>
              </mc:Choice>
              <mc:Fallback>
                <p:oleObj name="方程式" r:id="rId6" imgW="114120" imgH="215640" progId="Equation.3">
                  <p:embed/>
                  <p:pic>
                    <p:nvPicPr>
                      <p:cNvPr id="0" name=""/>
                      <p:cNvPicPr/>
                      <p:nvPr/>
                    </p:nvPicPr>
                    <p:blipFill>
                      <a:blip r:embed="rId5"/>
                      <a:stretch>
                        <a:fillRect/>
                      </a:stretch>
                    </p:blipFill>
                    <p:spPr>
                      <a:xfrm>
                        <a:off x="6038850" y="3319463"/>
                        <a:ext cx="114300" cy="215900"/>
                      </a:xfrm>
                      <a:prstGeom prst="rect">
                        <a:avLst/>
                      </a:prstGeom>
                    </p:spPr>
                  </p:pic>
                </p:oleObj>
              </mc:Fallback>
            </mc:AlternateContent>
          </a:graphicData>
        </a:graphic>
      </p:graphicFrame>
      <p:graphicFrame>
        <p:nvGraphicFramePr>
          <p:cNvPr id="7" name="物件 6"/>
          <p:cNvGraphicFramePr>
            <a:graphicFrameLocks noChangeAspect="1"/>
          </p:cNvGraphicFramePr>
          <p:nvPr>
            <p:extLst/>
          </p:nvPr>
        </p:nvGraphicFramePr>
        <p:xfrm>
          <a:off x="6038850" y="3319463"/>
          <a:ext cx="114300" cy="215900"/>
        </p:xfrm>
        <a:graphic>
          <a:graphicData uri="http://schemas.openxmlformats.org/presentationml/2006/ole">
            <mc:AlternateContent xmlns:mc="http://schemas.openxmlformats.org/markup-compatibility/2006">
              <mc:Choice xmlns:v="urn:schemas-microsoft-com:vml" Requires="v">
                <p:oleObj spid="_x0000_s27943" name="方程式" r:id="rId7" imgW="114120" imgH="215640" progId="Equation.3">
                  <p:embed/>
                </p:oleObj>
              </mc:Choice>
              <mc:Fallback>
                <p:oleObj name="方程式" r:id="rId7" imgW="114120" imgH="215640" progId="Equation.3">
                  <p:embed/>
                  <p:pic>
                    <p:nvPicPr>
                      <p:cNvPr id="0" name=""/>
                      <p:cNvPicPr/>
                      <p:nvPr/>
                    </p:nvPicPr>
                    <p:blipFill>
                      <a:blip r:embed="rId5"/>
                      <a:stretch>
                        <a:fillRect/>
                      </a:stretch>
                    </p:blipFill>
                    <p:spPr>
                      <a:xfrm>
                        <a:off x="6038850" y="3319463"/>
                        <a:ext cx="114300" cy="215900"/>
                      </a:xfrm>
                      <a:prstGeom prst="rect">
                        <a:avLst/>
                      </a:prstGeom>
                    </p:spPr>
                  </p:pic>
                </p:oleObj>
              </mc:Fallback>
            </mc:AlternateContent>
          </a:graphicData>
        </a:graphic>
      </p:graphicFrame>
      <p:graphicFrame>
        <p:nvGraphicFramePr>
          <p:cNvPr id="8" name="內容版面配置區 4"/>
          <p:cNvGraphicFramePr>
            <a:graphicFrameLocks noChangeAspect="1"/>
          </p:cNvGraphicFramePr>
          <p:nvPr>
            <p:extLst>
              <p:ext uri="{D42A27DB-BD31-4B8C-83A1-F6EECF244321}">
                <p14:modId xmlns:p14="http://schemas.microsoft.com/office/powerpoint/2010/main" val="56945409"/>
              </p:ext>
            </p:extLst>
          </p:nvPr>
        </p:nvGraphicFramePr>
        <p:xfrm>
          <a:off x="1222375" y="3132137"/>
          <a:ext cx="10131425" cy="3406775"/>
        </p:xfrm>
        <a:graphic>
          <a:graphicData uri="http://schemas.openxmlformats.org/presentationml/2006/ole">
            <mc:AlternateContent xmlns:mc="http://schemas.openxmlformats.org/markup-compatibility/2006">
              <mc:Choice xmlns:v="urn:schemas-microsoft-com:vml" Requires="v">
                <p:oleObj spid="_x0000_s27944" name="方程式" r:id="rId8" imgW="4978080" imgH="1612800" progId="Equation.3">
                  <p:embed/>
                </p:oleObj>
              </mc:Choice>
              <mc:Fallback>
                <p:oleObj name="方程式" r:id="rId8" imgW="4978080" imgH="1612800" progId="Equation.3">
                  <p:embed/>
                  <p:pic>
                    <p:nvPicPr>
                      <p:cNvPr id="0" name=""/>
                      <p:cNvPicPr/>
                      <p:nvPr/>
                    </p:nvPicPr>
                    <p:blipFill>
                      <a:blip r:embed="rId9"/>
                      <a:stretch>
                        <a:fillRect/>
                      </a:stretch>
                    </p:blipFill>
                    <p:spPr>
                      <a:xfrm>
                        <a:off x="1222375" y="3132137"/>
                        <a:ext cx="10131425" cy="3406775"/>
                      </a:xfrm>
                      <a:prstGeom prst="rect">
                        <a:avLst/>
                      </a:prstGeom>
                    </p:spPr>
                  </p:pic>
                </p:oleObj>
              </mc:Fallback>
            </mc:AlternateContent>
          </a:graphicData>
        </a:graphic>
      </p:graphicFrame>
      <p:sp>
        <p:nvSpPr>
          <p:cNvPr id="9" name="文字方塊 8"/>
          <p:cNvSpPr txBox="1"/>
          <p:nvPr/>
        </p:nvSpPr>
        <p:spPr>
          <a:xfrm>
            <a:off x="1873045" y="4001294"/>
            <a:ext cx="1696065"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未轉換</a:t>
            </a:r>
            <a:r>
              <a:rPr lang="en-US" altLang="zh-TW"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CB</a:t>
            </a:r>
            <a:r>
              <a:rPr lang="zh-TW" altLang="en-US" dirty="0" smtClean="0">
                <a:solidFill>
                  <a:srgbClr val="FF0000"/>
                </a:solidFill>
                <a:latin typeface="標楷體" panose="03000509000000000000" pitchFamily="65" charset="-120"/>
                <a:ea typeface="標楷體" panose="03000509000000000000" pitchFamily="65" charset="-120"/>
              </a:rPr>
              <a:t>價值</a:t>
            </a:r>
            <a:endParaRPr lang="zh-TW" altLang="en-US" dirty="0">
              <a:solidFill>
                <a:srgbClr val="FF0000"/>
              </a:solidFill>
              <a:latin typeface="標楷體" panose="03000509000000000000" pitchFamily="65" charset="-120"/>
              <a:ea typeface="標楷體" panose="03000509000000000000" pitchFamily="65" charset="-120"/>
            </a:endParaRPr>
          </a:p>
        </p:txBody>
      </p:sp>
      <p:sp>
        <p:nvSpPr>
          <p:cNvPr id="10" name="文字方塊 9"/>
          <p:cNvSpPr txBox="1"/>
          <p:nvPr/>
        </p:nvSpPr>
        <p:spPr>
          <a:xfrm>
            <a:off x="5692877" y="3940701"/>
            <a:ext cx="2315497"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當期轉換股票價值</a:t>
            </a:r>
            <a:endParaRPr lang="zh-TW" altLang="en-US" dirty="0">
              <a:solidFill>
                <a:srgbClr val="FF0000"/>
              </a:solidFill>
              <a:latin typeface="標楷體" panose="03000509000000000000" pitchFamily="65" charset="-120"/>
              <a:ea typeface="標楷體" panose="03000509000000000000" pitchFamily="65" charset="-120"/>
            </a:endParaRPr>
          </a:p>
        </p:txBody>
      </p:sp>
      <p:sp>
        <p:nvSpPr>
          <p:cNvPr id="11" name="文字方塊 10"/>
          <p:cNvSpPr txBox="1"/>
          <p:nvPr/>
        </p:nvSpPr>
        <p:spPr>
          <a:xfrm>
            <a:off x="7211962" y="4904462"/>
            <a:ext cx="4262285"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把</a:t>
            </a:r>
            <a:r>
              <a:rPr lang="en-US" altLang="zh-TW"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Stock</a:t>
            </a:r>
            <a:r>
              <a:rPr lang="zh-TW" altLang="en-US" dirty="0" smtClean="0">
                <a:solidFill>
                  <a:srgbClr val="FF0000"/>
                </a:solidFill>
                <a:latin typeface="標楷體" panose="03000509000000000000" pitchFamily="65" charset="-120"/>
                <a:ea typeface="標楷體" panose="03000509000000000000" pitchFamily="65" charset="-120"/>
              </a:rPr>
              <a:t>換成  股東權益</a:t>
            </a:r>
            <a:r>
              <a:rPr lang="en-US" altLang="zh-TW" dirty="0" smtClean="0">
                <a:solidFill>
                  <a:srgbClr val="FF0000"/>
                </a:solidFill>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流通在外股數</a:t>
            </a:r>
            <a:endParaRPr lang="zh-TW" altLang="en-US" dirty="0">
              <a:solidFill>
                <a:srgbClr val="FF0000"/>
              </a:solidFill>
              <a:latin typeface="標楷體" panose="03000509000000000000" pitchFamily="65" charset="-120"/>
              <a:ea typeface="標楷體" panose="03000509000000000000" pitchFamily="65" charset="-120"/>
            </a:endParaRPr>
          </a:p>
        </p:txBody>
      </p:sp>
      <mc:AlternateContent xmlns:mc="http://schemas.openxmlformats.org/markup-compatibility/2006" xmlns:a14="http://schemas.microsoft.com/office/drawing/2010/main">
        <mc:Choice Requires="a14">
          <p:sp>
            <p:nvSpPr>
              <p:cNvPr id="12" name="文字方塊 11"/>
              <p:cNvSpPr txBox="1"/>
              <p:nvPr/>
            </p:nvSpPr>
            <p:spPr>
              <a:xfrm>
                <a:off x="1364225" y="5492472"/>
                <a:ext cx="20131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𝑛</m:t>
                          </m:r>
                        </m:sub>
                      </m:sSub>
                      <m:r>
                        <a:rPr lang="en-US" altLang="zh-TW" b="0" i="1" smtClean="0">
                          <a:solidFill>
                            <a:srgbClr val="FF0000"/>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zh-TW" altLang="en-US" b="0" i="1" smtClean="0">
                              <a:solidFill>
                                <a:srgbClr val="FF0000"/>
                              </a:solidFill>
                              <a:latin typeface="Cambria Math" panose="02040503050406030204" pitchFamily="18" charset="0"/>
                            </a:rPr>
                            <m:t>𝛼</m:t>
                          </m:r>
                        </m:e>
                        <m:sub>
                          <m:r>
                            <a:rPr lang="en-US" altLang="zh-TW" b="0" i="1" smtClean="0">
                              <a:solidFill>
                                <a:srgbClr val="FF0000"/>
                              </a:solidFill>
                              <a:latin typeface="Cambria Math" panose="02040503050406030204" pitchFamily="18" charset="0"/>
                            </a:rPr>
                            <m:t>𝑛</m:t>
                          </m:r>
                        </m:sub>
                      </m:sSub>
                      <m:r>
                        <a:rPr lang="en-US" altLang="zh-TW" b="0" i="1" smtClean="0">
                          <a:solidFill>
                            <a:srgbClr val="FF0000"/>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𝑛</m:t>
                          </m:r>
                          <m:r>
                            <a:rPr lang="en-US" altLang="zh-TW" b="0" i="1" smtClean="0">
                              <a:solidFill>
                                <a:srgbClr val="FF0000"/>
                              </a:solidFill>
                              <a:latin typeface="Cambria Math" panose="02040503050406030204" pitchFamily="18" charset="0"/>
                            </a:rPr>
                            <m:t>−1</m:t>
                          </m:r>
                        </m:sub>
                      </m:sSub>
                    </m:oMath>
                  </m:oMathPara>
                </a14:m>
                <a:endParaRPr lang="zh-TW" altLang="en-US" dirty="0">
                  <a:solidFill>
                    <a:srgbClr val="FF0000"/>
                  </a:solidFill>
                </a:endParaRPr>
              </a:p>
            </p:txBody>
          </p:sp>
        </mc:Choice>
        <mc:Fallback xmlns="">
          <p:sp>
            <p:nvSpPr>
              <p:cNvPr id="12" name="文字方塊 11"/>
              <p:cNvSpPr txBox="1">
                <a:spLocks noRot="1" noChangeAspect="1" noMove="1" noResize="1" noEditPoints="1" noAdjustHandles="1" noChangeArrowheads="1" noChangeShapeType="1" noTextEdit="1"/>
              </p:cNvSpPr>
              <p:nvPr/>
            </p:nvSpPr>
            <p:spPr>
              <a:xfrm>
                <a:off x="1364225" y="5492472"/>
                <a:ext cx="2013156" cy="369332"/>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4110498" y="6429534"/>
                <a:ext cx="40853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𝑦</m:t>
                          </m:r>
                        </m:e>
                        <m:sub>
                          <m:r>
                            <a:rPr lang="en-US" altLang="zh-TW" b="0" i="1" smtClean="0">
                              <a:solidFill>
                                <a:srgbClr val="FF0000"/>
                              </a:solidFill>
                              <a:latin typeface="Cambria Math" panose="02040503050406030204" pitchFamily="18" charset="0"/>
                            </a:rPr>
                            <m:t>𝑛</m:t>
                          </m:r>
                        </m:sub>
                      </m:sSub>
                      <m:r>
                        <a:rPr lang="en-US" altLang="zh-TW" b="0" i="1" smtClean="0">
                          <a:solidFill>
                            <a:srgbClr val="FF0000"/>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zh-TW" altLang="en-US" b="0" i="1" smtClean="0">
                              <a:solidFill>
                                <a:srgbClr val="FF0000"/>
                              </a:solidFill>
                              <a:latin typeface="Cambria Math" panose="02040503050406030204" pitchFamily="18" charset="0"/>
                            </a:rPr>
                            <m:t>𝛼</m:t>
                          </m:r>
                        </m:e>
                        <m:sub>
                          <m:r>
                            <a:rPr lang="en-US" altLang="zh-TW" b="0" i="1" smtClean="0">
                              <a:solidFill>
                                <a:srgbClr val="FF0000"/>
                              </a:solidFill>
                              <a:latin typeface="Cambria Math" panose="02040503050406030204" pitchFamily="18" charset="0"/>
                            </a:rPr>
                            <m:t>𝑛</m:t>
                          </m:r>
                        </m:sub>
                      </m:sSub>
                      <m:r>
                        <a:rPr lang="en-US" altLang="zh-TW" b="0" i="1" smtClean="0">
                          <a:solidFill>
                            <a:srgbClr val="FF0000"/>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zh-TW" altLang="en-US" b="0" i="1" smtClean="0">
                              <a:solidFill>
                                <a:srgbClr val="FF0000"/>
                              </a:solidFill>
                              <a:latin typeface="Cambria Math" panose="02040503050406030204" pitchFamily="18" charset="0"/>
                            </a:rPr>
                            <m:t>𝛽</m:t>
                          </m:r>
                        </m:e>
                        <m:sub>
                          <m:r>
                            <a:rPr lang="en-US" altLang="zh-TW" b="0" i="1" smtClean="0">
                              <a:solidFill>
                                <a:srgbClr val="FF0000"/>
                              </a:solidFill>
                              <a:latin typeface="Cambria Math" panose="02040503050406030204" pitchFamily="18" charset="0"/>
                            </a:rPr>
                            <m:t>𝑛</m:t>
                          </m:r>
                        </m:sub>
                      </m:sSub>
                      <m:r>
                        <a:rPr lang="en-US" altLang="zh-TW" b="0" i="1" smtClean="0">
                          <a:solidFill>
                            <a:srgbClr val="FF0000"/>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𝑎</m:t>
                          </m:r>
                        </m:e>
                        <m:sub>
                          <m:r>
                            <a:rPr lang="en-US" altLang="zh-TW" b="0" i="1" smtClean="0">
                              <a:solidFill>
                                <a:srgbClr val="FF0000"/>
                              </a:solidFill>
                              <a:latin typeface="Cambria Math" panose="02040503050406030204" pitchFamily="18" charset="0"/>
                            </a:rPr>
                            <m:t>𝑛</m:t>
                          </m:r>
                          <m:r>
                            <a:rPr lang="en-US" altLang="zh-TW" b="0" i="1" smtClean="0">
                              <a:solidFill>
                                <a:srgbClr val="FF0000"/>
                              </a:solidFill>
                              <a:latin typeface="Cambria Math" panose="02040503050406030204" pitchFamily="18" charset="0"/>
                            </a:rPr>
                            <m:t>−1</m:t>
                          </m:r>
                        </m:sub>
                      </m:sSub>
                      <m:r>
                        <a:rPr lang="en-US" altLang="zh-TW" b="0" i="1" smtClean="0">
                          <a:solidFill>
                            <a:srgbClr val="FF0000"/>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𝑛</m:t>
                          </m:r>
                          <m:r>
                            <a:rPr lang="en-US" altLang="zh-TW" b="0" i="1" smtClean="0">
                              <a:solidFill>
                                <a:srgbClr val="FF0000"/>
                              </a:solidFill>
                              <a:latin typeface="Cambria Math" panose="02040503050406030204" pitchFamily="18" charset="0"/>
                            </a:rPr>
                            <m:t>−1</m:t>
                          </m:r>
                        </m:sub>
                      </m:sSub>
                    </m:oMath>
                  </m:oMathPara>
                </a14:m>
                <a:endParaRPr lang="zh-TW" altLang="en-US"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4110498" y="6429534"/>
                <a:ext cx="4085303" cy="369332"/>
              </a:xfrm>
              <a:prstGeom prst="rect">
                <a:avLst/>
              </a:prstGeom>
              <a:blipFill rotWithShape="0">
                <a:blip r:embed="rId11"/>
                <a:stretch>
                  <a:fillRect b="-1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791250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到期日最佳轉換比例</a:t>
            </a:r>
            <a:endParaRPr lang="zh-TW" altLang="en-US" dirty="0"/>
          </a:p>
        </p:txBody>
      </p:sp>
      <p:sp>
        <p:nvSpPr>
          <p:cNvPr id="3" name="內容版面配置區 2"/>
          <p:cNvSpPr>
            <a:spLocks noGrp="1"/>
          </p:cNvSpPr>
          <p:nvPr>
            <p:ph idx="1"/>
          </p:nvPr>
        </p:nvSpPr>
        <p:spPr>
          <a:xfrm>
            <a:off x="838200" y="1893864"/>
            <a:ext cx="10515600" cy="4351338"/>
          </a:xfrm>
        </p:spPr>
        <p:txBody>
          <a:bodyPr/>
          <a:lstStyle/>
          <a:p>
            <a:pPr marL="514350" indent="-514350">
              <a:buFont typeface="+mj-lt"/>
              <a:buAutoNum type="arabicPeriod" startAt="2"/>
            </a:pPr>
            <a:r>
              <a:rPr lang="zh-TW" altLang="en-US" dirty="0" smtClean="0">
                <a:latin typeface="標楷體" panose="03000509000000000000" pitchFamily="65" charset="-120"/>
                <a:ea typeface="標楷體" panose="03000509000000000000" pitchFamily="65" charset="-120"/>
              </a:rPr>
              <a:t>取一階微分</a:t>
            </a:r>
            <a:r>
              <a:rPr lang="en-US" altLang="zh-TW" dirty="0" smtClean="0">
                <a:latin typeface="Times New Roman" panose="02020603050405020304" pitchFamily="18" charset="0"/>
                <a:cs typeface="Times New Roman" panose="02020603050405020304" pitchFamily="18" charset="0"/>
              </a:rPr>
              <a:t>=0</a:t>
            </a:r>
          </a:p>
          <a:p>
            <a:pPr marL="514350" indent="-514350">
              <a:buFont typeface="+mj-lt"/>
              <a:buAutoNum type="arabicPeriod" startAt="2"/>
            </a:pPr>
            <a:endParaRPr lang="en-US" altLang="zh-TW" dirty="0" smtClean="0"/>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20</a:t>
            </a:fld>
            <a:endParaRPr lang="zh-TW" altLang="en-US"/>
          </a:p>
        </p:txBody>
      </p:sp>
      <p:sp>
        <p:nvSpPr>
          <p:cNvPr id="7" name="Rectangle 4"/>
          <p:cNvSpPr>
            <a:spLocks noChangeArrowheads="1"/>
          </p:cNvSpPr>
          <p:nvPr/>
        </p:nvSpPr>
        <p:spPr bwMode="auto">
          <a:xfrm>
            <a:off x="838200" y="20471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3" name="物件 12"/>
          <p:cNvGraphicFramePr>
            <a:graphicFrameLocks noChangeAspect="1"/>
          </p:cNvGraphicFramePr>
          <p:nvPr>
            <p:extLst/>
          </p:nvPr>
        </p:nvGraphicFramePr>
        <p:xfrm>
          <a:off x="1330325" y="3433763"/>
          <a:ext cx="9134475" cy="2922587"/>
        </p:xfrm>
        <a:graphic>
          <a:graphicData uri="http://schemas.openxmlformats.org/presentationml/2006/ole">
            <mc:AlternateContent xmlns:mc="http://schemas.openxmlformats.org/markup-compatibility/2006">
              <mc:Choice xmlns:v="urn:schemas-microsoft-com:vml" Requires="v">
                <p:oleObj spid="_x0000_s26767" name="方程式" r:id="rId3" imgW="5600520" imgH="1790640" progId="Equation.3">
                  <p:embed/>
                </p:oleObj>
              </mc:Choice>
              <mc:Fallback>
                <p:oleObj name="方程式" r:id="rId3" imgW="5600520" imgH="1790640" progId="Equation.3">
                  <p:embed/>
                  <p:pic>
                    <p:nvPicPr>
                      <p:cNvPr id="0" name=""/>
                      <p:cNvPicPr>
                        <a:picLocks noChangeAspect="1" noChangeArrowheads="1"/>
                      </p:cNvPicPr>
                      <p:nvPr/>
                    </p:nvPicPr>
                    <p:blipFill>
                      <a:blip r:embed="rId4"/>
                      <a:srcRect/>
                      <a:stretch>
                        <a:fillRect/>
                      </a:stretch>
                    </p:blipFill>
                    <p:spPr bwMode="auto">
                      <a:xfrm>
                        <a:off x="1330325" y="3433763"/>
                        <a:ext cx="9134475" cy="2922587"/>
                      </a:xfrm>
                      <a:prstGeom prst="rect">
                        <a:avLst/>
                      </a:prstGeom>
                      <a:noFill/>
                    </p:spPr>
                  </p:pic>
                </p:oleObj>
              </mc:Fallback>
            </mc:AlternateContent>
          </a:graphicData>
        </a:graphic>
      </p:graphicFrame>
      <p:sp>
        <p:nvSpPr>
          <p:cNvPr id="5" name="文字方塊 4"/>
          <p:cNvSpPr txBox="1"/>
          <p:nvPr/>
        </p:nvSpPr>
        <p:spPr>
          <a:xfrm>
            <a:off x="7256002" y="2278799"/>
            <a:ext cx="4586748" cy="923330"/>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注意：持有者的起始持有比例會在做微分的時候就微掉了，所以到期日的最佳轉換比例與起始持有比例無關</a:t>
            </a:r>
            <a:endParaRPr lang="zh-TW" altLang="en-US" dirty="0">
              <a:solidFill>
                <a:srgbClr val="FF0000"/>
              </a:solidFill>
              <a:latin typeface="標楷體" panose="03000509000000000000" pitchFamily="65" charset="-120"/>
              <a:ea typeface="標楷體" panose="03000509000000000000" pitchFamily="65" charset="-120"/>
            </a:endParaRPr>
          </a:p>
        </p:txBody>
      </p:sp>
      <p:graphicFrame>
        <p:nvGraphicFramePr>
          <p:cNvPr id="6" name="物件 5"/>
          <p:cNvGraphicFramePr>
            <a:graphicFrameLocks noChangeAspect="1"/>
          </p:cNvGraphicFramePr>
          <p:nvPr>
            <p:extLst/>
          </p:nvPr>
        </p:nvGraphicFramePr>
        <p:xfrm>
          <a:off x="1330324" y="2403641"/>
          <a:ext cx="3203991" cy="918974"/>
        </p:xfrm>
        <a:graphic>
          <a:graphicData uri="http://schemas.openxmlformats.org/presentationml/2006/ole">
            <mc:AlternateContent xmlns:mc="http://schemas.openxmlformats.org/markup-compatibility/2006">
              <mc:Choice xmlns:v="urn:schemas-microsoft-com:vml" Requires="v">
                <p:oleObj spid="_x0000_s26768" name="方程式" r:id="rId5" imgW="1638000" imgH="469800" progId="Equation.3">
                  <p:embed/>
                </p:oleObj>
              </mc:Choice>
              <mc:Fallback>
                <p:oleObj name="方程式" r:id="rId5" imgW="1638000" imgH="469800" progId="Equation.3">
                  <p:embed/>
                  <p:pic>
                    <p:nvPicPr>
                      <p:cNvPr id="0" name=""/>
                      <p:cNvPicPr/>
                      <p:nvPr/>
                    </p:nvPicPr>
                    <p:blipFill>
                      <a:blip r:embed="rId6"/>
                      <a:stretch>
                        <a:fillRect/>
                      </a:stretch>
                    </p:blipFill>
                    <p:spPr>
                      <a:xfrm>
                        <a:off x="1330324" y="2403641"/>
                        <a:ext cx="3203991" cy="918974"/>
                      </a:xfrm>
                      <a:prstGeom prst="rect">
                        <a:avLst/>
                      </a:prstGeom>
                    </p:spPr>
                  </p:pic>
                </p:oleObj>
              </mc:Fallback>
            </mc:AlternateContent>
          </a:graphicData>
        </a:graphic>
      </p:graphicFrame>
    </p:spTree>
    <p:extLst>
      <p:ext uri="{BB962C8B-B14F-4D97-AF65-F5344CB8AC3E}">
        <p14:creationId xmlns:p14="http://schemas.microsoft.com/office/powerpoint/2010/main" val="32206184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到期日最佳轉換比例</a:t>
            </a:r>
            <a:endParaRPr lang="zh-TW" altLang="en-US" dirty="0"/>
          </a:p>
        </p:txBody>
      </p:sp>
      <p:sp>
        <p:nvSpPr>
          <p:cNvPr id="3" name="內容版面配置區 2"/>
          <p:cNvSpPr>
            <a:spLocks noGrp="1"/>
          </p:cNvSpPr>
          <p:nvPr>
            <p:ph idx="1"/>
          </p:nvPr>
        </p:nvSpPr>
        <p:spPr>
          <a:xfrm>
            <a:off x="838200" y="1682123"/>
            <a:ext cx="10515600" cy="4351338"/>
          </a:xfrm>
        </p:spPr>
        <p:txBody>
          <a:bodyPr/>
          <a:lstStyle/>
          <a:p>
            <a:pPr marL="514350" indent="-514350">
              <a:buFont typeface="+mj-lt"/>
              <a:buAutoNum type="arabicPeriod" startAt="3"/>
            </a:pPr>
            <a:r>
              <a:rPr lang="zh-TW" altLang="en-US" dirty="0" smtClean="0">
                <a:latin typeface="標楷體" panose="03000509000000000000" pitchFamily="65" charset="-120"/>
                <a:ea typeface="標楷體" panose="03000509000000000000" pitchFamily="65" charset="-120"/>
              </a:rPr>
              <a:t>整理成</a:t>
            </a:r>
            <a:r>
              <a:rPr lang="el-GR" altLang="zh-TW" dirty="0" smtClean="0">
                <a:latin typeface="Times New Roman" panose="02020603050405020304" pitchFamily="18" charset="0"/>
                <a:cs typeface="Times New Roman" panose="02020603050405020304" pitchFamily="18" charset="0"/>
              </a:rPr>
              <a:t>α</a:t>
            </a:r>
            <a:r>
              <a:rPr lang="en-US" altLang="zh-TW" sz="1600" dirty="0" smtClean="0">
                <a:latin typeface="Times New Roman" panose="02020603050405020304" pitchFamily="18" charset="0"/>
                <a:cs typeface="Times New Roman" panose="02020603050405020304" pitchFamily="18" charset="0"/>
              </a:rPr>
              <a:t>n</a:t>
            </a:r>
            <a:r>
              <a:rPr lang="zh-TW" altLang="en-US" dirty="0" smtClean="0">
                <a:latin typeface="標楷體" panose="03000509000000000000" pitchFamily="65" charset="-120"/>
                <a:ea typeface="標楷體" panose="03000509000000000000" pitchFamily="65" charset="-120"/>
              </a:rPr>
              <a:t>的一元二次方程式</a:t>
            </a:r>
            <a:endParaRPr lang="en-US" altLang="zh-TW" dirty="0" smtClean="0">
              <a:latin typeface="標楷體" panose="03000509000000000000" pitchFamily="65" charset="-120"/>
              <a:ea typeface="標楷體" panose="03000509000000000000" pitchFamily="65" charset="-120"/>
            </a:endParaRPr>
          </a:p>
          <a:p>
            <a:pPr marL="514350" indent="-514350">
              <a:buFont typeface="+mj-lt"/>
              <a:buAutoNum type="arabicPeriod" startAt="3"/>
            </a:pPr>
            <a:endParaRPr lang="en-US" altLang="zh-TW" dirty="0" smtClean="0"/>
          </a:p>
          <a:p>
            <a:pPr marL="514350" indent="-514350">
              <a:buFont typeface="+mj-lt"/>
              <a:buAutoNum type="arabicPeriod" startAt="3"/>
            </a:pP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21</a:t>
            </a:fld>
            <a:endParaRPr lang="zh-TW" altLang="en-US"/>
          </a:p>
        </p:txBody>
      </p:sp>
      <p:sp>
        <p:nvSpPr>
          <p:cNvPr id="5" name="Rectangle 2"/>
          <p:cNvSpPr>
            <a:spLocks noChangeArrowheads="1"/>
          </p:cNvSpPr>
          <p:nvPr/>
        </p:nvSpPr>
        <p:spPr bwMode="auto">
          <a:xfrm>
            <a:off x="1009935" y="154219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6" name="物件 5"/>
          <p:cNvGraphicFramePr>
            <a:graphicFrameLocks noChangeAspect="1"/>
          </p:cNvGraphicFramePr>
          <p:nvPr>
            <p:extLst/>
          </p:nvPr>
        </p:nvGraphicFramePr>
        <p:xfrm>
          <a:off x="612775" y="2184400"/>
          <a:ext cx="11009313" cy="3533775"/>
        </p:xfrm>
        <a:graphic>
          <a:graphicData uri="http://schemas.openxmlformats.org/presentationml/2006/ole">
            <mc:AlternateContent xmlns:mc="http://schemas.openxmlformats.org/markup-compatibility/2006">
              <mc:Choice xmlns:v="urn:schemas-microsoft-com:vml" Requires="v">
                <p:oleObj spid="_x0000_s25672" name="方程式" r:id="rId3" imgW="6464160" imgH="2070000" progId="Equation.3">
                  <p:embed/>
                </p:oleObj>
              </mc:Choice>
              <mc:Fallback>
                <p:oleObj name="方程式" r:id="rId3" imgW="6464160" imgH="2070000" progId="Equation.3">
                  <p:embed/>
                  <p:pic>
                    <p:nvPicPr>
                      <p:cNvPr id="0" name=""/>
                      <p:cNvPicPr>
                        <a:picLocks noChangeAspect="1" noChangeArrowheads="1"/>
                      </p:cNvPicPr>
                      <p:nvPr/>
                    </p:nvPicPr>
                    <p:blipFill>
                      <a:blip r:embed="rId4"/>
                      <a:srcRect/>
                      <a:stretch>
                        <a:fillRect/>
                      </a:stretch>
                    </p:blipFill>
                    <p:spPr bwMode="auto">
                      <a:xfrm>
                        <a:off x="612775" y="2184400"/>
                        <a:ext cx="11009313" cy="3533775"/>
                      </a:xfrm>
                      <a:prstGeom prst="rect">
                        <a:avLst/>
                      </a:prstGeom>
                      <a:noFill/>
                    </p:spPr>
                  </p:pic>
                </p:oleObj>
              </mc:Fallback>
            </mc:AlternateContent>
          </a:graphicData>
        </a:graphic>
      </p:graphicFrame>
      <p:sp>
        <p:nvSpPr>
          <p:cNvPr id="9" name="Rectangle 2"/>
          <p:cNvSpPr>
            <a:spLocks noChangeArrowheads="1"/>
          </p:cNvSpPr>
          <p:nvPr/>
        </p:nvSpPr>
        <p:spPr bwMode="auto">
          <a:xfrm>
            <a:off x="1162335" y="169459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8" name="文字方塊 7"/>
          <p:cNvSpPr txBox="1"/>
          <p:nvPr/>
        </p:nvSpPr>
        <p:spPr>
          <a:xfrm>
            <a:off x="10809984" y="5838645"/>
            <a:ext cx="886205" cy="369332"/>
          </a:xfrm>
          <a:prstGeom prst="rect">
            <a:avLst/>
          </a:prstGeom>
          <a:noFill/>
        </p:spPr>
        <p:txBody>
          <a:bodyPr wrap="none" rtlCol="0">
            <a:spAutoFit/>
          </a:bodyPr>
          <a:lstStyle/>
          <a:p>
            <a:r>
              <a:rPr lang="en-US" altLang="zh-TW" dirty="0" smtClean="0">
                <a:hlinkClick r:id="rId5" action="ppaction://hlinksldjump"/>
              </a:rPr>
              <a:t>Go P.26</a:t>
            </a:r>
            <a:endParaRPr lang="zh-TW" altLang="en-US" dirty="0"/>
          </a:p>
        </p:txBody>
      </p:sp>
    </p:spTree>
    <p:extLst>
      <p:ext uri="{BB962C8B-B14F-4D97-AF65-F5344CB8AC3E}">
        <p14:creationId xmlns:p14="http://schemas.microsoft.com/office/powerpoint/2010/main" val="25608478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到期日最佳轉換比例</a:t>
            </a:r>
            <a:endParaRPr lang="zh-TW" altLang="en-US" dirty="0"/>
          </a:p>
        </p:txBody>
      </p:sp>
      <p:sp>
        <p:nvSpPr>
          <p:cNvPr id="3" name="內容版面配置區 2"/>
          <p:cNvSpPr>
            <a:spLocks noGrp="1"/>
          </p:cNvSpPr>
          <p:nvPr>
            <p:ph idx="1"/>
          </p:nvPr>
        </p:nvSpPr>
        <p:spPr/>
        <p:txBody>
          <a:bodyPr/>
          <a:lstStyle/>
          <a:p>
            <a:pPr marL="514350" indent="-514350">
              <a:buFont typeface="+mj-lt"/>
              <a:buAutoNum type="arabicPeriod" startAt="4"/>
            </a:pPr>
            <a:r>
              <a:rPr lang="zh-TW" altLang="en-US" dirty="0">
                <a:latin typeface="標楷體" panose="03000509000000000000" pitchFamily="65" charset="-120"/>
                <a:ea typeface="標楷體" panose="03000509000000000000" pitchFamily="65" charset="-120"/>
              </a:rPr>
              <a:t>造</a:t>
            </a:r>
            <a:r>
              <a:rPr lang="zh-TW" altLang="en-US" dirty="0" smtClean="0">
                <a:latin typeface="標楷體" panose="03000509000000000000" pitchFamily="65" charset="-120"/>
                <a:ea typeface="標楷體" panose="03000509000000000000" pitchFamily="65" charset="-120"/>
              </a:rPr>
              <a:t>出</a:t>
            </a:r>
            <a:r>
              <a:rPr lang="el-GR" altLang="zh-TW" dirty="0" smtClean="0">
                <a:latin typeface="Times New Roman" panose="02020603050405020304" pitchFamily="18" charset="0"/>
                <a:cs typeface="Times New Roman" panose="02020603050405020304" pitchFamily="18" charset="0"/>
              </a:rPr>
              <a:t>α</a:t>
            </a:r>
            <a:r>
              <a:rPr lang="en-US" altLang="zh-TW" sz="1800" dirty="0" smtClean="0">
                <a:latin typeface="Times New Roman" panose="02020603050405020304" pitchFamily="18" charset="0"/>
                <a:cs typeface="Times New Roman" panose="02020603050405020304" pitchFamily="18" charset="0"/>
              </a:rPr>
              <a:t>n</a:t>
            </a:r>
            <a:r>
              <a:rPr lang="zh-TW" altLang="en-US" dirty="0" smtClean="0">
                <a:latin typeface="標楷體" panose="03000509000000000000" pitchFamily="65" charset="-120"/>
                <a:ea typeface="標楷體" panose="03000509000000000000" pitchFamily="65" charset="-120"/>
              </a:rPr>
              <a:t>的</a:t>
            </a:r>
            <a:r>
              <a:rPr lang="en-US" altLang="zh-TW" dirty="0">
                <a:latin typeface="Times New Roman" panose="02020603050405020304" pitchFamily="18" charset="0"/>
                <a:cs typeface="Times New Roman" panose="02020603050405020304" pitchFamily="18" charset="0"/>
              </a:rPr>
              <a:t>best response </a:t>
            </a:r>
            <a:r>
              <a:rPr lang="en-US" altLang="zh-TW" dirty="0" smtClean="0">
                <a:latin typeface="Times New Roman" panose="02020603050405020304" pitchFamily="18" charset="0"/>
                <a:cs typeface="Times New Roman" panose="02020603050405020304" pitchFamily="18" charset="0"/>
              </a:rPr>
              <a:t>function(</a:t>
            </a:r>
            <a:r>
              <a:rPr lang="zh-TW" altLang="en-US" dirty="0" smtClean="0">
                <a:latin typeface="標楷體" panose="03000509000000000000" pitchFamily="65" charset="-120"/>
                <a:ea typeface="標楷體" panose="03000509000000000000" pitchFamily="65" charset="-120"/>
              </a:rPr>
              <a:t>公式解</a:t>
            </a:r>
            <a:r>
              <a:rPr lang="zh-TW" altLang="en-US" dirty="0">
                <a:latin typeface="標楷體" panose="03000509000000000000" pitchFamily="65" charset="-120"/>
                <a:ea typeface="標楷體" panose="03000509000000000000" pitchFamily="65" charset="-120"/>
              </a:rPr>
              <a:t>需</a:t>
            </a:r>
            <a:r>
              <a:rPr lang="zh-TW" altLang="en-US" dirty="0" smtClean="0">
                <a:latin typeface="標楷體" panose="03000509000000000000" pitchFamily="65" charset="-120"/>
                <a:ea typeface="標楷體" panose="03000509000000000000" pitchFamily="65" charset="-120"/>
              </a:rPr>
              <a:t>檢驗二階微分</a:t>
            </a:r>
            <a:r>
              <a:rPr lang="en-US" altLang="zh-TW" dirty="0" smtClean="0">
                <a:latin typeface="Times New Roman" panose="02020603050405020304" pitchFamily="18" charset="0"/>
                <a:cs typeface="Times New Roman" panose="02020603050405020304" pitchFamily="18" charset="0"/>
              </a:rPr>
              <a:t>&lt;0)</a:t>
            </a:r>
          </a:p>
          <a:p>
            <a:pPr marL="514350" indent="-514350">
              <a:buFont typeface="+mj-lt"/>
              <a:buAutoNum type="arabicPeriod" startAt="4"/>
            </a:pPr>
            <a:endParaRPr lang="en-US" altLang="zh-TW" dirty="0"/>
          </a:p>
          <a:p>
            <a:pPr marL="514350" indent="-514350">
              <a:buFont typeface="+mj-lt"/>
              <a:buAutoNum type="arabicPeriod" startAt="4"/>
            </a:pPr>
            <a:endParaRPr lang="en-US" altLang="zh-TW" dirty="0" smtClean="0"/>
          </a:p>
          <a:p>
            <a:pPr marL="0" indent="0">
              <a:buNone/>
            </a:pPr>
            <a:endParaRPr lang="en-US" altLang="zh-TW" dirty="0" smtClean="0"/>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22</a:t>
            </a:fld>
            <a:endParaRPr lang="zh-TW"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7" name="內容版面配置區 2"/>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TW" altLang="en-US" dirty="0"/>
          </a:p>
        </p:txBody>
      </p:sp>
      <p:sp>
        <p:nvSpPr>
          <p:cNvPr id="8" name="Rectangle 2"/>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9" name="物件 8"/>
          <p:cNvGraphicFramePr>
            <a:graphicFrameLocks noChangeAspect="1"/>
          </p:cNvGraphicFramePr>
          <p:nvPr>
            <p:extLst>
              <p:ext uri="{D42A27DB-BD31-4B8C-83A1-F6EECF244321}">
                <p14:modId xmlns:p14="http://schemas.microsoft.com/office/powerpoint/2010/main" val="1437669627"/>
              </p:ext>
            </p:extLst>
          </p:nvPr>
        </p:nvGraphicFramePr>
        <p:xfrm>
          <a:off x="1235075" y="2540000"/>
          <a:ext cx="6805613" cy="2624138"/>
        </p:xfrm>
        <a:graphic>
          <a:graphicData uri="http://schemas.openxmlformats.org/presentationml/2006/ole">
            <mc:AlternateContent xmlns:mc="http://schemas.openxmlformats.org/markup-compatibility/2006">
              <mc:Choice xmlns:v="urn:schemas-microsoft-com:vml" Requires="v">
                <p:oleObj spid="_x0000_s24723" name="方程式" r:id="rId4" imgW="3162240" imgH="1218960" progId="Equation.3">
                  <p:embed/>
                </p:oleObj>
              </mc:Choice>
              <mc:Fallback>
                <p:oleObj name="方程式" r:id="rId4" imgW="3162240" imgH="1218960" progId="Equation.3">
                  <p:embed/>
                  <p:pic>
                    <p:nvPicPr>
                      <p:cNvPr id="0" name=""/>
                      <p:cNvPicPr>
                        <a:picLocks noChangeAspect="1" noChangeArrowheads="1"/>
                      </p:cNvPicPr>
                      <p:nvPr/>
                    </p:nvPicPr>
                    <p:blipFill>
                      <a:blip r:embed="rId5"/>
                      <a:srcRect/>
                      <a:stretch>
                        <a:fillRect/>
                      </a:stretch>
                    </p:blipFill>
                    <p:spPr bwMode="auto">
                      <a:xfrm>
                        <a:off x="1235075" y="2540000"/>
                        <a:ext cx="6805613" cy="2624138"/>
                      </a:xfrm>
                      <a:prstGeom prst="rect">
                        <a:avLst/>
                      </a:prstGeom>
                      <a:noFill/>
                    </p:spPr>
                  </p:pic>
                </p:oleObj>
              </mc:Fallback>
            </mc:AlternateContent>
          </a:graphicData>
        </a:graphic>
      </p:graphicFrame>
      <p:pic>
        <p:nvPicPr>
          <p:cNvPr id="6" name="圖片 5"/>
          <p:cNvPicPr>
            <a:picLocks noChangeAspect="1"/>
          </p:cNvPicPr>
          <p:nvPr/>
        </p:nvPicPr>
        <p:blipFill>
          <a:blip r:embed="rId6"/>
          <a:stretch>
            <a:fillRect/>
          </a:stretch>
        </p:blipFill>
        <p:spPr>
          <a:xfrm>
            <a:off x="8609370" y="2342696"/>
            <a:ext cx="4117476" cy="2769938"/>
          </a:xfrm>
          <a:prstGeom prst="rect">
            <a:avLst/>
          </a:prstGeom>
        </p:spPr>
      </p:pic>
      <p:sp>
        <p:nvSpPr>
          <p:cNvPr id="10" name="向下箭號 9"/>
          <p:cNvSpPr/>
          <p:nvPr/>
        </p:nvSpPr>
        <p:spPr>
          <a:xfrm>
            <a:off x="9849464" y="3049696"/>
            <a:ext cx="415413" cy="200556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1" name="物件 10"/>
          <p:cNvGraphicFramePr>
            <a:graphicFrameLocks noChangeAspect="1"/>
          </p:cNvGraphicFramePr>
          <p:nvPr>
            <p:extLst/>
          </p:nvPr>
        </p:nvGraphicFramePr>
        <p:xfrm>
          <a:off x="9471994" y="5188834"/>
          <a:ext cx="1020411" cy="1261599"/>
        </p:xfrm>
        <a:graphic>
          <a:graphicData uri="http://schemas.openxmlformats.org/presentationml/2006/ole">
            <mc:AlternateContent xmlns:mc="http://schemas.openxmlformats.org/markup-compatibility/2006">
              <mc:Choice xmlns:v="urn:schemas-microsoft-com:vml" Requires="v">
                <p:oleObj spid="_x0000_s24724" name="方程式" r:id="rId7" imgW="698400" imgH="863280" progId="Equation.3">
                  <p:embed/>
                </p:oleObj>
              </mc:Choice>
              <mc:Fallback>
                <p:oleObj name="方程式" r:id="rId7" imgW="698400" imgH="863280" progId="Equation.3">
                  <p:embed/>
                  <p:pic>
                    <p:nvPicPr>
                      <p:cNvPr id="0" name=""/>
                      <p:cNvPicPr/>
                      <p:nvPr/>
                    </p:nvPicPr>
                    <p:blipFill>
                      <a:blip r:embed="rId8"/>
                      <a:stretch>
                        <a:fillRect/>
                      </a:stretch>
                    </p:blipFill>
                    <p:spPr>
                      <a:xfrm>
                        <a:off x="9471994" y="5188834"/>
                        <a:ext cx="1020411" cy="1261599"/>
                      </a:xfrm>
                      <a:prstGeom prst="rect">
                        <a:avLst/>
                      </a:prstGeom>
                    </p:spPr>
                  </p:pic>
                </p:oleObj>
              </mc:Fallback>
            </mc:AlternateContent>
          </a:graphicData>
        </a:graphic>
      </p:graphicFrame>
      <p:sp>
        <p:nvSpPr>
          <p:cNvPr id="12" name="文字方塊 11"/>
          <p:cNvSpPr txBox="1"/>
          <p:nvPr/>
        </p:nvSpPr>
        <p:spPr>
          <a:xfrm>
            <a:off x="3465872" y="4153694"/>
            <a:ext cx="3569109"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轉換</a:t>
            </a:r>
            <a:r>
              <a:rPr lang="zh-TW" altLang="en-US" dirty="0">
                <a:solidFill>
                  <a:srgbClr val="FF0000"/>
                </a:solidFill>
                <a:latin typeface="標楷體" panose="03000509000000000000" pitchFamily="65" charset="-120"/>
                <a:ea typeface="標楷體" panose="03000509000000000000" pitchFamily="65" charset="-120"/>
              </a:rPr>
              <a:t>當</a:t>
            </a:r>
            <a:r>
              <a:rPr lang="zh-TW" altLang="en-US" dirty="0" smtClean="0">
                <a:solidFill>
                  <a:srgbClr val="FF0000"/>
                </a:solidFill>
                <a:latin typeface="標楷體" panose="03000509000000000000" pitchFamily="65" charset="-120"/>
                <a:ea typeface="標楷體" panose="03000509000000000000" pitchFamily="65" charset="-120"/>
              </a:rPr>
              <a:t>期手中剩餘的</a:t>
            </a:r>
            <a:r>
              <a:rPr lang="en-US" altLang="zh-TW" dirty="0" smtClean="0">
                <a:solidFill>
                  <a:srgbClr val="FF0000"/>
                </a:solidFill>
                <a:latin typeface="Times New Roman" panose="02020603050405020304" pitchFamily="18" charset="0"/>
                <a:cs typeface="Times New Roman" panose="02020603050405020304" pitchFamily="18" charset="0"/>
              </a:rPr>
              <a:t>CB</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13" name="文字方塊 12"/>
          <p:cNvSpPr txBox="1"/>
          <p:nvPr/>
        </p:nvSpPr>
        <p:spPr>
          <a:xfrm>
            <a:off x="5906729" y="2971800"/>
            <a:ext cx="65" cy="276999"/>
          </a:xfrm>
          <a:prstGeom prst="rect">
            <a:avLst/>
          </a:prstGeom>
          <a:noFill/>
        </p:spPr>
        <p:txBody>
          <a:bodyPr wrap="none" lIns="0" tIns="0" rIns="0" bIns="0" rtlCol="0">
            <a:spAutoFit/>
          </a:bodyPr>
          <a:lstStyle/>
          <a:p>
            <a:endParaRPr lang="zh-TW" altLang="en-US" dirty="0"/>
          </a:p>
        </p:txBody>
      </p:sp>
      <p:sp>
        <p:nvSpPr>
          <p:cNvPr id="14" name="文字方塊 13"/>
          <p:cNvSpPr txBox="1"/>
          <p:nvPr/>
        </p:nvSpPr>
        <p:spPr>
          <a:xfrm>
            <a:off x="3465872" y="5171487"/>
            <a:ext cx="2952494"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不轉換自己手中的</a:t>
            </a:r>
            <a:r>
              <a:rPr lang="en-US" altLang="zh-TW" dirty="0" smtClean="0">
                <a:solidFill>
                  <a:srgbClr val="FF0000"/>
                </a:solidFill>
                <a:latin typeface="Times New Roman" panose="02020603050405020304" pitchFamily="18" charset="0"/>
                <a:cs typeface="Times New Roman" panose="02020603050405020304" pitchFamily="18" charset="0"/>
              </a:rPr>
              <a:t>CB</a:t>
            </a:r>
            <a:endParaRPr lang="zh-TW"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78866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到期日最佳轉換比例</a:t>
            </a:r>
            <a:endParaRPr lang="zh-TW" altLang="en-US" dirty="0"/>
          </a:p>
        </p:txBody>
      </p:sp>
      <p:sp>
        <p:nvSpPr>
          <p:cNvPr id="3" name="內容版面配置區 2"/>
          <p:cNvSpPr>
            <a:spLocks noGrp="1"/>
          </p:cNvSpPr>
          <p:nvPr>
            <p:ph idx="1"/>
          </p:nvPr>
        </p:nvSpPr>
        <p:spPr/>
        <p:txBody>
          <a:bodyPr/>
          <a:lstStyle/>
          <a:p>
            <a:pPr marL="514350" lvl="0" indent="-514350">
              <a:buFont typeface="+mj-lt"/>
              <a:buAutoNum type="arabicPeriod" startAt="5"/>
            </a:pPr>
            <a:r>
              <a:rPr lang="zh-TW" altLang="en-US" dirty="0" smtClean="0">
                <a:latin typeface="標楷體" panose="03000509000000000000" pitchFamily="65" charset="-120"/>
                <a:ea typeface="標楷體" panose="03000509000000000000" pitchFamily="65" charset="-120"/>
              </a:rPr>
              <a:t>用上述方法</a:t>
            </a:r>
            <a:r>
              <a:rPr lang="zh-TW" altLang="en-US" dirty="0" smtClean="0"/>
              <a:t>，</a:t>
            </a:r>
            <a:r>
              <a:rPr lang="zh-TW" altLang="en-US" dirty="0" smtClean="0">
                <a:latin typeface="標楷體" panose="03000509000000000000" pitchFamily="65" charset="-120"/>
                <a:ea typeface="標楷體" panose="03000509000000000000" pitchFamily="65" charset="-120"/>
              </a:rPr>
              <a:t>也可以做出一個</a:t>
            </a:r>
            <a:r>
              <a:rPr lang="el-GR" altLang="zh-TW" dirty="0" smtClean="0">
                <a:latin typeface="Times New Roman" panose="02020603050405020304" pitchFamily="18" charset="0"/>
                <a:cs typeface="Times New Roman" panose="02020603050405020304" pitchFamily="18" charset="0"/>
              </a:rPr>
              <a:t>β</a:t>
            </a:r>
            <a:r>
              <a:rPr lang="en-US" altLang="zh-TW" sz="1800" dirty="0" smtClean="0">
                <a:latin typeface="Times New Roman" panose="02020603050405020304" pitchFamily="18" charset="0"/>
                <a:cs typeface="Times New Roman" panose="02020603050405020304" pitchFamily="18" charset="0"/>
              </a:rPr>
              <a:t>n</a:t>
            </a:r>
            <a:r>
              <a:rPr lang="zh-TW" altLang="en-US" dirty="0" smtClean="0">
                <a:solidFill>
                  <a:prstClr val="black"/>
                </a:solidFill>
                <a:latin typeface="標楷體" panose="03000509000000000000" pitchFamily="65" charset="-120"/>
                <a:ea typeface="標楷體" panose="03000509000000000000" pitchFamily="65" charset="-120"/>
              </a:rPr>
              <a:t>的</a:t>
            </a:r>
            <a:r>
              <a:rPr lang="zh-TW" altLang="en-US" dirty="0">
                <a:solidFill>
                  <a:prstClr val="black"/>
                </a:solidFill>
                <a:latin typeface="標楷體" panose="03000509000000000000" pitchFamily="65" charset="-120"/>
                <a:ea typeface="標楷體" panose="03000509000000000000" pitchFamily="65" charset="-120"/>
              </a:rPr>
              <a:t>一元二次方程式</a:t>
            </a:r>
            <a:endParaRPr lang="en-US" altLang="zh-TW" dirty="0">
              <a:solidFill>
                <a:prstClr val="black"/>
              </a:solidFill>
              <a:latin typeface="標楷體" panose="03000509000000000000" pitchFamily="65" charset="-120"/>
              <a:ea typeface="標楷體" panose="03000509000000000000" pitchFamily="65" charset="-120"/>
            </a:endParaRPr>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23</a:t>
            </a:fld>
            <a:endParaRPr lang="zh-TW" altLang="en-US"/>
          </a:p>
        </p:txBody>
      </p:sp>
      <p:graphicFrame>
        <p:nvGraphicFramePr>
          <p:cNvPr id="5" name="物件 4"/>
          <p:cNvGraphicFramePr>
            <a:graphicFrameLocks noChangeAspect="1"/>
          </p:cNvGraphicFramePr>
          <p:nvPr>
            <p:extLst/>
          </p:nvPr>
        </p:nvGraphicFramePr>
        <p:xfrm>
          <a:off x="730250" y="2157413"/>
          <a:ext cx="11115675" cy="3686175"/>
        </p:xfrm>
        <a:graphic>
          <a:graphicData uri="http://schemas.openxmlformats.org/presentationml/2006/ole">
            <mc:AlternateContent xmlns:mc="http://schemas.openxmlformats.org/markup-compatibility/2006">
              <mc:Choice xmlns:v="urn:schemas-microsoft-com:vml" Requires="v">
                <p:oleObj spid="_x0000_s23624" name="方程式" r:id="rId3" imgW="6527520" imgH="2158920" progId="Equation.3">
                  <p:embed/>
                </p:oleObj>
              </mc:Choice>
              <mc:Fallback>
                <p:oleObj name="方程式" r:id="rId3" imgW="6527520" imgH="2158920" progId="Equation.3">
                  <p:embed/>
                  <p:pic>
                    <p:nvPicPr>
                      <p:cNvPr id="0" name=""/>
                      <p:cNvPicPr>
                        <a:picLocks noChangeAspect="1" noChangeArrowheads="1"/>
                      </p:cNvPicPr>
                      <p:nvPr/>
                    </p:nvPicPr>
                    <p:blipFill>
                      <a:blip r:embed="rId4"/>
                      <a:srcRect/>
                      <a:stretch>
                        <a:fillRect/>
                      </a:stretch>
                    </p:blipFill>
                    <p:spPr bwMode="auto">
                      <a:xfrm>
                        <a:off x="730250" y="2157413"/>
                        <a:ext cx="11115675" cy="3686175"/>
                      </a:xfrm>
                      <a:prstGeom prst="rect">
                        <a:avLst/>
                      </a:prstGeom>
                      <a:noFill/>
                    </p:spPr>
                  </p:pic>
                </p:oleObj>
              </mc:Fallback>
            </mc:AlternateContent>
          </a:graphicData>
        </a:graphic>
      </p:graphicFrame>
      <p:sp>
        <p:nvSpPr>
          <p:cNvPr id="6" name="文字方塊 5"/>
          <p:cNvSpPr txBox="1"/>
          <p:nvPr/>
        </p:nvSpPr>
        <p:spPr>
          <a:xfrm>
            <a:off x="10910697" y="5793859"/>
            <a:ext cx="886205" cy="369332"/>
          </a:xfrm>
          <a:prstGeom prst="rect">
            <a:avLst/>
          </a:prstGeom>
          <a:noFill/>
        </p:spPr>
        <p:txBody>
          <a:bodyPr wrap="none" rtlCol="0">
            <a:spAutoFit/>
          </a:bodyPr>
          <a:lstStyle/>
          <a:p>
            <a:r>
              <a:rPr lang="en-US" altLang="zh-TW" dirty="0" smtClean="0">
                <a:hlinkClick r:id="rId5" action="ppaction://hlinksldjump"/>
              </a:rPr>
              <a:t>Go P.26</a:t>
            </a:r>
            <a:endParaRPr lang="zh-TW" altLang="en-US" dirty="0"/>
          </a:p>
        </p:txBody>
      </p:sp>
    </p:spTree>
    <p:extLst>
      <p:ext uri="{BB962C8B-B14F-4D97-AF65-F5344CB8AC3E}">
        <p14:creationId xmlns:p14="http://schemas.microsoft.com/office/powerpoint/2010/main" val="24029475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到期日最佳轉換比例</a:t>
            </a:r>
            <a:endParaRPr lang="zh-TW" altLang="en-US" dirty="0"/>
          </a:p>
        </p:txBody>
      </p:sp>
      <p:sp>
        <p:nvSpPr>
          <p:cNvPr id="3" name="內容版面配置區 2"/>
          <p:cNvSpPr>
            <a:spLocks noGrp="1"/>
          </p:cNvSpPr>
          <p:nvPr>
            <p:ph idx="1"/>
          </p:nvPr>
        </p:nvSpPr>
        <p:spPr/>
        <p:txBody>
          <a:bodyPr/>
          <a:lstStyle/>
          <a:p>
            <a:pPr marL="514350" indent="-514350">
              <a:buFont typeface="+mj-lt"/>
              <a:buAutoNum type="arabicPeriod" startAt="6"/>
            </a:pPr>
            <a:r>
              <a:rPr lang="zh-TW" altLang="en-US" dirty="0" smtClean="0">
                <a:latin typeface="標楷體" panose="03000509000000000000" pitchFamily="65" charset="-120"/>
                <a:ea typeface="標楷體" panose="03000509000000000000" pitchFamily="65" charset="-120"/>
              </a:rPr>
              <a:t>同樣的，也可以造出</a:t>
            </a:r>
            <a:r>
              <a:rPr lang="el-GR" altLang="zh-TW" dirty="0" smtClean="0">
                <a:latin typeface="Times New Roman" panose="02020603050405020304" pitchFamily="18" charset="0"/>
                <a:cs typeface="Times New Roman" panose="02020603050405020304" pitchFamily="18" charset="0"/>
              </a:rPr>
              <a:t>β</a:t>
            </a:r>
            <a:r>
              <a:rPr lang="zh-TW" altLang="en-US" dirty="0" smtClean="0">
                <a:latin typeface="標楷體" panose="03000509000000000000" pitchFamily="65" charset="-120"/>
                <a:ea typeface="標楷體" panose="03000509000000000000" pitchFamily="65" charset="-120"/>
              </a:rPr>
              <a:t>的</a:t>
            </a:r>
            <a:r>
              <a:rPr lang="en-US" altLang="zh-TW" dirty="0" smtClean="0">
                <a:latin typeface="Times New Roman" panose="02020603050405020304" pitchFamily="18" charset="0"/>
                <a:cs typeface="Times New Roman" panose="02020603050405020304" pitchFamily="18" charset="0"/>
              </a:rPr>
              <a:t>best response function</a:t>
            </a:r>
          </a:p>
          <a:p>
            <a:pPr marL="514350" indent="-514350">
              <a:buFont typeface="+mj-lt"/>
              <a:buAutoNum type="arabicPeriod" startAt="5"/>
            </a:pPr>
            <a:endParaRPr lang="en-US" altLang="zh-TW" dirty="0" smtClean="0">
              <a:latin typeface="Times New Roman" panose="02020603050405020304" pitchFamily="18" charset="0"/>
              <a:cs typeface="Times New Roman" panose="02020603050405020304" pitchFamily="18" charset="0"/>
            </a:endParaRPr>
          </a:p>
          <a:p>
            <a:pPr marL="514350" indent="-514350">
              <a:buFont typeface="+mj-lt"/>
              <a:buAutoNum type="arabicPeriod" startAt="5"/>
            </a:pPr>
            <a:endParaRPr lang="en-US" altLang="zh-TW" dirty="0">
              <a:latin typeface="Times New Roman" panose="02020603050405020304" pitchFamily="18" charset="0"/>
              <a:cs typeface="Times New Roman" panose="02020603050405020304" pitchFamily="18" charset="0"/>
            </a:endParaRPr>
          </a:p>
          <a:p>
            <a:pPr marL="514350" indent="-514350">
              <a:buFont typeface="+mj-lt"/>
              <a:buAutoNum type="arabicPeriod" startAt="5"/>
            </a:pPr>
            <a:endParaRPr lang="en-US" altLang="zh-TW" dirty="0" smtClean="0">
              <a:latin typeface="Times New Roman" panose="02020603050405020304" pitchFamily="18" charset="0"/>
              <a:cs typeface="Times New Roman" panose="02020603050405020304" pitchFamily="18" charset="0"/>
            </a:endParaRPr>
          </a:p>
          <a:p>
            <a:pPr marL="514350" indent="-514350">
              <a:buFont typeface="+mj-lt"/>
              <a:buAutoNum type="arabicPeriod" startAt="5"/>
            </a:pPr>
            <a:endParaRPr lang="en-US" altLang="zh-TW" dirty="0">
              <a:latin typeface="Times New Roman" panose="02020603050405020304" pitchFamily="18" charset="0"/>
              <a:cs typeface="Times New Roman" panose="02020603050405020304" pitchFamily="18" charset="0"/>
            </a:endParaRPr>
          </a:p>
          <a:p>
            <a:pPr marL="514350" indent="-514350">
              <a:buFont typeface="+mj-lt"/>
              <a:buAutoNum type="arabicPeriod" startAt="5"/>
            </a:pPr>
            <a:endParaRPr lang="en-US" altLang="zh-TW" dirty="0" smtClean="0">
              <a:latin typeface="Times New Roman" panose="02020603050405020304" pitchFamily="18" charset="0"/>
              <a:cs typeface="Times New Roman" panose="02020603050405020304" pitchFamily="18" charset="0"/>
            </a:endParaRPr>
          </a:p>
          <a:p>
            <a:pPr marL="514350" indent="-514350">
              <a:buFont typeface="+mj-lt"/>
              <a:buAutoNum type="arabicPeriod" startAt="7"/>
            </a:pPr>
            <a:endParaRPr lang="en-US" altLang="zh-TW" dirty="0" smtClean="0">
              <a:latin typeface="標楷體" panose="03000509000000000000" pitchFamily="65" charset="-120"/>
              <a:ea typeface="標楷體" panose="03000509000000000000" pitchFamily="65" charset="-120"/>
              <a:cs typeface="Times New Roman" panose="02020603050405020304" pitchFamily="18" charset="0"/>
            </a:endParaRPr>
          </a:p>
          <a:p>
            <a:pPr marL="514350" indent="-514350">
              <a:buFont typeface="+mj-lt"/>
              <a:buAutoNum type="arabicPeriod" startAt="7"/>
            </a:pP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24</a:t>
            </a:fld>
            <a:endParaRPr lang="zh-TW" altLang="en-US"/>
          </a:p>
        </p:txBody>
      </p:sp>
      <p:graphicFrame>
        <p:nvGraphicFramePr>
          <p:cNvPr id="5" name="物件 4"/>
          <p:cNvGraphicFramePr>
            <a:graphicFrameLocks noChangeAspect="1"/>
          </p:cNvGraphicFramePr>
          <p:nvPr>
            <p:extLst>
              <p:ext uri="{D42A27DB-BD31-4B8C-83A1-F6EECF244321}">
                <p14:modId xmlns:p14="http://schemas.microsoft.com/office/powerpoint/2010/main" val="3447351879"/>
              </p:ext>
            </p:extLst>
          </p:nvPr>
        </p:nvGraphicFramePr>
        <p:xfrm>
          <a:off x="838200" y="2509838"/>
          <a:ext cx="6521450" cy="2595562"/>
        </p:xfrm>
        <a:graphic>
          <a:graphicData uri="http://schemas.openxmlformats.org/presentationml/2006/ole">
            <mc:AlternateContent xmlns:mc="http://schemas.openxmlformats.org/markup-compatibility/2006">
              <mc:Choice xmlns:v="urn:schemas-microsoft-com:vml" Requires="v">
                <p:oleObj spid="_x0000_s22602" name="方程式" r:id="rId3" imgW="3124080" imgH="1244520" progId="Equation.3">
                  <p:embed/>
                </p:oleObj>
              </mc:Choice>
              <mc:Fallback>
                <p:oleObj name="方程式" r:id="rId3" imgW="3124080" imgH="1244520" progId="Equation.3">
                  <p:embed/>
                  <p:pic>
                    <p:nvPicPr>
                      <p:cNvPr id="0" name=""/>
                      <p:cNvPicPr>
                        <a:picLocks noChangeAspect="1" noChangeArrowheads="1"/>
                      </p:cNvPicPr>
                      <p:nvPr/>
                    </p:nvPicPr>
                    <p:blipFill>
                      <a:blip r:embed="rId4"/>
                      <a:srcRect/>
                      <a:stretch>
                        <a:fillRect/>
                      </a:stretch>
                    </p:blipFill>
                    <p:spPr bwMode="auto">
                      <a:xfrm>
                        <a:off x="838200" y="2509838"/>
                        <a:ext cx="6521450" cy="2595562"/>
                      </a:xfrm>
                      <a:prstGeom prst="rect">
                        <a:avLst/>
                      </a:prstGeom>
                      <a:noFill/>
                    </p:spPr>
                  </p:pic>
                </p:oleObj>
              </mc:Fallback>
            </mc:AlternateContent>
          </a:graphicData>
        </a:graphic>
      </p:graphicFrame>
      <p:sp>
        <p:nvSpPr>
          <p:cNvPr id="6" name="文字方塊 5"/>
          <p:cNvSpPr txBox="1"/>
          <p:nvPr/>
        </p:nvSpPr>
        <p:spPr>
          <a:xfrm>
            <a:off x="2904306" y="4153694"/>
            <a:ext cx="3569109"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轉換</a:t>
            </a:r>
            <a:r>
              <a:rPr lang="zh-TW" altLang="en-US" dirty="0">
                <a:solidFill>
                  <a:srgbClr val="FF0000"/>
                </a:solidFill>
                <a:latin typeface="標楷體" panose="03000509000000000000" pitchFamily="65" charset="-120"/>
                <a:ea typeface="標楷體" panose="03000509000000000000" pitchFamily="65" charset="-120"/>
              </a:rPr>
              <a:t>當</a:t>
            </a:r>
            <a:r>
              <a:rPr lang="zh-TW" altLang="en-US" dirty="0" smtClean="0">
                <a:solidFill>
                  <a:srgbClr val="FF0000"/>
                </a:solidFill>
                <a:latin typeface="標楷體" panose="03000509000000000000" pitchFamily="65" charset="-120"/>
                <a:ea typeface="標楷體" panose="03000509000000000000" pitchFamily="65" charset="-120"/>
              </a:rPr>
              <a:t>期手中剩餘的</a:t>
            </a:r>
            <a:r>
              <a:rPr lang="en-US" altLang="zh-TW" dirty="0" smtClean="0">
                <a:solidFill>
                  <a:srgbClr val="FF0000"/>
                </a:solidFill>
                <a:latin typeface="Times New Roman" panose="02020603050405020304" pitchFamily="18" charset="0"/>
                <a:cs typeface="Times New Roman" panose="02020603050405020304" pitchFamily="18" charset="0"/>
              </a:rPr>
              <a:t>CB</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7" name="文字方塊 6"/>
          <p:cNvSpPr txBox="1"/>
          <p:nvPr/>
        </p:nvSpPr>
        <p:spPr>
          <a:xfrm>
            <a:off x="2904306" y="5055671"/>
            <a:ext cx="2952494" cy="369332"/>
          </a:xfrm>
          <a:prstGeom prst="rect">
            <a:avLst/>
          </a:prstGeom>
          <a:noFill/>
        </p:spPr>
        <p:txBody>
          <a:bodyPr wrap="square" rtlCol="0">
            <a:spAutoFit/>
          </a:bodyPr>
          <a:lstStyle/>
          <a:p>
            <a:r>
              <a:rPr lang="zh-TW" altLang="en-US" dirty="0" smtClean="0">
                <a:solidFill>
                  <a:srgbClr val="FF0000"/>
                </a:solidFill>
                <a:latin typeface="標楷體" panose="03000509000000000000" pitchFamily="65" charset="-120"/>
                <a:ea typeface="標楷體" panose="03000509000000000000" pitchFamily="65" charset="-120"/>
              </a:rPr>
              <a:t>不轉換自己手中的</a:t>
            </a:r>
            <a:r>
              <a:rPr lang="en-US" altLang="zh-TW" dirty="0" smtClean="0">
                <a:solidFill>
                  <a:srgbClr val="FF0000"/>
                </a:solidFill>
                <a:latin typeface="Times New Roman" panose="02020603050405020304" pitchFamily="18" charset="0"/>
                <a:cs typeface="Times New Roman" panose="02020603050405020304" pitchFamily="18" charset="0"/>
              </a:rPr>
              <a:t>CB</a:t>
            </a:r>
            <a:endParaRPr lang="zh-TW"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31737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標楷體" panose="03000509000000000000" pitchFamily="65" charset="-120"/>
                <a:ea typeface="標楷體" panose="03000509000000000000" pitchFamily="65" charset="-120"/>
                <a:cs typeface="Times New Roman" panose="02020603050405020304" pitchFamily="18" charset="0"/>
              </a:rPr>
              <a:t>7.</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兩</a:t>
            </a:r>
            <a:r>
              <a:rPr lang="zh-TW" altLang="en-US" dirty="0">
                <a:latin typeface="標楷體" panose="03000509000000000000" pitchFamily="65" charset="-120"/>
                <a:ea typeface="標楷體" panose="03000509000000000000" pitchFamily="65" charset="-120"/>
                <a:cs typeface="Times New Roman" panose="02020603050405020304" pitchFamily="18" charset="0"/>
              </a:rPr>
              <a:t>條線的交點即為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Nash</a:t>
            </a:r>
            <a:r>
              <a:rPr lang="zh-TW" altLang="en-US" dirty="0">
                <a:latin typeface="標楷體" panose="03000509000000000000" pitchFamily="65" charset="-120"/>
                <a:ea typeface="標楷體" panose="03000509000000000000" pitchFamily="65" charset="-120"/>
                <a:cs typeface="Times New Roman" panose="02020603050405020304" pitchFamily="18" charset="0"/>
              </a:rPr>
              <a:t>均衡</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點</a:t>
            </a: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25</a:t>
            </a:fld>
            <a:endParaRPr lang="zh-TW" altLang="en-US"/>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231939337"/>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838018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到期日最佳轉換比例</a:t>
            </a:r>
            <a:endParaRPr lang="zh-TW" altLang="en-US" dirty="0"/>
          </a:p>
        </p:txBody>
      </p:sp>
      <p:sp>
        <p:nvSpPr>
          <p:cNvPr id="3" name="內容版面配置區 2"/>
          <p:cNvSpPr>
            <a:spLocks noGrp="1"/>
          </p:cNvSpPr>
          <p:nvPr>
            <p:ph idx="1"/>
          </p:nvPr>
        </p:nvSpPr>
        <p:spPr>
          <a:xfrm>
            <a:off x="838200" y="1452076"/>
            <a:ext cx="10515600" cy="4351338"/>
          </a:xfrm>
        </p:spPr>
        <p:txBody>
          <a:bodyPr/>
          <a:lstStyle/>
          <a:p>
            <a:r>
              <a:rPr lang="zh-TW" altLang="en-US" dirty="0" smtClean="0">
                <a:latin typeface="標楷體" panose="03000509000000000000" pitchFamily="65" charset="-120"/>
                <a:ea typeface="標楷體" panose="03000509000000000000" pitchFamily="65" charset="-120"/>
              </a:rPr>
              <a:t>因為到期日</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best</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response function </a:t>
            </a:r>
            <a:r>
              <a:rPr lang="zh-TW" altLang="en-US" dirty="0" smtClean="0">
                <a:latin typeface="標楷體" panose="03000509000000000000" pitchFamily="65" charset="-120"/>
                <a:ea typeface="標楷體" panose="03000509000000000000" pitchFamily="65" charset="-120"/>
              </a:rPr>
              <a:t>在沒有邊界條件下對稱於</a:t>
            </a:r>
            <a:r>
              <a:rPr lang="el-GR" altLang="zh-TW" dirty="0" smtClean="0">
                <a:latin typeface="Times New Roman" panose="02020603050405020304" pitchFamily="18" charset="0"/>
                <a:ea typeface="標楷體" panose="03000509000000000000" pitchFamily="65" charset="-120"/>
                <a:cs typeface="Times New Roman" panose="02020603050405020304" pitchFamily="18" charset="0"/>
              </a:rPr>
              <a:t>α</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r>
              <a:rPr lang="el-GR" altLang="zh-TW" dirty="0" smtClean="0">
                <a:latin typeface="Times New Roman" panose="02020603050405020304" pitchFamily="18" charset="0"/>
                <a:ea typeface="標楷體" panose="03000509000000000000" pitchFamily="65" charset="-120"/>
                <a:cs typeface="Times New Roman" panose="02020603050405020304" pitchFamily="18" charset="0"/>
              </a:rPr>
              <a:t>β</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lvl="1">
              <a:buFont typeface="Wingdings" panose="05000000000000000000" pitchFamily="2" charset="2"/>
              <a:buChar char="Ø"/>
            </a:pP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利用其中一條</a:t>
            </a:r>
            <a:r>
              <a:rPr lang="zh-TW" altLang="en-US"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一元二次方程式與</a:t>
            </a:r>
            <a:r>
              <a:rPr lang="el-GR" altLang="zh-TW" dirty="0">
                <a:latin typeface="Times New Roman" panose="02020603050405020304" pitchFamily="18" charset="0"/>
                <a:ea typeface="標楷體" panose="03000509000000000000" pitchFamily="65" charset="-120"/>
                <a:cs typeface="Times New Roman" panose="02020603050405020304" pitchFamily="18" charset="0"/>
              </a:rPr>
              <a:t>α</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l-GR" altLang="zh-TW" dirty="0" smtClean="0">
                <a:latin typeface="Times New Roman" panose="02020603050405020304" pitchFamily="18" charset="0"/>
                <a:ea typeface="標楷體" panose="03000509000000000000" pitchFamily="65" charset="-120"/>
                <a:cs typeface="Times New Roman" panose="02020603050405020304" pitchFamily="18" charset="0"/>
              </a:rPr>
              <a:t>β</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做聯立方程式</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製成新的一元二次方程式</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26</a:t>
            </a:fld>
            <a:endParaRPr lang="zh-TW" altLang="en-US"/>
          </a:p>
        </p:txBody>
      </p:sp>
      <p:graphicFrame>
        <p:nvGraphicFramePr>
          <p:cNvPr id="6" name="物件 5"/>
          <p:cNvGraphicFramePr>
            <a:graphicFrameLocks noChangeAspect="1"/>
          </p:cNvGraphicFramePr>
          <p:nvPr>
            <p:extLst/>
          </p:nvPr>
        </p:nvGraphicFramePr>
        <p:xfrm>
          <a:off x="1292225" y="2271713"/>
          <a:ext cx="2941638" cy="868362"/>
        </p:xfrm>
        <a:graphic>
          <a:graphicData uri="http://schemas.openxmlformats.org/presentationml/2006/ole">
            <mc:AlternateContent xmlns:mc="http://schemas.openxmlformats.org/markup-compatibility/2006">
              <mc:Choice xmlns:v="urn:schemas-microsoft-com:vml" Requires="v">
                <p:oleObj spid="_x0000_s21647" name="方程式" r:id="rId3" imgW="1726920" imgH="507960" progId="Equation.3">
                  <p:embed/>
                </p:oleObj>
              </mc:Choice>
              <mc:Fallback>
                <p:oleObj name="方程式" r:id="rId3" imgW="1726920" imgH="507960" progId="Equation.3">
                  <p:embed/>
                  <p:pic>
                    <p:nvPicPr>
                      <p:cNvPr id="0" name=""/>
                      <p:cNvPicPr>
                        <a:picLocks noChangeAspect="1" noChangeArrowheads="1"/>
                      </p:cNvPicPr>
                      <p:nvPr/>
                    </p:nvPicPr>
                    <p:blipFill>
                      <a:blip r:embed="rId4"/>
                      <a:srcRect/>
                      <a:stretch>
                        <a:fillRect/>
                      </a:stretch>
                    </p:blipFill>
                    <p:spPr bwMode="auto">
                      <a:xfrm>
                        <a:off x="1292225" y="2271713"/>
                        <a:ext cx="2941638" cy="868362"/>
                      </a:xfrm>
                      <a:prstGeom prst="rect">
                        <a:avLst/>
                      </a:prstGeom>
                      <a:noFill/>
                    </p:spPr>
                  </p:pic>
                </p:oleObj>
              </mc:Fallback>
            </mc:AlternateContent>
          </a:graphicData>
        </a:graphic>
      </p:graphicFrame>
      <p:graphicFrame>
        <p:nvGraphicFramePr>
          <p:cNvPr id="7" name="物件 6"/>
          <p:cNvGraphicFramePr>
            <a:graphicFrameLocks noChangeAspect="1"/>
          </p:cNvGraphicFramePr>
          <p:nvPr>
            <p:extLst/>
          </p:nvPr>
        </p:nvGraphicFramePr>
        <p:xfrm>
          <a:off x="1047135" y="3875087"/>
          <a:ext cx="10840065" cy="2663825"/>
        </p:xfrm>
        <a:graphic>
          <a:graphicData uri="http://schemas.openxmlformats.org/presentationml/2006/ole">
            <mc:AlternateContent xmlns:mc="http://schemas.openxmlformats.org/markup-compatibility/2006">
              <mc:Choice xmlns:v="urn:schemas-microsoft-com:vml" Requires="v">
                <p:oleObj spid="_x0000_s21648" name="方程式" r:id="rId5" imgW="6413400" imgH="1650960" progId="Equation.3">
                  <p:embed/>
                </p:oleObj>
              </mc:Choice>
              <mc:Fallback>
                <p:oleObj name="方程式" r:id="rId5" imgW="6413400" imgH="1650960" progId="Equation.3">
                  <p:embed/>
                  <p:pic>
                    <p:nvPicPr>
                      <p:cNvPr id="0" name=""/>
                      <p:cNvPicPr/>
                      <p:nvPr/>
                    </p:nvPicPr>
                    <p:blipFill>
                      <a:blip r:embed="rId6"/>
                      <a:stretch>
                        <a:fillRect/>
                      </a:stretch>
                    </p:blipFill>
                    <p:spPr>
                      <a:xfrm>
                        <a:off x="1047135" y="3875087"/>
                        <a:ext cx="10840065" cy="2663825"/>
                      </a:xfrm>
                      <a:prstGeom prst="rect">
                        <a:avLst/>
                      </a:prstGeom>
                    </p:spPr>
                  </p:pic>
                </p:oleObj>
              </mc:Fallback>
            </mc:AlternateContent>
          </a:graphicData>
        </a:graphic>
      </p:graphicFrame>
      <p:sp>
        <p:nvSpPr>
          <p:cNvPr id="5" name="文字方塊 4"/>
          <p:cNvSpPr txBox="1"/>
          <p:nvPr/>
        </p:nvSpPr>
        <p:spPr>
          <a:xfrm>
            <a:off x="8096865" y="2952819"/>
            <a:ext cx="2597186" cy="369332"/>
          </a:xfrm>
          <a:prstGeom prst="rect">
            <a:avLst/>
          </a:prstGeom>
          <a:noFill/>
        </p:spPr>
        <p:txBody>
          <a:bodyPr wrap="none" rtlCol="0">
            <a:spAutoFit/>
          </a:bodyPr>
          <a:lstStyle/>
          <a:p>
            <a:r>
              <a:rPr lang="el-GR" altLang="zh-TW" dirty="0">
                <a:latin typeface="Times New Roman" panose="02020603050405020304" pitchFamily="18" charset="0"/>
                <a:cs typeface="Times New Roman" panose="02020603050405020304" pitchFamily="18" charset="0"/>
                <a:hlinkClick r:id="rId7" action="ppaction://hlinksldjump"/>
              </a:rPr>
              <a:t>β</a:t>
            </a:r>
            <a:r>
              <a:rPr lang="zh-TW" altLang="en-US" dirty="0">
                <a:latin typeface="標楷體" panose="03000509000000000000" pitchFamily="65" charset="-120"/>
                <a:ea typeface="標楷體" panose="03000509000000000000" pitchFamily="65" charset="-120"/>
                <a:hlinkClick r:id="rId7" action="ppaction://hlinksldjump"/>
              </a:rPr>
              <a:t>的</a:t>
            </a:r>
            <a:r>
              <a:rPr lang="en-US" altLang="zh-TW" dirty="0">
                <a:latin typeface="Times New Roman" panose="02020603050405020304" pitchFamily="18" charset="0"/>
                <a:cs typeface="Times New Roman" panose="02020603050405020304" pitchFamily="18" charset="0"/>
                <a:hlinkClick r:id="rId7" action="ppaction://hlinksldjump"/>
              </a:rPr>
              <a:t>best response function</a:t>
            </a:r>
            <a:endParaRPr lang="zh-TW" altLang="en-US" dirty="0"/>
          </a:p>
        </p:txBody>
      </p:sp>
      <p:sp>
        <p:nvSpPr>
          <p:cNvPr id="8" name="文字方塊 7"/>
          <p:cNvSpPr txBox="1"/>
          <p:nvPr/>
        </p:nvSpPr>
        <p:spPr>
          <a:xfrm>
            <a:off x="8096865" y="2521228"/>
            <a:ext cx="2600392" cy="369332"/>
          </a:xfrm>
          <a:prstGeom prst="rect">
            <a:avLst/>
          </a:prstGeom>
          <a:noFill/>
        </p:spPr>
        <p:txBody>
          <a:bodyPr wrap="none" rtlCol="0">
            <a:spAutoFit/>
          </a:bodyPr>
          <a:lstStyle/>
          <a:p>
            <a:r>
              <a:rPr lang="el-GR" altLang="zh-TW" dirty="0" smtClean="0">
                <a:latin typeface="Times New Roman" panose="02020603050405020304" pitchFamily="18" charset="0"/>
                <a:cs typeface="Times New Roman" panose="02020603050405020304" pitchFamily="18" charset="0"/>
                <a:hlinkClick r:id="rId8" action="ppaction://hlinksldjump"/>
              </a:rPr>
              <a:t>α</a:t>
            </a:r>
            <a:r>
              <a:rPr lang="zh-TW" altLang="en-US" dirty="0" smtClean="0">
                <a:latin typeface="標楷體" panose="03000509000000000000" pitchFamily="65" charset="-120"/>
                <a:ea typeface="標楷體" panose="03000509000000000000" pitchFamily="65" charset="-120"/>
                <a:hlinkClick r:id="rId8" action="ppaction://hlinksldjump"/>
              </a:rPr>
              <a:t>的</a:t>
            </a:r>
            <a:r>
              <a:rPr lang="en-US" altLang="zh-TW" dirty="0">
                <a:latin typeface="Times New Roman" panose="02020603050405020304" pitchFamily="18" charset="0"/>
                <a:cs typeface="Times New Roman" panose="02020603050405020304" pitchFamily="18" charset="0"/>
                <a:hlinkClick r:id="rId8" action="ppaction://hlinksldjump"/>
              </a:rPr>
              <a:t>best response function</a:t>
            </a:r>
            <a:endParaRPr lang="zh-TW" altLang="en-US" dirty="0"/>
          </a:p>
        </p:txBody>
      </p:sp>
    </p:spTree>
    <p:extLst>
      <p:ext uri="{BB962C8B-B14F-4D97-AF65-F5344CB8AC3E}">
        <p14:creationId xmlns:p14="http://schemas.microsoft.com/office/powerpoint/2010/main" val="18605931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到期日最佳轉換比例</a:t>
            </a:r>
            <a:endParaRPr lang="zh-TW" altLang="en-US" dirty="0"/>
          </a:p>
        </p:txBody>
      </p:sp>
      <p:sp>
        <p:nvSpPr>
          <p:cNvPr id="3" name="內容版面配置區 2"/>
          <p:cNvSpPr>
            <a:spLocks noGrp="1"/>
          </p:cNvSpPr>
          <p:nvPr>
            <p:ph idx="1"/>
          </p:nvPr>
        </p:nvSpPr>
        <p:spPr/>
        <p:txBody>
          <a:bodyPr/>
          <a:lstStyle/>
          <a:p>
            <a:pPr marL="514350" lvl="0" indent="-514350">
              <a:buFont typeface="+mj-lt"/>
              <a:buAutoNum type="arabicPeriod" startAt="4"/>
            </a:pPr>
            <a:r>
              <a:rPr lang="en-US" altLang="zh-TW" dirty="0">
                <a:solidFill>
                  <a:prstClr val="black"/>
                </a:solidFill>
                <a:latin typeface="Times New Roman" panose="02020603050405020304" pitchFamily="18" charset="0"/>
                <a:cs typeface="Times New Roman" panose="02020603050405020304" pitchFamily="18" charset="0"/>
              </a:rPr>
              <a:t>(</a:t>
            </a:r>
            <a:r>
              <a:rPr lang="zh-TW" altLang="en-US" dirty="0">
                <a:solidFill>
                  <a:prstClr val="black"/>
                </a:solidFill>
                <a:latin typeface="標楷體" panose="03000509000000000000" pitchFamily="65" charset="-120"/>
                <a:ea typeface="標楷體" panose="03000509000000000000" pitchFamily="65" charset="-120"/>
              </a:rPr>
              <a:t>公式解需檢驗二階微分</a:t>
            </a:r>
            <a:r>
              <a:rPr lang="en-US" altLang="zh-TW" dirty="0">
                <a:solidFill>
                  <a:prstClr val="black"/>
                </a:solidFill>
                <a:latin typeface="Times New Roman" panose="02020603050405020304" pitchFamily="18" charset="0"/>
                <a:cs typeface="Times New Roman" panose="02020603050405020304" pitchFamily="18" charset="0"/>
              </a:rPr>
              <a:t>&lt;0)</a:t>
            </a:r>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27</a:t>
            </a:fld>
            <a:endParaRPr lang="zh-TW" altLang="en-US"/>
          </a:p>
        </p:txBody>
      </p:sp>
      <p:graphicFrame>
        <p:nvGraphicFramePr>
          <p:cNvPr id="5" name="物件 4"/>
          <p:cNvGraphicFramePr>
            <a:graphicFrameLocks noChangeAspect="1"/>
          </p:cNvGraphicFramePr>
          <p:nvPr>
            <p:extLst/>
          </p:nvPr>
        </p:nvGraphicFramePr>
        <p:xfrm>
          <a:off x="838200" y="2209800"/>
          <a:ext cx="8645014" cy="1862138"/>
        </p:xfrm>
        <a:graphic>
          <a:graphicData uri="http://schemas.openxmlformats.org/presentationml/2006/ole">
            <mc:AlternateContent xmlns:mc="http://schemas.openxmlformats.org/markup-compatibility/2006">
              <mc:Choice xmlns:v="urn:schemas-microsoft-com:vml" Requires="v">
                <p:oleObj spid="_x0000_s20627" name="方程式" r:id="rId3" imgW="4825800" imgH="1015920" progId="Equation.3">
                  <p:embed/>
                </p:oleObj>
              </mc:Choice>
              <mc:Fallback>
                <p:oleObj name="方程式" r:id="rId3" imgW="4825800" imgH="1015920" progId="Equation.3">
                  <p:embed/>
                  <p:pic>
                    <p:nvPicPr>
                      <p:cNvPr id="0" name=""/>
                      <p:cNvPicPr/>
                      <p:nvPr/>
                    </p:nvPicPr>
                    <p:blipFill>
                      <a:blip r:embed="rId4"/>
                      <a:stretch>
                        <a:fillRect/>
                      </a:stretch>
                    </p:blipFill>
                    <p:spPr>
                      <a:xfrm>
                        <a:off x="838200" y="2209800"/>
                        <a:ext cx="8645014" cy="1862138"/>
                      </a:xfrm>
                      <a:prstGeom prst="rect">
                        <a:avLst/>
                      </a:prstGeom>
                    </p:spPr>
                  </p:pic>
                </p:oleObj>
              </mc:Fallback>
            </mc:AlternateContent>
          </a:graphicData>
        </a:graphic>
      </p:graphicFrame>
      <p:graphicFrame>
        <p:nvGraphicFramePr>
          <p:cNvPr id="6" name="物件 5"/>
          <p:cNvGraphicFramePr>
            <a:graphicFrameLocks noChangeAspect="1"/>
          </p:cNvGraphicFramePr>
          <p:nvPr>
            <p:extLst>
              <p:ext uri="{D42A27DB-BD31-4B8C-83A1-F6EECF244321}">
                <p14:modId xmlns:p14="http://schemas.microsoft.com/office/powerpoint/2010/main" val="232879486"/>
              </p:ext>
            </p:extLst>
          </p:nvPr>
        </p:nvGraphicFramePr>
        <p:xfrm>
          <a:off x="838200" y="4107260"/>
          <a:ext cx="10372725" cy="2105025"/>
        </p:xfrm>
        <a:graphic>
          <a:graphicData uri="http://schemas.openxmlformats.org/presentationml/2006/ole">
            <mc:AlternateContent xmlns:mc="http://schemas.openxmlformats.org/markup-compatibility/2006">
              <mc:Choice xmlns:v="urn:schemas-microsoft-com:vml" Requires="v">
                <p:oleObj spid="_x0000_s20628" name="方程式" r:id="rId5" imgW="4635360" imgH="939600" progId="Equation.3">
                  <p:embed/>
                </p:oleObj>
              </mc:Choice>
              <mc:Fallback>
                <p:oleObj name="方程式" r:id="rId5" imgW="4635360" imgH="939600" progId="Equation.3">
                  <p:embed/>
                  <p:pic>
                    <p:nvPicPr>
                      <p:cNvPr id="0" name=""/>
                      <p:cNvPicPr/>
                      <p:nvPr/>
                    </p:nvPicPr>
                    <p:blipFill>
                      <a:blip r:embed="rId6"/>
                      <a:stretch>
                        <a:fillRect/>
                      </a:stretch>
                    </p:blipFill>
                    <p:spPr>
                      <a:xfrm>
                        <a:off x="838200" y="4107260"/>
                        <a:ext cx="10372725" cy="2105025"/>
                      </a:xfrm>
                      <a:prstGeom prst="rect">
                        <a:avLst/>
                      </a:prstGeom>
                    </p:spPr>
                  </p:pic>
                </p:oleObj>
              </mc:Fallback>
            </mc:AlternateContent>
          </a:graphicData>
        </a:graphic>
      </p:graphicFrame>
    </p:spTree>
    <p:extLst>
      <p:ext uri="{BB962C8B-B14F-4D97-AF65-F5344CB8AC3E}">
        <p14:creationId xmlns:p14="http://schemas.microsoft.com/office/powerpoint/2010/main" val="4062644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solidFill>
                  <a:prstClr val="black"/>
                </a:solidFill>
                <a:latin typeface="標楷體" panose="03000509000000000000" pitchFamily="65" charset="-120"/>
                <a:ea typeface="標楷體" panose="03000509000000000000" pitchFamily="65" charset="-120"/>
              </a:rPr>
              <a:t>到期前最佳</a:t>
            </a:r>
            <a:r>
              <a:rPr lang="zh-TW" altLang="en-US" dirty="0">
                <a:solidFill>
                  <a:prstClr val="black"/>
                </a:solidFill>
                <a:latin typeface="標楷體" panose="03000509000000000000" pitchFamily="65" charset="-120"/>
                <a:ea typeface="標楷體" panose="03000509000000000000" pitchFamily="65" charset="-120"/>
              </a:rPr>
              <a:t>轉換</a:t>
            </a:r>
            <a:r>
              <a:rPr lang="zh-TW" altLang="en-US" dirty="0" smtClean="0">
                <a:solidFill>
                  <a:prstClr val="black"/>
                </a:solidFill>
                <a:latin typeface="標楷體" panose="03000509000000000000" pitchFamily="65" charset="-120"/>
                <a:ea typeface="標楷體" panose="03000509000000000000" pitchFamily="65" charset="-120"/>
              </a:rPr>
              <a:t>比例</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397921"/>
                <a:ext cx="10901516" cy="4351338"/>
              </a:xfrm>
            </p:spPr>
            <p:txBody>
              <a:bodyPr/>
              <a:lstStyle/>
              <a:p>
                <a:r>
                  <a:rPr lang="zh-TW" altLang="en-US" dirty="0" smtClean="0">
                    <a:latin typeface="標楷體" panose="03000509000000000000" pitchFamily="65" charset="-120"/>
                    <a:ea typeface="標楷體" panose="03000509000000000000" pitchFamily="65" charset="-120"/>
                  </a:rPr>
                  <a:t>因為到期前最佳轉換比例微分求解無法整理成</a:t>
                </a:r>
                <a:r>
                  <a:rPr lang="en-US" altLang="zh-TW" dirty="0" smtClean="0">
                    <a:latin typeface="Times New Roman" panose="02020603050405020304" pitchFamily="18" charset="0"/>
                    <a:cs typeface="Times New Roman" panose="02020603050405020304" pitchFamily="18" charset="0"/>
                  </a:rPr>
                  <a:t>closed-form</a:t>
                </a:r>
              </a:p>
              <a:p>
                <a:r>
                  <a:rPr lang="zh-TW" altLang="en-US" dirty="0" smtClean="0">
                    <a:latin typeface="標楷體" panose="03000509000000000000" pitchFamily="65" charset="-120"/>
                    <a:ea typeface="標楷體" panose="03000509000000000000" pitchFamily="65" charset="-120"/>
                  </a:rPr>
                  <a:t>利用</a:t>
                </a:r>
                <a:r>
                  <a:rPr lang="en-US" altLang="zh-TW" dirty="0">
                    <a:solidFill>
                      <a:prstClr val="black"/>
                    </a:solidFill>
                    <a:latin typeface="Times New Roman" panose="02020603050405020304" pitchFamily="18" charset="0"/>
                    <a:cs typeface="Times New Roman" panose="02020603050405020304" pitchFamily="18" charset="0"/>
                  </a:rPr>
                  <a:t>best response </a:t>
                </a:r>
                <a:r>
                  <a:rPr lang="en-US" altLang="zh-TW" dirty="0" smtClean="0">
                    <a:solidFill>
                      <a:prstClr val="black"/>
                    </a:solidFill>
                    <a:latin typeface="Times New Roman" panose="02020603050405020304" pitchFamily="18" charset="0"/>
                    <a:cs typeface="Times New Roman" panose="02020603050405020304" pitchFamily="18" charset="0"/>
                  </a:rPr>
                  <a:t>dynamics</a:t>
                </a:r>
                <a:r>
                  <a:rPr lang="zh-TW" altLang="en-US" dirty="0" smtClean="0">
                    <a:latin typeface="標楷體" panose="03000509000000000000" pitchFamily="65" charset="-120"/>
                    <a:ea typeface="標楷體" panose="03000509000000000000" pitchFamily="65" charset="-120"/>
                  </a:rPr>
                  <a:t>尋找</a:t>
                </a:r>
                <a:r>
                  <a:rPr lang="el-GR" altLang="zh-TW"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ε</a:t>
                </a:r>
                <a:r>
                  <a:rPr lang="en-US" altLang="zh-TW"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-Nash</a:t>
                </a:r>
                <a:r>
                  <a:rPr lang="zh-TW" altLang="en-US"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均衡</a:t>
                </a:r>
                <a:r>
                  <a:rPr lang="en-US" altLang="zh-TW" sz="24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與到期日的連續策略相比</a:t>
                </a:r>
                <a:r>
                  <a:rPr lang="en-US" altLang="zh-TW" sz="24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a:t>
                </a:r>
              </a:p>
              <a:p>
                <a:pPr lvl="1">
                  <a:buFont typeface="Wingdings" panose="05000000000000000000" pitchFamily="2" charset="2"/>
                  <a:buChar char="Ø"/>
                </a:pPr>
                <a:r>
                  <a:rPr lang="zh-TW" altLang="en-US"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在離散策略中找到的</a:t>
                </a:r>
                <a:r>
                  <a:rPr lang="en-US" altLang="zh-TW"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Nash</a:t>
                </a:r>
                <a:r>
                  <a:rPr lang="zh-TW" altLang="en-US"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均衡點</a:t>
                </a:r>
                <a:r>
                  <a:rPr lang="en-US" altLang="zh-TW"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到期前</a:t>
                </a:r>
                <a:r>
                  <a:rPr lang="en-US" altLang="zh-TW"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，在連續的情況下我們視為</a:t>
                </a:r>
                <a:r>
                  <a:rPr lang="el-GR" altLang="zh-TW" sz="2000"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ε</a:t>
                </a:r>
                <a:r>
                  <a:rPr lang="en-US" altLang="zh-TW"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-Nash(</a:t>
                </a:r>
                <a:r>
                  <a:rPr lang="zh-TW" altLang="en-US"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到期日</a:t>
                </a:r>
                <a:r>
                  <a:rPr lang="en-US" altLang="zh-TW" sz="2000"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a:t>
                </a:r>
              </a:p>
              <a:p>
                <a:r>
                  <a:rPr lang="zh-TW" altLang="en-US" dirty="0" smtClean="0">
                    <a:latin typeface="標楷體" panose="03000509000000000000" pitchFamily="65" charset="-120"/>
                    <a:ea typeface="標楷體" panose="03000509000000000000" pitchFamily="65" charset="-120"/>
                  </a:rPr>
                  <a:t>假設下圖為某一到期前可轉換公司債價值之</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payoff</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matrix</a:t>
                </a:r>
              </a:p>
              <a:p>
                <a:pPr lvl="1">
                  <a:buFont typeface="Wingdings" panose="05000000000000000000" pitchFamily="2" charset="2"/>
                  <a:buChar char="Ø"/>
                </a:pP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利用</a:t>
                </a:r>
                <a:r>
                  <a:rPr lang="en-US" altLang="zh-TW" dirty="0" smtClean="0">
                    <a:solidFill>
                      <a:prstClr val="black"/>
                    </a:solidFill>
                    <a:latin typeface="Times New Roman" panose="02020603050405020304" pitchFamily="18" charset="0"/>
                    <a:cs typeface="Times New Roman" panose="02020603050405020304" pitchFamily="18" charset="0"/>
                    <a:hlinkClick r:id="rId3" action="ppaction://hlinksldjump"/>
                  </a:rPr>
                  <a:t>dynamic</a:t>
                </a:r>
                <a:r>
                  <a:rPr lang="zh-TW" altLang="en-US" dirty="0" smtClean="0">
                    <a:solidFill>
                      <a:prstClr val="black"/>
                    </a:solidFill>
                    <a:latin typeface="Times New Roman" panose="02020603050405020304" pitchFamily="18" charset="0"/>
                    <a:cs typeface="Times New Roman" panose="02020603050405020304" pitchFamily="18" charset="0"/>
                    <a:hlinkClick r:id="rId3" action="ppaction://hlinksldjump"/>
                  </a:rPr>
                  <a:t> </a:t>
                </a:r>
                <a:r>
                  <a:rPr lang="en-US" altLang="zh-TW" dirty="0" smtClean="0">
                    <a:solidFill>
                      <a:prstClr val="black"/>
                    </a:solidFill>
                    <a:latin typeface="Times New Roman" panose="02020603050405020304" pitchFamily="18" charset="0"/>
                    <a:cs typeface="Times New Roman" panose="02020603050405020304" pitchFamily="18" charset="0"/>
                    <a:hlinkClick r:id="rId3" action="ppaction://hlinksldjump"/>
                  </a:rPr>
                  <a:t>programming</a:t>
                </a:r>
                <a:r>
                  <a:rPr lang="zh-TW" altLang="en-US" dirty="0" smtClean="0">
                    <a:solidFill>
                      <a:prstClr val="black"/>
                    </a:solidFill>
                    <a:latin typeface="標楷體" panose="03000509000000000000" pitchFamily="65" charset="-120"/>
                    <a:ea typeface="標楷體" panose="03000509000000000000" pitchFamily="65" charset="-120"/>
                    <a:cs typeface="Times New Roman" panose="02020603050405020304" pitchFamily="18" charset="0"/>
                  </a:rPr>
                  <a:t>的方法，每個節點須計算</a:t>
                </a:r>
                <a14:m>
                  <m:oMath xmlns:m="http://schemas.openxmlformats.org/officeDocument/2006/math">
                    <m:sSub>
                      <m:sSubPr>
                        <m:ctrlPr>
                          <a:rPr lang="en-US" altLang="zh-TW" i="1" smtClean="0">
                            <a:solidFill>
                              <a:prstClr val="black"/>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solidFill>
                              <a:prstClr val="black"/>
                            </a:solidFill>
                            <a:latin typeface="Cambria Math" panose="02040503050406030204" pitchFamily="18" charset="0"/>
                            <a:ea typeface="標楷體" panose="03000509000000000000" pitchFamily="65" charset="-120"/>
                            <a:cs typeface="Times New Roman" panose="02020603050405020304" pitchFamily="18" charset="0"/>
                          </a:rPr>
                          <m:t>𝑛</m:t>
                        </m:r>
                      </m:e>
                      <m:sub>
                        <m:r>
                          <a:rPr lang="en-US" altLang="zh-TW" b="0" i="1" smtClean="0">
                            <a:solidFill>
                              <a:prstClr val="black"/>
                            </a:solidFill>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smtClean="0">
                            <a:solidFill>
                              <a:prstClr val="black"/>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solidFill>
                              <a:prstClr val="black"/>
                            </a:solidFill>
                            <a:latin typeface="Cambria Math" panose="02040503050406030204" pitchFamily="18" charset="0"/>
                            <a:ea typeface="標楷體" panose="03000509000000000000" pitchFamily="65" charset="-120"/>
                            <a:cs typeface="Times New Roman" panose="02020603050405020304" pitchFamily="18" charset="0"/>
                          </a:rPr>
                          <m:t>𝑛</m:t>
                        </m:r>
                      </m:e>
                      <m:sub>
                        <m:r>
                          <a:rPr lang="en-US" altLang="zh-TW" b="0" i="1" smtClean="0">
                            <a:solidFill>
                              <a:prstClr val="black"/>
                            </a:solidFill>
                            <a:latin typeface="Cambria Math" panose="02040503050406030204" pitchFamily="18" charset="0"/>
                            <a:ea typeface="標楷體" panose="03000509000000000000" pitchFamily="65" charset="-120"/>
                            <a:cs typeface="Times New Roman" panose="02020603050405020304" pitchFamily="18" charset="0"/>
                          </a:rPr>
                          <m:t>2</m:t>
                        </m:r>
                      </m:sub>
                    </m:sSub>
                  </m:oMath>
                </a14:m>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張</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payoff matrix</a:t>
                </a:r>
              </a:p>
              <a:p>
                <a:endParaRPr lang="zh-TW" altLang="en-US" dirty="0">
                  <a:latin typeface="標楷體" panose="03000509000000000000" pitchFamily="65" charset="-120"/>
                  <a:ea typeface="標楷體" panose="03000509000000000000" pitchFamily="65"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397921"/>
                <a:ext cx="10901516" cy="4351338"/>
              </a:xfrm>
              <a:blipFill rotWithShape="0">
                <a:blip r:embed="rId4"/>
                <a:stretch>
                  <a:fillRect l="-1007" t="-238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28</a:t>
            </a:fld>
            <a:endParaRPr lang="zh-TW" altLang="en-US"/>
          </a:p>
        </p:txBody>
      </p:sp>
      <mc:AlternateContent xmlns:mc="http://schemas.openxmlformats.org/markup-compatibility/2006" xmlns:a14="http://schemas.microsoft.com/office/drawing/2010/main">
        <mc:Choice Requires="a14">
          <p:graphicFrame>
            <p:nvGraphicFramePr>
              <p:cNvPr id="10" name="表格 9"/>
              <p:cNvGraphicFramePr>
                <a:graphicFrameLocks noGrp="1"/>
              </p:cNvGraphicFramePr>
              <p:nvPr>
                <p:extLst>
                  <p:ext uri="{D42A27DB-BD31-4B8C-83A1-F6EECF244321}">
                    <p14:modId xmlns:p14="http://schemas.microsoft.com/office/powerpoint/2010/main" val="3161886261"/>
                  </p:ext>
                </p:extLst>
              </p:nvPr>
            </p:nvGraphicFramePr>
            <p:xfrm>
              <a:off x="1981610" y="3784754"/>
              <a:ext cx="7619591" cy="2826557"/>
            </p:xfrm>
            <a:graphic>
              <a:graphicData uri="http://schemas.openxmlformats.org/drawingml/2006/table">
                <a:tbl>
                  <a:tblPr firstRow="1" firstCol="1" bandRow="1"/>
                  <a:tblGrid>
                    <a:gridCol w="2236659"/>
                    <a:gridCol w="904142"/>
                    <a:gridCol w="885914"/>
                    <a:gridCol w="900498"/>
                    <a:gridCol w="899586"/>
                    <a:gridCol w="899586"/>
                    <a:gridCol w="893206"/>
                  </a:tblGrid>
                  <a:tr h="1613086">
                    <a:tc>
                      <a:txBody>
                        <a:bodyPr/>
                        <a:lstStyle/>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endParaRPr lang="en-US" sz="12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累積已轉換比例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pPr algn="ctr">
                            <a:lnSpc>
                              <a:spcPct val="107000"/>
                            </a:lnSpc>
                            <a:spcAft>
                              <a:spcPts val="0"/>
                            </a:spcAft>
                            <a:tabLst>
                              <a:tab pos="450215" algn="l"/>
                            </a:tabLst>
                          </a:pP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sSub>
                                  <m:sSubPr>
                                    <m:ctrlPr>
                                      <a:rPr lang="zh-TW"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標楷體" panose="03000509000000000000" pitchFamily="65" charset="-120"/>
                                        <a:cs typeface="Times New Roman" panose="02020603050405020304" pitchFamily="18" charset="0"/>
                                      </a:rPr>
                                      <m:t>𝑏</m:t>
                                    </m:r>
                                  </m:e>
                                  <m:sub>
                                    <m:r>
                                      <a:rPr lang="en-US" sz="1800" i="1">
                                        <a:effectLst/>
                                        <a:latin typeface="Cambria Math" panose="02040503050406030204" pitchFamily="18" charset="0"/>
                                        <a:ea typeface="標楷體" panose="03000509000000000000" pitchFamily="65" charset="-120"/>
                                        <a:cs typeface="Times New Roman" panose="02020603050405020304" pitchFamily="18" charset="0"/>
                                      </a:rPr>
                                      <m:t>𝑖</m:t>
                                    </m:r>
                                    <m:r>
                                      <a:rPr lang="en-US" sz="1800" i="1">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277686">
                    <a:tc>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sSub>
                                  <m:sSubPr>
                                    <m:ctrlPr>
                                      <a:rPr lang="zh-TW"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標楷體" panose="03000509000000000000" pitchFamily="65" charset="-120"/>
                                        <a:cs typeface="Times New Roman" panose="02020603050405020304" pitchFamily="18" charset="0"/>
                                      </a:rPr>
                                      <m:t>𝑎</m:t>
                                    </m:r>
                                  </m:e>
                                  <m:sub>
                                    <m:r>
                                      <a:rPr lang="en-US" sz="1800" i="1">
                                        <a:effectLst/>
                                        <a:latin typeface="Cambria Math" panose="02040503050406030204" pitchFamily="18" charset="0"/>
                                        <a:ea typeface="標楷體" panose="03000509000000000000" pitchFamily="65" charset="-120"/>
                                        <a:cs typeface="Times New Roman" panose="02020603050405020304" pitchFamily="18" charset="0"/>
                                      </a:rPr>
                                      <m:t>𝑖</m:t>
                                    </m:r>
                                    <m:r>
                                      <a:rPr lang="en-US" sz="1800" i="1">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881">
                    <a:tc>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Choice>
        <mc:Fallback xmlns="">
          <p:graphicFrame>
            <p:nvGraphicFramePr>
              <p:cNvPr id="10" name="表格 9"/>
              <p:cNvGraphicFramePr>
                <a:graphicFrameLocks noGrp="1"/>
              </p:cNvGraphicFramePr>
              <p:nvPr>
                <p:extLst>
                  <p:ext uri="{D42A27DB-BD31-4B8C-83A1-F6EECF244321}">
                    <p14:modId xmlns:p14="http://schemas.microsoft.com/office/powerpoint/2010/main" val="3161886261"/>
                  </p:ext>
                </p:extLst>
              </p:nvPr>
            </p:nvGraphicFramePr>
            <p:xfrm>
              <a:off x="1981610" y="3784754"/>
              <a:ext cx="7619591" cy="2826557"/>
            </p:xfrm>
            <a:graphic>
              <a:graphicData uri="http://schemas.openxmlformats.org/drawingml/2006/table">
                <a:tbl>
                  <a:tblPr firstRow="1" firstCol="1" bandRow="1"/>
                  <a:tblGrid>
                    <a:gridCol w="2236659"/>
                    <a:gridCol w="904142"/>
                    <a:gridCol w="885914"/>
                    <a:gridCol w="900498"/>
                    <a:gridCol w="899586"/>
                    <a:gridCol w="899586"/>
                    <a:gridCol w="893206"/>
                  </a:tblGrid>
                  <a:tr h="1630807">
                    <a:tc>
                      <a:txBody>
                        <a:bodyPr/>
                        <a:lstStyle/>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endParaRPr lang="en-US" sz="12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累積已轉換比例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blipFill rotWithShape="0">
                          <a:blip r:embed="rId5"/>
                          <a:stretch>
                            <a:fillRect l="-125170" t="-3731" r="-202041" b="-79478"/>
                          </a:stretch>
                        </a:blipFill>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293497">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2" t="-567347" r="-241962" b="-334694"/>
                          </a:stretch>
                        </a:blipFill>
                      </a:tcPr>
                    </a:tc>
                    <a:tc>
                      <a:txBody>
                        <a:bodyPr/>
                        <a:lstStyle/>
                        <a:p>
                          <a:pPr algn="just">
                            <a:lnSpc>
                              <a:spcPct val="107000"/>
                            </a:lnSpc>
                            <a:spcAft>
                              <a:spcPts val="0"/>
                            </a:spcAft>
                            <a:tabLst>
                              <a:tab pos="450215" algn="l"/>
                            </a:tabLst>
                          </a:pPr>
                          <a:r>
                            <a:rPr lang="en-US" sz="1200" dirty="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881">
                    <a:tc>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Fallback>
      </mc:AlternateContent>
    </p:spTree>
    <p:extLst>
      <p:ext uri="{BB962C8B-B14F-4D97-AF65-F5344CB8AC3E}">
        <p14:creationId xmlns:p14="http://schemas.microsoft.com/office/powerpoint/2010/main" val="22673959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尋找</a:t>
            </a:r>
            <a:r>
              <a:rPr lang="el-GR" altLang="zh-TW"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ε</a:t>
            </a:r>
            <a:r>
              <a:rPr lang="en-US" altLang="zh-TW"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-Nash</a:t>
            </a:r>
            <a:r>
              <a:rPr lang="zh-TW" altLang="en-US" dirty="0" smtClean="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的例子</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574810203"/>
              </p:ext>
            </p:extLst>
          </p:nvPr>
        </p:nvGraphicFramePr>
        <p:xfrm>
          <a:off x="1532175" y="1983579"/>
          <a:ext cx="8776946" cy="3650304"/>
        </p:xfrm>
        <a:graphic>
          <a:graphicData uri="http://schemas.openxmlformats.org/drawingml/2006/table">
            <a:tbl>
              <a:tblPr firstRow="1" firstCol="1" bandRow="1"/>
              <a:tblGrid>
                <a:gridCol w="724606"/>
                <a:gridCol w="805234"/>
                <a:gridCol w="805234"/>
                <a:gridCol w="805234"/>
                <a:gridCol w="805234"/>
                <a:gridCol w="805234"/>
                <a:gridCol w="805234"/>
                <a:gridCol w="805234"/>
                <a:gridCol w="805234"/>
                <a:gridCol w="805234"/>
                <a:gridCol w="805234"/>
              </a:tblGrid>
              <a:tr h="608384">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10%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20%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30%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50%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608384">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10%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4205.66</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4207.56</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4206.43</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4205.74</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384">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20%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4205.66</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4203.28</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4203.28</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4202.14</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4204.29</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4201.14</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4204.55</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4200.37</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4201.46</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384">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30%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4207.56</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4204.29</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4202.14</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4202.37</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tabLst>
                          <a:tab pos="450215" algn="l"/>
                        </a:tabLst>
                      </a:pPr>
                      <a:r>
                        <a:rPr lang="en-US"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4202.37</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4201.37</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4201.10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4199.32</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4199.64</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384">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4206.43</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4204.55</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4201.18</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4201.10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4201.73</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4199.10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4199.98</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4197.13</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4196.17</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384">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50%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4205.74</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4201.46</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4200.37</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4199.64</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4199.32</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4196.64</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4197.13</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4194.00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4194.00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29</a:t>
            </a:fld>
            <a:endParaRPr lang="zh-TW" altLang="en-US"/>
          </a:p>
        </p:txBody>
      </p:sp>
    </p:spTree>
    <p:extLst>
      <p:ext uri="{BB962C8B-B14F-4D97-AF65-F5344CB8AC3E}">
        <p14:creationId xmlns:p14="http://schemas.microsoft.com/office/powerpoint/2010/main" val="3681071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02226" y="1265186"/>
                <a:ext cx="10515600" cy="4351338"/>
              </a:xfrm>
            </p:spPr>
            <p:txBody>
              <a:bodyPr>
                <a:normAutofit/>
              </a:bodyPr>
              <a:lstStyle/>
              <a:p>
                <a:r>
                  <a:rPr lang="zh-TW" altLang="en-US" dirty="0" smtClean="0">
                    <a:latin typeface="標楷體" panose="03000509000000000000" pitchFamily="65" charset="-120"/>
                    <a:ea typeface="標楷體" panose="03000509000000000000" pitchFamily="65" charset="-120"/>
                  </a:rPr>
                  <a:t>當我們計算出到期日</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或到期前</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其中一個節點全部的均衡點後，我們會用另一個</a:t>
                </a:r>
                <a:r>
                  <a:rPr lang="en-US" altLang="zh-TW" dirty="0" smtClean="0">
                    <a:latin typeface="Times New Roman" panose="02020603050405020304" pitchFamily="18" charset="0"/>
                    <a:cs typeface="Times New Roman" panose="02020603050405020304" pitchFamily="18" charset="0"/>
                  </a:rPr>
                  <a:t>payoff</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matrix</a:t>
                </a:r>
                <a:r>
                  <a:rPr lang="zh-TW" altLang="en-US" dirty="0" smtClean="0">
                    <a:latin typeface="標楷體" panose="03000509000000000000" pitchFamily="65" charset="-120"/>
                    <a:ea typeface="標楷體" panose="03000509000000000000" pitchFamily="65" charset="-120"/>
                  </a:rPr>
                  <a:t>紀錄</a:t>
                </a:r>
                <a:endParaRPr lang="en-US" altLang="zh-TW" dirty="0" smtClean="0">
                  <a:latin typeface="標楷體" panose="03000509000000000000" pitchFamily="65" charset="-120"/>
                  <a:ea typeface="標楷體" panose="03000509000000000000" pitchFamily="65" charset="-120"/>
                </a:endParaRPr>
              </a:p>
              <a:p>
                <a:pPr lvl="1">
                  <a:buFont typeface="Wingdings" panose="05000000000000000000" pitchFamily="2" charset="2"/>
                  <a:buChar char="Ø"/>
                </a:pPr>
                <a:r>
                  <a:rPr lang="zh-TW" altLang="en-US" dirty="0" smtClean="0">
                    <a:latin typeface="標楷體" panose="03000509000000000000" pitchFamily="65" charset="-120"/>
                    <a:ea typeface="標楷體" panose="03000509000000000000" pitchFamily="65" charset="-120"/>
                  </a:rPr>
                  <a:t>以塗色區塊為例，區塊左邊為</a:t>
                </a:r>
                <a:r>
                  <a:rPr lang="en-US" altLang="zh-TW" dirty="0" smtClean="0">
                    <a:latin typeface="標楷體" panose="03000509000000000000" pitchFamily="65" charset="-120"/>
                    <a:ea typeface="標楷體" panose="03000509000000000000" pitchFamily="65" charset="-120"/>
                  </a:rPr>
                  <a:t>CB</a:t>
                </a:r>
                <a:r>
                  <a:rPr lang="zh-TW" altLang="en-US" dirty="0" smtClean="0">
                    <a:latin typeface="標楷體" panose="03000509000000000000" pitchFamily="65" charset="-120"/>
                    <a:ea typeface="標楷體" panose="03000509000000000000" pitchFamily="65" charset="-120"/>
                  </a:rPr>
                  <a:t>持有者</a:t>
                </a: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給定</a:t>
                </a:r>
                <a:r>
                  <a:rPr lang="en-US" altLang="zh-TW" dirty="0" smtClean="0">
                    <a:latin typeface="標楷體" panose="03000509000000000000" pitchFamily="65" charset="-120"/>
                    <a:ea typeface="標楷體" panose="03000509000000000000" pitchFamily="65" charset="-120"/>
                  </a:rPr>
                  <a:t>i-1</a:t>
                </a:r>
                <a:r>
                  <a:rPr lang="zh-TW" altLang="en-US" dirty="0" smtClean="0">
                    <a:latin typeface="標楷體" panose="03000509000000000000" pitchFamily="65" charset="-120"/>
                    <a:ea typeface="標楷體" panose="03000509000000000000" pitchFamily="65" charset="-120"/>
                  </a:rPr>
                  <a:t>期累積已轉換比例是</a:t>
                </a:r>
                <a:r>
                  <a:rPr lang="en-US" altLang="zh-TW" dirty="0" smtClean="0">
                    <a:latin typeface="標楷體" panose="03000509000000000000" pitchFamily="65" charset="-120"/>
                    <a:ea typeface="標楷體" panose="03000509000000000000" pitchFamily="65" charset="-120"/>
                  </a:rPr>
                  <a:t>(</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rPr>
                        </m:ctrlPr>
                      </m:sSubPr>
                      <m:e>
                        <m:r>
                          <a:rPr lang="en-US" altLang="zh-TW" b="0" i="1" smtClean="0">
                            <a:latin typeface="Cambria Math" panose="02040503050406030204" pitchFamily="18" charset="0"/>
                            <a:ea typeface="標楷體" panose="03000509000000000000" pitchFamily="65" charset="-120"/>
                          </a:rPr>
                          <m:t>𝑎</m:t>
                        </m:r>
                      </m:e>
                      <m:sub>
                        <m:r>
                          <a:rPr lang="en-US" altLang="zh-TW" b="0" i="1" smtClean="0">
                            <a:latin typeface="Cambria Math" panose="02040503050406030204" pitchFamily="18" charset="0"/>
                            <a:ea typeface="標楷體" panose="03000509000000000000" pitchFamily="65" charset="-120"/>
                          </a:rPr>
                          <m:t>𝑖</m:t>
                        </m:r>
                        <m:r>
                          <a:rPr lang="en-US" altLang="zh-TW" b="0" i="1" smtClean="0">
                            <a:latin typeface="Cambria Math" panose="02040503050406030204" pitchFamily="18" charset="0"/>
                            <a:ea typeface="標楷體" panose="03000509000000000000" pitchFamily="65" charset="-120"/>
                          </a:rPr>
                          <m:t>−1</m:t>
                        </m:r>
                      </m:sub>
                    </m:sSub>
                    <m:r>
                      <a:rPr lang="en-US" altLang="zh-TW" b="0" i="1" smtClean="0">
                        <a:latin typeface="Cambria Math" panose="02040503050406030204" pitchFamily="18" charset="0"/>
                        <a:ea typeface="標楷體" panose="03000509000000000000" pitchFamily="65" charset="-120"/>
                      </a:rPr>
                      <m:t>,</m:t>
                    </m:r>
                    <m:sSub>
                      <m:sSubPr>
                        <m:ctrlPr>
                          <a:rPr lang="en-US" altLang="zh-TW" b="0" i="1" smtClean="0">
                            <a:latin typeface="Cambria Math" panose="02040503050406030204" pitchFamily="18" charset="0"/>
                            <a:ea typeface="標楷體" panose="03000509000000000000" pitchFamily="65" charset="-120"/>
                          </a:rPr>
                        </m:ctrlPr>
                      </m:sSubPr>
                      <m:e>
                        <m:r>
                          <a:rPr lang="en-US" altLang="zh-TW" b="0" i="1" smtClean="0">
                            <a:latin typeface="Cambria Math" panose="02040503050406030204" pitchFamily="18" charset="0"/>
                            <a:ea typeface="標楷體" panose="03000509000000000000" pitchFamily="65" charset="-120"/>
                          </a:rPr>
                          <m:t>𝑏</m:t>
                        </m:r>
                      </m:e>
                      <m:sub>
                        <m:r>
                          <a:rPr lang="en-US" altLang="zh-TW" b="0" i="1" smtClean="0">
                            <a:latin typeface="Cambria Math" panose="02040503050406030204" pitchFamily="18" charset="0"/>
                            <a:ea typeface="標楷體" panose="03000509000000000000" pitchFamily="65" charset="-120"/>
                          </a:rPr>
                          <m:t>𝑖</m:t>
                        </m:r>
                        <m:r>
                          <a:rPr lang="en-US" altLang="zh-TW" b="0" i="1" smtClean="0">
                            <a:latin typeface="Cambria Math" panose="02040503050406030204" pitchFamily="18" charset="0"/>
                            <a:ea typeface="標楷體" panose="03000509000000000000" pitchFamily="65" charset="-120"/>
                          </a:rPr>
                          <m:t>−1</m:t>
                        </m:r>
                      </m:sub>
                    </m:sSub>
                  </m:oMath>
                </a14:m>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下，當期均衡解所得到的價值，右邊則是</a:t>
                </a:r>
                <a:r>
                  <a:rPr lang="en-US" altLang="zh-TW" dirty="0" smtClean="0">
                    <a:latin typeface="標楷體" panose="03000509000000000000" pitchFamily="65" charset="-120"/>
                    <a:ea typeface="標楷體" panose="03000509000000000000" pitchFamily="65" charset="-120"/>
                  </a:rPr>
                  <a:t>CB</a:t>
                </a:r>
                <a:r>
                  <a:rPr lang="zh-TW" altLang="en-US" dirty="0" smtClean="0">
                    <a:latin typeface="標楷體" panose="03000509000000000000" pitchFamily="65" charset="-120"/>
                    <a:ea typeface="標楷體" panose="03000509000000000000" pitchFamily="65" charset="-120"/>
                  </a:rPr>
                  <a:t>持有者</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的價值</a:t>
                </a:r>
                <a:endParaRPr lang="zh-TW" altLang="en-US" dirty="0">
                  <a:latin typeface="標楷體" panose="03000509000000000000" pitchFamily="65" charset="-120"/>
                  <a:ea typeface="標楷體" panose="03000509000000000000" pitchFamily="65"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02226" y="1265186"/>
                <a:ext cx="10515600" cy="4351338"/>
              </a:xfrm>
              <a:blipFill rotWithShape="0">
                <a:blip r:embed="rId2"/>
                <a:stretch>
                  <a:fillRect l="-1043" t="-252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30</a:t>
            </a:fld>
            <a:endParaRPr lang="zh-TW" altLang="en-US"/>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1136184877"/>
                  </p:ext>
                </p:extLst>
              </p:nvPr>
            </p:nvGraphicFramePr>
            <p:xfrm>
              <a:off x="1649361" y="3052916"/>
              <a:ext cx="8509820" cy="2826557"/>
            </p:xfrm>
            <a:graphic>
              <a:graphicData uri="http://schemas.openxmlformats.org/drawingml/2006/table">
                <a:tbl>
                  <a:tblPr firstRow="1" firstCol="1" bandRow="1"/>
                  <a:tblGrid>
                    <a:gridCol w="3126888"/>
                    <a:gridCol w="904142"/>
                    <a:gridCol w="885914"/>
                    <a:gridCol w="900498"/>
                    <a:gridCol w="899586"/>
                    <a:gridCol w="899586"/>
                    <a:gridCol w="893206"/>
                  </a:tblGrid>
                  <a:tr h="1613980">
                    <a:tc>
                      <a:txBody>
                        <a:bodyPr/>
                        <a:lstStyle/>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前一期</a:t>
                          </a: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endParaRPr lang="en-US" sz="12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前一期</a:t>
                          </a: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pPr algn="ctr">
                            <a:lnSpc>
                              <a:spcPct val="107000"/>
                            </a:lnSpc>
                            <a:spcAft>
                              <a:spcPts val="0"/>
                            </a:spcAft>
                            <a:tabLst>
                              <a:tab pos="450215" algn="l"/>
                            </a:tabLst>
                          </a:pP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sSub>
                                  <m:sSubPr>
                                    <m:ctrlPr>
                                      <a:rPr lang="zh-TW"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標楷體" panose="03000509000000000000" pitchFamily="65" charset="-120"/>
                                        <a:cs typeface="Times New Roman" panose="02020603050405020304" pitchFamily="18" charset="0"/>
                                      </a:rPr>
                                      <m:t>𝑏</m:t>
                                    </m:r>
                                  </m:e>
                                  <m:sub>
                                    <m:r>
                                      <a:rPr lang="en-US" sz="1800" i="1">
                                        <a:effectLst/>
                                        <a:latin typeface="Cambria Math" panose="02040503050406030204" pitchFamily="18" charset="0"/>
                                        <a:ea typeface="標楷體" panose="03000509000000000000" pitchFamily="65" charset="-120"/>
                                        <a:cs typeface="Times New Roman" panose="02020603050405020304" pitchFamily="18" charset="0"/>
                                      </a:rPr>
                                      <m:t>𝑖</m:t>
                                    </m:r>
                                    <m:r>
                                      <a:rPr lang="en-US" sz="1800" i="1">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277686">
                    <a:tc>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sSub>
                                  <m:sSubPr>
                                    <m:ctrlPr>
                                      <a:rPr lang="zh-TW"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標楷體" panose="03000509000000000000" pitchFamily="65" charset="-120"/>
                                        <a:cs typeface="Times New Roman" panose="02020603050405020304" pitchFamily="18" charset="0"/>
                                      </a:rPr>
                                      <m:t>𝑎</m:t>
                                    </m:r>
                                  </m:e>
                                  <m:sub>
                                    <m:r>
                                      <a:rPr lang="en-US" sz="1800" i="1">
                                        <a:effectLst/>
                                        <a:latin typeface="Cambria Math" panose="02040503050406030204" pitchFamily="18" charset="0"/>
                                        <a:ea typeface="標楷體" panose="03000509000000000000" pitchFamily="65" charset="-120"/>
                                        <a:cs typeface="Times New Roman" panose="02020603050405020304" pitchFamily="18" charset="0"/>
                                      </a:rPr>
                                      <m:t>𝑖</m:t>
                                    </m:r>
                                    <m:r>
                                      <a:rPr lang="en-US" sz="1800" i="1">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881">
                    <a:tc>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1136184877"/>
                  </p:ext>
                </p:extLst>
              </p:nvPr>
            </p:nvGraphicFramePr>
            <p:xfrm>
              <a:off x="1649361" y="3052916"/>
              <a:ext cx="8509820" cy="2809730"/>
            </p:xfrm>
            <a:graphic>
              <a:graphicData uri="http://schemas.openxmlformats.org/drawingml/2006/table">
                <a:tbl>
                  <a:tblPr firstRow="1" firstCol="1" bandRow="1"/>
                  <a:tblGrid>
                    <a:gridCol w="3126888"/>
                    <a:gridCol w="904142"/>
                    <a:gridCol w="885914"/>
                    <a:gridCol w="900498"/>
                    <a:gridCol w="899586"/>
                    <a:gridCol w="899586"/>
                    <a:gridCol w="893206"/>
                  </a:tblGrid>
                  <a:tr h="1613980">
                    <a:tc>
                      <a:txBody>
                        <a:bodyPr/>
                        <a:lstStyle/>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前一期</a:t>
                          </a: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endParaRPr lang="en-US" sz="12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前一期</a:t>
                          </a:r>
                          <a:r>
                            <a:rPr lang="en-US" alt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blipFill rotWithShape="0">
                          <a:blip r:embed="rId3"/>
                          <a:stretch>
                            <a:fillRect l="-174830" t="-3774" r="-202381" b="-80377"/>
                          </a:stretch>
                        </a:blipFill>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293497">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95" t="-561224" r="-173294" b="-334694"/>
                          </a:stretch>
                        </a:blipFill>
                      </a:tcPr>
                    </a:tc>
                    <a:tc>
                      <a:txBody>
                        <a:bodyPr/>
                        <a:lstStyle/>
                        <a:p>
                          <a:pPr algn="just">
                            <a:lnSpc>
                              <a:spcPct val="107000"/>
                            </a:lnSpc>
                            <a:spcAft>
                              <a:spcPts val="0"/>
                            </a:spcAft>
                            <a:tabLst>
                              <a:tab pos="450215" algn="l"/>
                            </a:tabLst>
                          </a:pPr>
                          <a:r>
                            <a:rPr lang="en-US" sz="1200" dirty="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881">
                    <a:tc>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Fallback>
      </mc:AlternateContent>
    </p:spTree>
    <p:extLst>
      <p:ext uri="{BB962C8B-B14F-4D97-AF65-F5344CB8AC3E}">
        <p14:creationId xmlns:p14="http://schemas.microsoft.com/office/powerpoint/2010/main" val="3322611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發行日最佳轉換比例</a:t>
            </a:r>
            <a:endParaRPr lang="zh-TW" altLang="en-US" dirty="0">
              <a:latin typeface="標楷體" panose="03000509000000000000" pitchFamily="65" charset="-120"/>
              <a:ea typeface="標楷體" panose="03000509000000000000" pitchFamily="65" charset="-120"/>
            </a:endParaRPr>
          </a:p>
        </p:txBody>
      </p:sp>
      <mc:AlternateContent xmlns:mc="http://schemas.openxmlformats.org/markup-compatibility/2006" xmlns:a14="http://schemas.microsoft.com/office/drawing/2010/main">
        <mc:Choice Requires="a14">
          <p:graphicFrame>
            <p:nvGraphicFramePr>
              <p:cNvPr id="6" name="內容版面配置區 5"/>
              <p:cNvGraphicFramePr>
                <a:graphicFrameLocks noGrp="1"/>
              </p:cNvGraphicFramePr>
              <p:nvPr>
                <p:ph idx="1"/>
                <p:extLst>
                  <p:ext uri="{D42A27DB-BD31-4B8C-83A1-F6EECF244321}">
                    <p14:modId xmlns:p14="http://schemas.microsoft.com/office/powerpoint/2010/main" val="3328323868"/>
                  </p:ext>
                </p:extLst>
              </p:nvPr>
            </p:nvGraphicFramePr>
            <p:xfrm>
              <a:off x="1489588" y="2921794"/>
              <a:ext cx="7639664" cy="3034757"/>
            </p:xfrm>
            <a:graphic>
              <a:graphicData uri="http://schemas.openxmlformats.org/drawingml/2006/table">
                <a:tbl>
                  <a:tblPr firstRow="1" firstCol="1" bandRow="1"/>
                  <a:tblGrid>
                    <a:gridCol w="2829786"/>
                    <a:gridCol w="807890"/>
                    <a:gridCol w="791602"/>
                    <a:gridCol w="1608451"/>
                    <a:gridCol w="803818"/>
                    <a:gridCol w="798117"/>
                  </a:tblGrid>
                  <a:tr h="1605686">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4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8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8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sz="18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en-US" sz="18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8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累積已轉換比例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pPr algn="ctr">
                            <a:lnSpc>
                              <a:spcPct val="107000"/>
                            </a:lnSpc>
                            <a:spcAft>
                              <a:spcPts val="0"/>
                            </a:spcAft>
                            <a:tabLst>
                              <a:tab pos="450215" algn="l"/>
                            </a:tabLst>
                          </a:pP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標楷體" panose="03000509000000000000" pitchFamily="65" charset="-120"/>
                                    <a:cs typeface="Times New Roman" panose="02020603050405020304" pitchFamily="18" charset="0"/>
                                  </a:rPr>
                                  <m:t>0</m:t>
                                </m:r>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gridSpan="2">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330885">
                    <a:tc>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ea typeface="標楷體" panose="03000509000000000000" pitchFamily="65" charset="-120"/>
                                    <a:cs typeface="Times New Roman" panose="02020603050405020304" pitchFamily="18" charset="0"/>
                                  </a:rPr>
                                  <m:t>0</m:t>
                                </m:r>
                              </m:oMath>
                            </m:oMathPara>
                          </a14:m>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4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8822">
                    <a:tc>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en-US" altLang="zh-TW" sz="14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ea typeface="標楷體" panose="03000509000000000000" pitchFamily="65" charset="-120"/>
                                    <a:cs typeface="Times New Roman" panose="02020603050405020304" pitchFamily="18" charset="0"/>
                                  </a:rPr>
                                  <m:t>⋮  </m:t>
                                </m:r>
                                <m:r>
                                  <a:rPr lang="zh-TW" altLang="en-US" sz="1400" i="1" smtClean="0">
                                    <a:effectLst/>
                                    <a:latin typeface="Cambria Math" panose="02040503050406030204" pitchFamily="18" charset="0"/>
                                    <a:ea typeface="標楷體" panose="03000509000000000000" pitchFamily="65" charset="-120"/>
                                    <a:cs typeface="Times New Roman" panose="02020603050405020304" pitchFamily="18" charset="0"/>
                                  </a:rPr>
                                  <m:t>    </m:t>
                                </m:r>
                                <m:r>
                                  <a:rPr lang="en-US" sz="1400">
                                    <a:effectLst/>
                                    <a:latin typeface="Cambria Math" panose="02040503050406030204" pitchFamily="18" charset="0"/>
                                    <a:ea typeface="標楷體" panose="03000509000000000000" pitchFamily="65" charset="-120"/>
                                    <a:cs typeface="Times New Roman" panose="02020603050405020304" pitchFamily="18" charset="0"/>
                                  </a:rPr>
                                  <m:t>                                  ⋮    </m:t>
                                </m:r>
                                <m:r>
                                  <a:rPr lang="zh-TW" altLang="en-US" sz="1400" i="1" smtClean="0">
                                    <a:effectLst/>
                                    <a:latin typeface="Cambria Math" panose="02040503050406030204" pitchFamily="18" charset="0"/>
                                    <a:ea typeface="標楷體" panose="03000509000000000000" pitchFamily="65" charset="-120"/>
                                    <a:cs typeface="Times New Roman" panose="02020603050405020304" pitchFamily="18" charset="0"/>
                                  </a:rPr>
                                  <m:t>    </m:t>
                                </m:r>
                                <m:r>
                                  <a:rPr lang="en-US" sz="1400">
                                    <a:effectLst/>
                                    <a:latin typeface="Cambria Math" panose="02040503050406030204" pitchFamily="18" charset="0"/>
                                    <a:ea typeface="標楷體" panose="03000509000000000000" pitchFamily="65" charset="-120"/>
                                    <a:cs typeface="Times New Roman" panose="02020603050405020304" pitchFamily="18" charset="0"/>
                                  </a:rPr>
                                  <m:t>                               ⋮</m:t>
                                </m:r>
                              </m:oMath>
                            </m:oMathPara>
                          </a14:m>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ea typeface="標楷體" panose="03000509000000000000" pitchFamily="65" charset="-120"/>
                                    <a:cs typeface="Times New Roman" panose="02020603050405020304" pitchFamily="18" charset="0"/>
                                  </a:rPr>
                                  <m:t>⋮</m:t>
                                </m:r>
                                <m:r>
                                  <a:rPr lang="zh-TW" altLang="en-US" sz="1400" i="1" smtClean="0">
                                    <a:effectLst/>
                                    <a:latin typeface="Cambria Math" panose="02040503050406030204" pitchFamily="18" charset="0"/>
                                    <a:ea typeface="標楷體" panose="03000509000000000000" pitchFamily="65" charset="-120"/>
                                    <a:cs typeface="Times New Roman" panose="02020603050405020304" pitchFamily="18" charset="0"/>
                                  </a:rPr>
                                  <m:t>    </m:t>
                                </m:r>
                                <m:r>
                                  <a:rPr lang="en-US" sz="1400">
                                    <a:effectLst/>
                                    <a:latin typeface="Cambria Math" panose="02040503050406030204" pitchFamily="18" charset="0"/>
                                    <a:ea typeface="標楷體" panose="03000509000000000000" pitchFamily="65" charset="-120"/>
                                    <a:cs typeface="Times New Roman" panose="02020603050405020304" pitchFamily="18" charset="0"/>
                                  </a:rPr>
                                  <m:t>                                    ⋮ </m:t>
                                </m:r>
                                <m:r>
                                  <a:rPr lang="zh-TW" altLang="en-US" sz="1400" i="1" smtClean="0">
                                    <a:effectLst/>
                                    <a:latin typeface="Cambria Math" panose="02040503050406030204" pitchFamily="18" charset="0"/>
                                    <a:ea typeface="標楷體" panose="03000509000000000000" pitchFamily="65" charset="-120"/>
                                    <a:cs typeface="Times New Roman" panose="02020603050405020304" pitchFamily="18" charset="0"/>
                                  </a:rPr>
                                  <m:t>    </m:t>
                                </m:r>
                                <m:r>
                                  <a:rPr lang="en-US" sz="1400">
                                    <a:effectLst/>
                                    <a:latin typeface="Cambria Math" panose="02040503050406030204" pitchFamily="18" charset="0"/>
                                    <a:ea typeface="標楷體" panose="03000509000000000000" pitchFamily="65" charset="-120"/>
                                    <a:cs typeface="Times New Roman" panose="02020603050405020304" pitchFamily="18" charset="0"/>
                                  </a:rPr>
                                  <m:t>                                  ⋮</m:t>
                                </m:r>
                              </m:oMath>
                            </m:oMathPara>
                          </a14:m>
                          <a:endParaRPr lang="en-US" altLang="zh-TW" sz="14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413338">
                    <a:tc>
                      <a:txBody>
                        <a:bodyPr/>
                        <a:lstStyle/>
                        <a:p>
                          <a:pPr algn="ctr">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Choice>
        <mc:Fallback xmlns="">
          <p:graphicFrame>
            <p:nvGraphicFramePr>
              <p:cNvPr id="6" name="內容版面配置區 5"/>
              <p:cNvGraphicFramePr>
                <a:graphicFrameLocks noGrp="1"/>
              </p:cNvGraphicFramePr>
              <p:nvPr>
                <p:ph idx="1"/>
                <p:extLst>
                  <p:ext uri="{D42A27DB-BD31-4B8C-83A1-F6EECF244321}">
                    <p14:modId xmlns:p14="http://schemas.microsoft.com/office/powerpoint/2010/main" val="3328323868"/>
                  </p:ext>
                </p:extLst>
              </p:nvPr>
            </p:nvGraphicFramePr>
            <p:xfrm>
              <a:off x="1489588" y="2921794"/>
              <a:ext cx="7639664" cy="3034757"/>
            </p:xfrm>
            <a:graphic>
              <a:graphicData uri="http://schemas.openxmlformats.org/drawingml/2006/table">
                <a:tbl>
                  <a:tblPr firstRow="1" firstCol="1" bandRow="1"/>
                  <a:tblGrid>
                    <a:gridCol w="2829786"/>
                    <a:gridCol w="807890"/>
                    <a:gridCol w="791602"/>
                    <a:gridCol w="1608451"/>
                    <a:gridCol w="803818"/>
                    <a:gridCol w="798117"/>
                  </a:tblGrid>
                  <a:tr h="1605686">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4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4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8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8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8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sz="18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en-US" sz="18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8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zh-TW" sz="1800" dirty="0">
                              <a:effectLst/>
                              <a:latin typeface="Times New Roman" panose="02020603050405020304" pitchFamily="18" charset="0"/>
                              <a:ea typeface="標楷體" panose="03000509000000000000" pitchFamily="65" charset="-120"/>
                              <a:cs typeface="Times New Roman" panose="02020603050405020304" pitchFamily="18" charset="0"/>
                            </a:rPr>
                            <a:t>累積已轉換比例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blipFill rotWithShape="0">
                          <a:blip r:embed="rId2"/>
                          <a:stretch>
                            <a:fillRect l="-176806" t="-4924" r="-202281" b="-90530"/>
                          </a:stretch>
                        </a:blipFill>
                      </a:tcPr>
                    </a:tc>
                    <a:tc hMerge="1">
                      <a:txBody>
                        <a:bodyPr/>
                        <a:lstStyle/>
                        <a:p>
                          <a:endParaRPr lang="zh-TW" altLang="en-US"/>
                        </a:p>
                      </a:txBody>
                      <a:tcPr/>
                    </a:tc>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blipFill rotWithShape="0">
                          <a:blip r:embed="rId2"/>
                          <a:stretch>
                            <a:fillRect l="-275758" t="-4924" r="-101515" b="-90530"/>
                          </a:stretch>
                        </a:blipFill>
                      </a:tcPr>
                    </a:tc>
                    <a:tc gridSpan="2">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330885">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16" t="-512963" r="-171336" b="-342593"/>
                          </a:stretch>
                        </a:blipFill>
                      </a:tcPr>
                    </a:tc>
                    <a:tc>
                      <a:txBody>
                        <a:bodyPr/>
                        <a:lstStyle/>
                        <a:p>
                          <a:pPr algn="just">
                            <a:lnSpc>
                              <a:spcPct val="107000"/>
                            </a:lnSpc>
                            <a:spcAft>
                              <a:spcPts val="0"/>
                            </a:spcAft>
                            <a:tabLst>
                              <a:tab pos="450215" algn="l"/>
                            </a:tabLst>
                          </a:pPr>
                          <a:r>
                            <a:rPr lang="en-US" sz="14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4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75758" t="-512963" r="-101515" b="-342593"/>
                          </a:stretch>
                        </a:blipFill>
                      </a:tcPr>
                    </a:tc>
                    <a:tc>
                      <a:txBody>
                        <a:bodyPr/>
                        <a:lstStyle/>
                        <a:p>
                          <a:pPr algn="just">
                            <a:lnSpc>
                              <a:spcPct val="107000"/>
                            </a:lnSpc>
                            <a:spcAft>
                              <a:spcPts val="0"/>
                            </a:spcAft>
                            <a:tabLst>
                              <a:tab pos="450215" algn="l"/>
                            </a:tabLst>
                          </a:pPr>
                          <a:r>
                            <a:rPr lang="en-US" sz="14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4848">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16" t="-292920" r="-171336" b="-63717"/>
                          </a:stretch>
                        </a:blipFill>
                      </a:tcPr>
                    </a:tc>
                    <a:tc gridSpan="5">
                      <a:txBody>
                        <a:bodyPr/>
                        <a:lstStyle/>
                        <a:p>
                          <a:endParaRPr lang="zh-TW"/>
                        </a:p>
                      </a:txBody>
                      <a:tcPr marL="68580" marR="6858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58861" t="-292920" r="-633" b="-63717"/>
                          </a:stretch>
                        </a:blip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413338">
                    <a:tc>
                      <a:txBody>
                        <a:bodyPr/>
                        <a:lstStyle/>
                        <a:p>
                          <a:pPr algn="ctr">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blipFill rotWithShape="0">
                          <a:blip r:embed="rId2"/>
                          <a:stretch>
                            <a:fillRect l="-275758" t="-652941" r="-101515" b="-5882"/>
                          </a:stretch>
                        </a:blipFill>
                      </a:tcPr>
                    </a:tc>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4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31</a:t>
            </a:fld>
            <a:endParaRPr lang="zh-TW" altLang="en-US"/>
          </a:p>
        </p:txBody>
      </p:sp>
      <p:sp>
        <p:nvSpPr>
          <p:cNvPr id="8" name="文字方塊 7"/>
          <p:cNvSpPr txBox="1"/>
          <p:nvPr/>
        </p:nvSpPr>
        <p:spPr>
          <a:xfrm>
            <a:off x="1032387" y="1690688"/>
            <a:ext cx="10043652" cy="1231106"/>
          </a:xfrm>
          <a:prstGeom prst="rect">
            <a:avLst/>
          </a:prstGeom>
          <a:noFill/>
        </p:spPr>
        <p:txBody>
          <a:bodyPr wrap="square" rtlCol="0">
            <a:spAutoFit/>
          </a:bodyPr>
          <a:lstStyle/>
          <a:p>
            <a:pPr marL="285750" indent="-285750">
              <a:buFont typeface="Arial" panose="020B0604020202020204" pitchFamily="34" charset="0"/>
              <a:buChar char="•"/>
            </a:pPr>
            <a:r>
              <a:rPr lang="zh-TW" altLang="en-US" sz="2800" dirty="0" smtClean="0">
                <a:latin typeface="標楷體" panose="03000509000000000000" pitchFamily="65" charset="-120"/>
                <a:ea typeface="標楷體" panose="03000509000000000000" pitchFamily="65" charset="-120"/>
              </a:rPr>
              <a:t>算法與到期前最佳轉換比例相同</a:t>
            </a:r>
            <a:endParaRPr lang="en-US" altLang="zh-TW" sz="2800" dirty="0" smtClean="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zh-TW" altLang="en-US" sz="2800" dirty="0" smtClean="0">
                <a:latin typeface="標楷體" panose="03000509000000000000" pitchFamily="65" charset="-120"/>
                <a:ea typeface="標楷體" panose="03000509000000000000" pitchFamily="65" charset="-120"/>
              </a:rPr>
              <a:t>不須考慮前一期累積已轉換比例</a:t>
            </a:r>
            <a:endParaRPr lang="en-US" altLang="zh-TW" sz="2800" dirty="0" smtClean="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126417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多重均衡點</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931013" cy="4351338"/>
              </a:xfrm>
            </p:spPr>
            <p:txBody>
              <a:bodyPr>
                <a:norm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到期前節點時可能會面臨一張報酬</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矩陣</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存在</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多</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個</a:t>
                </a:r>
                <a:r>
                  <a:rPr lang="en-US" altLang="zh-TW" dirty="0">
                    <a:latin typeface="Times New Roman" panose="02020603050405020304" pitchFamily="18" charset="0"/>
                  </a:rPr>
                  <a:t>ε</a:t>
                </a:r>
                <a:r>
                  <a:rPr lang="en-US" altLang="zh-TW" dirty="0">
                    <a:latin typeface="Times New Roman" panose="02020603050405020304" pitchFamily="18" charset="0"/>
                    <a:ea typeface="標楷體" panose="03000509000000000000" pitchFamily="65" charset="-120"/>
                  </a:rPr>
                  <a:t>- Nash </a:t>
                </a:r>
                <a:r>
                  <a:rPr lang="en-US" altLang="zh-TW" dirty="0" smtClean="0">
                    <a:latin typeface="Times New Roman" panose="02020603050405020304" pitchFamily="18" charset="0"/>
                    <a:ea typeface="標楷體" panose="03000509000000000000" pitchFamily="65" charset="-120"/>
                  </a:rPr>
                  <a:t>Equilibrium</a:t>
                </a:r>
              </a:p>
              <a:p>
                <a:pPr lvl="1">
                  <a:buFont typeface="Wingdings" panose="05000000000000000000" pitchFamily="2" charset="2"/>
                  <a:buChar char="Ø"/>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選取不同的均衡點倒推回到期日會產生不同</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的</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評</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價結果</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多重</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均衡點</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的</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共通點</a:t>
                </a:r>
                <a14:m>
                  <m:oMath xmlns:m="http://schemas.openxmlformats.org/officeDocument/2006/math">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m:t>
                    </m:r>
                  </m:oMath>
                </a14:m>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當</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期累積總轉換</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比例相等</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lvl="1">
                  <a:buFont typeface="Wingdings" panose="05000000000000000000" pitchFamily="2" charset="2"/>
                  <a:buChar char="Ø"/>
                </a:pPr>
                <a:r>
                  <a:rPr lang="en-US" altLang="zh-TW" dirty="0">
                    <a:latin typeface="Times New Roman" panose="02020603050405020304" pitchFamily="18" charset="0"/>
                    <a:ea typeface="標楷體" panose="03000509000000000000" pitchFamily="65" charset="-120"/>
                  </a:rPr>
                  <a:t>CB</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整體價值會</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相同</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lvl="1">
                  <a:buFont typeface="Wingdings" panose="05000000000000000000" pitchFamily="2" charset="2"/>
                  <a:buChar char="Ø"/>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債權人的策略</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增加，</a:t>
                </a:r>
                <a:r>
                  <a:rPr lang="en-US" altLang="zh-TW" dirty="0" smtClean="0">
                    <a:latin typeface="Times New Roman" panose="02020603050405020304" pitchFamily="18" charset="0"/>
                  </a:rPr>
                  <a:t>ε</a:t>
                </a:r>
                <a:r>
                  <a:rPr lang="en-US" altLang="zh-TW" dirty="0" smtClean="0">
                    <a:latin typeface="Times New Roman" panose="02020603050405020304" pitchFamily="18" charset="0"/>
                    <a:ea typeface="標楷體" panose="03000509000000000000" pitchFamily="65" charset="-120"/>
                  </a:rPr>
                  <a:t>- </a:t>
                </a:r>
                <a:r>
                  <a:rPr lang="en-US" altLang="zh-TW" dirty="0">
                    <a:latin typeface="Times New Roman" panose="02020603050405020304" pitchFamily="18" charset="0"/>
                    <a:ea typeface="標楷體" panose="03000509000000000000" pitchFamily="65" charset="-120"/>
                  </a:rPr>
                  <a:t>Nash </a:t>
                </a:r>
                <a:r>
                  <a:rPr lang="en-US" altLang="zh-TW" dirty="0" smtClean="0">
                    <a:latin typeface="Times New Roman" panose="02020603050405020304" pitchFamily="18" charset="0"/>
                    <a:ea typeface="標楷體" panose="03000509000000000000" pitchFamily="65" charset="-120"/>
                  </a:rPr>
                  <a:t>Equilibrium</a:t>
                </a:r>
                <a:r>
                  <a:rPr lang="zh-TW" altLang="en-US" dirty="0" smtClean="0">
                    <a:latin typeface="Times New Roman" panose="02020603050405020304" pitchFamily="18" charset="0"/>
                    <a:ea typeface="標楷體" panose="03000509000000000000" pitchFamily="65" charset="-120"/>
                  </a:rPr>
                  <a:t>也會跟著增加</a:t>
                </a:r>
                <a:endParaRPr lang="en-US" altLang="zh-TW" dirty="0" smtClean="0">
                  <a:latin typeface="Times New Roman" panose="02020603050405020304" pitchFamily="18" charset="0"/>
                  <a:ea typeface="標楷體" panose="03000509000000000000" pitchFamily="65" charset="-120"/>
                </a:endParaRPr>
              </a:p>
              <a:p>
                <a:pPr lvl="1">
                  <a:buFont typeface="Wingdings" panose="05000000000000000000" pitchFamily="2" charset="2"/>
                  <a:buChar char="Ø"/>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持有人互動的轉換</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行為影響</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整體</a:t>
                </a:r>
                <a:r>
                  <a:rPr lang="en-US" altLang="zh-TW" dirty="0">
                    <a:latin typeface="Times New Roman" panose="02020603050405020304" pitchFamily="18" charset="0"/>
                    <a:ea typeface="標楷體" panose="03000509000000000000" pitchFamily="65" charset="-120"/>
                  </a:rPr>
                  <a:t>CB</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價值分配</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dirty="0" smtClean="0">
                    <a:latin typeface="標楷體" panose="03000509000000000000" pitchFamily="65" charset="-120"/>
                    <a:ea typeface="標楷體" panose="03000509000000000000" pitchFamily="65" charset="-120"/>
                  </a:rPr>
                  <a:t>捨棄單一評價</a:t>
                </a:r>
                <a14:m>
                  <m:oMath xmlns:m="http://schemas.openxmlformats.org/officeDocument/2006/math">
                    <m:r>
                      <a:rPr lang="zh-TW" altLang="en-US" i="1" smtClean="0">
                        <a:latin typeface="Cambria Math" panose="02040503050406030204" pitchFamily="18" charset="0"/>
                      </a:rPr>
                      <m:t>→</m:t>
                    </m:r>
                  </m:oMath>
                </a14:m>
                <a:r>
                  <a:rPr lang="zh-TW" altLang="en-US" dirty="0" smtClean="0">
                    <a:latin typeface="標楷體" panose="03000509000000000000" pitchFamily="65" charset="-120"/>
                    <a:ea typeface="標楷體" panose="03000509000000000000" pitchFamily="65" charset="-120"/>
                  </a:rPr>
                  <a:t>尋找價格區間</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運用</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次倒推法</a:t>
                </a:r>
                <a:r>
                  <a:rPr lang="en-US" altLang="zh-TW" dirty="0" smtClean="0">
                    <a:latin typeface="標楷體" panose="03000509000000000000" pitchFamily="65" charset="-120"/>
                    <a:ea typeface="標楷體" panose="03000509000000000000" pitchFamily="65" charset="-120"/>
                  </a:rPr>
                  <a:t>)</a:t>
                </a:r>
              </a:p>
              <a:p>
                <a:pPr marL="971550" lvl="1" indent="-514350">
                  <a:buFont typeface="+mj-lt"/>
                  <a:buAutoNum type="arabicPeriod"/>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假設</a:t>
                </a:r>
                <a:r>
                  <a:rPr lang="en-US" altLang="zh-TW" dirty="0">
                    <a:effectLst/>
                    <a:latin typeface="Times New Roman" panose="02020603050405020304" pitchFamily="18" charset="0"/>
                    <a:ea typeface="標楷體" panose="03000509000000000000" pitchFamily="65" charset="-120"/>
                  </a:rPr>
                  <a:t>CB</a:t>
                </a:r>
                <a:r>
                  <a:rPr lang="zh-TW" altLang="zh-TW"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altLang="zh-TW" dirty="0">
                    <a:effectLst/>
                    <a:latin typeface="Times New Roman" panose="02020603050405020304" pitchFamily="18" charset="0"/>
                    <a:ea typeface="標楷體" panose="03000509000000000000" pitchFamily="65" charset="-120"/>
                  </a:rPr>
                  <a:t>1</a:t>
                </a:r>
                <a:r>
                  <a:rPr lang="zh-TW" altLang="zh-TW" dirty="0">
                    <a:effectLst/>
                    <a:latin typeface="Times New Roman" panose="02020603050405020304" pitchFamily="18" charset="0"/>
                    <a:ea typeface="標楷體" panose="03000509000000000000" pitchFamily="65" charset="-120"/>
                    <a:cs typeface="Times New Roman" panose="02020603050405020304" pitchFamily="18" charset="0"/>
                  </a:rPr>
                  <a:t>都能選到對於自己最佳的均衡</a:t>
                </a:r>
                <a:r>
                  <a:rPr lang="zh-TW" altLang="zh-TW" dirty="0" smtClean="0">
                    <a:effectLst/>
                    <a:latin typeface="Times New Roman" panose="02020603050405020304" pitchFamily="18" charset="0"/>
                    <a:ea typeface="標楷體" panose="03000509000000000000" pitchFamily="65" charset="-120"/>
                    <a:cs typeface="Times New Roman" panose="02020603050405020304" pitchFamily="18" charset="0"/>
                  </a:rPr>
                  <a:t>點，</a:t>
                </a:r>
                <a:r>
                  <a:rPr lang="zh-TW" altLang="zh-TW" dirty="0">
                    <a:effectLst/>
                    <a:latin typeface="Times New Roman" panose="02020603050405020304" pitchFamily="18" charset="0"/>
                    <a:ea typeface="標楷體" panose="03000509000000000000" pitchFamily="65" charset="-120"/>
                    <a:cs typeface="Times New Roman" panose="02020603050405020304" pitchFamily="18" charset="0"/>
                  </a:rPr>
                  <a:t>當我們倒推回發行日時，此可轉換公司債價格我們可以</a:t>
                </a:r>
                <a:r>
                  <a:rPr lang="zh-TW" altLang="zh-TW" dirty="0" smtClean="0">
                    <a:effectLst/>
                    <a:latin typeface="Times New Roman" panose="02020603050405020304" pitchFamily="18" charset="0"/>
                    <a:ea typeface="標楷體" panose="03000509000000000000" pitchFamily="65" charset="-120"/>
                    <a:cs typeface="Times New Roman" panose="02020603050405020304" pitchFamily="18" charset="0"/>
                  </a:rPr>
                  <a:t>視為</a:t>
                </a:r>
                <a:r>
                  <a:rPr lang="zh-TW" altLang="en-US" dirty="0" smtClean="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altLang="zh-TW" dirty="0" smtClean="0">
                    <a:effectLst/>
                    <a:latin typeface="Times New Roman" panose="02020603050405020304" pitchFamily="18" charset="0"/>
                    <a:ea typeface="標楷體" panose="03000509000000000000" pitchFamily="65" charset="-120"/>
                    <a:cs typeface="Times New Roman" panose="02020603050405020304" pitchFamily="18" charset="0"/>
                  </a:rPr>
                  <a:t>1</a:t>
                </a:r>
                <a:r>
                  <a:rPr lang="zh-TW" altLang="en-US" dirty="0" smtClean="0">
                    <a:effectLst/>
                    <a:latin typeface="Times New Roman" panose="02020603050405020304" pitchFamily="18" charset="0"/>
                    <a:ea typeface="標楷體" panose="03000509000000000000" pitchFamily="65" charset="-120"/>
                    <a:cs typeface="Times New Roman" panose="02020603050405020304" pitchFamily="18" charset="0"/>
                  </a:rPr>
                  <a:t>價值</a:t>
                </a:r>
                <a:r>
                  <a:rPr lang="zh-TW" altLang="zh-TW" dirty="0" smtClean="0">
                    <a:effectLst/>
                    <a:latin typeface="Times New Roman" panose="02020603050405020304" pitchFamily="18" charset="0"/>
                    <a:ea typeface="標楷體" panose="03000509000000000000" pitchFamily="65" charset="-120"/>
                    <a:cs typeface="Times New Roman" panose="02020603050405020304" pitchFamily="18" charset="0"/>
                  </a:rPr>
                  <a:t>上界</a:t>
                </a:r>
                <a:endParaRPr lang="en-US" altLang="zh-TW"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marL="971550" lvl="1" indent="-514350">
                  <a:buFont typeface="+mj-lt"/>
                  <a:buAutoNum type="arabicPeriod"/>
                </a:pPr>
                <a:r>
                  <a:rPr lang="zh-TW" altLang="en-US" dirty="0" smtClean="0">
                    <a:latin typeface="Times New Roman" panose="02020603050405020304" pitchFamily="18" charset="0"/>
                    <a:ea typeface="標楷體" panose="03000509000000000000" pitchFamily="65" charset="-120"/>
                  </a:rPr>
                  <a:t>假設</a:t>
                </a:r>
                <a:r>
                  <a:rPr lang="en-US" altLang="zh-TW" dirty="0" smtClean="0">
                    <a:latin typeface="Times New Roman" panose="02020603050405020304" pitchFamily="18" charset="0"/>
                    <a:ea typeface="標楷體" panose="03000509000000000000" pitchFamily="65" charset="-120"/>
                  </a:rPr>
                  <a:t>CB</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持有者</a:t>
                </a:r>
                <a:r>
                  <a:rPr lang="en-US" altLang="zh-TW" dirty="0">
                    <a:latin typeface="Times New Roman" panose="02020603050405020304" pitchFamily="18" charset="0"/>
                    <a:ea typeface="標楷體" panose="03000509000000000000" pitchFamily="65" charset="-120"/>
                  </a:rPr>
                  <a:t>1</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每次</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只能</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挑</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到讓自己報酬最差的均衡</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點</a:t>
                </a:r>
                <a14:m>
                  <m:oMath xmlns:m="http://schemas.openxmlformats.org/officeDocument/2006/math">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i="1">
                        <a:latin typeface="Cambria Math" panose="02040503050406030204" pitchFamily="18" charset="0"/>
                        <a:ea typeface="標楷體" panose="03000509000000000000" pitchFamily="65" charset="-120"/>
                        <a:cs typeface="Times New Roman" panose="02020603050405020304" pitchFamily="18" charset="0"/>
                      </a:rPr>
                      <m:t>價值</m:t>
                    </m:r>
                  </m:oMath>
                </a14:m>
                <a:r>
                  <a:rPr lang="zh-TW" altLang="en-US" dirty="0" smtClean="0">
                    <a:latin typeface="標楷體" panose="03000509000000000000" pitchFamily="65" charset="-120"/>
                    <a:ea typeface="標楷體" panose="03000509000000000000" pitchFamily="65" charset="-120"/>
                  </a:rPr>
                  <a:t>下界</a:t>
                </a:r>
                <a:endParaRPr lang="en-US" altLang="zh-TW" dirty="0" smtClean="0">
                  <a:latin typeface="標楷體" panose="03000509000000000000" pitchFamily="65" charset="-120"/>
                  <a:ea typeface="標楷體" panose="03000509000000000000" pitchFamily="65" charset="-120"/>
                </a:endParaRPr>
              </a:p>
              <a:p>
                <a:pPr marL="971550" lvl="1" indent="-514350">
                  <a:buFont typeface="+mj-lt"/>
                  <a:buAutoNum type="arabicPeriod"/>
                </a:pPr>
                <a:endParaRPr lang="zh-TW" altLang="en-US" dirty="0">
                  <a:latin typeface="標楷體" panose="03000509000000000000" pitchFamily="65" charset="-120"/>
                  <a:ea typeface="標楷體" panose="03000509000000000000" pitchFamily="65"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931013" cy="4351338"/>
              </a:xfrm>
              <a:blipFill rotWithShape="0">
                <a:blip r:embed="rId2"/>
                <a:stretch>
                  <a:fillRect l="-948" t="-2381" r="-2954"/>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32</a:t>
            </a:fld>
            <a:endParaRPr lang="zh-TW" altLang="en-US"/>
          </a:p>
        </p:txBody>
      </p:sp>
    </p:spTree>
    <p:extLst>
      <p:ext uri="{BB962C8B-B14F-4D97-AF65-F5344CB8AC3E}">
        <p14:creationId xmlns:p14="http://schemas.microsoft.com/office/powerpoint/2010/main" val="18067981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多重均衡</a:t>
            </a:r>
            <a:r>
              <a:rPr lang="zh-TW" altLang="en-US" dirty="0">
                <a:latin typeface="標楷體" panose="03000509000000000000" pitchFamily="65" charset="-120"/>
                <a:ea typeface="標楷體" panose="03000509000000000000" pitchFamily="65" charset="-120"/>
              </a:rPr>
              <a:t>點</a:t>
            </a: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4121226991"/>
              </p:ext>
            </p:extLst>
          </p:nvPr>
        </p:nvGraphicFramePr>
        <p:xfrm>
          <a:off x="1121307" y="2262651"/>
          <a:ext cx="9866242" cy="3503967"/>
        </p:xfrm>
        <a:graphic>
          <a:graphicData uri="http://schemas.openxmlformats.org/drawingml/2006/table">
            <a:tbl>
              <a:tblPr firstRow="1" firstCol="1" bandRow="1"/>
              <a:tblGrid>
                <a:gridCol w="678198"/>
                <a:gridCol w="760905"/>
                <a:gridCol w="760905"/>
                <a:gridCol w="760905"/>
                <a:gridCol w="760905"/>
                <a:gridCol w="760905"/>
                <a:gridCol w="760905"/>
                <a:gridCol w="760905"/>
                <a:gridCol w="760905"/>
                <a:gridCol w="760905"/>
                <a:gridCol w="760905"/>
                <a:gridCol w="797329"/>
                <a:gridCol w="781665"/>
              </a:tblGrid>
              <a:tr h="525379">
                <a:tc>
                  <a:txBody>
                    <a:bodyPr/>
                    <a:lstStyle/>
                    <a:p>
                      <a:endParaRPr lang="zh-TW" sz="1400" dirty="0">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0%</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10%</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20%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r>
              <a:tr h="503788">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4025.40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4025.40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4163.45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3789.78</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5195.65</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4130.62</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5195.15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3758.04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5194.84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3452.46</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5194.84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3197.02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2753">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10%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3789.78</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4163.45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4663.13</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4663.13</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4716.12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4237.08</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4759.18</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3887.97</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4794.89</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3596.02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4825.22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3348.05</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2753">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20%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4130.62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5195.65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4237.08</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4716.12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4323.58</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4323.58</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4395.27</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3995.64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4455.67</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3717.00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4507.36</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3476.95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2753">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3758.04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5195.15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3887.97</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4759.18</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3995.64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4395.27</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4086.34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4086.34</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4163.79</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3820.30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4230.40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3587.83</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2753">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3452.46</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5194.84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3596.02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4794.89</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3717.00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4455.67</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3820.30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4163.79</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3909.12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3909.12</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3986.19</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3684.17</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3788">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3197.02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5194.84</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3348.05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4825.22</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3476.95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4507.36</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3587.83</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4230.40</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3684.17</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3986.19</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3768.95</a:t>
                      </a:r>
                      <a:endParaRPr lang="zh-TW" sz="14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4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3768.95</a:t>
                      </a:r>
                      <a:endParaRPr lang="zh-TW" sz="14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33</a:t>
            </a:fld>
            <a:endParaRPr lang="zh-TW" altLang="en-US" dirty="0"/>
          </a:p>
        </p:txBody>
      </p:sp>
    </p:spTree>
    <p:extLst>
      <p:ext uri="{BB962C8B-B14F-4D97-AF65-F5344CB8AC3E}">
        <p14:creationId xmlns:p14="http://schemas.microsoft.com/office/powerpoint/2010/main" val="16539597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證明</a:t>
            </a:r>
            <a:r>
              <a:rPr lang="en-US" altLang="zh-TW" dirty="0">
                <a:solidFill>
                  <a:prstClr val="black"/>
                </a:solidFill>
                <a:latin typeface="Times New Roman" panose="02020603050405020304" pitchFamily="18" charset="0"/>
                <a:cs typeface="Times New Roman" panose="02020603050405020304" pitchFamily="18" charset="0"/>
              </a:rPr>
              <a:t>ε</a:t>
            </a:r>
            <a:r>
              <a:rPr lang="en-US" altLang="zh-TW"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 Nash Equilibrium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zh-TW" altLang="zh-TW" sz="2400" dirty="0">
                    <a:latin typeface="Times New Roman" panose="02020603050405020304" pitchFamily="18" charset="0"/>
                    <a:ea typeface="標楷體" panose="03000509000000000000" pitchFamily="65" charset="-120"/>
                  </a:rPr>
                  <a:t>我們定義</a:t>
                </a:r>
                <a:r>
                  <a:rPr lang="en-US" altLang="zh-TW" sz="2400" dirty="0">
                    <a:latin typeface="Times New Roman" panose="02020603050405020304" pitchFamily="18" charset="0"/>
                    <a:ea typeface="標楷體" panose="03000509000000000000" pitchFamily="65" charset="-120"/>
                  </a:rPr>
                  <a:t>E</a:t>
                </a:r>
                <a:r>
                  <a:rPr lang="zh-TW" altLang="zh-TW" sz="2400" dirty="0">
                    <a:latin typeface="Times New Roman" panose="02020603050405020304" pitchFamily="18" charset="0"/>
                    <a:ea typeface="標楷體" panose="03000509000000000000" pitchFamily="65" charset="-120"/>
                  </a:rPr>
                  <a:t>代表股東權益價值、</a:t>
                </a:r>
                <a:r>
                  <a:rPr lang="en-US" altLang="zh-TW" sz="2400" dirty="0">
                    <a:latin typeface="Times New Roman" panose="02020603050405020304" pitchFamily="18" charset="0"/>
                    <a:ea typeface="標楷體" panose="03000509000000000000" pitchFamily="65" charset="-120"/>
                  </a:rPr>
                  <a:t>D</a:t>
                </a:r>
                <a:r>
                  <a:rPr lang="zh-TW" altLang="zh-TW" sz="2400" dirty="0">
                    <a:latin typeface="Times New Roman" panose="02020603050405020304" pitchFamily="18" charset="0"/>
                    <a:ea typeface="標楷體" panose="03000509000000000000" pitchFamily="65" charset="-120"/>
                  </a:rPr>
                  <a:t>代表債券價值、</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𝑉</m:t>
                        </m:r>
                      </m:e>
                      <m:sub>
                        <m:r>
                          <a:rPr lang="en-US" altLang="zh-TW" sz="2400" i="1">
                            <a:latin typeface="Cambria Math" panose="02040503050406030204" pitchFamily="18" charset="0"/>
                          </a:rPr>
                          <m:t>𝑢</m:t>
                        </m:r>
                      </m:sub>
                    </m:sSub>
                  </m:oMath>
                </a14:m>
                <a:r>
                  <a:rPr lang="zh-TW" altLang="zh-TW" sz="2400" dirty="0">
                    <a:latin typeface="Times New Roman" panose="02020603050405020304" pitchFamily="18" charset="0"/>
                    <a:ea typeface="標楷體" panose="03000509000000000000" pitchFamily="65" charset="-120"/>
                  </a:rPr>
                  <a:t>為公司資產價值、</a:t>
                </a:r>
                <a:r>
                  <a:rPr lang="en-US" altLang="zh-TW" sz="2400" dirty="0">
                    <a:latin typeface="Times New Roman" panose="02020603050405020304" pitchFamily="18" charset="0"/>
                    <a:ea typeface="標楷體" panose="03000509000000000000" pitchFamily="65" charset="-120"/>
                  </a:rPr>
                  <a:t>TB</a:t>
                </a:r>
                <a:r>
                  <a:rPr lang="zh-TW" altLang="zh-TW" sz="2400" dirty="0">
                    <a:latin typeface="Times New Roman" panose="02020603050405020304" pitchFamily="18" charset="0"/>
                    <a:ea typeface="標楷體" panose="03000509000000000000" pitchFamily="65" charset="-120"/>
                  </a:rPr>
                  <a:t>為稅盾</a:t>
                </a:r>
                <a:r>
                  <a:rPr lang="en-US" altLang="zh-TW" sz="2400" dirty="0">
                    <a:latin typeface="Times New Roman" panose="02020603050405020304" pitchFamily="18" charset="0"/>
                    <a:ea typeface="標楷體" panose="03000509000000000000" pitchFamily="65" charset="-120"/>
                  </a:rPr>
                  <a:t>(Tax Benefit)</a:t>
                </a:r>
                <a:r>
                  <a:rPr lang="zh-TW" altLang="zh-TW" sz="2400" dirty="0">
                    <a:latin typeface="Times New Roman" panose="02020603050405020304" pitchFamily="18" charset="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BC</a:t>
                </a:r>
                <a:r>
                  <a:rPr lang="zh-TW" altLang="zh-TW" sz="2400" dirty="0">
                    <a:latin typeface="Times New Roman" panose="02020603050405020304" pitchFamily="18" charset="0"/>
                    <a:ea typeface="標楷體" panose="03000509000000000000" pitchFamily="65" charset="-120"/>
                  </a:rPr>
                  <a:t>則代表破產成本</a:t>
                </a:r>
                <a:r>
                  <a:rPr lang="en-US" altLang="zh-TW" sz="2400" dirty="0">
                    <a:latin typeface="Times New Roman" panose="02020603050405020304" pitchFamily="18" charset="0"/>
                    <a:ea typeface="標楷體" panose="03000509000000000000" pitchFamily="65" charset="-120"/>
                  </a:rPr>
                  <a:t>(Bankruptcy Cost</a:t>
                </a:r>
                <a:r>
                  <a:rPr lang="en-US" altLang="zh-TW" sz="2400" dirty="0" smtClean="0">
                    <a:latin typeface="Times New Roman" panose="02020603050405020304" pitchFamily="18" charset="0"/>
                    <a:ea typeface="標楷體" panose="03000509000000000000" pitchFamily="65" charset="-120"/>
                  </a:rPr>
                  <a:t>)</a:t>
                </a:r>
              </a:p>
              <a:p>
                <a:endParaRPr lang="en-US" altLang="zh-TW" sz="2400" dirty="0" smtClean="0">
                  <a:latin typeface="Times New Roman" panose="02020603050405020304" pitchFamily="18" charset="0"/>
                  <a:ea typeface="標楷體" panose="03000509000000000000" pitchFamily="65" charset="-120"/>
                </a:endParaRPr>
              </a:p>
              <a:p>
                <a:pPr marL="0" indent="0">
                  <a:buNone/>
                </a:pPr>
                <a:endParaRPr lang="en-US" altLang="zh-TW" sz="2400" dirty="0" smtClean="0">
                  <a:latin typeface="Times New Roman" panose="02020603050405020304" pitchFamily="18" charset="0"/>
                  <a:ea typeface="標楷體" panose="03000509000000000000" pitchFamily="65" charset="-120"/>
                </a:endParaRPr>
              </a:p>
              <a:p>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為了</a:t>
                </a:r>
                <a:r>
                  <a:rPr lang="zh-TW" altLang="zh-TW" sz="2400" dirty="0" smtClean="0">
                    <a:latin typeface="Times New Roman" panose="02020603050405020304" pitchFamily="18" charset="0"/>
                    <a:ea typeface="標楷體" panose="03000509000000000000" pitchFamily="65" charset="-120"/>
                    <a:cs typeface="Times New Roman" panose="02020603050405020304" pitchFamily="18" charset="0"/>
                  </a:rPr>
                  <a:t>求</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當</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期</a:t>
                </a:r>
                <a:r>
                  <a:rPr lang="zh-TW" altLang="zh-TW" sz="2400" dirty="0" smtClean="0">
                    <a:latin typeface="Times New Roman" panose="02020603050405020304" pitchFamily="18" charset="0"/>
                    <a:ea typeface="標楷體" panose="03000509000000000000" pitchFamily="65" charset="-120"/>
                    <a:cs typeface="Times New Roman" panose="02020603050405020304" pitchFamily="18" charset="0"/>
                  </a:rPr>
                  <a:t>股價</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上界</a:t>
                </a:r>
                <a:r>
                  <a:rPr lang="zh-TW" altLang="zh-TW" sz="24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我們求</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E</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的極大</a:t>
                </a:r>
                <a:r>
                  <a:rPr lang="zh-TW" altLang="zh-TW" sz="2400" dirty="0" smtClean="0">
                    <a:latin typeface="Times New Roman" panose="02020603050405020304" pitchFamily="18" charset="0"/>
                    <a:ea typeface="標楷體" panose="03000509000000000000" pitchFamily="65" charset="-120"/>
                    <a:cs typeface="Times New Roman" panose="02020603050405020304" pitchFamily="18" charset="0"/>
                  </a:rPr>
                  <a:t>值</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zh-TW" altLang="zh-TW" dirty="0">
                  <a:latin typeface="Times New Roman" panose="02020603050405020304" pitchFamily="18" charset="0"/>
                  <a:ea typeface="標楷體" panose="03000509000000000000" pitchFamily="65" charset="-120"/>
                </a:endParaRP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3"/>
                <a:stretch>
                  <a:fillRect l="-812" t="-196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34</a:t>
            </a:fld>
            <a:endParaRPr lang="zh-TW" altLang="en-US"/>
          </a:p>
        </p:txBody>
      </p:sp>
      <p:graphicFrame>
        <p:nvGraphicFramePr>
          <p:cNvPr id="13" name="物件 12"/>
          <p:cNvGraphicFramePr>
            <a:graphicFrameLocks noChangeAspect="1"/>
          </p:cNvGraphicFramePr>
          <p:nvPr>
            <p:extLst>
              <p:ext uri="{D42A27DB-BD31-4B8C-83A1-F6EECF244321}">
                <p14:modId xmlns:p14="http://schemas.microsoft.com/office/powerpoint/2010/main" val="2674484548"/>
              </p:ext>
            </p:extLst>
          </p:nvPr>
        </p:nvGraphicFramePr>
        <p:xfrm>
          <a:off x="1874633" y="2684463"/>
          <a:ext cx="6526212" cy="663575"/>
        </p:xfrm>
        <a:graphic>
          <a:graphicData uri="http://schemas.openxmlformats.org/presentationml/2006/ole">
            <mc:AlternateContent xmlns:mc="http://schemas.openxmlformats.org/markup-compatibility/2006">
              <mc:Choice xmlns:v="urn:schemas-microsoft-com:vml" Requires="v">
                <p:oleObj spid="_x0000_s28797" name="方程式" r:id="rId4" imgW="4495680" imgH="457200" progId="Equation.3">
                  <p:embed/>
                </p:oleObj>
              </mc:Choice>
              <mc:Fallback>
                <p:oleObj name="方程式" r:id="rId4" imgW="4495680" imgH="457200" progId="Equation.3">
                  <p:embed/>
                  <p:pic>
                    <p:nvPicPr>
                      <p:cNvPr id="0" name=""/>
                      <p:cNvPicPr>
                        <a:picLocks noChangeAspect="1" noChangeArrowheads="1"/>
                      </p:cNvPicPr>
                      <p:nvPr/>
                    </p:nvPicPr>
                    <p:blipFill>
                      <a:blip r:embed="rId5"/>
                      <a:srcRect/>
                      <a:stretch>
                        <a:fillRect/>
                      </a:stretch>
                    </p:blipFill>
                    <p:spPr bwMode="auto">
                      <a:xfrm>
                        <a:off x="1874633" y="2684463"/>
                        <a:ext cx="6526212" cy="663575"/>
                      </a:xfrm>
                      <a:prstGeom prst="rect">
                        <a:avLst/>
                      </a:prstGeom>
                      <a:noFill/>
                    </p:spPr>
                  </p:pic>
                </p:oleObj>
              </mc:Fallback>
            </mc:AlternateContent>
          </a:graphicData>
        </a:graphic>
      </p:graphicFrame>
      <p:graphicFrame>
        <p:nvGraphicFramePr>
          <p:cNvPr id="14" name="物件 13"/>
          <p:cNvGraphicFramePr>
            <a:graphicFrameLocks noChangeAspect="1"/>
          </p:cNvGraphicFramePr>
          <p:nvPr>
            <p:extLst>
              <p:ext uri="{D42A27DB-BD31-4B8C-83A1-F6EECF244321}">
                <p14:modId xmlns:p14="http://schemas.microsoft.com/office/powerpoint/2010/main" val="1938464409"/>
              </p:ext>
            </p:extLst>
          </p:nvPr>
        </p:nvGraphicFramePr>
        <p:xfrm>
          <a:off x="6855388" y="3556001"/>
          <a:ext cx="4040187" cy="425450"/>
        </p:xfrm>
        <a:graphic>
          <a:graphicData uri="http://schemas.openxmlformats.org/presentationml/2006/ole">
            <mc:AlternateContent xmlns:mc="http://schemas.openxmlformats.org/markup-compatibility/2006">
              <mc:Choice xmlns:v="urn:schemas-microsoft-com:vml" Requires="v">
                <p:oleObj spid="_x0000_s28798" name="方程式" r:id="rId6" imgW="2019240" imgH="228600" progId="Equation.3">
                  <p:embed/>
                </p:oleObj>
              </mc:Choice>
              <mc:Fallback>
                <p:oleObj name="方程式" r:id="rId6" imgW="2019240" imgH="228600" progId="Equation.3">
                  <p:embed/>
                  <p:pic>
                    <p:nvPicPr>
                      <p:cNvPr id="0" name=""/>
                      <p:cNvPicPr>
                        <a:picLocks noChangeAspect="1" noChangeArrowheads="1"/>
                      </p:cNvPicPr>
                      <p:nvPr/>
                    </p:nvPicPr>
                    <p:blipFill>
                      <a:blip r:embed="rId7"/>
                      <a:srcRect/>
                      <a:stretch>
                        <a:fillRect/>
                      </a:stretch>
                    </p:blipFill>
                    <p:spPr bwMode="auto">
                      <a:xfrm>
                        <a:off x="6855388" y="3556001"/>
                        <a:ext cx="4040187" cy="425450"/>
                      </a:xfrm>
                      <a:prstGeom prst="rect">
                        <a:avLst/>
                      </a:prstGeom>
                      <a:noFill/>
                    </p:spPr>
                  </p:pic>
                </p:oleObj>
              </mc:Fallback>
            </mc:AlternateContent>
          </a:graphicData>
        </a:graphic>
      </p:graphicFrame>
      <p:graphicFrame>
        <p:nvGraphicFramePr>
          <p:cNvPr id="11" name="物件 10"/>
          <p:cNvGraphicFramePr>
            <a:graphicFrameLocks noChangeAspect="1"/>
          </p:cNvGraphicFramePr>
          <p:nvPr>
            <p:extLst>
              <p:ext uri="{D42A27DB-BD31-4B8C-83A1-F6EECF244321}">
                <p14:modId xmlns:p14="http://schemas.microsoft.com/office/powerpoint/2010/main" val="2226360712"/>
              </p:ext>
            </p:extLst>
          </p:nvPr>
        </p:nvGraphicFramePr>
        <p:xfrm>
          <a:off x="1986065" y="3981451"/>
          <a:ext cx="7924851" cy="2552751"/>
        </p:xfrm>
        <a:graphic>
          <a:graphicData uri="http://schemas.openxmlformats.org/presentationml/2006/ole">
            <mc:AlternateContent xmlns:mc="http://schemas.openxmlformats.org/markup-compatibility/2006">
              <mc:Choice xmlns:v="urn:schemas-microsoft-com:vml" Requires="v">
                <p:oleObj spid="_x0000_s28799" name="方程式" r:id="rId8" imgW="4825800" imgH="1574640" progId="Equation.3">
                  <p:embed/>
                </p:oleObj>
              </mc:Choice>
              <mc:Fallback>
                <p:oleObj name="方程式" r:id="rId8" imgW="4825800" imgH="1574640" progId="Equation.3">
                  <p:embed/>
                  <p:pic>
                    <p:nvPicPr>
                      <p:cNvPr id="0" name=""/>
                      <p:cNvPicPr>
                        <a:picLocks noChangeAspect="1" noChangeArrowheads="1"/>
                      </p:cNvPicPr>
                      <p:nvPr/>
                    </p:nvPicPr>
                    <p:blipFill>
                      <a:blip r:embed="rId9"/>
                      <a:srcRect/>
                      <a:stretch>
                        <a:fillRect/>
                      </a:stretch>
                    </p:blipFill>
                    <p:spPr bwMode="auto">
                      <a:xfrm>
                        <a:off x="1986065" y="3981451"/>
                        <a:ext cx="7924851" cy="2552751"/>
                      </a:xfrm>
                      <a:prstGeom prst="rect">
                        <a:avLst/>
                      </a:prstGeom>
                      <a:noFill/>
                    </p:spPr>
                  </p:pic>
                </p:oleObj>
              </mc:Fallback>
            </mc:AlternateContent>
          </a:graphicData>
        </a:graphic>
      </p:graphicFrame>
    </p:spTree>
    <p:extLst>
      <p:ext uri="{BB962C8B-B14F-4D97-AF65-F5344CB8AC3E}">
        <p14:creationId xmlns:p14="http://schemas.microsoft.com/office/powerpoint/2010/main" val="39908053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證明</a:t>
            </a:r>
            <a:r>
              <a:rPr lang="en-US" altLang="zh-TW" dirty="0">
                <a:solidFill>
                  <a:prstClr val="black"/>
                </a:solidFill>
                <a:latin typeface="Times New Roman" panose="02020603050405020304" pitchFamily="18" charset="0"/>
                <a:cs typeface="Times New Roman" panose="02020603050405020304" pitchFamily="18" charset="0"/>
              </a:rPr>
              <a:t>ε</a:t>
            </a:r>
            <a:r>
              <a:rPr lang="en-US" altLang="zh-TW"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 Nash Equilibrium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412671"/>
                <a:ext cx="10515600" cy="4351338"/>
              </a:xfrm>
            </p:spPr>
            <p:txBody>
              <a:bodyPr>
                <a:normAutofit/>
              </a:bodyPr>
              <a:lstStyle/>
              <a:p>
                <a:r>
                  <a:rPr lang="zh-TW" altLang="zh-TW" sz="2400" dirty="0" smtClean="0">
                    <a:latin typeface="標楷體" panose="03000509000000000000" pitchFamily="65" charset="-120"/>
                    <a:ea typeface="標楷體" panose="03000509000000000000" pitchFamily="65" charset="-120"/>
                  </a:rPr>
                  <a:t>假設真正的</a:t>
                </a:r>
                <a:r>
                  <a:rPr lang="en-US" altLang="zh-TW" sz="2400" dirty="0">
                    <a:latin typeface="Times New Roman" panose="02020603050405020304" pitchFamily="18" charset="0"/>
                    <a:cs typeface="Times New Roman" panose="02020603050405020304" pitchFamily="18" charset="0"/>
                  </a:rPr>
                  <a:t>Nash Equilibrium</a:t>
                </a:r>
                <a:r>
                  <a:rPr lang="zh-TW" altLang="zh-TW" sz="2400" dirty="0"/>
                  <a:t>為</a:t>
                </a:r>
                <a14:m>
                  <m:oMath xmlns:m="http://schemas.openxmlformats.org/officeDocument/2006/math">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𝛼</m:t>
                        </m:r>
                      </m:e>
                      <m:sub>
                        <m:r>
                          <a:rPr lang="en-US" altLang="zh-TW" sz="2400" i="1">
                            <a:latin typeface="Cambria Math" panose="02040503050406030204" pitchFamily="18" charset="0"/>
                          </a:rPr>
                          <m:t>𝑖</m:t>
                        </m:r>
                      </m:sub>
                    </m:sSub>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𝛿</m:t>
                        </m:r>
                      </m:e>
                      <m:sub>
                        <m:r>
                          <a:rPr lang="en-US" altLang="zh-TW" sz="2400" i="1">
                            <a:latin typeface="Cambria Math" panose="02040503050406030204" pitchFamily="18" charset="0"/>
                          </a:rPr>
                          <m:t>1,</m:t>
                        </m:r>
                      </m:sub>
                    </m:sSub>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𝛽</m:t>
                        </m:r>
                      </m:e>
                      <m:sub>
                        <m:r>
                          <a:rPr lang="en-US" altLang="zh-TW" sz="2400" i="1">
                            <a:latin typeface="Cambria Math" panose="02040503050406030204" pitchFamily="18" charset="0"/>
                          </a:rPr>
                          <m:t>𝑖</m:t>
                        </m:r>
                      </m:sub>
                    </m:sSub>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𝛿</m:t>
                        </m:r>
                      </m:e>
                      <m:sub>
                        <m:r>
                          <a:rPr lang="en-US" altLang="zh-TW" sz="2400" i="1">
                            <a:latin typeface="Cambria Math" panose="02040503050406030204" pitchFamily="18" charset="0"/>
                          </a:rPr>
                          <m:t>2</m:t>
                        </m:r>
                      </m:sub>
                    </m:sSub>
                    <m:r>
                      <a:rPr lang="en-US" altLang="zh-TW" sz="2400">
                        <a:latin typeface="Cambria Math" panose="02040503050406030204" pitchFamily="18" charset="0"/>
                      </a:rPr>
                      <m:t>)</m:t>
                    </m:r>
                  </m:oMath>
                </a14:m>
                <a:r>
                  <a:rPr lang="zh-TW" altLang="zh-TW" sz="2400" dirty="0">
                    <a:latin typeface="標楷體" panose="03000509000000000000" pitchFamily="65" charset="-120"/>
                    <a:ea typeface="標楷體" panose="03000509000000000000" pitchFamily="65" charset="-120"/>
                  </a:rPr>
                  <a:t>而我們用</a:t>
                </a:r>
                <a:r>
                  <a:rPr lang="en-US" altLang="zh-TW" sz="2400" dirty="0">
                    <a:latin typeface="Times New Roman" panose="02020603050405020304" pitchFamily="18" charset="0"/>
                    <a:cs typeface="Times New Roman" panose="02020603050405020304" pitchFamily="18" charset="0"/>
                  </a:rPr>
                  <a:t>payoff matrix</a:t>
                </a:r>
                <a:r>
                  <a:rPr lang="zh-TW" altLang="zh-TW" sz="2400" dirty="0">
                    <a:latin typeface="標楷體" panose="03000509000000000000" pitchFamily="65" charset="-120"/>
                    <a:ea typeface="標楷體" panose="03000509000000000000" pitchFamily="65" charset="-120"/>
                  </a:rPr>
                  <a:t>找到的</a:t>
                </a:r>
                <a:r>
                  <a:rPr lang="zh-TW" altLang="zh-TW" sz="2400" dirty="0">
                    <a:latin typeface="Times New Roman" panose="02020603050405020304" pitchFamily="18" charset="0"/>
                    <a:cs typeface="Times New Roman" panose="02020603050405020304" pitchFamily="18" charset="0"/>
                  </a:rPr>
                  <a:t>ε</a:t>
                </a:r>
                <a:r>
                  <a:rPr lang="en-US" altLang="zh-TW" sz="2400" dirty="0">
                    <a:latin typeface="Times New Roman" panose="02020603050405020304" pitchFamily="18" charset="0"/>
                    <a:cs typeface="Times New Roman" panose="02020603050405020304" pitchFamily="18" charset="0"/>
                  </a:rPr>
                  <a:t>-Nash </a:t>
                </a:r>
                <a:r>
                  <a:rPr lang="en-US" altLang="zh-TW" sz="2400" dirty="0" smtClean="0">
                    <a:latin typeface="Times New Roman" panose="02020603050405020304" pitchFamily="18" charset="0"/>
                    <a:cs typeface="Times New Roman" panose="02020603050405020304" pitchFamily="18" charset="0"/>
                  </a:rPr>
                  <a:t>equilibrium</a:t>
                </a:r>
                <a:r>
                  <a:rPr lang="zh-TW" altLang="zh-TW" sz="2400" dirty="0"/>
                  <a:t>為</a:t>
                </a:r>
                <a14:m>
                  <m:oMath xmlns:m="http://schemas.openxmlformats.org/officeDocument/2006/math">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𝛼</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𝛽</m:t>
                        </m:r>
                      </m:e>
                      <m:sub>
                        <m:r>
                          <a:rPr lang="en-US" altLang="zh-TW" sz="2400" i="1">
                            <a:latin typeface="Cambria Math" panose="02040503050406030204" pitchFamily="18" charset="0"/>
                          </a:rPr>
                          <m:t>𝑖</m:t>
                        </m:r>
                      </m:sub>
                    </m:sSub>
                    <m:r>
                      <a:rPr lang="en-US" altLang="zh-TW" sz="2400">
                        <a:latin typeface="Cambria Math" panose="02040503050406030204" pitchFamily="18" charset="0"/>
                      </a:rPr>
                      <m:t>)</m:t>
                    </m:r>
                  </m:oMath>
                </a14:m>
                <a:r>
                  <a:rPr lang="zh-TW" altLang="en-US" sz="2400" dirty="0" smtClean="0"/>
                  <a:t>，</a:t>
                </a:r>
                <a14:m>
                  <m:oMath xmlns:m="http://schemas.openxmlformats.org/officeDocument/2006/math">
                    <m:sSub>
                      <m:sSubPr>
                        <m:ctrlPr>
                          <a:rPr lang="en-US" altLang="zh-TW" sz="2400" i="1" dirty="0" smtClean="0">
                            <a:latin typeface="Cambria Math" panose="02040503050406030204" pitchFamily="18" charset="0"/>
                          </a:rPr>
                        </m:ctrlPr>
                      </m:sSubPr>
                      <m:e>
                        <m:r>
                          <a:rPr lang="zh-TW" altLang="en-US" sz="2400" i="1" dirty="0" smtClean="0">
                            <a:latin typeface="Cambria Math" panose="02040503050406030204" pitchFamily="18" charset="0"/>
                          </a:rPr>
                          <m:t>𝛿</m:t>
                        </m:r>
                      </m:e>
                      <m:sub>
                        <m:r>
                          <a:rPr lang="en-US" altLang="zh-TW" sz="2400" b="0" i="1" dirty="0" smtClean="0">
                            <a:latin typeface="Cambria Math" panose="02040503050406030204" pitchFamily="18" charset="0"/>
                          </a:rPr>
                          <m:t>1</m:t>
                        </m:r>
                      </m:sub>
                    </m:sSub>
                    <m:r>
                      <a:rPr lang="en-US" altLang="zh-TW" sz="2400" b="0" i="1" dirty="0" smtClean="0">
                        <a:latin typeface="Cambria Math" panose="02040503050406030204" pitchFamily="18" charset="0"/>
                      </a:rPr>
                      <m:t>+</m:t>
                    </m:r>
                    <m:sSub>
                      <m:sSubPr>
                        <m:ctrlPr>
                          <a:rPr lang="en-US" altLang="zh-TW" sz="2400" b="0" i="1" dirty="0" smtClean="0">
                            <a:latin typeface="Cambria Math" panose="02040503050406030204" pitchFamily="18" charset="0"/>
                          </a:rPr>
                        </m:ctrlPr>
                      </m:sSubPr>
                      <m:e>
                        <m:r>
                          <a:rPr lang="zh-TW" altLang="en-US" sz="2400" b="0" i="1" dirty="0" smtClean="0">
                            <a:latin typeface="Cambria Math" panose="02040503050406030204" pitchFamily="18" charset="0"/>
                          </a:rPr>
                          <m:t>𝛿</m:t>
                        </m:r>
                      </m:e>
                      <m:sub>
                        <m:r>
                          <a:rPr lang="en-US" altLang="zh-TW" sz="2400" b="0" i="1" dirty="0" smtClean="0">
                            <a:latin typeface="Cambria Math" panose="02040503050406030204" pitchFamily="18" charset="0"/>
                          </a:rPr>
                          <m:t>2</m:t>
                        </m:r>
                      </m:sub>
                    </m:sSub>
                    <m:r>
                      <a:rPr lang="en-US" altLang="zh-TW" sz="2400" b="0" i="1" dirty="0" smtClean="0">
                        <a:latin typeface="Cambria Math" panose="02040503050406030204" pitchFamily="18" charset="0"/>
                      </a:rPr>
                      <m:t>=</m:t>
                    </m:r>
                    <m:r>
                      <a:rPr lang="zh-TW" altLang="en-US" sz="2400" b="0" i="1" dirty="0" smtClean="0">
                        <a:latin typeface="Cambria Math" panose="02040503050406030204" pitchFamily="18" charset="0"/>
                      </a:rPr>
                      <m:t>𝛿</m:t>
                    </m:r>
                  </m:oMath>
                </a14:m>
                <a:endParaRPr lang="zh-TW" altLang="en-US"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412671"/>
                <a:ext cx="10515600" cy="4351338"/>
              </a:xfrm>
              <a:blipFill rotWithShape="0">
                <a:blip r:embed="rId3"/>
                <a:stretch>
                  <a:fillRect l="-812" t="-196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35</a:t>
            </a:fld>
            <a:endParaRPr lang="zh-TW" altLang="en-US"/>
          </a:p>
        </p:txBody>
      </p:sp>
      <p:graphicFrame>
        <p:nvGraphicFramePr>
          <p:cNvPr id="6" name="物件 5"/>
          <p:cNvGraphicFramePr>
            <a:graphicFrameLocks noChangeAspect="1"/>
          </p:cNvGraphicFramePr>
          <p:nvPr>
            <p:extLst>
              <p:ext uri="{D42A27DB-BD31-4B8C-83A1-F6EECF244321}">
                <p14:modId xmlns:p14="http://schemas.microsoft.com/office/powerpoint/2010/main" val="2201386079"/>
              </p:ext>
            </p:extLst>
          </p:nvPr>
        </p:nvGraphicFramePr>
        <p:xfrm>
          <a:off x="1593850" y="2330450"/>
          <a:ext cx="8464550" cy="4025900"/>
        </p:xfrm>
        <a:graphic>
          <a:graphicData uri="http://schemas.openxmlformats.org/presentationml/2006/ole">
            <mc:AlternateContent xmlns:mc="http://schemas.openxmlformats.org/markup-compatibility/2006">
              <mc:Choice xmlns:v="urn:schemas-microsoft-com:vml" Requires="v">
                <p:oleObj spid="_x0000_s30760" name="方程式" r:id="rId4" imgW="4228920" imgH="2006280" progId="Equation.3">
                  <p:embed/>
                </p:oleObj>
              </mc:Choice>
              <mc:Fallback>
                <p:oleObj name="方程式" r:id="rId4" imgW="4228920" imgH="2006280" progId="Equation.3">
                  <p:embed/>
                  <p:pic>
                    <p:nvPicPr>
                      <p:cNvPr id="0" name=""/>
                      <p:cNvPicPr>
                        <a:picLocks noChangeAspect="1" noChangeArrowheads="1"/>
                      </p:cNvPicPr>
                      <p:nvPr/>
                    </p:nvPicPr>
                    <p:blipFill>
                      <a:blip r:embed="rId5"/>
                      <a:srcRect/>
                      <a:stretch>
                        <a:fillRect/>
                      </a:stretch>
                    </p:blipFill>
                    <p:spPr bwMode="auto">
                      <a:xfrm>
                        <a:off x="1593850" y="2330450"/>
                        <a:ext cx="8464550" cy="4025900"/>
                      </a:xfrm>
                      <a:prstGeom prst="rect">
                        <a:avLst/>
                      </a:prstGeom>
                      <a:noFill/>
                    </p:spPr>
                  </p:pic>
                </p:oleObj>
              </mc:Fallback>
            </mc:AlternateContent>
          </a:graphicData>
        </a:graphic>
      </p:graphicFrame>
    </p:spTree>
    <p:extLst>
      <p:ext uri="{BB962C8B-B14F-4D97-AF65-F5344CB8AC3E}">
        <p14:creationId xmlns:p14="http://schemas.microsoft.com/office/powerpoint/2010/main" val="7844102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證明</a:t>
            </a:r>
            <a:r>
              <a:rPr lang="en-US" altLang="zh-TW" dirty="0">
                <a:solidFill>
                  <a:prstClr val="black"/>
                </a:solidFill>
                <a:latin typeface="Times New Roman" panose="02020603050405020304" pitchFamily="18" charset="0"/>
                <a:cs typeface="Times New Roman" panose="02020603050405020304" pitchFamily="18" charset="0"/>
              </a:rPr>
              <a:t>ε</a:t>
            </a:r>
            <a:r>
              <a:rPr lang="en-US" altLang="zh-TW"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 Nash Equilibrium</a:t>
            </a: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36</a:t>
            </a:fld>
            <a:endParaRPr lang="zh-TW" altLang="en-US"/>
          </a:p>
        </p:txBody>
      </p:sp>
      <p:graphicFrame>
        <p:nvGraphicFramePr>
          <p:cNvPr id="5" name="物件 4"/>
          <p:cNvGraphicFramePr>
            <a:graphicFrameLocks noChangeAspect="1"/>
          </p:cNvGraphicFramePr>
          <p:nvPr>
            <p:extLst>
              <p:ext uri="{D42A27DB-BD31-4B8C-83A1-F6EECF244321}">
                <p14:modId xmlns:p14="http://schemas.microsoft.com/office/powerpoint/2010/main" val="2449258250"/>
              </p:ext>
            </p:extLst>
          </p:nvPr>
        </p:nvGraphicFramePr>
        <p:xfrm>
          <a:off x="811213" y="1271588"/>
          <a:ext cx="6073775" cy="3014662"/>
        </p:xfrm>
        <a:graphic>
          <a:graphicData uri="http://schemas.openxmlformats.org/presentationml/2006/ole">
            <mc:AlternateContent xmlns:mc="http://schemas.openxmlformats.org/markup-compatibility/2006">
              <mc:Choice xmlns:v="urn:schemas-microsoft-com:vml" Requires="v">
                <p:oleObj spid="_x0000_s32807" name="方程式" r:id="rId3" imgW="2768400" imgH="1371600" progId="Equation.3">
                  <p:embed/>
                </p:oleObj>
              </mc:Choice>
              <mc:Fallback>
                <p:oleObj name="方程式" r:id="rId3" imgW="2768400" imgH="1371600" progId="Equation.3">
                  <p:embed/>
                  <p:pic>
                    <p:nvPicPr>
                      <p:cNvPr id="0" name=""/>
                      <p:cNvPicPr>
                        <a:picLocks noChangeAspect="1" noChangeArrowheads="1"/>
                      </p:cNvPicPr>
                      <p:nvPr/>
                    </p:nvPicPr>
                    <p:blipFill>
                      <a:blip r:embed="rId4"/>
                      <a:srcRect/>
                      <a:stretch>
                        <a:fillRect/>
                      </a:stretch>
                    </p:blipFill>
                    <p:spPr bwMode="auto">
                      <a:xfrm>
                        <a:off x="811213" y="1271588"/>
                        <a:ext cx="6073775" cy="3014662"/>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3" name="文字方塊 2"/>
              <p:cNvSpPr txBox="1"/>
              <p:nvPr/>
            </p:nvSpPr>
            <p:spPr>
              <a:xfrm>
                <a:off x="838200" y="4585224"/>
                <a:ext cx="11116569" cy="400110"/>
              </a:xfrm>
              <a:prstGeom prst="rect">
                <a:avLst/>
              </a:prstGeom>
              <a:noFill/>
            </p:spPr>
            <p:txBody>
              <a:bodyPr wrap="none" rtlCol="0">
                <a:spAutoFit/>
              </a:bodyPr>
              <a:lstStyle/>
              <a:p>
                <a:r>
                  <a:rPr lang="zh-TW" altLang="zh-TW" sz="2000" dirty="0" smtClean="0">
                    <a:latin typeface="標楷體" panose="03000509000000000000" pitchFamily="65" charset="-120"/>
                    <a:ea typeface="標楷體" panose="03000509000000000000" pitchFamily="65" charset="-120"/>
                  </a:rPr>
                  <a:t>同樣地，我們用上述做法也可以證明出</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CB</a:t>
                </a:r>
                <a:r>
                  <a:rPr lang="zh-TW" altLang="zh-TW" sz="2000" dirty="0">
                    <a:latin typeface="標楷體" panose="03000509000000000000" pitchFamily="65" charset="-120"/>
                    <a:ea typeface="標楷體" panose="03000509000000000000" pitchFamily="65" charset="-120"/>
                  </a:rPr>
                  <a:t>持有者</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2</a:t>
                </a:r>
                <a:r>
                  <a:rPr lang="zh-TW" altLang="zh-TW" sz="2000" dirty="0">
                    <a:latin typeface="標楷體" panose="03000509000000000000" pitchFamily="65" charset="-120"/>
                    <a:ea typeface="標楷體" panose="03000509000000000000" pitchFamily="65" charset="-120"/>
                  </a:rPr>
                  <a:t>在</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Nash</a:t>
                </a:r>
                <a:r>
                  <a:rPr lang="zh-TW" altLang="zh-TW" sz="2000" dirty="0">
                    <a:latin typeface="標楷體" panose="03000509000000000000" pitchFamily="65" charset="-120"/>
                    <a:ea typeface="標楷體" panose="03000509000000000000" pitchFamily="65" charset="-120"/>
                  </a:rPr>
                  <a:t>均衡點與</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ε</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-Nash</a:t>
                </a:r>
                <a:r>
                  <a:rPr lang="zh-TW" altLang="zh-TW" sz="2000" dirty="0">
                    <a:latin typeface="標楷體" panose="03000509000000000000" pitchFamily="65" charset="-120"/>
                    <a:ea typeface="標楷體" panose="03000509000000000000" pitchFamily="65" charset="-120"/>
                  </a:rPr>
                  <a:t>的均衡點價值差距小於</a:t>
                </a:r>
                <a14:m>
                  <m:oMath xmlns:m="http://schemas.openxmlformats.org/officeDocument/2006/math">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𝜀</m:t>
                        </m:r>
                      </m:e>
                      <m:sub>
                        <m:r>
                          <a:rPr lang="en-US" altLang="zh-TW" sz="2000" b="0" i="1" smtClean="0">
                            <a:latin typeface="Cambria Math" panose="02040503050406030204" pitchFamily="18" charset="0"/>
                          </a:rPr>
                          <m:t>2</m:t>
                        </m:r>
                      </m:sub>
                    </m:sSub>
                  </m:oMath>
                </a14:m>
                <a:endParaRPr lang="zh-TW" altLang="en-US" sz="20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838200" y="4585224"/>
                <a:ext cx="11116569" cy="400110"/>
              </a:xfrm>
              <a:prstGeom prst="rect">
                <a:avLst/>
              </a:prstGeom>
              <a:blipFill rotWithShape="0">
                <a:blip r:embed="rId5"/>
                <a:stretch>
                  <a:fillRect l="-603" t="-7576" b="-25758"/>
                </a:stretch>
              </a:blipFill>
            </p:spPr>
            <p:txBody>
              <a:bodyPr/>
              <a:lstStyle/>
              <a:p>
                <a:r>
                  <a:rPr lang="zh-TW" altLang="en-US">
                    <a:noFill/>
                  </a:rPr>
                  <a:t> </a:t>
                </a:r>
              </a:p>
            </p:txBody>
          </p:sp>
        </mc:Fallback>
      </mc:AlternateContent>
      <p:sp>
        <p:nvSpPr>
          <p:cNvPr id="7" name="文字方塊 6"/>
          <p:cNvSpPr txBox="1"/>
          <p:nvPr/>
        </p:nvSpPr>
        <p:spPr>
          <a:xfrm>
            <a:off x="838200" y="5009121"/>
            <a:ext cx="7398179" cy="677108"/>
          </a:xfrm>
          <a:prstGeom prst="rect">
            <a:avLst/>
          </a:prstGeom>
          <a:noFill/>
        </p:spPr>
        <p:txBody>
          <a:bodyPr wrap="none" rtlCol="0">
            <a:spAutoFit/>
          </a:bodyPr>
          <a:lstStyle/>
          <a:p>
            <a:r>
              <a:rPr lang="zh-TW" altLang="zh-TW" sz="2000" dirty="0">
                <a:latin typeface="標楷體" panose="03000509000000000000" pitchFamily="65" charset="-120"/>
                <a:ea typeface="標楷體" panose="03000509000000000000" pitchFamily="65" charset="-120"/>
              </a:rPr>
              <a:t>若把轉換比例切</a:t>
            </a:r>
            <a:r>
              <a:rPr lang="zh-TW" altLang="zh-TW" sz="2000" dirty="0" smtClean="0">
                <a:latin typeface="標楷體" panose="03000509000000000000" pitchFamily="65" charset="-120"/>
                <a:ea typeface="標楷體" panose="03000509000000000000" pitchFamily="65" charset="-120"/>
              </a:rPr>
              <a:t>的越細，會使我們越接近真正的</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Nash Equilibrium</a:t>
            </a:r>
            <a:endParaRPr lang="zh-TW" altLang="zh-TW" sz="2000" dirty="0" smtClean="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9864229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ctrTitle"/>
          </p:nvPr>
        </p:nvSpPr>
        <p:spPr/>
        <p:txBody>
          <a:bodyPr/>
          <a:lstStyle/>
          <a:p>
            <a:r>
              <a:rPr lang="zh-TW" altLang="en-US" dirty="0" smtClean="0">
                <a:latin typeface="標楷體" panose="03000509000000000000" pitchFamily="65" charset="-120"/>
                <a:ea typeface="標楷體" panose="03000509000000000000" pitchFamily="65" charset="-120"/>
              </a:rPr>
              <a:t>數值結果</a:t>
            </a:r>
            <a:endParaRPr lang="zh-TW" altLang="en-US" dirty="0">
              <a:latin typeface="標楷體" panose="03000509000000000000" pitchFamily="65" charset="-120"/>
              <a:ea typeface="標楷體" panose="03000509000000000000" pitchFamily="65" charset="-120"/>
            </a:endParaRPr>
          </a:p>
        </p:txBody>
      </p:sp>
      <p:sp>
        <p:nvSpPr>
          <p:cNvPr id="6" name="副標題 5"/>
          <p:cNvSpPr>
            <a:spLocks noGrp="1"/>
          </p:cNvSpPr>
          <p:nvPr>
            <p:ph type="subTitle" idx="1"/>
          </p:nvPr>
        </p:nvSpPr>
        <p:spPr/>
        <p:txBody>
          <a:bodyPr/>
          <a:lstStyle/>
          <a:p>
            <a:r>
              <a:rPr lang="zh-TW" altLang="zh-TW" b="1" dirty="0">
                <a:latin typeface="標楷體" panose="03000509000000000000" pitchFamily="65" charset="-120"/>
                <a:ea typeface="標楷體" panose="03000509000000000000" pitchFamily="65" charset="-120"/>
              </a:rPr>
              <a:t>分析持有型態對於可轉換公司債價值的</a:t>
            </a:r>
            <a:r>
              <a:rPr lang="zh-TW" altLang="zh-TW" b="1" dirty="0" smtClean="0">
                <a:latin typeface="標楷體" panose="03000509000000000000" pitchFamily="65" charset="-120"/>
                <a:ea typeface="標楷體" panose="03000509000000000000" pitchFamily="65" charset="-120"/>
              </a:rPr>
              <a:t>影響</a:t>
            </a:r>
            <a:endParaRPr lang="en-US" altLang="zh-TW" b="1" dirty="0" smtClean="0">
              <a:latin typeface="標楷體" panose="03000509000000000000" pitchFamily="65" charset="-120"/>
              <a:ea typeface="標楷體" panose="03000509000000000000" pitchFamily="65" charset="-120"/>
            </a:endParaRPr>
          </a:p>
          <a:p>
            <a:r>
              <a:rPr lang="zh-TW" altLang="en-US" b="1" dirty="0" smtClean="0">
                <a:latin typeface="標楷體" panose="03000509000000000000" pitchFamily="65" charset="-120"/>
                <a:ea typeface="標楷體" panose="03000509000000000000" pitchFamily="65" charset="-120"/>
              </a:rPr>
              <a:t>比較靜態分</a:t>
            </a:r>
            <a:r>
              <a:rPr lang="zh-TW" altLang="en-US" b="1" dirty="0">
                <a:latin typeface="標楷體" panose="03000509000000000000" pitchFamily="65" charset="-120"/>
                <a:ea typeface="標楷體" panose="03000509000000000000" pitchFamily="65" charset="-120"/>
              </a:rPr>
              <a:t>析</a:t>
            </a:r>
            <a:endParaRPr lang="zh-TW" altLang="en-US"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37</a:t>
            </a:fld>
            <a:endParaRPr lang="zh-TW" altLang="en-US"/>
          </a:p>
        </p:txBody>
      </p:sp>
    </p:spTree>
    <p:extLst>
      <p:ext uri="{BB962C8B-B14F-4D97-AF65-F5344CB8AC3E}">
        <p14:creationId xmlns:p14="http://schemas.microsoft.com/office/powerpoint/2010/main" val="26284080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smtClean="0">
                <a:latin typeface="標楷體" panose="03000509000000000000" pitchFamily="65" charset="-120"/>
                <a:ea typeface="標楷體" panose="03000509000000000000" pitchFamily="65" charset="-120"/>
              </a:rPr>
              <a:t>持有</a:t>
            </a:r>
            <a:r>
              <a:rPr lang="zh-TW" altLang="zh-TW" dirty="0">
                <a:latin typeface="標楷體" panose="03000509000000000000" pitchFamily="65" charset="-120"/>
                <a:ea typeface="標楷體" panose="03000509000000000000" pitchFamily="65" charset="-120"/>
              </a:rPr>
              <a:t>型態對於可轉換公司債價值的</a:t>
            </a:r>
            <a:r>
              <a:rPr lang="zh-TW" altLang="zh-TW" dirty="0" smtClean="0">
                <a:latin typeface="標楷體" panose="03000509000000000000" pitchFamily="65" charset="-120"/>
                <a:ea typeface="標楷體" panose="03000509000000000000" pitchFamily="65" charset="-120"/>
              </a:rPr>
              <a:t>影響</a:t>
            </a: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38</a:t>
            </a:fld>
            <a:endParaRPr lang="zh-TW" altLang="en-US"/>
          </a:p>
        </p:txBody>
      </p:sp>
      <p:pic>
        <p:nvPicPr>
          <p:cNvPr id="5" name="內容版面配置區 4"/>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68322" y="1917973"/>
            <a:ext cx="5578323" cy="3798137"/>
          </a:xfrm>
          <a:prstGeom prst="rect">
            <a:avLst/>
          </a:prstGeom>
          <a:noFill/>
        </p:spPr>
      </p:pic>
      <mc:AlternateContent xmlns:mc="http://schemas.openxmlformats.org/markup-compatibility/2006" xmlns:a14="http://schemas.microsoft.com/office/drawing/2010/main">
        <mc:Choice Requires="a14">
          <p:sp>
            <p:nvSpPr>
              <p:cNvPr id="6" name="文字方塊 5"/>
              <p:cNvSpPr txBox="1"/>
              <p:nvPr/>
            </p:nvSpPr>
            <p:spPr>
              <a:xfrm>
                <a:off x="7079226" y="2005781"/>
                <a:ext cx="4409768" cy="3154903"/>
              </a:xfrm>
              <a:prstGeom prst="rect">
                <a:avLst/>
              </a:prstGeom>
              <a:noFill/>
            </p:spPr>
            <p:txBody>
              <a:bodyPr wrap="square" rtlCol="0">
                <a:spAutoFit/>
              </a:bodyPr>
              <a:lstStyle/>
              <a:p>
                <a:r>
                  <a:rPr lang="zh-TW" altLang="zh-TW" dirty="0">
                    <a:latin typeface="標楷體" panose="03000509000000000000" pitchFamily="65" charset="-120"/>
                    <a:ea typeface="標楷體" panose="03000509000000000000" pitchFamily="65" charset="-120"/>
                  </a:rPr>
                  <a:t>假設公司資產遵從</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0</m:t>
                        </m:r>
                      </m:sub>
                    </m:sSub>
                    <m:sSup>
                      <m:sSupPr>
                        <m:ctrlPr>
                          <a:rPr lang="zh-TW" altLang="zh-TW" i="1">
                            <a:latin typeface="Cambria Math" panose="02040503050406030204" pitchFamily="18" charset="0"/>
                          </a:rPr>
                        </m:ctrlPr>
                      </m:sSupPr>
                      <m:e>
                        <m:r>
                          <a:rPr lang="en-US" altLang="zh-TW" i="1">
                            <a:latin typeface="Cambria Math" panose="02040503050406030204" pitchFamily="18" charset="0"/>
                          </a:rPr>
                          <m:t>𝑒</m:t>
                        </m:r>
                      </m:e>
                      <m:sup>
                        <m:d>
                          <m:dPr>
                            <m:ctrlPr>
                              <a:rPr lang="zh-TW" altLang="zh-TW" i="1">
                                <a:latin typeface="Cambria Math" panose="02040503050406030204" pitchFamily="18" charset="0"/>
                              </a:rPr>
                            </m:ctrlPr>
                          </m:dPr>
                          <m:e>
                            <m:r>
                              <a:rPr lang="en-US" altLang="zh-TW" i="1">
                                <a:latin typeface="Cambria Math" panose="02040503050406030204" pitchFamily="18" charset="0"/>
                              </a:rPr>
                              <m:t>𝑟</m:t>
                            </m:r>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2</m:t>
                                </m:r>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𝜎</m:t>
                                </m:r>
                              </m:e>
                              <m:sub>
                                <m:r>
                                  <a:rPr lang="en-US" altLang="zh-TW" i="1">
                                    <a:latin typeface="Cambria Math" panose="02040503050406030204" pitchFamily="18" charset="0"/>
                                  </a:rPr>
                                  <m:t>𝑉</m:t>
                                </m:r>
                              </m:sub>
                              <m:sup>
                                <m:r>
                                  <a:rPr lang="en-US" altLang="zh-TW" i="1">
                                    <a:latin typeface="Cambria Math" panose="02040503050406030204" pitchFamily="18" charset="0"/>
                                  </a:rPr>
                                  <m:t>2</m:t>
                                </m:r>
                              </m:sup>
                            </m:sSubSup>
                          </m:e>
                        </m:d>
                        <m:r>
                          <a:rPr lang="en-US" altLang="zh-TW" i="1">
                            <a:latin typeface="Cambria Math" panose="02040503050406030204" pitchFamily="18" charset="0"/>
                          </a:rPr>
                          <m:t>𝑡</m:t>
                        </m:r>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𝜎</m:t>
                            </m:r>
                          </m:e>
                          <m:sub>
                            <m:r>
                              <a:rPr lang="en-US" altLang="zh-TW" i="1">
                                <a:latin typeface="Cambria Math" panose="02040503050406030204" pitchFamily="18" charset="0"/>
                              </a:rPr>
                              <m:t>𝑉</m:t>
                            </m:r>
                          </m:sub>
                        </m:sSub>
                        <m:sSub>
                          <m:sSubPr>
                            <m:ctrlPr>
                              <a:rPr lang="zh-TW" altLang="zh-TW" i="1">
                                <a:latin typeface="Cambria Math" panose="02040503050406030204" pitchFamily="18" charset="0"/>
                              </a:rPr>
                            </m:ctrlPr>
                          </m:sSubPr>
                          <m:e>
                            <m:r>
                              <a:rPr lang="en-US" altLang="zh-TW" i="1">
                                <a:latin typeface="Cambria Math" panose="02040503050406030204" pitchFamily="18" charset="0"/>
                              </a:rPr>
                              <m:t>𝑊</m:t>
                            </m:r>
                          </m:e>
                          <m:sub>
                            <m:r>
                              <a:rPr lang="en-US" altLang="zh-TW" i="1">
                                <a:latin typeface="Cambria Math" panose="02040503050406030204" pitchFamily="18" charset="0"/>
                              </a:rPr>
                              <m:t>𝑡</m:t>
                            </m:r>
                          </m:sub>
                        </m:sSub>
                      </m:sup>
                    </m:sSup>
                  </m:oMath>
                </a14:m>
                <a:r>
                  <a:rPr lang="zh-TW" altLang="zh-TW" dirty="0"/>
                  <a:t>，</a:t>
                </a:r>
                <a:r>
                  <a:rPr lang="zh-TW" altLang="zh-TW" dirty="0">
                    <a:latin typeface="標楷體" panose="03000509000000000000" pitchFamily="65" charset="-120"/>
                    <a:ea typeface="標楷體" panose="03000509000000000000" pitchFamily="65" charset="-120"/>
                  </a:rPr>
                  <a:t>公司初始資產為</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0</m:t>
                        </m:r>
                      </m:sub>
                    </m:sSub>
                    <m:r>
                      <a:rPr lang="en-US" altLang="zh-TW" i="1">
                        <a:latin typeface="Cambria Math" panose="02040503050406030204" pitchFamily="18" charset="0"/>
                      </a:rPr>
                      <m:t>=17475</m:t>
                    </m:r>
                  </m:oMath>
                </a14:m>
                <a:r>
                  <a:rPr lang="zh-TW" altLang="zh-TW" dirty="0"/>
                  <a:t>，</a:t>
                </a:r>
                <a:r>
                  <a:rPr lang="zh-TW" altLang="zh-TW" dirty="0">
                    <a:latin typeface="標楷體" panose="03000509000000000000" pitchFamily="65" charset="-120"/>
                    <a:ea typeface="標楷體" panose="03000509000000000000" pitchFamily="65" charset="-120"/>
                  </a:rPr>
                  <a:t>公司資產波動度為</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𝜎</m:t>
                        </m:r>
                      </m:e>
                      <m:sub>
                        <m:r>
                          <a:rPr lang="en-US" altLang="zh-TW" i="1">
                            <a:latin typeface="Cambria Math" panose="02040503050406030204" pitchFamily="18" charset="0"/>
                          </a:rPr>
                          <m:t>𝑉</m:t>
                        </m:r>
                      </m:sub>
                    </m:sSub>
                    <m:r>
                      <a:rPr lang="en-US" altLang="zh-TW">
                        <a:latin typeface="Cambria Math" panose="02040503050406030204" pitchFamily="18" charset="0"/>
                      </a:rPr>
                      <m:t>=0.33</m:t>
                    </m:r>
                  </m:oMath>
                </a14:m>
                <a:r>
                  <a:rPr lang="zh-TW" altLang="zh-TW" dirty="0"/>
                  <a:t>，</a:t>
                </a:r>
                <a:r>
                  <a:rPr lang="zh-TW" altLang="zh-TW" dirty="0">
                    <a:latin typeface="標楷體" panose="03000509000000000000" pitchFamily="65" charset="-120"/>
                    <a:ea typeface="標楷體" panose="03000509000000000000" pitchFamily="65" charset="-120"/>
                  </a:rPr>
                  <a:t>無風險利率</a:t>
                </a:r>
                <a:r>
                  <a:rPr lang="en-US" altLang="zh-TW" dirty="0">
                    <a:latin typeface="Times New Roman" panose="02020603050405020304" pitchFamily="18" charset="0"/>
                    <a:cs typeface="Times New Roman" panose="02020603050405020304" pitchFamily="18" charset="0"/>
                  </a:rPr>
                  <a:t>r=0.06</a:t>
                </a:r>
                <a:r>
                  <a:rPr lang="zh-TW" altLang="zh-TW" dirty="0"/>
                  <a:t>，</a:t>
                </a:r>
                <a:r>
                  <a:rPr lang="zh-TW" altLang="zh-TW" dirty="0">
                    <a:latin typeface="標楷體" panose="03000509000000000000" pitchFamily="65" charset="-120"/>
                    <a:ea typeface="標楷體" panose="03000509000000000000" pitchFamily="65" charset="-120"/>
                  </a:rPr>
                  <a:t>每一期的時間長度為</a:t>
                </a:r>
                <a14:m>
                  <m:oMath xmlns:m="http://schemas.openxmlformats.org/officeDocument/2006/math">
                    <m:r>
                      <m:rPr>
                        <m:sty m:val="p"/>
                      </m:rPr>
                      <a:rPr lang="en-US" altLang="zh-TW">
                        <a:latin typeface="Cambria Math" panose="02040503050406030204" pitchFamily="18" charset="0"/>
                      </a:rPr>
                      <m:t>Δt</m:t>
                    </m:r>
                    <m:r>
                      <a:rPr lang="en-US" altLang="zh-TW">
                        <a:latin typeface="Cambria Math" panose="02040503050406030204" pitchFamily="18" charset="0"/>
                      </a:rPr>
                      <m:t>=1</m:t>
                    </m:r>
                  </m:oMath>
                </a14:m>
                <a:r>
                  <a:rPr lang="zh-TW" altLang="zh-TW" dirty="0"/>
                  <a:t>，</a:t>
                </a:r>
                <a:r>
                  <a:rPr lang="zh-TW" altLang="zh-TW" dirty="0">
                    <a:latin typeface="標楷體" panose="03000509000000000000" pitchFamily="65" charset="-120"/>
                    <a:ea typeface="標楷體" panose="03000509000000000000" pitchFamily="65" charset="-120"/>
                  </a:rPr>
                  <a:t>每一期公司資產</a:t>
                </a:r>
                <a:r>
                  <a:rPr lang="en-US" altLang="zh-TW" dirty="0">
                    <a:latin typeface="Times New Roman" panose="02020603050405020304" pitchFamily="18" charset="0"/>
                    <a:cs typeface="Times New Roman" panose="02020603050405020304" pitchFamily="18" charset="0"/>
                  </a:rPr>
                  <a:t>V</a:t>
                </a:r>
                <a:r>
                  <a:rPr lang="zh-TW" altLang="zh-TW" dirty="0">
                    <a:latin typeface="標楷體" panose="03000509000000000000" pitchFamily="65" charset="-120"/>
                    <a:ea typeface="標楷體" panose="03000509000000000000" pitchFamily="65" charset="-120"/>
                  </a:rPr>
                  <a:t>在下一期可能變成</a:t>
                </a:r>
                <a:r>
                  <a:rPr lang="en-US" altLang="zh-TW" dirty="0">
                    <a:latin typeface="Times New Roman" panose="02020603050405020304" pitchFamily="18" charset="0"/>
                    <a:cs typeface="Times New Roman" panose="02020603050405020304" pitchFamily="18" charset="0"/>
                  </a:rPr>
                  <a:t>Vu</a:t>
                </a:r>
                <a:r>
                  <a:rPr lang="zh-TW" altLang="zh-TW" dirty="0">
                    <a:latin typeface="標楷體" panose="03000509000000000000" pitchFamily="65" charset="-120"/>
                    <a:ea typeface="標楷體" panose="03000509000000000000" pitchFamily="65" charset="-120"/>
                  </a:rPr>
                  <a:t>或</a:t>
                </a:r>
                <a:r>
                  <a:rPr lang="en-US" altLang="zh-TW" dirty="0" err="1">
                    <a:latin typeface="Times New Roman" panose="02020603050405020304" pitchFamily="18" charset="0"/>
                    <a:cs typeface="Times New Roman" panose="02020603050405020304" pitchFamily="18" charset="0"/>
                  </a:rPr>
                  <a:t>Vd</a:t>
                </a:r>
                <a:r>
                  <a:rPr lang="zh-TW" altLang="zh-TW" dirty="0"/>
                  <a:t>，</a:t>
                </a:r>
                <a:r>
                  <a:rPr lang="zh-TW" altLang="zh-TW" dirty="0">
                    <a:latin typeface="標楷體" panose="03000509000000000000" pitchFamily="65" charset="-120"/>
                    <a:ea typeface="標楷體" panose="03000509000000000000" pitchFamily="65" charset="-120"/>
                  </a:rPr>
                  <a:t>其中</a:t>
                </a:r>
                <a:endParaRPr lang="en-US" altLang="zh-TW" dirty="0" smtClean="0"/>
              </a:p>
              <a:p>
                <a:endParaRPr lang="en-US" altLang="zh-TW" dirty="0" smtClean="0"/>
              </a:p>
              <a:p>
                <a14:m>
                  <m:oMath xmlns:m="http://schemas.openxmlformats.org/officeDocument/2006/math">
                    <m:r>
                      <m:rPr>
                        <m:sty m:val="p"/>
                      </m:rPr>
                      <a:rPr lang="en-US" altLang="zh-TW">
                        <a:latin typeface="Cambria Math" panose="02040503050406030204" pitchFamily="18" charset="0"/>
                      </a:rPr>
                      <m:t>u</m:t>
                    </m:r>
                    <m:r>
                      <a:rPr lang="en-US" altLang="zh-TW">
                        <a:latin typeface="Cambria Math" panose="02040503050406030204" pitchFamily="18" charset="0"/>
                      </a:rPr>
                      <m:t>=</m:t>
                    </m:r>
                    <m:sSup>
                      <m:sSupPr>
                        <m:ctrlPr>
                          <a:rPr lang="zh-TW" altLang="zh-TW" i="1">
                            <a:latin typeface="Cambria Math" panose="02040503050406030204" pitchFamily="18" charset="0"/>
                          </a:rPr>
                        </m:ctrlPr>
                      </m:sSupPr>
                      <m:e>
                        <m:r>
                          <a:rPr lang="en-US" altLang="zh-TW" i="1">
                            <a:latin typeface="Cambria Math" panose="02040503050406030204" pitchFamily="18" charset="0"/>
                          </a:rPr>
                          <m:t>𝑒</m:t>
                        </m:r>
                      </m:e>
                      <m:sup>
                        <m:sSub>
                          <m:sSubPr>
                            <m:ctrlPr>
                              <a:rPr lang="zh-TW" altLang="zh-TW" i="1">
                                <a:latin typeface="Cambria Math" panose="02040503050406030204" pitchFamily="18" charset="0"/>
                              </a:rPr>
                            </m:ctrlPr>
                          </m:sSubPr>
                          <m:e>
                            <m:r>
                              <a:rPr lang="en-US" altLang="zh-TW" i="1">
                                <a:latin typeface="Cambria Math" panose="02040503050406030204" pitchFamily="18" charset="0"/>
                              </a:rPr>
                              <m:t>𝜎</m:t>
                            </m:r>
                          </m:e>
                          <m:sub>
                            <m:r>
                              <a:rPr lang="en-US" altLang="zh-TW" i="1">
                                <a:latin typeface="Cambria Math" panose="02040503050406030204" pitchFamily="18" charset="0"/>
                              </a:rPr>
                              <m:t>𝑉</m:t>
                            </m:r>
                          </m:sub>
                        </m:sSub>
                        <m:rad>
                          <m:radPr>
                            <m:degHide m:val="on"/>
                            <m:ctrlPr>
                              <a:rPr lang="zh-TW" altLang="zh-TW" i="1">
                                <a:latin typeface="Cambria Math" panose="02040503050406030204" pitchFamily="18" charset="0"/>
                              </a:rPr>
                            </m:ctrlPr>
                          </m:radPr>
                          <m:deg/>
                          <m:e>
                            <m:r>
                              <m:rPr>
                                <m:sty m:val="p"/>
                              </m:rPr>
                              <a:rPr lang="en-US" altLang="zh-TW">
                                <a:latin typeface="Cambria Math" panose="02040503050406030204" pitchFamily="18" charset="0"/>
                              </a:rPr>
                              <m:t>Δt</m:t>
                            </m:r>
                          </m:e>
                        </m:rad>
                      </m:sup>
                    </m:sSup>
                    <m:r>
                      <a:rPr lang="en-US" altLang="zh-TW">
                        <a:latin typeface="Cambria Math" panose="02040503050406030204" pitchFamily="18" charset="0"/>
                      </a:rPr>
                      <m:t>=</m:t>
                    </m:r>
                  </m:oMath>
                </a14:m>
                <a:r>
                  <a:rPr lang="en-US" altLang="zh-TW" dirty="0" smtClean="0">
                    <a:latin typeface="Times New Roman" panose="02020603050405020304" pitchFamily="18" charset="0"/>
                    <a:cs typeface="Times New Roman" panose="02020603050405020304" pitchFamily="18" charset="0"/>
                  </a:rPr>
                  <a:t>1.39</a:t>
                </a:r>
                <a:r>
                  <a:rPr lang="zh-TW" altLang="en-US" dirty="0" smtClean="0"/>
                  <a:t>，</a:t>
                </a:r>
                <a:r>
                  <a:rPr lang="zh-TW" altLang="zh-TW" dirty="0" smtClean="0">
                    <a:latin typeface="標楷體" panose="03000509000000000000" pitchFamily="65" charset="-120"/>
                    <a:ea typeface="標楷體" panose="03000509000000000000" pitchFamily="65" charset="-120"/>
                  </a:rPr>
                  <a:t>發生</a:t>
                </a:r>
                <a:r>
                  <a:rPr lang="zh-TW" altLang="zh-TW" dirty="0">
                    <a:latin typeface="標楷體" panose="03000509000000000000" pitchFamily="65" charset="-120"/>
                    <a:ea typeface="標楷體" panose="03000509000000000000" pitchFamily="65" charset="-120"/>
                  </a:rPr>
                  <a:t>機率</a:t>
                </a:r>
                <a:r>
                  <a:rPr lang="en-US" altLang="zh-TW" dirty="0" smtClean="0">
                    <a:latin typeface="Times New Roman" panose="02020603050405020304" pitchFamily="18" charset="0"/>
                    <a:cs typeface="Times New Roman" panose="02020603050405020304" pitchFamily="18" charset="0"/>
                  </a:rPr>
                  <a:t>p=0.51</a:t>
                </a:r>
              </a:p>
              <a:p>
                <a14:m>
                  <m:oMath xmlns:m="http://schemas.openxmlformats.org/officeDocument/2006/math">
                    <m:r>
                      <m:rPr>
                        <m:sty m:val="p"/>
                      </m:rPr>
                      <a:rPr lang="en-US" altLang="zh-TW">
                        <a:latin typeface="Cambria Math" panose="02040503050406030204" pitchFamily="18" charset="0"/>
                      </a:rPr>
                      <m:t>d</m:t>
                    </m:r>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𝑢</m:t>
                        </m:r>
                      </m:den>
                    </m:f>
                    <m:r>
                      <a:rPr lang="en-US" altLang="zh-TW" i="1">
                        <a:latin typeface="Cambria Math" panose="02040503050406030204" pitchFamily="18" charset="0"/>
                      </a:rPr>
                      <m:t>=0.72</m:t>
                    </m:r>
                  </m:oMath>
                </a14:m>
                <a:r>
                  <a:rPr lang="zh-TW" altLang="en-US" dirty="0" smtClean="0"/>
                  <a:t>，</a:t>
                </a:r>
                <a:r>
                  <a:rPr lang="zh-TW" altLang="zh-TW" dirty="0">
                    <a:latin typeface="標楷體" panose="03000509000000000000" pitchFamily="65" charset="-120"/>
                    <a:ea typeface="標楷體" panose="03000509000000000000" pitchFamily="65" charset="-120"/>
                  </a:rPr>
                  <a:t>發生機率</a:t>
                </a:r>
                <a14:m>
                  <m:oMath xmlns:m="http://schemas.openxmlformats.org/officeDocument/2006/math">
                    <m:r>
                      <a:rPr lang="en-US" altLang="zh-TW">
                        <a:latin typeface="Cambria Math" panose="02040503050406030204" pitchFamily="18" charset="0"/>
                      </a:rPr>
                      <m:t>1</m:t>
                    </m:r>
                    <m:r>
                      <a:rPr lang="en-US" altLang="zh-TW" i="1">
                        <a:latin typeface="Cambria Math" panose="02040503050406030204" pitchFamily="18" charset="0"/>
                      </a:rPr>
                      <m:t>−</m:t>
                    </m:r>
                    <m:r>
                      <m:rPr>
                        <m:sty m:val="p"/>
                      </m:rPr>
                      <a:rPr lang="en-US" altLang="zh-TW">
                        <a:latin typeface="Cambria Math" panose="02040503050406030204" pitchFamily="18" charset="0"/>
                      </a:rPr>
                      <m:t>p</m:t>
                    </m:r>
                    <m:r>
                      <a:rPr lang="en-US" altLang="zh-TW">
                        <a:latin typeface="Cambria Math" panose="02040503050406030204" pitchFamily="18" charset="0"/>
                      </a:rPr>
                      <m:t>=0.49</m:t>
                    </m:r>
                  </m:oMath>
                </a14:m>
                <a:endParaRPr lang="en-US" altLang="zh-TW"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我們利用上述條件建構出</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2</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期</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CRR</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資產樹</a:t>
                </a:r>
                <a:endParaRPr lang="zh-TW" altLang="en-US" dirty="0">
                  <a:latin typeface="標楷體" panose="03000509000000000000" pitchFamily="65" charset="-120"/>
                  <a:ea typeface="標楷體" panose="03000509000000000000" pitchFamily="65" charset="-120"/>
                  <a:cs typeface="Times New Roman" panose="02020603050405020304" pitchFamily="18" charset="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7079226" y="2005781"/>
                <a:ext cx="4409768" cy="3154903"/>
              </a:xfrm>
              <a:prstGeom prst="rect">
                <a:avLst/>
              </a:prstGeom>
              <a:blipFill rotWithShape="0">
                <a:blip r:embed="rId3"/>
                <a:stretch>
                  <a:fillRect l="-1105" r="-276" b="-23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830668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solidFill>
                  <a:prstClr val="black"/>
                </a:solidFill>
                <a:latin typeface="標楷體" panose="03000509000000000000" pitchFamily="65" charset="-120"/>
                <a:ea typeface="標楷體" panose="03000509000000000000" pitchFamily="65" charset="-120"/>
              </a:rPr>
              <a:t>持有型態對於可轉換公司債價值的影響</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lnSpcReduction="10000"/>
              </a:bodyPr>
              <a:lstStyle/>
              <a:p>
                <a:pPr marL="342900" lvl="0" indent="-342900">
                  <a:lnSpc>
                    <a:spcPct val="107000"/>
                  </a:lnSpc>
                  <a:spcAft>
                    <a:spcPts val="800"/>
                  </a:spcAft>
                  <a:buFont typeface="Wingdings" panose="05000000000000000000" pitchFamily="2" charset="2"/>
                  <a:buChar char=""/>
                  <a:tabLst>
                    <a:tab pos="685800" algn="l"/>
                  </a:tabLst>
                </a:pPr>
                <a:r>
                  <a:rPr lang="zh-TW" altLang="en-US" dirty="0" smtClean="0">
                    <a:latin typeface="Times New Roman" panose="02020603050405020304" pitchFamily="18" charset="0"/>
                    <a:ea typeface="標楷體" panose="03000509000000000000" pitchFamily="65" charset="-120"/>
                  </a:rPr>
                  <a:t>其他參數設定</a:t>
                </a:r>
                <a:endParaRPr lang="en-US" altLang="zh-TW" dirty="0" smtClean="0">
                  <a:latin typeface="Times New Roman" panose="02020603050405020304" pitchFamily="18" charset="0"/>
                  <a:ea typeface="標楷體" panose="03000509000000000000" pitchFamily="65" charset="-120"/>
                </a:endParaRPr>
              </a:p>
              <a:p>
                <a:pPr lvl="1">
                  <a:lnSpc>
                    <a:spcPct val="107000"/>
                  </a:lnSpc>
                  <a:spcAft>
                    <a:spcPts val="800"/>
                  </a:spcAft>
                  <a:buFont typeface="Wingdings" panose="05000000000000000000" pitchFamily="2" charset="2"/>
                  <a:buChar char="Ø"/>
                  <a:tabLst>
                    <a:tab pos="685800" algn="l"/>
                  </a:tabLst>
                </a:pPr>
                <a:r>
                  <a:rPr lang="zh-TW" altLang="zh-TW" dirty="0" smtClean="0">
                    <a:latin typeface="Times New Roman" panose="02020603050405020304" pitchFamily="18" charset="0"/>
                    <a:ea typeface="標楷體" panose="03000509000000000000" pitchFamily="65" charset="-120"/>
                  </a:rPr>
                  <a:t>可</a:t>
                </a:r>
                <a:r>
                  <a:rPr lang="zh-TW" altLang="zh-TW" dirty="0">
                    <a:latin typeface="Times New Roman" panose="02020603050405020304" pitchFamily="18" charset="0"/>
                    <a:ea typeface="標楷體" panose="03000509000000000000" pitchFamily="65" charset="-120"/>
                  </a:rPr>
                  <a:t>轉換公司債面額</a:t>
                </a:r>
                <a:r>
                  <a:rPr lang="en-US" altLang="zh-TW" dirty="0">
                    <a:effectLst/>
                    <a:latin typeface="Times New Roman" panose="02020603050405020304" pitchFamily="18" charset="0"/>
                    <a:ea typeface="標楷體" panose="03000509000000000000" pitchFamily="65" charset="-120"/>
                  </a:rPr>
                  <a:t>(</a:t>
                </a:r>
                <a14:m>
                  <m:oMath xmlns:m="http://schemas.openxmlformats.org/officeDocument/2006/math">
                    <m:sSub>
                      <m:sSubPr>
                        <m:ctrlPr>
                          <a:rPr lang="zh-TW" altLang="zh-TW" i="1">
                            <a:effectLst/>
                            <a:latin typeface="Cambria Math" panose="02040503050406030204" pitchFamily="18" charset="0"/>
                            <a:ea typeface="Cambria Math" panose="02040503050406030204" pitchFamily="18" charset="0"/>
                          </a:rPr>
                        </m:ctrlPr>
                      </m:sSubPr>
                      <m:e>
                        <m:r>
                          <a:rPr lang="en-US" altLang="zh-TW" i="1">
                            <a:effectLst/>
                            <a:latin typeface="Cambria Math" panose="02040503050406030204" pitchFamily="18" charset="0"/>
                            <a:ea typeface="標楷體" panose="03000509000000000000" pitchFamily="65" charset="-120"/>
                          </a:rPr>
                          <m:t>𝐹</m:t>
                        </m:r>
                      </m:e>
                      <m:sub>
                        <m:r>
                          <a:rPr lang="en-US" altLang="zh-TW" i="1">
                            <a:effectLst/>
                            <a:latin typeface="Cambria Math" panose="02040503050406030204" pitchFamily="18" charset="0"/>
                            <a:ea typeface="標楷體" panose="03000509000000000000" pitchFamily="65" charset="-120"/>
                          </a:rPr>
                          <m:t>𝐶</m:t>
                        </m:r>
                      </m:sub>
                    </m:sSub>
                  </m:oMath>
                </a14:m>
                <a:r>
                  <a:rPr lang="en-US" altLang="zh-TW" dirty="0">
                    <a:effectLst/>
                    <a:latin typeface="Times New Roman" panose="02020603050405020304" pitchFamily="18" charset="0"/>
                    <a:ea typeface="標楷體" panose="03000509000000000000" pitchFamily="65" charset="-120"/>
                  </a:rPr>
                  <a:t>)=100</a:t>
                </a:r>
                <a:endParaRPr lang="zh-TW" altLang="zh-TW" dirty="0">
                  <a:effectLst/>
                  <a:latin typeface="Times New Roman" panose="02020603050405020304" pitchFamily="18" charset="0"/>
                  <a:ea typeface="標楷體" panose="03000509000000000000" pitchFamily="65" charset="-120"/>
                </a:endParaRPr>
              </a:p>
              <a:p>
                <a:pPr lvl="1">
                  <a:lnSpc>
                    <a:spcPct val="107000"/>
                  </a:lnSpc>
                  <a:spcAft>
                    <a:spcPts val="800"/>
                  </a:spcAft>
                  <a:buFont typeface="Wingdings" panose="05000000000000000000" pitchFamily="2" charset="2"/>
                  <a:buChar char="Ø"/>
                  <a:tabLst>
                    <a:tab pos="685800" algn="l"/>
                  </a:tabLst>
                </a:pPr>
                <a:r>
                  <a:rPr lang="zh-TW" altLang="zh-TW" dirty="0">
                    <a:effectLst/>
                    <a:latin typeface="Times New Roman" panose="02020603050405020304" pitchFamily="18" charset="0"/>
                    <a:ea typeface="標楷體" panose="03000509000000000000" pitchFamily="65" charset="-120"/>
                  </a:rPr>
                  <a:t>可轉換公司債張數</a:t>
                </a:r>
                <a:r>
                  <a:rPr lang="en-US" altLang="zh-TW" dirty="0">
                    <a:effectLst/>
                    <a:latin typeface="Times New Roman" panose="02020603050405020304" pitchFamily="18" charset="0"/>
                    <a:ea typeface="標楷體" panose="03000509000000000000" pitchFamily="65" charset="-120"/>
                  </a:rPr>
                  <a:t>(</a:t>
                </a:r>
                <a14:m>
                  <m:oMath xmlns:m="http://schemas.openxmlformats.org/officeDocument/2006/math">
                    <m:sSub>
                      <m:sSubPr>
                        <m:ctrlPr>
                          <a:rPr lang="zh-TW" altLang="zh-TW" i="1">
                            <a:effectLst/>
                            <a:latin typeface="Cambria Math" panose="02040503050406030204" pitchFamily="18" charset="0"/>
                            <a:ea typeface="Cambria Math" panose="02040503050406030204" pitchFamily="18" charset="0"/>
                          </a:rPr>
                        </m:ctrlPr>
                      </m:sSubPr>
                      <m:e>
                        <m:r>
                          <a:rPr lang="en-US" altLang="zh-TW" i="1">
                            <a:effectLst/>
                            <a:latin typeface="Cambria Math" panose="02040503050406030204" pitchFamily="18" charset="0"/>
                            <a:ea typeface="標楷體" panose="03000509000000000000" pitchFamily="65" charset="-120"/>
                          </a:rPr>
                          <m:t>𝑁</m:t>
                        </m:r>
                      </m:e>
                      <m:sub>
                        <m:r>
                          <a:rPr lang="en-US" altLang="zh-TW" i="1">
                            <a:effectLst/>
                            <a:latin typeface="Cambria Math" panose="02040503050406030204" pitchFamily="18" charset="0"/>
                            <a:ea typeface="標楷體" panose="03000509000000000000" pitchFamily="65" charset="-120"/>
                          </a:rPr>
                          <m:t>𝐶</m:t>
                        </m:r>
                      </m:sub>
                    </m:sSub>
                  </m:oMath>
                </a14:m>
                <a:r>
                  <a:rPr lang="en-US" altLang="zh-TW" dirty="0">
                    <a:effectLst/>
                    <a:latin typeface="Times New Roman" panose="02020603050405020304" pitchFamily="18" charset="0"/>
                    <a:ea typeface="標楷體" panose="03000509000000000000" pitchFamily="65" charset="-120"/>
                  </a:rPr>
                  <a:t>)=</a:t>
                </a:r>
                <a:r>
                  <a:rPr lang="zh-TW" altLang="zh-TW" dirty="0">
                    <a:effectLst/>
                    <a:latin typeface="Times New Roman" panose="02020603050405020304" pitchFamily="18" charset="0"/>
                    <a:ea typeface="標楷體" panose="03000509000000000000" pitchFamily="65" charset="-120"/>
                  </a:rPr>
                  <a:t>原始股票張數</a:t>
                </a:r>
                <a:r>
                  <a:rPr lang="en-US" altLang="zh-TW" dirty="0">
                    <a:effectLst/>
                    <a:latin typeface="Times New Roman" panose="02020603050405020304" pitchFamily="18" charset="0"/>
                    <a:ea typeface="標楷體" panose="03000509000000000000" pitchFamily="65" charset="-120"/>
                  </a:rPr>
                  <a:t>(</a:t>
                </a:r>
                <a14:m>
                  <m:oMath xmlns:m="http://schemas.openxmlformats.org/officeDocument/2006/math">
                    <m:sSub>
                      <m:sSubPr>
                        <m:ctrlPr>
                          <a:rPr lang="zh-TW" altLang="zh-TW" i="1">
                            <a:effectLst/>
                            <a:latin typeface="Cambria Math" panose="02040503050406030204" pitchFamily="18" charset="0"/>
                            <a:ea typeface="Cambria Math" panose="02040503050406030204" pitchFamily="18" charset="0"/>
                          </a:rPr>
                        </m:ctrlPr>
                      </m:sSubPr>
                      <m:e>
                        <m:r>
                          <a:rPr lang="en-US" altLang="zh-TW" i="1">
                            <a:effectLst/>
                            <a:latin typeface="Cambria Math" panose="02040503050406030204" pitchFamily="18" charset="0"/>
                            <a:ea typeface="標楷體" panose="03000509000000000000" pitchFamily="65" charset="-120"/>
                          </a:rPr>
                          <m:t>𝑁</m:t>
                        </m:r>
                      </m:e>
                      <m:sub>
                        <m:r>
                          <a:rPr lang="en-US" altLang="zh-TW" i="1">
                            <a:effectLst/>
                            <a:latin typeface="Cambria Math" panose="02040503050406030204" pitchFamily="18" charset="0"/>
                            <a:ea typeface="標楷體" panose="03000509000000000000" pitchFamily="65" charset="-120"/>
                          </a:rPr>
                          <m:t>𝑂</m:t>
                        </m:r>
                      </m:sub>
                    </m:sSub>
                  </m:oMath>
                </a14:m>
                <a:r>
                  <a:rPr lang="en-US" altLang="zh-TW" dirty="0">
                    <a:effectLst/>
                    <a:latin typeface="Times New Roman" panose="02020603050405020304" pitchFamily="18" charset="0"/>
                    <a:ea typeface="標楷體" panose="03000509000000000000" pitchFamily="65" charset="-120"/>
                  </a:rPr>
                  <a:t>)=100</a:t>
                </a:r>
                <a:endParaRPr lang="zh-TW" altLang="zh-TW" dirty="0">
                  <a:effectLst/>
                  <a:latin typeface="Times New Roman" panose="02020603050405020304" pitchFamily="18" charset="0"/>
                  <a:ea typeface="標楷體" panose="03000509000000000000" pitchFamily="65" charset="-120"/>
                </a:endParaRPr>
              </a:p>
              <a:p>
                <a:pPr lvl="1">
                  <a:lnSpc>
                    <a:spcPct val="107000"/>
                  </a:lnSpc>
                  <a:spcAft>
                    <a:spcPts val="800"/>
                  </a:spcAft>
                  <a:buFont typeface="Wingdings" panose="05000000000000000000" pitchFamily="2" charset="2"/>
                  <a:buChar char="Ø"/>
                  <a:tabLst>
                    <a:tab pos="685800" algn="l"/>
                  </a:tabLst>
                </a:pPr>
                <a:r>
                  <a:rPr lang="zh-TW" altLang="zh-TW" dirty="0">
                    <a:effectLst/>
                    <a:latin typeface="Times New Roman" panose="02020603050405020304" pitchFamily="18" charset="0"/>
                    <a:ea typeface="標楷體" panose="03000509000000000000" pitchFamily="65" charset="-120"/>
                  </a:rPr>
                  <a:t>可轉換公司債票面利率</a:t>
                </a:r>
                <a:r>
                  <a:rPr lang="en-US" altLang="zh-TW" dirty="0">
                    <a:effectLst/>
                    <a:latin typeface="Times New Roman" panose="02020603050405020304" pitchFamily="18" charset="0"/>
                    <a:ea typeface="標楷體" panose="03000509000000000000" pitchFamily="65" charset="-120"/>
                  </a:rPr>
                  <a:t>(</a:t>
                </a:r>
                <a14:m>
                  <m:oMath xmlns:m="http://schemas.openxmlformats.org/officeDocument/2006/math">
                    <m:sSub>
                      <m:sSubPr>
                        <m:ctrlPr>
                          <a:rPr lang="zh-TW" altLang="zh-TW" i="1">
                            <a:effectLst/>
                            <a:latin typeface="Cambria Math" panose="02040503050406030204" pitchFamily="18" charset="0"/>
                            <a:ea typeface="Cambria Math" panose="02040503050406030204" pitchFamily="18" charset="0"/>
                          </a:rPr>
                        </m:ctrlPr>
                      </m:sSubPr>
                      <m:e>
                        <m:r>
                          <a:rPr lang="en-US" altLang="zh-TW" i="1">
                            <a:effectLst/>
                            <a:latin typeface="Cambria Math" panose="02040503050406030204" pitchFamily="18" charset="0"/>
                            <a:ea typeface="標楷體" panose="03000509000000000000" pitchFamily="65" charset="-120"/>
                          </a:rPr>
                          <m:t>𝐶</m:t>
                        </m:r>
                      </m:e>
                      <m:sub>
                        <m:r>
                          <a:rPr lang="en-US" altLang="zh-TW" i="1">
                            <a:effectLst/>
                            <a:latin typeface="Cambria Math" panose="02040503050406030204" pitchFamily="18" charset="0"/>
                            <a:ea typeface="標楷體" panose="03000509000000000000" pitchFamily="65" charset="-120"/>
                          </a:rPr>
                          <m:t>𝐶</m:t>
                        </m:r>
                      </m:sub>
                    </m:sSub>
                  </m:oMath>
                </a14:m>
                <a:r>
                  <a:rPr lang="en-US" altLang="zh-TW" dirty="0">
                    <a:effectLst/>
                    <a:latin typeface="Times New Roman" panose="02020603050405020304" pitchFamily="18" charset="0"/>
                    <a:ea typeface="標楷體" panose="03000509000000000000" pitchFamily="65" charset="-120"/>
                  </a:rPr>
                  <a:t>)=0.05</a:t>
                </a:r>
                <a:endParaRPr lang="zh-TW" altLang="zh-TW" dirty="0">
                  <a:effectLst/>
                  <a:latin typeface="Times New Roman" panose="02020603050405020304" pitchFamily="18" charset="0"/>
                  <a:ea typeface="標楷體" panose="03000509000000000000" pitchFamily="65" charset="-120"/>
                </a:endParaRPr>
              </a:p>
              <a:p>
                <a:pPr lvl="1">
                  <a:lnSpc>
                    <a:spcPct val="107000"/>
                  </a:lnSpc>
                  <a:spcAft>
                    <a:spcPts val="800"/>
                  </a:spcAft>
                  <a:buFont typeface="Wingdings" panose="05000000000000000000" pitchFamily="2" charset="2"/>
                  <a:buChar char="Ø"/>
                  <a:tabLst>
                    <a:tab pos="685800" algn="l"/>
                  </a:tabLst>
                </a:pPr>
                <a:r>
                  <a:rPr lang="zh-TW" altLang="zh-TW" dirty="0">
                    <a:effectLst/>
                    <a:latin typeface="Times New Roman" panose="02020603050405020304" pitchFamily="18" charset="0"/>
                    <a:ea typeface="標楷體" panose="03000509000000000000" pitchFamily="65" charset="-120"/>
                  </a:rPr>
                  <a:t>可轉換公司債轉換股票比例</a:t>
                </a:r>
                <a:r>
                  <a:rPr lang="en-US" altLang="zh-TW" dirty="0">
                    <a:effectLst/>
                    <a:latin typeface="Times New Roman" panose="02020603050405020304" pitchFamily="18" charset="0"/>
                    <a:ea typeface="標楷體" panose="03000509000000000000" pitchFamily="65" charset="-120"/>
                  </a:rPr>
                  <a:t>(</a:t>
                </a:r>
                <a:r>
                  <a:rPr lang="zh-TW" altLang="zh-TW" dirty="0">
                    <a:effectLst/>
                    <a:latin typeface="Times New Roman" panose="02020603050405020304" pitchFamily="18" charset="0"/>
                    <a:ea typeface="標楷體" panose="03000509000000000000" pitchFamily="65" charset="-120"/>
                  </a:rPr>
                  <a:t>γ</a:t>
                </a:r>
                <a:r>
                  <a:rPr lang="en-US" altLang="zh-TW" dirty="0">
                    <a:effectLst/>
                    <a:latin typeface="Times New Roman" panose="02020603050405020304" pitchFamily="18" charset="0"/>
                    <a:ea typeface="標楷體" panose="03000509000000000000" pitchFamily="65" charset="-120"/>
                  </a:rPr>
                  <a:t>)=1.5</a:t>
                </a:r>
                <a:endParaRPr lang="zh-TW" altLang="zh-TW" dirty="0">
                  <a:effectLst/>
                  <a:latin typeface="Times New Roman" panose="02020603050405020304" pitchFamily="18" charset="0"/>
                  <a:ea typeface="標楷體" panose="03000509000000000000" pitchFamily="65" charset="-120"/>
                </a:endParaRPr>
              </a:p>
              <a:p>
                <a:pPr lvl="1">
                  <a:lnSpc>
                    <a:spcPct val="107000"/>
                  </a:lnSpc>
                  <a:spcAft>
                    <a:spcPts val="800"/>
                  </a:spcAft>
                  <a:buFont typeface="Wingdings" panose="05000000000000000000" pitchFamily="2" charset="2"/>
                  <a:buChar char="Ø"/>
                  <a:tabLst>
                    <a:tab pos="685800" algn="l"/>
                  </a:tabLst>
                </a:pPr>
                <a:r>
                  <a:rPr lang="zh-TW" altLang="zh-TW" dirty="0">
                    <a:effectLst/>
                    <a:latin typeface="Times New Roman" panose="02020603050405020304" pitchFamily="18" charset="0"/>
                    <a:ea typeface="標楷體" panose="03000509000000000000" pitchFamily="65" charset="-120"/>
                  </a:rPr>
                  <a:t>稅率</a:t>
                </a:r>
                <a:r>
                  <a:rPr lang="en-US" altLang="zh-TW" dirty="0">
                    <a:effectLst/>
                    <a:latin typeface="Times New Roman" panose="02020603050405020304" pitchFamily="18" charset="0"/>
                    <a:ea typeface="標楷體" panose="03000509000000000000" pitchFamily="65" charset="-120"/>
                  </a:rPr>
                  <a:t>(</a:t>
                </a:r>
                <a:r>
                  <a:rPr lang="zh-TW" altLang="zh-TW" dirty="0">
                    <a:effectLst/>
                    <a:latin typeface="Times New Roman" panose="02020603050405020304" pitchFamily="18" charset="0"/>
                    <a:ea typeface="標楷體" panose="03000509000000000000" pitchFamily="65" charset="-120"/>
                  </a:rPr>
                  <a:t>τ</a:t>
                </a:r>
                <a:r>
                  <a:rPr lang="en-US" altLang="zh-TW" dirty="0">
                    <a:effectLst/>
                    <a:latin typeface="Times New Roman" panose="02020603050405020304" pitchFamily="18" charset="0"/>
                    <a:ea typeface="標楷體" panose="03000509000000000000" pitchFamily="65" charset="-120"/>
                  </a:rPr>
                  <a:t>)=0.2</a:t>
                </a:r>
                <a:endParaRPr lang="zh-TW" altLang="zh-TW" dirty="0">
                  <a:effectLst/>
                  <a:latin typeface="Times New Roman" panose="02020603050405020304" pitchFamily="18" charset="0"/>
                  <a:ea typeface="標楷體" panose="03000509000000000000" pitchFamily="65" charset="-120"/>
                </a:endParaRPr>
              </a:p>
              <a:p>
                <a:pPr lvl="1">
                  <a:lnSpc>
                    <a:spcPct val="107000"/>
                  </a:lnSpc>
                  <a:spcAft>
                    <a:spcPts val="800"/>
                  </a:spcAft>
                  <a:buFont typeface="Wingdings" panose="05000000000000000000" pitchFamily="2" charset="2"/>
                  <a:buChar char="Ø"/>
                  <a:tabLst>
                    <a:tab pos="685800" algn="l"/>
                  </a:tabLst>
                </a:pPr>
                <a:r>
                  <a:rPr lang="zh-TW" altLang="zh-TW" dirty="0">
                    <a:effectLst/>
                    <a:latin typeface="Times New Roman" panose="02020603050405020304" pitchFamily="18" charset="0"/>
                    <a:ea typeface="標楷體" panose="03000509000000000000" pitchFamily="65" charset="-120"/>
                  </a:rPr>
                  <a:t>破產成本</a:t>
                </a:r>
                <a:r>
                  <a:rPr lang="en-US" altLang="zh-TW" dirty="0">
                    <a:effectLst/>
                    <a:latin typeface="Times New Roman" panose="02020603050405020304" pitchFamily="18" charset="0"/>
                    <a:ea typeface="標楷體" panose="03000509000000000000" pitchFamily="65" charset="-120"/>
                  </a:rPr>
                  <a:t>(</a:t>
                </a:r>
                <a:r>
                  <a:rPr lang="zh-TW" altLang="zh-TW" dirty="0">
                    <a:effectLst/>
                    <a:latin typeface="Times New Roman" panose="02020603050405020304" pitchFamily="18" charset="0"/>
                    <a:ea typeface="標楷體" panose="03000509000000000000" pitchFamily="65" charset="-120"/>
                  </a:rPr>
                  <a:t>ρ</a:t>
                </a:r>
                <a:r>
                  <a:rPr lang="en-US" altLang="zh-TW" dirty="0">
                    <a:effectLst/>
                    <a:latin typeface="Times New Roman" panose="02020603050405020304" pitchFamily="18" charset="0"/>
                    <a:ea typeface="標楷體" panose="03000509000000000000" pitchFamily="65" charset="-120"/>
                  </a:rPr>
                  <a:t>)=</a:t>
                </a:r>
                <a:r>
                  <a:rPr lang="en-US" altLang="zh-TW" dirty="0" smtClean="0">
                    <a:effectLst/>
                    <a:latin typeface="Times New Roman" panose="02020603050405020304" pitchFamily="18" charset="0"/>
                    <a:ea typeface="標楷體" panose="03000509000000000000" pitchFamily="65" charset="-120"/>
                  </a:rPr>
                  <a:t>0.4</a:t>
                </a:r>
              </a:p>
              <a:p>
                <a:pPr lvl="1">
                  <a:lnSpc>
                    <a:spcPct val="107000"/>
                  </a:lnSpc>
                  <a:spcAft>
                    <a:spcPts val="800"/>
                  </a:spcAft>
                  <a:buFont typeface="Wingdings" panose="05000000000000000000" pitchFamily="2" charset="2"/>
                  <a:buChar char="Ø"/>
                  <a:tabLst>
                    <a:tab pos="685800" algn="l"/>
                  </a:tabLst>
                </a:pPr>
                <a:r>
                  <a:rPr lang="zh-TW" altLang="en-US" dirty="0" smtClean="0">
                    <a:effectLst/>
                    <a:latin typeface="Times New Roman" panose="02020603050405020304" pitchFamily="18" charset="0"/>
                    <a:ea typeface="標楷體" panose="03000509000000000000" pitchFamily="65" charset="-120"/>
                  </a:rPr>
                  <a:t>發行日</a:t>
                </a:r>
                <a:r>
                  <a:rPr lang="en-US" altLang="zh-TW" dirty="0" smtClean="0">
                    <a:effectLst/>
                    <a:latin typeface="Times New Roman" panose="02020603050405020304" pitchFamily="18" charset="0"/>
                    <a:ea typeface="標楷體" panose="03000509000000000000" pitchFamily="65" charset="-120"/>
                  </a:rPr>
                  <a:t>CB</a:t>
                </a:r>
                <a:r>
                  <a:rPr lang="zh-TW" altLang="en-US" dirty="0" smtClean="0">
                    <a:effectLst/>
                    <a:latin typeface="Times New Roman" panose="02020603050405020304" pitchFamily="18" charset="0"/>
                    <a:ea typeface="標楷體" panose="03000509000000000000" pitchFamily="65" charset="-120"/>
                  </a:rPr>
                  <a:t>價值占公司價值約</a:t>
                </a:r>
                <a:r>
                  <a:rPr lang="en-US" altLang="zh-TW" dirty="0" smtClean="0">
                    <a:effectLst/>
                    <a:latin typeface="Times New Roman" panose="02020603050405020304" pitchFamily="18" charset="0"/>
                    <a:ea typeface="標楷體" panose="03000509000000000000" pitchFamily="65" charset="-120"/>
                  </a:rPr>
                  <a:t>57.22%</a:t>
                </a:r>
                <a:endParaRPr lang="zh-TW" altLang="zh-TW" dirty="0">
                  <a:effectLst/>
                  <a:latin typeface="Times New Roman" panose="02020603050405020304" pitchFamily="18" charset="0"/>
                  <a:ea typeface="標楷體" panose="03000509000000000000" pitchFamily="65" charset="-120"/>
                </a:endParaRPr>
              </a:p>
              <a:p>
                <a:pPr lvl="0"/>
                <a:endParaRPr lang="zh-TW"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043" t="-168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39</a:t>
            </a:fld>
            <a:endParaRPr lang="zh-TW" altLang="en-US"/>
          </a:p>
        </p:txBody>
      </p:sp>
    </p:spTree>
    <p:extLst>
      <p:ext uri="{BB962C8B-B14F-4D97-AF65-F5344CB8AC3E}">
        <p14:creationId xmlns:p14="http://schemas.microsoft.com/office/powerpoint/2010/main" val="35611964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solidFill>
                  <a:prstClr val="black"/>
                </a:solidFill>
                <a:latin typeface="標楷體" panose="03000509000000000000" pitchFamily="65" charset="-120"/>
                <a:ea typeface="標楷體" panose="03000509000000000000" pitchFamily="65" charset="-120"/>
              </a:rPr>
              <a:t>持有型態對於可轉換公司債價值的</a:t>
            </a:r>
            <a:r>
              <a:rPr lang="zh-TW" altLang="zh-TW" dirty="0" smtClean="0">
                <a:solidFill>
                  <a:prstClr val="black"/>
                </a:solidFill>
                <a:latin typeface="標楷體" panose="03000509000000000000" pitchFamily="65" charset="-120"/>
                <a:ea typeface="標楷體" panose="03000509000000000000" pitchFamily="65" charset="-120"/>
              </a:rPr>
              <a:t>影響</a:t>
            </a:r>
            <a:r>
              <a:rPr lang="en-US" altLang="zh-TW" dirty="0" smtClean="0">
                <a:solidFill>
                  <a:prstClr val="black"/>
                </a:solidFill>
                <a:latin typeface="標楷體" panose="03000509000000000000" pitchFamily="65" charset="-120"/>
                <a:ea typeface="標楷體" panose="03000509000000000000" pitchFamily="65" charset="-120"/>
              </a:rPr>
              <a:t>B’</a:t>
            </a: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40</a:t>
            </a:fld>
            <a:endParaRPr lang="zh-TW" altLang="en-US"/>
          </a:p>
        </p:txBody>
      </p:sp>
      <p:graphicFrame>
        <p:nvGraphicFramePr>
          <p:cNvPr id="9" name="內容版面配置區 8"/>
          <p:cNvGraphicFramePr>
            <a:graphicFrameLocks noGrp="1"/>
          </p:cNvGraphicFramePr>
          <p:nvPr>
            <p:ph idx="1"/>
            <p:extLst>
              <p:ext uri="{D42A27DB-BD31-4B8C-83A1-F6EECF244321}">
                <p14:modId xmlns:p14="http://schemas.microsoft.com/office/powerpoint/2010/main" val="3881329724"/>
              </p:ext>
            </p:extLst>
          </p:nvPr>
        </p:nvGraphicFramePr>
        <p:xfrm>
          <a:off x="838200" y="1825625"/>
          <a:ext cx="10515600" cy="4601083"/>
        </p:xfrm>
        <a:graphic>
          <a:graphicData uri="http://schemas.openxmlformats.org/drawingml/2006/table">
            <a:tbl>
              <a:tblPr firstRow="1" bandRow="1">
                <a:tableStyleId>{93296810-A885-4BE3-A3E7-6D5BEEA58F35}</a:tableStyleId>
              </a:tblPr>
              <a:tblGrid>
                <a:gridCol w="1752600"/>
                <a:gridCol w="1752600"/>
                <a:gridCol w="1752600"/>
                <a:gridCol w="1752600"/>
                <a:gridCol w="1752600"/>
                <a:gridCol w="1752600"/>
              </a:tblGrid>
              <a:tr h="401381">
                <a:tc>
                  <a:txBody>
                    <a:bodyPr/>
                    <a:lstStyle/>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前一期</a:t>
                      </a:r>
                      <a:r>
                        <a:rPr lang="zh-TW" sz="1600" b="0" dirty="0" smtClean="0">
                          <a:solidFill>
                            <a:schemeClr val="tx1"/>
                          </a:solidFill>
                          <a:effectLst/>
                          <a:latin typeface="標楷體" panose="03000509000000000000" pitchFamily="65" charset="-120"/>
                          <a:ea typeface="標楷體" panose="03000509000000000000" pitchFamily="65" charset="-120"/>
                        </a:rPr>
                        <a:t>累積</a:t>
                      </a:r>
                      <a:endParaRPr lang="en-US" altLang="zh-TW" sz="1600" b="0" dirty="0" smtClean="0">
                        <a:solidFill>
                          <a:schemeClr val="tx1"/>
                        </a:solidFill>
                        <a:effectLst/>
                        <a:latin typeface="標楷體" panose="03000509000000000000" pitchFamily="65" charset="-120"/>
                        <a:ea typeface="標楷體" panose="03000509000000000000" pitchFamily="65" charset="-120"/>
                      </a:endParaRPr>
                    </a:p>
                    <a:p>
                      <a:pPr algn="ctr">
                        <a:lnSpc>
                          <a:spcPct val="107000"/>
                        </a:lnSpc>
                        <a:spcAft>
                          <a:spcPts val="0"/>
                        </a:spcAft>
                      </a:pPr>
                      <a:r>
                        <a:rPr lang="zh-TW" sz="1600" b="0" dirty="0" smtClean="0">
                          <a:solidFill>
                            <a:schemeClr val="tx1"/>
                          </a:solidFill>
                          <a:effectLst/>
                          <a:latin typeface="標楷體" panose="03000509000000000000" pitchFamily="65" charset="-120"/>
                          <a:ea typeface="標楷體" panose="03000509000000000000" pitchFamily="65" charset="-120"/>
                        </a:rPr>
                        <a:t>已</a:t>
                      </a:r>
                      <a:r>
                        <a:rPr lang="zh-TW" sz="1600" b="0" dirty="0">
                          <a:solidFill>
                            <a:schemeClr val="tx1"/>
                          </a:solidFill>
                          <a:effectLst/>
                          <a:latin typeface="標楷體" panose="03000509000000000000" pitchFamily="65" charset="-120"/>
                          <a:ea typeface="標楷體" panose="03000509000000000000" pitchFamily="65" charset="-120"/>
                        </a:rPr>
                        <a:t>轉換比例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US" sz="1600" b="0" dirty="0">
                          <a:solidFill>
                            <a:schemeClr val="tx1"/>
                          </a:solidFill>
                          <a:effectLst/>
                          <a:latin typeface="標楷體" panose="03000509000000000000" pitchFamily="65" charset="-120"/>
                          <a:ea typeface="標楷體" panose="03000509000000000000" pitchFamily="65" charset="-120"/>
                        </a:rPr>
                        <a:t> </a:t>
                      </a:r>
                      <a:r>
                        <a:rPr lang="zh-TW" sz="1600" b="0" dirty="0" smtClean="0">
                          <a:solidFill>
                            <a:schemeClr val="tx1"/>
                          </a:solidFill>
                          <a:effectLst/>
                          <a:latin typeface="標楷體" panose="03000509000000000000" pitchFamily="65" charset="-120"/>
                          <a:ea typeface="標楷體" panose="03000509000000000000" pitchFamily="65" charset="-120"/>
                        </a:rPr>
                        <a:t>獨</a:t>
                      </a:r>
                      <a:r>
                        <a:rPr lang="zh-TW" sz="1600" b="0" dirty="0">
                          <a:solidFill>
                            <a:schemeClr val="tx1"/>
                          </a:solidFill>
                          <a:effectLst/>
                          <a:latin typeface="標楷體" panose="03000509000000000000" pitchFamily="65" charset="-120"/>
                          <a:ea typeface="標楷體" panose="03000509000000000000" pitchFamily="65" charset="-120"/>
                        </a:rPr>
                        <a:t>佔</a:t>
                      </a:r>
                      <a:r>
                        <a:rPr lang="en-US" sz="1600" b="0" dirty="0">
                          <a:solidFill>
                            <a:schemeClr val="tx1"/>
                          </a:solidFill>
                          <a:effectLst/>
                          <a:latin typeface="標楷體" panose="03000509000000000000" pitchFamily="65" charset="-120"/>
                          <a:ea typeface="標楷體" panose="03000509000000000000" pitchFamily="65" charset="-120"/>
                        </a:rPr>
                        <a:t>(1</a:t>
                      </a:r>
                      <a:r>
                        <a:rPr lang="zh-TW" sz="1600" b="0" dirty="0">
                          <a:solidFill>
                            <a:schemeClr val="tx1"/>
                          </a:solidFill>
                          <a:effectLst/>
                          <a:latin typeface="標楷體" panose="03000509000000000000" pitchFamily="65" charset="-120"/>
                          <a:ea typeface="標楷體" panose="03000509000000000000" pitchFamily="65" charset="-120"/>
                        </a:rPr>
                        <a:t>人</a:t>
                      </a:r>
                      <a:r>
                        <a:rPr lang="en-US" sz="1600" b="0" dirty="0">
                          <a:solidFill>
                            <a:schemeClr val="tx1"/>
                          </a:solidFill>
                          <a:effectLst/>
                          <a:latin typeface="標楷體" panose="03000509000000000000" pitchFamily="65" charset="-120"/>
                          <a:ea typeface="標楷體" panose="03000509000000000000" pitchFamily="65" charset="-120"/>
                        </a:rPr>
                        <a:t>)</a:t>
                      </a:r>
                      <a:endParaRPr lang="zh-TW" sz="1600" b="0" dirty="0">
                        <a:solidFill>
                          <a:schemeClr val="tx1"/>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US" sz="1600" b="0" dirty="0">
                          <a:solidFill>
                            <a:schemeClr val="tx1"/>
                          </a:solidFill>
                          <a:effectLst/>
                          <a:latin typeface="標楷體" panose="03000509000000000000" pitchFamily="65" charset="-120"/>
                          <a:ea typeface="標楷體" panose="03000509000000000000" pitchFamily="65" charset="-120"/>
                        </a:rPr>
                        <a:t> </a:t>
                      </a:r>
                      <a:r>
                        <a:rPr lang="zh-TW" sz="1600" b="0" dirty="0" smtClean="0">
                          <a:solidFill>
                            <a:schemeClr val="tx1"/>
                          </a:solidFill>
                          <a:effectLst/>
                          <a:latin typeface="標楷體" panose="03000509000000000000" pitchFamily="65" charset="-120"/>
                          <a:ea typeface="標楷體" panose="03000509000000000000" pitchFamily="65" charset="-120"/>
                        </a:rPr>
                        <a:t>寡占</a:t>
                      </a:r>
                      <a:r>
                        <a:rPr lang="en-US" sz="1600" b="0" dirty="0">
                          <a:solidFill>
                            <a:schemeClr val="tx1"/>
                          </a:solidFill>
                          <a:effectLst/>
                          <a:latin typeface="標楷體" panose="03000509000000000000" pitchFamily="65" charset="-120"/>
                          <a:ea typeface="標楷體" panose="03000509000000000000" pitchFamily="65" charset="-120"/>
                        </a:rPr>
                        <a:t>(2</a:t>
                      </a:r>
                      <a:r>
                        <a:rPr lang="zh-TW" sz="1600" b="0" dirty="0">
                          <a:solidFill>
                            <a:schemeClr val="tx1"/>
                          </a:solidFill>
                          <a:effectLst/>
                          <a:latin typeface="標楷體" panose="03000509000000000000" pitchFamily="65" charset="-120"/>
                          <a:ea typeface="標楷體" panose="03000509000000000000" pitchFamily="65" charset="-120"/>
                        </a:rPr>
                        <a:t>人</a:t>
                      </a:r>
                      <a:r>
                        <a:rPr lang="en-US" sz="1600" b="0" dirty="0">
                          <a:solidFill>
                            <a:schemeClr val="tx1"/>
                          </a:solidFill>
                          <a:effectLst/>
                          <a:latin typeface="標楷體" panose="03000509000000000000" pitchFamily="65" charset="-120"/>
                          <a:ea typeface="標楷體" panose="03000509000000000000" pitchFamily="65" charset="-120"/>
                        </a:rPr>
                        <a:t>)</a:t>
                      </a:r>
                      <a:endParaRPr lang="zh-TW" sz="1600" b="0" dirty="0">
                        <a:solidFill>
                          <a:schemeClr val="tx1"/>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US" sz="1600" b="0" dirty="0">
                          <a:solidFill>
                            <a:schemeClr val="tx1"/>
                          </a:solidFill>
                          <a:effectLst/>
                          <a:latin typeface="標楷體" panose="03000509000000000000" pitchFamily="65" charset="-120"/>
                          <a:ea typeface="標楷體" panose="03000509000000000000" pitchFamily="65" charset="-120"/>
                        </a:rPr>
                        <a:t> </a:t>
                      </a:r>
                      <a:r>
                        <a:rPr lang="zh-TW" sz="1600" b="0" dirty="0" smtClean="0">
                          <a:solidFill>
                            <a:schemeClr val="tx1"/>
                          </a:solidFill>
                          <a:effectLst/>
                          <a:latin typeface="標楷體" panose="03000509000000000000" pitchFamily="65" charset="-120"/>
                          <a:ea typeface="標楷體" panose="03000509000000000000" pitchFamily="65" charset="-120"/>
                        </a:rPr>
                        <a:t>完全</a:t>
                      </a:r>
                      <a:r>
                        <a:rPr lang="zh-TW" sz="1600" b="0" dirty="0">
                          <a:solidFill>
                            <a:schemeClr val="tx1"/>
                          </a:solidFill>
                          <a:effectLst/>
                          <a:latin typeface="標楷體" panose="03000509000000000000" pitchFamily="65" charset="-120"/>
                          <a:ea typeface="標楷體" panose="03000509000000000000" pitchFamily="65" charset="-120"/>
                        </a:rPr>
                        <a:t>競爭</a:t>
                      </a:r>
                      <a:r>
                        <a:rPr lang="en-US" sz="1600" b="0" dirty="0">
                          <a:solidFill>
                            <a:schemeClr val="tx1"/>
                          </a:solidFill>
                          <a:effectLst/>
                          <a:latin typeface="標楷體" panose="03000509000000000000" pitchFamily="65" charset="-120"/>
                          <a:ea typeface="標楷體" panose="03000509000000000000" pitchFamily="65" charset="-120"/>
                        </a:rPr>
                        <a:t>(</a:t>
                      </a:r>
                      <a:r>
                        <a:rPr lang="zh-TW" sz="1600" b="0" dirty="0">
                          <a:solidFill>
                            <a:schemeClr val="tx1"/>
                          </a:solidFill>
                          <a:effectLst/>
                          <a:latin typeface="標楷體" panose="03000509000000000000" pitchFamily="65" charset="-120"/>
                          <a:ea typeface="標楷體" panose="03000509000000000000" pitchFamily="65" charset="-120"/>
                        </a:rPr>
                        <a:t>多人</a:t>
                      </a:r>
                      <a:r>
                        <a:rPr lang="en-US" sz="1600" b="0" dirty="0">
                          <a:solidFill>
                            <a:schemeClr val="tx1"/>
                          </a:solidFill>
                          <a:effectLst/>
                          <a:latin typeface="標楷體" panose="03000509000000000000" pitchFamily="65" charset="-120"/>
                          <a:ea typeface="標楷體" panose="03000509000000000000" pitchFamily="65" charset="-120"/>
                        </a:rPr>
                        <a:t>)</a:t>
                      </a:r>
                      <a:endParaRPr lang="zh-TW" sz="1600" b="0" dirty="0">
                        <a:solidFill>
                          <a:schemeClr val="tx1"/>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獨占與寡占</a:t>
                      </a:r>
                    </a:p>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的差距</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寡占與完全競爭</a:t>
                      </a:r>
                    </a:p>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的差距</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15097.662</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15096.673</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14584.301</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0.988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512.373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cs typeface="Times New Roman" panose="02020603050405020304" pitchFamily="18" charset="0"/>
                        </a:rPr>
                        <a:t>10%</a:t>
                      </a:r>
                      <a:endParaRPr lang="zh-TW" sz="160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13586.663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13586.002</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13125.871</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0.661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460.131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20%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12076.076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12075.650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11667.441</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0.427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408.209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30%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10565.831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10565.571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10209.011</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0.260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356.560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40%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9055.875</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9055.761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8750.580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0.114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305.180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50%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7546.169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7546.169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7292.150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254.018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60%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6036.681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6036.681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5833.720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202.961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70%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4527.386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4527.386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4375.290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152.096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80%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3018.244</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3018.244</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2916.860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101.384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90%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1509.122</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1509.122</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1458.430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50.692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100%</a:t>
                      </a:r>
                      <a:endParaRPr lang="zh-TW" sz="16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4751718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solidFill>
                  <a:prstClr val="black"/>
                </a:solidFill>
                <a:latin typeface="標楷體" panose="03000509000000000000" pitchFamily="65" charset="-120"/>
                <a:ea typeface="標楷體" panose="03000509000000000000" pitchFamily="65" charset="-120"/>
              </a:rPr>
              <a:t>持有型態對於可轉換公司債價值的</a:t>
            </a:r>
            <a:r>
              <a:rPr lang="zh-TW" altLang="zh-TW" dirty="0" smtClean="0">
                <a:solidFill>
                  <a:prstClr val="black"/>
                </a:solidFill>
                <a:latin typeface="標楷體" panose="03000509000000000000" pitchFamily="65" charset="-120"/>
                <a:ea typeface="標楷體" panose="03000509000000000000" pitchFamily="65" charset="-120"/>
              </a:rPr>
              <a:t>影響</a:t>
            </a:r>
            <a:r>
              <a:rPr lang="en-US" altLang="zh-TW" dirty="0" smtClean="0">
                <a:solidFill>
                  <a:prstClr val="black"/>
                </a:solidFill>
                <a:latin typeface="標楷體" panose="03000509000000000000" pitchFamily="65" charset="-120"/>
                <a:ea typeface="標楷體" panose="03000509000000000000" pitchFamily="65" charset="-120"/>
              </a:rPr>
              <a:t>C’</a:t>
            </a:r>
            <a:endParaRPr lang="zh-TW" altLang="en-US" dirty="0"/>
          </a:p>
        </p:txBody>
      </p:sp>
      <p:graphicFrame>
        <p:nvGraphicFramePr>
          <p:cNvPr id="5" name="內容版面配置區 4"/>
          <p:cNvGraphicFramePr>
            <a:graphicFrameLocks noGrp="1"/>
          </p:cNvGraphicFramePr>
          <p:nvPr>
            <p:ph idx="1"/>
            <p:extLst/>
          </p:nvPr>
        </p:nvGraphicFramePr>
        <p:xfrm>
          <a:off x="838200" y="1814052"/>
          <a:ext cx="10515600" cy="4601083"/>
        </p:xfrm>
        <a:graphic>
          <a:graphicData uri="http://schemas.openxmlformats.org/drawingml/2006/table">
            <a:tbl>
              <a:tblPr firstRow="1" bandRow="1">
                <a:tableStyleId>{93296810-A885-4BE3-A3E7-6D5BEEA58F35}</a:tableStyleId>
              </a:tblPr>
              <a:tblGrid>
                <a:gridCol w="1752600"/>
                <a:gridCol w="1752600"/>
                <a:gridCol w="1752600"/>
                <a:gridCol w="1752600"/>
                <a:gridCol w="1752600"/>
                <a:gridCol w="1752600"/>
              </a:tblGrid>
              <a:tr h="515558">
                <a:tc>
                  <a:txBody>
                    <a:bodyPr/>
                    <a:lstStyle/>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前一期</a:t>
                      </a:r>
                      <a:r>
                        <a:rPr lang="zh-TW" sz="1600" b="0" dirty="0" smtClean="0">
                          <a:solidFill>
                            <a:schemeClr val="tx1"/>
                          </a:solidFill>
                          <a:effectLst/>
                          <a:latin typeface="標楷體" panose="03000509000000000000" pitchFamily="65" charset="-120"/>
                          <a:ea typeface="標楷體" panose="03000509000000000000" pitchFamily="65" charset="-120"/>
                        </a:rPr>
                        <a:t>累積</a:t>
                      </a:r>
                      <a:endParaRPr lang="en-US" altLang="zh-TW" sz="1600" b="0" dirty="0" smtClean="0">
                        <a:solidFill>
                          <a:schemeClr val="tx1"/>
                        </a:solidFill>
                        <a:effectLst/>
                        <a:latin typeface="標楷體" panose="03000509000000000000" pitchFamily="65" charset="-120"/>
                        <a:ea typeface="標楷體" panose="03000509000000000000" pitchFamily="65" charset="-120"/>
                      </a:endParaRPr>
                    </a:p>
                    <a:p>
                      <a:pPr algn="ctr">
                        <a:lnSpc>
                          <a:spcPct val="107000"/>
                        </a:lnSpc>
                        <a:spcAft>
                          <a:spcPts val="0"/>
                        </a:spcAft>
                      </a:pPr>
                      <a:r>
                        <a:rPr lang="zh-TW" sz="1600" b="0" dirty="0" smtClean="0">
                          <a:solidFill>
                            <a:schemeClr val="tx1"/>
                          </a:solidFill>
                          <a:effectLst/>
                          <a:latin typeface="標楷體" panose="03000509000000000000" pitchFamily="65" charset="-120"/>
                          <a:ea typeface="標楷體" panose="03000509000000000000" pitchFamily="65" charset="-120"/>
                        </a:rPr>
                        <a:t>已轉換比例</a:t>
                      </a:r>
                      <a:endParaRPr lang="zh-TW" sz="1600" b="0" dirty="0">
                        <a:solidFill>
                          <a:schemeClr val="tx1"/>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US" sz="1600" b="0" dirty="0">
                          <a:solidFill>
                            <a:schemeClr val="tx1"/>
                          </a:solidFill>
                          <a:effectLst/>
                          <a:latin typeface="標楷體" panose="03000509000000000000" pitchFamily="65" charset="-120"/>
                          <a:ea typeface="標楷體" panose="03000509000000000000" pitchFamily="65" charset="-120"/>
                        </a:rPr>
                        <a:t> </a:t>
                      </a:r>
                      <a:r>
                        <a:rPr lang="zh-TW" sz="1600" b="0" dirty="0" smtClean="0">
                          <a:solidFill>
                            <a:schemeClr val="tx1"/>
                          </a:solidFill>
                          <a:effectLst/>
                          <a:latin typeface="標楷體" panose="03000509000000000000" pitchFamily="65" charset="-120"/>
                          <a:ea typeface="標楷體" panose="03000509000000000000" pitchFamily="65" charset="-120"/>
                        </a:rPr>
                        <a:t>獨</a:t>
                      </a:r>
                      <a:r>
                        <a:rPr lang="zh-TW" sz="1600" b="0" dirty="0">
                          <a:solidFill>
                            <a:schemeClr val="tx1"/>
                          </a:solidFill>
                          <a:effectLst/>
                          <a:latin typeface="標楷體" panose="03000509000000000000" pitchFamily="65" charset="-120"/>
                          <a:ea typeface="標楷體" panose="03000509000000000000" pitchFamily="65" charset="-120"/>
                        </a:rPr>
                        <a:t>佔</a:t>
                      </a:r>
                      <a:r>
                        <a:rPr lang="en-US" sz="1600" b="0" dirty="0">
                          <a:solidFill>
                            <a:schemeClr val="tx1"/>
                          </a:solidFill>
                          <a:effectLst/>
                          <a:latin typeface="標楷體" panose="03000509000000000000" pitchFamily="65" charset="-120"/>
                          <a:ea typeface="標楷體" panose="03000509000000000000" pitchFamily="65" charset="-120"/>
                        </a:rPr>
                        <a:t>(</a:t>
                      </a:r>
                      <a:r>
                        <a:rPr lang="en-US" sz="1600" b="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a:t>
                      </a:r>
                      <a:r>
                        <a:rPr lang="zh-TW" sz="1600" b="0" dirty="0">
                          <a:solidFill>
                            <a:schemeClr val="tx1"/>
                          </a:solidFill>
                          <a:effectLst/>
                          <a:latin typeface="標楷體" panose="03000509000000000000" pitchFamily="65" charset="-120"/>
                          <a:ea typeface="標楷體" panose="03000509000000000000" pitchFamily="65" charset="-120"/>
                        </a:rPr>
                        <a:t>人</a:t>
                      </a:r>
                      <a:r>
                        <a:rPr lang="en-US" sz="1600" b="0" dirty="0">
                          <a:solidFill>
                            <a:schemeClr val="tx1"/>
                          </a:solidFill>
                          <a:effectLst/>
                          <a:latin typeface="標楷體" panose="03000509000000000000" pitchFamily="65" charset="-120"/>
                          <a:ea typeface="標楷體" panose="03000509000000000000" pitchFamily="65" charset="-120"/>
                        </a:rPr>
                        <a:t>)</a:t>
                      </a:r>
                      <a:endParaRPr lang="zh-TW" sz="1600" b="0" dirty="0">
                        <a:solidFill>
                          <a:schemeClr val="tx1"/>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US" sz="1600" b="0" dirty="0">
                          <a:solidFill>
                            <a:schemeClr val="tx1"/>
                          </a:solidFill>
                          <a:effectLst/>
                          <a:latin typeface="標楷體" panose="03000509000000000000" pitchFamily="65" charset="-120"/>
                          <a:ea typeface="標楷體" panose="03000509000000000000" pitchFamily="65" charset="-120"/>
                        </a:rPr>
                        <a:t> </a:t>
                      </a:r>
                      <a:r>
                        <a:rPr lang="zh-TW" sz="1600" b="0" dirty="0" smtClean="0">
                          <a:solidFill>
                            <a:schemeClr val="tx1"/>
                          </a:solidFill>
                          <a:effectLst/>
                          <a:latin typeface="標楷體" panose="03000509000000000000" pitchFamily="65" charset="-120"/>
                          <a:ea typeface="標楷體" panose="03000509000000000000" pitchFamily="65" charset="-120"/>
                        </a:rPr>
                        <a:t>寡占</a:t>
                      </a:r>
                      <a:r>
                        <a:rPr lang="en-US" sz="1600" b="0" dirty="0">
                          <a:solidFill>
                            <a:schemeClr val="tx1"/>
                          </a:solidFill>
                          <a:effectLst/>
                          <a:latin typeface="標楷體" panose="03000509000000000000" pitchFamily="65" charset="-120"/>
                          <a:ea typeface="標楷體" panose="03000509000000000000" pitchFamily="65" charset="-120"/>
                        </a:rPr>
                        <a:t>(</a:t>
                      </a:r>
                      <a:r>
                        <a:rPr lang="en-US" sz="1600" b="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r>
                        <a:rPr lang="zh-TW" sz="1600" b="0" dirty="0">
                          <a:solidFill>
                            <a:schemeClr val="tx1"/>
                          </a:solidFill>
                          <a:effectLst/>
                          <a:latin typeface="標楷體" panose="03000509000000000000" pitchFamily="65" charset="-120"/>
                          <a:ea typeface="標楷體" panose="03000509000000000000" pitchFamily="65" charset="-120"/>
                        </a:rPr>
                        <a:t>人</a:t>
                      </a:r>
                      <a:r>
                        <a:rPr lang="en-US" sz="1600" b="0" dirty="0">
                          <a:solidFill>
                            <a:schemeClr val="tx1"/>
                          </a:solidFill>
                          <a:effectLst/>
                          <a:latin typeface="標楷體" panose="03000509000000000000" pitchFamily="65" charset="-120"/>
                          <a:ea typeface="標楷體" panose="03000509000000000000" pitchFamily="65" charset="-120"/>
                        </a:rPr>
                        <a:t>)</a:t>
                      </a:r>
                      <a:endParaRPr lang="zh-TW" sz="1600" b="0" dirty="0">
                        <a:solidFill>
                          <a:schemeClr val="tx1"/>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US" sz="1600" b="0" dirty="0">
                          <a:solidFill>
                            <a:schemeClr val="tx1"/>
                          </a:solidFill>
                          <a:effectLst/>
                          <a:latin typeface="標楷體" panose="03000509000000000000" pitchFamily="65" charset="-120"/>
                          <a:ea typeface="標楷體" panose="03000509000000000000" pitchFamily="65" charset="-120"/>
                        </a:rPr>
                        <a:t> </a:t>
                      </a:r>
                      <a:r>
                        <a:rPr lang="zh-TW" sz="1600" b="0" dirty="0" smtClean="0">
                          <a:solidFill>
                            <a:schemeClr val="tx1"/>
                          </a:solidFill>
                          <a:effectLst/>
                          <a:latin typeface="標楷體" panose="03000509000000000000" pitchFamily="65" charset="-120"/>
                          <a:ea typeface="標楷體" panose="03000509000000000000" pitchFamily="65" charset="-120"/>
                        </a:rPr>
                        <a:t>完全</a:t>
                      </a:r>
                      <a:r>
                        <a:rPr lang="zh-TW" sz="1600" b="0" dirty="0">
                          <a:solidFill>
                            <a:schemeClr val="tx1"/>
                          </a:solidFill>
                          <a:effectLst/>
                          <a:latin typeface="標楷體" panose="03000509000000000000" pitchFamily="65" charset="-120"/>
                          <a:ea typeface="標楷體" panose="03000509000000000000" pitchFamily="65" charset="-120"/>
                        </a:rPr>
                        <a:t>競爭</a:t>
                      </a:r>
                      <a:r>
                        <a:rPr lang="en-US" sz="1600" b="0" dirty="0">
                          <a:solidFill>
                            <a:schemeClr val="tx1"/>
                          </a:solidFill>
                          <a:effectLst/>
                          <a:latin typeface="標楷體" panose="03000509000000000000" pitchFamily="65" charset="-120"/>
                          <a:ea typeface="標楷體" panose="03000509000000000000" pitchFamily="65" charset="-120"/>
                        </a:rPr>
                        <a:t>(</a:t>
                      </a:r>
                      <a:r>
                        <a:rPr lang="zh-TW" sz="1600" b="0" dirty="0">
                          <a:solidFill>
                            <a:schemeClr val="tx1"/>
                          </a:solidFill>
                          <a:effectLst/>
                          <a:latin typeface="標楷體" panose="03000509000000000000" pitchFamily="65" charset="-120"/>
                          <a:ea typeface="標楷體" panose="03000509000000000000" pitchFamily="65" charset="-120"/>
                        </a:rPr>
                        <a:t>多人</a:t>
                      </a:r>
                      <a:r>
                        <a:rPr lang="en-US" sz="1600" b="0" dirty="0">
                          <a:solidFill>
                            <a:schemeClr val="tx1"/>
                          </a:solidFill>
                          <a:effectLst/>
                          <a:latin typeface="標楷體" panose="03000509000000000000" pitchFamily="65" charset="-120"/>
                          <a:ea typeface="標楷體" panose="03000509000000000000" pitchFamily="65" charset="-120"/>
                        </a:rPr>
                        <a:t>)</a:t>
                      </a:r>
                      <a:endParaRPr lang="zh-TW" sz="1600" b="0" dirty="0">
                        <a:solidFill>
                          <a:schemeClr val="tx1"/>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獨占與寡占</a:t>
                      </a:r>
                    </a:p>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的差距</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寡占與完全競爭</a:t>
                      </a:r>
                    </a:p>
                    <a:p>
                      <a:pPr algn="ctr">
                        <a:lnSpc>
                          <a:spcPct val="107000"/>
                        </a:lnSpc>
                        <a:spcAft>
                          <a:spcPts val="0"/>
                        </a:spcAft>
                      </a:pPr>
                      <a:r>
                        <a:rPr lang="zh-TW" sz="1600" b="0" dirty="0">
                          <a:solidFill>
                            <a:schemeClr val="tx1"/>
                          </a:solidFill>
                          <a:effectLst/>
                          <a:latin typeface="標楷體" panose="03000509000000000000" pitchFamily="65" charset="-120"/>
                          <a:ea typeface="標楷體" panose="03000509000000000000" pitchFamily="65" charset="-120"/>
                        </a:rPr>
                        <a:t>的差距</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0%</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9327.795</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9326.278</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7537.915</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1.517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1788.362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10%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8820.924</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8819.943</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6784.124</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0.981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2035.819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20%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8314.053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8313.608</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6030.332</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0.444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2283.276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30%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7274.029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7273.759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5276.541</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0.270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1997.218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40%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6234.308</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6234.189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4522.749</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0.119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1711.440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50%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5194.846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5194.846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3768.958</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1425.889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60%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4155.613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4155.613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3015.166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1140.447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70%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3116.580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3116.580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2261.375</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855.205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80%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2077.706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2077.706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1507.583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570.122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90%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1038.853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1038.853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753.792</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285.061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lnSpc>
                          <a:spcPct val="107000"/>
                        </a:lnSpc>
                        <a:spcAft>
                          <a:spcPts val="0"/>
                        </a:spcAft>
                      </a:pPr>
                      <a:r>
                        <a:rPr lang="en-US" sz="1600">
                          <a:effectLst/>
                          <a:latin typeface="Times New Roman" panose="02020603050405020304" pitchFamily="18" charset="0"/>
                          <a:ea typeface="標楷體" panose="03000509000000000000" pitchFamily="65" charset="-120"/>
                          <a:cs typeface="Times New Roman" panose="02020603050405020304" pitchFamily="18" charset="0"/>
                        </a:rPr>
                        <a:t>100%</a:t>
                      </a:r>
                      <a:endParaRPr lang="zh-TW" sz="16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0.000 </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0.000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41</a:t>
            </a:fld>
            <a:endParaRPr lang="zh-TW" altLang="en-US"/>
          </a:p>
        </p:txBody>
      </p:sp>
    </p:spTree>
    <p:extLst>
      <p:ext uri="{BB962C8B-B14F-4D97-AF65-F5344CB8AC3E}">
        <p14:creationId xmlns:p14="http://schemas.microsoft.com/office/powerpoint/2010/main" val="41255804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latin typeface="標楷體" panose="03000509000000000000" pitchFamily="65" charset="-120"/>
                <a:ea typeface="標楷體" panose="03000509000000000000" pitchFamily="65" charset="-120"/>
              </a:rPr>
              <a:t>發行日可轉換公司債價值</a:t>
            </a:r>
            <a:endParaRPr lang="zh-TW" altLang="en-US" dirty="0">
              <a:latin typeface="標楷體" panose="03000509000000000000" pitchFamily="65" charset="-120"/>
              <a:ea typeface="標楷體" panose="03000509000000000000" pitchFamily="65" charset="-120"/>
            </a:endParaRPr>
          </a:p>
        </p:txBody>
      </p:sp>
      <p:graphicFrame>
        <p:nvGraphicFramePr>
          <p:cNvPr id="6" name="內容版面配置區 5"/>
          <p:cNvGraphicFramePr>
            <a:graphicFrameLocks noGrp="1"/>
          </p:cNvGraphicFramePr>
          <p:nvPr>
            <p:ph idx="1"/>
            <p:extLst>
              <p:ext uri="{D42A27DB-BD31-4B8C-83A1-F6EECF244321}">
                <p14:modId xmlns:p14="http://schemas.microsoft.com/office/powerpoint/2010/main" val="789666868"/>
              </p:ext>
            </p:extLst>
          </p:nvPr>
        </p:nvGraphicFramePr>
        <p:xfrm>
          <a:off x="2376283" y="1620469"/>
          <a:ext cx="6118790" cy="4735881"/>
        </p:xfrm>
        <a:graphic>
          <a:graphicData uri="http://schemas.openxmlformats.org/drawingml/2006/table">
            <a:tbl>
              <a:tblPr firstRow="1" firstCol="1" bandRow="1"/>
              <a:tblGrid>
                <a:gridCol w="1851197"/>
                <a:gridCol w="1422531"/>
                <a:gridCol w="1422531"/>
                <a:gridCol w="1422531"/>
              </a:tblGrid>
              <a:tr h="687452">
                <a:tc>
                  <a:txBody>
                    <a:bodyPr/>
                    <a:lstStyle/>
                    <a:p>
                      <a:pPr algn="ctr">
                        <a:lnSpc>
                          <a:spcPct val="107000"/>
                        </a:lnSpc>
                        <a:spcAft>
                          <a:spcPts val="0"/>
                        </a:spcAft>
                      </a:pP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當期</a:t>
                      </a:r>
                      <a:endParaRPr lang="zh-TW" sz="2000" dirty="0">
                        <a:effectLst/>
                        <a:latin typeface="Times New Roman" panose="02020603050405020304" pitchFamily="18" charset="0"/>
                        <a:ea typeface="標楷體" panose="03000509000000000000" pitchFamily="65" charset="-120"/>
                      </a:endParaRPr>
                    </a:p>
                    <a:p>
                      <a:pPr algn="ctr">
                        <a:lnSpc>
                          <a:spcPct val="107000"/>
                        </a:lnSpc>
                        <a:spcAft>
                          <a:spcPts val="0"/>
                        </a:spcAft>
                      </a:pPr>
                      <a:r>
                        <a:rPr lang="zh-TW" sz="2000" dirty="0" smtClea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轉換</a:t>
                      </a: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比例</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 </a:t>
                      </a:r>
                      <a:r>
                        <a:rPr lang="zh-TW" sz="2000" dirty="0" smtClea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獨占</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 </a:t>
                      </a:r>
                      <a:r>
                        <a:rPr lang="zh-TW" sz="2000" dirty="0" smtClea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寡占</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 </a:t>
                      </a:r>
                      <a:r>
                        <a:rPr lang="zh-TW" sz="2000" dirty="0" smtClea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完全</a:t>
                      </a: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競爭</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11557.229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11556.054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10962.531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11510.532</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11509.182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10871.221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11473.318</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11471.919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11467.868</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11270.537</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11269.209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11265.836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11103.323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11102.318</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11099.521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10962.534</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10962.534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10959.737</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10841.919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10841.919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10840.202</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10737.053</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10737.053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10736.470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10644.100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10644.100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10644.100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90%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10560.492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10560.492</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10560.492</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039">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10485.000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10485.000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10485.000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42</a:t>
            </a:fld>
            <a:endParaRPr lang="zh-TW" altLang="en-US" dirty="0"/>
          </a:p>
        </p:txBody>
      </p:sp>
      <p:sp>
        <p:nvSpPr>
          <p:cNvPr id="7" name="文字方塊 6"/>
          <p:cNvSpPr txBox="1"/>
          <p:nvPr/>
        </p:nvSpPr>
        <p:spPr>
          <a:xfrm>
            <a:off x="9156288" y="4879022"/>
            <a:ext cx="1651819" cy="369332"/>
          </a:xfrm>
          <a:prstGeom prst="rect">
            <a:avLst/>
          </a:prstGeom>
          <a:noFill/>
        </p:spPr>
        <p:txBody>
          <a:bodyPr wrap="square" rtlCol="0">
            <a:spAutoFit/>
          </a:bodyPr>
          <a:lstStyle/>
          <a:p>
            <a:r>
              <a:rPr lang="zh-TW" altLang="en-US" dirty="0" smtClean="0">
                <a:hlinkClick r:id="rId2" action="ppaction://hlinksldjump"/>
              </a:rPr>
              <a:t>獨占下一期</a:t>
            </a:r>
            <a:endParaRPr lang="zh-TW" altLang="en-US" dirty="0"/>
          </a:p>
        </p:txBody>
      </p:sp>
      <p:sp>
        <p:nvSpPr>
          <p:cNvPr id="8" name="文字方塊 7"/>
          <p:cNvSpPr txBox="1"/>
          <p:nvPr/>
        </p:nvSpPr>
        <p:spPr>
          <a:xfrm>
            <a:off x="9156289" y="5433020"/>
            <a:ext cx="1651819" cy="369332"/>
          </a:xfrm>
          <a:prstGeom prst="rect">
            <a:avLst/>
          </a:prstGeom>
          <a:noFill/>
        </p:spPr>
        <p:txBody>
          <a:bodyPr wrap="square" rtlCol="0">
            <a:spAutoFit/>
          </a:bodyPr>
          <a:lstStyle/>
          <a:p>
            <a:r>
              <a:rPr lang="zh-TW" altLang="en-US" dirty="0" smtClean="0">
                <a:hlinkClick r:id="rId3" action="ppaction://hlinksldjump"/>
              </a:rPr>
              <a:t>寡占下一期</a:t>
            </a:r>
            <a:endParaRPr lang="zh-TW" altLang="en-US" dirty="0"/>
          </a:p>
        </p:txBody>
      </p:sp>
      <p:sp>
        <p:nvSpPr>
          <p:cNvPr id="9" name="文字方塊 8"/>
          <p:cNvSpPr txBox="1"/>
          <p:nvPr/>
        </p:nvSpPr>
        <p:spPr>
          <a:xfrm>
            <a:off x="9156290" y="5987018"/>
            <a:ext cx="1993491" cy="369332"/>
          </a:xfrm>
          <a:prstGeom prst="rect">
            <a:avLst/>
          </a:prstGeom>
          <a:noFill/>
        </p:spPr>
        <p:txBody>
          <a:bodyPr wrap="square" rtlCol="0">
            <a:spAutoFit/>
          </a:bodyPr>
          <a:lstStyle/>
          <a:p>
            <a:r>
              <a:rPr lang="zh-TW" altLang="en-US" dirty="0" smtClean="0">
                <a:hlinkClick r:id="rId4" action="ppaction://hlinksldjump"/>
              </a:rPr>
              <a:t>完全競爭下一期</a:t>
            </a:r>
            <a:endParaRPr lang="zh-TW" altLang="en-US" dirty="0"/>
          </a:p>
        </p:txBody>
      </p:sp>
    </p:spTree>
    <p:extLst>
      <p:ext uri="{BB962C8B-B14F-4D97-AF65-F5344CB8AC3E}">
        <p14:creationId xmlns:p14="http://schemas.microsoft.com/office/powerpoint/2010/main" val="29954197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0585"/>
            <a:ext cx="10515600" cy="1325563"/>
          </a:xfrm>
        </p:spPr>
        <p:txBody>
          <a:bodyPr/>
          <a:lstStyle/>
          <a:p>
            <a:r>
              <a:rPr lang="zh-TW" altLang="zh-TW" dirty="0">
                <a:solidFill>
                  <a:prstClr val="black"/>
                </a:solidFill>
                <a:latin typeface="標楷體" panose="03000509000000000000" pitchFamily="65" charset="-120"/>
                <a:ea typeface="標楷體" panose="03000509000000000000" pitchFamily="65" charset="-120"/>
              </a:rPr>
              <a:t>持有型態對於可轉換公司債價值的影響</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a:lnSpc>
                    <a:spcPct val="107000"/>
                  </a:lnSpc>
                  <a:spcAft>
                    <a:spcPts val="800"/>
                  </a:spcAft>
                  <a:tabLst>
                    <a:tab pos="685800" algn="l"/>
                  </a:tabLst>
                </a:pPr>
                <a:r>
                  <a:rPr lang="zh-TW" altLang="en-US" dirty="0" smtClean="0">
                    <a:latin typeface="Times New Roman" panose="02020603050405020304" pitchFamily="18" charset="0"/>
                    <a:ea typeface="標楷體" panose="03000509000000000000" pitchFamily="65" charset="-120"/>
                  </a:rPr>
                  <a:t>現象</a:t>
                </a:r>
                <a:endParaRPr lang="en-US" altLang="zh-TW" dirty="0" smtClean="0">
                  <a:latin typeface="Times New Roman" panose="02020603050405020304" pitchFamily="18" charset="0"/>
                  <a:ea typeface="標楷體" panose="03000509000000000000" pitchFamily="65" charset="-120"/>
                </a:endParaRPr>
              </a:p>
              <a:p>
                <a:pPr marL="342900" lvl="0" indent="-342900">
                  <a:lnSpc>
                    <a:spcPct val="107000"/>
                  </a:lnSpc>
                  <a:spcAft>
                    <a:spcPts val="800"/>
                  </a:spcAft>
                  <a:buFont typeface="+mj-lt"/>
                  <a:buAutoNum type="arabicPeriod"/>
                  <a:tabLst>
                    <a:tab pos="685800" algn="l"/>
                  </a:tabLst>
                </a:pPr>
                <a:r>
                  <a:rPr lang="en-US" altLang="zh-TW" dirty="0" smtClean="0">
                    <a:latin typeface="Times New Roman" panose="02020603050405020304" pitchFamily="18" charset="0"/>
                    <a:ea typeface="標楷體" panose="03000509000000000000" pitchFamily="65" charset="-120"/>
                  </a:rPr>
                  <a:t>CB</a:t>
                </a:r>
                <a:r>
                  <a:rPr lang="zh-TW" altLang="zh-TW" dirty="0">
                    <a:effectLst/>
                    <a:latin typeface="Times New Roman" panose="02020603050405020304" pitchFamily="18" charset="0"/>
                    <a:ea typeface="標楷體" panose="03000509000000000000" pitchFamily="65" charset="-120"/>
                  </a:rPr>
                  <a:t>價值</a:t>
                </a:r>
                <a:r>
                  <a:rPr lang="zh-TW" altLang="zh-TW" dirty="0" smtClean="0">
                    <a:effectLst/>
                    <a:latin typeface="Times New Roman" panose="02020603050405020304" pitchFamily="18" charset="0"/>
                    <a:ea typeface="標楷體" panose="03000509000000000000" pitchFamily="65" charset="-120"/>
                  </a:rPr>
                  <a:t>：</a:t>
                </a:r>
                <a:r>
                  <a:rPr lang="zh-TW" altLang="en-US" dirty="0" smtClean="0">
                    <a:effectLst/>
                    <a:latin typeface="Times New Roman" panose="02020603050405020304" pitchFamily="18" charset="0"/>
                    <a:ea typeface="標楷體" panose="03000509000000000000" pitchFamily="65" charset="-120"/>
                  </a:rPr>
                  <a:t>獨</a:t>
                </a:r>
                <a:r>
                  <a:rPr lang="zh-TW" altLang="zh-TW" dirty="0" smtClean="0">
                    <a:effectLst/>
                    <a:latin typeface="Times New Roman" panose="02020603050405020304" pitchFamily="18" charset="0"/>
                    <a:ea typeface="標楷體" panose="03000509000000000000" pitchFamily="65" charset="-120"/>
                  </a:rPr>
                  <a:t>占</a:t>
                </a:r>
                <a:r>
                  <a:rPr lang="en-US" altLang="zh-TW" dirty="0">
                    <a:effectLst/>
                    <a:latin typeface="Times New Roman" panose="02020603050405020304" pitchFamily="18" charset="0"/>
                    <a:ea typeface="標楷體" panose="03000509000000000000" pitchFamily="65" charset="-120"/>
                  </a:rPr>
                  <a:t>(1</a:t>
                </a:r>
                <a:r>
                  <a:rPr lang="zh-TW" altLang="zh-TW" dirty="0">
                    <a:effectLst/>
                    <a:latin typeface="Times New Roman" panose="02020603050405020304" pitchFamily="18" charset="0"/>
                    <a:ea typeface="標楷體" panose="03000509000000000000" pitchFamily="65" charset="-120"/>
                  </a:rPr>
                  <a:t>人</a:t>
                </a:r>
                <a:r>
                  <a:rPr lang="en-US" altLang="zh-TW" dirty="0">
                    <a:effectLst/>
                    <a:latin typeface="Times New Roman" panose="02020603050405020304" pitchFamily="18" charset="0"/>
                    <a:ea typeface="標楷體" panose="03000509000000000000" pitchFamily="65" charset="-120"/>
                  </a:rPr>
                  <a:t>)</a:t>
                </a:r>
                <a14:m>
                  <m:oMath xmlns:m="http://schemas.openxmlformats.org/officeDocument/2006/math">
                    <m:r>
                      <a:rPr lang="en-US" altLang="zh-TW">
                        <a:effectLst/>
                        <a:latin typeface="Cambria Math" panose="02040503050406030204" pitchFamily="18" charset="0"/>
                        <a:ea typeface="標楷體" panose="03000509000000000000" pitchFamily="65" charset="-120"/>
                      </a:rPr>
                      <m:t>≥</m:t>
                    </m:r>
                    <m:r>
                      <a:rPr lang="zh-TW" altLang="en-US" i="1" smtClean="0">
                        <a:latin typeface="Cambria Math" panose="02040503050406030204" pitchFamily="18" charset="0"/>
                        <a:ea typeface="標楷體" panose="03000509000000000000" pitchFamily="65" charset="-120"/>
                      </a:rPr>
                      <m:t>寡</m:t>
                    </m:r>
                    <m:r>
                      <a:rPr lang="zh-TW" altLang="en-US" i="1">
                        <a:latin typeface="Cambria Math" panose="02040503050406030204" pitchFamily="18" charset="0"/>
                        <a:ea typeface="標楷體" panose="03000509000000000000" pitchFamily="65" charset="-120"/>
                      </a:rPr>
                      <m:t>占</m:t>
                    </m:r>
                  </m:oMath>
                </a14:m>
                <a:r>
                  <a:rPr lang="en-US" altLang="zh-TW" dirty="0">
                    <a:effectLst/>
                    <a:latin typeface="Times New Roman" panose="02020603050405020304" pitchFamily="18" charset="0"/>
                    <a:ea typeface="標楷體" panose="03000509000000000000" pitchFamily="65" charset="-120"/>
                  </a:rPr>
                  <a:t>(2</a:t>
                </a:r>
                <a:r>
                  <a:rPr lang="zh-TW" altLang="zh-TW" dirty="0">
                    <a:effectLst/>
                    <a:latin typeface="Times New Roman" panose="02020603050405020304" pitchFamily="18" charset="0"/>
                    <a:ea typeface="標楷體" panose="03000509000000000000" pitchFamily="65" charset="-120"/>
                  </a:rPr>
                  <a:t>人</a:t>
                </a:r>
                <a:r>
                  <a:rPr lang="en-US" altLang="zh-TW" dirty="0">
                    <a:effectLst/>
                    <a:latin typeface="Times New Roman" panose="02020603050405020304" pitchFamily="18" charset="0"/>
                    <a:ea typeface="標楷體" panose="03000509000000000000" pitchFamily="65" charset="-120"/>
                  </a:rPr>
                  <a:t>)</a:t>
                </a:r>
                <a14:m>
                  <m:oMath xmlns:m="http://schemas.openxmlformats.org/officeDocument/2006/math">
                    <m:r>
                      <a:rPr lang="en-US" altLang="zh-TW">
                        <a:effectLst/>
                        <a:latin typeface="Cambria Math" panose="02040503050406030204" pitchFamily="18" charset="0"/>
                        <a:ea typeface="標楷體" panose="03000509000000000000" pitchFamily="65" charset="-120"/>
                      </a:rPr>
                      <m:t>≥</m:t>
                    </m:r>
                  </m:oMath>
                </a14:m>
                <a:r>
                  <a:rPr lang="zh-TW" altLang="zh-TW" dirty="0">
                    <a:effectLst/>
                    <a:latin typeface="Times New Roman" panose="02020603050405020304" pitchFamily="18" charset="0"/>
                    <a:ea typeface="標楷體" panose="03000509000000000000" pitchFamily="65" charset="-120"/>
                  </a:rPr>
                  <a:t>完全競爭</a:t>
                </a:r>
                <a:r>
                  <a:rPr lang="en-US" altLang="zh-TW" dirty="0">
                    <a:effectLst/>
                    <a:latin typeface="Times New Roman" panose="02020603050405020304" pitchFamily="18" charset="0"/>
                    <a:ea typeface="標楷體" panose="03000509000000000000" pitchFamily="65" charset="-120"/>
                  </a:rPr>
                  <a:t>(</a:t>
                </a:r>
                <a:r>
                  <a:rPr lang="zh-TW" altLang="zh-TW" dirty="0">
                    <a:effectLst/>
                    <a:latin typeface="Times New Roman" panose="02020603050405020304" pitchFamily="18" charset="0"/>
                    <a:ea typeface="標楷體" panose="03000509000000000000" pitchFamily="65" charset="-120"/>
                  </a:rPr>
                  <a:t>多人</a:t>
                </a:r>
                <a:r>
                  <a:rPr lang="en-US" altLang="zh-TW" dirty="0">
                    <a:effectLst/>
                    <a:latin typeface="Times New Roman" panose="02020603050405020304" pitchFamily="18" charset="0"/>
                    <a:ea typeface="標楷體" panose="03000509000000000000" pitchFamily="65" charset="-120"/>
                  </a:rPr>
                  <a:t>)</a:t>
                </a:r>
                <a:endParaRPr lang="zh-TW" altLang="zh-TW" dirty="0">
                  <a:effectLst/>
                  <a:latin typeface="Times New Roman" panose="02020603050405020304" pitchFamily="18" charset="0"/>
                  <a:ea typeface="標楷體" panose="03000509000000000000" pitchFamily="65" charset="-120"/>
                </a:endParaRPr>
              </a:p>
              <a:p>
                <a:pPr marL="342900" lvl="0" indent="-342900">
                  <a:lnSpc>
                    <a:spcPct val="107000"/>
                  </a:lnSpc>
                  <a:spcAft>
                    <a:spcPts val="800"/>
                  </a:spcAft>
                  <a:buFont typeface="+mj-lt"/>
                  <a:buAutoNum type="arabicPeriod"/>
                  <a:tabLst>
                    <a:tab pos="685800" algn="l"/>
                  </a:tabLst>
                </a:pPr>
                <a:r>
                  <a:rPr lang="zh-TW" altLang="zh-TW" dirty="0">
                    <a:effectLst/>
                    <a:latin typeface="Times New Roman" panose="02020603050405020304" pitchFamily="18" charset="0"/>
                    <a:ea typeface="標楷體" panose="03000509000000000000" pitchFamily="65" charset="-120"/>
                  </a:rPr>
                  <a:t>寡占與</a:t>
                </a:r>
                <a:r>
                  <a:rPr lang="zh-TW" altLang="zh-TW" dirty="0" smtClean="0">
                    <a:effectLst/>
                    <a:latin typeface="Times New Roman" panose="02020603050405020304" pitchFamily="18" charset="0"/>
                    <a:ea typeface="標楷體" panose="03000509000000000000" pitchFamily="65" charset="-120"/>
                  </a:rPr>
                  <a:t>獨</a:t>
                </a:r>
                <a:r>
                  <a:rPr lang="zh-TW" altLang="en-US" dirty="0" smtClean="0">
                    <a:effectLst/>
                    <a:latin typeface="Times New Roman" panose="02020603050405020304" pitchFamily="18" charset="0"/>
                    <a:ea typeface="標楷體" panose="03000509000000000000" pitchFamily="65" charset="-120"/>
                  </a:rPr>
                  <a:t>占</a:t>
                </a:r>
                <a:r>
                  <a:rPr lang="zh-TW" altLang="zh-TW" dirty="0" smtClean="0">
                    <a:effectLst/>
                    <a:latin typeface="Times New Roman" panose="02020603050405020304" pitchFamily="18" charset="0"/>
                    <a:ea typeface="標楷體" panose="03000509000000000000" pitchFamily="65" charset="-120"/>
                  </a:rPr>
                  <a:t>的</a:t>
                </a:r>
                <a:r>
                  <a:rPr lang="zh-TW" altLang="zh-TW" dirty="0">
                    <a:effectLst/>
                    <a:latin typeface="Times New Roman" panose="02020603050405020304" pitchFamily="18" charset="0"/>
                    <a:ea typeface="標楷體" panose="03000509000000000000" pitchFamily="65" charset="-120"/>
                  </a:rPr>
                  <a:t>差距遠小於完全競爭</a:t>
                </a:r>
              </a:p>
              <a:p>
                <a:r>
                  <a:rPr lang="zh-TW" altLang="en-US" dirty="0" smtClean="0">
                    <a:latin typeface="標楷體" panose="03000509000000000000" pitchFamily="65" charset="-120"/>
                    <a:ea typeface="標楷體" panose="03000509000000000000" pitchFamily="65" charset="-120"/>
                  </a:rPr>
                  <a:t>獨占：極大化整體價值</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寡占：選擇賽局均衡點</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完全競爭：轉換至無異點停止</a:t>
                </a:r>
                <a:endParaRPr lang="zh-TW" altLang="en-US" dirty="0">
                  <a:latin typeface="標楷體" panose="03000509000000000000" pitchFamily="65" charset="-120"/>
                  <a:ea typeface="標楷體" panose="03000509000000000000" pitchFamily="65"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043" t="-140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43</a:t>
            </a:fld>
            <a:endParaRPr lang="zh-TW" altLang="en-US"/>
          </a:p>
        </p:txBody>
      </p:sp>
      <p:pic>
        <p:nvPicPr>
          <p:cNvPr id="6" name="圖片 5"/>
          <p:cNvPicPr>
            <a:picLocks noChangeAspect="1"/>
          </p:cNvPicPr>
          <p:nvPr/>
        </p:nvPicPr>
        <p:blipFill>
          <a:blip r:embed="rId3"/>
          <a:stretch>
            <a:fillRect/>
          </a:stretch>
        </p:blipFill>
        <p:spPr>
          <a:xfrm>
            <a:off x="6096000" y="2985025"/>
            <a:ext cx="5412467" cy="3052461"/>
          </a:xfrm>
          <a:prstGeom prst="rect">
            <a:avLst/>
          </a:prstGeom>
        </p:spPr>
      </p:pic>
      <p:sp>
        <p:nvSpPr>
          <p:cNvPr id="7" name="文字方塊 6"/>
          <p:cNvSpPr txBox="1"/>
          <p:nvPr/>
        </p:nvSpPr>
        <p:spPr>
          <a:xfrm>
            <a:off x="7053685" y="5897325"/>
            <a:ext cx="3762568" cy="369332"/>
          </a:xfrm>
          <a:prstGeom prst="rect">
            <a:avLst/>
          </a:prstGeom>
          <a:noFill/>
        </p:spPr>
        <p:txBody>
          <a:bodyPr wrap="none" rtlCol="0">
            <a:spAutoFit/>
          </a:bodyPr>
          <a:lstStyle/>
          <a:p>
            <a:r>
              <a:rPr lang="zh-TW" altLang="en-US" dirty="0" smtClean="0">
                <a:latin typeface="標楷體" panose="03000509000000000000" pitchFamily="65" charset="-120"/>
                <a:ea typeface="標楷體" panose="03000509000000000000" pitchFamily="65" charset="-120"/>
              </a:rPr>
              <a:t>給定</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a:t>
            </a:r>
            <a:r>
              <a:rPr lang="zh-TW" altLang="en-US" dirty="0" smtClean="0">
                <a:latin typeface="標楷體" panose="03000509000000000000" pitchFamily="65" charset="-120"/>
                <a:ea typeface="標楷體" panose="03000509000000000000" pitchFamily="65" charset="-120"/>
              </a:rPr>
              <a:t>點前一期累積轉換比例為</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6808945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比較靜態分析</a:t>
            </a:r>
            <a:r>
              <a:rPr lang="en-US" altLang="zh-TW" dirty="0" smtClean="0">
                <a:latin typeface="標楷體" panose="03000509000000000000" pitchFamily="65" charset="-120"/>
                <a:ea typeface="標楷體" panose="03000509000000000000" pitchFamily="65" charset="-120"/>
              </a:rPr>
              <a:t>-1</a:t>
            </a:r>
            <a:r>
              <a:rPr lang="en-US" altLang="zh-TW" sz="4000" dirty="0" smtClean="0">
                <a:latin typeface="標楷體" panose="03000509000000000000" pitchFamily="65" charset="-120"/>
                <a:ea typeface="標楷體" panose="03000509000000000000" pitchFamily="65" charset="-120"/>
              </a:rPr>
              <a:t>(</a:t>
            </a:r>
            <a:r>
              <a:rPr lang="zh-TW" altLang="en-US" sz="4000" dirty="0" smtClean="0">
                <a:latin typeface="標楷體" panose="03000509000000000000" pitchFamily="65" charset="-120"/>
                <a:ea typeface="標楷體" panose="03000509000000000000" pitchFamily="65" charset="-120"/>
              </a:rPr>
              <a:t>分析債券價格影響</a:t>
            </a:r>
            <a:r>
              <a:rPr lang="en-US" altLang="zh-TW" sz="4000" dirty="0" smtClean="0">
                <a:latin typeface="標楷體" panose="03000509000000000000" pitchFamily="65" charset="-120"/>
                <a:ea typeface="標楷體" panose="03000509000000000000" pitchFamily="65" charset="-120"/>
              </a:rPr>
              <a:t>)</a:t>
            </a:r>
            <a:endParaRPr lang="zh-TW" altLang="en-US" sz="4000"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在</a:t>
            </a:r>
            <a:r>
              <a:rPr lang="en-US" altLang="zh-TW" dirty="0" smtClean="0">
                <a:latin typeface="Times New Roman" panose="02020603050405020304" pitchFamily="18" charset="0"/>
                <a:ea typeface="標楷體" panose="03000509000000000000" pitchFamily="65" charset="-120"/>
              </a:rPr>
              <a:t>Chen</a:t>
            </a:r>
            <a:r>
              <a:rPr lang="en-US" altLang="zh-TW" dirty="0">
                <a:latin typeface="Times New Roman" panose="02020603050405020304" pitchFamily="18" charset="0"/>
                <a:ea typeface="標楷體" panose="03000509000000000000" pitchFamily="65" charset="-120"/>
              </a:rPr>
              <a:t>, </a:t>
            </a:r>
            <a:r>
              <a:rPr lang="en-US" altLang="zh-TW" dirty="0" smtClean="0">
                <a:latin typeface="Times New Roman" panose="02020603050405020304" pitchFamily="18" charset="0"/>
                <a:ea typeface="標楷體" panose="03000509000000000000" pitchFamily="65" charset="-120"/>
              </a:rPr>
              <a:t>Dai </a:t>
            </a:r>
            <a:r>
              <a:rPr lang="en-US" altLang="zh-TW" dirty="0">
                <a:latin typeface="Times New Roman" panose="02020603050405020304" pitchFamily="18" charset="0"/>
                <a:ea typeface="標楷體" panose="03000509000000000000" pitchFamily="65" charset="-120"/>
              </a:rPr>
              <a:t>and </a:t>
            </a:r>
            <a:r>
              <a:rPr lang="en-US" altLang="zh-TW" dirty="0" smtClean="0">
                <a:latin typeface="Times New Roman" panose="02020603050405020304" pitchFamily="18" charset="0"/>
                <a:ea typeface="標楷體" panose="03000509000000000000" pitchFamily="65" charset="-120"/>
              </a:rPr>
              <a:t>Wan </a:t>
            </a:r>
            <a:r>
              <a:rPr lang="en-US" altLang="zh-TW" dirty="0">
                <a:latin typeface="Times New Roman" panose="02020603050405020304" pitchFamily="18" charset="0"/>
                <a:ea typeface="標楷體" panose="03000509000000000000" pitchFamily="65" charset="-120"/>
              </a:rPr>
              <a:t>(2013)</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中</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lvl="1">
              <a:buFont typeface="Wingdings" panose="05000000000000000000" pitchFamily="2" charset="2"/>
              <a:buChar char="Ø"/>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利率水準</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上升，</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債券</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價格下跌</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lvl="1">
              <a:buFont typeface="Wingdings" panose="05000000000000000000" pitchFamily="2" charset="2"/>
              <a:buChar char="Ø"/>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債息或稅率</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上升，</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債券</a:t>
            </a:r>
            <a:r>
              <a:rPr lang="zh-TW" altLang="zh-TW" dirty="0" smtClean="0">
                <a:latin typeface="Times New Roman" panose="02020603050405020304" pitchFamily="18" charset="0"/>
                <a:ea typeface="標楷體" panose="03000509000000000000" pitchFamily="65" charset="-120"/>
                <a:cs typeface="Times New Roman" panose="02020603050405020304" pitchFamily="18" charset="0"/>
              </a:rPr>
              <a:t>價格上漲</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zh-TW" dirty="0">
                <a:latin typeface="標楷體" panose="03000509000000000000" pitchFamily="65" charset="-120"/>
                <a:ea typeface="標楷體" panose="03000509000000000000" pitchFamily="65" charset="-120"/>
              </a:rPr>
              <a:t>在有限到期日</a:t>
            </a:r>
            <a:r>
              <a:rPr lang="zh-TW" altLang="zh-TW" dirty="0" smtClean="0">
                <a:latin typeface="標楷體" panose="03000509000000000000" pitchFamily="65" charset="-120"/>
                <a:ea typeface="標楷體" panose="03000509000000000000" pitchFamily="65" charset="-120"/>
              </a:rPr>
              <a:t>內</a:t>
            </a:r>
            <a:r>
              <a:rPr lang="zh-TW" altLang="en-US" dirty="0" smtClean="0"/>
              <a:t>，</a:t>
            </a:r>
            <a:r>
              <a:rPr lang="zh-TW" altLang="en-US" dirty="0" smtClean="0">
                <a:latin typeface="標楷體" panose="03000509000000000000" pitchFamily="65" charset="-120"/>
                <a:ea typeface="標楷體" panose="03000509000000000000" pitchFamily="65" charset="-120"/>
              </a:rPr>
              <a:t>給定</a:t>
            </a:r>
            <a:r>
              <a:rPr lang="zh-TW" altLang="zh-TW" dirty="0" smtClean="0">
                <a:latin typeface="標楷體" panose="03000509000000000000" pitchFamily="65" charset="-120"/>
                <a:ea typeface="標楷體" panose="03000509000000000000" pitchFamily="65" charset="-120"/>
              </a:rPr>
              <a:t>起始</a:t>
            </a:r>
            <a:r>
              <a:rPr lang="zh-TW" altLang="zh-TW" dirty="0">
                <a:latin typeface="標楷體" panose="03000509000000000000" pitchFamily="65" charset="-120"/>
                <a:ea typeface="標楷體" panose="03000509000000000000" pitchFamily="65" charset="-120"/>
              </a:rPr>
              <a:t>持有比例為</a:t>
            </a:r>
            <a:endParaRPr lang="en-US" altLang="zh-TW" dirty="0"/>
          </a:p>
          <a:p>
            <a:pPr marL="514350" indent="-514350">
              <a:buFont typeface="+mj-lt"/>
              <a:buAutoNum type="arabicPeriod"/>
            </a:pPr>
            <a:r>
              <a:rPr lang="zh-TW" altLang="zh-TW" dirty="0" smtClean="0">
                <a:latin typeface="標楷體" panose="03000509000000000000" pitchFamily="65" charset="-120"/>
                <a:ea typeface="標楷體" panose="03000509000000000000" pitchFamily="65" charset="-120"/>
              </a:rPr>
              <a:t>相等</a:t>
            </a:r>
            <a:r>
              <a:rPr lang="en-US" altLang="zh-TW" dirty="0">
                <a:latin typeface="標楷體" panose="03000509000000000000" pitchFamily="65" charset="-120"/>
                <a:ea typeface="標楷體" panose="03000509000000000000" pitchFamily="65" charset="-12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2</a:t>
            </a:r>
            <a:r>
              <a:rPr lang="zh-TW" altLang="zh-TW" dirty="0">
                <a:latin typeface="標楷體" panose="03000509000000000000" pitchFamily="65" charset="-120"/>
                <a:ea typeface="標楷體" panose="03000509000000000000" pitchFamily="65" charset="-120"/>
              </a:rPr>
              <a:t>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CB</a:t>
            </a:r>
            <a:r>
              <a:rPr lang="zh-TW" altLang="zh-TW" dirty="0">
                <a:latin typeface="標楷體" panose="03000509000000000000" pitchFamily="65" charset="-120"/>
                <a:ea typeface="標楷體" panose="03000509000000000000" pitchFamily="65" charset="-120"/>
              </a:rPr>
              <a:t>持有者起始持有比例皆為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50</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r>
              <a:rPr lang="zh-TW" altLang="zh-TW" dirty="0" smtClean="0">
                <a:latin typeface="標楷體" panose="03000509000000000000" pitchFamily="65" charset="-120"/>
                <a:ea typeface="標楷體" panose="03000509000000000000" pitchFamily="65" charset="-120"/>
              </a:rPr>
              <a:t>懸殊</a:t>
            </a:r>
            <a:r>
              <a:rPr lang="en-US" altLang="zh-TW" dirty="0">
                <a:latin typeface="標楷體" panose="03000509000000000000" pitchFamily="65" charset="-120"/>
                <a:ea typeface="標楷體" panose="03000509000000000000" pitchFamily="65" charset="-12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CB</a:t>
            </a:r>
            <a:r>
              <a:rPr lang="zh-TW" altLang="zh-TW" dirty="0">
                <a:latin typeface="標楷體" panose="03000509000000000000" pitchFamily="65" charset="-120"/>
                <a:ea typeface="標楷體" panose="03000509000000000000" pitchFamily="65" charset="-120"/>
              </a:rPr>
              <a:t>持有者</a:t>
            </a:r>
            <a:r>
              <a:rPr lang="en-US" altLang="zh-TW" dirty="0">
                <a:latin typeface="標楷體" panose="03000509000000000000" pitchFamily="65" charset="-120"/>
                <a:ea typeface="標楷體" panose="03000509000000000000" pitchFamily="65" charset="-120"/>
              </a:rPr>
              <a:t>1</a:t>
            </a:r>
            <a:r>
              <a:rPr lang="zh-TW" altLang="zh-TW" dirty="0">
                <a:latin typeface="標楷體" panose="03000509000000000000" pitchFamily="65" charset="-120"/>
                <a:ea typeface="標楷體" panose="03000509000000000000" pitchFamily="65" charset="-120"/>
              </a:rPr>
              <a:t>持有比例為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80%</a:t>
            </a:r>
            <a:r>
              <a:rPr lang="zh-TW" altLang="zh-TW" dirty="0">
                <a:latin typeface="標楷體" panose="03000509000000000000" pitchFamily="65" charset="-120"/>
                <a:ea typeface="標楷體" panose="03000509000000000000" pitchFamily="65" charset="-12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CB</a:t>
            </a:r>
            <a:r>
              <a:rPr lang="zh-TW" altLang="zh-TW" dirty="0">
                <a:latin typeface="標楷體" panose="03000509000000000000" pitchFamily="65" charset="-120"/>
                <a:ea typeface="標楷體" panose="03000509000000000000" pitchFamily="65" charset="-120"/>
              </a:rPr>
              <a:t>持有者</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2</a:t>
            </a:r>
            <a:r>
              <a:rPr lang="zh-TW" altLang="zh-TW" dirty="0">
                <a:latin typeface="標楷體" panose="03000509000000000000" pitchFamily="65" charset="-120"/>
                <a:ea typeface="標楷體" panose="03000509000000000000" pitchFamily="65" charset="-120"/>
              </a:rPr>
              <a:t>持有比例為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20</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smtClean="0">
                <a:latin typeface="標楷體" panose="03000509000000000000" pitchFamily="65" charset="-120"/>
                <a:ea typeface="標楷體" panose="03000509000000000000" pitchFamily="65" charset="-120"/>
              </a:rPr>
              <a:t>)</a:t>
            </a:r>
          </a:p>
          <a:p>
            <a:pPr marL="0" indent="0">
              <a:buNone/>
            </a:pPr>
            <a:r>
              <a:rPr lang="zh-TW" altLang="zh-TW" dirty="0" smtClean="0">
                <a:latin typeface="標楷體" panose="03000509000000000000" pitchFamily="65" charset="-120"/>
                <a:ea typeface="標楷體" panose="03000509000000000000" pitchFamily="65" charset="-120"/>
              </a:rPr>
              <a:t>，</a:t>
            </a:r>
            <a:r>
              <a:rPr lang="zh-TW" altLang="zh-TW" dirty="0">
                <a:latin typeface="標楷體" panose="03000509000000000000" pitchFamily="65" charset="-120"/>
                <a:ea typeface="標楷體" panose="03000509000000000000" pitchFamily="65" charset="-120"/>
              </a:rPr>
              <a:t>進行比較靜態</a:t>
            </a:r>
            <a:r>
              <a:rPr lang="zh-TW" altLang="zh-TW" dirty="0" smtClean="0">
                <a:latin typeface="標楷體" panose="03000509000000000000" pitchFamily="65" charset="-120"/>
                <a:ea typeface="標楷體" panose="03000509000000000000" pitchFamily="65" charset="-120"/>
              </a:rPr>
              <a:t>分析</a:t>
            </a:r>
            <a:endParaRPr lang="zh-TW" altLang="zh-TW" dirty="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44</a:t>
            </a:fld>
            <a:endParaRPr lang="zh-TW" altLang="en-US"/>
          </a:p>
        </p:txBody>
      </p:sp>
    </p:spTree>
    <p:extLst>
      <p:ext uri="{BB962C8B-B14F-4D97-AF65-F5344CB8AC3E}">
        <p14:creationId xmlns:p14="http://schemas.microsoft.com/office/powerpoint/2010/main" val="4686825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比較靜態</a:t>
            </a:r>
            <a:r>
              <a:rPr lang="zh-TW" altLang="en-US" dirty="0" smtClean="0">
                <a:solidFill>
                  <a:prstClr val="black"/>
                </a:solidFill>
                <a:latin typeface="標楷體" panose="03000509000000000000" pitchFamily="65" charset="-120"/>
                <a:ea typeface="標楷體" panose="03000509000000000000" pitchFamily="65" charset="-120"/>
              </a:rPr>
              <a:t>分析</a:t>
            </a:r>
            <a:r>
              <a:rPr lang="en-US" altLang="zh-TW" dirty="0" smtClean="0">
                <a:solidFill>
                  <a:prstClr val="black"/>
                </a:solidFill>
                <a:latin typeface="標楷體" panose="03000509000000000000" pitchFamily="65" charset="-120"/>
                <a:ea typeface="標楷體" panose="03000509000000000000" pitchFamily="65" charset="-120"/>
              </a:rPr>
              <a:t>-1</a:t>
            </a:r>
            <a:r>
              <a:rPr lang="en-US" altLang="zh-TW" sz="4000" dirty="0" smtClean="0">
                <a:solidFill>
                  <a:prstClr val="black"/>
                </a:solidFill>
                <a:latin typeface="標楷體" panose="03000509000000000000" pitchFamily="65" charset="-120"/>
                <a:ea typeface="標楷體" panose="03000509000000000000" pitchFamily="65" charset="-120"/>
              </a:rPr>
              <a:t>(</a:t>
            </a:r>
            <a:r>
              <a:rPr lang="zh-TW" altLang="en-US" sz="4000" dirty="0" smtClean="0">
                <a:solidFill>
                  <a:prstClr val="black"/>
                </a:solidFill>
                <a:latin typeface="標楷體" panose="03000509000000000000" pitchFamily="65" charset="-120"/>
                <a:ea typeface="標楷體" panose="03000509000000000000" pitchFamily="65" charset="-120"/>
              </a:rPr>
              <a:t>利率分析</a:t>
            </a:r>
            <a:r>
              <a:rPr lang="en-US" altLang="zh-TW" sz="4000" dirty="0" smtClean="0">
                <a:solidFill>
                  <a:prstClr val="black"/>
                </a:solidFill>
                <a:latin typeface="標楷體" panose="03000509000000000000" pitchFamily="65" charset="-120"/>
                <a:ea typeface="標楷體" panose="03000509000000000000" pitchFamily="65" charset="-120"/>
              </a:rPr>
              <a:t>)</a:t>
            </a:r>
            <a:endParaRPr lang="zh-TW" altLang="en-US" sz="4000"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45</a:t>
            </a:fld>
            <a:endParaRPr lang="zh-TW" altLang="en-US"/>
          </a:p>
        </p:txBody>
      </p:sp>
      <mc:AlternateContent xmlns:mc="http://schemas.openxmlformats.org/markup-compatibility/2006" xmlns:a14="http://schemas.microsoft.com/office/drawing/2010/main">
        <mc:Choice Requires="a14">
          <p:sp>
            <p:nvSpPr>
              <p:cNvPr id="20" name="文字方塊 19"/>
              <p:cNvSpPr txBox="1"/>
              <p:nvPr/>
            </p:nvSpPr>
            <p:spPr>
              <a:xfrm>
                <a:off x="8756855" y="3435655"/>
                <a:ext cx="2450689" cy="646331"/>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利率上升</a:t>
                </a:r>
                <a:endParaRPr lang="en-US" altLang="zh-TW" dirty="0" smtClean="0">
                  <a:latin typeface="標楷體" panose="03000509000000000000" pitchFamily="65" charset="-120"/>
                  <a:ea typeface="標楷體" panose="03000509000000000000" pitchFamily="65" charset="-120"/>
                </a:endParaRPr>
              </a:p>
              <a:p>
                <a14:m>
                  <m:oMath xmlns:m="http://schemas.openxmlformats.org/officeDocument/2006/math">
                    <m:r>
                      <a:rPr lang="zh-TW" altLang="en-US" i="1" smtClean="0">
                        <a:latin typeface="Cambria Math" panose="02040503050406030204" pitchFamily="18" charset="0"/>
                      </a:rPr>
                      <m:t>→</m:t>
                    </m:r>
                  </m:oMath>
                </a14:m>
                <a:r>
                  <a:rPr lang="zh-TW" altLang="en-US" dirty="0" smtClean="0">
                    <a:latin typeface="標楷體" panose="03000509000000000000" pitchFamily="65" charset="-120"/>
                    <a:ea typeface="標楷體" panose="03000509000000000000" pitchFamily="65" charset="-120"/>
                  </a:rPr>
                  <a:t>可轉換價格下降</a:t>
                </a:r>
                <a:endParaRPr lang="zh-TW" altLang="en-US" dirty="0">
                  <a:latin typeface="標楷體" panose="03000509000000000000" pitchFamily="65" charset="-120"/>
                  <a:ea typeface="標楷體" panose="03000509000000000000" pitchFamily="65" charset="-120"/>
                </a:endParaRPr>
              </a:p>
            </p:txBody>
          </p:sp>
        </mc:Choice>
        <mc:Fallback xmlns="">
          <p:sp>
            <p:nvSpPr>
              <p:cNvPr id="20" name="文字方塊 19"/>
              <p:cNvSpPr txBox="1">
                <a:spLocks noRot="1" noChangeAspect="1" noMove="1" noResize="1" noEditPoints="1" noAdjustHandles="1" noChangeArrowheads="1" noChangeShapeType="1" noTextEdit="1"/>
              </p:cNvSpPr>
              <p:nvPr/>
            </p:nvSpPr>
            <p:spPr>
              <a:xfrm>
                <a:off x="8756855" y="3435655"/>
                <a:ext cx="2450689" cy="646331"/>
              </a:xfrm>
              <a:prstGeom prst="rect">
                <a:avLst/>
              </a:prstGeom>
              <a:blipFill rotWithShape="0">
                <a:blip r:embed="rId2"/>
                <a:stretch>
                  <a:fillRect l="-1985" t="-4717" b="-15094"/>
                </a:stretch>
              </a:blipFill>
            </p:spPr>
            <p:txBody>
              <a:bodyPr/>
              <a:lstStyle/>
              <a:p>
                <a:r>
                  <a:rPr lang="zh-TW" altLang="en-US">
                    <a:noFill/>
                  </a:rPr>
                  <a:t> </a:t>
                </a:r>
              </a:p>
            </p:txBody>
          </p:sp>
        </mc:Fallback>
      </mc:AlternateContent>
      <p:graphicFrame>
        <p:nvGraphicFramePr>
          <p:cNvPr id="3" name="表格 2"/>
          <p:cNvGraphicFramePr>
            <a:graphicFrameLocks noGrp="1"/>
          </p:cNvGraphicFramePr>
          <p:nvPr>
            <p:extLst>
              <p:ext uri="{D42A27DB-BD31-4B8C-83A1-F6EECF244321}">
                <p14:modId xmlns:p14="http://schemas.microsoft.com/office/powerpoint/2010/main" val="3476940431"/>
              </p:ext>
            </p:extLst>
          </p:nvPr>
        </p:nvGraphicFramePr>
        <p:xfrm>
          <a:off x="329482" y="1690688"/>
          <a:ext cx="8133633" cy="3136052"/>
        </p:xfrm>
        <a:graphic>
          <a:graphicData uri="http://schemas.openxmlformats.org/drawingml/2006/table">
            <a:tbl>
              <a:tblPr firstRow="1" firstCol="1" bandRow="1"/>
              <a:tblGrid>
                <a:gridCol w="1764789"/>
                <a:gridCol w="1100115"/>
                <a:gridCol w="1756243"/>
                <a:gridCol w="1756243"/>
                <a:gridCol w="1756243"/>
              </a:tblGrid>
              <a:tr h="245511">
                <a:tc gridSpan="2">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Interest rate r</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0.07</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0.08</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4956">
                <a:tc rowSpan="3">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相等 </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120.473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119.534</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118.641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4956">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110.648</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110.454</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110.271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4956">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平均</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115.561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114.994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114.456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4956">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117.212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116.520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115.863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452">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115.583</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115.015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114.475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1252">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120.534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119.594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118.700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185">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114.026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113.580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113.156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1252">
                <a:tc grid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平均</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115.924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115.330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114.734</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609847983"/>
              </p:ext>
            </p:extLst>
          </p:nvPr>
        </p:nvGraphicFramePr>
        <p:xfrm>
          <a:off x="322006" y="5261999"/>
          <a:ext cx="8143568" cy="978408"/>
        </p:xfrm>
        <a:graphic>
          <a:graphicData uri="http://schemas.openxmlformats.org/drawingml/2006/table">
            <a:tbl>
              <a:tblPr firstRow="1" firstCol="1" bandRow="1"/>
              <a:tblGrid>
                <a:gridCol w="2157134"/>
                <a:gridCol w="1995478"/>
                <a:gridCol w="1995478"/>
                <a:gridCol w="1995478"/>
              </a:tblGrid>
              <a:tr h="150495">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Interest rate r</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0.06</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0.07</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0.08</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3985">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116.801</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116.141</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115.514</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109.625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109.576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109.529</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119436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比較靜態分析</a:t>
            </a:r>
            <a:r>
              <a:rPr lang="en-US" altLang="zh-TW" dirty="0">
                <a:solidFill>
                  <a:prstClr val="black"/>
                </a:solidFill>
                <a:latin typeface="標楷體" panose="03000509000000000000" pitchFamily="65" charset="-120"/>
                <a:ea typeface="標楷體" panose="03000509000000000000" pitchFamily="65" charset="-120"/>
              </a:rPr>
              <a:t>-1</a:t>
            </a:r>
            <a:r>
              <a:rPr lang="en-US" altLang="zh-TW" sz="4000" dirty="0" smtClean="0">
                <a:solidFill>
                  <a:prstClr val="black"/>
                </a:solidFill>
                <a:latin typeface="標楷體" panose="03000509000000000000" pitchFamily="65" charset="-120"/>
                <a:ea typeface="標楷體" panose="03000509000000000000" pitchFamily="65" charset="-120"/>
              </a:rPr>
              <a:t>(</a:t>
            </a:r>
            <a:r>
              <a:rPr lang="zh-TW" altLang="en-US" sz="4000" dirty="0" smtClean="0">
                <a:solidFill>
                  <a:prstClr val="black"/>
                </a:solidFill>
                <a:latin typeface="標楷體" panose="03000509000000000000" pitchFamily="65" charset="-120"/>
                <a:ea typeface="標楷體" panose="03000509000000000000" pitchFamily="65" charset="-120"/>
              </a:rPr>
              <a:t>債券票面利率分析</a:t>
            </a:r>
            <a:r>
              <a:rPr lang="en-US" altLang="zh-TW" sz="4000" dirty="0" smtClean="0">
                <a:solidFill>
                  <a:prstClr val="black"/>
                </a:solidFill>
                <a:latin typeface="標楷體" panose="03000509000000000000" pitchFamily="65" charset="-120"/>
                <a:ea typeface="標楷體" panose="03000509000000000000" pitchFamily="65" charset="-120"/>
              </a:rPr>
              <a:t>)</a:t>
            </a:r>
            <a:endParaRPr lang="zh-TW" altLang="en-US" dirty="0"/>
          </a:p>
        </p:txBody>
      </p:sp>
      <mc:AlternateContent xmlns:mc="http://schemas.openxmlformats.org/markup-compatibility/2006" xmlns:a14="http://schemas.microsoft.com/office/drawing/2010/main">
        <mc:Choice Requires="a14">
          <p:graphicFrame>
            <p:nvGraphicFramePr>
              <p:cNvPr id="6" name="內容版面配置區 5"/>
              <p:cNvGraphicFramePr>
                <a:graphicFrameLocks noGrp="1"/>
              </p:cNvGraphicFramePr>
              <p:nvPr>
                <p:ph idx="1"/>
                <p:extLst>
                  <p:ext uri="{D42A27DB-BD31-4B8C-83A1-F6EECF244321}">
                    <p14:modId xmlns:p14="http://schemas.microsoft.com/office/powerpoint/2010/main" val="1753988303"/>
                  </p:ext>
                </p:extLst>
              </p:nvPr>
            </p:nvGraphicFramePr>
            <p:xfrm>
              <a:off x="838200" y="1798351"/>
              <a:ext cx="7767383" cy="2935224"/>
            </p:xfrm>
            <a:graphic>
              <a:graphicData uri="http://schemas.openxmlformats.org/drawingml/2006/table">
                <a:tbl>
                  <a:tblPr firstRow="1" firstCol="1" bandRow="1"/>
                  <a:tblGrid>
                    <a:gridCol w="1676298"/>
                    <a:gridCol w="1059602"/>
                    <a:gridCol w="1677161"/>
                    <a:gridCol w="1677161"/>
                    <a:gridCol w="1677161"/>
                  </a:tblGrid>
                  <a:tr h="0">
                    <a:tc gridSpan="2">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Coupon </a:t>
                          </a:r>
                          <a14:m>
                            <m:oMath xmlns:m="http://schemas.openxmlformats.org/officeDocument/2006/math">
                              <m:sSub>
                                <m:sSubPr>
                                  <m:ctrlPr>
                                    <a:rPr lang="zh-TW" sz="2000" b="1" i="1">
                                      <a:effectLst/>
                                      <a:latin typeface="Cambria Math" panose="02040503050406030204" pitchFamily="18" charset="0"/>
                                      <a:ea typeface="Cambria Math" panose="02040503050406030204" pitchFamily="18" charset="0"/>
                                    </a:rPr>
                                  </m:ctrlPr>
                                </m:sSubPr>
                                <m:e>
                                  <m:r>
                                    <a:rPr lang="en-US" sz="2000" b="1" i="1">
                                      <a:effectLst/>
                                      <a:latin typeface="Cambria Math" panose="02040503050406030204" pitchFamily="18" charset="0"/>
                                      <a:ea typeface="標楷體" panose="03000509000000000000" pitchFamily="65" charset="-120"/>
                                    </a:rPr>
                                    <m:t>𝑪</m:t>
                                  </m:r>
                                </m:e>
                                <m:sub>
                                  <m:r>
                                    <a:rPr lang="en-US" sz="2000" b="1" i="1">
                                      <a:effectLst/>
                                      <a:latin typeface="Cambria Math" panose="02040503050406030204" pitchFamily="18" charset="0"/>
                                      <a:ea typeface="標楷體" panose="03000509000000000000" pitchFamily="65" charset="-120"/>
                                    </a:rPr>
                                    <m:t>𝑪</m:t>
                                  </m:r>
                                </m:sub>
                              </m:sSub>
                            </m:oMath>
                          </a14:m>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0.07</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rowSpan="3">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相等 </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上界</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120.473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122.031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122.676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110.648</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111.626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111.900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平均</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115.561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116.829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117.288</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117.212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118.589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119.110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115.583</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116.867</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117.326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120.534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122.031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122.676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114.026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115.146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115.543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grid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平均</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115.924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117.212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118.397</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Choice>
        <mc:Fallback xmlns="">
          <p:graphicFrame>
            <p:nvGraphicFramePr>
              <p:cNvPr id="6" name="內容版面配置區 5"/>
              <p:cNvGraphicFramePr>
                <a:graphicFrameLocks noGrp="1"/>
              </p:cNvGraphicFramePr>
              <p:nvPr>
                <p:ph idx="1"/>
                <p:extLst>
                  <p:ext uri="{D42A27DB-BD31-4B8C-83A1-F6EECF244321}">
                    <p14:modId xmlns:p14="http://schemas.microsoft.com/office/powerpoint/2010/main" val="1753988303"/>
                  </p:ext>
                </p:extLst>
              </p:nvPr>
            </p:nvGraphicFramePr>
            <p:xfrm>
              <a:off x="838200" y="1798351"/>
              <a:ext cx="7767383" cy="2935224"/>
            </p:xfrm>
            <a:graphic>
              <a:graphicData uri="http://schemas.openxmlformats.org/drawingml/2006/table">
                <a:tbl>
                  <a:tblPr firstRow="1" firstCol="1" bandRow="1"/>
                  <a:tblGrid>
                    <a:gridCol w="1676298"/>
                    <a:gridCol w="1059602"/>
                    <a:gridCol w="1677161"/>
                    <a:gridCol w="1677161"/>
                    <a:gridCol w="1677161"/>
                  </a:tblGrid>
                  <a:tr h="326136">
                    <a:tc gridSpan="2">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23" t="-24074" r="-184410" b="-833333"/>
                          </a:stretch>
                        </a:blipFill>
                      </a:tcPr>
                    </a:tc>
                    <a:tc hMerge="1">
                      <a:txBody>
                        <a:bodyPr/>
                        <a:lstStyle/>
                        <a:p>
                          <a:endParaRPr lang="zh-TW" altLang="en-US"/>
                        </a:p>
                      </a:txBody>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0.07</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rowSpan="3">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相等 </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上界</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120.473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122.031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122.676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110.648</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111.626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111.900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平均</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115.561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116.829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117.288</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117.212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118.589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119.110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115.583</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116.867</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117.326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120.534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122.031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122.676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114.026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115.146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115.543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grid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平均</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115.924</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117.212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118.397</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46</a:t>
            </a:fld>
            <a:endParaRPr lang="zh-TW" altLang="en-US"/>
          </a:p>
        </p:txBody>
      </p:sp>
      <mc:AlternateContent xmlns:mc="http://schemas.openxmlformats.org/markup-compatibility/2006" xmlns:a14="http://schemas.microsoft.com/office/drawing/2010/main">
        <mc:Choice Requires="a14">
          <p:sp>
            <p:nvSpPr>
              <p:cNvPr id="7" name="文字方塊 6"/>
              <p:cNvSpPr txBox="1"/>
              <p:nvPr/>
            </p:nvSpPr>
            <p:spPr>
              <a:xfrm>
                <a:off x="8903111" y="3377187"/>
                <a:ext cx="2450689" cy="646331"/>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債息上</a:t>
                </a:r>
                <a:r>
                  <a:rPr lang="zh-TW" altLang="en-US" dirty="0">
                    <a:latin typeface="標楷體" panose="03000509000000000000" pitchFamily="65" charset="-120"/>
                    <a:ea typeface="標楷體" panose="03000509000000000000" pitchFamily="65" charset="-120"/>
                  </a:rPr>
                  <a:t>升</a:t>
                </a:r>
                <a:endParaRPr lang="en-US" altLang="zh-TW" dirty="0" smtClean="0">
                  <a:latin typeface="標楷體" panose="03000509000000000000" pitchFamily="65" charset="-120"/>
                  <a:ea typeface="標楷體" panose="03000509000000000000" pitchFamily="65" charset="-120"/>
                </a:endParaRPr>
              </a:p>
              <a:p>
                <a14:m>
                  <m:oMath xmlns:m="http://schemas.openxmlformats.org/officeDocument/2006/math">
                    <m:r>
                      <a:rPr lang="zh-TW" altLang="en-US" i="1" smtClean="0">
                        <a:latin typeface="Cambria Math" panose="02040503050406030204" pitchFamily="18" charset="0"/>
                      </a:rPr>
                      <m:t>→</m:t>
                    </m:r>
                  </m:oMath>
                </a14:m>
                <a:r>
                  <a:rPr lang="zh-TW" altLang="en-US" dirty="0" smtClean="0">
                    <a:latin typeface="標楷體" panose="03000509000000000000" pitchFamily="65" charset="-120"/>
                    <a:ea typeface="標楷體" panose="03000509000000000000" pitchFamily="65" charset="-120"/>
                  </a:rPr>
                  <a:t>可轉換價格上升</a:t>
                </a:r>
                <a:endParaRPr lang="zh-TW" altLang="en-US" dirty="0">
                  <a:latin typeface="標楷體" panose="03000509000000000000" pitchFamily="65" charset="-120"/>
                  <a:ea typeface="標楷體" panose="03000509000000000000" pitchFamily="65" charset="-120"/>
                </a:endParaRPr>
              </a:p>
            </p:txBody>
          </p:sp>
        </mc:Choice>
        <mc:Fallback xmlns="">
          <p:sp>
            <p:nvSpPr>
              <p:cNvPr id="7" name="文字方塊 6"/>
              <p:cNvSpPr txBox="1">
                <a:spLocks noRot="1" noChangeAspect="1" noMove="1" noResize="1" noEditPoints="1" noAdjustHandles="1" noChangeArrowheads="1" noChangeShapeType="1" noTextEdit="1"/>
              </p:cNvSpPr>
              <p:nvPr/>
            </p:nvSpPr>
            <p:spPr>
              <a:xfrm>
                <a:off x="8903111" y="3377187"/>
                <a:ext cx="2450689" cy="646331"/>
              </a:xfrm>
              <a:prstGeom prst="rect">
                <a:avLst/>
              </a:prstGeom>
              <a:blipFill rotWithShape="0">
                <a:blip r:embed="rId3"/>
                <a:stretch>
                  <a:fillRect l="-1985" t="-3774" b="-150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4016715863"/>
                  </p:ext>
                </p:extLst>
              </p:nvPr>
            </p:nvGraphicFramePr>
            <p:xfrm>
              <a:off x="838200" y="4878542"/>
              <a:ext cx="7772400" cy="978408"/>
            </p:xfrm>
            <a:graphic>
              <a:graphicData uri="http://schemas.openxmlformats.org/drawingml/2006/table">
                <a:tbl>
                  <a:tblPr firstRow="1" firstCol="1" bandRow="1"/>
                  <a:tblGrid>
                    <a:gridCol w="2058816"/>
                    <a:gridCol w="1904528"/>
                    <a:gridCol w="1904528"/>
                    <a:gridCol w="1904528"/>
                  </a:tblGrid>
                  <a:tr h="29210">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Coupon </a:t>
                          </a:r>
                          <a14:m>
                            <m:oMath xmlns:m="http://schemas.openxmlformats.org/officeDocument/2006/math">
                              <m:sSub>
                                <m:sSubPr>
                                  <m:ctrlPr>
                                    <a:rPr lang="zh-TW" sz="2000" b="1" i="1">
                                      <a:effectLst/>
                                      <a:latin typeface="Cambria Math" panose="02040503050406030204" pitchFamily="18" charset="0"/>
                                      <a:ea typeface="Cambria Math" panose="02040503050406030204" pitchFamily="18" charset="0"/>
                                    </a:rPr>
                                  </m:ctrlPr>
                                </m:sSubPr>
                                <m:e>
                                  <m:r>
                                    <a:rPr lang="en-US" sz="2000" b="1" i="1">
                                      <a:effectLst/>
                                      <a:latin typeface="Cambria Math" panose="02040503050406030204" pitchFamily="18" charset="0"/>
                                      <a:ea typeface="標楷體" panose="03000509000000000000" pitchFamily="65" charset="-120"/>
                                    </a:rPr>
                                    <m:t>𝑪</m:t>
                                  </m:r>
                                </m:e>
                                <m:sub>
                                  <m:r>
                                    <a:rPr lang="en-US" sz="2000" b="1" i="1">
                                      <a:effectLst/>
                                      <a:latin typeface="Cambria Math" panose="02040503050406030204" pitchFamily="18" charset="0"/>
                                      <a:ea typeface="標楷體" panose="03000509000000000000" pitchFamily="65" charset="-120"/>
                                    </a:rPr>
                                    <m:t>𝑪</m:t>
                                  </m:r>
                                </m:sub>
                              </m:sSub>
                            </m:oMath>
                          </a14:m>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0.05</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0.06</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0.07</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116.801</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118.129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119.251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109.625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111.010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112.395</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4016715863"/>
                  </p:ext>
                </p:extLst>
              </p:nvPr>
            </p:nvGraphicFramePr>
            <p:xfrm>
              <a:off x="838200" y="4878542"/>
              <a:ext cx="7772400" cy="978408"/>
            </p:xfrm>
            <a:graphic>
              <a:graphicData uri="http://schemas.openxmlformats.org/drawingml/2006/table">
                <a:tbl>
                  <a:tblPr firstRow="1" firstCol="1" bandRow="1"/>
                  <a:tblGrid>
                    <a:gridCol w="2058816"/>
                    <a:gridCol w="1904528"/>
                    <a:gridCol w="1904528"/>
                    <a:gridCol w="1904528"/>
                  </a:tblGrid>
                  <a:tr h="326136">
                    <a:tc>
                      <a:txBody>
                        <a:bodyPr/>
                        <a:lstStyle/>
                        <a:p>
                          <a:endParaRPr lang="zh-TW"/>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96" t="-24074" r="-278107" b="-238889"/>
                          </a:stretch>
                        </a:blipFill>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0.05</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0.06</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0.07</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116.801</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118.129</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119.251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109.625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111.010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112.395</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Tree>
    <p:extLst>
      <p:ext uri="{BB962C8B-B14F-4D97-AF65-F5344CB8AC3E}">
        <p14:creationId xmlns:p14="http://schemas.microsoft.com/office/powerpoint/2010/main" val="383432499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比較靜態分析</a:t>
            </a:r>
            <a:r>
              <a:rPr lang="en-US" altLang="zh-TW" sz="3600" dirty="0" smtClean="0">
                <a:solidFill>
                  <a:prstClr val="black"/>
                </a:solidFill>
                <a:latin typeface="標楷體" panose="03000509000000000000" pitchFamily="65" charset="-120"/>
                <a:ea typeface="標楷體" panose="03000509000000000000" pitchFamily="65" charset="-120"/>
              </a:rPr>
              <a:t>-1(</a:t>
            </a:r>
            <a:r>
              <a:rPr lang="zh-TW" altLang="en-US" sz="3600" dirty="0" smtClean="0">
                <a:solidFill>
                  <a:prstClr val="black"/>
                </a:solidFill>
                <a:latin typeface="標楷體" panose="03000509000000000000" pitchFamily="65" charset="-120"/>
                <a:ea typeface="標楷體" panose="03000509000000000000" pitchFamily="65" charset="-120"/>
              </a:rPr>
              <a:t>稅率分析</a:t>
            </a:r>
            <a:r>
              <a:rPr lang="en-US" altLang="zh-TW" sz="3600" dirty="0" smtClean="0">
                <a:solidFill>
                  <a:prstClr val="black"/>
                </a:solidFill>
                <a:latin typeface="標楷體" panose="03000509000000000000" pitchFamily="65" charset="-120"/>
                <a:ea typeface="標楷體" panose="03000509000000000000" pitchFamily="65" charset="-120"/>
              </a:rPr>
              <a:t>)</a:t>
            </a:r>
            <a:endParaRPr lang="zh-TW" altLang="en-US" sz="3600"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47</a:t>
            </a:fld>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8903111" y="2363434"/>
                <a:ext cx="2910347" cy="646331"/>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稅</a:t>
                </a:r>
                <a:r>
                  <a:rPr lang="zh-TW" altLang="en-US" dirty="0">
                    <a:latin typeface="標楷體" panose="03000509000000000000" pitchFamily="65" charset="-120"/>
                    <a:ea typeface="標楷體" panose="03000509000000000000" pitchFamily="65" charset="-120"/>
                  </a:rPr>
                  <a:t>率</a:t>
                </a:r>
                <a:r>
                  <a:rPr lang="zh-TW" altLang="en-US" dirty="0" smtClean="0">
                    <a:latin typeface="標楷體" panose="03000509000000000000" pitchFamily="65" charset="-120"/>
                    <a:ea typeface="標楷體" panose="03000509000000000000" pitchFamily="65" charset="-120"/>
                  </a:rPr>
                  <a:t>上升</a:t>
                </a:r>
                <a:endParaRPr lang="en-US" altLang="zh-TW" i="1" dirty="0" smtClean="0">
                  <a:latin typeface="Cambria Math" panose="02040503050406030204" pitchFamily="18" charset="0"/>
                </a:endParaRPr>
              </a:p>
              <a:p>
                <a14:m>
                  <m:oMath xmlns:m="http://schemas.openxmlformats.org/officeDocument/2006/math">
                    <m:r>
                      <a:rPr lang="zh-TW" altLang="en-US" i="1" smtClean="0">
                        <a:latin typeface="Cambria Math" panose="02040503050406030204" pitchFamily="18" charset="0"/>
                      </a:rPr>
                      <m:t>→</m:t>
                    </m:r>
                  </m:oMath>
                </a14:m>
                <a:r>
                  <a:rPr lang="zh-TW" altLang="en-US" dirty="0" smtClean="0">
                    <a:latin typeface="標楷體" panose="03000509000000000000" pitchFamily="65" charset="-120"/>
                    <a:ea typeface="標楷體" panose="03000509000000000000" pitchFamily="65" charset="-120"/>
                  </a:rPr>
                  <a:t>可轉換價格上升</a:t>
                </a:r>
                <a:endParaRPr lang="en-US" altLang="zh-TW" dirty="0" smtClean="0">
                  <a:latin typeface="標楷體" panose="03000509000000000000" pitchFamily="65" charset="-120"/>
                  <a:ea typeface="標楷體" panose="03000509000000000000" pitchFamily="65" charset="-12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8903111" y="2363434"/>
                <a:ext cx="2910347" cy="646331"/>
              </a:xfrm>
              <a:prstGeom prst="rect">
                <a:avLst/>
              </a:prstGeom>
              <a:blipFill rotWithShape="0">
                <a:blip r:embed="rId2"/>
                <a:stretch>
                  <a:fillRect l="-1674" t="-4717" b="-15094"/>
                </a:stretch>
              </a:blipFill>
            </p:spPr>
            <p:txBody>
              <a:bodyPr/>
              <a:lstStyle/>
              <a:p>
                <a:r>
                  <a:rPr lang="zh-TW" altLang="en-US">
                    <a:noFill/>
                  </a:rPr>
                  <a:t> </a:t>
                </a:r>
              </a:p>
            </p:txBody>
          </p:sp>
        </mc:Fallback>
      </mc:AlternateContent>
      <p:graphicFrame>
        <p:nvGraphicFramePr>
          <p:cNvPr id="9" name="表格 8"/>
          <p:cNvGraphicFramePr>
            <a:graphicFrameLocks noGrp="1"/>
          </p:cNvGraphicFramePr>
          <p:nvPr>
            <p:extLst>
              <p:ext uri="{D42A27DB-BD31-4B8C-83A1-F6EECF244321}">
                <p14:modId xmlns:p14="http://schemas.microsoft.com/office/powerpoint/2010/main" val="1196909302"/>
              </p:ext>
            </p:extLst>
          </p:nvPr>
        </p:nvGraphicFramePr>
        <p:xfrm>
          <a:off x="838200" y="1828800"/>
          <a:ext cx="8064910" cy="2935224"/>
        </p:xfrm>
        <a:graphic>
          <a:graphicData uri="http://schemas.openxmlformats.org/drawingml/2006/table">
            <a:tbl>
              <a:tblPr firstRow="1" firstCol="1" bandRow="1"/>
              <a:tblGrid>
                <a:gridCol w="1816510"/>
                <a:gridCol w="1024188"/>
                <a:gridCol w="1741404"/>
                <a:gridCol w="1741404"/>
                <a:gridCol w="1741404"/>
              </a:tblGrid>
              <a:tr h="188024">
                <a:tc gridSpan="2">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Tax rate </a:t>
                      </a:r>
                      <a:r>
                        <a:rPr lang="zh-TW" sz="2000" b="1">
                          <a:effectLst/>
                          <a:latin typeface="Times New Roman" panose="02020603050405020304" pitchFamily="18" charset="0"/>
                          <a:ea typeface="標楷體" panose="03000509000000000000" pitchFamily="65" charset="-120"/>
                        </a:rPr>
                        <a:t>τ</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0.2</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0.3</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0.4</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rowSpan="3">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持有比例</a:t>
                      </a:r>
                      <a:endParaRPr lang="zh-TW" sz="2000" dirty="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相等 </a:t>
                      </a:r>
                      <a:r>
                        <a:rPr lang="en-US" sz="2000" b="1" dirty="0">
                          <a:effectLst/>
                          <a:latin typeface="Times New Roman" panose="02020603050405020304" pitchFamily="18" charset="0"/>
                          <a:ea typeface="標楷體" panose="03000509000000000000" pitchFamily="65" charset="-120"/>
                        </a:rPr>
                        <a:t> </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120.473</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120.505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120.538</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110.648</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110.815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110.982</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vMerge="1">
                  <a:txBody>
                    <a:bodyPr/>
                    <a:lstStyle/>
                    <a:p>
                      <a:pPr marL="304800" algn="ctr">
                        <a:lnSpc>
                          <a:spcPct val="107000"/>
                        </a:lnSpc>
                        <a:spcAft>
                          <a:spcPts val="0"/>
                        </a:spcAft>
                      </a:pP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平均</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115.561</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115.660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115.715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117.212</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117.290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117.369</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300">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115.583</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115.681</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115.781</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rowSpan="2">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持有比例</a:t>
                      </a:r>
                      <a:endParaRPr lang="zh-TW" sz="2000">
                        <a:effectLst/>
                        <a:latin typeface="Times New Roman" panose="02020603050405020304" pitchFamily="18" charset="0"/>
                        <a:ea typeface="標楷體" panose="03000509000000000000" pitchFamily="65" charset="-120"/>
                      </a:endParaRPr>
                    </a:p>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上界</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120.534</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120.610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120.684</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vMerge="1">
                  <a:txBody>
                    <a:bodyPr/>
                    <a:lstStyle/>
                    <a:p>
                      <a:endParaRPr lang="zh-TW" altLang="en-US"/>
                    </a:p>
                  </a:txBody>
                  <a:tcPr/>
                </a:tc>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下界</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114.026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114.192</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114.358</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gridSpan="2">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平均</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115.924</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116.670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116.765</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2616693281"/>
              </p:ext>
            </p:extLst>
          </p:nvPr>
        </p:nvGraphicFramePr>
        <p:xfrm>
          <a:off x="838200" y="4819547"/>
          <a:ext cx="8064911" cy="978408"/>
        </p:xfrm>
        <a:graphic>
          <a:graphicData uri="http://schemas.openxmlformats.org/drawingml/2006/table">
            <a:tbl>
              <a:tblPr firstRow="1" firstCol="1" bandRow="1"/>
              <a:tblGrid>
                <a:gridCol w="2136299"/>
                <a:gridCol w="1976204"/>
                <a:gridCol w="1976204"/>
                <a:gridCol w="1976204"/>
              </a:tblGrid>
              <a:tr h="150495">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Tax rate </a:t>
                      </a:r>
                      <a:r>
                        <a:rPr lang="zh-TW" sz="2000" b="1" dirty="0">
                          <a:effectLst/>
                          <a:latin typeface="Times New Roman" panose="02020603050405020304" pitchFamily="18" charset="0"/>
                          <a:ea typeface="標楷體" panose="03000509000000000000" pitchFamily="65" charset="-120"/>
                        </a:rPr>
                        <a:t>τ</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0.2</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0.3</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0.4</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1765">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116.801</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117.118</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117.215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1765">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FF0000"/>
                          </a:solidFill>
                          <a:effectLst/>
                          <a:latin typeface="Times New Roman" panose="02020603050405020304" pitchFamily="18" charset="0"/>
                          <a:ea typeface="標楷體" panose="03000509000000000000" pitchFamily="65" charset="-120"/>
                        </a:rPr>
                        <a:t>109.625</a:t>
                      </a:r>
                      <a:endParaRPr lang="zh-TW" sz="2000" dirty="0">
                        <a:solidFill>
                          <a:srgbClr val="FF0000"/>
                        </a:solidFill>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FF0000"/>
                          </a:solidFill>
                          <a:effectLst/>
                          <a:latin typeface="Times New Roman" panose="02020603050405020304" pitchFamily="18" charset="0"/>
                          <a:ea typeface="標楷體" panose="03000509000000000000" pitchFamily="65" charset="-120"/>
                        </a:rPr>
                        <a:t>109.625</a:t>
                      </a:r>
                      <a:endParaRPr lang="zh-TW" sz="2000" dirty="0">
                        <a:solidFill>
                          <a:srgbClr val="FF0000"/>
                        </a:solidFill>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FF0000"/>
                          </a:solidFill>
                          <a:effectLst/>
                          <a:latin typeface="Times New Roman" panose="02020603050405020304" pitchFamily="18" charset="0"/>
                          <a:ea typeface="標楷體" panose="03000509000000000000" pitchFamily="65" charset="-120"/>
                        </a:rPr>
                        <a:t>109.625</a:t>
                      </a:r>
                      <a:endParaRPr lang="zh-TW" sz="2000" dirty="0">
                        <a:solidFill>
                          <a:srgbClr val="FF0000"/>
                        </a:solidFill>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5" name="矩形 4"/>
              <p:cNvSpPr/>
              <p:nvPr/>
            </p:nvSpPr>
            <p:spPr>
              <a:xfrm>
                <a:off x="838200" y="5756185"/>
                <a:ext cx="8748252" cy="923330"/>
              </a:xfrm>
              <a:prstGeom prst="rect">
                <a:avLst/>
              </a:prstGeom>
            </p:spPr>
            <p:txBody>
              <a:bodyPr wrap="square">
                <a:spAutoFit/>
              </a:bodyPr>
              <a:lstStyle/>
              <a:p>
                <a:r>
                  <a:rPr lang="zh-TW" altLang="en-US" dirty="0">
                    <a:latin typeface="Times New Roman" panose="02020603050405020304" pitchFamily="18" charset="0"/>
                    <a:ea typeface="標楷體" panose="03000509000000000000" pitchFamily="65" charset="-120"/>
                  </a:rPr>
                  <a:t>總結</a:t>
                </a:r>
                <a:endParaRPr lang="en-US" altLang="zh-TW" dirty="0">
                  <a:latin typeface="Times New Roman" panose="02020603050405020304" pitchFamily="18" charset="0"/>
                  <a:ea typeface="標楷體" panose="03000509000000000000" pitchFamily="65" charset="-120"/>
                </a:endParaRPr>
              </a:p>
              <a:p>
                <a:r>
                  <a:rPr lang="zh-TW" altLang="en-US" dirty="0">
                    <a:latin typeface="Times New Roman" panose="02020603050405020304" pitchFamily="18" charset="0"/>
                    <a:ea typeface="標楷體" panose="03000509000000000000" pitchFamily="65" charset="-120"/>
                  </a:rPr>
                  <a:t>與</a:t>
                </a:r>
                <a:r>
                  <a:rPr lang="en-US" altLang="zh-TW" dirty="0">
                    <a:latin typeface="Times New Roman" panose="02020603050405020304" pitchFamily="18" charset="0"/>
                    <a:ea typeface="標楷體" panose="03000509000000000000" pitchFamily="65" charset="-120"/>
                  </a:rPr>
                  <a:t>Chen, Dai and Wan (2013)</a:t>
                </a:r>
                <a:r>
                  <a:rPr lang="zh-TW" altLang="en-US" dirty="0">
                    <a:latin typeface="Times New Roman" panose="02020603050405020304" pitchFamily="18" charset="0"/>
                    <a:ea typeface="標楷體" panose="03000509000000000000" pitchFamily="65" charset="-120"/>
                  </a:rPr>
                  <a:t>分析結果一致，</a:t>
                </a:r>
                <a:endParaRPr lang="en-US" altLang="zh-TW" dirty="0">
                  <a:latin typeface="Times New Roman" panose="02020603050405020304" pitchFamily="18" charset="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且獨占價格</a:t>
                </a:r>
                <a14:m>
                  <m:oMath xmlns:m="http://schemas.openxmlformats.org/officeDocument/2006/math">
                    <m:r>
                      <a:rPr lang="en-US" altLang="zh-TW" i="1" dirty="0">
                        <a:latin typeface="Cambria Math" panose="02040503050406030204" pitchFamily="18" charset="0"/>
                        <a:ea typeface="標楷體" panose="03000509000000000000" pitchFamily="65" charset="-120"/>
                      </a:rPr>
                      <m:t>&gt;</m:t>
                    </m:r>
                  </m:oMath>
                </a14:m>
                <a:r>
                  <a:rPr lang="zh-TW" altLang="en-US" dirty="0">
                    <a:latin typeface="標楷體" panose="03000509000000000000" pitchFamily="65" charset="-120"/>
                    <a:ea typeface="標楷體" panose="03000509000000000000" pitchFamily="65" charset="-120"/>
                  </a:rPr>
                  <a:t>寡占持有比例懸殊價格</a:t>
                </a:r>
                <a:r>
                  <a:rPr lang="en-US" altLang="zh-TW" dirty="0">
                    <a:latin typeface="標楷體" panose="03000509000000000000" pitchFamily="65" charset="-120"/>
                    <a:ea typeface="標楷體" panose="03000509000000000000" pitchFamily="65" charset="-120"/>
                  </a:rPr>
                  <a:t>&gt;</a:t>
                </a:r>
                <a:r>
                  <a:rPr lang="zh-TW" altLang="en-US" dirty="0">
                    <a:latin typeface="標楷體" panose="03000509000000000000" pitchFamily="65" charset="-120"/>
                    <a:ea typeface="標楷體" panose="03000509000000000000" pitchFamily="65" charset="-120"/>
                  </a:rPr>
                  <a:t>寡占持有比例相等價格</a:t>
                </a:r>
                <a:r>
                  <a:rPr lang="en-US" altLang="zh-TW" dirty="0">
                    <a:latin typeface="標楷體" panose="03000509000000000000" pitchFamily="65" charset="-120"/>
                    <a:ea typeface="標楷體" panose="03000509000000000000" pitchFamily="65" charset="-120"/>
                  </a:rPr>
                  <a:t>&gt;</a:t>
                </a:r>
                <a:r>
                  <a:rPr lang="zh-TW" altLang="en-US" dirty="0">
                    <a:latin typeface="標楷體" panose="03000509000000000000" pitchFamily="65" charset="-120"/>
                    <a:ea typeface="標楷體" panose="03000509000000000000" pitchFamily="65" charset="-120"/>
                  </a:rPr>
                  <a:t>完全競爭價格</a:t>
                </a:r>
              </a:p>
            </p:txBody>
          </p:sp>
        </mc:Choice>
        <mc:Fallback xmlns="">
          <p:sp>
            <p:nvSpPr>
              <p:cNvPr id="5" name="矩形 4"/>
              <p:cNvSpPr>
                <a:spLocks noRot="1" noChangeAspect="1" noMove="1" noResize="1" noEditPoints="1" noAdjustHandles="1" noChangeArrowheads="1" noChangeShapeType="1" noTextEdit="1"/>
              </p:cNvSpPr>
              <p:nvPr/>
            </p:nvSpPr>
            <p:spPr>
              <a:xfrm>
                <a:off x="838200" y="5756185"/>
                <a:ext cx="8748252" cy="923330"/>
              </a:xfrm>
              <a:prstGeom prst="rect">
                <a:avLst/>
              </a:prstGeom>
              <a:blipFill rotWithShape="0">
                <a:blip r:embed="rId3"/>
                <a:stretch>
                  <a:fillRect l="-627" t="-2632" b="-986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1769986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比較靜態分析</a:t>
            </a:r>
            <a:r>
              <a:rPr lang="en-US" altLang="zh-TW" dirty="0" smtClean="0">
                <a:latin typeface="標楷體" panose="03000509000000000000" pitchFamily="65" charset="-120"/>
                <a:ea typeface="標楷體" panose="03000509000000000000" pitchFamily="65" charset="-120"/>
              </a:rPr>
              <a:t>-2</a:t>
            </a:r>
            <a:r>
              <a:rPr lang="en-US" altLang="zh-TW" sz="4000" dirty="0" smtClean="0">
                <a:latin typeface="標楷體" panose="03000509000000000000" pitchFamily="65" charset="-120"/>
                <a:ea typeface="標楷體" panose="03000509000000000000" pitchFamily="65" charset="-120"/>
              </a:rPr>
              <a:t>(</a:t>
            </a:r>
            <a:r>
              <a:rPr lang="zh-TW" altLang="en-US" sz="4000" dirty="0" smtClean="0">
                <a:latin typeface="標楷體" panose="03000509000000000000" pitchFamily="65" charset="-120"/>
                <a:ea typeface="標楷體" panose="03000509000000000000" pitchFamily="65" charset="-120"/>
              </a:rPr>
              <a:t>分析到期日最佳轉換比例</a:t>
            </a:r>
            <a:r>
              <a:rPr lang="en-US" altLang="zh-TW" sz="4000" dirty="0" smtClean="0">
                <a:latin typeface="標楷體" panose="03000509000000000000" pitchFamily="65" charset="-120"/>
                <a:ea typeface="標楷體" panose="03000509000000000000" pitchFamily="65" charset="-120"/>
              </a:rPr>
              <a:t>)</a:t>
            </a:r>
            <a:endParaRPr lang="zh-TW" altLang="en-US" sz="4000" dirty="0"/>
          </a:p>
        </p:txBody>
      </p:sp>
      <mc:AlternateContent xmlns:mc="http://schemas.openxmlformats.org/markup-compatibility/2006" xmlns:a14="http://schemas.microsoft.com/office/drawing/2010/main">
        <mc:Choice Requires="a14">
          <p:graphicFrame>
            <p:nvGraphicFramePr>
              <p:cNvPr id="5" name="內容版面配置區 4"/>
              <p:cNvGraphicFramePr>
                <a:graphicFrameLocks noGrp="1"/>
              </p:cNvGraphicFramePr>
              <p:nvPr>
                <p:ph idx="1"/>
                <p:extLst>
                  <p:ext uri="{D42A27DB-BD31-4B8C-83A1-F6EECF244321}">
                    <p14:modId xmlns:p14="http://schemas.microsoft.com/office/powerpoint/2010/main" val="895228968"/>
                  </p:ext>
                </p:extLst>
              </p:nvPr>
            </p:nvGraphicFramePr>
            <p:xfrm>
              <a:off x="985684" y="2457603"/>
              <a:ext cx="6356555" cy="2609088"/>
            </p:xfrm>
            <a:graphic>
              <a:graphicData uri="http://schemas.openxmlformats.org/drawingml/2006/table">
                <a:tbl>
                  <a:tblPr firstRow="1" firstCol="1" bandRow="1"/>
                  <a:tblGrid>
                    <a:gridCol w="1683776"/>
                    <a:gridCol w="1557593"/>
                    <a:gridCol w="1557593"/>
                    <a:gridCol w="1557593"/>
                  </a:tblGrid>
                  <a:tr h="167610">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Coupon </a:t>
                          </a:r>
                          <a14:m>
                            <m:oMath xmlns:m="http://schemas.openxmlformats.org/officeDocument/2006/math">
                              <m:sSub>
                                <m:sSubPr>
                                  <m:ctrlPr>
                                    <a:rPr lang="zh-TW" sz="2000" b="1" i="1">
                                      <a:effectLst/>
                                      <a:latin typeface="Cambria Math" panose="02040503050406030204" pitchFamily="18" charset="0"/>
                                      <a:ea typeface="Cambria Math" panose="02040503050406030204" pitchFamily="18" charset="0"/>
                                    </a:rPr>
                                  </m:ctrlPr>
                                </m:sSubPr>
                                <m:e>
                                  <m:r>
                                    <a:rPr lang="en-US" sz="2000" b="1" i="1">
                                      <a:effectLst/>
                                      <a:latin typeface="Cambria Math" panose="02040503050406030204" pitchFamily="18" charset="0"/>
                                      <a:ea typeface="標楷體" panose="03000509000000000000" pitchFamily="65" charset="-120"/>
                                    </a:rPr>
                                    <m:t>𝑪</m:t>
                                  </m:r>
                                </m:e>
                                <m:sub>
                                  <m:r>
                                    <a:rPr lang="en-US" sz="2000" b="1" i="1">
                                      <a:effectLst/>
                                      <a:latin typeface="Cambria Math" panose="02040503050406030204" pitchFamily="18" charset="0"/>
                                      <a:ea typeface="標楷體" panose="03000509000000000000" pitchFamily="65" charset="-120"/>
                                    </a:rPr>
                                    <m:t>𝑪</m:t>
                                  </m:r>
                                </m:sub>
                              </m:sSub>
                            </m:oMath>
                          </a14:m>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0.07</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68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30.52%</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68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寡占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46.06%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68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75.00%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3609">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Tax rate </a:t>
                          </a:r>
                          <a:r>
                            <a:rPr lang="zh-TW" sz="2000" b="1" dirty="0">
                              <a:effectLst/>
                              <a:latin typeface="Times New Roman" panose="02020603050405020304" pitchFamily="18" charset="0"/>
                              <a:ea typeface="標楷體" panose="03000509000000000000" pitchFamily="65" charset="-120"/>
                            </a:rPr>
                            <a:t>τ</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0.2</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0.4</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6836">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獨占</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30.52%</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33.33%</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34.71%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6836">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寡占</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46.06%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50.87%</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53.26%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6836">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完全競爭</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75.00%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83.33%</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87.50%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Choice>
        <mc:Fallback xmlns="">
          <p:graphicFrame>
            <p:nvGraphicFramePr>
              <p:cNvPr id="5" name="內容版面配置區 4"/>
              <p:cNvGraphicFramePr>
                <a:graphicFrameLocks noGrp="1"/>
              </p:cNvGraphicFramePr>
              <p:nvPr>
                <p:ph idx="1"/>
                <p:extLst>
                  <p:ext uri="{D42A27DB-BD31-4B8C-83A1-F6EECF244321}">
                    <p14:modId xmlns:p14="http://schemas.microsoft.com/office/powerpoint/2010/main" val="895228968"/>
                  </p:ext>
                </p:extLst>
              </p:nvPr>
            </p:nvGraphicFramePr>
            <p:xfrm>
              <a:off x="985684" y="2457603"/>
              <a:ext cx="6356555" cy="2565020"/>
            </p:xfrm>
            <a:graphic>
              <a:graphicData uri="http://schemas.openxmlformats.org/drawingml/2006/table">
                <a:tbl>
                  <a:tblPr firstRow="1" firstCol="1" bandRow="1"/>
                  <a:tblGrid>
                    <a:gridCol w="1683776"/>
                    <a:gridCol w="1557593"/>
                    <a:gridCol w="1557593"/>
                    <a:gridCol w="1557593"/>
                  </a:tblGrid>
                  <a:tr h="304102">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361" t="-26000" r="-277617" b="-786000"/>
                          </a:stretch>
                        </a:blipFill>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0.07</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30.52%</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寡占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46.06%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75.00%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102">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Tax rate </a:t>
                          </a:r>
                          <a:r>
                            <a:rPr lang="zh-TW" sz="2000" b="1" dirty="0">
                              <a:effectLst/>
                              <a:latin typeface="Times New Roman" panose="02020603050405020304" pitchFamily="18" charset="0"/>
                              <a:ea typeface="標楷體" panose="03000509000000000000" pitchFamily="65" charset="-120"/>
                            </a:rPr>
                            <a:t>τ</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0.2</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0.3</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0.4</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獨占</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30.52%</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33.33%</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34.71%</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寡占</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46.06%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50.87%</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53.26%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6136">
                    <a:tc>
                      <a:txBody>
                        <a:bodyPr/>
                        <a:lstStyle/>
                        <a:p>
                          <a:pPr marL="304800" algn="ctr">
                            <a:lnSpc>
                              <a:spcPct val="107000"/>
                            </a:lnSpc>
                            <a:spcAft>
                              <a:spcPts val="0"/>
                            </a:spcAft>
                          </a:pPr>
                          <a:r>
                            <a:rPr lang="zh-TW" sz="2000" b="1" dirty="0">
                              <a:effectLst/>
                              <a:latin typeface="Times New Roman" panose="02020603050405020304" pitchFamily="18" charset="0"/>
                              <a:ea typeface="標楷體" panose="03000509000000000000" pitchFamily="65" charset="-120"/>
                            </a:rPr>
                            <a:t>完全競爭</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75.00%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83.33%</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87.50%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48</a:t>
            </a:fld>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7551175" y="2846439"/>
                <a:ext cx="4126451" cy="646331"/>
              </a:xfrm>
              <a:prstGeom prst="rect">
                <a:avLst/>
              </a:prstGeom>
              <a:noFill/>
            </p:spPr>
            <p:txBody>
              <a:bodyPr wrap="none" rtlCol="0">
                <a:spAutoFit/>
              </a:bodyPr>
              <a:lstStyle/>
              <a:p>
                <a:r>
                  <a:rPr lang="zh-TW" altLang="en-US" dirty="0" smtClean="0">
                    <a:latin typeface="標楷體" panose="03000509000000000000" pitchFamily="65" charset="-120"/>
                    <a:ea typeface="標楷體" panose="03000509000000000000" pitchFamily="65" charset="-120"/>
                  </a:rPr>
                  <a:t>債息上升</a:t>
                </a:r>
                <a14:m>
                  <m:oMath xmlns:m="http://schemas.openxmlformats.org/officeDocument/2006/math">
                    <m:r>
                      <a:rPr lang="zh-TW" altLang="en-US" i="1" smtClean="0">
                        <a:latin typeface="Cambria Math" panose="02040503050406030204" pitchFamily="18" charset="0"/>
                      </a:rPr>
                      <m:t>→</m:t>
                    </m:r>
                  </m:oMath>
                </a14:m>
                <a:r>
                  <a:rPr lang="zh-TW" altLang="en-US" dirty="0" smtClean="0">
                    <a:latin typeface="標楷體" panose="03000509000000000000" pitchFamily="65" charset="-120"/>
                    <a:ea typeface="標楷體" panose="03000509000000000000" pitchFamily="65" charset="-120"/>
                  </a:rPr>
                  <a:t>最佳轉換比例下降</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原因：因為債息升高，</a:t>
                </a:r>
                <a:r>
                  <a:rPr lang="en-US" altLang="zh-TW" dirty="0" smtClean="0">
                    <a:latin typeface="標楷體" panose="03000509000000000000" pitchFamily="65" charset="-120"/>
                    <a:ea typeface="標楷體" panose="03000509000000000000" pitchFamily="65" charset="-120"/>
                  </a:rPr>
                  <a:t>CB</a:t>
                </a:r>
                <a:r>
                  <a:rPr lang="zh-TW" altLang="en-US" dirty="0" smtClean="0">
                    <a:latin typeface="標楷體" panose="03000509000000000000" pitchFamily="65" charset="-120"/>
                    <a:ea typeface="標楷體" panose="03000509000000000000" pitchFamily="65" charset="-120"/>
                  </a:rPr>
                  <a:t>存續價值變大</a:t>
                </a:r>
                <a:endParaRPr lang="zh-TW" altLang="en-US" dirty="0">
                  <a:latin typeface="標楷體" panose="03000509000000000000" pitchFamily="65" charset="-120"/>
                  <a:ea typeface="標楷體" panose="03000509000000000000" pitchFamily="65" charset="-12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7551175" y="2846439"/>
                <a:ext cx="4126451" cy="646331"/>
              </a:xfrm>
              <a:prstGeom prst="rect">
                <a:avLst/>
              </a:prstGeom>
              <a:blipFill rotWithShape="0">
                <a:blip r:embed="rId3"/>
                <a:stretch>
                  <a:fillRect l="-1329" t="-4717" b="-150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7551174" y="4119716"/>
                <a:ext cx="4108817" cy="923330"/>
              </a:xfrm>
              <a:prstGeom prst="rect">
                <a:avLst/>
              </a:prstGeom>
              <a:noFill/>
            </p:spPr>
            <p:txBody>
              <a:bodyPr wrap="none" rtlCol="0">
                <a:spAutoFit/>
              </a:bodyPr>
              <a:lstStyle/>
              <a:p>
                <a:r>
                  <a:rPr lang="zh-TW" altLang="en-US" dirty="0" smtClean="0">
                    <a:latin typeface="標楷體" panose="03000509000000000000" pitchFamily="65" charset="-120"/>
                    <a:ea typeface="標楷體" panose="03000509000000000000" pitchFamily="65" charset="-120"/>
                  </a:rPr>
                  <a:t>稅盾上升</a:t>
                </a:r>
                <a14:m>
                  <m:oMath xmlns:m="http://schemas.openxmlformats.org/officeDocument/2006/math">
                    <m:r>
                      <a:rPr lang="zh-TW" altLang="en-US" i="1" smtClean="0">
                        <a:latin typeface="Cambria Math" panose="02040503050406030204" pitchFamily="18" charset="0"/>
                      </a:rPr>
                      <m:t>→</m:t>
                    </m:r>
                  </m:oMath>
                </a14:m>
                <a:r>
                  <a:rPr lang="zh-TW" altLang="en-US" dirty="0" smtClean="0">
                    <a:latin typeface="標楷體" panose="03000509000000000000" pitchFamily="65" charset="-120"/>
                    <a:ea typeface="標楷體" panose="03000509000000000000" pitchFamily="65" charset="-120"/>
                  </a:rPr>
                  <a:t>最佳轉換比例下降</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原因：因為稅盾效果增加，股東得利，</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      債權人會轉換</a:t>
                </a:r>
                <a:r>
                  <a:rPr lang="en-US" altLang="zh-TW" dirty="0" smtClean="0">
                    <a:latin typeface="標楷體" panose="03000509000000000000" pitchFamily="65" charset="-120"/>
                    <a:ea typeface="標楷體" panose="03000509000000000000" pitchFamily="65" charset="-120"/>
                  </a:rPr>
                  <a:t>CB</a:t>
                </a:r>
                <a:r>
                  <a:rPr lang="zh-TW" altLang="en-US" dirty="0" smtClean="0">
                    <a:latin typeface="標楷體" panose="03000509000000000000" pitchFamily="65" charset="-120"/>
                    <a:ea typeface="標楷體" panose="03000509000000000000" pitchFamily="65" charset="-120"/>
                  </a:rPr>
                  <a:t>成為股東</a:t>
                </a:r>
                <a:endParaRPr lang="zh-TW" altLang="en-US" dirty="0">
                  <a:latin typeface="標楷體" panose="03000509000000000000" pitchFamily="65" charset="-120"/>
                  <a:ea typeface="標楷體" panose="03000509000000000000" pitchFamily="65" charset="-120"/>
                </a:endParaRPr>
              </a:p>
            </p:txBody>
          </p:sp>
        </mc:Choice>
        <mc:Fallback xmlns="">
          <p:sp>
            <p:nvSpPr>
              <p:cNvPr id="7" name="文字方塊 6"/>
              <p:cNvSpPr txBox="1">
                <a:spLocks noRot="1" noChangeAspect="1" noMove="1" noResize="1" noEditPoints="1" noAdjustHandles="1" noChangeArrowheads="1" noChangeShapeType="1" noTextEdit="1"/>
              </p:cNvSpPr>
              <p:nvPr/>
            </p:nvSpPr>
            <p:spPr>
              <a:xfrm>
                <a:off x="7551174" y="4119716"/>
                <a:ext cx="4108817" cy="923330"/>
              </a:xfrm>
              <a:prstGeom prst="rect">
                <a:avLst/>
              </a:prstGeom>
              <a:blipFill rotWithShape="0">
                <a:blip r:embed="rId4"/>
                <a:stretch>
                  <a:fillRect l="-1335" t="-3311" r="-148" b="-105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165416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latin typeface="標楷體" panose="03000509000000000000" pitchFamily="65" charset="-120"/>
                <a:ea typeface="標楷體" panose="03000509000000000000" pitchFamily="65" charset="-120"/>
              </a:rPr>
              <a:t>比較靜態分析</a:t>
            </a:r>
            <a:r>
              <a:rPr lang="en-US" altLang="zh-TW" dirty="0" smtClean="0">
                <a:latin typeface="標楷體" panose="03000509000000000000" pitchFamily="65" charset="-120"/>
                <a:ea typeface="標楷體" panose="03000509000000000000" pitchFamily="65" charset="-120"/>
              </a:rPr>
              <a:t>-3</a:t>
            </a:r>
            <a:r>
              <a:rPr lang="en-US" altLang="zh-TW" sz="3600" dirty="0" smtClean="0">
                <a:latin typeface="標楷體" panose="03000509000000000000" pitchFamily="65" charset="-120"/>
                <a:ea typeface="標楷體" panose="03000509000000000000" pitchFamily="65" charset="-120"/>
              </a:rPr>
              <a:t>(</a:t>
            </a:r>
            <a:r>
              <a:rPr lang="zh-TW" altLang="en-US" sz="3600" dirty="0">
                <a:latin typeface="標楷體" panose="03000509000000000000" pitchFamily="65" charset="-120"/>
                <a:ea typeface="標楷體" panose="03000509000000000000" pitchFamily="65" charset="-120"/>
              </a:rPr>
              <a:t>分析</a:t>
            </a:r>
            <a:r>
              <a:rPr lang="zh-TW" altLang="en-US" sz="3600" dirty="0" smtClean="0">
                <a:latin typeface="標楷體" panose="03000509000000000000" pitchFamily="65" charset="-120"/>
                <a:ea typeface="標楷體" panose="03000509000000000000" pitchFamily="65" charset="-120"/>
              </a:rPr>
              <a:t>到期前</a:t>
            </a:r>
            <a:r>
              <a:rPr lang="en-US" altLang="zh-TW" sz="3600" dirty="0" smtClean="0">
                <a:latin typeface="標楷體" panose="03000509000000000000" pitchFamily="65" charset="-120"/>
                <a:ea typeface="標楷體" panose="03000509000000000000" pitchFamily="65" charset="-120"/>
              </a:rPr>
              <a:t>n-1</a:t>
            </a:r>
            <a:r>
              <a:rPr lang="zh-TW" altLang="en-US" sz="3600" dirty="0" smtClean="0">
                <a:latin typeface="標楷體" panose="03000509000000000000" pitchFamily="65" charset="-120"/>
                <a:ea typeface="標楷體" panose="03000509000000000000" pitchFamily="65" charset="-120"/>
              </a:rPr>
              <a:t>期最佳</a:t>
            </a:r>
            <a:r>
              <a:rPr lang="zh-TW" altLang="en-US" sz="3600" dirty="0">
                <a:latin typeface="標楷體" panose="03000509000000000000" pitchFamily="65" charset="-120"/>
                <a:ea typeface="標楷體" panose="03000509000000000000" pitchFamily="65" charset="-120"/>
              </a:rPr>
              <a:t>轉換比例</a:t>
            </a:r>
            <a:r>
              <a:rPr lang="en-US" altLang="zh-TW" sz="3600" dirty="0">
                <a:latin typeface="標楷體" panose="03000509000000000000" pitchFamily="65" charset="-120"/>
                <a:ea typeface="標楷體" panose="03000509000000000000" pitchFamily="65" charset="-120"/>
              </a:rPr>
              <a:t>)</a:t>
            </a:r>
            <a:endParaRPr lang="zh-TW" altLang="en-US" sz="3600"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981887324"/>
              </p:ext>
            </p:extLst>
          </p:nvPr>
        </p:nvGraphicFramePr>
        <p:xfrm>
          <a:off x="838200" y="1690688"/>
          <a:ext cx="8217310" cy="3913632"/>
        </p:xfrm>
        <a:graphic>
          <a:graphicData uri="http://schemas.openxmlformats.org/drawingml/2006/table">
            <a:tbl>
              <a:tblPr firstRow="1" firstCol="1" bandRow="1"/>
              <a:tblGrid>
                <a:gridCol w="2199028"/>
                <a:gridCol w="1519611"/>
                <a:gridCol w="1519611"/>
                <a:gridCol w="1519611"/>
                <a:gridCol w="1459449"/>
              </a:tblGrid>
              <a:tr h="255889">
                <a:tc gridSpan="5">
                  <a:txBody>
                    <a:bodyPr/>
                    <a:lstStyle/>
                    <a:p>
                      <a:pPr marL="304800" algn="ctr">
                        <a:lnSpc>
                          <a:spcPct val="107000"/>
                        </a:lnSpc>
                        <a:spcAft>
                          <a:spcPts val="0"/>
                        </a:spcAft>
                      </a:pPr>
                      <a:r>
                        <a:rPr lang="zh-TW" sz="2000" dirty="0">
                          <a:effectLst/>
                          <a:latin typeface="Times New Roman" panose="02020603050405020304" pitchFamily="18" charset="0"/>
                          <a:ea typeface="標楷體" panose="03000509000000000000" pitchFamily="65" charset="-120"/>
                        </a:rPr>
                        <a:t>資產樹</a:t>
                      </a:r>
                      <a:r>
                        <a:rPr lang="en-US" sz="2000" dirty="0">
                          <a:effectLst/>
                          <a:latin typeface="Times New Roman" panose="02020603050405020304" pitchFamily="18" charset="0"/>
                          <a:ea typeface="標楷體" panose="03000509000000000000" pitchFamily="65" charset="-120"/>
                        </a:rPr>
                        <a:t>T=2</a:t>
                      </a:r>
                      <a:r>
                        <a:rPr lang="zh-TW" sz="2000" dirty="0">
                          <a:effectLst/>
                          <a:latin typeface="Times New Roman" panose="02020603050405020304" pitchFamily="18" charset="0"/>
                          <a:ea typeface="標楷體" panose="03000509000000000000" pitchFamily="65" charset="-120"/>
                        </a:rPr>
                        <a:t>年，期數</a:t>
                      </a:r>
                      <a:r>
                        <a:rPr lang="en-US" sz="2000" dirty="0">
                          <a:effectLst/>
                          <a:latin typeface="Times New Roman" panose="02020603050405020304" pitchFamily="18" charset="0"/>
                          <a:ea typeface="標楷體" panose="03000509000000000000" pitchFamily="65" charset="-120"/>
                        </a:rPr>
                        <a:t>2</a:t>
                      </a:r>
                      <a:r>
                        <a:rPr lang="zh-TW" sz="2000" dirty="0">
                          <a:effectLst/>
                          <a:latin typeface="Times New Roman" panose="02020603050405020304" pitchFamily="18" charset="0"/>
                          <a:ea typeface="標楷體" panose="03000509000000000000" pitchFamily="65" charset="-120"/>
                        </a:rPr>
                        <a:t>期，資產樹上第</a:t>
                      </a:r>
                      <a:r>
                        <a:rPr lang="en-US" sz="2000" dirty="0">
                          <a:effectLst/>
                          <a:latin typeface="Times New Roman" panose="02020603050405020304" pitchFamily="18" charset="0"/>
                          <a:ea typeface="標楷體" panose="03000509000000000000" pitchFamily="65" charset="-120"/>
                        </a:rPr>
                        <a:t>1</a:t>
                      </a:r>
                      <a:r>
                        <a:rPr lang="zh-TW" sz="2000" dirty="0">
                          <a:effectLst/>
                          <a:latin typeface="Times New Roman" panose="02020603050405020304" pitchFamily="18" charset="0"/>
                          <a:ea typeface="標楷體" panose="03000509000000000000" pitchFamily="65" charset="-120"/>
                        </a:rPr>
                        <a:t>期第</a:t>
                      </a:r>
                      <a:r>
                        <a:rPr lang="en-US" sz="2000" dirty="0">
                          <a:effectLst/>
                          <a:latin typeface="Times New Roman" panose="02020603050405020304" pitchFamily="18" charset="0"/>
                          <a:ea typeface="標楷體" panose="03000509000000000000" pitchFamily="65" charset="-120"/>
                        </a:rPr>
                        <a:t>2</a:t>
                      </a:r>
                      <a:r>
                        <a:rPr lang="zh-TW" sz="2000" dirty="0">
                          <a:effectLst/>
                          <a:latin typeface="Times New Roman" panose="02020603050405020304" pitchFamily="18" charset="0"/>
                          <a:ea typeface="標楷體" panose="03000509000000000000" pitchFamily="65" charset="-120"/>
                        </a:rPr>
                        <a:t>個節點</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255889">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Interest rate r</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0.06</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rPr>
                        <a:t>0.07</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0.08</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0.20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13.16%</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13.16%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13.16%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13.16%</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寡占</a:t>
                      </a:r>
                      <a:r>
                        <a:rPr lang="en-US" sz="2000" b="1">
                          <a:effectLst/>
                          <a:latin typeface="Times New Roman" panose="02020603050405020304" pitchFamily="18" charset="0"/>
                          <a:ea typeface="標楷體" panose="03000509000000000000" pitchFamily="65" charset="-120"/>
                        </a:rPr>
                        <a:t>(</a:t>
                      </a:r>
                      <a:r>
                        <a:rPr lang="zh-TW" sz="2000" b="1">
                          <a:effectLst/>
                          <a:latin typeface="Times New Roman" panose="02020603050405020304" pitchFamily="18" charset="0"/>
                          <a:ea typeface="標楷體" panose="03000509000000000000" pitchFamily="65" charset="-120"/>
                        </a:rPr>
                        <a:t>相等</a:t>
                      </a:r>
                      <a:r>
                        <a:rPr lang="en-US" sz="2000" b="1">
                          <a:effectLst/>
                          <a:latin typeface="Times New Roman" panose="02020603050405020304" pitchFamily="18" charset="0"/>
                          <a:ea typeface="標楷體" panose="03000509000000000000" pitchFamily="65" charset="-120"/>
                        </a:rPr>
                        <a:t>)</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13.25%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13.25%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寡占</a:t>
                      </a:r>
                      <a:r>
                        <a:rPr lang="en-US" sz="2000" b="1">
                          <a:effectLst/>
                          <a:latin typeface="Times New Roman" panose="02020603050405020304" pitchFamily="18" charset="0"/>
                          <a:ea typeface="標楷體" panose="03000509000000000000" pitchFamily="65" charset="-120"/>
                        </a:rPr>
                        <a:t>(</a:t>
                      </a: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13.25%</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effectLst/>
                          <a:latin typeface="Times New Roman" panose="02020603050405020304" pitchFamily="18" charset="0"/>
                          <a:ea typeface="標楷體" panose="03000509000000000000" pitchFamily="65" charset="-120"/>
                        </a:rPr>
                        <a:t>13.25%</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gridSpan="5">
                  <a:txBody>
                    <a:bodyPr/>
                    <a:lstStyle/>
                    <a:p>
                      <a:pPr marL="304800" algn="ctr">
                        <a:lnSpc>
                          <a:spcPct val="107000"/>
                        </a:lnSpc>
                        <a:spcAft>
                          <a:spcPts val="0"/>
                        </a:spcAft>
                      </a:pPr>
                      <a:r>
                        <a:rPr lang="zh-TW" sz="2000">
                          <a:effectLst/>
                          <a:latin typeface="Times New Roman" panose="02020603050405020304" pitchFamily="18" charset="0"/>
                          <a:ea typeface="標楷體" panose="03000509000000000000" pitchFamily="65" charset="-120"/>
                        </a:rPr>
                        <a:t>資產樹</a:t>
                      </a:r>
                      <a:r>
                        <a:rPr lang="en-US" sz="2000">
                          <a:effectLst/>
                          <a:latin typeface="Times New Roman" panose="02020603050405020304" pitchFamily="18" charset="0"/>
                          <a:ea typeface="標楷體" panose="03000509000000000000" pitchFamily="65" charset="-120"/>
                        </a:rPr>
                        <a:t>T=10</a:t>
                      </a:r>
                      <a:r>
                        <a:rPr lang="zh-TW" sz="2000">
                          <a:effectLst/>
                          <a:latin typeface="Times New Roman" panose="02020603050405020304" pitchFamily="18" charset="0"/>
                          <a:ea typeface="標楷體" panose="03000509000000000000" pitchFamily="65" charset="-120"/>
                        </a:rPr>
                        <a:t>年，期數</a:t>
                      </a:r>
                      <a:r>
                        <a:rPr lang="en-US" sz="2000">
                          <a:effectLst/>
                          <a:latin typeface="Times New Roman" panose="02020603050405020304" pitchFamily="18" charset="0"/>
                          <a:ea typeface="標楷體" panose="03000509000000000000" pitchFamily="65" charset="-120"/>
                        </a:rPr>
                        <a:t>10</a:t>
                      </a:r>
                      <a:r>
                        <a:rPr lang="zh-TW" sz="2000">
                          <a:effectLst/>
                          <a:latin typeface="Times New Roman" panose="02020603050405020304" pitchFamily="18" charset="0"/>
                          <a:ea typeface="標楷體" panose="03000509000000000000" pitchFamily="65" charset="-120"/>
                        </a:rPr>
                        <a:t>期，資產樹上第</a:t>
                      </a:r>
                      <a:r>
                        <a:rPr lang="en-US" sz="2000">
                          <a:effectLst/>
                          <a:latin typeface="Times New Roman" panose="02020603050405020304" pitchFamily="18" charset="0"/>
                          <a:ea typeface="標楷體" panose="03000509000000000000" pitchFamily="65" charset="-120"/>
                        </a:rPr>
                        <a:t>9</a:t>
                      </a:r>
                      <a:r>
                        <a:rPr lang="zh-TW" sz="2000">
                          <a:effectLst/>
                          <a:latin typeface="Times New Roman" panose="02020603050405020304" pitchFamily="18" charset="0"/>
                          <a:ea typeface="標楷體" panose="03000509000000000000" pitchFamily="65" charset="-120"/>
                        </a:rPr>
                        <a:t>期第</a:t>
                      </a:r>
                      <a:r>
                        <a:rPr lang="en-US" sz="2000">
                          <a:effectLst/>
                          <a:latin typeface="Times New Roman" panose="02020603050405020304" pitchFamily="18" charset="0"/>
                          <a:ea typeface="標楷體" panose="03000509000000000000" pitchFamily="65" charset="-120"/>
                        </a:rPr>
                        <a:t>6</a:t>
                      </a:r>
                      <a:r>
                        <a:rPr lang="zh-TW" sz="2000">
                          <a:effectLst/>
                          <a:latin typeface="Times New Roman" panose="02020603050405020304" pitchFamily="18" charset="0"/>
                          <a:ea typeface="標楷體" panose="03000509000000000000" pitchFamily="65" charset="-120"/>
                        </a:rPr>
                        <a:t>個節點</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298897">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Interest rate r</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0.07</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0.08</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rPr>
                        <a:t>0.20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13.16%</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13.16%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13.16%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13.16%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寡占</a:t>
                      </a:r>
                      <a:r>
                        <a:rPr lang="en-US" sz="2000" b="1">
                          <a:effectLst/>
                          <a:latin typeface="Times New Roman" panose="02020603050405020304" pitchFamily="18" charset="0"/>
                          <a:ea typeface="標楷體" panose="03000509000000000000" pitchFamily="65" charset="-120"/>
                        </a:rPr>
                        <a:t>(</a:t>
                      </a:r>
                      <a:r>
                        <a:rPr lang="zh-TW" sz="2000" b="1">
                          <a:effectLst/>
                          <a:latin typeface="Times New Roman" panose="02020603050405020304" pitchFamily="18" charset="0"/>
                          <a:ea typeface="標楷體" panose="03000509000000000000" pitchFamily="65" charset="-120"/>
                        </a:rPr>
                        <a:t>相等</a:t>
                      </a:r>
                      <a:r>
                        <a:rPr lang="en-US" sz="2000" b="1">
                          <a:effectLst/>
                          <a:latin typeface="Times New Roman" panose="02020603050405020304" pitchFamily="18" charset="0"/>
                          <a:ea typeface="標楷體" panose="03000509000000000000" pitchFamily="65" charset="-120"/>
                        </a:rPr>
                        <a:t>)</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寡占</a:t>
                      </a:r>
                      <a:r>
                        <a:rPr lang="en-US" sz="2000" b="1">
                          <a:effectLst/>
                          <a:latin typeface="Times New Roman" panose="02020603050405020304" pitchFamily="18" charset="0"/>
                          <a:ea typeface="標楷體" panose="03000509000000000000" pitchFamily="65" charset="-120"/>
                        </a:rPr>
                        <a:t>(</a:t>
                      </a:r>
                      <a:r>
                        <a:rPr lang="zh-TW" sz="2000" b="1">
                          <a:effectLst/>
                          <a:latin typeface="Times New Roman" panose="02020603050405020304" pitchFamily="18" charset="0"/>
                          <a:ea typeface="標楷體" panose="03000509000000000000" pitchFamily="65" charset="-120"/>
                        </a:rPr>
                        <a:t>懸殊</a:t>
                      </a:r>
                      <a:r>
                        <a:rPr lang="en-US" sz="2000" b="1">
                          <a:effectLst/>
                          <a:latin typeface="Times New Roman" panose="02020603050405020304" pitchFamily="18" charset="0"/>
                          <a:ea typeface="標楷體" panose="03000509000000000000" pitchFamily="65" charset="-120"/>
                        </a:rPr>
                        <a:t>)</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effectLst/>
                          <a:latin typeface="Times New Roman" panose="02020603050405020304" pitchFamily="18" charset="0"/>
                          <a:ea typeface="標楷體" panose="03000509000000000000" pitchFamily="65" charset="-120"/>
                        </a:rPr>
                        <a:t>13.25%</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8897">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標楷體" panose="03000509000000000000" pitchFamily="65"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49</a:t>
            </a:fld>
            <a:endParaRPr lang="zh-TW" altLang="en-US"/>
          </a:p>
        </p:txBody>
      </p:sp>
      <p:sp>
        <p:nvSpPr>
          <p:cNvPr id="6" name="矩形 5"/>
          <p:cNvSpPr/>
          <p:nvPr/>
        </p:nvSpPr>
        <p:spPr>
          <a:xfrm>
            <a:off x="838200" y="5648464"/>
            <a:ext cx="8256833" cy="707886"/>
          </a:xfrm>
          <a:prstGeom prst="rect">
            <a:avLst/>
          </a:prstGeom>
        </p:spPr>
        <p:txBody>
          <a:bodyPr wrap="square">
            <a:spAutoFit/>
          </a:bodyPr>
          <a:lstStyle/>
          <a:p>
            <a:r>
              <a:rPr lang="zh-TW" altLang="zh-TW" sz="2000" dirty="0">
                <a:ea typeface="標楷體" panose="03000509000000000000" pitchFamily="65" charset="-120"/>
                <a:cs typeface="Times New Roman" panose="02020603050405020304" pitchFamily="18" charset="0"/>
              </a:rPr>
              <a:t>※</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註</a:t>
            </a:r>
            <a:r>
              <a:rPr lang="zh-TW" altLang="zh-TW" sz="20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1.</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獨占與完全競爭到期前最佳策略為</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0.01%</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一個單位</a:t>
            </a: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zh-TW" altLang="zh-TW" sz="2000" dirty="0">
                <a:solidFill>
                  <a:schemeClr val="bg1"/>
                </a:solidFill>
                <a:ea typeface="標楷體" panose="03000509000000000000" pitchFamily="65" charset="-120"/>
                <a:cs typeface="Times New Roman" panose="02020603050405020304" pitchFamily="18" charset="0"/>
              </a:rPr>
              <a:t>※</a:t>
            </a:r>
            <a:r>
              <a:rPr lang="zh-TW" altLang="zh-TW" sz="20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註</a:t>
            </a:r>
            <a:r>
              <a:rPr lang="zh-TW" altLang="zh-TW" sz="2000" dirty="0" smtClean="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2.</a:t>
            </a:r>
            <a:r>
              <a:rPr lang="zh-TW" altLang="zh-TW" sz="2000" dirty="0" smtClean="0">
                <a:latin typeface="Times New Roman" panose="02020603050405020304" pitchFamily="18" charset="0"/>
                <a:ea typeface="標楷體" panose="03000509000000000000" pitchFamily="65" charset="-120"/>
                <a:cs typeface="Times New Roman" panose="02020603050405020304" pitchFamily="18" charset="0"/>
              </a:rPr>
              <a:t>寡占到期</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前</a:t>
            </a:r>
            <a:r>
              <a:rPr lang="zh-TW" altLang="zh-TW" sz="2000" dirty="0" smtClean="0">
                <a:latin typeface="Times New Roman" panose="02020603050405020304" pitchFamily="18" charset="0"/>
                <a:ea typeface="標楷體" panose="03000509000000000000" pitchFamily="65" charset="-120"/>
                <a:cs typeface="Times New Roman" panose="02020603050405020304" pitchFamily="18" charset="0"/>
              </a:rPr>
              <a:t>最佳</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策略為</a:t>
            </a:r>
            <a:r>
              <a:rPr lang="en-US" altLang="zh-TW" sz="2000" dirty="0">
                <a:latin typeface="Times New Roman" panose="02020603050405020304" pitchFamily="18" charset="0"/>
                <a:ea typeface="標楷體" panose="03000509000000000000" pitchFamily="65" charset="-120"/>
              </a:rPr>
              <a:t>0.25</a:t>
            </a:r>
            <a:r>
              <a:rPr lang="en-US" altLang="zh-TW" sz="2000" dirty="0" smtClean="0">
                <a:latin typeface="Times New Roman" panose="02020603050405020304" pitchFamily="18" charset="0"/>
                <a:ea typeface="標楷體" panose="03000509000000000000" pitchFamily="65" charset="-120"/>
              </a:rPr>
              <a:t>%</a:t>
            </a:r>
            <a:r>
              <a:rPr lang="zh-TW" altLang="en-US" sz="2000" dirty="0" smtClean="0">
                <a:latin typeface="Times New Roman" panose="02020603050405020304" pitchFamily="18" charset="0"/>
                <a:ea typeface="標楷體" panose="03000509000000000000" pitchFamily="65" charset="-120"/>
              </a:rPr>
              <a:t>一個單位</a:t>
            </a:r>
            <a:endParaRPr lang="zh-TW" altLang="en-US" sz="2000" dirty="0"/>
          </a:p>
        </p:txBody>
      </p:sp>
      <mc:AlternateContent xmlns:mc="http://schemas.openxmlformats.org/markup-compatibility/2006" xmlns:a14="http://schemas.microsoft.com/office/drawing/2010/main">
        <mc:Choice Requires="a14">
          <p:sp>
            <p:nvSpPr>
              <p:cNvPr id="7" name="矩形 6"/>
              <p:cNvSpPr/>
              <p:nvPr/>
            </p:nvSpPr>
            <p:spPr>
              <a:xfrm>
                <a:off x="9095033" y="2398574"/>
                <a:ext cx="2954399" cy="646331"/>
              </a:xfrm>
              <a:prstGeom prst="rect">
                <a:avLst/>
              </a:prstGeom>
            </p:spPr>
            <p:txBody>
              <a:bodyPr wrap="square">
                <a:spAutoFit/>
              </a:bodyPr>
              <a:lstStyle/>
              <a:p>
                <a:r>
                  <a:rPr lang="zh-TW" altLang="en-US" dirty="0" smtClean="0">
                    <a:latin typeface="標楷體" panose="03000509000000000000" pitchFamily="65" charset="-120"/>
                    <a:ea typeface="標楷體" panose="03000509000000000000" pitchFamily="65" charset="-120"/>
                  </a:rPr>
                  <a:t>利率上升</a:t>
                </a:r>
                <a:endParaRPr lang="en-US" altLang="zh-TW" i="1" dirty="0">
                  <a:latin typeface="Cambria Math" panose="02040503050406030204" pitchFamily="18" charset="0"/>
                </a:endParaRPr>
              </a:p>
              <a:p>
                <a14:m>
                  <m:oMath xmlns:m="http://schemas.openxmlformats.org/officeDocument/2006/math">
                    <m:r>
                      <a:rPr lang="zh-TW" altLang="en-US" i="1">
                        <a:latin typeface="Cambria Math" panose="02040503050406030204" pitchFamily="18" charset="0"/>
                      </a:rPr>
                      <m:t>→</m:t>
                    </m:r>
                  </m:oMath>
                </a14:m>
                <a:r>
                  <a:rPr lang="zh-TW" altLang="en-US" dirty="0">
                    <a:latin typeface="標楷體" panose="03000509000000000000" pitchFamily="65" charset="-120"/>
                    <a:ea typeface="標楷體" panose="03000509000000000000" pitchFamily="65" charset="-120"/>
                  </a:rPr>
                  <a:t>最佳轉換</a:t>
                </a:r>
                <a:r>
                  <a:rPr lang="zh-TW" altLang="en-US" dirty="0" smtClean="0">
                    <a:latin typeface="標楷體" panose="03000509000000000000" pitchFamily="65" charset="-120"/>
                    <a:ea typeface="標楷體" panose="03000509000000000000" pitchFamily="65" charset="-120"/>
                  </a:rPr>
                  <a:t>比例影響不顯著</a:t>
                </a:r>
                <a:endParaRPr lang="en-US" altLang="zh-TW" dirty="0">
                  <a:latin typeface="標楷體" panose="03000509000000000000" pitchFamily="65" charset="-120"/>
                  <a:ea typeface="標楷體" panose="03000509000000000000" pitchFamily="65" charset="-120"/>
                </a:endParaRPr>
              </a:p>
            </p:txBody>
          </p:sp>
        </mc:Choice>
        <mc:Fallback xmlns="">
          <p:sp>
            <p:nvSpPr>
              <p:cNvPr id="7" name="矩形 6"/>
              <p:cNvSpPr>
                <a:spLocks noRot="1" noChangeAspect="1" noMove="1" noResize="1" noEditPoints="1" noAdjustHandles="1" noChangeArrowheads="1" noChangeShapeType="1" noTextEdit="1"/>
              </p:cNvSpPr>
              <p:nvPr/>
            </p:nvSpPr>
            <p:spPr>
              <a:xfrm>
                <a:off x="9095033" y="2398574"/>
                <a:ext cx="2954399" cy="646331"/>
              </a:xfrm>
              <a:prstGeom prst="rect">
                <a:avLst/>
              </a:prstGeom>
              <a:blipFill rotWithShape="0">
                <a:blip r:embed="rId2"/>
                <a:stretch>
                  <a:fillRect l="-1856" t="-3774" b="-150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9048232" y="4377462"/>
                <a:ext cx="3048000" cy="646331"/>
              </a:xfrm>
              <a:prstGeom prst="rect">
                <a:avLst/>
              </a:prstGeom>
            </p:spPr>
            <p:txBody>
              <a:bodyPr wrap="square">
                <a:spAutoFit/>
              </a:bodyPr>
              <a:lstStyle/>
              <a:p>
                <a:r>
                  <a:rPr lang="zh-TW" altLang="en-US" dirty="0">
                    <a:latin typeface="標楷體" panose="03000509000000000000" pitchFamily="65" charset="-120"/>
                    <a:ea typeface="標楷體" panose="03000509000000000000" pitchFamily="65" charset="-120"/>
                  </a:rPr>
                  <a:t>利率上升</a:t>
                </a:r>
                <a:endParaRPr lang="en-US" altLang="zh-TW" i="1" dirty="0">
                  <a:latin typeface="Cambria Math" panose="02040503050406030204" pitchFamily="18" charset="0"/>
                </a:endParaRPr>
              </a:p>
              <a:p>
                <a14:m>
                  <m:oMath xmlns:m="http://schemas.openxmlformats.org/officeDocument/2006/math">
                    <m:r>
                      <a:rPr lang="zh-TW" altLang="en-US" i="1">
                        <a:latin typeface="Cambria Math" panose="02040503050406030204" pitchFamily="18" charset="0"/>
                      </a:rPr>
                      <m:t>→</m:t>
                    </m:r>
                  </m:oMath>
                </a14:m>
                <a:r>
                  <a:rPr lang="zh-TW" altLang="en-US" dirty="0">
                    <a:latin typeface="標楷體" panose="03000509000000000000" pitchFamily="65" charset="-120"/>
                    <a:ea typeface="標楷體" panose="03000509000000000000" pitchFamily="65" charset="-120"/>
                  </a:rPr>
                  <a:t>最佳轉換</a:t>
                </a:r>
                <a:r>
                  <a:rPr lang="zh-TW" altLang="en-US" dirty="0" smtClean="0">
                    <a:latin typeface="標楷體" panose="03000509000000000000" pitchFamily="65" charset="-120"/>
                    <a:ea typeface="標楷體" panose="03000509000000000000" pitchFamily="65" charset="-120"/>
                  </a:rPr>
                  <a:t>比例一樣不顯著</a:t>
                </a:r>
                <a:endParaRPr lang="en-US" altLang="zh-TW" dirty="0">
                  <a:latin typeface="標楷體" panose="03000509000000000000" pitchFamily="65" charset="-120"/>
                  <a:ea typeface="標楷體" panose="03000509000000000000" pitchFamily="65" charset="-120"/>
                </a:endParaRPr>
              </a:p>
            </p:txBody>
          </p:sp>
        </mc:Choice>
        <mc:Fallback xmlns="">
          <p:sp>
            <p:nvSpPr>
              <p:cNvPr id="8" name="矩形 7"/>
              <p:cNvSpPr>
                <a:spLocks noRot="1" noChangeAspect="1" noMove="1" noResize="1" noEditPoints="1" noAdjustHandles="1" noChangeArrowheads="1" noChangeShapeType="1" noTextEdit="1"/>
              </p:cNvSpPr>
              <p:nvPr/>
            </p:nvSpPr>
            <p:spPr>
              <a:xfrm>
                <a:off x="9048232" y="4377462"/>
                <a:ext cx="3048000" cy="646331"/>
              </a:xfrm>
              <a:prstGeom prst="rect">
                <a:avLst/>
              </a:prstGeom>
              <a:blipFill rotWithShape="0">
                <a:blip r:embed="rId3"/>
                <a:stretch>
                  <a:fillRect l="-1600" t="-3774" b="-150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173936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比較靜態分析</a:t>
            </a:r>
            <a:r>
              <a:rPr lang="en-US" altLang="zh-TW" dirty="0">
                <a:solidFill>
                  <a:prstClr val="black"/>
                </a:solidFill>
                <a:latin typeface="標楷體" panose="03000509000000000000" pitchFamily="65" charset="-120"/>
                <a:ea typeface="標楷體" panose="03000509000000000000" pitchFamily="65" charset="-120"/>
              </a:rPr>
              <a:t>-3</a:t>
            </a:r>
            <a:r>
              <a:rPr lang="en-US" altLang="zh-TW" sz="3600" dirty="0">
                <a:solidFill>
                  <a:prstClr val="black"/>
                </a:solidFill>
                <a:latin typeface="標楷體" panose="03000509000000000000" pitchFamily="65" charset="-120"/>
                <a:ea typeface="標楷體" panose="03000509000000000000" pitchFamily="65" charset="-120"/>
              </a:rPr>
              <a:t>(</a:t>
            </a:r>
            <a:r>
              <a:rPr lang="zh-TW" altLang="en-US" sz="3600" dirty="0">
                <a:solidFill>
                  <a:prstClr val="black"/>
                </a:solidFill>
                <a:latin typeface="標楷體" panose="03000509000000000000" pitchFamily="65" charset="-120"/>
                <a:ea typeface="標楷體" panose="03000509000000000000" pitchFamily="65" charset="-120"/>
              </a:rPr>
              <a:t>分析到期前</a:t>
            </a:r>
            <a:r>
              <a:rPr lang="en-US" altLang="zh-TW" sz="3600" dirty="0">
                <a:solidFill>
                  <a:prstClr val="black"/>
                </a:solidFill>
                <a:latin typeface="標楷體" panose="03000509000000000000" pitchFamily="65" charset="-120"/>
                <a:ea typeface="標楷體" panose="03000509000000000000" pitchFamily="65" charset="-120"/>
              </a:rPr>
              <a:t>n-1</a:t>
            </a:r>
            <a:r>
              <a:rPr lang="zh-TW" altLang="en-US" sz="3600" dirty="0">
                <a:solidFill>
                  <a:prstClr val="black"/>
                </a:solidFill>
                <a:latin typeface="標楷體" panose="03000509000000000000" pitchFamily="65" charset="-120"/>
                <a:ea typeface="標楷體" panose="03000509000000000000" pitchFamily="65" charset="-120"/>
              </a:rPr>
              <a:t>期最佳轉換比例</a:t>
            </a:r>
            <a:r>
              <a:rPr lang="en-US" altLang="zh-TW" sz="3600" dirty="0">
                <a:solidFill>
                  <a:prstClr val="black"/>
                </a:solidFill>
                <a:latin typeface="標楷體" panose="03000509000000000000" pitchFamily="65" charset="-120"/>
                <a:ea typeface="標楷體" panose="03000509000000000000" pitchFamily="65" charset="-120"/>
              </a:rPr>
              <a:t>)</a:t>
            </a: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50</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2366448952"/>
              </p:ext>
            </p:extLst>
          </p:nvPr>
        </p:nvGraphicFramePr>
        <p:xfrm>
          <a:off x="970935" y="1690688"/>
          <a:ext cx="7907594" cy="1956816"/>
        </p:xfrm>
        <a:graphic>
          <a:graphicData uri="http://schemas.openxmlformats.org/drawingml/2006/table">
            <a:tbl>
              <a:tblPr firstRow="1" firstCol="1" bandRow="1"/>
              <a:tblGrid>
                <a:gridCol w="2116145"/>
                <a:gridCol w="1462336"/>
                <a:gridCol w="1462336"/>
                <a:gridCol w="1462336"/>
                <a:gridCol w="1404441"/>
              </a:tblGrid>
              <a:tr h="276043">
                <a:tc gridSpan="5">
                  <a:txBody>
                    <a:bodyPr/>
                    <a:lstStyle/>
                    <a:p>
                      <a:pPr algn="ctr">
                        <a:lnSpc>
                          <a:spcPct val="107000"/>
                        </a:lnSpc>
                        <a:spcAft>
                          <a:spcPts val="0"/>
                        </a:spcAft>
                      </a:pP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資產樹</a:t>
                      </a:r>
                      <a:r>
                        <a:rPr lang="en-US"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T=10</a:t>
                      </a: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年，期數</a:t>
                      </a:r>
                      <a:r>
                        <a:rPr lang="en-US"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10</a:t>
                      </a: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期，資產樹上第</a:t>
                      </a:r>
                      <a:r>
                        <a:rPr lang="en-US"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9</a:t>
                      </a: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期第</a:t>
                      </a:r>
                      <a:r>
                        <a:rPr lang="en-US"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7</a:t>
                      </a: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個節點</a:t>
                      </a:r>
                      <a:endParaRPr lang="zh-TW" sz="2000" dirty="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228600">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cs typeface="新細明體" panose="02020500000000000000" pitchFamily="18" charset="-120"/>
                        </a:rPr>
                        <a:t>Interest rate r</a:t>
                      </a:r>
                      <a:endParaRPr lang="zh-TW" sz="200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cs typeface="新細明體" panose="02020500000000000000" pitchFamily="18" charset="-120"/>
                        </a:rPr>
                        <a:t>0.06</a:t>
                      </a:r>
                      <a:endParaRPr lang="zh-TW" sz="2000" dirty="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cs typeface="新細明體" panose="02020500000000000000" pitchFamily="18" charset="-120"/>
                        </a:rPr>
                        <a:t>0.07</a:t>
                      </a:r>
                      <a:endParaRPr lang="zh-TW" sz="2000" dirty="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dirty="0">
                          <a:effectLst/>
                          <a:latin typeface="Times New Roman" panose="02020603050405020304" pitchFamily="18" charset="0"/>
                          <a:ea typeface="標楷體" panose="03000509000000000000" pitchFamily="65" charset="-120"/>
                          <a:cs typeface="新細明體" panose="02020500000000000000" pitchFamily="18" charset="-120"/>
                        </a:rPr>
                        <a:t>0.08</a:t>
                      </a:r>
                      <a:endParaRPr lang="zh-TW" sz="2000" dirty="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2000" b="1">
                          <a:effectLst/>
                          <a:latin typeface="Times New Roman" panose="02020603050405020304" pitchFamily="18" charset="0"/>
                          <a:ea typeface="標楷體" panose="03000509000000000000" pitchFamily="65" charset="-120"/>
                          <a:cs typeface="新細明體" panose="02020500000000000000" pitchFamily="18" charset="-120"/>
                        </a:rPr>
                        <a:t>0.20</a:t>
                      </a:r>
                      <a:endParaRPr lang="zh-TW" sz="200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cs typeface="新細明體" panose="02020500000000000000" pitchFamily="18" charset="-120"/>
                        </a:rPr>
                        <a:t>獨占</a:t>
                      </a:r>
                      <a:endParaRPr lang="zh-TW" sz="200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19.59%</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19.47%</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19.36%</a:t>
                      </a:r>
                      <a:endParaRPr lang="zh-TW" sz="2000" dirty="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18.29%</a:t>
                      </a:r>
                      <a:endParaRPr lang="zh-TW" sz="2000" dirty="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cs typeface="新細明體" panose="02020500000000000000" pitchFamily="18" charset="-120"/>
                        </a:rPr>
                        <a:t>寡占</a:t>
                      </a:r>
                      <a:r>
                        <a:rPr lang="en-US" sz="2000" b="1">
                          <a:effectLst/>
                          <a:latin typeface="Times New Roman" panose="02020603050405020304" pitchFamily="18" charset="0"/>
                          <a:ea typeface="標楷體" panose="03000509000000000000" pitchFamily="65" charset="-120"/>
                          <a:cs typeface="新細明體" panose="02020500000000000000" pitchFamily="18" charset="-120"/>
                        </a:rPr>
                        <a:t>(</a:t>
                      </a:r>
                      <a:r>
                        <a:rPr lang="zh-TW" sz="2000" b="1">
                          <a:effectLst/>
                          <a:latin typeface="Times New Roman" panose="02020603050405020304" pitchFamily="18" charset="0"/>
                          <a:ea typeface="標楷體" panose="03000509000000000000" pitchFamily="65" charset="-120"/>
                          <a:cs typeface="新細明體" panose="02020500000000000000" pitchFamily="18" charset="-120"/>
                        </a:rPr>
                        <a:t>相等</a:t>
                      </a:r>
                      <a:r>
                        <a:rPr lang="en-US" sz="2000" b="1">
                          <a:effectLst/>
                          <a:latin typeface="Times New Roman" panose="02020603050405020304" pitchFamily="18" charset="0"/>
                          <a:ea typeface="標楷體" panose="03000509000000000000" pitchFamily="65" charset="-120"/>
                          <a:cs typeface="新細明體" panose="02020500000000000000" pitchFamily="18" charset="-120"/>
                        </a:rPr>
                        <a:t>)</a:t>
                      </a:r>
                      <a:endParaRPr lang="zh-TW" sz="200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19.75%</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19.50%</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19.50%</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18.50%</a:t>
                      </a:r>
                      <a:endParaRPr lang="zh-TW" sz="2000" dirty="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cs typeface="新細明體" panose="02020500000000000000" pitchFamily="18" charset="-120"/>
                        </a:rPr>
                        <a:t>寡占</a:t>
                      </a:r>
                      <a:r>
                        <a:rPr lang="en-US" sz="2000" b="1">
                          <a:effectLst/>
                          <a:latin typeface="Times New Roman" panose="02020603050405020304" pitchFamily="18" charset="0"/>
                          <a:ea typeface="標楷體" panose="03000509000000000000" pitchFamily="65" charset="-120"/>
                          <a:cs typeface="新細明體" panose="02020500000000000000" pitchFamily="18" charset="-120"/>
                        </a:rPr>
                        <a:t>(</a:t>
                      </a:r>
                      <a:r>
                        <a:rPr lang="zh-TW" sz="2000" b="1">
                          <a:effectLst/>
                          <a:latin typeface="Times New Roman" panose="02020603050405020304" pitchFamily="18" charset="0"/>
                          <a:ea typeface="標楷體" panose="03000509000000000000" pitchFamily="65" charset="-120"/>
                          <a:cs typeface="新細明體" panose="02020500000000000000" pitchFamily="18" charset="-120"/>
                        </a:rPr>
                        <a:t>懸殊</a:t>
                      </a:r>
                      <a:r>
                        <a:rPr lang="en-US" sz="2000" b="1">
                          <a:effectLst/>
                          <a:latin typeface="Times New Roman" panose="02020603050405020304" pitchFamily="18" charset="0"/>
                          <a:ea typeface="標楷體" panose="03000509000000000000" pitchFamily="65" charset="-120"/>
                          <a:cs typeface="新細明體" panose="02020500000000000000" pitchFamily="18" charset="-120"/>
                        </a:rPr>
                        <a:t>)</a:t>
                      </a:r>
                      <a:endParaRPr lang="zh-TW" sz="200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19.75%</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19.50%</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19.50%</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18.50%</a:t>
                      </a:r>
                      <a:endParaRPr lang="zh-TW" sz="2000" dirty="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304800" algn="ctr">
                        <a:lnSpc>
                          <a:spcPct val="107000"/>
                        </a:lnSpc>
                        <a:spcAft>
                          <a:spcPts val="0"/>
                        </a:spcAft>
                      </a:pPr>
                      <a:r>
                        <a:rPr lang="zh-TW" sz="2000" b="1">
                          <a:effectLst/>
                          <a:latin typeface="Times New Roman" panose="02020603050405020304" pitchFamily="18" charset="0"/>
                          <a:ea typeface="標楷體" panose="03000509000000000000" pitchFamily="65" charset="-120"/>
                          <a:cs typeface="新細明體" panose="02020500000000000000" pitchFamily="18" charset="-120"/>
                        </a:rPr>
                        <a:t>完全競爭</a:t>
                      </a:r>
                      <a:endParaRPr lang="zh-TW" sz="2000">
                        <a:effectLst/>
                        <a:latin typeface="Times New Roman" panose="02020603050405020304" pitchFamily="18" charset="0"/>
                        <a:ea typeface="標楷體" panose="03000509000000000000" pitchFamily="65"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0.00%</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0.00%</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0.00%</a:t>
                      </a:r>
                      <a:endParaRPr lang="zh-TW" sz="200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2000" kern="12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0.00%</a:t>
                      </a:r>
                      <a:endParaRPr lang="zh-TW" sz="2000" dirty="0">
                        <a:effectLst/>
                        <a:latin typeface="Times New Roman" panose="02020603050405020304" pitchFamily="18" charset="0"/>
                        <a:ea typeface="新細明體" panose="02020500000000000000" pitchFamily="18" charset="-120"/>
                        <a:cs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6" name="矩形 5"/>
              <p:cNvSpPr/>
              <p:nvPr/>
            </p:nvSpPr>
            <p:spPr>
              <a:xfrm>
                <a:off x="8932606" y="2383164"/>
                <a:ext cx="6096000" cy="646331"/>
              </a:xfrm>
              <a:prstGeom prst="rect">
                <a:avLst/>
              </a:prstGeom>
            </p:spPr>
            <p:txBody>
              <a:bodyPr>
                <a:spAutoFit/>
              </a:bodyPr>
              <a:lstStyle/>
              <a:p>
                <a:r>
                  <a:rPr lang="zh-TW" altLang="en-US" dirty="0">
                    <a:latin typeface="標楷體" panose="03000509000000000000" pitchFamily="65" charset="-120"/>
                    <a:ea typeface="標楷體" panose="03000509000000000000" pitchFamily="65" charset="-120"/>
                  </a:rPr>
                  <a:t>利率上升</a:t>
                </a:r>
                <a:endParaRPr lang="en-US" altLang="zh-TW" i="1" dirty="0">
                  <a:latin typeface="Cambria Math" panose="02040503050406030204" pitchFamily="18" charset="0"/>
                </a:endParaRPr>
              </a:p>
              <a:p>
                <a14:m>
                  <m:oMath xmlns:m="http://schemas.openxmlformats.org/officeDocument/2006/math">
                    <m:r>
                      <a:rPr lang="zh-TW" altLang="en-US" i="1">
                        <a:latin typeface="Cambria Math" panose="02040503050406030204" pitchFamily="18" charset="0"/>
                      </a:rPr>
                      <m:t>→</m:t>
                    </m:r>
                  </m:oMath>
                </a14:m>
                <a:r>
                  <a:rPr lang="zh-TW" altLang="en-US" dirty="0">
                    <a:latin typeface="標楷體" panose="03000509000000000000" pitchFamily="65" charset="-120"/>
                    <a:ea typeface="標楷體" panose="03000509000000000000" pitchFamily="65" charset="-120"/>
                  </a:rPr>
                  <a:t>最佳轉換</a:t>
                </a:r>
                <a:r>
                  <a:rPr lang="zh-TW" altLang="en-US" dirty="0" smtClean="0">
                    <a:latin typeface="標楷體" panose="03000509000000000000" pitchFamily="65" charset="-120"/>
                    <a:ea typeface="標楷體" panose="03000509000000000000" pitchFamily="65" charset="-120"/>
                  </a:rPr>
                  <a:t>比例下降</a:t>
                </a:r>
                <a:endParaRPr lang="en-US" altLang="zh-TW" dirty="0">
                  <a:latin typeface="標楷體" panose="03000509000000000000" pitchFamily="65" charset="-120"/>
                  <a:ea typeface="標楷體" panose="03000509000000000000" pitchFamily="65" charset="-120"/>
                </a:endParaRPr>
              </a:p>
            </p:txBody>
          </p:sp>
        </mc:Choice>
        <mc:Fallback xmlns="">
          <p:sp>
            <p:nvSpPr>
              <p:cNvPr id="6" name="矩形 5"/>
              <p:cNvSpPr>
                <a:spLocks noRot="1" noChangeAspect="1" noMove="1" noResize="1" noEditPoints="1" noAdjustHandles="1" noChangeArrowheads="1" noChangeShapeType="1" noTextEdit="1"/>
              </p:cNvSpPr>
              <p:nvPr/>
            </p:nvSpPr>
            <p:spPr>
              <a:xfrm>
                <a:off x="8932606" y="2383164"/>
                <a:ext cx="6096000" cy="646331"/>
              </a:xfrm>
              <a:prstGeom prst="rect">
                <a:avLst/>
              </a:prstGeom>
              <a:blipFill rotWithShape="0">
                <a:blip r:embed="rId2"/>
                <a:stretch>
                  <a:fillRect l="-800" t="-4717" b="-150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15254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比較靜態分析</a:t>
            </a:r>
            <a:r>
              <a:rPr lang="en-US" altLang="zh-TW" dirty="0" smtClean="0">
                <a:latin typeface="標楷體" panose="03000509000000000000" pitchFamily="65" charset="-120"/>
                <a:ea typeface="標楷體" panose="03000509000000000000" pitchFamily="65" charset="-120"/>
              </a:rPr>
              <a:t>-3</a:t>
            </a:r>
            <a:r>
              <a:rPr lang="en-US" altLang="zh-TW" sz="4000" dirty="0" smtClean="0">
                <a:latin typeface="標楷體" panose="03000509000000000000" pitchFamily="65" charset="-120"/>
                <a:ea typeface="標楷體" panose="03000509000000000000" pitchFamily="65" charset="-120"/>
              </a:rPr>
              <a:t>(</a:t>
            </a:r>
            <a:r>
              <a:rPr lang="zh-TW" altLang="en-US" sz="4000" dirty="0" smtClean="0">
                <a:latin typeface="標楷體" panose="03000509000000000000" pitchFamily="65" charset="-120"/>
                <a:ea typeface="標楷體" panose="03000509000000000000" pitchFamily="65" charset="-120"/>
              </a:rPr>
              <a:t>以獨占為例</a:t>
            </a:r>
            <a:r>
              <a:rPr lang="en-US" altLang="zh-TW" sz="4000" dirty="0" smtClean="0">
                <a:latin typeface="標楷體" panose="03000509000000000000" pitchFamily="65" charset="-120"/>
                <a:ea typeface="標楷體" panose="03000509000000000000" pitchFamily="65" charset="-120"/>
              </a:rPr>
              <a:t>)</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540682053"/>
              </p:ext>
            </p:extLst>
          </p:nvPr>
        </p:nvGraphicFramePr>
        <p:xfrm>
          <a:off x="970937" y="1415663"/>
          <a:ext cx="6712972" cy="5019644"/>
        </p:xfrm>
        <a:graphic>
          <a:graphicData uri="http://schemas.openxmlformats.org/drawingml/2006/table">
            <a:tbl>
              <a:tblPr firstRow="1" firstCol="1" bandRow="1"/>
              <a:tblGrid>
                <a:gridCol w="2028636"/>
                <a:gridCol w="1171084"/>
                <a:gridCol w="1171084"/>
                <a:gridCol w="1171084"/>
                <a:gridCol w="1171084"/>
              </a:tblGrid>
              <a:tr h="404068">
                <a:tc>
                  <a:txBody>
                    <a:bodyPr/>
                    <a:lstStyle/>
                    <a:p>
                      <a:pPr marL="304800">
                        <a:lnSpc>
                          <a:spcPct val="107000"/>
                        </a:lnSpc>
                        <a:spcAft>
                          <a:spcPts val="0"/>
                        </a:spcAft>
                      </a:pPr>
                      <a:r>
                        <a:rPr lang="en-US" sz="1600" b="1" dirty="0">
                          <a:effectLst/>
                          <a:latin typeface="Times New Roman" panose="02020603050405020304" pitchFamily="18" charset="0"/>
                          <a:ea typeface="標楷體" panose="03000509000000000000" pitchFamily="65" charset="-120"/>
                        </a:rPr>
                        <a:t>          </a:t>
                      </a:r>
                      <a:r>
                        <a:rPr lang="en-US" sz="1600" b="1" dirty="0" smtClean="0">
                          <a:effectLst/>
                          <a:latin typeface="Times New Roman" panose="02020603050405020304" pitchFamily="18" charset="0"/>
                          <a:ea typeface="標楷體" panose="03000509000000000000" pitchFamily="65" charset="-120"/>
                        </a:rPr>
                        <a:t>             </a:t>
                      </a:r>
                      <a:r>
                        <a:rPr lang="zh-TW" sz="1600" b="1" dirty="0" smtClean="0">
                          <a:effectLst/>
                          <a:latin typeface="Times New Roman" panose="02020603050405020304" pitchFamily="18" charset="0"/>
                          <a:ea typeface="標楷體" panose="03000509000000000000" pitchFamily="65" charset="-120"/>
                        </a:rPr>
                        <a:t>利率</a:t>
                      </a:r>
                      <a:endParaRPr lang="zh-TW" sz="1600" dirty="0">
                        <a:effectLst/>
                        <a:latin typeface="Times New Roman" panose="02020603050405020304" pitchFamily="18" charset="0"/>
                        <a:ea typeface="標楷體" panose="03000509000000000000" pitchFamily="65" charset="-120"/>
                      </a:endParaRPr>
                    </a:p>
                    <a:p>
                      <a:pPr marL="304800">
                        <a:lnSpc>
                          <a:spcPct val="107000"/>
                        </a:lnSpc>
                        <a:spcAft>
                          <a:spcPts val="0"/>
                        </a:spcAft>
                      </a:pPr>
                      <a:r>
                        <a:rPr lang="zh-TW" sz="1600" b="1" dirty="0">
                          <a:effectLst/>
                          <a:latin typeface="Times New Roman" panose="02020603050405020304" pitchFamily="18" charset="0"/>
                          <a:ea typeface="標楷體" panose="03000509000000000000" pitchFamily="65" charset="-120"/>
                        </a:rPr>
                        <a:t>節點</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marL="304800" algn="ctr">
                        <a:lnSpc>
                          <a:spcPct val="107000"/>
                        </a:lnSpc>
                        <a:spcAft>
                          <a:spcPts val="0"/>
                        </a:spcAft>
                      </a:pPr>
                      <a:r>
                        <a:rPr lang="en-US" sz="1600" b="1" dirty="0">
                          <a:effectLst/>
                          <a:latin typeface="Times New Roman" panose="02020603050405020304" pitchFamily="18" charset="0"/>
                          <a:ea typeface="標楷體" panose="03000509000000000000" pitchFamily="65" charset="-120"/>
                        </a:rPr>
                        <a:t> </a:t>
                      </a:r>
                      <a:r>
                        <a:rPr lang="en-US" sz="1600" b="1" dirty="0" smtClean="0">
                          <a:effectLst/>
                          <a:latin typeface="Times New Roman" panose="02020603050405020304" pitchFamily="18" charset="0"/>
                          <a:ea typeface="標楷體" panose="03000509000000000000" pitchFamily="65" charset="-120"/>
                        </a:rPr>
                        <a:t>0.06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1600" b="1" dirty="0">
                          <a:effectLst/>
                          <a:latin typeface="Times New Roman" panose="02020603050405020304" pitchFamily="18" charset="0"/>
                          <a:ea typeface="標楷體" panose="03000509000000000000" pitchFamily="65" charset="-120"/>
                        </a:rPr>
                        <a:t> </a:t>
                      </a:r>
                      <a:r>
                        <a:rPr lang="en-US" sz="1600" b="1" dirty="0" smtClean="0">
                          <a:effectLst/>
                          <a:latin typeface="Times New Roman" panose="02020603050405020304" pitchFamily="18" charset="0"/>
                          <a:ea typeface="標楷體" panose="03000509000000000000" pitchFamily="65" charset="-120"/>
                        </a:rPr>
                        <a:t>0.07</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1600" b="1" dirty="0">
                          <a:effectLst/>
                          <a:latin typeface="Times New Roman" panose="02020603050405020304" pitchFamily="18" charset="0"/>
                          <a:ea typeface="標楷體" panose="03000509000000000000" pitchFamily="65" charset="-120"/>
                        </a:rPr>
                        <a:t> </a:t>
                      </a:r>
                      <a:r>
                        <a:rPr lang="en-US" sz="1600" b="1" dirty="0" smtClean="0">
                          <a:effectLst/>
                          <a:latin typeface="Times New Roman" panose="02020603050405020304" pitchFamily="18" charset="0"/>
                          <a:ea typeface="標楷體" panose="03000509000000000000" pitchFamily="65" charset="-120"/>
                        </a:rPr>
                        <a:t>0.08</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0" algn="ctr">
                        <a:lnSpc>
                          <a:spcPct val="107000"/>
                        </a:lnSpc>
                        <a:spcAft>
                          <a:spcPts val="0"/>
                        </a:spcAft>
                      </a:pPr>
                      <a:r>
                        <a:rPr lang="en-US" sz="1600" b="1" dirty="0">
                          <a:effectLst/>
                          <a:latin typeface="Times New Roman" panose="02020603050405020304" pitchFamily="18" charset="0"/>
                          <a:ea typeface="標楷體" panose="03000509000000000000" pitchFamily="65" charset="-120"/>
                        </a:rPr>
                        <a:t> </a:t>
                      </a:r>
                      <a:r>
                        <a:rPr lang="en-US" sz="1600" b="1" dirty="0" smtClean="0">
                          <a:effectLst/>
                          <a:latin typeface="Times New Roman" panose="02020603050405020304" pitchFamily="18" charset="0"/>
                          <a:ea typeface="標楷體" panose="03000509000000000000" pitchFamily="65" charset="-120"/>
                        </a:rPr>
                        <a:t>0.20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4620">
                <a:tc>
                  <a:txBody>
                    <a:bodyPr/>
                    <a:lstStyle/>
                    <a:p>
                      <a:pPr marL="304800" algn="ctr">
                        <a:lnSpc>
                          <a:spcPct val="107000"/>
                        </a:lnSpc>
                        <a:spcAft>
                          <a:spcPts val="0"/>
                        </a:spcAft>
                      </a:pPr>
                      <a:r>
                        <a:rPr lang="en-US" sz="1600" b="1">
                          <a:effectLst/>
                          <a:latin typeface="Times New Roman" panose="02020603050405020304" pitchFamily="18" charset="0"/>
                          <a:ea typeface="標楷體" panose="03000509000000000000" pitchFamily="65" charset="-120"/>
                        </a:rPr>
                        <a:t>1~5</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0.00%</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0.00%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4620">
                <a:tc>
                  <a:txBody>
                    <a:bodyPr/>
                    <a:lstStyle/>
                    <a:p>
                      <a:pPr marL="304800" algn="ctr">
                        <a:lnSpc>
                          <a:spcPct val="107000"/>
                        </a:lnSpc>
                        <a:spcAft>
                          <a:spcPts val="0"/>
                        </a:spcAft>
                      </a:pPr>
                      <a:r>
                        <a:rPr lang="en-US" sz="1600" b="1">
                          <a:effectLst/>
                          <a:latin typeface="Times New Roman" panose="02020603050405020304" pitchFamily="18" charset="0"/>
                          <a:ea typeface="標楷體" panose="03000509000000000000" pitchFamily="65" charset="-120"/>
                        </a:rPr>
                        <a:t>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13.16%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13.16%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13.16%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13.16%</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4620">
                <a:tc>
                  <a:txBody>
                    <a:bodyPr/>
                    <a:lstStyle/>
                    <a:p>
                      <a:pPr marL="304800" algn="ctr">
                        <a:lnSpc>
                          <a:spcPct val="107000"/>
                        </a:lnSpc>
                        <a:spcAft>
                          <a:spcPts val="0"/>
                        </a:spcAft>
                      </a:pPr>
                      <a:r>
                        <a:rPr lang="en-US" sz="1600" b="1">
                          <a:effectLst/>
                          <a:latin typeface="Times New Roman" panose="02020603050405020304" pitchFamily="18" charset="0"/>
                          <a:ea typeface="標楷體" panose="03000509000000000000" pitchFamily="65" charset="-120"/>
                        </a:rPr>
                        <a:t>7</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19.59%</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19.47%</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19.36%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18.29%</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234620">
                <a:tc>
                  <a:txBody>
                    <a:bodyPr/>
                    <a:lstStyle/>
                    <a:p>
                      <a:pPr marL="304800" algn="ctr">
                        <a:lnSpc>
                          <a:spcPct val="107000"/>
                        </a:lnSpc>
                        <a:spcAft>
                          <a:spcPts val="0"/>
                        </a:spcAft>
                      </a:pPr>
                      <a:r>
                        <a:rPr lang="en-US" sz="1600" b="1">
                          <a:effectLst/>
                          <a:latin typeface="Times New Roman" panose="02020603050405020304" pitchFamily="18" charset="0"/>
                          <a:ea typeface="標楷體" panose="03000509000000000000" pitchFamily="65" charset="-120"/>
                        </a:rPr>
                        <a:t>8</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58.44%</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58.38%</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58.32%</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57.77%</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234620">
                <a:tc>
                  <a:txBody>
                    <a:bodyPr/>
                    <a:lstStyle/>
                    <a:p>
                      <a:pPr marL="304800" algn="ctr">
                        <a:lnSpc>
                          <a:spcPct val="107000"/>
                        </a:lnSpc>
                        <a:spcAft>
                          <a:spcPts val="0"/>
                        </a:spcAft>
                      </a:pPr>
                      <a:r>
                        <a:rPr lang="en-US" sz="1600" b="1">
                          <a:effectLst/>
                          <a:latin typeface="Times New Roman" panose="02020603050405020304" pitchFamily="18" charset="0"/>
                          <a:ea typeface="標楷體" panose="03000509000000000000" pitchFamily="65" charset="-120"/>
                        </a:rPr>
                        <a:t>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88.01%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78.49%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78.46%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78.18%</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234620">
                <a:tc>
                  <a:txBody>
                    <a:bodyPr/>
                    <a:lstStyle/>
                    <a:p>
                      <a:pPr marL="304800" algn="ctr">
                        <a:lnSpc>
                          <a:spcPct val="107000"/>
                        </a:lnSpc>
                        <a:spcAft>
                          <a:spcPts val="0"/>
                        </a:spcAft>
                      </a:pPr>
                      <a:r>
                        <a:rPr lang="en-US" sz="1600" b="1">
                          <a:effectLst/>
                          <a:latin typeface="Times New Roman" panose="02020603050405020304" pitchFamily="18" charset="0"/>
                          <a:ea typeface="標楷體" panose="03000509000000000000" pitchFamily="65" charset="-120"/>
                        </a:rPr>
                        <a:t>10</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93.81%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88.89%</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88.87%</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88.72%</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234620">
                <a:tc gridSpan="5">
                  <a:txBody>
                    <a:bodyPr/>
                    <a:lstStyle/>
                    <a:p>
                      <a:pPr algn="ct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 </a:t>
                      </a:r>
                      <a:endParaRPr lang="zh-TW" sz="1600" dirty="0">
                        <a:effectLst/>
                        <a:latin typeface="Times New Roman" panose="02020603050405020304" pitchFamily="18" charset="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234620">
                <a:tc>
                  <a:txBody>
                    <a:bodyPr/>
                    <a:lstStyle/>
                    <a:p>
                      <a:pPr>
                        <a:lnSpc>
                          <a:spcPct val="107000"/>
                        </a:lnSpc>
                        <a:spcAft>
                          <a:spcPts val="0"/>
                        </a:spcAft>
                      </a:pPr>
                      <a:r>
                        <a:rPr lang="zh-TW" sz="1600">
                          <a:solidFill>
                            <a:srgbClr val="000000"/>
                          </a:solidFill>
                          <a:effectLst/>
                          <a:latin typeface="Times New Roman" panose="02020603050405020304" pitchFamily="18" charset="0"/>
                          <a:ea typeface="標楷體" panose="03000509000000000000" pitchFamily="65" charset="-120"/>
                        </a:rPr>
                        <a:t>機率</a:t>
                      </a:r>
                      <a:r>
                        <a:rPr lang="en-US" sz="1600">
                          <a:solidFill>
                            <a:srgbClr val="000000"/>
                          </a:solidFill>
                          <a:effectLst/>
                          <a:latin typeface="Times New Roman" panose="02020603050405020304" pitchFamily="18" charset="0"/>
                          <a:ea typeface="標楷體" panose="03000509000000000000" pitchFamily="65" charset="-120"/>
                        </a:rPr>
                        <a:t>p</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0.5103</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0.5261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0.5422</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0.7477</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641">
                <a:tc>
                  <a:txBody>
                    <a:bodyPr/>
                    <a:lstStyle/>
                    <a:p>
                      <a:pP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exp(-r*deltaT)</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0.9418</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0.9324</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0.9231</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0.8187</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4620">
                <a:tc>
                  <a:txBody>
                    <a:bodyPr/>
                    <a:lstStyle/>
                    <a:p>
                      <a:pP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exp(-r*deltaT)*P</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0.4805</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0.4906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0.5005</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0.6122</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234620">
                <a:tc>
                  <a:txBody>
                    <a:bodyPr/>
                    <a:lstStyle/>
                    <a:p>
                      <a:pP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exp(-r*deltaT)*(1-P)</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0.4612</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a:lnSpc>
                          <a:spcPct val="107000"/>
                        </a:lnSpc>
                        <a:spcAft>
                          <a:spcPts val="0"/>
                        </a:spcAft>
                      </a:pPr>
                      <a:r>
                        <a:rPr lang="en-US" sz="1600">
                          <a:solidFill>
                            <a:srgbClr val="000000"/>
                          </a:solidFill>
                          <a:effectLst/>
                          <a:latin typeface="Times New Roman" panose="02020603050405020304" pitchFamily="18" charset="0"/>
                          <a:ea typeface="標楷體" panose="03000509000000000000" pitchFamily="65" charset="-120"/>
                        </a:rPr>
                        <a:t>0.4418</a:t>
                      </a:r>
                      <a:endParaRPr lang="zh-TW" sz="16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0.4226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0.2066</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1205165">
                <a:tc gridSpan="5">
                  <a:txBody>
                    <a:bodyPr/>
                    <a:lstStyle/>
                    <a:p>
                      <a:pPr>
                        <a:lnSpc>
                          <a:spcPct val="107000"/>
                        </a:lnSpc>
                        <a:spcAft>
                          <a:spcPts val="0"/>
                        </a:spcAft>
                      </a:pPr>
                      <a:r>
                        <a:rPr lang="zh-TW" sz="1600" dirty="0">
                          <a:solidFill>
                            <a:srgbClr val="000000"/>
                          </a:solidFill>
                          <a:effectLst/>
                          <a:latin typeface="Times New Roman" panose="02020603050405020304" pitchFamily="18" charset="0"/>
                          <a:ea typeface="標楷體" panose="03000509000000000000" pitchFamily="65" charset="-120"/>
                        </a:rPr>
                        <a:t>※資產樹上觀察到的現象</a:t>
                      </a:r>
                      <a:endParaRPr lang="zh-TW" sz="1600" dirty="0">
                        <a:effectLst/>
                        <a:latin typeface="Times New Roman" panose="02020603050405020304" pitchFamily="18" charset="0"/>
                        <a:ea typeface="標楷體" panose="03000509000000000000" pitchFamily="65" charset="-120"/>
                      </a:endParaRPr>
                    </a:p>
                    <a:p>
                      <a:pPr marL="342900" lvl="0" indent="-342900">
                        <a:lnSpc>
                          <a:spcPct val="107000"/>
                        </a:lnSpc>
                        <a:spcAft>
                          <a:spcPts val="0"/>
                        </a:spcAft>
                        <a:buFont typeface="+mj-lt"/>
                        <a:buAutoNum type="arabicPeriod"/>
                      </a:pPr>
                      <a:r>
                        <a:rPr lang="zh-TW" sz="1600" dirty="0">
                          <a:solidFill>
                            <a:srgbClr val="000000"/>
                          </a:solidFill>
                          <a:effectLst/>
                          <a:latin typeface="Times New Roman" panose="02020603050405020304" pitchFamily="18" charset="0"/>
                          <a:ea typeface="標楷體" panose="03000509000000000000" pitchFamily="65" charset="-120"/>
                        </a:rPr>
                        <a:t>到期日</a:t>
                      </a:r>
                      <a:r>
                        <a:rPr lang="en-US" sz="1600" dirty="0">
                          <a:solidFill>
                            <a:srgbClr val="000000"/>
                          </a:solidFill>
                          <a:effectLst/>
                          <a:latin typeface="Times New Roman" panose="02020603050405020304" pitchFamily="18" charset="0"/>
                          <a:ea typeface="標楷體" panose="03000509000000000000" pitchFamily="65" charset="-120"/>
                        </a:rPr>
                        <a:t>(</a:t>
                      </a:r>
                      <a:r>
                        <a:rPr lang="zh-TW" sz="1600" dirty="0">
                          <a:solidFill>
                            <a:srgbClr val="000000"/>
                          </a:solidFill>
                          <a:effectLst/>
                          <a:latin typeface="Times New Roman" panose="02020603050405020304" pitchFamily="18" charset="0"/>
                          <a:ea typeface="標楷體" panose="03000509000000000000" pitchFamily="65" charset="-120"/>
                        </a:rPr>
                        <a:t>第</a:t>
                      </a:r>
                      <a:r>
                        <a:rPr lang="en-US" sz="1600" dirty="0">
                          <a:solidFill>
                            <a:srgbClr val="000000"/>
                          </a:solidFill>
                          <a:effectLst/>
                          <a:latin typeface="Times New Roman" panose="02020603050405020304" pitchFamily="18" charset="0"/>
                          <a:ea typeface="標楷體" panose="03000509000000000000" pitchFamily="65" charset="-120"/>
                        </a:rPr>
                        <a:t>10</a:t>
                      </a:r>
                      <a:r>
                        <a:rPr lang="zh-TW" sz="1600" dirty="0">
                          <a:solidFill>
                            <a:srgbClr val="000000"/>
                          </a:solidFill>
                          <a:effectLst/>
                          <a:latin typeface="Times New Roman" panose="02020603050405020304" pitchFamily="18" charset="0"/>
                          <a:ea typeface="標楷體" panose="03000509000000000000" pitchFamily="65" charset="-120"/>
                        </a:rPr>
                        <a:t>期</a:t>
                      </a:r>
                      <a:r>
                        <a:rPr lang="en-US" sz="1600" dirty="0">
                          <a:solidFill>
                            <a:srgbClr val="000000"/>
                          </a:solidFill>
                          <a:effectLst/>
                          <a:latin typeface="Times New Roman" panose="02020603050405020304" pitchFamily="18" charset="0"/>
                          <a:ea typeface="標楷體" panose="03000509000000000000" pitchFamily="65" charset="-120"/>
                        </a:rPr>
                        <a:t>)</a:t>
                      </a:r>
                      <a:r>
                        <a:rPr lang="zh-TW" sz="1600" dirty="0">
                          <a:solidFill>
                            <a:srgbClr val="000000"/>
                          </a:solidFill>
                          <a:effectLst/>
                          <a:latin typeface="Times New Roman" panose="02020603050405020304" pitchFamily="18" charset="0"/>
                          <a:ea typeface="標楷體" panose="03000509000000000000" pitchFamily="65" charset="-120"/>
                        </a:rPr>
                        <a:t>第</a:t>
                      </a:r>
                      <a:r>
                        <a:rPr lang="en-US" sz="1600" dirty="0">
                          <a:solidFill>
                            <a:srgbClr val="000000"/>
                          </a:solidFill>
                          <a:effectLst/>
                          <a:latin typeface="Times New Roman" panose="02020603050405020304" pitchFamily="18" charset="0"/>
                          <a:ea typeface="標楷體" panose="03000509000000000000" pitchFamily="65" charset="-120"/>
                        </a:rPr>
                        <a:t>1~6</a:t>
                      </a:r>
                      <a:r>
                        <a:rPr lang="zh-TW" sz="1600" dirty="0">
                          <a:solidFill>
                            <a:srgbClr val="000000"/>
                          </a:solidFill>
                          <a:effectLst/>
                          <a:latin typeface="Times New Roman" panose="02020603050405020304" pitchFamily="18" charset="0"/>
                          <a:ea typeface="標楷體" panose="03000509000000000000" pitchFamily="65" charset="-120"/>
                        </a:rPr>
                        <a:t>個點都不破產，第</a:t>
                      </a:r>
                      <a:r>
                        <a:rPr lang="en-US" sz="1600" dirty="0">
                          <a:solidFill>
                            <a:srgbClr val="000000"/>
                          </a:solidFill>
                          <a:effectLst/>
                          <a:latin typeface="Times New Roman" panose="02020603050405020304" pitchFamily="18" charset="0"/>
                          <a:ea typeface="標楷體" panose="03000509000000000000" pitchFamily="65" charset="-120"/>
                        </a:rPr>
                        <a:t>7</a:t>
                      </a:r>
                      <a:r>
                        <a:rPr lang="zh-TW" sz="1600" dirty="0">
                          <a:solidFill>
                            <a:srgbClr val="000000"/>
                          </a:solidFill>
                          <a:effectLst/>
                          <a:latin typeface="Times New Roman" panose="02020603050405020304" pitchFamily="18" charset="0"/>
                          <a:ea typeface="標楷體" panose="03000509000000000000" pitchFamily="65" charset="-120"/>
                        </a:rPr>
                        <a:t>個點開始部分破產，越往下的節點</a:t>
                      </a:r>
                      <a:r>
                        <a:rPr lang="zh-TW" sz="1600" dirty="0" smtClean="0">
                          <a:solidFill>
                            <a:srgbClr val="000000"/>
                          </a:solidFill>
                          <a:effectLst/>
                          <a:latin typeface="Times New Roman" panose="02020603050405020304" pitchFamily="18" charset="0"/>
                          <a:ea typeface="標楷體" panose="03000509000000000000" pitchFamily="65" charset="-120"/>
                        </a:rPr>
                        <a:t>，</a:t>
                      </a:r>
                      <a:r>
                        <a:rPr lang="zh-TW" altLang="en-US" sz="1600" dirty="0" smtClean="0">
                          <a:solidFill>
                            <a:srgbClr val="000000"/>
                          </a:solidFill>
                          <a:effectLst/>
                          <a:latin typeface="Times New Roman" panose="02020603050405020304" pitchFamily="18" charset="0"/>
                          <a:ea typeface="標楷體" panose="03000509000000000000" pitchFamily="65" charset="-120"/>
                        </a:rPr>
                        <a:t>當期</a:t>
                      </a:r>
                      <a:r>
                        <a:rPr lang="zh-TW" sz="1600" dirty="0" smtClean="0">
                          <a:solidFill>
                            <a:srgbClr val="000000"/>
                          </a:solidFill>
                          <a:effectLst/>
                          <a:latin typeface="Times New Roman" panose="02020603050405020304" pitchFamily="18" charset="0"/>
                          <a:ea typeface="標楷體" panose="03000509000000000000" pitchFamily="65" charset="-120"/>
                        </a:rPr>
                        <a:t>破產</a:t>
                      </a:r>
                      <a:r>
                        <a:rPr lang="zh-TW" altLang="en-US" sz="1600" dirty="0" smtClean="0">
                          <a:solidFill>
                            <a:srgbClr val="000000"/>
                          </a:solidFill>
                          <a:effectLst/>
                          <a:latin typeface="Times New Roman" panose="02020603050405020304" pitchFamily="18" charset="0"/>
                          <a:ea typeface="標楷體" panose="03000509000000000000" pitchFamily="65" charset="-120"/>
                        </a:rPr>
                        <a:t>可能性</a:t>
                      </a:r>
                      <a:r>
                        <a:rPr lang="zh-TW" sz="1600" dirty="0" smtClean="0">
                          <a:solidFill>
                            <a:srgbClr val="000000"/>
                          </a:solidFill>
                          <a:effectLst/>
                          <a:latin typeface="Times New Roman" panose="02020603050405020304" pitchFamily="18" charset="0"/>
                          <a:ea typeface="標楷體" panose="03000509000000000000" pitchFamily="65" charset="-120"/>
                        </a:rPr>
                        <a:t>越</a:t>
                      </a:r>
                      <a:r>
                        <a:rPr lang="zh-TW" sz="1600" dirty="0">
                          <a:solidFill>
                            <a:srgbClr val="000000"/>
                          </a:solidFill>
                          <a:effectLst/>
                          <a:latin typeface="Times New Roman" panose="02020603050405020304" pitchFamily="18" charset="0"/>
                          <a:ea typeface="標楷體" panose="03000509000000000000" pitchFamily="65" charset="-120"/>
                        </a:rPr>
                        <a:t>大</a:t>
                      </a:r>
                      <a:endParaRPr lang="zh-TW" sz="1600" dirty="0">
                        <a:effectLst/>
                        <a:latin typeface="Times New Roman" panose="02020603050405020304" pitchFamily="18" charset="0"/>
                        <a:ea typeface="標楷體" panose="03000509000000000000" pitchFamily="65" charset="-120"/>
                      </a:endParaRPr>
                    </a:p>
                    <a:p>
                      <a:pPr marL="342900" lvl="0" indent="-342900">
                        <a:lnSpc>
                          <a:spcPct val="107000"/>
                        </a:lnSpc>
                        <a:spcAft>
                          <a:spcPts val="0"/>
                        </a:spcAft>
                        <a:buFont typeface="+mj-lt"/>
                        <a:buAutoNum type="arabicPeriod"/>
                      </a:pPr>
                      <a:r>
                        <a:rPr lang="zh-TW" sz="1600" dirty="0">
                          <a:solidFill>
                            <a:srgbClr val="000000"/>
                          </a:solidFill>
                          <a:effectLst/>
                          <a:latin typeface="Times New Roman" panose="02020603050405020304" pitchFamily="18" charset="0"/>
                          <a:ea typeface="標楷體" panose="03000509000000000000" pitchFamily="65" charset="-120"/>
                        </a:rPr>
                        <a:t>在到期日時，只有第</a:t>
                      </a:r>
                      <a:r>
                        <a:rPr lang="en-US" sz="1600" dirty="0">
                          <a:solidFill>
                            <a:srgbClr val="000000"/>
                          </a:solidFill>
                          <a:effectLst/>
                          <a:latin typeface="Times New Roman" panose="02020603050405020304" pitchFamily="18" charset="0"/>
                          <a:ea typeface="標楷體" panose="03000509000000000000" pitchFamily="65" charset="-120"/>
                        </a:rPr>
                        <a:t>6</a:t>
                      </a:r>
                      <a:r>
                        <a:rPr lang="zh-TW" sz="1600" dirty="0">
                          <a:solidFill>
                            <a:srgbClr val="000000"/>
                          </a:solidFill>
                          <a:effectLst/>
                          <a:latin typeface="Times New Roman" panose="02020603050405020304" pitchFamily="18" charset="0"/>
                          <a:ea typeface="標楷體" panose="03000509000000000000" pitchFamily="65" charset="-120"/>
                        </a:rPr>
                        <a:t>個節點有部分轉換，</a:t>
                      </a:r>
                      <a:r>
                        <a:rPr lang="en-US" sz="1600" dirty="0">
                          <a:solidFill>
                            <a:srgbClr val="000000"/>
                          </a:solidFill>
                          <a:effectLst/>
                          <a:latin typeface="Times New Roman" panose="02020603050405020304" pitchFamily="18" charset="0"/>
                          <a:ea typeface="標楷體" panose="03000509000000000000" pitchFamily="65" charset="-120"/>
                        </a:rPr>
                        <a:t>1~5</a:t>
                      </a:r>
                      <a:r>
                        <a:rPr lang="zh-TW" sz="1600" dirty="0">
                          <a:solidFill>
                            <a:srgbClr val="000000"/>
                          </a:solidFill>
                          <a:effectLst/>
                          <a:latin typeface="Times New Roman" panose="02020603050405020304" pitchFamily="18" charset="0"/>
                          <a:ea typeface="標楷體" panose="03000509000000000000" pitchFamily="65" charset="-120"/>
                        </a:rPr>
                        <a:t>個點全部轉換，</a:t>
                      </a:r>
                      <a:r>
                        <a:rPr lang="en-US" sz="1600" dirty="0">
                          <a:solidFill>
                            <a:srgbClr val="000000"/>
                          </a:solidFill>
                          <a:effectLst/>
                          <a:latin typeface="Times New Roman" panose="02020603050405020304" pitchFamily="18" charset="0"/>
                          <a:ea typeface="標楷體" panose="03000509000000000000" pitchFamily="65" charset="-120"/>
                        </a:rPr>
                        <a:t>6~11</a:t>
                      </a:r>
                      <a:r>
                        <a:rPr lang="zh-TW" sz="1600" dirty="0">
                          <a:solidFill>
                            <a:srgbClr val="000000"/>
                          </a:solidFill>
                          <a:effectLst/>
                          <a:latin typeface="Times New Roman" panose="02020603050405020304" pitchFamily="18" charset="0"/>
                          <a:ea typeface="標楷體" panose="03000509000000000000" pitchFamily="65" charset="-120"/>
                        </a:rPr>
                        <a:t>則是全部不</a:t>
                      </a:r>
                      <a:r>
                        <a:rPr lang="zh-TW" sz="1600" dirty="0" smtClean="0">
                          <a:solidFill>
                            <a:srgbClr val="000000"/>
                          </a:solidFill>
                          <a:effectLst/>
                          <a:latin typeface="Times New Roman" panose="02020603050405020304" pitchFamily="18" charset="0"/>
                          <a:ea typeface="標楷體" panose="03000509000000000000" pitchFamily="65" charset="-120"/>
                        </a:rPr>
                        <a:t>轉換</a:t>
                      </a:r>
                      <a:r>
                        <a:rPr lang="zh-TW" altLang="en-US" sz="1600" dirty="0" smtClean="0">
                          <a:solidFill>
                            <a:srgbClr val="000000"/>
                          </a:solidFill>
                          <a:effectLst/>
                          <a:latin typeface="Times New Roman" panose="02020603050405020304" pitchFamily="18" charset="0"/>
                          <a:ea typeface="標楷體" panose="03000509000000000000" pitchFamily="65" charset="-120"/>
                        </a:rPr>
                        <a:t>，所以第</a:t>
                      </a:r>
                      <a:r>
                        <a:rPr lang="en-US" altLang="zh-TW" sz="1600" dirty="0" smtClean="0">
                          <a:solidFill>
                            <a:srgbClr val="000000"/>
                          </a:solidFill>
                          <a:effectLst/>
                          <a:latin typeface="Times New Roman" panose="02020603050405020304" pitchFamily="18" charset="0"/>
                          <a:ea typeface="標楷體" panose="03000509000000000000" pitchFamily="65" charset="-120"/>
                        </a:rPr>
                        <a:t>9</a:t>
                      </a:r>
                      <a:r>
                        <a:rPr lang="zh-TW" altLang="en-US" sz="1600" dirty="0" smtClean="0">
                          <a:solidFill>
                            <a:srgbClr val="000000"/>
                          </a:solidFill>
                          <a:effectLst/>
                          <a:latin typeface="Times New Roman" panose="02020603050405020304" pitchFamily="18" charset="0"/>
                          <a:ea typeface="標楷體" panose="03000509000000000000" pitchFamily="65" charset="-120"/>
                        </a:rPr>
                        <a:t>期節點</a:t>
                      </a:r>
                      <a:r>
                        <a:rPr lang="en-US" altLang="zh-TW" sz="1600" dirty="0" smtClean="0">
                          <a:solidFill>
                            <a:srgbClr val="000000"/>
                          </a:solidFill>
                          <a:effectLst/>
                          <a:latin typeface="Times New Roman" panose="02020603050405020304" pitchFamily="18" charset="0"/>
                          <a:ea typeface="標楷體" panose="03000509000000000000" pitchFamily="65" charset="-120"/>
                        </a:rPr>
                        <a:t>6~10</a:t>
                      </a:r>
                      <a:r>
                        <a:rPr lang="zh-TW" altLang="en-US" sz="1600" dirty="0" smtClean="0">
                          <a:solidFill>
                            <a:srgbClr val="000000"/>
                          </a:solidFill>
                          <a:effectLst/>
                          <a:latin typeface="Times New Roman" panose="02020603050405020304" pitchFamily="18" charset="0"/>
                          <a:ea typeface="標楷體" panose="03000509000000000000" pitchFamily="65" charset="-120"/>
                        </a:rPr>
                        <a:t>都是部分轉換都是為了以債作股。</a:t>
                      </a:r>
                      <a:endParaRPr lang="zh-TW" sz="1600" dirty="0">
                        <a:effectLst/>
                        <a:latin typeface="Times New Roman" panose="02020603050405020304" pitchFamily="18" charset="0"/>
                        <a:ea typeface="標楷體" panose="03000509000000000000" pitchFamily="65" charset="-120"/>
                      </a:endParaRPr>
                    </a:p>
                    <a:p>
                      <a:pPr algn="r">
                        <a:lnSpc>
                          <a:spcPct val="107000"/>
                        </a:lnSpc>
                        <a:spcAft>
                          <a:spcPts val="0"/>
                        </a:spcAft>
                      </a:pPr>
                      <a:r>
                        <a:rPr lang="en-US" sz="1600" dirty="0">
                          <a:solidFill>
                            <a:srgbClr val="000000"/>
                          </a:solidFill>
                          <a:effectLst/>
                          <a:latin typeface="Times New Roman" panose="02020603050405020304" pitchFamily="18" charset="0"/>
                          <a:ea typeface="標楷體" panose="03000509000000000000" pitchFamily="65" charset="-120"/>
                        </a:rPr>
                        <a:t> </a:t>
                      </a:r>
                      <a:endParaRPr lang="zh-TW" sz="16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51</a:t>
            </a:fld>
            <a:endParaRPr lang="zh-TW" altLang="en-US"/>
          </a:p>
        </p:txBody>
      </p:sp>
      <p:sp>
        <p:nvSpPr>
          <p:cNvPr id="6" name="文字方塊 5"/>
          <p:cNvSpPr txBox="1"/>
          <p:nvPr/>
        </p:nvSpPr>
        <p:spPr>
          <a:xfrm>
            <a:off x="8008374" y="2860548"/>
            <a:ext cx="2262158" cy="369332"/>
          </a:xfrm>
          <a:prstGeom prst="rect">
            <a:avLst/>
          </a:prstGeom>
          <a:noFill/>
        </p:spPr>
        <p:txBody>
          <a:bodyPr wrap="none" rtlCol="0">
            <a:spAutoFit/>
          </a:bodyPr>
          <a:lstStyle/>
          <a:p>
            <a:r>
              <a:rPr lang="zh-TW" altLang="en-US" dirty="0" smtClean="0">
                <a:latin typeface="標楷體" panose="03000509000000000000" pitchFamily="65" charset="-120"/>
                <a:ea typeface="標楷體" panose="03000509000000000000" pitchFamily="65" charset="-120"/>
                <a:hlinkClick r:id="rId2" action="ppaction://hlinksldjump"/>
              </a:rPr>
              <a:t>到期前可轉換公司</a:t>
            </a:r>
            <a:r>
              <a:rPr lang="zh-TW" altLang="en-US" dirty="0">
                <a:latin typeface="標楷體" panose="03000509000000000000" pitchFamily="65" charset="-120"/>
                <a:ea typeface="標楷體" panose="03000509000000000000" pitchFamily="65" charset="-120"/>
                <a:hlinkClick r:id="rId2" action="ppaction://hlinksldjump"/>
              </a:rPr>
              <a:t>債</a:t>
            </a:r>
            <a:endParaRPr lang="zh-TW" altLang="en-US" dirty="0">
              <a:latin typeface="標楷體" panose="03000509000000000000" pitchFamily="65" charset="-120"/>
              <a:ea typeface="標楷體" panose="03000509000000000000" pitchFamily="65" charset="-120"/>
            </a:endParaRPr>
          </a:p>
        </p:txBody>
      </p:sp>
      <p:sp>
        <p:nvSpPr>
          <p:cNvPr id="7" name="文字方塊 6"/>
          <p:cNvSpPr txBox="1"/>
          <p:nvPr/>
        </p:nvSpPr>
        <p:spPr>
          <a:xfrm>
            <a:off x="8008374" y="4128168"/>
            <a:ext cx="3018775" cy="1200329"/>
          </a:xfrm>
          <a:prstGeom prst="rect">
            <a:avLst/>
          </a:prstGeom>
          <a:noFill/>
        </p:spPr>
        <p:txBody>
          <a:bodyPr wrap="none" rtlCol="0">
            <a:spAutoFit/>
          </a:bodyPr>
          <a:lstStyle/>
          <a:p>
            <a:r>
              <a:rPr lang="zh-TW" altLang="en-US" dirty="0" smtClean="0">
                <a:latin typeface="標楷體" panose="03000509000000000000" pitchFamily="65" charset="-120"/>
                <a:ea typeface="標楷體" panose="03000509000000000000" pitchFamily="65" charset="-120"/>
              </a:rPr>
              <a:t>原因：</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利率越高，</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upper</a:t>
            </a:r>
            <a:r>
              <a:rPr lang="zh-TW" altLang="en-US" dirty="0" smtClean="0">
                <a:latin typeface="標楷體" panose="03000509000000000000" pitchFamily="65" charset="-120"/>
                <a:ea typeface="標楷體" panose="03000509000000000000" pitchFamily="65" charset="-120"/>
              </a:rPr>
              <a:t>比重越重，</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持有人只要轉換比較少債券</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就能以債作股</a:t>
            </a:r>
            <a:endParaRPr lang="zh-TW" altLang="en-US" dirty="0">
              <a:latin typeface="標楷體" panose="03000509000000000000" pitchFamily="65" charset="-120"/>
              <a:ea typeface="標楷體" panose="03000509000000000000" pitchFamily="65" charset="-120"/>
            </a:endParaRPr>
          </a:p>
        </p:txBody>
      </p:sp>
      <p:sp>
        <p:nvSpPr>
          <p:cNvPr id="8" name="文字方塊 7"/>
          <p:cNvSpPr txBox="1"/>
          <p:nvPr/>
        </p:nvSpPr>
        <p:spPr>
          <a:xfrm>
            <a:off x="8008374" y="3513919"/>
            <a:ext cx="2723823" cy="369332"/>
          </a:xfrm>
          <a:prstGeom prst="rect">
            <a:avLst/>
          </a:prstGeom>
          <a:noFill/>
        </p:spPr>
        <p:txBody>
          <a:bodyPr wrap="none" rtlCol="0">
            <a:spAutoFit/>
          </a:bodyPr>
          <a:lstStyle/>
          <a:p>
            <a:r>
              <a:rPr lang="zh-TW" altLang="en-US" dirty="0" smtClean="0">
                <a:latin typeface="標楷體" panose="03000509000000000000" pitchFamily="65" charset="-120"/>
                <a:ea typeface="標楷體" panose="03000509000000000000" pitchFamily="65" charset="-120"/>
              </a:rPr>
              <a:t>利率越高，轉換比例越低</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14628740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prstClr val="black"/>
                </a:solidFill>
                <a:latin typeface="標楷體" panose="03000509000000000000" pitchFamily="65" charset="-120"/>
                <a:ea typeface="標楷體" panose="03000509000000000000" pitchFamily="65" charset="-120"/>
              </a:rPr>
              <a:t>比較靜態分析</a:t>
            </a:r>
            <a:r>
              <a:rPr lang="en-US" altLang="zh-TW" dirty="0">
                <a:solidFill>
                  <a:prstClr val="black"/>
                </a:solidFill>
                <a:latin typeface="標楷體" panose="03000509000000000000" pitchFamily="65" charset="-120"/>
                <a:ea typeface="標楷體" panose="03000509000000000000" pitchFamily="65" charset="-120"/>
              </a:rPr>
              <a:t>-3</a:t>
            </a:r>
            <a:r>
              <a:rPr lang="en-US" altLang="zh-TW" sz="4000" dirty="0">
                <a:solidFill>
                  <a:prstClr val="black"/>
                </a:solidFill>
                <a:latin typeface="標楷體" panose="03000509000000000000" pitchFamily="65" charset="-120"/>
                <a:ea typeface="標楷體" panose="03000509000000000000" pitchFamily="65" charset="-120"/>
              </a:rPr>
              <a:t>(</a:t>
            </a:r>
            <a:r>
              <a:rPr lang="zh-TW" altLang="en-US" sz="4000" dirty="0">
                <a:solidFill>
                  <a:prstClr val="black"/>
                </a:solidFill>
                <a:latin typeface="標楷體" panose="03000509000000000000" pitchFamily="65" charset="-120"/>
                <a:ea typeface="標楷體" panose="03000509000000000000" pitchFamily="65" charset="-120"/>
              </a:rPr>
              <a:t>分析到期前最佳轉換比例</a:t>
            </a:r>
            <a:r>
              <a:rPr lang="en-US" altLang="zh-TW" sz="4000" dirty="0">
                <a:solidFill>
                  <a:prstClr val="black"/>
                </a:solidFill>
                <a:latin typeface="標楷體" panose="03000509000000000000" pitchFamily="65" charset="-120"/>
                <a:ea typeface="標楷體" panose="03000509000000000000" pitchFamily="65" charset="-120"/>
              </a:rPr>
              <a:t>)</a:t>
            </a:r>
            <a:endParaRPr lang="zh-TW" altLang="en-US" dirty="0"/>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52</a:t>
            </a:fld>
            <a:endParaRPr lang="zh-TW" altLang="en-US"/>
          </a:p>
        </p:txBody>
      </p:sp>
      <p:pic>
        <p:nvPicPr>
          <p:cNvPr id="3" name="圖片 2"/>
          <p:cNvPicPr>
            <a:picLocks noChangeAspect="1"/>
          </p:cNvPicPr>
          <p:nvPr/>
        </p:nvPicPr>
        <p:blipFill>
          <a:blip r:embed="rId2"/>
          <a:stretch>
            <a:fillRect/>
          </a:stretch>
        </p:blipFill>
        <p:spPr>
          <a:xfrm>
            <a:off x="1084461" y="1499760"/>
            <a:ext cx="9767314" cy="4429092"/>
          </a:xfrm>
          <a:prstGeom prst="rect">
            <a:avLst/>
          </a:prstGeom>
        </p:spPr>
      </p:pic>
    </p:spTree>
    <p:extLst>
      <p:ext uri="{BB962C8B-B14F-4D97-AF65-F5344CB8AC3E}">
        <p14:creationId xmlns:p14="http://schemas.microsoft.com/office/powerpoint/2010/main" val="214207914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a:xfrm>
            <a:off x="838200" y="2754362"/>
            <a:ext cx="10515600" cy="1325563"/>
          </a:xfrm>
        </p:spPr>
        <p:txBody>
          <a:bodyPr>
            <a:normAutofit/>
          </a:bodyPr>
          <a:lstStyle/>
          <a:p>
            <a:pPr algn="ctr"/>
            <a:r>
              <a:rPr lang="zh-TW" altLang="en-US" sz="6000" dirty="0" smtClean="0">
                <a:latin typeface="標楷體" panose="03000509000000000000" pitchFamily="65" charset="-120"/>
                <a:ea typeface="標楷體" panose="03000509000000000000" pitchFamily="65" charset="-120"/>
              </a:rPr>
              <a:t>結論</a:t>
            </a:r>
            <a:endParaRPr lang="zh-TW" altLang="en-US" sz="6000"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53</a:t>
            </a:fld>
            <a:endParaRPr lang="zh-TW" altLang="en-US"/>
          </a:p>
        </p:txBody>
      </p:sp>
    </p:spTree>
    <p:extLst>
      <p:ext uri="{BB962C8B-B14F-4D97-AF65-F5344CB8AC3E}">
        <p14:creationId xmlns:p14="http://schemas.microsoft.com/office/powerpoint/2010/main" val="185529407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38200" y="781665"/>
            <a:ext cx="10515600" cy="5395298"/>
          </a:xfrm>
        </p:spPr>
        <p:txBody>
          <a:bodyPr/>
          <a:lstStyle/>
          <a:p>
            <a:endParaRPr lang="en-US" altLang="zh-TW" dirty="0" smtClean="0"/>
          </a:p>
          <a:p>
            <a:pPr marL="514350" indent="-514350">
              <a:buFont typeface="+mj-lt"/>
              <a:buAutoNum type="arabicPeriod"/>
            </a:pPr>
            <a:r>
              <a:rPr lang="zh-TW" altLang="zh-TW" dirty="0" smtClean="0">
                <a:latin typeface="標楷體" panose="03000509000000000000" pitchFamily="65" charset="-120"/>
                <a:ea typeface="標楷體" panose="03000509000000000000" pitchFamily="65" charset="-120"/>
              </a:rPr>
              <a:t>過去</a:t>
            </a:r>
            <a:r>
              <a:rPr lang="zh-TW" altLang="zh-TW" dirty="0">
                <a:latin typeface="標楷體" panose="03000509000000000000" pitchFamily="65" charset="-120"/>
                <a:ea typeface="標楷體" panose="03000509000000000000" pitchFamily="65" charset="-120"/>
              </a:rPr>
              <a:t>可轉換公司債文獻都在研究可轉換公司債</a:t>
            </a:r>
            <a:r>
              <a:rPr lang="zh-TW" altLang="zh-TW" dirty="0">
                <a:solidFill>
                  <a:srgbClr val="FF0000"/>
                </a:solidFill>
                <a:latin typeface="標楷體" panose="03000509000000000000" pitchFamily="65" charset="-120"/>
                <a:ea typeface="標楷體" panose="03000509000000000000" pitchFamily="65" charset="-120"/>
              </a:rPr>
              <a:t>發行人與持有人的賽</a:t>
            </a:r>
            <a:r>
              <a:rPr lang="zh-TW" altLang="zh-TW" dirty="0" smtClean="0">
                <a:solidFill>
                  <a:srgbClr val="FF0000"/>
                </a:solidFill>
                <a:latin typeface="標楷體" panose="03000509000000000000" pitchFamily="65" charset="-120"/>
                <a:ea typeface="標楷體" panose="03000509000000000000" pitchFamily="65" charset="-120"/>
              </a:rPr>
              <a:t>局</a:t>
            </a:r>
            <a:r>
              <a:rPr lang="zh-TW" altLang="en-US" dirty="0" smtClean="0">
                <a:latin typeface="標楷體" panose="03000509000000000000" pitchFamily="65" charset="-120"/>
                <a:ea typeface="標楷體" panose="03000509000000000000" pitchFamily="65" charset="-120"/>
              </a:rPr>
              <a:t>，評價可轉換公司債</a:t>
            </a:r>
            <a:endParaRPr lang="en-US" altLang="zh-TW" dirty="0" smtClean="0">
              <a:latin typeface="標楷體" panose="03000509000000000000" pitchFamily="65" charset="-120"/>
              <a:ea typeface="標楷體" panose="03000509000000000000" pitchFamily="65" charset="-120"/>
            </a:endParaRPr>
          </a:p>
          <a:p>
            <a:pPr lvl="1">
              <a:buFont typeface="Wingdings" panose="05000000000000000000" pitchFamily="2" charset="2"/>
              <a:buChar char="Ø"/>
            </a:pPr>
            <a:r>
              <a:rPr lang="zh-TW" altLang="zh-TW" dirty="0">
                <a:latin typeface="標楷體" panose="03000509000000000000" pitchFamily="65" charset="-120"/>
                <a:ea typeface="標楷體" panose="03000509000000000000" pitchFamily="65" charset="-120"/>
              </a:rPr>
              <a:t>本論文研究可轉換發行人在沒有贖回權利下，</a:t>
            </a:r>
            <a:r>
              <a:rPr lang="zh-TW" altLang="zh-TW" dirty="0">
                <a:solidFill>
                  <a:srgbClr val="FF0000"/>
                </a:solidFill>
                <a:latin typeface="標楷體" panose="03000509000000000000" pitchFamily="65" charset="-120"/>
                <a:ea typeface="標楷體" panose="03000509000000000000" pitchFamily="65" charset="-120"/>
              </a:rPr>
              <a:t>少數可轉換公司債持有者間的賽局</a:t>
            </a:r>
            <a:r>
              <a:rPr lang="zh-TW" altLang="zh-TW" dirty="0">
                <a:latin typeface="標楷體" panose="03000509000000000000" pitchFamily="65" charset="-120"/>
                <a:ea typeface="標楷體" panose="03000509000000000000" pitchFamily="65" charset="-120"/>
              </a:rPr>
              <a:t>，進而評價可轉換</a:t>
            </a:r>
            <a:r>
              <a:rPr lang="zh-TW" altLang="zh-TW" dirty="0" smtClean="0">
                <a:latin typeface="標楷體" panose="03000509000000000000" pitchFamily="65" charset="-120"/>
                <a:ea typeface="標楷體" panose="03000509000000000000" pitchFamily="65" charset="-120"/>
              </a:rPr>
              <a:t>公司債</a:t>
            </a:r>
            <a:endParaRPr lang="en-US" altLang="zh-TW" dirty="0" smtClean="0">
              <a:latin typeface="標楷體" panose="03000509000000000000" pitchFamily="65" charset="-120"/>
              <a:ea typeface="標楷體" panose="03000509000000000000" pitchFamily="65" charset="-120"/>
            </a:endParaRPr>
          </a:p>
          <a:p>
            <a:pPr marL="514350" indent="-514350">
              <a:buFont typeface="+mj-lt"/>
              <a:buAutoNum type="arabicPeriod"/>
            </a:pPr>
            <a:r>
              <a:rPr lang="zh-TW" altLang="zh-TW" dirty="0">
                <a:latin typeface="標楷體" panose="03000509000000000000" pitchFamily="65" charset="-120"/>
                <a:ea typeface="標楷體" panose="03000509000000000000" pitchFamily="65" charset="-120"/>
              </a:rPr>
              <a:t>可轉換公司債在寡占持有形態下，因為雙方賽局的關係影響了整體可轉換公司債的價值，使得整體價值會落在持有型態為獨占和持有型態為完全競爭</a:t>
            </a:r>
            <a:r>
              <a:rPr lang="zh-TW" altLang="zh-TW" dirty="0" smtClean="0">
                <a:latin typeface="標楷體" panose="03000509000000000000" pitchFamily="65" charset="-120"/>
                <a:ea typeface="標楷體" panose="03000509000000000000" pitchFamily="65" charset="-120"/>
              </a:rPr>
              <a:t>之間</a:t>
            </a:r>
            <a:endParaRPr lang="en-US" altLang="zh-TW" dirty="0" smtClean="0">
              <a:latin typeface="標楷體" panose="03000509000000000000" pitchFamily="65" charset="-120"/>
              <a:ea typeface="標楷體" panose="03000509000000000000" pitchFamily="65" charset="-120"/>
            </a:endParaRPr>
          </a:p>
          <a:p>
            <a:pPr marL="514350" indent="-514350">
              <a:buFont typeface="+mj-lt"/>
              <a:buAutoNum type="arabicPeriod"/>
            </a:pPr>
            <a:r>
              <a:rPr lang="zh-TW" altLang="zh-TW" dirty="0">
                <a:latin typeface="標楷體" panose="03000509000000000000" pitchFamily="65" charset="-120"/>
                <a:ea typeface="標楷體" panose="03000509000000000000" pitchFamily="65" charset="-120"/>
              </a:rPr>
              <a:t>比較靜態分析的結果與</a:t>
            </a:r>
            <a:r>
              <a:rPr lang="en-US" altLang="zh-TW" b="1" dirty="0">
                <a:latin typeface="Times New Roman" panose="02020603050405020304" pitchFamily="18" charset="0"/>
                <a:cs typeface="Times New Roman" panose="02020603050405020304" pitchFamily="18" charset="0"/>
              </a:rPr>
              <a:t>Chen, Dai and Wan (2013)</a:t>
            </a:r>
            <a:r>
              <a:rPr lang="zh-TW" altLang="zh-TW" dirty="0" smtClean="0">
                <a:latin typeface="標楷體" panose="03000509000000000000" pitchFamily="65" charset="-120"/>
                <a:ea typeface="標楷體" panose="03000509000000000000" pitchFamily="65" charset="-120"/>
              </a:rPr>
              <a:t>一致</a:t>
            </a:r>
            <a:endParaRPr lang="en-US" altLang="zh-TW" dirty="0"/>
          </a:p>
          <a:p>
            <a:pPr marL="514350" indent="-514350">
              <a:buFont typeface="+mj-lt"/>
              <a:buAutoNum type="arabicPeriod"/>
            </a:pPr>
            <a:r>
              <a:rPr lang="zh-TW" altLang="en-US" dirty="0" smtClean="0">
                <a:latin typeface="標楷體" panose="03000509000000000000" pitchFamily="65" charset="-120"/>
                <a:ea typeface="標楷體" panose="03000509000000000000" pitchFamily="65" charset="-120"/>
              </a:rPr>
              <a:t>分析了利率水準、債息與稅率對於當期最佳轉換比例的影響</a:t>
            </a:r>
            <a:endParaRPr lang="en-US" altLang="zh-TW" dirty="0" smtClean="0">
              <a:latin typeface="標楷體" panose="03000509000000000000" pitchFamily="65" charset="-120"/>
              <a:ea typeface="標楷體" panose="03000509000000000000" pitchFamily="65" charset="-120"/>
            </a:endParaRPr>
          </a:p>
          <a:p>
            <a:pPr marL="514350" indent="-514350">
              <a:buFont typeface="+mj-lt"/>
              <a:buAutoNum type="arabicPeriod"/>
            </a:pPr>
            <a:r>
              <a:rPr lang="zh-TW" altLang="zh-TW" dirty="0">
                <a:latin typeface="Times New Roman" panose="02020603050405020304" pitchFamily="18" charset="0"/>
                <a:ea typeface="標楷體" panose="03000509000000000000" pitchFamily="65" charset="-120"/>
                <a:cs typeface="Times New Roman" panose="02020603050405020304" pitchFamily="18" charset="0"/>
              </a:rPr>
              <a:t>當公司資產過低，可轉債債權人的行為也會偏向股東</a:t>
            </a:r>
            <a:endParaRPr lang="zh-TW" altLang="zh-TW" dirty="0">
              <a:latin typeface="標楷體" panose="03000509000000000000" pitchFamily="65" charset="-120"/>
              <a:ea typeface="標楷體" panose="03000509000000000000" pitchFamily="65" charset="-120"/>
            </a:endParaRPr>
          </a:p>
          <a:p>
            <a:pPr marL="514350" indent="-514350">
              <a:buFont typeface="+mj-lt"/>
              <a:buAutoNum type="arabicPeriod"/>
            </a:pPr>
            <a:endParaRPr lang="zh-TW" altLang="en-US"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54</a:t>
            </a:fld>
            <a:endParaRPr lang="zh-TW" altLang="en-US"/>
          </a:p>
        </p:txBody>
      </p:sp>
    </p:spTree>
    <p:extLst>
      <p:ext uri="{BB962C8B-B14F-4D97-AF65-F5344CB8AC3E}">
        <p14:creationId xmlns:p14="http://schemas.microsoft.com/office/powerpoint/2010/main" val="261756096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41841" y="2286000"/>
            <a:ext cx="3511959" cy="3746090"/>
          </a:xfrm>
          <a:prstGeom prst="rect">
            <a:avLst/>
          </a:prstGeom>
        </p:spPr>
      </p:pic>
      <p:sp>
        <p:nvSpPr>
          <p:cNvPr id="4" name="投影片編號版面配置區 3"/>
          <p:cNvSpPr>
            <a:spLocks noGrp="1"/>
          </p:cNvSpPr>
          <p:nvPr>
            <p:ph type="sldNum" sz="quarter" idx="12"/>
          </p:nvPr>
        </p:nvSpPr>
        <p:spPr/>
        <p:txBody>
          <a:bodyPr/>
          <a:lstStyle/>
          <a:p>
            <a:fld id="{31F877B7-FBF6-49BA-8BEB-3DB32DB27243}" type="slidenum">
              <a:rPr lang="zh-TW" altLang="en-US" smtClean="0"/>
              <a:pPr/>
              <a:t>55</a:t>
            </a:fld>
            <a:endParaRPr lang="zh-TW" altLang="en-US"/>
          </a:p>
        </p:txBody>
      </p:sp>
      <p:sp>
        <p:nvSpPr>
          <p:cNvPr id="8" name="文字方塊 7"/>
          <p:cNvSpPr txBox="1"/>
          <p:nvPr/>
        </p:nvSpPr>
        <p:spPr>
          <a:xfrm>
            <a:off x="1017639" y="1843548"/>
            <a:ext cx="7772400" cy="1477328"/>
          </a:xfrm>
          <a:prstGeom prst="rect">
            <a:avLst/>
          </a:prstGeom>
          <a:noFill/>
        </p:spPr>
        <p:txBody>
          <a:bodyPr wrap="square" rtlCol="0">
            <a:spAutoFit/>
          </a:bodyPr>
          <a:lstStyle/>
          <a:p>
            <a:pPr latinLnBrk="1"/>
            <a:r>
              <a:rPr lang="en-US" altLang="zh-TW" sz="5400" dirty="0">
                <a:latin typeface="Times New Roman" panose="02020603050405020304" pitchFamily="18" charset="0"/>
                <a:cs typeface="Times New Roman" panose="02020603050405020304" pitchFamily="18" charset="0"/>
              </a:rPr>
              <a:t>Thanks for your attention</a:t>
            </a:r>
          </a:p>
          <a:p>
            <a:r>
              <a:rPr lang="en-US" altLang="zh-TW" dirty="0"/>
              <a:t/>
            </a:r>
            <a:br>
              <a:rPr lang="en-US" altLang="zh-TW" dirty="0"/>
            </a:br>
            <a:endParaRPr lang="zh-TW" altLang="en-US" dirty="0"/>
          </a:p>
        </p:txBody>
      </p:sp>
    </p:spTree>
    <p:extLst>
      <p:ext uri="{BB962C8B-B14F-4D97-AF65-F5344CB8AC3E}">
        <p14:creationId xmlns:p14="http://schemas.microsoft.com/office/powerpoint/2010/main" val="280936727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到期前可轉換公司債</a:t>
            </a:r>
            <a:endParaRPr lang="zh-TW" altLang="en-US"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2"/>
          </p:nvPr>
        </p:nvSpPr>
        <p:spPr/>
        <p:txBody>
          <a:bodyPr/>
          <a:lstStyle/>
          <a:p>
            <a:fld id="{31F877B7-FBF6-49BA-8BEB-3DB32DB27243}" type="slidenum">
              <a:rPr lang="zh-TW" altLang="en-US" smtClean="0"/>
              <a:t>56</a:t>
            </a:fld>
            <a:endParaRPr lang="zh-TW" altLang="en-US"/>
          </a:p>
        </p:txBody>
      </p:sp>
      <p:graphicFrame>
        <p:nvGraphicFramePr>
          <p:cNvPr id="5" name="物件 4"/>
          <p:cNvGraphicFramePr>
            <a:graphicFrameLocks noChangeAspect="1"/>
          </p:cNvGraphicFramePr>
          <p:nvPr>
            <p:extLst>
              <p:ext uri="{D42A27DB-BD31-4B8C-83A1-F6EECF244321}">
                <p14:modId xmlns:p14="http://schemas.microsoft.com/office/powerpoint/2010/main" val="167416944"/>
              </p:ext>
            </p:extLst>
          </p:nvPr>
        </p:nvGraphicFramePr>
        <p:xfrm>
          <a:off x="1002351" y="1690688"/>
          <a:ext cx="9567863" cy="3168650"/>
        </p:xfrm>
        <a:graphic>
          <a:graphicData uri="http://schemas.openxmlformats.org/presentationml/2006/ole">
            <mc:AlternateContent xmlns:mc="http://schemas.openxmlformats.org/markup-compatibility/2006">
              <mc:Choice xmlns:v="urn:schemas-microsoft-com:vml" Requires="v">
                <p:oleObj spid="_x0000_s34847" name="方程式" r:id="rId3" imgW="4368600" imgH="1447560" progId="Equation.3">
                  <p:embed/>
                </p:oleObj>
              </mc:Choice>
              <mc:Fallback>
                <p:oleObj name="方程式" r:id="rId3" imgW="4368600" imgH="1447560" progId="Equation.3">
                  <p:embed/>
                  <p:pic>
                    <p:nvPicPr>
                      <p:cNvPr id="0" name=""/>
                      <p:cNvPicPr/>
                      <p:nvPr/>
                    </p:nvPicPr>
                    <p:blipFill>
                      <a:blip r:embed="rId4"/>
                      <a:stretch>
                        <a:fillRect/>
                      </a:stretch>
                    </p:blipFill>
                    <p:spPr>
                      <a:xfrm>
                        <a:off x="1002351" y="1690688"/>
                        <a:ext cx="9567863" cy="3168650"/>
                      </a:xfrm>
                      <a:prstGeom prst="rect">
                        <a:avLst/>
                      </a:prstGeom>
                    </p:spPr>
                  </p:pic>
                </p:oleObj>
              </mc:Fallback>
            </mc:AlternateContent>
          </a:graphicData>
        </a:graphic>
      </p:graphicFrame>
      <p:sp>
        <p:nvSpPr>
          <p:cNvPr id="6" name="文字方塊 5">
            <a:hlinkClick r:id="rId5" action="ppaction://hlinksldjump"/>
          </p:cNvPr>
          <p:cNvSpPr txBox="1"/>
          <p:nvPr/>
        </p:nvSpPr>
        <p:spPr>
          <a:xfrm>
            <a:off x="10353368" y="5619136"/>
            <a:ext cx="712054"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hlinkClick r:id="rId5" action="ppaction://hlinksldjump"/>
              </a:rPr>
              <a:t>Back</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639161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marL="342900" lvl="0" indent="-342900">
              <a:lnSpc>
                <a:spcPct val="107000"/>
              </a:lnSpc>
              <a:spcAft>
                <a:spcPts val="800"/>
              </a:spcAft>
            </a:pPr>
            <a:r>
              <a:rPr lang="zh-TW" altLang="zh-TW" dirty="0" smtClean="0">
                <a:latin typeface="Times New Roman" panose="02020603050405020304" pitchFamily="18" charset="0"/>
                <a:ea typeface="標楷體" panose="03000509000000000000" pitchFamily="65" charset="-120"/>
              </a:rPr>
              <a:t>獨</a:t>
            </a:r>
            <a:r>
              <a:rPr lang="zh-TW" altLang="en-US" dirty="0">
                <a:latin typeface="Times New Roman" panose="02020603050405020304" pitchFamily="18" charset="0"/>
                <a:ea typeface="標楷體" panose="03000509000000000000" pitchFamily="65" charset="-120"/>
              </a:rPr>
              <a:t>占</a:t>
            </a:r>
            <a:r>
              <a:rPr lang="zh-TW" altLang="zh-TW" dirty="0" smtClean="0">
                <a:latin typeface="Times New Roman" panose="02020603050405020304" pitchFamily="18" charset="0"/>
                <a:ea typeface="標楷體" panose="03000509000000000000" pitchFamily="65" charset="-120"/>
              </a:rPr>
              <a:t>到期</a:t>
            </a:r>
            <a:r>
              <a:rPr lang="zh-TW" altLang="zh-TW" dirty="0">
                <a:latin typeface="Times New Roman" panose="02020603050405020304" pitchFamily="18" charset="0"/>
                <a:ea typeface="標楷體" panose="03000509000000000000" pitchFamily="65" charset="-120"/>
              </a:rPr>
              <a:t>日與到期前最佳轉換</a:t>
            </a:r>
            <a:r>
              <a:rPr lang="zh-TW" altLang="zh-TW" dirty="0" smtClean="0">
                <a:latin typeface="Times New Roman" panose="02020603050405020304" pitchFamily="18" charset="0"/>
                <a:ea typeface="標楷體" panose="03000509000000000000" pitchFamily="65" charset="-120"/>
              </a:rPr>
              <a:t>比例</a:t>
            </a:r>
            <a:endParaRPr lang="zh-TW" altLang="en-US" dirty="0"/>
          </a:p>
        </p:txBody>
      </p:sp>
      <p:graphicFrame>
        <p:nvGraphicFramePr>
          <p:cNvPr id="5" name="內容版面配置區 4"/>
          <p:cNvGraphicFramePr>
            <a:graphicFrameLocks noGrp="1"/>
          </p:cNvGraphicFramePr>
          <p:nvPr>
            <p:ph idx="1"/>
            <p:extLst/>
          </p:nvPr>
        </p:nvGraphicFramePr>
        <p:xfrm>
          <a:off x="1758464" y="1469468"/>
          <a:ext cx="8196699" cy="4886882"/>
        </p:xfrm>
        <a:graphic>
          <a:graphicData uri="http://schemas.openxmlformats.org/drawingml/2006/table">
            <a:tbl>
              <a:tblPr firstRow="1" firstCol="1" bandRow="1"/>
              <a:tblGrid>
                <a:gridCol w="2122089"/>
                <a:gridCol w="1164151"/>
                <a:gridCol w="1165168"/>
                <a:gridCol w="1165168"/>
                <a:gridCol w="260961"/>
                <a:gridCol w="1161105"/>
                <a:gridCol w="1158057"/>
              </a:tblGrid>
              <a:tr h="375914">
                <a:tc>
                  <a:txBody>
                    <a:bodyPr/>
                    <a:lstStyle/>
                    <a:p>
                      <a:pPr>
                        <a:lnSpc>
                          <a:spcPct val="107000"/>
                        </a:lnSpc>
                        <a:spcAft>
                          <a:spcPts val="0"/>
                        </a:spcAft>
                      </a:pPr>
                      <a:r>
                        <a:rPr lang="en-US" sz="2000" dirty="0">
                          <a:solidFill>
                            <a:srgbClr val="000000"/>
                          </a:solidFill>
                          <a:effectLst/>
                          <a:latin typeface="新細明體" panose="02020500000000000000" pitchFamily="18" charset="-120"/>
                          <a:ea typeface="標楷體" panose="03000509000000000000" pitchFamily="65" charset="-120"/>
                          <a:cs typeface="新細明體" panose="02020500000000000000" pitchFamily="18" charset="-120"/>
                        </a:rPr>
                        <a:t> </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07000"/>
                        </a:lnSpc>
                        <a:spcAft>
                          <a:spcPts val="0"/>
                        </a:spcAft>
                      </a:pPr>
                      <a:r>
                        <a:rPr lang="zh-TW" sz="200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到期日</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rowSpan="13">
                  <a:txBody>
                    <a:bodyPr/>
                    <a:lstStyle/>
                    <a:p>
                      <a:pPr algn="ctr">
                        <a:lnSpc>
                          <a:spcPct val="107000"/>
                        </a:lnSpc>
                        <a:spcAft>
                          <a:spcPts val="0"/>
                        </a:spcAft>
                      </a:pPr>
                      <a:r>
                        <a:rPr lang="en-US" sz="2000">
                          <a:solidFill>
                            <a:srgbClr val="000000"/>
                          </a:solidFill>
                          <a:effectLst/>
                          <a:latin typeface="新細明體" panose="02020500000000000000" pitchFamily="18" charset="-120"/>
                          <a:ea typeface="標楷體" panose="03000509000000000000" pitchFamily="65" charset="-120"/>
                          <a:cs typeface="新細明體" panose="02020500000000000000" pitchFamily="18" charset="-120"/>
                        </a:rPr>
                        <a:t> </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7000"/>
                        </a:lnSpc>
                        <a:spcAft>
                          <a:spcPts val="0"/>
                        </a:spcAft>
                      </a:pPr>
                      <a:r>
                        <a:rPr lang="zh-TW" sz="200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到期前</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r>
              <a:tr h="375914">
                <a:tc>
                  <a:txBody>
                    <a:bodyPr/>
                    <a:lstStyle/>
                    <a:p>
                      <a:pPr algn="ctr">
                        <a:lnSpc>
                          <a:spcPct val="107000"/>
                        </a:lnSpc>
                        <a:spcAft>
                          <a:spcPts val="0"/>
                        </a:spcAft>
                      </a:pPr>
                      <a:r>
                        <a:rPr lang="zh-TW" sz="2000">
                          <a:solidFill>
                            <a:srgbClr val="000000"/>
                          </a:solidFill>
                          <a:effectLst/>
                          <a:latin typeface="Times New Roman" panose="02020603050405020304" pitchFamily="18" charset="0"/>
                          <a:ea typeface="標楷體" panose="03000509000000000000" pitchFamily="65" charset="-120"/>
                        </a:rPr>
                        <a:t>獨占</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D'</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E'</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F'</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B'</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C'</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100.00%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30.52%</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90.00%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27.55%</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80.00%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24.14%</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20.36%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16.26%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11.89%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7.29%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2.48%</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90%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914">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57</a:t>
            </a:fld>
            <a:endParaRPr lang="zh-TW" altLang="en-US"/>
          </a:p>
        </p:txBody>
      </p:sp>
      <p:sp>
        <p:nvSpPr>
          <p:cNvPr id="6" name="文字方塊 5"/>
          <p:cNvSpPr txBox="1"/>
          <p:nvPr/>
        </p:nvSpPr>
        <p:spPr>
          <a:xfrm>
            <a:off x="10545096" y="5987018"/>
            <a:ext cx="659155"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hlinkClick r:id="rId2" action="ppaction://hlinksldjump"/>
              </a:rPr>
              <a:t>Back</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39358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marL="342900" lvl="0" indent="-342900">
              <a:lnSpc>
                <a:spcPct val="107000"/>
              </a:lnSpc>
              <a:spcAft>
                <a:spcPts val="800"/>
              </a:spcAft>
            </a:pPr>
            <a:r>
              <a:rPr lang="zh-TW" altLang="zh-TW" dirty="0">
                <a:latin typeface="Times New Roman" panose="02020603050405020304" pitchFamily="18" charset="0"/>
                <a:ea typeface="標楷體" panose="03000509000000000000" pitchFamily="65" charset="-120"/>
              </a:rPr>
              <a:t>寡占到期日與到期前最佳整體轉換</a:t>
            </a:r>
            <a:r>
              <a:rPr lang="zh-TW" altLang="zh-TW" dirty="0" smtClean="0">
                <a:latin typeface="Times New Roman" panose="02020603050405020304" pitchFamily="18" charset="0"/>
                <a:ea typeface="標楷體" panose="03000509000000000000" pitchFamily="65" charset="-120"/>
              </a:rPr>
              <a:t>比例</a:t>
            </a:r>
            <a:endParaRPr lang="zh-TW" altLang="en-US" dirty="0"/>
          </a:p>
        </p:txBody>
      </p:sp>
      <p:graphicFrame>
        <p:nvGraphicFramePr>
          <p:cNvPr id="6" name="內容版面配置區 5"/>
          <p:cNvGraphicFramePr>
            <a:graphicFrameLocks noGrp="1"/>
          </p:cNvGraphicFramePr>
          <p:nvPr>
            <p:ph idx="1"/>
            <p:extLst/>
          </p:nvPr>
        </p:nvGraphicFramePr>
        <p:xfrm>
          <a:off x="1522489" y="1445342"/>
          <a:ext cx="8403175" cy="5073444"/>
        </p:xfrm>
        <a:graphic>
          <a:graphicData uri="http://schemas.openxmlformats.org/drawingml/2006/table">
            <a:tbl>
              <a:tblPr firstRow="1" firstCol="1" bandRow="1"/>
              <a:tblGrid>
                <a:gridCol w="2175545"/>
                <a:gridCol w="1193477"/>
                <a:gridCol w="1194518"/>
                <a:gridCol w="1194518"/>
                <a:gridCol w="267534"/>
                <a:gridCol w="1190353"/>
                <a:gridCol w="1187230"/>
              </a:tblGrid>
              <a:tr h="418167">
                <a:tc>
                  <a:txBody>
                    <a:bodyPr/>
                    <a:lstStyle/>
                    <a:p>
                      <a:pP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 </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07000"/>
                        </a:lnSpc>
                        <a:spcAft>
                          <a:spcPts val="0"/>
                        </a:spcAft>
                      </a:pPr>
                      <a:r>
                        <a:rPr lang="zh-TW" sz="2000" dirty="0">
                          <a:solidFill>
                            <a:srgbClr val="000000"/>
                          </a:solidFill>
                          <a:effectLst/>
                          <a:latin typeface="Times New Roman" panose="02020603050405020304" pitchFamily="18" charset="0"/>
                          <a:ea typeface="標楷體" panose="03000509000000000000" pitchFamily="65" charset="-120"/>
                        </a:rPr>
                        <a:t>到期日</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rowSpan="13">
                  <a:txBody>
                    <a:bodyPr/>
                    <a:lstStyle/>
                    <a:p>
                      <a:pPr algn="ctr">
                        <a:lnSpc>
                          <a:spcPct val="107000"/>
                        </a:lnSpc>
                        <a:spcAft>
                          <a:spcPts val="0"/>
                        </a:spcAft>
                      </a:pPr>
                      <a:r>
                        <a:rPr lang="en-US" sz="2000">
                          <a:solidFill>
                            <a:srgbClr val="000000"/>
                          </a:solidFill>
                          <a:effectLst/>
                          <a:latin typeface="標楷體" panose="03000509000000000000" pitchFamily="65" charset="-120"/>
                          <a:ea typeface="標楷體" panose="03000509000000000000" pitchFamily="65" charset="-120"/>
                        </a:rPr>
                        <a:t> </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7000"/>
                        </a:lnSpc>
                        <a:spcAft>
                          <a:spcPts val="0"/>
                        </a:spcAft>
                      </a:pPr>
                      <a:r>
                        <a:rPr lang="zh-TW" sz="2000">
                          <a:solidFill>
                            <a:srgbClr val="000000"/>
                          </a:solidFill>
                          <a:effectLst/>
                          <a:latin typeface="Times New Roman" panose="02020603050405020304" pitchFamily="18" charset="0"/>
                          <a:ea typeface="標楷體" panose="03000509000000000000" pitchFamily="65" charset="-120"/>
                        </a:rPr>
                        <a:t>到期前</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r>
              <a:tr h="675752">
                <a:tc>
                  <a:txBody>
                    <a:bodyPr/>
                    <a:lstStyle/>
                    <a:p>
                      <a:pPr algn="ctr">
                        <a:lnSpc>
                          <a:spcPct val="107000"/>
                        </a:lnSpc>
                        <a:spcAft>
                          <a:spcPts val="0"/>
                        </a:spcAft>
                      </a:pPr>
                      <a:r>
                        <a:rPr lang="zh-TW" sz="2000">
                          <a:solidFill>
                            <a:srgbClr val="000000"/>
                          </a:solidFill>
                          <a:effectLst/>
                          <a:latin typeface="Times New Roman" panose="02020603050405020304" pitchFamily="18" charset="0"/>
                          <a:ea typeface="標楷體" panose="03000509000000000000" pitchFamily="65" charset="-120"/>
                        </a:rPr>
                        <a:t>寡占</a:t>
                      </a:r>
                      <a:endParaRPr lang="zh-TW" sz="2000">
                        <a:effectLst/>
                        <a:latin typeface="Times New Roman" panose="02020603050405020304" pitchFamily="18" charset="0"/>
                        <a:ea typeface="標楷體" panose="03000509000000000000" pitchFamily="65" charset="-120"/>
                      </a:endParaRPr>
                    </a:p>
                    <a:p>
                      <a:pPr algn="ctr">
                        <a:lnSpc>
                          <a:spcPct val="107000"/>
                        </a:lnSpc>
                        <a:spcAft>
                          <a:spcPts val="0"/>
                        </a:spcAft>
                      </a:pPr>
                      <a:r>
                        <a:rPr lang="en-US" sz="2000">
                          <a:solidFill>
                            <a:srgbClr val="000000"/>
                          </a:solidFill>
                          <a:effectLst/>
                          <a:latin typeface="Times New Roman" panose="02020603050405020304" pitchFamily="18" charset="0"/>
                          <a:ea typeface="標楷體" panose="03000509000000000000" pitchFamily="65" charset="-120"/>
                        </a:rPr>
                        <a:t>(</a:t>
                      </a:r>
                      <a:r>
                        <a:rPr lang="zh-TW" sz="2000">
                          <a:solidFill>
                            <a:srgbClr val="000000"/>
                          </a:solidFill>
                          <a:effectLst/>
                          <a:latin typeface="Times New Roman" panose="02020603050405020304" pitchFamily="18" charset="0"/>
                          <a:ea typeface="標楷體" panose="03000509000000000000" pitchFamily="65" charset="-120"/>
                        </a:rPr>
                        <a:t>整體總轉換比例</a:t>
                      </a:r>
                      <a:r>
                        <a:rPr lang="en-US" sz="2000">
                          <a:solidFill>
                            <a:srgbClr val="000000"/>
                          </a:solidFill>
                          <a:effectLst/>
                          <a:latin typeface="Times New Roman" panose="02020603050405020304" pitchFamily="18" charset="0"/>
                          <a:ea typeface="標楷體" panose="03000509000000000000" pitchFamily="65" charset="-120"/>
                        </a:rPr>
                        <a:t>)</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D'</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E'</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F'</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B'</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C'</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46.06%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90.00%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40.51%</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80.00%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34.73%</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28.76%</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21.89%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11.89%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7.29%</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2.48%</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90%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77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58</a:t>
            </a:fld>
            <a:endParaRPr lang="zh-TW" altLang="en-US"/>
          </a:p>
        </p:txBody>
      </p:sp>
      <p:sp>
        <p:nvSpPr>
          <p:cNvPr id="7" name="文字方塊 6"/>
          <p:cNvSpPr txBox="1"/>
          <p:nvPr/>
        </p:nvSpPr>
        <p:spPr>
          <a:xfrm>
            <a:off x="10441858" y="6169580"/>
            <a:ext cx="659155"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hlinkClick r:id="rId2" action="ppaction://hlinksldjump"/>
              </a:rPr>
              <a:t>Back</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15273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完全競爭到期日與到期前無異點</a:t>
            </a:r>
            <a:endParaRPr lang="zh-TW" altLang="en-US" dirty="0"/>
          </a:p>
        </p:txBody>
      </p:sp>
      <p:graphicFrame>
        <p:nvGraphicFramePr>
          <p:cNvPr id="5" name="內容版面配置區 4"/>
          <p:cNvGraphicFramePr>
            <a:graphicFrameLocks noGrp="1"/>
          </p:cNvGraphicFramePr>
          <p:nvPr>
            <p:ph idx="1"/>
            <p:extLst/>
          </p:nvPr>
        </p:nvGraphicFramePr>
        <p:xfrm>
          <a:off x="1575414" y="1412659"/>
          <a:ext cx="8541980" cy="4943691"/>
        </p:xfrm>
        <a:graphic>
          <a:graphicData uri="http://schemas.openxmlformats.org/drawingml/2006/table">
            <a:tbl>
              <a:tblPr firstRow="1" firstCol="1" bandRow="1"/>
              <a:tblGrid>
                <a:gridCol w="2213920"/>
                <a:gridCol w="1208171"/>
                <a:gridCol w="1208171"/>
                <a:gridCol w="1208171"/>
                <a:gridCol w="299923"/>
                <a:gridCol w="1264340"/>
                <a:gridCol w="1139284"/>
              </a:tblGrid>
              <a:tr h="356485">
                <a:tc>
                  <a:txBody>
                    <a:bodyPr/>
                    <a:lstStyle/>
                    <a:p>
                      <a:endParaRPr lang="zh-TW" sz="2000" dirty="0">
                        <a:effectLst/>
                        <a:latin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07000"/>
                        </a:lnSpc>
                        <a:spcAft>
                          <a:spcPts val="0"/>
                        </a:spcAft>
                      </a:pPr>
                      <a:r>
                        <a:rPr lang="zh-TW" sz="2000" dirty="0">
                          <a:effectLst/>
                          <a:latin typeface="Times New Roman" panose="02020603050405020304" pitchFamily="18" charset="0"/>
                          <a:ea typeface="標楷體" panose="03000509000000000000" pitchFamily="65" charset="-120"/>
                        </a:rPr>
                        <a:t>到期日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rowSpan="12">
                  <a:txBody>
                    <a:bodyPr/>
                    <a:lstStyle/>
                    <a:p>
                      <a:endParaRPr lang="zh-TW" sz="2000">
                        <a:effectLst/>
                        <a:latin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7000"/>
                        </a:lnSpc>
                        <a:spcAft>
                          <a:spcPts val="0"/>
                        </a:spcAft>
                      </a:pPr>
                      <a:r>
                        <a:rPr lang="zh-TW" sz="2000">
                          <a:effectLst/>
                          <a:latin typeface="Times New Roman" panose="02020603050405020304" pitchFamily="18" charset="0"/>
                          <a:ea typeface="標楷體" panose="03000509000000000000" pitchFamily="65" charset="-120"/>
                        </a:rPr>
                        <a:t>到期前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r>
              <a:tr h="665871">
                <a:tc>
                  <a:txBody>
                    <a:bodyPr/>
                    <a:lstStyle/>
                    <a:p>
                      <a:pPr algn="ctr">
                        <a:lnSpc>
                          <a:spcPct val="107000"/>
                        </a:lnSpc>
                        <a:spcAft>
                          <a:spcPts val="0"/>
                        </a:spcAft>
                      </a:pPr>
                      <a:r>
                        <a:rPr lang="zh-TW" sz="2000">
                          <a:solidFill>
                            <a:srgbClr val="000000"/>
                          </a:solidFill>
                          <a:effectLst/>
                          <a:latin typeface="Times New Roman" panose="02020603050405020304" pitchFamily="18" charset="0"/>
                          <a:ea typeface="標楷體" panose="03000509000000000000" pitchFamily="65" charset="-120"/>
                        </a:rPr>
                        <a:t>完全競爭</a:t>
                      </a:r>
                      <a:endParaRPr lang="zh-TW" sz="2000">
                        <a:effectLst/>
                        <a:latin typeface="Times New Roman" panose="02020603050405020304" pitchFamily="18" charset="0"/>
                        <a:ea typeface="標楷體" panose="03000509000000000000" pitchFamily="65" charset="-120"/>
                      </a:endParaRPr>
                    </a:p>
                    <a:p>
                      <a:pPr algn="ctr">
                        <a:lnSpc>
                          <a:spcPct val="107000"/>
                        </a:lnSpc>
                        <a:spcAft>
                          <a:spcPts val="0"/>
                        </a:spcAft>
                      </a:pPr>
                      <a:r>
                        <a:rPr lang="en-US" sz="2000">
                          <a:solidFill>
                            <a:srgbClr val="000000"/>
                          </a:solidFill>
                          <a:effectLst/>
                          <a:latin typeface="標楷體" panose="03000509000000000000" pitchFamily="65" charset="-120"/>
                          <a:ea typeface="標楷體" panose="03000509000000000000" pitchFamily="65" charset="-120"/>
                        </a:rPr>
                        <a:t>(</a:t>
                      </a:r>
                      <a:r>
                        <a:rPr lang="zh-TW" sz="2000">
                          <a:solidFill>
                            <a:srgbClr val="000000"/>
                          </a:solidFill>
                          <a:effectLst/>
                          <a:latin typeface="Times New Roman" panose="02020603050405020304" pitchFamily="18" charset="0"/>
                          <a:ea typeface="標楷體" panose="03000509000000000000" pitchFamily="65" charset="-120"/>
                        </a:rPr>
                        <a:t>無異點</a:t>
                      </a:r>
                      <a:r>
                        <a:rPr lang="en-US" sz="2000">
                          <a:solidFill>
                            <a:srgbClr val="000000"/>
                          </a:solidFill>
                          <a:effectLst/>
                          <a:latin typeface="Times New Roman" panose="02020603050405020304" pitchFamily="18" charset="0"/>
                          <a:ea typeface="標楷體" panose="03000509000000000000" pitchFamily="65" charset="-120"/>
                        </a:rPr>
                        <a:t>)</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D'</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E'</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F'</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B'</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C'</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90.00%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80.00%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60%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40.00%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70%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30.00%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5.00%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80%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20.00%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90%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485">
                <a:tc>
                  <a:txBody>
                    <a:bodyPr/>
                    <a:lstStyle/>
                    <a:p>
                      <a:pPr algn="ct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100%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 </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a:solidFill>
                            <a:srgbClr val="000000"/>
                          </a:solidFill>
                          <a:effectLst/>
                          <a:latin typeface="Times New Roman" panose="02020603050405020304" pitchFamily="18" charset="0"/>
                          <a:ea typeface="新細明體" panose="02020500000000000000" pitchFamily="18" charset="-120"/>
                        </a:rPr>
                        <a:t>0.00%</a:t>
                      </a:r>
                      <a:endParaRPr lang="zh-TW" sz="200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US" sz="2000" dirty="0">
                          <a:solidFill>
                            <a:srgbClr val="000000"/>
                          </a:solidFill>
                          <a:effectLst/>
                          <a:latin typeface="Times New Roman" panose="02020603050405020304" pitchFamily="18" charset="0"/>
                          <a:ea typeface="新細明體" panose="02020500000000000000" pitchFamily="18" charset="-120"/>
                        </a:rPr>
                        <a:t>0.00%</a:t>
                      </a:r>
                      <a:endParaRPr lang="zh-TW" sz="2000" dirty="0">
                        <a:effectLst/>
                        <a:latin typeface="Times New Roman" panose="02020603050405020304" pitchFamily="18" charset="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12"/>
          </p:nvPr>
        </p:nvSpPr>
        <p:spPr/>
        <p:txBody>
          <a:bodyPr/>
          <a:lstStyle/>
          <a:p>
            <a:fld id="{31F877B7-FBF6-49BA-8BEB-3DB32DB27243}" type="slidenum">
              <a:rPr lang="zh-TW" altLang="en-US" smtClean="0"/>
              <a:t>59</a:t>
            </a:fld>
            <a:endParaRPr lang="zh-TW" altLang="en-US"/>
          </a:p>
        </p:txBody>
      </p:sp>
      <p:sp>
        <p:nvSpPr>
          <p:cNvPr id="6" name="文字方塊 5"/>
          <p:cNvSpPr txBox="1"/>
          <p:nvPr/>
        </p:nvSpPr>
        <p:spPr>
          <a:xfrm>
            <a:off x="10545096" y="5987018"/>
            <a:ext cx="659155"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hlinkClick r:id="rId2" action="ppaction://hlinksldjump"/>
              </a:rPr>
              <a:t>Back</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5456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solidFill>
                  <a:prstClr val="black"/>
                </a:solidFill>
                <a:latin typeface="Times New Roman" panose="02020603050405020304" pitchFamily="18" charset="0"/>
                <a:cs typeface="Times New Roman" panose="02020603050405020304" pitchFamily="18" charset="0"/>
              </a:rPr>
              <a:t>dynamic</a:t>
            </a:r>
            <a:r>
              <a:rPr lang="zh-TW" altLang="en-US" dirty="0">
                <a:solidFill>
                  <a:prstClr val="black"/>
                </a:solidFill>
                <a:latin typeface="Times New Roman" panose="02020603050405020304" pitchFamily="18" charset="0"/>
                <a:cs typeface="Times New Roman" panose="02020603050405020304" pitchFamily="18" charset="0"/>
              </a:rPr>
              <a:t> </a:t>
            </a:r>
            <a:r>
              <a:rPr lang="en-US" altLang="zh-TW" dirty="0" smtClean="0">
                <a:solidFill>
                  <a:prstClr val="black"/>
                </a:solidFill>
                <a:latin typeface="Times New Roman" panose="02020603050405020304" pitchFamily="18" charset="0"/>
                <a:cs typeface="Times New Roman" panose="02020603050405020304" pitchFamily="18" charset="0"/>
              </a:rPr>
              <a:t>programming</a:t>
            </a:r>
            <a:r>
              <a:rPr lang="en-US" altLang="zh-TW" dirty="0" smtClean="0">
                <a:solidFill>
                  <a:prstClr val="black"/>
                </a:solidFill>
                <a:latin typeface="標楷體" panose="03000509000000000000" pitchFamily="65" charset="-120"/>
                <a:ea typeface="標楷體" panose="03000509000000000000" pitchFamily="65" charset="-120"/>
                <a:cs typeface="Times New Roman" panose="02020603050405020304" pitchFamily="18" charset="0"/>
              </a:rPr>
              <a:t>(</a:t>
            </a:r>
            <a:r>
              <a:rPr lang="zh-TW" altLang="en-US" dirty="0" smtClean="0">
                <a:solidFill>
                  <a:prstClr val="black"/>
                </a:solidFill>
                <a:latin typeface="標楷體" panose="03000509000000000000" pitchFamily="65" charset="-120"/>
                <a:ea typeface="標楷體" panose="03000509000000000000" pitchFamily="65" charset="-120"/>
                <a:cs typeface="Times New Roman" panose="02020603050405020304" pitchFamily="18" charset="0"/>
              </a:rPr>
              <a:t>動態規劃</a:t>
            </a:r>
            <a:r>
              <a:rPr lang="en-US" altLang="zh-TW" dirty="0" smtClean="0">
                <a:solidFill>
                  <a:prstClr val="black"/>
                </a:solidFill>
                <a:latin typeface="標楷體" panose="03000509000000000000" pitchFamily="65" charset="-120"/>
                <a:ea typeface="標楷體" panose="03000509000000000000" pitchFamily="65" charset="-120"/>
                <a:cs typeface="Times New Roman" panose="02020603050405020304" pitchFamily="18" charset="0"/>
              </a:rPr>
              <a:t>)</a:t>
            </a:r>
            <a:endParaRPr lang="zh-TW" altLang="en-US" dirty="0">
              <a:latin typeface="標楷體" panose="03000509000000000000" pitchFamily="65" charset="-120"/>
              <a:ea typeface="標楷體" panose="03000509000000000000" pitchFamily="65" charset="-12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以動態的方式來進行最佳化的方法，</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假設</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A=B=50%</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B</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各自有自己的策略</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為轉換</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0%</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10%</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20%...50%</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共六種策略，同樣地</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B</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也有六種策略，所以我們要考慮前一期發生均衡點的所有可能，也就是</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𝑎</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)={(0%,0%)</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(0%,10%)</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(0%,20%)…(A,B)}</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共</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36</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種可能</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043" t="-238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31F877B7-FBF6-49BA-8BEB-3DB32DB27243}" type="slidenum">
              <a:rPr lang="zh-TW" altLang="en-US" smtClean="0"/>
              <a:t>60</a:t>
            </a:fld>
            <a:endParaRPr lang="zh-TW" altLang="en-US"/>
          </a:p>
        </p:txBody>
      </p:sp>
      <p:sp>
        <p:nvSpPr>
          <p:cNvPr id="5" name="文字方塊 4"/>
          <p:cNvSpPr txBox="1"/>
          <p:nvPr/>
        </p:nvSpPr>
        <p:spPr>
          <a:xfrm>
            <a:off x="11042657" y="5992297"/>
            <a:ext cx="659155"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hlinkClick r:id="rId3" action="ppaction://hlinksldjump"/>
              </a:rPr>
              <a:t>Back</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366481219"/>
                  </p:ext>
                </p:extLst>
              </p:nvPr>
            </p:nvGraphicFramePr>
            <p:xfrm>
              <a:off x="2011106" y="3677276"/>
              <a:ext cx="7619591" cy="2826557"/>
            </p:xfrm>
            <a:graphic>
              <a:graphicData uri="http://schemas.openxmlformats.org/drawingml/2006/table">
                <a:tbl>
                  <a:tblPr firstRow="1" firstCol="1" bandRow="1"/>
                  <a:tblGrid>
                    <a:gridCol w="2236659"/>
                    <a:gridCol w="904142"/>
                    <a:gridCol w="885914"/>
                    <a:gridCol w="900498"/>
                    <a:gridCol w="899586"/>
                    <a:gridCol w="899586"/>
                    <a:gridCol w="893206"/>
                  </a:tblGrid>
                  <a:tr h="1613086">
                    <a:tc>
                      <a:txBody>
                        <a:bodyPr/>
                        <a:lstStyle/>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endParaRPr lang="en-US" sz="12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累積已轉換比例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pPr algn="ctr">
                            <a:lnSpc>
                              <a:spcPct val="107000"/>
                            </a:lnSpc>
                            <a:spcAft>
                              <a:spcPts val="0"/>
                            </a:spcAft>
                            <a:tabLst>
                              <a:tab pos="450215" algn="l"/>
                            </a:tabLst>
                          </a:pP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sSub>
                                  <m:sSubPr>
                                    <m:ctrlPr>
                                      <a:rPr lang="zh-TW"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標楷體" panose="03000509000000000000" pitchFamily="65" charset="-120"/>
                                        <a:cs typeface="Times New Roman" panose="02020603050405020304" pitchFamily="18" charset="0"/>
                                      </a:rPr>
                                      <m:t>𝑏</m:t>
                                    </m:r>
                                  </m:e>
                                  <m:sub>
                                    <m:r>
                                      <a:rPr lang="en-US" sz="1800" i="1">
                                        <a:effectLst/>
                                        <a:latin typeface="Cambria Math" panose="02040503050406030204" pitchFamily="18" charset="0"/>
                                        <a:ea typeface="標楷體" panose="03000509000000000000" pitchFamily="65" charset="-120"/>
                                        <a:cs typeface="Times New Roman" panose="02020603050405020304" pitchFamily="18" charset="0"/>
                                      </a:rPr>
                                      <m:t>𝑖</m:t>
                                    </m:r>
                                    <m:r>
                                      <a:rPr lang="en-US" sz="1800" i="1">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277686">
                    <a:tc>
                      <a:txBody>
                        <a:bodyPr/>
                        <a:lstStyle/>
                        <a:p>
                          <a:pPr algn="just">
                            <a:lnSpc>
                              <a:spcPct val="107000"/>
                            </a:lnSpc>
                            <a:spcAft>
                              <a:spcPts val="0"/>
                            </a:spcAft>
                            <a:tabLst>
                              <a:tab pos="450215" algn="l"/>
                            </a:tabLst>
                          </a:pPr>
                          <a14:m>
                            <m:oMathPara xmlns:m="http://schemas.openxmlformats.org/officeDocument/2006/math">
                              <m:oMathParaPr>
                                <m:jc m:val="centerGroup"/>
                              </m:oMathParaPr>
                              <m:oMath xmlns:m="http://schemas.openxmlformats.org/officeDocument/2006/math">
                                <m:sSub>
                                  <m:sSubPr>
                                    <m:ctrlPr>
                                      <a:rPr lang="zh-TW"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標楷體" panose="03000509000000000000" pitchFamily="65" charset="-120"/>
                                        <a:cs typeface="Times New Roman" panose="02020603050405020304" pitchFamily="18" charset="0"/>
                                      </a:rPr>
                                      <m:t>𝑎</m:t>
                                    </m:r>
                                  </m:e>
                                  <m:sub>
                                    <m:r>
                                      <a:rPr lang="en-US" sz="1800" i="1">
                                        <a:effectLst/>
                                        <a:latin typeface="Cambria Math" panose="02040503050406030204" pitchFamily="18" charset="0"/>
                                        <a:ea typeface="標楷體" panose="03000509000000000000" pitchFamily="65" charset="-120"/>
                                        <a:cs typeface="Times New Roman" panose="02020603050405020304" pitchFamily="18" charset="0"/>
                                      </a:rPr>
                                      <m:t>𝑖</m:t>
                                    </m:r>
                                    <m:r>
                                      <a:rPr lang="en-US" sz="1800" i="1">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881">
                    <a:tc>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366481219"/>
                  </p:ext>
                </p:extLst>
              </p:nvPr>
            </p:nvGraphicFramePr>
            <p:xfrm>
              <a:off x="2011106" y="3677276"/>
              <a:ext cx="7619591" cy="2826557"/>
            </p:xfrm>
            <a:graphic>
              <a:graphicData uri="http://schemas.openxmlformats.org/drawingml/2006/table">
                <a:tbl>
                  <a:tblPr firstRow="1" firstCol="1" bandRow="1"/>
                  <a:tblGrid>
                    <a:gridCol w="2236659"/>
                    <a:gridCol w="904142"/>
                    <a:gridCol w="885914"/>
                    <a:gridCol w="900498"/>
                    <a:gridCol w="899586"/>
                    <a:gridCol w="899586"/>
                    <a:gridCol w="893206"/>
                  </a:tblGrid>
                  <a:tr h="1630807">
                    <a:tc>
                      <a:txBody>
                        <a:bodyPr/>
                        <a:lstStyle/>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           </a:t>
                          </a:r>
                          <a:r>
                            <a:rPr lang="zh-TW" sz="1600" dirty="0" smtClean="0">
                              <a:effectLst/>
                              <a:latin typeface="Times New Roman" panose="02020603050405020304" pitchFamily="18" charset="0"/>
                              <a:ea typeface="標楷體" panose="03000509000000000000" pitchFamily="65" charset="-120"/>
                              <a:cs typeface="Times New Roman" panose="02020603050405020304" pitchFamily="18" charset="0"/>
                            </a:rPr>
                            <a:t>累積</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已轉換比例</a:t>
                          </a: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endParaRPr lang="en-US" sz="12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en-US" sz="1600" dirty="0" smtClean="0">
                              <a:effectLst/>
                              <a:latin typeface="Times New Roman" panose="02020603050405020304" pitchFamily="18" charset="0"/>
                              <a:ea typeface="標楷體" panose="03000509000000000000" pitchFamily="65" charset="-120"/>
                              <a:cs typeface="Times New Roman" panose="02020603050405020304" pitchFamily="18" charset="0"/>
                            </a:rPr>
                            <a:t>CB</a:t>
                          </a: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持有者</a:t>
                          </a:r>
                          <a:r>
                            <a:rPr lang="en-US" sz="16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6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just">
                            <a:lnSpc>
                              <a:spcPct val="107000"/>
                            </a:lnSpc>
                            <a:spcAft>
                              <a:spcPts val="0"/>
                            </a:spcAft>
                            <a:tabLst>
                              <a:tab pos="450215" algn="l"/>
                            </a:tabLst>
                          </a:pPr>
                          <a:r>
                            <a:rPr lang="zh-TW" sz="1600" dirty="0">
                              <a:effectLst/>
                              <a:latin typeface="Times New Roman" panose="02020603050405020304" pitchFamily="18" charset="0"/>
                              <a:ea typeface="標楷體" panose="03000509000000000000" pitchFamily="65" charset="-120"/>
                              <a:cs typeface="Times New Roman" panose="02020603050405020304" pitchFamily="18" charset="0"/>
                            </a:rPr>
                            <a:t>累積已轉換比例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gridSpan="2">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blipFill rotWithShape="0">
                          <a:blip r:embed="rId4"/>
                          <a:stretch>
                            <a:fillRect l="-125170" t="-3731" r="-202381" b="-79104"/>
                          </a:stretch>
                        </a:blipFill>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tr>
                  <a:tr h="293497">
                    <a:tc>
                      <a:txBody>
                        <a:bodyPr/>
                        <a:lstStyle/>
                        <a:p>
                          <a:endParaRPr lang="zh-TW"/>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72" t="-579167" r="-242234" b="-341667"/>
                          </a:stretch>
                        </a:blipFill>
                      </a:tcPr>
                    </a:tc>
                    <a:tc>
                      <a:txBody>
                        <a:bodyPr/>
                        <a:lstStyle/>
                        <a:p>
                          <a:pPr algn="just">
                            <a:lnSpc>
                              <a:spcPct val="107000"/>
                            </a:lnSpc>
                            <a:spcAft>
                              <a:spcPts val="0"/>
                            </a:spcAft>
                            <a:tabLst>
                              <a:tab pos="450215" algn="l"/>
                            </a:tabLst>
                          </a:pPr>
                          <a:r>
                            <a:rPr lang="en-US" sz="1200" dirty="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7686">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881">
                    <a:tc>
                      <a:txBody>
                        <a:bodyPr/>
                        <a:lstStyle/>
                        <a:p>
                          <a:pPr algn="ctr">
                            <a:lnSpc>
                              <a:spcPct val="107000"/>
                            </a:lnSpc>
                            <a:spcAft>
                              <a:spcPts val="0"/>
                            </a:spcAft>
                            <a:tabLst>
                              <a:tab pos="450215" algn="l"/>
                            </a:tabLst>
                          </a:pPr>
                          <a:r>
                            <a:rPr lang="en-US" sz="1800" dirty="0">
                              <a:effectLst/>
                              <a:latin typeface="Times New Roman" panose="02020603050405020304" pitchFamily="18" charset="0"/>
                              <a:ea typeface="標楷體" panose="03000509000000000000" pitchFamily="65" charset="-120"/>
                              <a:cs typeface="Times New Roman" panose="02020603050405020304" pitchFamily="18" charset="0"/>
                            </a:rPr>
                            <a:t>A</a:t>
                          </a:r>
                          <a:endParaRPr 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just">
                            <a:lnSpc>
                              <a:spcPct val="107000"/>
                            </a:lnSpc>
                            <a:spcAft>
                              <a:spcPts val="0"/>
                            </a:spcAft>
                            <a:tabLst>
                              <a:tab pos="450215" algn="l"/>
                            </a:tabLst>
                          </a:pPr>
                          <a:r>
                            <a:rPr lang="en-US" sz="1200" dirty="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1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Fallback>
      </mc:AlternateContent>
    </p:spTree>
    <p:extLst>
      <p:ext uri="{BB962C8B-B14F-4D97-AF65-F5344CB8AC3E}">
        <p14:creationId xmlns:p14="http://schemas.microsoft.com/office/powerpoint/2010/main" val="371266377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8687</TotalTime>
  <Words>3887</Words>
  <Application>Microsoft Office PowerPoint</Application>
  <PresentationFormat>寬螢幕</PresentationFormat>
  <Paragraphs>1474</Paragraphs>
  <Slides>60</Slides>
  <Notes>6</Notes>
  <HiddenSlides>0</HiddenSlides>
  <MMClips>0</MMClips>
  <ScaleCrop>false</ScaleCrop>
  <HeadingPairs>
    <vt:vector size="8" baseType="variant">
      <vt:variant>
        <vt:lpstr>使用字型</vt:lpstr>
      </vt:variant>
      <vt:variant>
        <vt:i4>10</vt:i4>
      </vt:variant>
      <vt:variant>
        <vt:lpstr>佈景主題</vt:lpstr>
      </vt:variant>
      <vt:variant>
        <vt:i4>1</vt:i4>
      </vt:variant>
      <vt:variant>
        <vt:lpstr>內嵌 OLE 伺服程式</vt:lpstr>
      </vt:variant>
      <vt:variant>
        <vt:i4>1</vt:i4>
      </vt:variant>
      <vt:variant>
        <vt:lpstr>投影片標題</vt:lpstr>
      </vt:variant>
      <vt:variant>
        <vt:i4>60</vt:i4>
      </vt:variant>
    </vt:vector>
  </HeadingPairs>
  <TitlesOfParts>
    <vt:vector size="72" baseType="lpstr">
      <vt:lpstr>MS Mincho</vt:lpstr>
      <vt:lpstr>新細明體</vt:lpstr>
      <vt:lpstr>標楷體</vt:lpstr>
      <vt:lpstr>Arial</vt:lpstr>
      <vt:lpstr>Calibri</vt:lpstr>
      <vt:lpstr>Calibri Light</vt:lpstr>
      <vt:lpstr>Cambria Math</vt:lpstr>
      <vt:lpstr>Tahoma</vt:lpstr>
      <vt:lpstr>Times New Roman</vt:lpstr>
      <vt:lpstr>Wingdings</vt:lpstr>
      <vt:lpstr>Office 佈景主題</vt:lpstr>
      <vt:lpstr>方程式</vt:lpstr>
      <vt:lpstr>以賽局理論評價可轉換公司債 -寡占債權人間部分轉換策略的探討</vt:lpstr>
      <vt:lpstr>Agenda</vt:lpstr>
      <vt:lpstr>研究動機</vt:lpstr>
      <vt:lpstr>研究動機</vt:lpstr>
      <vt:lpstr>文獻回顧─持有型態分析</vt:lpstr>
      <vt:lpstr>文獻回顧─賽局理論</vt:lpstr>
      <vt:lpstr>文獻回顧─賽局理論</vt:lpstr>
      <vt:lpstr>研究方法與分析</vt:lpstr>
      <vt:lpstr>建構CRR資產樹</vt:lpstr>
      <vt:lpstr>假設</vt:lpstr>
      <vt:lpstr>參數設定</vt:lpstr>
      <vt:lpstr>模擬可轉換轉換比例方式</vt:lpstr>
      <vt:lpstr>倒推法(Backward Induction)</vt:lpstr>
      <vt:lpstr>Equity</vt:lpstr>
      <vt:lpstr>Convertible Bond</vt:lpstr>
      <vt:lpstr>Equity</vt:lpstr>
      <vt:lpstr>Convertible Bond</vt:lpstr>
      <vt:lpstr>Equity&amp;Convertible Bond</vt:lpstr>
      <vt:lpstr>到期日最佳轉換比例</vt:lpstr>
      <vt:lpstr>到期日最佳轉換比例</vt:lpstr>
      <vt:lpstr>到期日最佳轉換比例</vt:lpstr>
      <vt:lpstr>到期日最佳轉換比例</vt:lpstr>
      <vt:lpstr>到期日最佳轉換比例</vt:lpstr>
      <vt:lpstr>到期日最佳轉換比例</vt:lpstr>
      <vt:lpstr>7.兩條線的交點即為Nash均衡點</vt:lpstr>
      <vt:lpstr>到期日最佳轉換比例</vt:lpstr>
      <vt:lpstr>到期日最佳轉換比例</vt:lpstr>
      <vt:lpstr>到期前最佳轉換比例</vt:lpstr>
      <vt:lpstr>尋找ε-Nash的例子</vt:lpstr>
      <vt:lpstr>PowerPoint 簡報</vt:lpstr>
      <vt:lpstr>發行日最佳轉換比例</vt:lpstr>
      <vt:lpstr>多重均衡點</vt:lpstr>
      <vt:lpstr>多重均衡點</vt:lpstr>
      <vt:lpstr>證明ε- Nash Equilibrium</vt:lpstr>
      <vt:lpstr>證明ε- Nash Equilibrium</vt:lpstr>
      <vt:lpstr>證明ε- Nash Equilibrium</vt:lpstr>
      <vt:lpstr>數值結果</vt:lpstr>
      <vt:lpstr>持有型態對於可轉換公司債價值的影響</vt:lpstr>
      <vt:lpstr>持有型態對於可轉換公司債價值的影響</vt:lpstr>
      <vt:lpstr>持有型態對於可轉換公司債價值的影響B’</vt:lpstr>
      <vt:lpstr>持有型態對於可轉換公司債價值的影響C’</vt:lpstr>
      <vt:lpstr>發行日可轉換公司債價值</vt:lpstr>
      <vt:lpstr>持有型態對於可轉換公司債價值的影響</vt:lpstr>
      <vt:lpstr>比較靜態分析-1(分析債券價格影響)</vt:lpstr>
      <vt:lpstr>比較靜態分析-1(利率分析)</vt:lpstr>
      <vt:lpstr>比較靜態分析-1(債券票面利率分析)</vt:lpstr>
      <vt:lpstr>比較靜態分析-1(稅率分析)</vt:lpstr>
      <vt:lpstr>比較靜態分析-2(分析到期日最佳轉換比例)</vt:lpstr>
      <vt:lpstr>比較靜態分析-3(分析到期前n-1期最佳轉換比例)</vt:lpstr>
      <vt:lpstr>比較靜態分析-3(分析到期前n-1期最佳轉換比例)</vt:lpstr>
      <vt:lpstr>比較靜態分析-3(以獨占為例)</vt:lpstr>
      <vt:lpstr>比較靜態分析-3(分析到期前最佳轉換比例)</vt:lpstr>
      <vt:lpstr>結論</vt:lpstr>
      <vt:lpstr>PowerPoint 簡報</vt:lpstr>
      <vt:lpstr>PowerPoint 簡報</vt:lpstr>
      <vt:lpstr>到期前可轉換公司債</vt:lpstr>
      <vt:lpstr>獨占到期日與到期前最佳轉換比例</vt:lpstr>
      <vt:lpstr>寡占到期日與到期前最佳整體轉換比例</vt:lpstr>
      <vt:lpstr>完全競爭到期日與到期前無異點</vt:lpstr>
      <vt:lpstr>dynamic programming(動態規劃)</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User</cp:lastModifiedBy>
  <cp:revision>235</cp:revision>
  <dcterms:created xsi:type="dcterms:W3CDTF">2014-04-21T08:31:38Z</dcterms:created>
  <dcterms:modified xsi:type="dcterms:W3CDTF">2014-07-05T03:09:22Z</dcterms:modified>
</cp:coreProperties>
</file>