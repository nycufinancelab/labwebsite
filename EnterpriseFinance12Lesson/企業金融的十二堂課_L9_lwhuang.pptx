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9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0" r:id="rId37"/>
    <p:sldId id="297" r:id="rId38"/>
    <p:sldId id="296" r:id="rId39"/>
    <p:sldId id="292" r:id="rId40"/>
    <p:sldId id="293" r:id="rId41"/>
    <p:sldId id="294" r:id="rId42"/>
    <p:sldId id="295" r:id="rId4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281" autoAdjust="0"/>
  </p:normalViewPr>
  <p:slideViewPr>
    <p:cSldViewPr>
      <p:cViewPr varScale="1">
        <p:scale>
          <a:sx n="68" d="100"/>
          <a:sy n="68" d="100"/>
        </p:scale>
        <p:origin x="-163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24EE7-A542-492D-98BD-37F6372672FA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C2837-1BFD-49E4-8D6E-22FB919803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75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C2837-1BFD-49E4-8D6E-22FB9198030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606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C2837-1BFD-49E4-8D6E-22FB9198030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649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金融控股公司法：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金融控股法是重整金融體質的金融相關法案之一，在原本的法案中因銀行、證券及保險業各自受限其法令只能分開經營，但在金控法中將開放金融相關機構的整合，讓金融業跨業經營，各個金融集團將以成立控股公司的方式，整合其下的銀行、票卷、保險等不同機構，而其主要目的就是要藉由利益結合、資源共享的方法來拓展業務透過資源整合降低成本，提供多樣服務以提高市佔率，提供客戶一次購足的服務。連結稅制可使公司充分利用遞延賦稅抵免，降低集團之賦稅，使平均稅率降低。 賦予外資國民待遇，使外國金融機構更能掌握本國金融機構股權，以加強與外資之合作 。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C2837-1BFD-49E4-8D6E-22FB9198030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C2837-1BFD-49E4-8D6E-22FB9198030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749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4C2837-1BFD-49E4-8D6E-22FB9198030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49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97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87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44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65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35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986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2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8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45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00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21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FA11-6A85-4E33-932F-E5AEE26D4CEB}" type="datetimeFigureOut">
              <a:rPr lang="zh-TW" altLang="en-US" smtClean="0"/>
              <a:t>2011/5/11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7664A-8DCD-4AE6-9DB5-2A4D594086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237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zh-TW" altLang="en-US" dirty="0" smtClean="0"/>
              <a:t>企業金融的十二堂課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	</a:t>
            </a:r>
            <a:r>
              <a:rPr lang="zh-TW" altLang="en-US" sz="2000" dirty="0" smtClean="0"/>
              <a:t>第九課</a:t>
            </a:r>
            <a:r>
              <a:rPr lang="en-US" altLang="zh-TW" sz="2000" dirty="0" smtClean="0"/>
              <a:t>	</a:t>
            </a:r>
            <a:r>
              <a:rPr lang="zh-TW" altLang="en-US" sz="2000" dirty="0" smtClean="0"/>
              <a:t>企業併購與重整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TW" altLang="en-US" dirty="0" smtClean="0"/>
              <a:t>資管所</a:t>
            </a:r>
            <a:r>
              <a:rPr lang="en-US" altLang="zh-TW" dirty="0" smtClean="0"/>
              <a:t>	</a:t>
            </a:r>
            <a:r>
              <a:rPr lang="zh-TW" altLang="en-US" dirty="0" smtClean="0"/>
              <a:t>黃立文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826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現今併購概況</a:t>
            </a:r>
            <a:endParaRPr lang="en-US" altLang="zh-TW" dirty="0" smtClean="0"/>
          </a:p>
          <a:p>
            <a:r>
              <a:rPr lang="zh-TW" altLang="en-US" dirty="0"/>
              <a:t>併購基本</a:t>
            </a:r>
            <a:r>
              <a:rPr lang="zh-TW" altLang="en-US" dirty="0" smtClean="0"/>
              <a:t>概念</a:t>
            </a:r>
            <a:endParaRPr lang="en-US" altLang="zh-TW" dirty="0" smtClean="0"/>
          </a:p>
          <a:p>
            <a:r>
              <a:rPr lang="zh-TW" altLang="en-US" dirty="0"/>
              <a:t>併購的運作</a:t>
            </a:r>
            <a:r>
              <a:rPr lang="zh-TW" altLang="en-US" dirty="0" smtClean="0"/>
              <a:t>流程與考量因素</a:t>
            </a:r>
            <a:endParaRPr lang="en-US" altLang="zh-TW" dirty="0" smtClean="0"/>
          </a:p>
          <a:p>
            <a:r>
              <a:rPr lang="zh-TW" altLang="en-US" dirty="0" smtClean="0"/>
              <a:t>國內相關</a:t>
            </a:r>
            <a:r>
              <a:rPr lang="zh-TW" altLang="en-US" dirty="0"/>
              <a:t>併購</a:t>
            </a:r>
            <a:r>
              <a:rPr lang="zh-TW" altLang="en-US" dirty="0" smtClean="0"/>
              <a:t>法規</a:t>
            </a:r>
            <a:endParaRPr lang="en-US" altLang="zh-TW" dirty="0" smtClean="0"/>
          </a:p>
          <a:p>
            <a:r>
              <a:rPr lang="zh-TW" altLang="en-US" dirty="0"/>
              <a:t>公司重整</a:t>
            </a:r>
          </a:p>
        </p:txBody>
      </p:sp>
    </p:spTree>
    <p:extLst>
      <p:ext uri="{BB962C8B-B14F-4D97-AF65-F5344CB8AC3E}">
        <p14:creationId xmlns:p14="http://schemas.microsoft.com/office/powerpoint/2010/main" val="5050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現今併購概況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全球併購市場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目的在於希望藉著雄厚的資金，提供多樣化金融商品以及服務，壯大經營實力。</a:t>
            </a:r>
            <a:endParaRPr lang="en-US" altLang="zh-TW" dirty="0" smtClean="0"/>
          </a:p>
          <a:p>
            <a:r>
              <a:rPr lang="zh-TW" altLang="en-US" dirty="0" smtClean="0"/>
              <a:t>國內市場概況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一方面順應國際趨勢，另一方面金融機構市占率小且逾放率節節升高。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民國八十年開放設立新銀行的影響：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773</a:t>
            </a:r>
            <a:r>
              <a:rPr lang="zh-TW" altLang="en-US" dirty="0" smtClean="0"/>
              <a:t>家→</a:t>
            </a:r>
            <a:r>
              <a:rPr lang="en-US" altLang="zh-TW" dirty="0" smtClean="0"/>
              <a:t>2778</a:t>
            </a:r>
            <a:r>
              <a:rPr lang="zh-TW" altLang="en-US" dirty="0" smtClean="0"/>
              <a:t>家</a:t>
            </a:r>
            <a:r>
              <a:rPr lang="en-US" altLang="zh-TW" dirty="0" smtClean="0"/>
              <a:t>	(</a:t>
            </a:r>
            <a:r>
              <a:rPr lang="zh-TW" altLang="en-US" dirty="0" smtClean="0"/>
              <a:t>銀行數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20.06%</a:t>
            </a:r>
            <a:r>
              <a:rPr lang="zh-TW" altLang="en-US" dirty="0" smtClean="0"/>
              <a:t>→</a:t>
            </a:r>
            <a:r>
              <a:rPr lang="en-US" altLang="zh-TW" dirty="0" smtClean="0"/>
              <a:t>5.9%	(</a:t>
            </a:r>
            <a:r>
              <a:rPr lang="zh-TW" altLang="en-US" dirty="0" smtClean="0"/>
              <a:t>淨值報酬率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0.91%</a:t>
            </a:r>
            <a:r>
              <a:rPr lang="zh-TW" altLang="en-US" dirty="0" smtClean="0"/>
              <a:t>→</a:t>
            </a:r>
            <a:r>
              <a:rPr lang="en-US" altLang="zh-TW" dirty="0" smtClean="0"/>
              <a:t>0.5%		(</a:t>
            </a:r>
            <a:r>
              <a:rPr lang="zh-TW" altLang="en-US" dirty="0" smtClean="0"/>
              <a:t>資產報酬率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3%</a:t>
            </a:r>
            <a:r>
              <a:rPr lang="zh-TW" altLang="en-US" dirty="0" smtClean="0"/>
              <a:t>→</a:t>
            </a:r>
            <a:r>
              <a:rPr lang="en-US" altLang="zh-TW" dirty="0" smtClean="0"/>
              <a:t>8.16%		(</a:t>
            </a:r>
            <a:r>
              <a:rPr lang="zh-TW" altLang="en-US" dirty="0" smtClean="0"/>
              <a:t>逾放比率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75856" y="6396335"/>
            <a:ext cx="5231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/>
              <a:t>總資產報酬率</a:t>
            </a:r>
            <a:r>
              <a:rPr lang="en-US" altLang="zh-TW" sz="1200" dirty="0"/>
              <a:t>(ROA)=(</a:t>
            </a:r>
            <a:r>
              <a:rPr lang="zh-TW" altLang="en-US" sz="1200" dirty="0"/>
              <a:t>稅後淨利</a:t>
            </a:r>
            <a:r>
              <a:rPr lang="en-US" altLang="zh-TW" sz="1200" dirty="0"/>
              <a:t>+</a:t>
            </a:r>
            <a:r>
              <a:rPr lang="zh-TW" altLang="en-US" sz="1200" dirty="0"/>
              <a:t>利息費用</a:t>
            </a:r>
            <a:r>
              <a:rPr lang="en-US" altLang="zh-TW" sz="1200" dirty="0"/>
              <a:t>)÷</a:t>
            </a:r>
            <a:r>
              <a:rPr lang="zh-TW" altLang="en-US" sz="1200" dirty="0"/>
              <a:t>平均資產</a:t>
            </a:r>
          </a:p>
          <a:p>
            <a:r>
              <a:rPr lang="zh-TW" altLang="en-US" sz="1200" dirty="0"/>
              <a:t>普通股權益報酬率</a:t>
            </a:r>
            <a:r>
              <a:rPr lang="en-US" altLang="zh-TW" sz="1200" dirty="0"/>
              <a:t>=</a:t>
            </a:r>
            <a:r>
              <a:rPr lang="zh-TW" altLang="en-US" sz="1200" dirty="0"/>
              <a:t>淨值報酬率</a:t>
            </a:r>
            <a:r>
              <a:rPr lang="en-US" altLang="zh-TW" sz="1200" dirty="0"/>
              <a:t>(ROE)=(</a:t>
            </a:r>
            <a:r>
              <a:rPr lang="zh-TW" altLang="en-US" sz="1200" dirty="0"/>
              <a:t>純利</a:t>
            </a:r>
            <a:r>
              <a:rPr lang="en-US" altLang="zh-TW" sz="1200" dirty="0"/>
              <a:t>-</a:t>
            </a:r>
            <a:r>
              <a:rPr lang="zh-TW" altLang="en-US" sz="1200" dirty="0"/>
              <a:t>特別股股利</a:t>
            </a:r>
            <a:r>
              <a:rPr lang="en-US" altLang="zh-TW" sz="1200" dirty="0"/>
              <a:t>)÷</a:t>
            </a:r>
            <a:r>
              <a:rPr lang="zh-TW" altLang="en-US" sz="1200" dirty="0"/>
              <a:t>平均股東權益總額</a:t>
            </a:r>
          </a:p>
        </p:txBody>
      </p:sp>
    </p:spTree>
    <p:extLst>
      <p:ext uri="{BB962C8B-B14F-4D97-AF65-F5344CB8AC3E}">
        <p14:creationId xmlns:p14="http://schemas.microsoft.com/office/powerpoint/2010/main" val="57411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現今併購概況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zh-TW" altLang="en-US" dirty="0" smtClean="0"/>
              <a:t>政府公布實施「金融機構合併法」，賦予金融機構合併相關法源</a:t>
            </a:r>
            <a:r>
              <a:rPr lang="en-US" altLang="zh-TW" dirty="0" smtClean="0"/>
              <a:t>(89.12.13)</a:t>
            </a:r>
          </a:p>
          <a:p>
            <a:pPr lvl="1"/>
            <a:r>
              <a:rPr lang="zh-TW" altLang="en-US" dirty="0"/>
              <a:t>總統公布「金融控股公司法」，為金融業</a:t>
            </a:r>
            <a:r>
              <a:rPr lang="zh-TW" altLang="en-US" dirty="0" smtClean="0"/>
              <a:t>跨業經營與組織再造提供有利環境</a:t>
            </a:r>
            <a:r>
              <a:rPr lang="en-US" altLang="zh-TW" dirty="0" smtClean="0"/>
              <a:t>(90.7.9)</a:t>
            </a:r>
          </a:p>
          <a:p>
            <a:pPr lvl="1"/>
            <a:r>
              <a:rPr lang="zh-TW" altLang="en-US" dirty="0" smtClean="0"/>
              <a:t>吸引國內銀行推出併購業務的誘因：</a:t>
            </a:r>
            <a:endParaRPr lang="en-US" altLang="zh-TW" dirty="0" smtClean="0"/>
          </a:p>
          <a:p>
            <a:pPr lvl="2"/>
            <a:r>
              <a:rPr lang="zh-TW" altLang="en-US" dirty="0"/>
              <a:t>全球化金融業務的</a:t>
            </a:r>
            <a:r>
              <a:rPr lang="zh-TW" altLang="en-US" dirty="0" smtClean="0"/>
              <a:t>衝擊</a:t>
            </a:r>
            <a:endParaRPr lang="en-US" altLang="zh-TW" dirty="0" smtClean="0"/>
          </a:p>
          <a:p>
            <a:pPr lvl="2"/>
            <a:r>
              <a:rPr lang="zh-TW" altLang="en-US" dirty="0"/>
              <a:t>由大型銀行合併而成的超大型銀行，有利進入全球金融</a:t>
            </a:r>
            <a:r>
              <a:rPr lang="zh-TW" altLang="en-US" dirty="0" smtClean="0"/>
              <a:t>體系</a:t>
            </a:r>
            <a:endParaRPr lang="en-US" altLang="zh-TW" dirty="0" smtClean="0"/>
          </a:p>
          <a:p>
            <a:pPr lvl="2"/>
            <a:r>
              <a:rPr lang="zh-TW" altLang="en-US" dirty="0"/>
              <a:t>藉由策略聯盟方式發揮交叉銷售</a:t>
            </a:r>
            <a:r>
              <a:rPr lang="zh-TW" altLang="en-US" dirty="0" smtClean="0"/>
              <a:t>效果，使雙方兼顧業務成長以及獲利</a:t>
            </a:r>
            <a:endParaRPr lang="en-US" altLang="zh-TW" dirty="0" smtClean="0"/>
          </a:p>
          <a:p>
            <a:pPr lvl="2"/>
            <a:r>
              <a:rPr lang="zh-TW" altLang="en-US" dirty="0"/>
              <a:t>主管機關可根據相關法規利用併購方式解決呆帳過多以及</a:t>
            </a:r>
            <a:r>
              <a:rPr lang="zh-TW" altLang="en-US" dirty="0" smtClean="0"/>
              <a:t>逾期放款問題，以避免本土型金融風暴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679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併購</a:t>
            </a:r>
            <a:endParaRPr lang="en-US" altLang="zh-TW" dirty="0" smtClean="0"/>
          </a:p>
          <a:p>
            <a:pPr lvl="1"/>
            <a:r>
              <a:rPr lang="zh-TW" altLang="en-US" dirty="0"/>
              <a:t>合併</a:t>
            </a:r>
            <a:r>
              <a:rPr lang="en-US" altLang="zh-TW" dirty="0" smtClean="0"/>
              <a:t>(merger)</a:t>
            </a:r>
          </a:p>
          <a:p>
            <a:pPr lvl="2"/>
            <a:r>
              <a:rPr lang="zh-TW" altLang="en-US" dirty="0"/>
              <a:t>吸收</a:t>
            </a:r>
            <a:r>
              <a:rPr lang="zh-TW" altLang="en-US" dirty="0" smtClean="0"/>
              <a:t>合併</a:t>
            </a:r>
            <a:endParaRPr lang="en-US" altLang="zh-TW" dirty="0" smtClean="0"/>
          </a:p>
          <a:p>
            <a:pPr lvl="2"/>
            <a:r>
              <a:rPr lang="zh-TW" altLang="en-US" dirty="0"/>
              <a:t>新設合併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收購</a:t>
            </a:r>
            <a:r>
              <a:rPr lang="en-US" altLang="zh-TW" dirty="0" smtClean="0"/>
              <a:t>(acquisition)</a:t>
            </a:r>
          </a:p>
          <a:p>
            <a:pPr lvl="2"/>
            <a:r>
              <a:rPr lang="zh-TW" altLang="en-US" dirty="0"/>
              <a:t>股權</a:t>
            </a:r>
            <a:r>
              <a:rPr lang="zh-TW" altLang="en-US" dirty="0" smtClean="0"/>
              <a:t>收購</a:t>
            </a:r>
            <a:endParaRPr lang="en-US" altLang="zh-TW" dirty="0" smtClean="0"/>
          </a:p>
          <a:p>
            <a:pPr lvl="2"/>
            <a:r>
              <a:rPr lang="zh-TW" altLang="en-US" dirty="0"/>
              <a:t>資產收購</a:t>
            </a:r>
          </a:p>
        </p:txBody>
      </p:sp>
    </p:spTree>
    <p:extLst>
      <p:ext uri="{BB962C8B-B14F-4D97-AF65-F5344CB8AC3E}">
        <p14:creationId xmlns:p14="http://schemas.microsoft.com/office/powerpoint/2010/main" val="165647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合併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吸收合併（</a:t>
            </a:r>
            <a:r>
              <a:rPr lang="en-US" altLang="zh-TW" dirty="0" smtClean="0"/>
              <a:t>merger</a:t>
            </a:r>
            <a:r>
              <a:rPr lang="zh-TW" altLang="en-US" dirty="0" smtClean="0"/>
              <a:t>）</a:t>
            </a:r>
          </a:p>
          <a:p>
            <a:pPr lvl="2"/>
            <a:r>
              <a:rPr lang="zh-TW" altLang="en-US" dirty="0" smtClean="0"/>
              <a:t>主併公司 </a:t>
            </a:r>
            <a:r>
              <a:rPr lang="en-US" altLang="zh-TW" dirty="0" smtClean="0"/>
              <a:t>(acquiring firm)	→	</a:t>
            </a:r>
            <a:r>
              <a:rPr lang="zh-TW" altLang="en-US" dirty="0" smtClean="0"/>
              <a:t>存續公司</a:t>
            </a:r>
          </a:p>
          <a:p>
            <a:pPr lvl="2"/>
            <a:r>
              <a:rPr lang="zh-TW" altLang="en-US" dirty="0" smtClean="0"/>
              <a:t>被併公司 </a:t>
            </a:r>
            <a:r>
              <a:rPr lang="en-US" altLang="zh-TW" dirty="0" smtClean="0"/>
              <a:t>(acquired firm)	→	</a:t>
            </a:r>
            <a:r>
              <a:rPr lang="zh-TW" altLang="en-US" dirty="0" smtClean="0"/>
              <a:t>消滅公司</a:t>
            </a:r>
          </a:p>
          <a:p>
            <a:pPr lvl="2"/>
            <a:r>
              <a:rPr lang="zh-TW" altLang="en-US" dirty="0" smtClean="0"/>
              <a:t>法律上，存續公司須承擔消滅公司所有的債務與責任</a:t>
            </a:r>
          </a:p>
          <a:p>
            <a:pPr lvl="1"/>
            <a:r>
              <a:rPr lang="zh-TW" altLang="en-US" dirty="0" smtClean="0"/>
              <a:t>新設合併（</a:t>
            </a:r>
            <a:r>
              <a:rPr lang="en-US" altLang="zh-TW" dirty="0" smtClean="0"/>
              <a:t>consolidation</a:t>
            </a:r>
            <a:r>
              <a:rPr lang="zh-TW" altLang="en-US" dirty="0" smtClean="0"/>
              <a:t>）</a:t>
            </a:r>
          </a:p>
          <a:p>
            <a:pPr lvl="2"/>
            <a:r>
              <a:rPr lang="zh-TW" altLang="en-US" dirty="0" smtClean="0"/>
              <a:t>兩家公司同時消滅，成立新公司</a:t>
            </a:r>
          </a:p>
          <a:p>
            <a:pPr lvl="2"/>
            <a:r>
              <a:rPr lang="zh-TW" altLang="en-US" dirty="0" smtClean="0"/>
              <a:t>法律上，新公司承擔消滅公司之所有債務與責任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6999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吸收合併 </a:t>
            </a:r>
            <a:r>
              <a:rPr lang="en-US" altLang="zh-TW" dirty="0" smtClean="0"/>
              <a:t>VS </a:t>
            </a:r>
            <a:r>
              <a:rPr lang="zh-TW" altLang="en-US" dirty="0" smtClean="0"/>
              <a:t>新設合併</a:t>
            </a:r>
            <a:endParaRPr lang="zh-TW" alt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96438" y="2646362"/>
            <a:ext cx="3848100" cy="3622675"/>
            <a:chOff x="288" y="1776"/>
            <a:chExt cx="2424" cy="228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88" y="1776"/>
              <a:ext cx="960" cy="55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甲金融機構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（存續）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88" y="3478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乙金融機構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（消滅）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624" y="2330"/>
              <a:ext cx="1" cy="1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 flipV="1">
              <a:off x="984" y="2330"/>
              <a:ext cx="1248" cy="1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632" y="2736"/>
              <a:ext cx="36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TW" altLang="en-US" sz="2400" i="1">
                  <a:solidFill>
                    <a:srgbClr val="CC3300"/>
                  </a:solidFill>
                  <a:latin typeface="微軟正黑體" pitchFamily="34" charset="-120"/>
                  <a:ea typeface="微軟正黑體" pitchFamily="34" charset="-120"/>
                </a:rPr>
                <a:t>吸收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248" y="206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752" y="1776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甲金融機構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股東</a:t>
              </a: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248" y="379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752" y="3504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乙金融機構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股東</a:t>
              </a: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4854138" y="2646362"/>
            <a:ext cx="3848100" cy="3622675"/>
            <a:chOff x="3096" y="1776"/>
            <a:chExt cx="2424" cy="2282"/>
          </a:xfrm>
        </p:grpSpPr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5160" y="23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4464" y="3024"/>
              <a:ext cx="36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TW" altLang="en-US" sz="2400" i="1">
                  <a:solidFill>
                    <a:srgbClr val="CC3300"/>
                  </a:solidFill>
                  <a:latin typeface="微軟正黑體" pitchFamily="34" charset="-120"/>
                  <a:ea typeface="微軟正黑體" pitchFamily="34" charset="-120"/>
                </a:rPr>
                <a:t>吸收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056" y="206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560" y="1776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甲金融機構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股東</a:t>
              </a: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056" y="379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4560" y="3504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乙金融機構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股東</a:t>
              </a: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096" y="2592"/>
              <a:ext cx="960" cy="55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丙金融機構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（新設）</a:t>
              </a: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V="1">
              <a:off x="3576" y="31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576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096" y="3478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乙金融機構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（消滅）</a:t>
              </a: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096" y="1776"/>
              <a:ext cx="960" cy="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甲金融機構</a:t>
              </a:r>
            </a:p>
            <a:p>
              <a:pPr algn="ctr"/>
              <a:r>
                <a:rPr lang="zh-TW" altLang="en-US">
                  <a:latin typeface="微軟正黑體" pitchFamily="34" charset="-120"/>
                  <a:ea typeface="微軟正黑體" pitchFamily="34" charset="-120"/>
                </a:rPr>
                <a:t>（消滅）</a:t>
              </a: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5160" y="297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4056" y="273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4056" y="297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4512" y="2496"/>
              <a:ext cx="36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TW" altLang="en-US" sz="2400" i="1">
                  <a:solidFill>
                    <a:srgbClr val="CC3300"/>
                  </a:solidFill>
                  <a:latin typeface="微軟正黑體" pitchFamily="34" charset="-120"/>
                  <a:ea typeface="微軟正黑體" pitchFamily="34" charset="-120"/>
                </a:rPr>
                <a:t>吸收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290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收購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股權收購（</a:t>
            </a:r>
            <a:r>
              <a:rPr lang="en-US" altLang="zh-TW" dirty="0" smtClean="0"/>
              <a:t>stock</a:t>
            </a:r>
            <a:r>
              <a:rPr lang="zh-TW" altLang="en-US" dirty="0" smtClean="0"/>
              <a:t> </a:t>
            </a:r>
            <a:r>
              <a:rPr lang="en-US" altLang="zh-TW" dirty="0" smtClean="0"/>
              <a:t>purchase</a:t>
            </a:r>
            <a:r>
              <a:rPr lang="zh-TW" altLang="en-US" dirty="0" smtClean="0"/>
              <a:t>）</a:t>
            </a:r>
          </a:p>
          <a:p>
            <a:pPr lvl="2"/>
            <a:r>
              <a:rPr lang="zh-TW" altLang="en-US" dirty="0" smtClean="0"/>
              <a:t>成為該企業之股東，承受權利與義務</a:t>
            </a:r>
          </a:p>
          <a:p>
            <a:pPr lvl="1"/>
            <a:r>
              <a:rPr lang="zh-TW" altLang="en-US" dirty="0" smtClean="0"/>
              <a:t>資產收購（</a:t>
            </a:r>
            <a:r>
              <a:rPr lang="en-US" altLang="zh-TW" dirty="0" smtClean="0"/>
              <a:t>asset</a:t>
            </a:r>
            <a:r>
              <a:rPr lang="zh-TW" altLang="en-US" dirty="0" smtClean="0"/>
              <a:t> </a:t>
            </a:r>
            <a:r>
              <a:rPr lang="en-US" altLang="zh-TW" dirty="0" smtClean="0"/>
              <a:t>purchase</a:t>
            </a:r>
            <a:r>
              <a:rPr lang="zh-TW" altLang="en-US" dirty="0" smtClean="0"/>
              <a:t>）</a:t>
            </a:r>
          </a:p>
          <a:p>
            <a:pPr lvl="2"/>
            <a:r>
              <a:rPr lang="zh-TW" altLang="en-US" dirty="0" smtClean="0"/>
              <a:t>只購買部份資產，並不承受債務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243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併購型態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水平式</a:t>
            </a:r>
          </a:p>
          <a:p>
            <a:pPr lvl="2"/>
            <a:r>
              <a:rPr lang="zh-TW" altLang="en-US" dirty="0" smtClean="0"/>
              <a:t>同產業中，兩家從事相同業務的公司之合併</a:t>
            </a:r>
          </a:p>
          <a:p>
            <a:pPr lvl="3"/>
            <a:r>
              <a:rPr lang="zh-TW" altLang="en-US" dirty="0" smtClean="0"/>
              <a:t>經濟規模、增加市佔率，壟斷市場</a:t>
            </a:r>
          </a:p>
          <a:p>
            <a:pPr lvl="1"/>
            <a:r>
              <a:rPr lang="zh-TW" altLang="en-US" dirty="0" smtClean="0"/>
              <a:t>垂直式</a:t>
            </a:r>
          </a:p>
          <a:p>
            <a:pPr lvl="2"/>
            <a:r>
              <a:rPr lang="zh-TW" altLang="en-US" dirty="0" smtClean="0"/>
              <a:t>同產業中上、下游之間的合併</a:t>
            </a:r>
          </a:p>
          <a:p>
            <a:pPr lvl="2"/>
            <a:r>
              <a:rPr lang="zh-TW" altLang="en-US" dirty="0" smtClean="0"/>
              <a:t>向前整合：下併上 → 獲得穩定、便宜原料</a:t>
            </a:r>
          </a:p>
          <a:p>
            <a:pPr lvl="2"/>
            <a:r>
              <a:rPr lang="zh-TW" altLang="en-US" dirty="0" smtClean="0"/>
              <a:t>向後整合：上併下 → 取得固定銷售管道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1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併購基本概念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同源式</a:t>
            </a:r>
          </a:p>
          <a:p>
            <a:pPr lvl="1"/>
            <a:r>
              <a:rPr lang="zh-TW" altLang="en-US" dirty="0" smtClean="0"/>
              <a:t>同產業中兩家業務性質不同且沒有業務往來之公司</a:t>
            </a:r>
          </a:p>
          <a:p>
            <a:pPr lvl="1"/>
            <a:r>
              <a:rPr lang="zh-TW" altLang="en-US" dirty="0" smtClean="0"/>
              <a:t>為追求某領域的全面領導，取得新利潤的最好途徑</a:t>
            </a:r>
          </a:p>
          <a:p>
            <a:r>
              <a:rPr lang="zh-TW" altLang="en-US" dirty="0" smtClean="0"/>
              <a:t>複合式</a:t>
            </a:r>
          </a:p>
          <a:p>
            <a:pPr lvl="1"/>
            <a:r>
              <a:rPr lang="zh-TW" altLang="en-US" dirty="0" smtClean="0"/>
              <a:t>兩家不同產業的公司，沒有業務上的往來</a:t>
            </a:r>
          </a:p>
          <a:p>
            <a:pPr lvl="1"/>
            <a:r>
              <a:rPr lang="zh-TW" altLang="en-US" dirty="0" smtClean="0"/>
              <a:t>風險最高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956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併購基本概念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併購</a:t>
            </a:r>
            <a:r>
              <a:rPr lang="zh-TW" altLang="en-US" dirty="0" smtClean="0"/>
              <a:t>動機</a:t>
            </a:r>
            <a:endParaRPr lang="en-US" altLang="zh-TW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971599" y="3923764"/>
            <a:ext cx="122413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 smtClean="0"/>
              <a:t>併購動機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843807" y="3059668"/>
            <a:ext cx="1800493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財富極大化動機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612974" y="4931876"/>
            <a:ext cx="226215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mtClean="0"/>
              <a:t>財富極大化以外動機</a:t>
            </a:r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952361" y="2126478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強化市場競爭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940151" y="3244334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節省營運成本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950227" y="2690336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降低營運風險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952361" y="3774123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強化組織管理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5966922" y="4562544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獲取高額薪資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867242" y="5129967"/>
            <a:ext cx="1800493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提高權力、聲譽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389840" y="5683314"/>
            <a:ext cx="2723823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降低職位異動、失業風險</a:t>
            </a:r>
            <a:endParaRPr lang="zh-TW" altLang="en-US" dirty="0"/>
          </a:p>
        </p:txBody>
      </p:sp>
      <p:cxnSp>
        <p:nvCxnSpPr>
          <p:cNvPr id="18" name="直線接點 17"/>
          <p:cNvCxnSpPr/>
          <p:nvPr/>
        </p:nvCxnSpPr>
        <p:spPr>
          <a:xfrm>
            <a:off x="2411759" y="3244334"/>
            <a:ext cx="0" cy="1885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4" idx="3"/>
          </p:cNvCxnSpPr>
          <p:nvPr/>
        </p:nvCxnSpPr>
        <p:spPr>
          <a:xfrm>
            <a:off x="2195735" y="4108430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8" idx="1"/>
          </p:cNvCxnSpPr>
          <p:nvPr/>
        </p:nvCxnSpPr>
        <p:spPr>
          <a:xfrm>
            <a:off x="2411759" y="324433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endCxn id="9" idx="1"/>
          </p:cNvCxnSpPr>
          <p:nvPr/>
        </p:nvCxnSpPr>
        <p:spPr>
          <a:xfrm flipV="1">
            <a:off x="2411759" y="5116542"/>
            <a:ext cx="201215" cy="13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8" idx="3"/>
          </p:cNvCxnSpPr>
          <p:nvPr/>
        </p:nvCxnSpPr>
        <p:spPr>
          <a:xfrm>
            <a:off x="4644300" y="3244334"/>
            <a:ext cx="7455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5389840" y="2308230"/>
            <a:ext cx="0" cy="1615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5389840" y="2308230"/>
            <a:ext cx="5503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5389840" y="2875002"/>
            <a:ext cx="5625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5389840" y="3429000"/>
            <a:ext cx="5625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13" idx="1"/>
          </p:cNvCxnSpPr>
          <p:nvPr/>
        </p:nvCxnSpPr>
        <p:spPr>
          <a:xfrm>
            <a:off x="5389840" y="3958789"/>
            <a:ext cx="5625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9" idx="3"/>
          </p:cNvCxnSpPr>
          <p:nvPr/>
        </p:nvCxnSpPr>
        <p:spPr>
          <a:xfrm>
            <a:off x="4875132" y="5116542"/>
            <a:ext cx="2729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148063" y="4747210"/>
            <a:ext cx="0" cy="1120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endCxn id="14" idx="1"/>
          </p:cNvCxnSpPr>
          <p:nvPr/>
        </p:nvCxnSpPr>
        <p:spPr>
          <a:xfrm>
            <a:off x="5148063" y="4747210"/>
            <a:ext cx="81885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endCxn id="15" idx="1"/>
          </p:cNvCxnSpPr>
          <p:nvPr/>
        </p:nvCxnSpPr>
        <p:spPr>
          <a:xfrm>
            <a:off x="5148063" y="5314633"/>
            <a:ext cx="71917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endCxn id="16" idx="1"/>
          </p:cNvCxnSpPr>
          <p:nvPr/>
        </p:nvCxnSpPr>
        <p:spPr>
          <a:xfrm>
            <a:off x="5148063" y="5867980"/>
            <a:ext cx="24177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79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併購基本概念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財富極大化動機</a:t>
            </a:r>
            <a:endParaRPr lang="en-US" altLang="zh-TW" dirty="0" smtClean="0"/>
          </a:p>
          <a:p>
            <a:pPr lvl="1"/>
            <a:r>
              <a:rPr lang="zh-TW" altLang="en-US" dirty="0"/>
              <a:t>訊息假說</a:t>
            </a:r>
          </a:p>
          <a:p>
            <a:pPr lvl="1"/>
            <a:r>
              <a:rPr lang="zh-TW" altLang="en-US" dirty="0"/>
              <a:t>市場力量假說</a:t>
            </a:r>
          </a:p>
          <a:p>
            <a:pPr lvl="1"/>
            <a:r>
              <a:rPr lang="zh-TW" altLang="en-US" dirty="0"/>
              <a:t>綜效假說</a:t>
            </a:r>
          </a:p>
          <a:p>
            <a:pPr lvl="1"/>
            <a:r>
              <a:rPr lang="zh-TW" altLang="en-US" dirty="0"/>
              <a:t>租稅</a:t>
            </a:r>
            <a:r>
              <a:rPr lang="zh-TW" altLang="en-US" dirty="0" smtClean="0"/>
              <a:t>假說 </a:t>
            </a:r>
            <a:r>
              <a:rPr lang="en-US" altLang="zh-TW" dirty="0" smtClean="0"/>
              <a:t>(</a:t>
            </a:r>
            <a:r>
              <a:rPr lang="zh-TW" altLang="en-US" dirty="0" smtClean="0"/>
              <a:t>前提為一家虧損，一家有盈餘</a:t>
            </a:r>
            <a:r>
              <a:rPr lang="en-US" altLang="zh-TW" dirty="0" smtClean="0"/>
              <a:t>)</a:t>
            </a:r>
          </a:p>
          <a:p>
            <a:r>
              <a:rPr lang="zh-TW" altLang="en-US" dirty="0"/>
              <a:t>非財富極大化</a:t>
            </a:r>
            <a:r>
              <a:rPr lang="zh-TW" altLang="en-US" dirty="0" smtClean="0"/>
              <a:t>動機</a:t>
            </a:r>
            <a:endParaRPr lang="en-US" altLang="zh-TW" dirty="0" smtClean="0"/>
          </a:p>
          <a:p>
            <a:pPr lvl="1"/>
            <a:r>
              <a:rPr lang="zh-TW" altLang="en-US" dirty="0"/>
              <a:t>管理者效用極大化</a:t>
            </a:r>
            <a:r>
              <a:rPr lang="zh-TW" altLang="en-US" dirty="0" smtClean="0"/>
              <a:t>假說 </a:t>
            </a:r>
            <a:r>
              <a:rPr lang="en-US" altLang="zh-TW" dirty="0" smtClean="0"/>
              <a:t>(agency problem)</a:t>
            </a:r>
          </a:p>
          <a:p>
            <a:pPr lvl="1"/>
            <a:r>
              <a:rPr lang="zh-TW" altLang="en-US" dirty="0"/>
              <a:t>傲慢心態</a:t>
            </a:r>
            <a:r>
              <a:rPr lang="zh-TW" altLang="en-US" dirty="0" smtClean="0"/>
              <a:t>假說 </a:t>
            </a:r>
            <a:r>
              <a:rPr lang="en-US" altLang="zh-TW" dirty="0" smtClean="0"/>
              <a:t>(the winner’s curse)</a:t>
            </a:r>
          </a:p>
        </p:txBody>
      </p:sp>
    </p:spTree>
    <p:extLst>
      <p:ext uri="{BB962C8B-B14F-4D97-AF65-F5344CB8AC3E}">
        <p14:creationId xmlns:p14="http://schemas.microsoft.com/office/powerpoint/2010/main" val="415275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691680" y="2708920"/>
            <a:ext cx="5688632" cy="35283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併購的運作流程與考量因素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完善的併購計畫，便能在執行與整合階段有效掌握可能面對的問題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491880" y="3068960"/>
            <a:ext cx="1800493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併購對象的選擇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61047" y="3829690"/>
            <a:ext cx="226215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/>
              <a:t>價值評估與會計處理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3607296" y="4581128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雙方進行協商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607296" y="5373216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併購後的整合</a:t>
            </a:r>
            <a:endParaRPr lang="zh-TW" altLang="en-US" dirty="0"/>
          </a:p>
        </p:txBody>
      </p:sp>
      <p:cxnSp>
        <p:nvCxnSpPr>
          <p:cNvPr id="9" name="直線單箭頭接點 8"/>
          <p:cNvCxnSpPr>
            <a:stCxn id="4" idx="2"/>
            <a:endCxn id="5" idx="0"/>
          </p:cNvCxnSpPr>
          <p:nvPr/>
        </p:nvCxnSpPr>
        <p:spPr>
          <a:xfrm flipH="1">
            <a:off x="4392126" y="3438292"/>
            <a:ext cx="1" cy="3913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  <a:endCxn id="6" idx="0"/>
          </p:cNvCxnSpPr>
          <p:nvPr/>
        </p:nvCxnSpPr>
        <p:spPr>
          <a:xfrm>
            <a:off x="4392126" y="4199022"/>
            <a:ext cx="0" cy="3821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6" idx="2"/>
            <a:endCxn id="7" idx="0"/>
          </p:cNvCxnSpPr>
          <p:nvPr/>
        </p:nvCxnSpPr>
        <p:spPr>
          <a:xfrm>
            <a:off x="4392126" y="4950460"/>
            <a:ext cx="0" cy="4227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55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併購對象的選擇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策略目標</a:t>
            </a:r>
            <a:endParaRPr lang="en-US" altLang="zh-TW" dirty="0" smtClean="0"/>
          </a:p>
          <a:p>
            <a:pPr lvl="2"/>
            <a:r>
              <a:rPr lang="zh-TW" altLang="en-US" dirty="0"/>
              <a:t>相同</a:t>
            </a:r>
            <a:r>
              <a:rPr lang="zh-TW" altLang="en-US" dirty="0" smtClean="0"/>
              <a:t>文化、廣大行銷據點、互補性業務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財務目標</a:t>
            </a:r>
            <a:endParaRPr lang="en-US" altLang="zh-TW" dirty="0" smtClean="0"/>
          </a:p>
          <a:p>
            <a:pPr lvl="2"/>
            <a:r>
              <a:rPr lang="zh-TW" altLang="en-US" dirty="0"/>
              <a:t>資產規模、獲利狀況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營運目標</a:t>
            </a:r>
            <a:endParaRPr lang="en-US" altLang="zh-TW" dirty="0" smtClean="0"/>
          </a:p>
          <a:p>
            <a:pPr lvl="2"/>
            <a:r>
              <a:rPr lang="zh-TW" altLang="en-US" dirty="0"/>
              <a:t>利於整合、組織管理相似、潛在綜效高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851092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價值評估與會計處理</a:t>
            </a:r>
            <a:endParaRPr lang="en-US" altLang="zh-TW" dirty="0" smtClean="0"/>
          </a:p>
          <a:p>
            <a:pPr lvl="1"/>
            <a:r>
              <a:rPr lang="zh-TW" altLang="en-US" dirty="0"/>
              <a:t>價值</a:t>
            </a:r>
            <a:r>
              <a:rPr lang="zh-TW" altLang="en-US" dirty="0" smtClean="0"/>
              <a:t>評估：</a:t>
            </a:r>
            <a:endParaRPr lang="en-US" altLang="zh-TW" dirty="0" smtClean="0"/>
          </a:p>
          <a:p>
            <a:pPr lvl="2"/>
            <a:r>
              <a:rPr lang="zh-TW" altLang="en-US" dirty="0"/>
              <a:t>帳面價值修正</a:t>
            </a:r>
            <a:r>
              <a:rPr lang="zh-TW" altLang="en-US" dirty="0" smtClean="0"/>
              <a:t>法</a:t>
            </a:r>
            <a:endParaRPr lang="en-US" altLang="zh-TW" dirty="0" smtClean="0"/>
          </a:p>
          <a:p>
            <a:pPr lvl="3"/>
            <a:r>
              <a:rPr lang="zh-TW" altLang="en-US" dirty="0"/>
              <a:t>以會計基礎的評價模式，將標的公司之資產帳面價值予以適當調整，讓該公司於被併購時能反映其市場公平價值，以作為併購支付價金的參考</a:t>
            </a:r>
          </a:p>
          <a:p>
            <a:pPr lvl="2"/>
            <a:r>
              <a:rPr lang="zh-TW" altLang="en-US" dirty="0"/>
              <a:t>市場價值參考</a:t>
            </a:r>
            <a:r>
              <a:rPr lang="zh-TW" altLang="en-US" dirty="0" smtClean="0"/>
              <a:t>法</a:t>
            </a:r>
            <a:endParaRPr lang="en-US" altLang="zh-TW" dirty="0" smtClean="0"/>
          </a:p>
          <a:p>
            <a:pPr lvl="3"/>
            <a:r>
              <a:rPr lang="zh-TW" altLang="en-US" dirty="0"/>
              <a:t>以市場上性質相近的被併公司，參考比較方式計算出併購價格</a:t>
            </a:r>
          </a:p>
          <a:p>
            <a:pPr lvl="2"/>
            <a:r>
              <a:rPr lang="zh-TW" altLang="en-US" dirty="0"/>
              <a:t>現金流量折現</a:t>
            </a:r>
            <a:r>
              <a:rPr lang="zh-TW" altLang="en-US" dirty="0" smtClean="0"/>
              <a:t>法</a:t>
            </a:r>
            <a:endParaRPr lang="en-US" altLang="zh-TW" dirty="0" smtClean="0"/>
          </a:p>
          <a:p>
            <a:pPr lvl="3"/>
            <a:r>
              <a:rPr lang="zh-TW" altLang="en-US" dirty="0"/>
              <a:t>考慮合併後產生的綜效，推估未來現金流入方式， 折現至目前</a:t>
            </a:r>
            <a:r>
              <a:rPr lang="zh-TW" altLang="en-US" dirty="0" smtClean="0"/>
              <a:t>價值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78901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6"/>
            <a:ext cx="6233707" cy="507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967" y="6181725"/>
            <a:ext cx="81883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34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會計處理：</a:t>
            </a:r>
          </a:p>
          <a:p>
            <a:pPr lvl="2"/>
            <a:r>
              <a:rPr lang="zh-TW" altLang="en-US" dirty="0"/>
              <a:t>權益結合法</a:t>
            </a:r>
            <a:endParaRPr lang="en-US" altLang="zh-TW" dirty="0" smtClean="0"/>
          </a:p>
          <a:p>
            <a:pPr lvl="3">
              <a:lnSpc>
                <a:spcPct val="130000"/>
              </a:lnSpc>
            </a:pPr>
            <a:r>
              <a:rPr lang="zh-TW" altLang="en-US" sz="1700" dirty="0" smtClean="0"/>
              <a:t>甲</a:t>
            </a:r>
            <a:r>
              <a:rPr lang="zh-TW" altLang="en-US" sz="1700" dirty="0"/>
              <a:t>公司發行股票換取乙公司之股票、資產，故併購後兩公司之股東仍繼續存在並沒有換人</a:t>
            </a:r>
          </a:p>
          <a:p>
            <a:pPr lvl="3">
              <a:lnSpc>
                <a:spcPct val="130000"/>
              </a:lnSpc>
            </a:pPr>
            <a:r>
              <a:rPr lang="zh-TW" altLang="en-US" sz="1700" dirty="0"/>
              <a:t>直接加總合併雙方之資產負債帳面價值，並不調整任何</a:t>
            </a:r>
            <a:r>
              <a:rPr lang="zh-TW" altLang="en-US" sz="1700" dirty="0" smtClean="0"/>
              <a:t>項目</a:t>
            </a:r>
            <a:endParaRPr lang="zh-TW" altLang="en-US" dirty="0"/>
          </a:p>
          <a:p>
            <a:pPr lvl="2"/>
            <a:r>
              <a:rPr lang="zh-TW" altLang="en-US" dirty="0"/>
              <a:t>購買法</a:t>
            </a:r>
            <a:endParaRPr lang="en-US" altLang="zh-TW" dirty="0" smtClean="0"/>
          </a:p>
          <a:p>
            <a:pPr lvl="3">
              <a:lnSpc>
                <a:spcPct val="130000"/>
              </a:lnSpc>
            </a:pPr>
            <a:r>
              <a:rPr lang="zh-TW" altLang="en-US" sz="1700" dirty="0" smtClean="0"/>
              <a:t>以</a:t>
            </a:r>
            <a:r>
              <a:rPr lang="zh-TW" altLang="en-US" sz="1700" dirty="0"/>
              <a:t>現金或股票以外的方式併購</a:t>
            </a:r>
          </a:p>
          <a:p>
            <a:pPr lvl="3">
              <a:lnSpc>
                <a:spcPct val="130000"/>
              </a:lnSpc>
            </a:pPr>
            <a:r>
              <a:rPr lang="zh-TW" altLang="en-US" sz="1700" dirty="0"/>
              <a:t>將收購價格與被併者帳面價值相減列為商譽，在未來年度漸次攤</a:t>
            </a:r>
            <a:r>
              <a:rPr lang="zh-TW" altLang="en-US" sz="1700" dirty="0" smtClean="0"/>
              <a:t>銷</a:t>
            </a:r>
            <a:endParaRPr lang="en-US" altLang="zh-TW" sz="1700" dirty="0" smtClean="0"/>
          </a:p>
          <a:p>
            <a:pPr lvl="3">
              <a:lnSpc>
                <a:spcPct val="130000"/>
              </a:lnSpc>
            </a:pPr>
            <a:r>
              <a:rPr lang="en-US" altLang="zh-TW" sz="1700" dirty="0" smtClean="0"/>
              <a:t>95</a:t>
            </a:r>
            <a:r>
              <a:rPr lang="zh-TW" altLang="en-US" sz="1700" dirty="0" smtClean="0"/>
              <a:t>年第</a:t>
            </a:r>
            <a:r>
              <a:rPr lang="en-US" altLang="zh-TW" sz="1700" dirty="0" smtClean="0"/>
              <a:t>37</a:t>
            </a:r>
            <a:r>
              <a:rPr lang="zh-TW" altLang="en-US" sz="1700" dirty="0" smtClean="0"/>
              <a:t>號會計公報：商譽將不再採用攤銷方式</a:t>
            </a:r>
            <a:r>
              <a:rPr lang="zh-TW" altLang="en-US" sz="1700" dirty="0"/>
              <a:t>，而採用資產減損的方式進行</a:t>
            </a:r>
            <a:r>
              <a:rPr lang="zh-TW" altLang="en-US" sz="1700" dirty="0" smtClean="0"/>
              <a:t>處理</a:t>
            </a:r>
            <a:endParaRPr lang="zh-TW" altLang="en-US" sz="1700" dirty="0"/>
          </a:p>
          <a:p>
            <a:pPr lvl="3"/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02505" y="5657671"/>
            <a:ext cx="70567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/>
              <a:t>此二法並非自由選擇，須依交易實質而定。依據會計研究發展基金會</a:t>
            </a:r>
            <a:r>
              <a:rPr lang="en-US" altLang="zh-TW" dirty="0"/>
              <a:t>85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</a:t>
            </a:r>
            <a:r>
              <a:rPr lang="en-US" altLang="zh-TW" dirty="0"/>
              <a:t>18</a:t>
            </a:r>
            <a:r>
              <a:rPr lang="zh-TW" altLang="en-US" dirty="0"/>
              <a:t>日（</a:t>
            </a:r>
            <a:r>
              <a:rPr lang="en-US" altLang="zh-TW" dirty="0"/>
              <a:t>85</a:t>
            </a:r>
            <a:r>
              <a:rPr lang="zh-TW" altLang="en-US" dirty="0"/>
              <a:t>）基秘字第</a:t>
            </a:r>
            <a:r>
              <a:rPr lang="en-US" altLang="zh-TW" dirty="0"/>
              <a:t>220</a:t>
            </a:r>
            <a:r>
              <a:rPr lang="zh-TW" altLang="en-US" dirty="0"/>
              <a:t>號、</a:t>
            </a:r>
            <a:r>
              <a:rPr lang="en-US" altLang="zh-TW" dirty="0"/>
              <a:t>221</a:t>
            </a:r>
            <a:r>
              <a:rPr lang="zh-TW" altLang="en-US" dirty="0"/>
              <a:t>號解釋函規定，當企業符合特定之十二項條件時，即必須採用「權益結合法」，否則即須依據財務會計準則公報第</a:t>
            </a:r>
            <a:r>
              <a:rPr lang="en-US" altLang="zh-TW" dirty="0"/>
              <a:t>25</a:t>
            </a:r>
            <a:r>
              <a:rPr lang="zh-TW" altLang="en-US" dirty="0"/>
              <a:t>號之規定採用「購買法」。</a:t>
            </a:r>
          </a:p>
        </p:txBody>
      </p:sp>
    </p:spTree>
    <p:extLst>
      <p:ext uri="{BB962C8B-B14F-4D97-AF65-F5344CB8AC3E}">
        <p14:creationId xmlns:p14="http://schemas.microsoft.com/office/powerpoint/2010/main" val="357047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0648"/>
            <a:ext cx="7560840" cy="6295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29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8640"/>
            <a:ext cx="7632848" cy="591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77" y="6121432"/>
            <a:ext cx="8380599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92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70" y="1950180"/>
            <a:ext cx="744784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5724128" y="6316314"/>
            <a:ext cx="2478820" cy="369332"/>
          </a:xfrm>
          <a:prstGeom prst="rect">
            <a:avLst/>
          </a:prstGeo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購買法  </a:t>
            </a:r>
            <a:r>
              <a:rPr lang="en-US" altLang="zh-TW" dirty="0" smtClean="0"/>
              <a:t>VS  </a:t>
            </a:r>
            <a:r>
              <a:rPr lang="zh-TW" altLang="en-US" dirty="0" smtClean="0"/>
              <a:t>權益結合法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5037578" y="1083888"/>
            <a:ext cx="3851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商譽在每年財報年度，經減損測試後計算出減損價值，並提列為減損損失納入損益表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970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73" y="1600200"/>
            <a:ext cx="803425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0426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美國取消「權益結合法</a:t>
            </a:r>
            <a:r>
              <a:rPr lang="zh-TW" altLang="en-US" dirty="0" smtClean="0"/>
              <a:t>」</a:t>
            </a:r>
            <a:endParaRPr lang="en-US" altLang="zh-TW" dirty="0" smtClean="0"/>
          </a:p>
          <a:p>
            <a:pPr lvl="1"/>
            <a:r>
              <a:rPr lang="zh-TW" altLang="en-US" dirty="0"/>
              <a:t>「美國財務會計委員會 </a:t>
            </a:r>
            <a:r>
              <a:rPr lang="en-US" altLang="zh-TW" dirty="0"/>
              <a:t>(FASB)</a:t>
            </a:r>
            <a:r>
              <a:rPr lang="zh-TW" altLang="en-US" dirty="0"/>
              <a:t>」</a:t>
            </a:r>
            <a:r>
              <a:rPr lang="en-US" altLang="zh-TW" dirty="0"/>
              <a:t>1999 </a:t>
            </a:r>
            <a:r>
              <a:rPr lang="zh-TW" altLang="en-US" dirty="0"/>
              <a:t>年 </a:t>
            </a:r>
            <a:r>
              <a:rPr lang="en-US" altLang="zh-TW" dirty="0"/>
              <a:t>8 </a:t>
            </a:r>
            <a:r>
              <a:rPr lang="zh-TW" altLang="en-US" dirty="0"/>
              <a:t>月底取消「權益結合法」</a:t>
            </a:r>
            <a:r>
              <a:rPr lang="en-US" altLang="zh-TW" dirty="0"/>
              <a:t>(2001 </a:t>
            </a:r>
            <a:r>
              <a:rPr lang="zh-TW" altLang="en-US" dirty="0"/>
              <a:t>年 </a:t>
            </a:r>
            <a:r>
              <a:rPr lang="en-US" altLang="zh-TW" dirty="0"/>
              <a:t>6 </a:t>
            </a:r>
            <a:r>
              <a:rPr lang="zh-TW" altLang="en-US" dirty="0"/>
              <a:t>月生效</a:t>
            </a:r>
            <a:r>
              <a:rPr lang="en-US" altLang="zh-TW" dirty="0"/>
              <a:t>) </a:t>
            </a:r>
            <a:r>
              <a:rPr lang="zh-TW" altLang="en-US" dirty="0"/>
              <a:t>的原因可歸納如下：</a:t>
            </a:r>
          </a:p>
          <a:p>
            <a:pPr lvl="2"/>
            <a:r>
              <a:rPr lang="zh-TW" altLang="en-US" dirty="0"/>
              <a:t>「權益結合法」所提供的資訊要比「購買法」少。</a:t>
            </a:r>
          </a:p>
          <a:p>
            <a:pPr lvl="2"/>
            <a:r>
              <a:rPr lang="zh-TW" altLang="en-US" dirty="0"/>
              <a:t>「權益結合法」並未表達購併案的交易價值，投資人較難追蹤主併公司在購併後的表現。</a:t>
            </a:r>
          </a:p>
          <a:p>
            <a:pPr lvl="2"/>
            <a:r>
              <a:rPr lang="zh-TW" altLang="en-US" dirty="0"/>
              <a:t>兩種會計方法並存，投資人難以比較採用不同方法的購併企業。</a:t>
            </a:r>
          </a:p>
          <a:p>
            <a:pPr lvl="2"/>
            <a:r>
              <a:rPr lang="zh-TW" altLang="en-US" dirty="0"/>
              <a:t>不同的會計方法並不影響主併公司的現金流量，但採用「權益結合法」通常會具有較高的盈餘，並不代表實質經濟差異，而僅是人為的會計差異。</a:t>
            </a:r>
          </a:p>
          <a:p>
            <a:pPr lvl="2"/>
            <a:r>
              <a:rPr lang="zh-TW" altLang="en-US" dirty="0"/>
              <a:t>不論付款方式是現金、資產、負債或權益，購併所應表達的應為實際交換價值，故應採用「購買法」。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4378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雙方進行面對面</a:t>
            </a:r>
            <a:r>
              <a:rPr lang="zh-TW" altLang="en-US" dirty="0" smtClean="0"/>
              <a:t>協商</a:t>
            </a:r>
            <a:endParaRPr lang="en-US" altLang="zh-TW" dirty="0" smtClean="0"/>
          </a:p>
          <a:p>
            <a:pPr lvl="1"/>
            <a:r>
              <a:rPr lang="zh-TW" altLang="en-US" dirty="0"/>
              <a:t>確定對象、評估對象之後，雙方進入談判階段</a:t>
            </a:r>
          </a:p>
          <a:p>
            <a:pPr lvl="1"/>
            <a:r>
              <a:rPr lang="zh-TW" altLang="en-US" dirty="0"/>
              <a:t>協商時建議多重管道</a:t>
            </a:r>
          </a:p>
          <a:p>
            <a:pPr lvl="2"/>
            <a:r>
              <a:rPr lang="zh-TW" altLang="en-US" dirty="0"/>
              <a:t>事情同時進行，增加效率</a:t>
            </a:r>
          </a:p>
          <a:p>
            <a:pPr lvl="2"/>
            <a:r>
              <a:rPr lang="zh-TW" altLang="en-US" dirty="0"/>
              <a:t>可利用律師、投資銀行家的強硬立場，避免破壞彼此關係</a:t>
            </a: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0378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併購的運作流程與考量因素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併購後的</a:t>
            </a:r>
            <a:r>
              <a:rPr lang="zh-TW" altLang="en-US" dirty="0" smtClean="0"/>
              <a:t>整合</a:t>
            </a:r>
            <a:endParaRPr lang="en-US" altLang="zh-TW" dirty="0" smtClean="0"/>
          </a:p>
          <a:p>
            <a:pPr lvl="1"/>
            <a:r>
              <a:rPr lang="zh-TW" altLang="en-US" dirty="0"/>
              <a:t>最終目標：</a:t>
            </a:r>
          </a:p>
          <a:p>
            <a:pPr lvl="2"/>
            <a:r>
              <a:rPr lang="zh-TW" altLang="en-US" dirty="0"/>
              <a:t>創造公司及股東價值</a:t>
            </a:r>
          </a:p>
          <a:p>
            <a:pPr lvl="1"/>
            <a:r>
              <a:rPr lang="zh-TW" altLang="en-US" dirty="0"/>
              <a:t>併購過程之注意事項：</a:t>
            </a:r>
          </a:p>
          <a:p>
            <a:pPr lvl="2"/>
            <a:r>
              <a:rPr lang="zh-TW" altLang="en-US" dirty="0"/>
              <a:t>應尊重對方的企業文化、體制</a:t>
            </a:r>
          </a:p>
          <a:p>
            <a:pPr lvl="2"/>
            <a:r>
              <a:rPr lang="zh-TW" altLang="en-US" dirty="0"/>
              <a:t>加強各管道的溝通、宣傳，確保不偏離目標</a:t>
            </a:r>
          </a:p>
          <a:p>
            <a:pPr lvl="2"/>
            <a:r>
              <a:rPr lang="zh-TW" altLang="en-US" dirty="0"/>
              <a:t>應規劃人力資源整合之工作</a:t>
            </a:r>
          </a:p>
          <a:p>
            <a:pPr lvl="2"/>
            <a:r>
              <a:rPr lang="zh-TW" altLang="en-US" dirty="0"/>
              <a:t>雙方業務範圍、營運目標應整合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7089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本書以一般公司組織和金融機構合併的法律問題為討論</a:t>
            </a:r>
            <a:r>
              <a:rPr lang="zh-TW" altLang="en-US" dirty="0" smtClean="0"/>
              <a:t>範圍</a:t>
            </a:r>
            <a:endParaRPr lang="en-US" altLang="zh-TW" dirty="0" smtClean="0"/>
          </a:p>
          <a:p>
            <a:endParaRPr lang="zh-TW" altLang="en-US" dirty="0"/>
          </a:p>
          <a:p>
            <a:pPr lvl="1"/>
            <a:r>
              <a:rPr lang="zh-TW" altLang="en-US" dirty="0"/>
              <a:t>公司法 </a:t>
            </a:r>
            <a:r>
              <a:rPr lang="en-US" altLang="zh-TW" dirty="0"/>
              <a:t>(</a:t>
            </a:r>
            <a:r>
              <a:rPr lang="zh-TW" altLang="en-US" dirty="0"/>
              <a:t>民國</a:t>
            </a:r>
            <a:r>
              <a:rPr lang="en-US" altLang="zh-TW" dirty="0"/>
              <a:t>98</a:t>
            </a:r>
            <a:r>
              <a:rPr lang="zh-TW" altLang="en-US" dirty="0"/>
              <a:t>年</a:t>
            </a:r>
            <a:r>
              <a:rPr lang="en-US" altLang="zh-TW" dirty="0"/>
              <a:t>01</a:t>
            </a:r>
            <a:r>
              <a:rPr lang="zh-TW" altLang="en-US" dirty="0"/>
              <a:t>月</a:t>
            </a:r>
            <a:r>
              <a:rPr lang="en-US" altLang="zh-TW" dirty="0"/>
              <a:t>21</a:t>
            </a:r>
            <a:r>
              <a:rPr lang="zh-TW" altLang="en-US" dirty="0"/>
              <a:t>日 修正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金融機構合併法 </a:t>
            </a:r>
            <a:r>
              <a:rPr lang="en-US" altLang="zh-TW" dirty="0"/>
              <a:t>(</a:t>
            </a:r>
            <a:r>
              <a:rPr lang="zh-TW" altLang="en-US" dirty="0"/>
              <a:t>民國</a:t>
            </a:r>
            <a:r>
              <a:rPr lang="en-US" altLang="zh-TW" dirty="0"/>
              <a:t>89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</a:t>
            </a:r>
            <a:r>
              <a:rPr lang="en-US" altLang="zh-TW" dirty="0"/>
              <a:t>13</a:t>
            </a:r>
            <a:r>
              <a:rPr lang="zh-TW" altLang="en-US" dirty="0"/>
              <a:t>日 公布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39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公司法</a:t>
            </a:r>
            <a:endParaRPr lang="en-US" altLang="zh-TW" dirty="0" smtClean="0"/>
          </a:p>
          <a:p>
            <a:pPr lvl="1"/>
            <a:r>
              <a:rPr lang="zh-TW" altLang="en-US" dirty="0"/>
              <a:t>公司法對於公司合併有相當詳盡的</a:t>
            </a:r>
            <a:r>
              <a:rPr lang="zh-TW" altLang="en-US" dirty="0" smtClean="0"/>
              <a:t>規範，簡要說明須辦理的程序如下：</a:t>
            </a:r>
            <a:endParaRPr lang="en-US" altLang="zh-TW" dirty="0" smtClean="0"/>
          </a:p>
          <a:p>
            <a:pPr marL="1371600" lvl="2" indent="-457200">
              <a:lnSpc>
                <a:spcPct val="140000"/>
              </a:lnSpc>
              <a:buFontTx/>
              <a:buAutoNum type="arabicPeriod"/>
            </a:pPr>
            <a:r>
              <a:rPr lang="zh-TW" altLang="en-US" dirty="0">
                <a:solidFill>
                  <a:srgbClr val="CC3300"/>
                </a:solidFill>
              </a:rPr>
              <a:t>董事會之準備</a:t>
            </a:r>
          </a:p>
          <a:p>
            <a:pPr marL="1752600" lvl="3" indent="-381000">
              <a:lnSpc>
                <a:spcPct val="140000"/>
              </a:lnSpc>
            </a:pPr>
            <a:r>
              <a:rPr lang="zh-TW" altLang="en-US" dirty="0"/>
              <a:t>應就合併有關事項，作成合併契約，向股東會提出</a:t>
            </a:r>
          </a:p>
          <a:p>
            <a:pPr marL="1371600" lvl="2" indent="-457200">
              <a:lnSpc>
                <a:spcPct val="140000"/>
              </a:lnSpc>
              <a:buFontTx/>
              <a:buAutoNum type="arabicPeriod"/>
            </a:pPr>
            <a:r>
              <a:rPr lang="zh-TW" altLang="en-US" dirty="0">
                <a:solidFill>
                  <a:srgbClr val="CC3300"/>
                </a:solidFill>
              </a:rPr>
              <a:t>股東會通知之記載</a:t>
            </a:r>
          </a:p>
          <a:p>
            <a:pPr marL="1752600" lvl="3" indent="-381000">
              <a:lnSpc>
                <a:spcPct val="140000"/>
              </a:lnSpc>
            </a:pPr>
            <a:r>
              <a:rPr lang="zh-TW" altLang="en-US" dirty="0"/>
              <a:t>應列入股東會召集通知，不得以臨時動議提出</a:t>
            </a:r>
          </a:p>
          <a:p>
            <a:pPr marL="1371600" lvl="2" indent="-457200">
              <a:lnSpc>
                <a:spcPct val="140000"/>
              </a:lnSpc>
              <a:buFontTx/>
              <a:buAutoNum type="arabicPeriod"/>
            </a:pPr>
            <a:r>
              <a:rPr lang="zh-TW" altLang="en-US" dirty="0">
                <a:solidFill>
                  <a:srgbClr val="CC3300"/>
                </a:solidFill>
              </a:rPr>
              <a:t>合併契約書之發送</a:t>
            </a:r>
          </a:p>
          <a:p>
            <a:pPr marL="1752600" lvl="3" indent="-381000">
              <a:lnSpc>
                <a:spcPct val="140000"/>
              </a:lnSpc>
            </a:pPr>
            <a:r>
              <a:rPr lang="zh-TW" altLang="en-US" dirty="0"/>
              <a:t>應於發送股東會召集通知時，一併發送給股東</a:t>
            </a:r>
          </a:p>
          <a:p>
            <a:pPr marL="1371600" lvl="2" indent="-457200">
              <a:lnSpc>
                <a:spcPct val="140000"/>
              </a:lnSpc>
              <a:buFontTx/>
              <a:buAutoNum type="arabicPeriod"/>
            </a:pPr>
            <a:r>
              <a:rPr lang="zh-TW" altLang="en-US" dirty="0">
                <a:solidFill>
                  <a:srgbClr val="CC3300"/>
                </a:solidFill>
              </a:rPr>
              <a:t>股東會之決議</a:t>
            </a:r>
          </a:p>
          <a:p>
            <a:pPr marL="1752600" lvl="3" indent="-381000">
              <a:lnSpc>
                <a:spcPct val="140000"/>
              </a:lnSpc>
            </a:pPr>
            <a:r>
              <a:rPr lang="zh-TW" altLang="en-US" dirty="0"/>
              <a:t>應有</a:t>
            </a:r>
            <a:r>
              <a:rPr lang="en-US" altLang="zh-TW" dirty="0"/>
              <a:t>3/4</a:t>
            </a:r>
            <a:r>
              <a:rPr lang="zh-TW" altLang="en-US" dirty="0"/>
              <a:t>以上的股東出席，且同意數超過一半出席股東數</a:t>
            </a: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4955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zh-TW" altLang="en-US" dirty="0" smtClean="0"/>
              <a:t>股份收買請求權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既使通過四分之三股東同意進行合併，不同意的股東仍有捍衛權益的機會</a:t>
            </a:r>
            <a:endParaRPr lang="en-US" altLang="zh-TW" dirty="0" smtClean="0"/>
          </a:p>
          <a:p>
            <a:pPr lvl="3"/>
            <a:r>
              <a:rPr lang="zh-TW" altLang="en-US" dirty="0"/>
              <a:t>公司法三一七條</a:t>
            </a:r>
            <a:r>
              <a:rPr lang="zh-TW" altLang="en-US" dirty="0" smtClean="0"/>
              <a:t>規定，股東在</a:t>
            </a:r>
            <a:r>
              <a:rPr lang="zh-TW" altLang="en-US" dirty="0" smtClean="0">
                <a:solidFill>
                  <a:srgbClr val="FF0000"/>
                </a:solidFill>
              </a:rPr>
              <a:t>股東集會前或中以書面或口頭表達異議經紀錄者</a:t>
            </a:r>
            <a:r>
              <a:rPr lang="zh-TW" altLang="en-US" dirty="0" smtClean="0"/>
              <a:t>，得</a:t>
            </a:r>
            <a:r>
              <a:rPr lang="zh-TW" altLang="en-US" dirty="0" smtClean="0">
                <a:solidFill>
                  <a:srgbClr val="FF0000"/>
                </a:solidFill>
              </a:rPr>
              <a:t>放棄表決權</a:t>
            </a:r>
            <a:r>
              <a:rPr lang="zh-TW" altLang="en-US" dirty="0" smtClean="0"/>
              <a:t>，並請公司以當時公平價格收購其持有股份</a:t>
            </a:r>
            <a:endParaRPr lang="en-US" altLang="zh-TW" dirty="0" smtClean="0"/>
          </a:p>
          <a:p>
            <a:pPr lvl="3"/>
            <a:r>
              <a:rPr lang="zh-TW" altLang="en-US" dirty="0" smtClean="0"/>
              <a:t>行使請求權之股東應在決議合併之</a:t>
            </a:r>
            <a:r>
              <a:rPr lang="zh-TW" altLang="en-US" dirty="0"/>
              <a:t>二十天內以書面向公司提出收購其股份的請求，並註明股份種類、</a:t>
            </a:r>
            <a:r>
              <a:rPr lang="zh-TW" altLang="en-US" dirty="0" smtClean="0"/>
              <a:t>數量</a:t>
            </a:r>
            <a:endParaRPr lang="en-US" altLang="zh-TW" dirty="0" smtClean="0"/>
          </a:p>
          <a:p>
            <a:pPr lvl="3"/>
            <a:r>
              <a:rPr lang="zh-TW" altLang="en-US" dirty="0" smtClean="0"/>
              <a:t>價格無法</a:t>
            </a:r>
            <a:r>
              <a:rPr lang="zh-TW" altLang="en-US" dirty="0"/>
              <a:t>達成協議時，股東應於三十日內向法院聲請價格</a:t>
            </a:r>
            <a:r>
              <a:rPr lang="zh-TW" altLang="en-US" dirty="0" smtClean="0"/>
              <a:t>議定</a:t>
            </a:r>
            <a:endParaRPr lang="en-US" altLang="zh-TW" dirty="0" smtClean="0"/>
          </a:p>
          <a:p>
            <a:pPr lvl="3"/>
            <a:r>
              <a:rPr lang="zh-TW" altLang="en-US" dirty="0" smtClean="0"/>
              <a:t>成功協議價格後，應於九十</a:t>
            </a:r>
            <a:r>
              <a:rPr lang="zh-TW" altLang="en-US" dirty="0"/>
              <a:t>日</a:t>
            </a:r>
            <a:r>
              <a:rPr lang="zh-TW" altLang="en-US" dirty="0" smtClean="0"/>
              <a:t>內進行收購，</a:t>
            </a:r>
            <a:r>
              <a:rPr lang="zh-TW" altLang="en-US" dirty="0"/>
              <a:t>若由法院裁定價格，則公司應於決議日屆滿九十日後支付股東法定</a:t>
            </a:r>
            <a:r>
              <a:rPr lang="zh-TW" altLang="en-US" dirty="0" smtClean="0"/>
              <a:t>利息</a:t>
            </a:r>
            <a:endParaRPr lang="en-US" altLang="zh-TW" dirty="0" smtClean="0"/>
          </a:p>
          <a:p>
            <a:pPr lvl="3"/>
            <a:r>
              <a:rPr lang="zh-TW" altLang="en-US" dirty="0"/>
              <a:t>一旦公司取消合併，則收買請求權亦失去效力</a:t>
            </a:r>
          </a:p>
        </p:txBody>
      </p:sp>
    </p:spTree>
    <p:extLst>
      <p:ext uri="{BB962C8B-B14F-4D97-AF65-F5344CB8AC3E}">
        <p14:creationId xmlns:p14="http://schemas.microsoft.com/office/powerpoint/2010/main" val="2311356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金融機構合併法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金融</a:t>
            </a:r>
            <a:r>
              <a:rPr lang="zh-TW" altLang="en-US" dirty="0"/>
              <a:t>控股</a:t>
            </a:r>
            <a:r>
              <a:rPr lang="zh-TW" altLang="en-US" dirty="0" smtClean="0"/>
              <a:t>公司法未通過前，金融機構</a:t>
            </a:r>
            <a:r>
              <a:rPr lang="zh-TW" altLang="en-US" dirty="0"/>
              <a:t>併</a:t>
            </a:r>
            <a:r>
              <a:rPr lang="zh-TW" altLang="en-US" dirty="0" smtClean="0"/>
              <a:t>購以</a:t>
            </a:r>
            <a:r>
              <a:rPr lang="zh-TW" altLang="en-US" dirty="0"/>
              <a:t>同業為原則，異業為例外，而「業」依照金融機構合併法分類，可</a:t>
            </a:r>
            <a:r>
              <a:rPr lang="zh-TW" altLang="en-US" dirty="0" smtClean="0"/>
              <a:t>分為：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銀行</a:t>
            </a:r>
            <a:r>
              <a:rPr lang="en-US" altLang="zh-TW" dirty="0"/>
              <a:t>	</a:t>
            </a:r>
            <a:r>
              <a:rPr lang="en-US" altLang="zh-TW" dirty="0" smtClean="0"/>
              <a:t>	</a:t>
            </a:r>
            <a:r>
              <a:rPr lang="zh-TW" altLang="en-US" dirty="0" smtClean="0"/>
              <a:t>：銀行、信用合作社、農漁會信用部</a:t>
            </a:r>
            <a:endParaRPr lang="en-US" altLang="zh-TW" dirty="0" smtClean="0"/>
          </a:p>
          <a:p>
            <a:pPr lvl="2"/>
            <a:r>
              <a:rPr lang="zh-TW" altLang="en-US" dirty="0"/>
              <a:t>證券</a:t>
            </a:r>
            <a:r>
              <a:rPr lang="zh-TW" altLang="en-US" dirty="0" smtClean="0"/>
              <a:t>期貨</a:t>
            </a:r>
            <a:r>
              <a:rPr lang="en-US" altLang="zh-TW" dirty="0" smtClean="0"/>
              <a:t>	</a:t>
            </a:r>
            <a:r>
              <a:rPr lang="zh-TW" altLang="en-US" dirty="0" smtClean="0"/>
              <a:t>：證券商、期貨商、期貨顧問事業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保險</a:t>
            </a:r>
            <a:r>
              <a:rPr lang="en-US" altLang="zh-TW" dirty="0" smtClean="0"/>
              <a:t>		</a:t>
            </a:r>
            <a:r>
              <a:rPr lang="zh-TW" altLang="en-US" dirty="0" smtClean="0"/>
              <a:t>：保險公司、保險合作社</a:t>
            </a:r>
            <a:endParaRPr lang="en-US" altLang="zh-TW" dirty="0" smtClean="0"/>
          </a:p>
          <a:p>
            <a:pPr lvl="2"/>
            <a:r>
              <a:rPr lang="zh-TW" altLang="en-US" dirty="0"/>
              <a:t>信託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0386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zh-TW" altLang="en-US" dirty="0"/>
              <a:t>第</a:t>
            </a:r>
            <a:r>
              <a:rPr lang="en-US" altLang="zh-TW" dirty="0"/>
              <a:t>5</a:t>
            </a:r>
            <a:r>
              <a:rPr lang="zh-TW" altLang="en-US" dirty="0"/>
              <a:t>條</a:t>
            </a:r>
          </a:p>
          <a:p>
            <a:pPr lvl="2"/>
            <a:r>
              <a:rPr lang="zh-TW" altLang="en-US" dirty="0"/>
              <a:t>非農、漁會信用部之金融機構合併，應由擬合併之機構共同向主管機關申請許可。但法令規定不得兼營者，不得合併。</a:t>
            </a:r>
          </a:p>
          <a:p>
            <a:pPr lvl="2"/>
            <a:r>
              <a:rPr lang="zh-TW" altLang="en-US" dirty="0"/>
              <a:t>銀行業之銀行與銀行業之其他金融機構合併，其存續機構或新設機構應為</a:t>
            </a:r>
            <a:r>
              <a:rPr lang="en-US" altLang="zh-TW" dirty="0"/>
              <a:t>『</a:t>
            </a:r>
            <a:r>
              <a:rPr lang="zh-TW" altLang="en-US" dirty="0"/>
              <a:t>銀行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</a:p>
          <a:p>
            <a:pPr lvl="2"/>
            <a:r>
              <a:rPr lang="zh-TW" altLang="en-US" dirty="0"/>
              <a:t>證券及期貨業之證券商與證券及期貨業之其他金融機構合併，其存續機構或新設機構應為</a:t>
            </a:r>
            <a:r>
              <a:rPr lang="en-US" altLang="zh-TW" dirty="0"/>
              <a:t>『</a:t>
            </a:r>
            <a:r>
              <a:rPr lang="zh-TW" altLang="en-US" dirty="0"/>
              <a:t>證券商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</a:p>
          <a:p>
            <a:pPr lvl="2"/>
            <a:r>
              <a:rPr lang="zh-TW" altLang="en-US" dirty="0"/>
              <a:t>保險業之產物保險公司與保險合作社合併，其存續機構或新設機構應為</a:t>
            </a:r>
            <a:r>
              <a:rPr lang="en-US" altLang="zh-TW" dirty="0"/>
              <a:t>『</a:t>
            </a:r>
            <a:r>
              <a:rPr lang="zh-TW" altLang="en-US" dirty="0"/>
              <a:t>產物保險公司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雖允許同業併購，卻不得異業併購，許多併購被要求以轉投資方式進行，旨在於避免利益衝突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/>
              <a:t>同業併購亦有例外，如保險法規定產險壽險不得相互併購</a:t>
            </a:r>
          </a:p>
          <a:p>
            <a:pPr lvl="1"/>
            <a:r>
              <a:rPr lang="en-US" altLang="zh-TW" dirty="0" smtClean="0"/>
              <a:t>(</a:t>
            </a:r>
            <a:r>
              <a:rPr lang="zh-TW" altLang="en-US" dirty="0" smtClean="0"/>
              <a:t>在金控法上路之後，這些法規多半已不適用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1082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 smtClean="0"/>
              <a:t>國內銀行規模偏小、競爭激烈、獲利能力不高，因此政府為了鼓勵金融機構合併所採取的租稅政策亦有所不同。</a:t>
            </a:r>
            <a:endParaRPr lang="en-US" altLang="zh-TW" dirty="0" smtClean="0"/>
          </a:p>
          <a:p>
            <a:pPr marL="457200" lvl="1" indent="0">
              <a:buNone/>
            </a:pP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117314"/>
            <a:ext cx="6178897" cy="374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86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國內相關併購法規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zh-TW" altLang="en-US" dirty="0" smtClean="0"/>
              <a:t>此外，金融機構合併法為了提供金融機構合併的誘因，提供了以下的優惠措施：</a:t>
            </a:r>
            <a:endParaRPr lang="en-US" altLang="zh-TW" dirty="0" smtClean="0"/>
          </a:p>
          <a:p>
            <a:pPr lvl="2"/>
            <a:r>
              <a:rPr lang="zh-TW" altLang="en-US" dirty="0"/>
              <a:t>免納登記</a:t>
            </a:r>
            <a:r>
              <a:rPr lang="zh-TW" altLang="en-US" dirty="0" smtClean="0"/>
              <a:t>規費</a:t>
            </a:r>
            <a:endParaRPr lang="en-US" altLang="zh-TW" dirty="0" smtClean="0"/>
          </a:p>
          <a:p>
            <a:pPr lvl="2"/>
            <a:r>
              <a:rPr lang="zh-TW" altLang="en-US" dirty="0"/>
              <a:t>免納印花稅、</a:t>
            </a:r>
            <a:r>
              <a:rPr lang="zh-TW" altLang="en-US" dirty="0" smtClean="0"/>
              <a:t>契稅</a:t>
            </a:r>
            <a:endParaRPr lang="en-US" altLang="zh-TW" dirty="0" smtClean="0"/>
          </a:p>
          <a:p>
            <a:pPr lvl="2"/>
            <a:r>
              <a:rPr lang="zh-TW" altLang="en-US" dirty="0"/>
              <a:t>土地增值稅記存</a:t>
            </a:r>
            <a:r>
              <a:rPr lang="zh-TW" altLang="en-US" dirty="0" smtClean="0"/>
              <a:t>優惠：</a:t>
            </a:r>
            <a:endParaRPr lang="en-US" altLang="zh-TW" dirty="0" smtClean="0"/>
          </a:p>
          <a:p>
            <a:pPr lvl="3"/>
            <a:r>
              <a:rPr lang="zh-TW" altLang="en-US" dirty="0"/>
              <a:t>結算已發生之</a:t>
            </a:r>
            <a:r>
              <a:rPr lang="zh-TW" altLang="en-US" dirty="0" smtClean="0"/>
              <a:t>增值稅暫時記存，</a:t>
            </a:r>
            <a:r>
              <a:rPr lang="zh-TW" altLang="en-US" dirty="0"/>
              <a:t>於下次移轉時一併繳納，故已結算之增值稅部分不再發生累進稅</a:t>
            </a:r>
            <a:r>
              <a:rPr lang="zh-TW" altLang="en-US" dirty="0" smtClean="0"/>
              <a:t>作用</a:t>
            </a:r>
            <a:endParaRPr lang="en-US" altLang="zh-TW" dirty="0" smtClean="0"/>
          </a:p>
          <a:p>
            <a:pPr lvl="2"/>
            <a:r>
              <a:rPr lang="zh-TW" altLang="en-US" dirty="0"/>
              <a:t>費用及損失之攤銷與認</a:t>
            </a:r>
            <a:r>
              <a:rPr lang="zh-TW" altLang="en-US" dirty="0" smtClean="0"/>
              <a:t>列：</a:t>
            </a:r>
            <a:endParaRPr lang="en-US" altLang="zh-TW" dirty="0" smtClean="0"/>
          </a:p>
          <a:p>
            <a:pPr lvl="3"/>
            <a:r>
              <a:rPr lang="zh-TW" altLang="en-US" dirty="0"/>
              <a:t>因合併產生之商譽得於</a:t>
            </a:r>
            <a:r>
              <a:rPr lang="en-US" altLang="zh-TW" dirty="0"/>
              <a:t>5</a:t>
            </a:r>
            <a:r>
              <a:rPr lang="zh-TW" altLang="en-US" dirty="0"/>
              <a:t>年內攤</a:t>
            </a:r>
            <a:r>
              <a:rPr lang="zh-TW" altLang="en-US" dirty="0" smtClean="0"/>
              <a:t>銷</a:t>
            </a:r>
            <a:r>
              <a:rPr lang="en-US" altLang="zh-TW" dirty="0" smtClean="0"/>
              <a:t>(</a:t>
            </a:r>
            <a:r>
              <a:rPr lang="zh-TW" altLang="en-US" dirty="0" smtClean="0"/>
              <a:t>已不適用，商譽採資產減損處理 </a:t>
            </a:r>
            <a:r>
              <a:rPr lang="en-US" altLang="zh-TW" dirty="0" smtClean="0"/>
              <a:t>by 37</a:t>
            </a:r>
            <a:r>
              <a:rPr lang="zh-TW" altLang="en-US" dirty="0" smtClean="0"/>
              <a:t>號會計公報 </a:t>
            </a:r>
            <a:r>
              <a:rPr lang="en-US" altLang="zh-TW" dirty="0" smtClean="0"/>
              <a:t>95</a:t>
            </a:r>
            <a:r>
              <a:rPr lang="zh-TW" altLang="en-US" dirty="0" smtClean="0"/>
              <a:t>年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pPr lvl="3"/>
            <a:r>
              <a:rPr lang="zh-TW" altLang="en-US" dirty="0"/>
              <a:t>因合併產生之費用得於</a:t>
            </a:r>
            <a:r>
              <a:rPr lang="en-US" altLang="zh-TW" dirty="0"/>
              <a:t>10</a:t>
            </a:r>
            <a:r>
              <a:rPr lang="zh-TW" altLang="en-US" dirty="0"/>
              <a:t>年內攤</a:t>
            </a:r>
            <a:r>
              <a:rPr lang="zh-TW" altLang="en-US" dirty="0" smtClean="0"/>
              <a:t>銷 </a:t>
            </a:r>
            <a:endParaRPr lang="zh-TW" altLang="en-US" dirty="0"/>
          </a:p>
          <a:p>
            <a:pPr lvl="3"/>
            <a:r>
              <a:rPr lang="zh-TW" altLang="en-US" dirty="0"/>
              <a:t>因合併出售不良債權所受之損失，得於</a:t>
            </a:r>
            <a:r>
              <a:rPr lang="en-US" altLang="zh-TW" dirty="0"/>
              <a:t>15</a:t>
            </a:r>
            <a:r>
              <a:rPr lang="zh-TW" altLang="en-US" dirty="0"/>
              <a:t>年內認列</a:t>
            </a:r>
            <a:r>
              <a:rPr lang="zh-TW" altLang="en-US" dirty="0" smtClean="0"/>
              <a:t>損失</a:t>
            </a:r>
            <a:endParaRPr lang="zh-TW" altLang="en-US" dirty="0"/>
          </a:p>
          <a:p>
            <a:pPr lvl="3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3080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公司</a:t>
            </a:r>
            <a:r>
              <a:rPr lang="zh-TW" altLang="en-US" dirty="0" smtClean="0"/>
              <a:t>重整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依據理財實務，公司若發生技術性違約</a:t>
            </a:r>
            <a:r>
              <a:rPr lang="en-US" altLang="zh-TW" dirty="0" smtClean="0"/>
              <a:t>(</a:t>
            </a:r>
            <a:r>
              <a:rPr lang="zh-TW" altLang="en-US" dirty="0" smtClean="0"/>
              <a:t>退票、逾期、催收以及呆帳</a:t>
            </a:r>
            <a:r>
              <a:rPr lang="en-US" altLang="zh-TW" dirty="0" smtClean="0"/>
              <a:t>)</a:t>
            </a:r>
            <a:r>
              <a:rPr lang="zh-TW" altLang="en-US" dirty="0" smtClean="0"/>
              <a:t>情況，處理的方式大概可分為：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538204" y="3858373"/>
            <a:ext cx="15696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調整企業體質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761864" y="5908630"/>
            <a:ext cx="110799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清算企業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5777710" y="5395282"/>
            <a:ext cx="110799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宣告破產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008542" y="6403394"/>
            <a:ext cx="646331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讓受</a:t>
            </a:r>
            <a:endParaRPr lang="zh-TW" altLang="en-US" dirty="0"/>
          </a:p>
        </p:txBody>
      </p:sp>
      <p:cxnSp>
        <p:nvCxnSpPr>
          <p:cNvPr id="9" name="直線接點 8"/>
          <p:cNvCxnSpPr>
            <a:stCxn id="5" idx="3"/>
          </p:cNvCxnSpPr>
          <p:nvPr/>
        </p:nvCxnSpPr>
        <p:spPr>
          <a:xfrm>
            <a:off x="4869860" y="6093296"/>
            <a:ext cx="475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345662" y="55799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6" idx="1"/>
          </p:cNvCxnSpPr>
          <p:nvPr/>
        </p:nvCxnSpPr>
        <p:spPr>
          <a:xfrm>
            <a:off x="5345662" y="5579948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endCxn id="7" idx="1"/>
          </p:cNvCxnSpPr>
          <p:nvPr/>
        </p:nvCxnSpPr>
        <p:spPr>
          <a:xfrm>
            <a:off x="5345662" y="6588060"/>
            <a:ext cx="6628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008541" y="3159853"/>
            <a:ext cx="1249060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重整</a:t>
            </a:r>
            <a:r>
              <a:rPr lang="en-US" altLang="zh-TW" dirty="0" smtClean="0"/>
              <a:t>(</a:t>
            </a:r>
            <a:r>
              <a:rPr lang="zh-TW" altLang="en-US" dirty="0" smtClean="0"/>
              <a:t>正式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008540" y="3858373"/>
            <a:ext cx="147989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展期</a:t>
            </a:r>
            <a:r>
              <a:rPr lang="en-US" altLang="zh-TW" dirty="0" smtClean="0"/>
              <a:t>(</a:t>
            </a:r>
            <a:r>
              <a:rPr lang="zh-TW" altLang="en-US" dirty="0" smtClean="0"/>
              <a:t>非正式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008542" y="4598487"/>
            <a:ext cx="147989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和解</a:t>
            </a:r>
            <a:r>
              <a:rPr lang="en-US" altLang="zh-TW" dirty="0" smtClean="0"/>
              <a:t>(</a:t>
            </a:r>
            <a:r>
              <a:rPr lang="zh-TW" altLang="en-US" dirty="0" smtClean="0"/>
              <a:t>非正式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5561686" y="3344519"/>
            <a:ext cx="0" cy="14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endCxn id="18" idx="1"/>
          </p:cNvCxnSpPr>
          <p:nvPr/>
        </p:nvCxnSpPr>
        <p:spPr>
          <a:xfrm>
            <a:off x="5561686" y="3344519"/>
            <a:ext cx="4468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19" idx="1"/>
          </p:cNvCxnSpPr>
          <p:nvPr/>
        </p:nvCxnSpPr>
        <p:spPr>
          <a:xfrm>
            <a:off x="5561686" y="4043039"/>
            <a:ext cx="4468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20" idx="1"/>
          </p:cNvCxnSpPr>
          <p:nvPr/>
        </p:nvCxnSpPr>
        <p:spPr>
          <a:xfrm>
            <a:off x="5561686" y="4783153"/>
            <a:ext cx="4468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4" idx="3"/>
          </p:cNvCxnSpPr>
          <p:nvPr/>
        </p:nvCxnSpPr>
        <p:spPr>
          <a:xfrm>
            <a:off x="5107864" y="4043039"/>
            <a:ext cx="5692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1569437" y="4802969"/>
            <a:ext cx="646331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/>
              <a:t>違約</a:t>
            </a:r>
          </a:p>
        </p:txBody>
      </p:sp>
      <p:cxnSp>
        <p:nvCxnSpPr>
          <p:cNvPr id="33" name="直線接點 32"/>
          <p:cNvCxnSpPr/>
          <p:nvPr/>
        </p:nvCxnSpPr>
        <p:spPr>
          <a:xfrm>
            <a:off x="2793574" y="4043039"/>
            <a:ext cx="0" cy="2050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4" idx="1"/>
          </p:cNvCxnSpPr>
          <p:nvPr/>
        </p:nvCxnSpPr>
        <p:spPr>
          <a:xfrm>
            <a:off x="2793574" y="4043039"/>
            <a:ext cx="7446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5" idx="1"/>
          </p:cNvCxnSpPr>
          <p:nvPr/>
        </p:nvCxnSpPr>
        <p:spPr>
          <a:xfrm>
            <a:off x="2793574" y="6093296"/>
            <a:ext cx="9682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1" idx="3"/>
          </p:cNvCxnSpPr>
          <p:nvPr/>
        </p:nvCxnSpPr>
        <p:spPr>
          <a:xfrm>
            <a:off x="2215768" y="4987635"/>
            <a:ext cx="5778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461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重整</a:t>
            </a:r>
            <a:endParaRPr lang="en-US" altLang="zh-TW" dirty="0" smtClean="0"/>
          </a:p>
          <a:p>
            <a:pPr lvl="1"/>
            <a:r>
              <a:rPr lang="zh-TW" altLang="en-US" dirty="0"/>
              <a:t>公司法 第</a:t>
            </a:r>
            <a:r>
              <a:rPr lang="en-US" altLang="zh-TW" dirty="0"/>
              <a:t>10</a:t>
            </a:r>
            <a:r>
              <a:rPr lang="zh-TW" altLang="en-US" dirty="0"/>
              <a:t>節 公司重整 第</a:t>
            </a:r>
            <a:r>
              <a:rPr lang="en-US" altLang="zh-TW" dirty="0"/>
              <a:t>282 ~ 314</a:t>
            </a:r>
            <a:r>
              <a:rPr lang="zh-TW" altLang="en-US" dirty="0"/>
              <a:t>條</a:t>
            </a:r>
          </a:p>
          <a:p>
            <a:pPr lvl="1"/>
            <a:r>
              <a:rPr lang="zh-TW" altLang="en-US" dirty="0"/>
              <a:t>公司重整制度</a:t>
            </a:r>
          </a:p>
          <a:p>
            <a:pPr lvl="2"/>
            <a:r>
              <a:rPr lang="zh-TW" altLang="en-US" dirty="0"/>
              <a:t>公司有財務困難、暫停營業或有停業之時，公司可以藉由法院的重整裁定，調整公司與公司債權人、股東及其他利害關係人間的權利義務，試圖讓公司繼續營運的制度。</a:t>
            </a:r>
          </a:p>
          <a:p>
            <a:pPr lvl="1"/>
            <a:r>
              <a:rPr lang="zh-TW" altLang="en-US" dirty="0"/>
              <a:t>直接目的</a:t>
            </a:r>
          </a:p>
          <a:p>
            <a:pPr lvl="2"/>
            <a:r>
              <a:rPr lang="zh-TW" altLang="en-US" dirty="0"/>
              <a:t>扶持財務陷於困境的企業再生。</a:t>
            </a:r>
          </a:p>
          <a:p>
            <a:pPr lvl="1"/>
            <a:r>
              <a:rPr lang="zh-TW" altLang="en-US" dirty="0"/>
              <a:t>間接目的</a:t>
            </a:r>
          </a:p>
          <a:p>
            <a:pPr lvl="2"/>
            <a:r>
              <a:rPr lang="zh-TW" altLang="en-US" dirty="0"/>
              <a:t>確保投資大眾以及公司債權人的權益，以維護社會秩序。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2002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76300" lvl="1" indent="-476250">
              <a:lnSpc>
                <a:spcPct val="90000"/>
              </a:lnSpc>
            </a:pPr>
            <a:r>
              <a:rPr lang="zh-TW" altLang="en-US" dirty="0"/>
              <a:t>公司重整之條件 </a:t>
            </a:r>
          </a:p>
          <a:p>
            <a:pPr marL="1185863" lvl="2" indent="-419100">
              <a:lnSpc>
                <a:spcPct val="90000"/>
              </a:lnSpc>
            </a:pPr>
            <a:r>
              <a:rPr lang="zh-TW" altLang="en-US" sz="1800" dirty="0"/>
              <a:t>積極條件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公開發行股票或公開發行公司債之股份有限公司。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因財務困難，暫停營業或有停業之虞而有重建更生之可能者。</a:t>
            </a:r>
          </a:p>
          <a:p>
            <a:pPr marL="1185863" lvl="2" indent="-419100">
              <a:lnSpc>
                <a:spcPct val="90000"/>
              </a:lnSpc>
            </a:pPr>
            <a:r>
              <a:rPr lang="zh-TW" altLang="en-US" sz="1800" dirty="0"/>
              <a:t>消極條件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非聲請程序不合格者，或已於限期內補正者。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聲請事項並無不實者。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公司未經宣告破產已確定者。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公司未經依破產法所為和解決議已確定者。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公司未經解散者。</a:t>
            </a:r>
          </a:p>
          <a:p>
            <a:pPr marL="1543050" lvl="3" indent="-40005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TW" altLang="en-US" sz="1700" dirty="0"/>
              <a:t>公司未被勒令停業限制清理者</a:t>
            </a:r>
          </a:p>
          <a:p>
            <a:pPr lvl="1"/>
            <a:r>
              <a:rPr lang="zh-TW" altLang="en-US" dirty="0"/>
              <a:t>積極</a:t>
            </a:r>
            <a:r>
              <a:rPr lang="zh-TW" altLang="en-US" dirty="0" smtClean="0"/>
              <a:t>條件：以發生某種事件為條件</a:t>
            </a:r>
            <a:endParaRPr lang="en-US" altLang="zh-TW" dirty="0" smtClean="0"/>
          </a:p>
          <a:p>
            <a:pPr lvl="1"/>
            <a:r>
              <a:rPr lang="zh-TW" altLang="en-US" dirty="0"/>
              <a:t>消極條件</a:t>
            </a:r>
            <a:r>
              <a:rPr lang="zh-TW" altLang="en-US" dirty="0" smtClean="0"/>
              <a:t>：以不發生某種事件為條件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2317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84784"/>
            <a:ext cx="6336704" cy="52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1835696" y="1772816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5508104" y="4077072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6948264" y="2564904"/>
            <a:ext cx="1944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重整人基本上以董事為主，如不適任，法院得以從債權人或股東中選派。</a:t>
            </a:r>
            <a:endParaRPr lang="en-US" altLang="zh-TW" sz="1200" dirty="0" smtClean="0"/>
          </a:p>
          <a:p>
            <a:r>
              <a:rPr lang="zh-TW" altLang="en-US" sz="1200" dirty="0"/>
              <a:t>而重整</a:t>
            </a:r>
            <a:r>
              <a:rPr lang="zh-TW" altLang="en-US" sz="1200" dirty="0" smtClean="0"/>
              <a:t>監督人則由具有該領域專業知識之經營經驗者或金融機構擔任</a:t>
            </a:r>
            <a:endParaRPr lang="zh-TW" altLang="en-US" sz="1200" dirty="0"/>
          </a:p>
        </p:txBody>
      </p:sp>
      <p:cxnSp>
        <p:nvCxnSpPr>
          <p:cNvPr id="7" name="直線接點 6"/>
          <p:cNvCxnSpPr/>
          <p:nvPr/>
        </p:nvCxnSpPr>
        <p:spPr>
          <a:xfrm flipH="1">
            <a:off x="6804248" y="2888069"/>
            <a:ext cx="144016" cy="108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7164288" y="4509120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關係人</a:t>
            </a:r>
            <a:r>
              <a:rPr lang="en-US" altLang="zh-TW" sz="1200" dirty="0" smtClean="0"/>
              <a:t>:</a:t>
            </a:r>
            <a:r>
              <a:rPr lang="zh-TW" altLang="en-US" sz="1200" dirty="0" smtClean="0"/>
              <a:t>包含重整債權人以及股東</a:t>
            </a:r>
            <a:endParaRPr lang="zh-TW" altLang="en-US" sz="1200" dirty="0"/>
          </a:p>
        </p:txBody>
      </p:sp>
      <p:cxnSp>
        <p:nvCxnSpPr>
          <p:cNvPr id="10" name="直線接點 9"/>
          <p:cNvCxnSpPr>
            <a:endCxn id="8" idx="1"/>
          </p:cNvCxnSpPr>
          <p:nvPr/>
        </p:nvCxnSpPr>
        <p:spPr>
          <a:xfrm>
            <a:off x="6804248" y="4509120"/>
            <a:ext cx="360040" cy="2308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005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zh-TW" altLang="en-US" dirty="0"/>
              <a:t>公司重整之聲請人</a:t>
            </a:r>
          </a:p>
          <a:p>
            <a:pPr lvl="2"/>
            <a:r>
              <a:rPr lang="zh-TW" altLang="en-US" dirty="0"/>
              <a:t>董事會</a:t>
            </a:r>
          </a:p>
          <a:p>
            <a:pPr lvl="3"/>
            <a:r>
              <a:rPr lang="zh-TW" altLang="en-US" dirty="0"/>
              <a:t>董事會聲請時，應以董事三分之二以上之出席，及出席董事過半數同意之決議行之。</a:t>
            </a:r>
          </a:p>
          <a:p>
            <a:pPr lvl="2"/>
            <a:r>
              <a:rPr lang="zh-TW" altLang="en-US" dirty="0"/>
              <a:t>繼續六個月以上持有已發行股份總數百分之十以上股份之股東</a:t>
            </a:r>
          </a:p>
          <a:p>
            <a:pPr lvl="3"/>
            <a:r>
              <a:rPr lang="zh-TW" altLang="en-US" dirty="0"/>
              <a:t>應屬少數股東權之發動，且須繼續六個月以上持有股份，以預防不肖股東濫行聲請，以搗亂公司之經營。</a:t>
            </a:r>
          </a:p>
          <a:p>
            <a:pPr lvl="2"/>
            <a:r>
              <a:rPr lang="zh-TW" altLang="en-US" dirty="0"/>
              <a:t>相當於公司已發行股份總數金額百分之十以上之公司債權人</a:t>
            </a:r>
          </a:p>
          <a:p>
            <a:pPr lvl="3"/>
            <a:r>
              <a:rPr lang="zh-TW" altLang="en-US" dirty="0"/>
              <a:t>公司債權人若持有相當於公司已發行股份總數金額</a:t>
            </a:r>
            <a:r>
              <a:rPr lang="en-US" altLang="zh-TW" dirty="0"/>
              <a:t>10%</a:t>
            </a:r>
            <a:r>
              <a:rPr lang="zh-TW" altLang="en-US" dirty="0"/>
              <a:t>以上者，即得聲請公司重整，其人數可為一人或數人。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9207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zh-TW" altLang="en-US" dirty="0"/>
              <a:t>若由董事會提出重整聲</a:t>
            </a:r>
            <a:r>
              <a:rPr lang="zh-TW" altLang="en-US" dirty="0" smtClean="0"/>
              <a:t>請：</a:t>
            </a:r>
            <a:endParaRPr lang="en-US" altLang="zh-TW" dirty="0" smtClean="0"/>
          </a:p>
          <a:p>
            <a:pPr lvl="2"/>
            <a:r>
              <a:rPr lang="zh-TW" altLang="en-US" dirty="0"/>
              <a:t>由代表公司之董事，以書狀檢同董事會議事錄為</a:t>
            </a:r>
            <a:r>
              <a:rPr lang="zh-TW" altLang="en-US" dirty="0" smtClean="0"/>
              <a:t>之</a:t>
            </a:r>
            <a:endParaRPr lang="en-US" altLang="zh-TW" dirty="0"/>
          </a:p>
          <a:p>
            <a:pPr lvl="1"/>
            <a:r>
              <a:rPr lang="zh-TW" altLang="en-US" dirty="0" smtClean="0"/>
              <a:t>若由股東或債權人提出重整聲請：</a:t>
            </a:r>
            <a:endParaRPr lang="en-US" altLang="zh-TW" dirty="0"/>
          </a:p>
          <a:p>
            <a:pPr lvl="2"/>
            <a:r>
              <a:rPr lang="zh-TW" altLang="en-US" dirty="0" smtClean="0"/>
              <a:t>應以書狀檢附釋明資格之文字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書狀應載明：</a:t>
            </a:r>
            <a:endParaRPr lang="en-US" altLang="zh-TW" dirty="0" smtClean="0"/>
          </a:p>
          <a:p>
            <a:pPr lvl="2"/>
            <a:r>
              <a:rPr lang="zh-TW" altLang="en-US" dirty="0"/>
              <a:t>聲請人之姓名、住所以及聲請</a:t>
            </a:r>
            <a:r>
              <a:rPr lang="zh-TW" altLang="en-US" dirty="0" smtClean="0"/>
              <a:t>資格</a:t>
            </a:r>
            <a:endParaRPr lang="en-US" altLang="zh-TW" dirty="0" smtClean="0"/>
          </a:p>
          <a:p>
            <a:pPr lvl="2"/>
            <a:r>
              <a:rPr lang="zh-TW" altLang="en-US" dirty="0"/>
              <a:t>公司</a:t>
            </a:r>
            <a:r>
              <a:rPr lang="zh-TW" altLang="en-US" dirty="0" smtClean="0"/>
              <a:t>名稱、所在以及負責人姓名、住所</a:t>
            </a:r>
            <a:endParaRPr lang="en-US" altLang="zh-TW" dirty="0" smtClean="0"/>
          </a:p>
          <a:p>
            <a:pPr lvl="2"/>
            <a:r>
              <a:rPr lang="zh-TW" altLang="en-US" dirty="0"/>
              <a:t>聲請之原因、</a:t>
            </a:r>
            <a:r>
              <a:rPr lang="zh-TW" altLang="en-US" dirty="0" smtClean="0"/>
              <a:t>事實</a:t>
            </a:r>
            <a:endParaRPr lang="en-US" altLang="zh-TW" dirty="0" smtClean="0"/>
          </a:p>
          <a:p>
            <a:pPr lvl="2"/>
            <a:r>
              <a:rPr lang="zh-TW" altLang="en-US" dirty="0"/>
              <a:t>公司所營事業以及業務</a:t>
            </a:r>
            <a:r>
              <a:rPr lang="zh-TW" altLang="en-US" dirty="0" smtClean="0"/>
              <a:t>狀況</a:t>
            </a:r>
            <a:r>
              <a:rPr lang="en-US" altLang="zh-TW" dirty="0" smtClean="0"/>
              <a:t>(</a:t>
            </a:r>
            <a:r>
              <a:rPr lang="zh-TW" altLang="en-US" dirty="0" smtClean="0"/>
              <a:t>股東、債權人免記</a:t>
            </a:r>
            <a:r>
              <a:rPr lang="en-US" altLang="zh-TW" dirty="0" smtClean="0"/>
              <a:t>)</a:t>
            </a:r>
          </a:p>
          <a:p>
            <a:pPr lvl="2"/>
            <a:r>
              <a:rPr lang="zh-TW" altLang="en-US" dirty="0"/>
              <a:t>公司之資產負債、損益以及財務</a:t>
            </a:r>
            <a:r>
              <a:rPr lang="zh-TW" altLang="en-US" dirty="0" smtClean="0"/>
              <a:t>狀況</a:t>
            </a:r>
            <a:r>
              <a:rPr lang="en-US" altLang="zh-TW" dirty="0"/>
              <a:t>(</a:t>
            </a:r>
            <a:r>
              <a:rPr lang="zh-TW" altLang="en-US" dirty="0"/>
              <a:t>股東、債權人免記</a:t>
            </a:r>
            <a:r>
              <a:rPr lang="en-US" altLang="zh-TW" dirty="0"/>
              <a:t>)</a:t>
            </a:r>
          </a:p>
          <a:p>
            <a:pPr lvl="2"/>
            <a:r>
              <a:rPr lang="zh-TW" altLang="en-US" dirty="0" smtClean="0"/>
              <a:t>對於公司重整之意見</a:t>
            </a:r>
            <a:endParaRPr lang="en-US" altLang="zh-TW" dirty="0" smtClean="0"/>
          </a:p>
          <a:p>
            <a:pPr lvl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45685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公司重整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zh-TW" altLang="en-US" dirty="0"/>
              <a:t>重整</a:t>
            </a:r>
            <a:r>
              <a:rPr lang="zh-TW" altLang="en-US" dirty="0" smtClean="0"/>
              <a:t>計畫</a:t>
            </a:r>
            <a:endParaRPr lang="en-US" altLang="zh-TW" dirty="0" smtClean="0"/>
          </a:p>
          <a:p>
            <a:pPr lvl="2"/>
            <a:r>
              <a:rPr lang="zh-TW" altLang="en-US" dirty="0"/>
              <a:t>關係人會議應分別按規定之權利人分組行使</a:t>
            </a:r>
            <a:r>
              <a:rPr lang="zh-TW" altLang="en-US" dirty="0" smtClean="0"/>
              <a:t>表決權，對於重整計畫之可決，應經各組表決總額三分之二以上同意之。</a:t>
            </a:r>
            <a:endParaRPr lang="en-US" altLang="zh-TW" dirty="0" smtClean="0"/>
          </a:p>
          <a:p>
            <a:pPr lvl="2"/>
            <a:r>
              <a:rPr lang="zh-TW" altLang="en-US" dirty="0"/>
              <a:t>公司若有以下事項，應於重整計畫載明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3"/>
            <a:r>
              <a:rPr lang="zh-TW" altLang="en-US" dirty="0"/>
              <a:t>全部</a:t>
            </a:r>
            <a:r>
              <a:rPr lang="en-US" altLang="zh-TW" dirty="0"/>
              <a:t>/</a:t>
            </a:r>
            <a:r>
              <a:rPr lang="zh-TW" altLang="en-US" dirty="0"/>
              <a:t>部分重整債權人或股東權利變更</a:t>
            </a:r>
          </a:p>
          <a:p>
            <a:pPr lvl="3"/>
            <a:r>
              <a:rPr lang="zh-TW" altLang="en-US" dirty="0"/>
              <a:t>全部</a:t>
            </a:r>
            <a:r>
              <a:rPr lang="en-US" altLang="zh-TW" dirty="0"/>
              <a:t>/</a:t>
            </a:r>
            <a:r>
              <a:rPr lang="zh-TW" altLang="en-US" dirty="0"/>
              <a:t>部分營業變更</a:t>
            </a:r>
          </a:p>
          <a:p>
            <a:pPr lvl="3"/>
            <a:r>
              <a:rPr lang="zh-TW" altLang="en-US" dirty="0"/>
              <a:t>財產之處分</a:t>
            </a:r>
          </a:p>
          <a:p>
            <a:pPr lvl="3"/>
            <a:r>
              <a:rPr lang="zh-TW" altLang="en-US" dirty="0"/>
              <a:t>債務清償之方法以及資金來源</a:t>
            </a:r>
          </a:p>
          <a:p>
            <a:pPr lvl="3"/>
            <a:r>
              <a:rPr lang="zh-TW" altLang="en-US" dirty="0"/>
              <a:t>公司資產之估價標準、方法</a:t>
            </a:r>
          </a:p>
          <a:p>
            <a:pPr lvl="3"/>
            <a:r>
              <a:rPr lang="zh-TW" altLang="en-US" dirty="0"/>
              <a:t>公司改組以及章程改變</a:t>
            </a:r>
          </a:p>
          <a:p>
            <a:pPr lvl="3"/>
            <a:r>
              <a:rPr lang="zh-TW" altLang="en-US" dirty="0"/>
              <a:t>員工調整、裁減</a:t>
            </a:r>
          </a:p>
          <a:p>
            <a:pPr lvl="3"/>
            <a:r>
              <a:rPr lang="zh-TW" altLang="en-US" dirty="0"/>
              <a:t>新股、公司債之發行</a:t>
            </a:r>
          </a:p>
          <a:p>
            <a:pPr lvl="3"/>
            <a:r>
              <a:rPr lang="zh-TW" altLang="en-US" dirty="0"/>
              <a:t>其他必要</a:t>
            </a:r>
            <a:r>
              <a:rPr lang="zh-TW" altLang="en-US" dirty="0" smtClean="0"/>
              <a:t>事項</a:t>
            </a:r>
            <a:endParaRPr lang="en-US" altLang="zh-TW" dirty="0"/>
          </a:p>
          <a:p>
            <a:pPr lvl="2"/>
            <a:r>
              <a:rPr lang="zh-TW" altLang="en-US" dirty="0" smtClean="0"/>
              <a:t>重整計畫應訂明執行期間，但不得超過一年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11987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展期與和解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債務展期</a:t>
            </a:r>
          </a:p>
          <a:p>
            <a:pPr lvl="1"/>
            <a:r>
              <a:rPr lang="zh-TW" altLang="en-US" dirty="0"/>
              <a:t>債權人對債務人有信心之下，推遲當前到期債務償還時間</a:t>
            </a:r>
          </a:p>
          <a:p>
            <a:pPr lvl="1"/>
            <a:r>
              <a:rPr lang="zh-TW" altLang="en-US" dirty="0"/>
              <a:t>為企業贏得時間調整財務，避免破產</a:t>
            </a:r>
          </a:p>
          <a:p>
            <a:pPr lvl="1"/>
            <a:r>
              <a:rPr lang="zh-TW" altLang="en-US" dirty="0"/>
              <a:t>可避免法律費用</a:t>
            </a:r>
          </a:p>
          <a:p>
            <a:endParaRPr lang="zh-TW" altLang="en-US" dirty="0"/>
          </a:p>
          <a:p>
            <a:r>
              <a:rPr lang="zh-TW" altLang="en-US" dirty="0"/>
              <a:t>債務和解</a:t>
            </a:r>
          </a:p>
          <a:p>
            <a:pPr lvl="1"/>
            <a:r>
              <a:rPr lang="zh-TW" altLang="en-US" dirty="0"/>
              <a:t>債權人自願同意減少債務人的債務，包括同意減少債務償還的本金數額，或同意降低利息率，或同意將一部分債權轉化為股權，或將上述幾種選擇混合使用。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272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破產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破產定義：所謂破產，是指當債務人的全部資產不以清償到期債務時，債權人通過一定</a:t>
            </a:r>
            <a:r>
              <a:rPr lang="zh-TW" altLang="en-US" dirty="0" smtClean="0"/>
              <a:t>程序將</a:t>
            </a:r>
            <a:r>
              <a:rPr lang="zh-TW" altLang="en-US" dirty="0"/>
              <a:t>債務人的全部資產供其平均受償，從而使債務人免除不能清償的其他債務。並由法院宣告破產</a:t>
            </a:r>
            <a:r>
              <a:rPr lang="zh-TW" altLang="en-US" dirty="0" smtClean="0"/>
              <a:t>解散</a:t>
            </a:r>
            <a:endParaRPr lang="en-US" altLang="zh-TW" dirty="0" smtClean="0"/>
          </a:p>
          <a:p>
            <a:r>
              <a:rPr lang="zh-TW" altLang="en-US" dirty="0" smtClean="0"/>
              <a:t>破產</a:t>
            </a:r>
            <a:r>
              <a:rPr lang="zh-TW" altLang="en-US" dirty="0"/>
              <a:t>法 </a:t>
            </a:r>
            <a:r>
              <a:rPr lang="en-US" altLang="zh-TW" dirty="0"/>
              <a:t>(</a:t>
            </a:r>
            <a:r>
              <a:rPr lang="zh-TW" altLang="en-US" dirty="0"/>
              <a:t>民國 </a:t>
            </a:r>
            <a:r>
              <a:rPr lang="en-US" altLang="zh-TW" dirty="0"/>
              <a:t>82 </a:t>
            </a:r>
            <a:r>
              <a:rPr lang="zh-TW" altLang="en-US" dirty="0"/>
              <a:t>年 </a:t>
            </a:r>
            <a:r>
              <a:rPr lang="en-US" altLang="zh-TW" dirty="0"/>
              <a:t>07 </a:t>
            </a:r>
            <a:r>
              <a:rPr lang="zh-TW" altLang="en-US" dirty="0"/>
              <a:t>月 </a:t>
            </a:r>
            <a:r>
              <a:rPr lang="en-US" altLang="zh-TW" dirty="0"/>
              <a:t>30 </a:t>
            </a:r>
            <a:r>
              <a:rPr lang="zh-TW" altLang="en-US" dirty="0"/>
              <a:t>日 修正</a:t>
            </a:r>
            <a:r>
              <a:rPr lang="en-US" altLang="zh-TW" dirty="0"/>
              <a:t>) </a:t>
            </a:r>
          </a:p>
          <a:p>
            <a:r>
              <a:rPr lang="zh-TW" altLang="en-US" dirty="0"/>
              <a:t>我國破產法採一般破產主義，而非商人破產主義，因此不論是一般人、商業或是公司行號，如果無法清償債務的時候，就可以向法院聲請破產宣告。</a:t>
            </a:r>
          </a:p>
          <a:p>
            <a:pPr lvl="1"/>
            <a:r>
              <a:rPr lang="zh-TW" altLang="en-US" dirty="0"/>
              <a:t>一般破產主義</a:t>
            </a:r>
          </a:p>
          <a:p>
            <a:pPr lvl="2"/>
            <a:r>
              <a:rPr lang="zh-TW" altLang="en-US" dirty="0"/>
              <a:t>破產法對於一般人及商人均有適用。</a:t>
            </a:r>
          </a:p>
          <a:p>
            <a:pPr lvl="1"/>
            <a:r>
              <a:rPr lang="zh-TW" altLang="en-US" dirty="0"/>
              <a:t>商人破產主義</a:t>
            </a:r>
          </a:p>
          <a:p>
            <a:pPr lvl="2"/>
            <a:r>
              <a:rPr lang="zh-TW" altLang="en-US" dirty="0"/>
              <a:t>破產法僅適用於商人之主義。</a:t>
            </a:r>
          </a:p>
          <a:p>
            <a:pPr lvl="1"/>
            <a:r>
              <a:rPr lang="zh-TW" altLang="en-US" dirty="0"/>
              <a:t>折衷主義</a:t>
            </a:r>
          </a:p>
          <a:p>
            <a:pPr lvl="2"/>
            <a:r>
              <a:rPr lang="zh-TW" altLang="en-US" dirty="0"/>
              <a:t>商人與非商人均適用破產法，但兩者適用之破產程序不同。</a:t>
            </a:r>
          </a:p>
        </p:txBody>
      </p:sp>
    </p:spTree>
    <p:extLst>
      <p:ext uri="{BB962C8B-B14F-4D97-AF65-F5344CB8AC3E}">
        <p14:creationId xmlns:p14="http://schemas.microsoft.com/office/powerpoint/2010/main" val="769947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破產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普及主義：</a:t>
            </a:r>
          </a:p>
          <a:p>
            <a:pPr lvl="1"/>
            <a:r>
              <a:rPr lang="zh-TW" altLang="en-US" dirty="0"/>
              <a:t>破產宣告之效力，不僅能及於債務人在本國之財產，而且亦能及於其在外國之全部財產，此種主義稱為「普及主義」。</a:t>
            </a:r>
          </a:p>
          <a:p>
            <a:pPr lvl="1"/>
            <a:r>
              <a:rPr lang="zh-TW" altLang="en-US" dirty="0"/>
              <a:t>採取普及主義之結果，債務人僅能發生「一人一破產」之現象。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3057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破產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向法院提出聲請的人，可能是債務人本身，也可能是債權人出面聲請。</a:t>
            </a:r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3429000"/>
            <a:ext cx="4176713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4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3045</Words>
  <Application>Microsoft Office PowerPoint</Application>
  <PresentationFormat>如螢幕大小 (4:3)</PresentationFormat>
  <Paragraphs>327</Paragraphs>
  <Slides>42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Office 佈景主題</vt:lpstr>
      <vt:lpstr>企業金融的十二堂課  第九課 企業併購與重整</vt:lpstr>
      <vt:lpstr>大綱</vt:lpstr>
      <vt:lpstr>現今併購概況</vt:lpstr>
      <vt:lpstr>現今併購概況(Cont.)</vt:lpstr>
      <vt:lpstr>併購基本概念</vt:lpstr>
      <vt:lpstr>併購基本概念</vt:lpstr>
      <vt:lpstr>併購基本概念</vt:lpstr>
      <vt:lpstr>併購基本概念</vt:lpstr>
      <vt:lpstr>併購基本概念</vt:lpstr>
      <vt:lpstr>併購基本概念</vt:lpstr>
      <vt:lpstr>併購基本概念</vt:lpstr>
      <vt:lpstr>併購基本概念</vt:lpstr>
      <vt:lpstr>併購的運作流程與考量因素 </vt:lpstr>
      <vt:lpstr>併購的運作流程與考量因素</vt:lpstr>
      <vt:lpstr>併購的運作流程與考量因素</vt:lpstr>
      <vt:lpstr>併購的運作流程與考量因素</vt:lpstr>
      <vt:lpstr>併購的運作流程與考量因素</vt:lpstr>
      <vt:lpstr>PowerPoint 簡報</vt:lpstr>
      <vt:lpstr>PowerPoint 簡報</vt:lpstr>
      <vt:lpstr>併購的運作流程與考量因素</vt:lpstr>
      <vt:lpstr>併購的運作流程與考量因素</vt:lpstr>
      <vt:lpstr>併購的運作流程與考量因素</vt:lpstr>
      <vt:lpstr>併購的運作流程與考量因素</vt:lpstr>
      <vt:lpstr>併購的運作流程與考量因素</vt:lpstr>
      <vt:lpstr>國內相關併購法規</vt:lpstr>
      <vt:lpstr>國內相關併購法規</vt:lpstr>
      <vt:lpstr>國內相關併購法規</vt:lpstr>
      <vt:lpstr>國內相關併購法規</vt:lpstr>
      <vt:lpstr>國內相關併購法規</vt:lpstr>
      <vt:lpstr>國內相關併購法規</vt:lpstr>
      <vt:lpstr>國內相關併購法規</vt:lpstr>
      <vt:lpstr>公司重整</vt:lpstr>
      <vt:lpstr>公司重整</vt:lpstr>
      <vt:lpstr>公司重整</vt:lpstr>
      <vt:lpstr>公司重整</vt:lpstr>
      <vt:lpstr>公司重整</vt:lpstr>
      <vt:lpstr>公司重整</vt:lpstr>
      <vt:lpstr>公司重整</vt:lpstr>
      <vt:lpstr>展期與和解</vt:lpstr>
      <vt:lpstr>破產</vt:lpstr>
      <vt:lpstr>破產</vt:lpstr>
      <vt:lpstr>破產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企業金融的十二堂課  第九課 企業併購與重整</dc:title>
  <dc:creator>L.W.Huang</dc:creator>
  <cp:lastModifiedBy>L.W.Huang</cp:lastModifiedBy>
  <cp:revision>38</cp:revision>
  <dcterms:created xsi:type="dcterms:W3CDTF">2011-04-21T06:19:28Z</dcterms:created>
  <dcterms:modified xsi:type="dcterms:W3CDTF">2011-05-11T12:42:03Z</dcterms:modified>
</cp:coreProperties>
</file>