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62"/>
  </p:notesMasterIdLst>
  <p:sldIdLst>
    <p:sldId id="256" r:id="rId2"/>
    <p:sldId id="277" r:id="rId3"/>
    <p:sldId id="278" r:id="rId4"/>
    <p:sldId id="284" r:id="rId5"/>
    <p:sldId id="285" r:id="rId6"/>
    <p:sldId id="317" r:id="rId7"/>
    <p:sldId id="286" r:id="rId8"/>
    <p:sldId id="274" r:id="rId9"/>
    <p:sldId id="320" r:id="rId10"/>
    <p:sldId id="283" r:id="rId11"/>
    <p:sldId id="279" r:id="rId12"/>
    <p:sldId id="280" r:id="rId13"/>
    <p:sldId id="275" r:id="rId14"/>
    <p:sldId id="281" r:id="rId15"/>
    <p:sldId id="282" r:id="rId16"/>
    <p:sldId id="258" r:id="rId17"/>
    <p:sldId id="287" r:id="rId18"/>
    <p:sldId id="268" r:id="rId19"/>
    <p:sldId id="269" r:id="rId20"/>
    <p:sldId id="260" r:id="rId21"/>
    <p:sldId id="290" r:id="rId22"/>
    <p:sldId id="288" r:id="rId23"/>
    <p:sldId id="270" r:id="rId24"/>
    <p:sldId id="271" r:id="rId25"/>
    <p:sldId id="289" r:id="rId26"/>
    <p:sldId id="295" r:id="rId27"/>
    <p:sldId id="291" r:id="rId28"/>
    <p:sldId id="296" r:id="rId29"/>
    <p:sldId id="292" r:id="rId30"/>
    <p:sldId id="297" r:id="rId31"/>
    <p:sldId id="298" r:id="rId32"/>
    <p:sldId id="293" r:id="rId33"/>
    <p:sldId id="294" r:id="rId34"/>
    <p:sldId id="299" r:id="rId35"/>
    <p:sldId id="304" r:id="rId36"/>
    <p:sldId id="261" r:id="rId37"/>
    <p:sldId id="300" r:id="rId38"/>
    <p:sldId id="264" r:id="rId39"/>
    <p:sldId id="262" r:id="rId40"/>
    <p:sldId id="301" r:id="rId41"/>
    <p:sldId id="305" r:id="rId42"/>
    <p:sldId id="266" r:id="rId43"/>
    <p:sldId id="302" r:id="rId44"/>
    <p:sldId id="316" r:id="rId45"/>
    <p:sldId id="307" r:id="rId46"/>
    <p:sldId id="306" r:id="rId47"/>
    <p:sldId id="313" r:id="rId48"/>
    <p:sldId id="308" r:id="rId49"/>
    <p:sldId id="314" r:id="rId50"/>
    <p:sldId id="315" r:id="rId51"/>
    <p:sldId id="318" r:id="rId52"/>
    <p:sldId id="325" r:id="rId53"/>
    <p:sldId id="321" r:id="rId54"/>
    <p:sldId id="324" r:id="rId55"/>
    <p:sldId id="326" r:id="rId56"/>
    <p:sldId id="328" r:id="rId57"/>
    <p:sldId id="329" r:id="rId58"/>
    <p:sldId id="330" r:id="rId59"/>
    <p:sldId id="322" r:id="rId60"/>
    <p:sldId id="323" r:id="rId61"/>
  </p:sldIdLst>
  <p:sldSz cx="9144000" cy="6858000" type="screen4x3"/>
  <p:notesSz cx="6858000" cy="914400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26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sonHsu\Desktop\USA\Results\Different%20Ag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sonHsu\Desktop\USA\Results\DifferentLambd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M1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'tP60'!$B$2:$AU$2</c:f>
              <c:numCache>
                <c:formatCode>General</c:formatCode>
                <c:ptCount val="46"/>
                <c:pt idx="0">
                  <c:v>0.99536195908483582</c:v>
                </c:pt>
                <c:pt idx="1">
                  <c:v>0.98957967175045203</c:v>
                </c:pt>
                <c:pt idx="2">
                  <c:v>0.98329877795161236</c:v>
                </c:pt>
                <c:pt idx="3">
                  <c:v>0.97635404238600787</c:v>
                </c:pt>
                <c:pt idx="4">
                  <c:v>0.968726254595771</c:v>
                </c:pt>
                <c:pt idx="5">
                  <c:v>0.96046867550677084</c:v>
                </c:pt>
                <c:pt idx="6">
                  <c:v>0.95138688502613122</c:v>
                </c:pt>
                <c:pt idx="7">
                  <c:v>0.94164981481642973</c:v>
                </c:pt>
                <c:pt idx="8">
                  <c:v>0.93111901892445437</c:v>
                </c:pt>
                <c:pt idx="9">
                  <c:v>0.91965584541084433</c:v>
                </c:pt>
                <c:pt idx="10">
                  <c:v>0.90730411262470734</c:v>
                </c:pt>
                <c:pt idx="11">
                  <c:v>0.89386394695854909</c:v>
                </c:pt>
                <c:pt idx="12">
                  <c:v>0.87944992692105306</c:v>
                </c:pt>
                <c:pt idx="13">
                  <c:v>0.86406667760659095</c:v>
                </c:pt>
                <c:pt idx="14">
                  <c:v>0.84753532430523204</c:v>
                </c:pt>
                <c:pt idx="15">
                  <c:v>0.82996086492159193</c:v>
                </c:pt>
                <c:pt idx="16">
                  <c:v>0.81089439429332133</c:v>
                </c:pt>
                <c:pt idx="17">
                  <c:v>0.79042656780482135</c:v>
                </c:pt>
                <c:pt idx="18">
                  <c:v>0.76883776540300652</c:v>
                </c:pt>
                <c:pt idx="19">
                  <c:v>0.74576358439793722</c:v>
                </c:pt>
                <c:pt idx="20">
                  <c:v>0.72039000500945138</c:v>
                </c:pt>
                <c:pt idx="21">
                  <c:v>0.69279412628215375</c:v>
                </c:pt>
                <c:pt idx="22">
                  <c:v>0.66303822225365316</c:v>
                </c:pt>
                <c:pt idx="23">
                  <c:v>0.6316326839986065</c:v>
                </c:pt>
                <c:pt idx="24">
                  <c:v>0.59791190615821099</c:v>
                </c:pt>
                <c:pt idx="25">
                  <c:v>0.56328197642414257</c:v>
                </c:pt>
                <c:pt idx="26">
                  <c:v>0.52573416170401721</c:v>
                </c:pt>
                <c:pt idx="27">
                  <c:v>0.48671137535479886</c:v>
                </c:pt>
                <c:pt idx="28">
                  <c:v>0.44562133154702499</c:v>
                </c:pt>
                <c:pt idx="29">
                  <c:v>0.40310883961999094</c:v>
                </c:pt>
                <c:pt idx="30">
                  <c:v>0.36095881609374886</c:v>
                </c:pt>
                <c:pt idx="31">
                  <c:v>0.3169509750195591</c:v>
                </c:pt>
                <c:pt idx="32">
                  <c:v>0.27443963531324106</c:v>
                </c:pt>
                <c:pt idx="33">
                  <c:v>0.2327333479907189</c:v>
                </c:pt>
                <c:pt idx="34">
                  <c:v>0.19279575783080827</c:v>
                </c:pt>
                <c:pt idx="35">
                  <c:v>0.15640220695578394</c:v>
                </c:pt>
                <c:pt idx="36">
                  <c:v>0.12303109508383828</c:v>
                </c:pt>
                <c:pt idx="37">
                  <c:v>9.4025130189525075E-2</c:v>
                </c:pt>
                <c:pt idx="38">
                  <c:v>6.9308046390184314E-2</c:v>
                </c:pt>
                <c:pt idx="39">
                  <c:v>4.8158050907034629E-2</c:v>
                </c:pt>
                <c:pt idx="40">
                  <c:v>3.2276290775660736E-2</c:v>
                </c:pt>
                <c:pt idx="41">
                  <c:v>1.9337294889829403E-2</c:v>
                </c:pt>
                <c:pt idx="42">
                  <c:v>1.1148225073284472E-2</c:v>
                </c:pt>
                <c:pt idx="43">
                  <c:v>5.6589468103002598E-3</c:v>
                </c:pt>
                <c:pt idx="44">
                  <c:v>2.6064392790475996E-3</c:v>
                </c:pt>
                <c:pt idx="45">
                  <c:v>1.0718969282249855E-3</c:v>
                </c:pt>
              </c:numCache>
            </c:numRef>
          </c:val>
          <c:smooth val="0"/>
        </c:ser>
        <c:ser>
          <c:idx val="1"/>
          <c:order val="1"/>
          <c:tx>
            <c:v>M2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'tP60'!$B$3:$AU$3</c:f>
              <c:numCache>
                <c:formatCode>General</c:formatCode>
                <c:ptCount val="46"/>
                <c:pt idx="0">
                  <c:v>0.99529517253809485</c:v>
                </c:pt>
                <c:pt idx="1">
                  <c:v>0.98938574303525073</c:v>
                </c:pt>
                <c:pt idx="2">
                  <c:v>0.98284342925527524</c:v>
                </c:pt>
                <c:pt idx="3">
                  <c:v>0.97558464675275691</c:v>
                </c:pt>
                <c:pt idx="4">
                  <c:v>0.96762555489173996</c:v>
                </c:pt>
                <c:pt idx="5">
                  <c:v>0.9589851011863858</c:v>
                </c:pt>
                <c:pt idx="6">
                  <c:v>0.94965440954277147</c:v>
                </c:pt>
                <c:pt idx="7">
                  <c:v>0.93964478822649145</c:v>
                </c:pt>
                <c:pt idx="8">
                  <c:v>0.9289833340458421</c:v>
                </c:pt>
                <c:pt idx="9">
                  <c:v>0.9175421775759296</c:v>
                </c:pt>
                <c:pt idx="10">
                  <c:v>0.90512230569412211</c:v>
                </c:pt>
                <c:pt idx="11">
                  <c:v>0.89183525068688552</c:v>
                </c:pt>
                <c:pt idx="12">
                  <c:v>0.87708103557057804</c:v>
                </c:pt>
                <c:pt idx="13">
                  <c:v>0.86106496021176004</c:v>
                </c:pt>
                <c:pt idx="14">
                  <c:v>0.84358748138735973</c:v>
                </c:pt>
                <c:pt idx="15">
                  <c:v>0.82396783090383607</c:v>
                </c:pt>
                <c:pt idx="16">
                  <c:v>0.80323066679730692</c:v>
                </c:pt>
                <c:pt idx="17">
                  <c:v>0.78095257845000743</c:v>
                </c:pt>
                <c:pt idx="18">
                  <c:v>0.75316398449348998</c:v>
                </c:pt>
                <c:pt idx="19">
                  <c:v>0.72405202604499341</c:v>
                </c:pt>
                <c:pt idx="20">
                  <c:v>0.69606295510587046</c:v>
                </c:pt>
                <c:pt idx="21">
                  <c:v>0.67011839717995525</c:v>
                </c:pt>
                <c:pt idx="22">
                  <c:v>0.64091902249677346</c:v>
                </c:pt>
                <c:pt idx="23">
                  <c:v>0.61078719510170632</c:v>
                </c:pt>
                <c:pt idx="24">
                  <c:v>0.57984624813876762</c:v>
                </c:pt>
                <c:pt idx="25">
                  <c:v>0.54939165210675944</c:v>
                </c:pt>
                <c:pt idx="26">
                  <c:v>0.52015036278666749</c:v>
                </c:pt>
                <c:pt idx="27">
                  <c:v>0.4915578280792538</c:v>
                </c:pt>
                <c:pt idx="28">
                  <c:v>0.46462514420323087</c:v>
                </c:pt>
                <c:pt idx="29">
                  <c:v>0.43963789799009628</c:v>
                </c:pt>
                <c:pt idx="30">
                  <c:v>0.41682655456658146</c:v>
                </c:pt>
                <c:pt idx="31">
                  <c:v>0.39505899136660222</c:v>
                </c:pt>
                <c:pt idx="32">
                  <c:v>0.37488139613918747</c:v>
                </c:pt>
                <c:pt idx="33">
                  <c:v>0.35593857683381158</c:v>
                </c:pt>
                <c:pt idx="34">
                  <c:v>0.33827379061235202</c:v>
                </c:pt>
                <c:pt idx="35">
                  <c:v>0.32181445378618578</c:v>
                </c:pt>
                <c:pt idx="36">
                  <c:v>0.30589621231620306</c:v>
                </c:pt>
                <c:pt idx="37">
                  <c:v>0.29089146613179523</c:v>
                </c:pt>
                <c:pt idx="38">
                  <c:v>0.27726028692873361</c:v>
                </c:pt>
                <c:pt idx="39">
                  <c:v>0.26080108986712736</c:v>
                </c:pt>
                <c:pt idx="40">
                  <c:v>0.2468860758822404</c:v>
                </c:pt>
                <c:pt idx="41">
                  <c:v>0.22446463545976775</c:v>
                </c:pt>
                <c:pt idx="42">
                  <c:v>0.2037446672927497</c:v>
                </c:pt>
                <c:pt idx="43">
                  <c:v>0.15884595386668268</c:v>
                </c:pt>
                <c:pt idx="44">
                  <c:v>0.11556887111715113</c:v>
                </c:pt>
                <c:pt idx="45">
                  <c:v>0.10738429141875132</c:v>
                </c:pt>
              </c:numCache>
            </c:numRef>
          </c:val>
          <c:smooth val="0"/>
        </c:ser>
        <c:ser>
          <c:idx val="2"/>
          <c:order val="2"/>
          <c:tx>
            <c:v>M3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'tP60'!$B$4:$AU$4</c:f>
              <c:numCache>
                <c:formatCode>General</c:formatCode>
                <c:ptCount val="46"/>
                <c:pt idx="0">
                  <c:v>0.99539216877872383</c:v>
                </c:pt>
                <c:pt idx="1">
                  <c:v>0.98969149067465423</c:v>
                </c:pt>
                <c:pt idx="2">
                  <c:v>0.98354053200417801</c:v>
                </c:pt>
                <c:pt idx="3">
                  <c:v>0.97678697561696781</c:v>
                </c:pt>
                <c:pt idx="4">
                  <c:v>0.96941804610236182</c:v>
                </c:pt>
                <c:pt idx="5">
                  <c:v>0.96144652665810226</c:v>
                </c:pt>
                <c:pt idx="6">
                  <c:v>0.95288436554347655</c:v>
                </c:pt>
                <c:pt idx="7">
                  <c:v>0.94373001009454904</c:v>
                </c:pt>
                <c:pt idx="8">
                  <c:v>0.9340586670860197</c:v>
                </c:pt>
                <c:pt idx="9">
                  <c:v>0.92376716040423801</c:v>
                </c:pt>
                <c:pt idx="10">
                  <c:v>0.91268912931424617</c:v>
                </c:pt>
                <c:pt idx="11">
                  <c:v>0.90102760830076911</c:v>
                </c:pt>
                <c:pt idx="12">
                  <c:v>0.88835620914422175</c:v>
                </c:pt>
                <c:pt idx="13">
                  <c:v>0.87481162632630582</c:v>
                </c:pt>
                <c:pt idx="14">
                  <c:v>0.86032087401740021</c:v>
                </c:pt>
                <c:pt idx="15">
                  <c:v>0.84472731318143857</c:v>
                </c:pt>
                <c:pt idx="16">
                  <c:v>0.82825337744650218</c:v>
                </c:pt>
                <c:pt idx="17">
                  <c:v>0.81073174519207647</c:v>
                </c:pt>
                <c:pt idx="18">
                  <c:v>0.7921772434267178</c:v>
                </c:pt>
                <c:pt idx="19">
                  <c:v>0.7724956973493905</c:v>
                </c:pt>
                <c:pt idx="20">
                  <c:v>0.75107248792883041</c:v>
                </c:pt>
                <c:pt idx="21">
                  <c:v>0.72805418762839758</c:v>
                </c:pt>
                <c:pt idx="22">
                  <c:v>0.70328021340276303</c:v>
                </c:pt>
                <c:pt idx="23">
                  <c:v>0.67694805312236639</c:v>
                </c:pt>
                <c:pt idx="24">
                  <c:v>0.6491614408345866</c:v>
                </c:pt>
                <c:pt idx="25">
                  <c:v>0.61992049068326649</c:v>
                </c:pt>
                <c:pt idx="26">
                  <c:v>0.58893444519803972</c:v>
                </c:pt>
                <c:pt idx="27">
                  <c:v>0.55650160732264942</c:v>
                </c:pt>
                <c:pt idx="28">
                  <c:v>0.52293981919442512</c:v>
                </c:pt>
                <c:pt idx="29">
                  <c:v>0.48833891804248425</c:v>
                </c:pt>
                <c:pt idx="30">
                  <c:v>0.45305956594097713</c:v>
                </c:pt>
                <c:pt idx="31">
                  <c:v>0.41695593676363518</c:v>
                </c:pt>
                <c:pt idx="32">
                  <c:v>0.38040927742659703</c:v>
                </c:pt>
                <c:pt idx="33">
                  <c:v>0.34388844224617315</c:v>
                </c:pt>
                <c:pt idx="34">
                  <c:v>0.30752618527353104</c:v>
                </c:pt>
                <c:pt idx="35">
                  <c:v>0.27253779425016839</c:v>
                </c:pt>
                <c:pt idx="36">
                  <c:v>0.23912448617394588</c:v>
                </c:pt>
                <c:pt idx="37">
                  <c:v>0.20744325844160982</c:v>
                </c:pt>
                <c:pt idx="38">
                  <c:v>0.17837502910815112</c:v>
                </c:pt>
                <c:pt idx="39">
                  <c:v>0.15151069537346637</c:v>
                </c:pt>
                <c:pt idx="40">
                  <c:v>0.12699068267228888</c:v>
                </c:pt>
                <c:pt idx="41">
                  <c:v>0.104938193024689</c:v>
                </c:pt>
                <c:pt idx="42">
                  <c:v>8.6416475732761969E-2</c:v>
                </c:pt>
                <c:pt idx="43">
                  <c:v>7.0652924253532368E-2</c:v>
                </c:pt>
                <c:pt idx="44">
                  <c:v>5.7469046377311123E-2</c:v>
                </c:pt>
                <c:pt idx="45">
                  <c:v>4.481025094495153E-2</c:v>
                </c:pt>
              </c:numCache>
            </c:numRef>
          </c:val>
          <c:smooth val="0"/>
        </c:ser>
        <c:ser>
          <c:idx val="3"/>
          <c:order val="3"/>
          <c:tx>
            <c:v>M4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'tP60'!$B$5:$AU$5</c:f>
              <c:numCache>
                <c:formatCode>General</c:formatCode>
                <c:ptCount val="46"/>
                <c:pt idx="0">
                  <c:v>0.99553011978387751</c:v>
                </c:pt>
                <c:pt idx="1">
                  <c:v>0.99006697166011848</c:v>
                </c:pt>
                <c:pt idx="2">
                  <c:v>0.9842264069818204</c:v>
                </c:pt>
                <c:pt idx="3">
                  <c:v>0.97786132840260021</c:v>
                </c:pt>
                <c:pt idx="4">
                  <c:v>0.97095241312688785</c:v>
                </c:pt>
                <c:pt idx="5">
                  <c:v>0.96353066014437172</c:v>
                </c:pt>
                <c:pt idx="6">
                  <c:v>0.95547984422846921</c:v>
                </c:pt>
                <c:pt idx="7">
                  <c:v>0.9468838157165822</c:v>
                </c:pt>
                <c:pt idx="8">
                  <c:v>0.93767753349902716</c:v>
                </c:pt>
                <c:pt idx="9">
                  <c:v>0.92769467902762415</c:v>
                </c:pt>
                <c:pt idx="10">
                  <c:v>0.91689659273833846</c:v>
                </c:pt>
                <c:pt idx="11">
                  <c:v>0.90521471434722944</c:v>
                </c:pt>
                <c:pt idx="12">
                  <c:v>0.89249625626339757</c:v>
                </c:pt>
                <c:pt idx="13">
                  <c:v>0.87887411098570289</c:v>
                </c:pt>
                <c:pt idx="14">
                  <c:v>0.86394525020862256</c:v>
                </c:pt>
                <c:pt idx="15">
                  <c:v>0.8477732608635975</c:v>
                </c:pt>
                <c:pt idx="16">
                  <c:v>0.8300654216771145</c:v>
                </c:pt>
                <c:pt idx="17">
                  <c:v>0.81078505255678268</c:v>
                </c:pt>
                <c:pt idx="18">
                  <c:v>0.78987655912673138</c:v>
                </c:pt>
                <c:pt idx="19">
                  <c:v>0.7670770165070705</c:v>
                </c:pt>
                <c:pt idx="20">
                  <c:v>0.74191283185508861</c:v>
                </c:pt>
                <c:pt idx="21">
                  <c:v>0.71442681866491431</c:v>
                </c:pt>
                <c:pt idx="22">
                  <c:v>0.68381866237173206</c:v>
                </c:pt>
                <c:pt idx="23">
                  <c:v>0.65060596273916527</c:v>
                </c:pt>
                <c:pt idx="24">
                  <c:v>0.6139429195860866</c:v>
                </c:pt>
                <c:pt idx="25">
                  <c:v>0.57546010819467419</c:v>
                </c:pt>
                <c:pt idx="26">
                  <c:v>0.53310854840882616</c:v>
                </c:pt>
                <c:pt idx="27">
                  <c:v>0.48835636670374399</c:v>
                </c:pt>
                <c:pt idx="28">
                  <c:v>0.44120384357589237</c:v>
                </c:pt>
                <c:pt idx="29">
                  <c:v>0.39202078799431656</c:v>
                </c:pt>
                <c:pt idx="30">
                  <c:v>0.34221411519383399</c:v>
                </c:pt>
                <c:pt idx="31">
                  <c:v>0.29232131437670017</c:v>
                </c:pt>
                <c:pt idx="32">
                  <c:v>0.24389895946634743</c:v>
                </c:pt>
                <c:pt idx="33">
                  <c:v>0.19738826136243606</c:v>
                </c:pt>
                <c:pt idx="34">
                  <c:v>0.15438018733413461</c:v>
                </c:pt>
                <c:pt idx="35">
                  <c:v>0.11711025821941334</c:v>
                </c:pt>
                <c:pt idx="36">
                  <c:v>8.5044306955477517E-2</c:v>
                </c:pt>
                <c:pt idx="37">
                  <c:v>5.9182473894662635E-2</c:v>
                </c:pt>
                <c:pt idx="38">
                  <c:v>3.9447373573112988E-2</c:v>
                </c:pt>
                <c:pt idx="39">
                  <c:v>2.4872634150209391E-2</c:v>
                </c:pt>
                <c:pt idx="40">
                  <c:v>1.4731980412335768E-2</c:v>
                </c:pt>
                <c:pt idx="41">
                  <c:v>8.1463657616229306E-3</c:v>
                </c:pt>
                <c:pt idx="42">
                  <c:v>4.3785136127863925E-3</c:v>
                </c:pt>
                <c:pt idx="43">
                  <c:v>2.1644257396214082E-3</c:v>
                </c:pt>
                <c:pt idx="44">
                  <c:v>1.0238990307598268E-3</c:v>
                </c:pt>
                <c:pt idx="45">
                  <c:v>4.2932925896563046E-4</c:v>
                </c:pt>
              </c:numCache>
            </c:numRef>
          </c:val>
          <c:smooth val="0"/>
        </c:ser>
        <c:ser>
          <c:idx val="4"/>
          <c:order val="4"/>
          <c:tx>
            <c:v>M5</c:v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'tP60'!$B$6:$AU$6</c:f>
              <c:numCache>
                <c:formatCode>General</c:formatCode>
                <c:ptCount val="46"/>
                <c:pt idx="0">
                  <c:v>0.99539622003309502</c:v>
                </c:pt>
                <c:pt idx="1">
                  <c:v>0.98969422222693793</c:v>
                </c:pt>
                <c:pt idx="2">
                  <c:v>0.98346317958325968</c:v>
                </c:pt>
                <c:pt idx="3">
                  <c:v>0.97649702037631236</c:v>
                </c:pt>
                <c:pt idx="4">
                  <c:v>0.96880342640292416</c:v>
                </c:pt>
                <c:pt idx="5">
                  <c:v>0.96026365653842671</c:v>
                </c:pt>
                <c:pt idx="6">
                  <c:v>0.9507833834852899</c:v>
                </c:pt>
                <c:pt idx="7">
                  <c:v>0.94030010879187553</c:v>
                </c:pt>
                <c:pt idx="8">
                  <c:v>0.92882732439616611</c:v>
                </c:pt>
                <c:pt idx="9">
                  <c:v>0.91615028607333604</c:v>
                </c:pt>
                <c:pt idx="10">
                  <c:v>0.90200005314540266</c:v>
                </c:pt>
                <c:pt idx="11">
                  <c:v>0.88650726353902753</c:v>
                </c:pt>
                <c:pt idx="12">
                  <c:v>0.86901056164403301</c:v>
                </c:pt>
                <c:pt idx="13">
                  <c:v>0.84954714674895271</c:v>
                </c:pt>
                <c:pt idx="14">
                  <c:v>0.82786678932299462</c:v>
                </c:pt>
                <c:pt idx="15">
                  <c:v>0.80359603508061639</c:v>
                </c:pt>
                <c:pt idx="16">
                  <c:v>0.77691145704879294</c:v>
                </c:pt>
                <c:pt idx="17">
                  <c:v>0.74736706425075794</c:v>
                </c:pt>
                <c:pt idx="18">
                  <c:v>0.71482083364772253</c:v>
                </c:pt>
                <c:pt idx="19">
                  <c:v>0.67899962751661846</c:v>
                </c:pt>
                <c:pt idx="20">
                  <c:v>0.63876215390840085</c:v>
                </c:pt>
                <c:pt idx="21">
                  <c:v>0.59432964835156055</c:v>
                </c:pt>
                <c:pt idx="22">
                  <c:v>0.54552352449049368</c:v>
                </c:pt>
                <c:pt idx="23">
                  <c:v>0.4931184451213137</c:v>
                </c:pt>
                <c:pt idx="24">
                  <c:v>0.43783164703229083</c:v>
                </c:pt>
                <c:pt idx="25">
                  <c:v>0.38047776486908896</c:v>
                </c:pt>
                <c:pt idx="26">
                  <c:v>0.32168366601262788</c:v>
                </c:pt>
                <c:pt idx="27">
                  <c:v>0.26351407153940343</c:v>
                </c:pt>
                <c:pt idx="28">
                  <c:v>0.20815239276901365</c:v>
                </c:pt>
                <c:pt idx="29">
                  <c:v>0.15742259686390142</c:v>
                </c:pt>
                <c:pt idx="30">
                  <c:v>0.11327501568053866</c:v>
                </c:pt>
                <c:pt idx="31">
                  <c:v>7.6605419046921752E-2</c:v>
                </c:pt>
                <c:pt idx="32">
                  <c:v>4.8242126782690006E-2</c:v>
                </c:pt>
                <c:pt idx="33">
                  <c:v>2.8018214848681503E-2</c:v>
                </c:pt>
                <c:pt idx="34">
                  <c:v>1.4778030156249299E-2</c:v>
                </c:pt>
                <c:pt idx="35">
                  <c:v>7.0900828006096222E-3</c:v>
                </c:pt>
                <c:pt idx="36">
                  <c:v>3.0730344049898295E-3</c:v>
                </c:pt>
                <c:pt idx="37">
                  <c:v>1.2373949945630263E-3</c:v>
                </c:pt>
                <c:pt idx="38">
                  <c:v>4.8684848616151329E-4</c:v>
                </c:pt>
                <c:pt idx="39">
                  <c:v>1.9039937846058896E-4</c:v>
                </c:pt>
                <c:pt idx="40">
                  <c:v>7.4214700312089275E-5</c:v>
                </c:pt>
                <c:pt idx="41">
                  <c:v>2.884780128133199E-5</c:v>
                </c:pt>
                <c:pt idx="42">
                  <c:v>1.1186361666731314E-5</c:v>
                </c:pt>
                <c:pt idx="43">
                  <c:v>4.3285536576763629E-6</c:v>
                </c:pt>
                <c:pt idx="44">
                  <c:v>1.671769068109846E-6</c:v>
                </c:pt>
                <c:pt idx="45">
                  <c:v>6.445753429520453E-7</c:v>
                </c:pt>
              </c:numCache>
            </c:numRef>
          </c:val>
          <c:smooth val="0"/>
        </c:ser>
        <c:ser>
          <c:idx val="5"/>
          <c:order val="5"/>
          <c:tx>
            <c:v>M6</c:v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'tP60'!$B$7:$AU$7</c:f>
              <c:numCache>
                <c:formatCode>General</c:formatCode>
                <c:ptCount val="46"/>
                <c:pt idx="0">
                  <c:v>0.99547551645431742</c:v>
                </c:pt>
                <c:pt idx="1">
                  <c:v>0.98991338458419265</c:v>
                </c:pt>
                <c:pt idx="2">
                  <c:v>0.9839162769009745</c:v>
                </c:pt>
                <c:pt idx="3">
                  <c:v>0.97728506857024344</c:v>
                </c:pt>
                <c:pt idx="4">
                  <c:v>0.96998173263217813</c:v>
                </c:pt>
                <c:pt idx="5">
                  <c:v>0.9618766682668598</c:v>
                </c:pt>
                <c:pt idx="6">
                  <c:v>0.95282087697334561</c:v>
                </c:pt>
                <c:pt idx="7">
                  <c:v>0.94268795291777407</c:v>
                </c:pt>
                <c:pt idx="8">
                  <c:v>0.93140551244560987</c:v>
                </c:pt>
                <c:pt idx="9">
                  <c:v>0.91867561959163158</c:v>
                </c:pt>
                <c:pt idx="10">
                  <c:v>0.90410177677415982</c:v>
                </c:pt>
                <c:pt idx="11">
                  <c:v>0.88766407631381483</c:v>
                </c:pt>
                <c:pt idx="12">
                  <c:v>0.86848722732582118</c:v>
                </c:pt>
                <c:pt idx="13">
                  <c:v>0.84637261760696747</c:v>
                </c:pt>
                <c:pt idx="14">
                  <c:v>0.82078894764588339</c:v>
                </c:pt>
                <c:pt idx="15">
                  <c:v>0.79097169157722136</c:v>
                </c:pt>
                <c:pt idx="16">
                  <c:v>0.75676596841099875</c:v>
                </c:pt>
                <c:pt idx="17">
                  <c:v>0.71721201840122895</c:v>
                </c:pt>
                <c:pt idx="18">
                  <c:v>0.67170308089971476</c:v>
                </c:pt>
                <c:pt idx="19">
                  <c:v>0.61945580515356147</c:v>
                </c:pt>
                <c:pt idx="20">
                  <c:v>0.55853839845904552</c:v>
                </c:pt>
                <c:pt idx="21">
                  <c:v>0.48927164622272706</c:v>
                </c:pt>
                <c:pt idx="22">
                  <c:v>0.41211554908899506</c:v>
                </c:pt>
                <c:pt idx="23">
                  <c:v>0.33011255398231226</c:v>
                </c:pt>
                <c:pt idx="24">
                  <c:v>0.2476914749286929</c:v>
                </c:pt>
                <c:pt idx="25">
                  <c:v>0.17089436019833565</c:v>
                </c:pt>
                <c:pt idx="26">
                  <c:v>0.10599888328210982</c:v>
                </c:pt>
                <c:pt idx="27">
                  <c:v>5.870511370582239E-2</c:v>
                </c:pt>
                <c:pt idx="28">
                  <c:v>2.9671108927460773E-2</c:v>
                </c:pt>
                <c:pt idx="29">
                  <c:v>1.4169735523379396E-2</c:v>
                </c:pt>
                <c:pt idx="30">
                  <c:v>6.5824186183818306E-3</c:v>
                </c:pt>
                <c:pt idx="31">
                  <c:v>3.0240681334980516E-3</c:v>
                </c:pt>
                <c:pt idx="32">
                  <c:v>1.3985073356024189E-3</c:v>
                </c:pt>
                <c:pt idx="33">
                  <c:v>6.6256285442528747E-4</c:v>
                </c:pt>
                <c:pt idx="34">
                  <c:v>3.2710097914912656E-4</c:v>
                </c:pt>
                <c:pt idx="35">
                  <c:v>1.728158778689291E-4</c:v>
                </c:pt>
                <c:pt idx="36">
                  <c:v>9.9383011437525847E-5</c:v>
                </c:pt>
                <c:pt idx="37">
                  <c:v>6.2747420397536052E-5</c:v>
                </c:pt>
                <c:pt idx="38">
                  <c:v>4.3614907975896692E-5</c:v>
                </c:pt>
                <c:pt idx="39">
                  <c:v>3.2838465862035885E-5</c:v>
                </c:pt>
                <c:pt idx="40">
                  <c:v>2.6359257405238068E-5</c:v>
                </c:pt>
                <c:pt idx="41">
                  <c:v>2.2225219507725691E-5</c:v>
                </c:pt>
                <c:pt idx="42">
                  <c:v>1.9620580639478493E-5</c:v>
                </c:pt>
                <c:pt idx="43">
                  <c:v>1.785760696526825E-5</c:v>
                </c:pt>
                <c:pt idx="44">
                  <c:v>1.6649498202166471E-5</c:v>
                </c:pt>
                <c:pt idx="45">
                  <c:v>1.5639434825140755E-5</c:v>
                </c:pt>
              </c:numCache>
            </c:numRef>
          </c:val>
          <c:smooth val="0"/>
        </c:ser>
        <c:ser>
          <c:idx val="6"/>
          <c:order val="6"/>
          <c:tx>
            <c:v>M7</c:v>
          </c:tx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none"/>
          </c:marker>
          <c:val>
            <c:numRef>
              <c:f>'tP60'!$B$8:$AU$8</c:f>
              <c:numCache>
                <c:formatCode>General</c:formatCode>
                <c:ptCount val="46"/>
                <c:pt idx="0">
                  <c:v>0.99579046503565349</c:v>
                </c:pt>
                <c:pt idx="1">
                  <c:v>0.99097032460460199</c:v>
                </c:pt>
                <c:pt idx="2">
                  <c:v>0.98608036659325882</c:v>
                </c:pt>
                <c:pt idx="3">
                  <c:v>0.98092009042263995</c:v>
                </c:pt>
                <c:pt idx="4">
                  <c:v>0.97539625028302024</c:v>
                </c:pt>
                <c:pt idx="5">
                  <c:v>0.96942184622855077</c:v>
                </c:pt>
                <c:pt idx="6">
                  <c:v>0.96294668708399322</c:v>
                </c:pt>
                <c:pt idx="7">
                  <c:v>0.95594718812856816</c:v>
                </c:pt>
                <c:pt idx="8">
                  <c:v>0.94843319912473767</c:v>
                </c:pt>
                <c:pt idx="9">
                  <c:v>0.94027245497232725</c:v>
                </c:pt>
                <c:pt idx="10">
                  <c:v>0.93129602284949131</c:v>
                </c:pt>
                <c:pt idx="11">
                  <c:v>0.92157697783529335</c:v>
                </c:pt>
                <c:pt idx="12">
                  <c:v>0.91071099623008367</c:v>
                </c:pt>
                <c:pt idx="13">
                  <c:v>0.89871303512494793</c:v>
                </c:pt>
                <c:pt idx="14">
                  <c:v>0.88538556693253845</c:v>
                </c:pt>
                <c:pt idx="15">
                  <c:v>0.87048853539367022</c:v>
                </c:pt>
                <c:pt idx="16">
                  <c:v>0.85401080760369263</c:v>
                </c:pt>
                <c:pt idx="17">
                  <c:v>0.83562790892091821</c:v>
                </c:pt>
                <c:pt idx="18">
                  <c:v>0.81516724353654657</c:v>
                </c:pt>
                <c:pt idx="19">
                  <c:v>0.79229104786154381</c:v>
                </c:pt>
                <c:pt idx="20">
                  <c:v>0.76609167978499848</c:v>
                </c:pt>
                <c:pt idx="21">
                  <c:v>0.73642352807838984</c:v>
                </c:pt>
                <c:pt idx="22">
                  <c:v>0.70261202099191278</c:v>
                </c:pt>
                <c:pt idx="23">
                  <c:v>0.66477649670458638</c:v>
                </c:pt>
                <c:pt idx="24">
                  <c:v>0.62255668160584765</c:v>
                </c:pt>
                <c:pt idx="25">
                  <c:v>0.57627312806844011</c:v>
                </c:pt>
                <c:pt idx="26">
                  <c:v>0.52492318047579578</c:v>
                </c:pt>
                <c:pt idx="27">
                  <c:v>0.46955924540445215</c:v>
                </c:pt>
                <c:pt idx="28">
                  <c:v>0.41108223061873378</c:v>
                </c:pt>
                <c:pt idx="29">
                  <c:v>0.35048613186824146</c:v>
                </c:pt>
                <c:pt idx="30">
                  <c:v>0.28987486184747507</c:v>
                </c:pt>
                <c:pt idx="31">
                  <c:v>0.23069476635358638</c:v>
                </c:pt>
                <c:pt idx="32">
                  <c:v>0.17561694231563016</c:v>
                </c:pt>
                <c:pt idx="33">
                  <c:v>0.12670090991896138</c:v>
                </c:pt>
                <c:pt idx="34">
                  <c:v>8.5756167613563292E-2</c:v>
                </c:pt>
                <c:pt idx="35">
                  <c:v>5.4497118514731754E-2</c:v>
                </c:pt>
                <c:pt idx="36">
                  <c:v>3.201328359416615E-2</c:v>
                </c:pt>
                <c:pt idx="37">
                  <c:v>1.7279538554236952E-2</c:v>
                </c:pt>
                <c:pt idx="38">
                  <c:v>8.5758278355581898E-3</c:v>
                </c:pt>
                <c:pt idx="39">
                  <c:v>3.8679714983257418E-3</c:v>
                </c:pt>
                <c:pt idx="40">
                  <c:v>1.6110224168783026E-3</c:v>
                </c:pt>
                <c:pt idx="41">
                  <c:v>6.4236500642623866E-4</c:v>
                </c:pt>
                <c:pt idx="42">
                  <c:v>2.5288919742724633E-4</c:v>
                </c:pt>
                <c:pt idx="43">
                  <c:v>9.8786614811971203E-5</c:v>
                </c:pt>
                <c:pt idx="44">
                  <c:v>3.8462257199162391E-5</c:v>
                </c:pt>
                <c:pt idx="45">
                  <c:v>1.4935921910686534E-5</c:v>
                </c:pt>
              </c:numCache>
            </c:numRef>
          </c:val>
          <c:smooth val="0"/>
        </c:ser>
        <c:ser>
          <c:idx val="7"/>
          <c:order val="7"/>
          <c:tx>
            <c:v>History</c:v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'tP60'!$B$9:$AU$9</c:f>
              <c:numCache>
                <c:formatCode>General</c:formatCode>
                <c:ptCount val="46"/>
                <c:pt idx="0">
                  <c:v>0.99574273794245327</c:v>
                </c:pt>
                <c:pt idx="1">
                  <c:v>0.99070353185491877</c:v>
                </c:pt>
                <c:pt idx="2">
                  <c:v>0.9849384372668204</c:v>
                </c:pt>
                <c:pt idx="3">
                  <c:v>0.97821860639871883</c:v>
                </c:pt>
                <c:pt idx="4">
                  <c:v>0.97135506317249443</c:v>
                </c:pt>
                <c:pt idx="5">
                  <c:v>0.96344378250168428</c:v>
                </c:pt>
                <c:pt idx="6">
                  <c:v>0.95474962084642478</c:v>
                </c:pt>
                <c:pt idx="7">
                  <c:v>0.94501566963644545</c:v>
                </c:pt>
                <c:pt idx="8">
                  <c:v>0.93466136665040311</c:v>
                </c:pt>
                <c:pt idx="9">
                  <c:v>0.92329908612139466</c:v>
                </c:pt>
                <c:pt idx="10">
                  <c:v>0.9108484602142034</c:v>
                </c:pt>
                <c:pt idx="11">
                  <c:v>0.89740260734587196</c:v>
                </c:pt>
                <c:pt idx="12">
                  <c:v>0.88252808175094066</c:v>
                </c:pt>
                <c:pt idx="13">
                  <c:v>0.86663763697478102</c:v>
                </c:pt>
                <c:pt idx="14">
                  <c:v>0.84915968022197463</c:v>
                </c:pt>
                <c:pt idx="15">
                  <c:v>0.8297762689583229</c:v>
                </c:pt>
                <c:pt idx="16">
                  <c:v>0.80927747140902484</c:v>
                </c:pt>
                <c:pt idx="17">
                  <c:v>0.78672136521096114</c:v>
                </c:pt>
                <c:pt idx="18">
                  <c:v>0.76234273572665412</c:v>
                </c:pt>
                <c:pt idx="19">
                  <c:v>0.73642357226380273</c:v>
                </c:pt>
                <c:pt idx="20">
                  <c:v>0.70820718069173283</c:v>
                </c:pt>
                <c:pt idx="21">
                  <c:v>0.67834226010512955</c:v>
                </c:pt>
                <c:pt idx="22">
                  <c:v>0.64569786877362889</c:v>
                </c:pt>
                <c:pt idx="23">
                  <c:v>0.61149416256014022</c:v>
                </c:pt>
                <c:pt idx="24">
                  <c:v>0.57515792714009217</c:v>
                </c:pt>
                <c:pt idx="25">
                  <c:v>0.53665094775403999</c:v>
                </c:pt>
                <c:pt idx="26">
                  <c:v>0.49652544404115645</c:v>
                </c:pt>
                <c:pt idx="27">
                  <c:v>0.45502917099925683</c:v>
                </c:pt>
                <c:pt idx="28">
                  <c:v>0.41168278726775759</c:v>
                </c:pt>
                <c:pt idx="29">
                  <c:v>0.36789314493585701</c:v>
                </c:pt>
                <c:pt idx="30">
                  <c:v>0.32334933101849328</c:v>
                </c:pt>
                <c:pt idx="31">
                  <c:v>0.28125809602813479</c:v>
                </c:pt>
                <c:pt idx="32">
                  <c:v>0.23917501612467823</c:v>
                </c:pt>
                <c:pt idx="33">
                  <c:v>0.20014047779876051</c:v>
                </c:pt>
                <c:pt idx="34">
                  <c:v>0.16412213380497706</c:v>
                </c:pt>
                <c:pt idx="35">
                  <c:v>0.13124921348809709</c:v>
                </c:pt>
                <c:pt idx="36">
                  <c:v>0.10272620129501996</c:v>
                </c:pt>
                <c:pt idx="37">
                  <c:v>7.8796534619122935E-2</c:v>
                </c:pt>
                <c:pt idx="38">
                  <c:v>5.8941450040418994E-2</c:v>
                </c:pt>
                <c:pt idx="39">
                  <c:v>4.2750458008826431E-2</c:v>
                </c:pt>
                <c:pt idx="40">
                  <c:v>3.0126923457438958E-2</c:v>
                </c:pt>
                <c:pt idx="41">
                  <c:v>2.0702551198513823E-2</c:v>
                </c:pt>
                <c:pt idx="42">
                  <c:v>1.3890557864381099E-2</c:v>
                </c:pt>
                <c:pt idx="43">
                  <c:v>9.0147016294143244E-3</c:v>
                </c:pt>
                <c:pt idx="44">
                  <c:v>5.6117578291409375E-3</c:v>
                </c:pt>
                <c:pt idx="45">
                  <c:v>3.4044356318674493E-3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8537016"/>
        <c:axId val="118563520"/>
      </c:lineChart>
      <c:catAx>
        <c:axId val="1185370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/>
                  <a:t>投保者存活年數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563520"/>
        <c:crosses val="autoZero"/>
        <c:auto val="1"/>
        <c:lblAlgn val="ctr"/>
        <c:lblOffset val="100"/>
        <c:noMultiLvlLbl val="0"/>
      </c:catAx>
      <c:valAx>
        <c:axId val="118563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t" anchorCtr="0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 smtClean="0"/>
                  <a:t>期望存活率</a:t>
                </a:r>
                <a:endParaRPr lang="zh-TW" altLang="en-US"/>
              </a:p>
            </c:rich>
          </c:tx>
          <c:layout>
            <c:manualLayout>
              <c:xMode val="edge"/>
              <c:yMode val="edge"/>
              <c:x val="2.2391857506361322E-2"/>
              <c:y val="0.3469749487420942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t" anchorCtr="0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537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Lambda-0.25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工作表1!$C$3:$AV$3</c:f>
              <c:numCache>
                <c:formatCode>General</c:formatCode>
                <c:ptCount val="46"/>
                <c:pt idx="0">
                  <c:v>0.99536195908483582</c:v>
                </c:pt>
                <c:pt idx="1">
                  <c:v>0.98957967175045203</c:v>
                </c:pt>
                <c:pt idx="2">
                  <c:v>0.98329877795161236</c:v>
                </c:pt>
                <c:pt idx="3">
                  <c:v>0.97635404238600787</c:v>
                </c:pt>
                <c:pt idx="4">
                  <c:v>0.968726254595771</c:v>
                </c:pt>
                <c:pt idx="5">
                  <c:v>0.96046867550677084</c:v>
                </c:pt>
                <c:pt idx="6">
                  <c:v>0.95138688502613122</c:v>
                </c:pt>
                <c:pt idx="7">
                  <c:v>0.94164981481642973</c:v>
                </c:pt>
                <c:pt idx="8">
                  <c:v>0.93111901892445437</c:v>
                </c:pt>
                <c:pt idx="9">
                  <c:v>0.91965584541084433</c:v>
                </c:pt>
                <c:pt idx="10">
                  <c:v>0.90730411262470734</c:v>
                </c:pt>
                <c:pt idx="11">
                  <c:v>0.89386394695854909</c:v>
                </c:pt>
                <c:pt idx="12">
                  <c:v>0.87944992692105306</c:v>
                </c:pt>
                <c:pt idx="13">
                  <c:v>0.86406667760659095</c:v>
                </c:pt>
                <c:pt idx="14">
                  <c:v>0.84753532430523204</c:v>
                </c:pt>
                <c:pt idx="15">
                  <c:v>0.82996086492159193</c:v>
                </c:pt>
                <c:pt idx="16">
                  <c:v>0.81089439429332133</c:v>
                </c:pt>
                <c:pt idx="17">
                  <c:v>0.79042656780482135</c:v>
                </c:pt>
                <c:pt idx="18">
                  <c:v>0.76883776540300652</c:v>
                </c:pt>
                <c:pt idx="19">
                  <c:v>0.74576358439793722</c:v>
                </c:pt>
                <c:pt idx="20">
                  <c:v>0.72039000500945138</c:v>
                </c:pt>
                <c:pt idx="21">
                  <c:v>0.69279412628215375</c:v>
                </c:pt>
                <c:pt idx="22">
                  <c:v>0.66303822225365316</c:v>
                </c:pt>
                <c:pt idx="23">
                  <c:v>0.6316326839986065</c:v>
                </c:pt>
                <c:pt idx="24">
                  <c:v>0.59791190615821099</c:v>
                </c:pt>
                <c:pt idx="25">
                  <c:v>0.56328197642414257</c:v>
                </c:pt>
                <c:pt idx="26">
                  <c:v>0.52573416170401721</c:v>
                </c:pt>
                <c:pt idx="27">
                  <c:v>0.48671137535479886</c:v>
                </c:pt>
                <c:pt idx="28">
                  <c:v>0.44562133154702499</c:v>
                </c:pt>
                <c:pt idx="29">
                  <c:v>0.40310883961999094</c:v>
                </c:pt>
                <c:pt idx="30">
                  <c:v>0.36095881609374886</c:v>
                </c:pt>
                <c:pt idx="31">
                  <c:v>0.3169509750195591</c:v>
                </c:pt>
                <c:pt idx="32">
                  <c:v>0.27443963531324106</c:v>
                </c:pt>
                <c:pt idx="33">
                  <c:v>0.2327333479907189</c:v>
                </c:pt>
                <c:pt idx="34">
                  <c:v>0.19279575783080827</c:v>
                </c:pt>
                <c:pt idx="35">
                  <c:v>0.15640220695578394</c:v>
                </c:pt>
                <c:pt idx="36">
                  <c:v>0.12303109508383828</c:v>
                </c:pt>
                <c:pt idx="37">
                  <c:v>9.4025130189525075E-2</c:v>
                </c:pt>
                <c:pt idx="38">
                  <c:v>6.9308046390184314E-2</c:v>
                </c:pt>
                <c:pt idx="39">
                  <c:v>4.8158050907034629E-2</c:v>
                </c:pt>
                <c:pt idx="40">
                  <c:v>3.2276290775660736E-2</c:v>
                </c:pt>
                <c:pt idx="41">
                  <c:v>1.9337294889829403E-2</c:v>
                </c:pt>
                <c:pt idx="42">
                  <c:v>1.1148225073284472E-2</c:v>
                </c:pt>
                <c:pt idx="43">
                  <c:v>5.6589468103002598E-3</c:v>
                </c:pt>
                <c:pt idx="44">
                  <c:v>2.6064392790475996E-3</c:v>
                </c:pt>
                <c:pt idx="45">
                  <c:v>1.0718969282249855E-3</c:v>
                </c:pt>
              </c:numCache>
            </c:numRef>
          </c:val>
          <c:smooth val="0"/>
        </c:ser>
        <c:ser>
          <c:idx val="1"/>
          <c:order val="1"/>
          <c:tx>
            <c:v>Lambda-0.15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工作表1!$C$4:$AV$4</c:f>
              <c:numCache>
                <c:formatCode>General</c:formatCode>
                <c:ptCount val="46"/>
                <c:pt idx="0">
                  <c:v>0.99381950830054211</c:v>
                </c:pt>
                <c:pt idx="1">
                  <c:v>0.9864747592598665</c:v>
                </c:pt>
                <c:pt idx="2">
                  <c:v>0.97867236048353234</c:v>
                </c:pt>
                <c:pt idx="3">
                  <c:v>0.9701801432857271</c:v>
                </c:pt>
                <c:pt idx="4">
                  <c:v>0.96097235243909451</c:v>
                </c:pt>
                <c:pt idx="5">
                  <c:v>0.95110907305582659</c:v>
                </c:pt>
                <c:pt idx="6">
                  <c:v>0.94037192225334598</c:v>
                </c:pt>
                <c:pt idx="7">
                  <c:v>0.92896383489030465</c:v>
                </c:pt>
                <c:pt idx="8">
                  <c:v>0.91673887258417797</c:v>
                </c:pt>
                <c:pt idx="9">
                  <c:v>0.90353753122069125</c:v>
                </c:pt>
                <c:pt idx="10">
                  <c:v>0.88942720796754415</c:v>
                </c:pt>
                <c:pt idx="11">
                  <c:v>0.87419676245256017</c:v>
                </c:pt>
                <c:pt idx="12">
                  <c:v>0.85798782463238932</c:v>
                </c:pt>
                <c:pt idx="13">
                  <c:v>0.84082150745090067</c:v>
                </c:pt>
                <c:pt idx="14">
                  <c:v>0.82250642896692217</c:v>
                </c:pt>
                <c:pt idx="15">
                  <c:v>0.8031690372726904</c:v>
                </c:pt>
                <c:pt idx="16">
                  <c:v>0.78234215168729149</c:v>
                </c:pt>
                <c:pt idx="17">
                  <c:v>0.76015065886432076</c:v>
                </c:pt>
                <c:pt idx="18">
                  <c:v>0.73691241776067407</c:v>
                </c:pt>
                <c:pt idx="19">
                  <c:v>0.71225711228204414</c:v>
                </c:pt>
                <c:pt idx="20">
                  <c:v>0.68536546325000081</c:v>
                </c:pt>
                <c:pt idx="21">
                  <c:v>0.65635720396170538</c:v>
                </c:pt>
                <c:pt idx="22">
                  <c:v>0.62534321247994484</c:v>
                </c:pt>
                <c:pt idx="23">
                  <c:v>0.5928833861483559</c:v>
                </c:pt>
                <c:pt idx="24">
                  <c:v>0.5583303984010668</c:v>
                </c:pt>
                <c:pt idx="25">
                  <c:v>0.52316336097959371</c:v>
                </c:pt>
                <c:pt idx="26">
                  <c:v>0.48538240247674419</c:v>
                </c:pt>
                <c:pt idx="27">
                  <c:v>0.44649861972131633</c:v>
                </c:pt>
                <c:pt idx="28">
                  <c:v>0.40598698765697205</c:v>
                </c:pt>
                <c:pt idx="29">
                  <c:v>0.3645158369699692</c:v>
                </c:pt>
                <c:pt idx="30">
                  <c:v>0.32385190856806123</c:v>
                </c:pt>
                <c:pt idx="31">
                  <c:v>0.28188312339521643</c:v>
                </c:pt>
                <c:pt idx="32">
                  <c:v>0.24183151120486984</c:v>
                </c:pt>
                <c:pt idx="33">
                  <c:v>0.20303732496888244</c:v>
                </c:pt>
                <c:pt idx="34">
                  <c:v>0.16638648397596947</c:v>
                </c:pt>
                <c:pt idx="35">
                  <c:v>0.13345263207786881</c:v>
                </c:pt>
                <c:pt idx="36">
                  <c:v>0.103691030726438</c:v>
                </c:pt>
                <c:pt idx="37">
                  <c:v>7.821759552715335E-2</c:v>
                </c:pt>
                <c:pt idx="38">
                  <c:v>5.6856810968925642E-2</c:v>
                </c:pt>
                <c:pt idx="39">
                  <c:v>3.8893318656964992E-2</c:v>
                </c:pt>
                <c:pt idx="40">
                  <c:v>2.5648958820053698E-2</c:v>
                </c:pt>
                <c:pt idx="41">
                  <c:v>1.5074140091787355E-2</c:v>
                </c:pt>
                <c:pt idx="42">
                  <c:v>8.5258179772921619E-3</c:v>
                </c:pt>
                <c:pt idx="43">
                  <c:v>4.2344210340975906E-3</c:v>
                </c:pt>
                <c:pt idx="44">
                  <c:v>1.9058487148720432E-3</c:v>
                </c:pt>
                <c:pt idx="45">
                  <c:v>7.6568658493498382E-4</c:v>
                </c:pt>
              </c:numCache>
            </c:numRef>
          </c:val>
          <c:smooth val="0"/>
        </c:ser>
        <c:ser>
          <c:idx val="2"/>
          <c:order val="2"/>
          <c:tx>
            <c:v>Lambda-0.05</c:v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工作表1!$C$5:$AV$5</c:f>
              <c:numCache>
                <c:formatCode>General</c:formatCode>
                <c:ptCount val="46"/>
                <c:pt idx="0">
                  <c:v>0.99183980661951388</c:v>
                </c:pt>
                <c:pt idx="1">
                  <c:v>0.98260493192505838</c:v>
                </c:pt>
                <c:pt idx="2">
                  <c:v>0.97301488389647406</c:v>
                </c:pt>
                <c:pt idx="3">
                  <c:v>0.96274389260979543</c:v>
                </c:pt>
                <c:pt idx="4">
                  <c:v>0.95175290638200061</c:v>
                </c:pt>
                <c:pt idx="5">
                  <c:v>0.94011220859168632</c:v>
                </c:pt>
                <c:pt idx="6">
                  <c:v>0.92756852113020816</c:v>
                </c:pt>
                <c:pt idx="7">
                  <c:v>0.91436522283035759</c:v>
                </c:pt>
                <c:pt idx="8">
                  <c:v>0.90033919799558804</c:v>
                </c:pt>
                <c:pt idx="9">
                  <c:v>0.8853181739481929</c:v>
                </c:pt>
                <c:pt idx="10">
                  <c:v>0.8693908369439084</c:v>
                </c:pt>
                <c:pt idx="11">
                  <c:v>0.85233220174145663</c:v>
                </c:pt>
                <c:pt idx="12">
                  <c:v>0.8343154589497479</c:v>
                </c:pt>
                <c:pt idx="13">
                  <c:v>0.8153758226044292</c:v>
                </c:pt>
                <c:pt idx="14">
                  <c:v>0.79531642869693164</c:v>
                </c:pt>
                <c:pt idx="15">
                  <c:v>0.77429047894785552</c:v>
                </c:pt>
                <c:pt idx="16">
                  <c:v>0.75180844866465046</c:v>
                </c:pt>
                <c:pt idx="17">
                  <c:v>0.72802791990718008</c:v>
                </c:pt>
                <c:pt idx="18">
                  <c:v>0.70330756450210064</c:v>
                </c:pt>
                <c:pt idx="19">
                  <c:v>0.67727171163998179</c:v>
                </c:pt>
                <c:pt idx="20">
                  <c:v>0.64908746012104546</c:v>
                </c:pt>
                <c:pt idx="21">
                  <c:v>0.61892246043511345</c:v>
                </c:pt>
                <c:pt idx="22">
                  <c:v>0.58693414766750529</c:v>
                </c:pt>
                <c:pt idx="23">
                  <c:v>0.55373390140513423</c:v>
                </c:pt>
                <c:pt idx="24">
                  <c:v>0.51869669984647315</c:v>
                </c:pt>
                <c:pt idx="25">
                  <c:v>0.48335028037765182</c:v>
                </c:pt>
                <c:pt idx="26">
                  <c:v>0.44572198203356655</c:v>
                </c:pt>
                <c:pt idx="27">
                  <c:v>0.40736530125992471</c:v>
                </c:pt>
                <c:pt idx="28">
                  <c:v>0.36780048800174653</c:v>
                </c:pt>
                <c:pt idx="29">
                  <c:v>0.32772349472919049</c:v>
                </c:pt>
                <c:pt idx="30">
                  <c:v>0.28885381190779436</c:v>
                </c:pt>
                <c:pt idx="31">
                  <c:v>0.24919196892896775</c:v>
                </c:pt>
                <c:pt idx="32">
                  <c:v>0.21179832378221414</c:v>
                </c:pt>
                <c:pt idx="33">
                  <c:v>0.17603207081576724</c:v>
                </c:pt>
                <c:pt idx="34">
                  <c:v>0.1426888405114291</c:v>
                </c:pt>
                <c:pt idx="35">
                  <c:v>0.11314008588088739</c:v>
                </c:pt>
                <c:pt idx="36">
                  <c:v>8.6822162635924627E-2</c:v>
                </c:pt>
                <c:pt idx="37">
                  <c:v>6.4637386965903973E-2</c:v>
                </c:pt>
                <c:pt idx="38">
                  <c:v>4.6328283484616394E-2</c:v>
                </c:pt>
                <c:pt idx="39">
                  <c:v>3.1193023654075714E-2</c:v>
                </c:pt>
                <c:pt idx="40">
                  <c:v>2.0237093229900596E-2</c:v>
                </c:pt>
                <c:pt idx="41">
                  <c:v>1.1662078907483451E-2</c:v>
                </c:pt>
                <c:pt idx="42">
                  <c:v>6.4672736667101159E-3</c:v>
                </c:pt>
                <c:pt idx="43">
                  <c:v>3.1404110813611527E-3</c:v>
                </c:pt>
                <c:pt idx="44">
                  <c:v>1.3802254411543569E-3</c:v>
                </c:pt>
                <c:pt idx="45">
                  <c:v>5.4061625290862726E-4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8696400"/>
        <c:axId val="118701904"/>
      </c:lineChart>
      <c:catAx>
        <c:axId val="1186964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/>
                  <a:t>投保者存活年數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701904"/>
        <c:crosses val="autoZero"/>
        <c:auto val="1"/>
        <c:lblAlgn val="ctr"/>
        <c:lblOffset val="100"/>
        <c:noMultiLvlLbl val="0"/>
      </c:catAx>
      <c:valAx>
        <c:axId val="118701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eaVert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TW" altLang="en-US"/>
                  <a:t>期望存活率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eaVert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96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4604926120346069"/>
          <c:y val="0.36443293946503763"/>
          <c:w val="0.15395073879653931"/>
          <c:h val="0.3553148799493058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0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2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3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29.wmf"/><Relationship Id="rId1" Type="http://schemas.openxmlformats.org/officeDocument/2006/relationships/image" Target="../media/image40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ACDD6-CDCE-D341-8A8A-E5687BAFEEBE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77FA3-ED58-954D-93EE-5A50C81F90E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1492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考慮了</a:t>
            </a:r>
            <a:r>
              <a:rPr lang="en-US" altLang="zh-TW" dirty="0" smtClean="0"/>
              <a:t>GLWB</a:t>
            </a:r>
            <a:r>
              <a:rPr lang="zh-TW" altLang="en-US" dirty="0" smtClean="0"/>
              <a:t>合約的附加條款、隨機死亡率模型、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9725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4:02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5835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02930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7786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9852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47946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2993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67153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1847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1454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34521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9889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69207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可以討論在假設不成立時，即死亡力不等於中央死亡率時的狀況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54701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 smtClean="0"/>
              <a:t>參數越多的模型與資料的吻合度當然越高，但卻不是精簡的模型。在模型的選取上一般都用</a:t>
            </a:r>
            <a:r>
              <a:rPr kumimoji="1" lang="en-US" altLang="zh-TW" dirty="0" smtClean="0"/>
              <a:t>AIC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or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BIC</a:t>
            </a:r>
            <a:r>
              <a:rPr kumimoji="1" lang="zh-TW" altLang="en-US" dirty="0" smtClean="0"/>
              <a:t>來選擇，這兩者都是</a:t>
            </a:r>
            <a:r>
              <a:rPr kumimoji="1" lang="en-US" altLang="zh-TW" dirty="0" smtClean="0"/>
              <a:t>MLE</a:t>
            </a:r>
            <a:r>
              <a:rPr kumimoji="1" lang="zh-TW" altLang="en-US" dirty="0" smtClean="0"/>
              <a:t>衍生而來，考慮了參數的數目與誤差。增加自由參數數目提高模型的配適性，但為了避免過度配適的問題，應優先選</a:t>
            </a:r>
            <a:r>
              <a:rPr kumimoji="1" lang="en-US" altLang="zh-TW" dirty="0" smtClean="0"/>
              <a:t>AIC</a:t>
            </a:r>
            <a:r>
              <a:rPr kumimoji="1" lang="zh-TW" altLang="en-US" dirty="0" smtClean="0"/>
              <a:t>、</a:t>
            </a:r>
            <a:r>
              <a:rPr kumimoji="1" lang="en-US" altLang="zh-TW" dirty="0" smtClean="0"/>
              <a:t>BIC</a:t>
            </a:r>
            <a:r>
              <a:rPr kumimoji="1" lang="zh-TW" altLang="en-US" dirty="0" smtClean="0"/>
              <a:t>最小的</a:t>
            </a:r>
            <a:endParaRPr kumimoji="1" lang="en-US" altLang="zh-TW" dirty="0" smtClean="0"/>
          </a:p>
          <a:p>
            <a:r>
              <a:rPr kumimoji="1" lang="zh-TW" altLang="zh-TW" dirty="0" smtClean="0"/>
              <a:t>L</a:t>
            </a:r>
            <a:r>
              <a:rPr kumimoji="1" lang="zh-TW" altLang="en-US" dirty="0" smtClean="0"/>
              <a:t>為被估計模型的</a:t>
            </a:r>
            <a:r>
              <a:rPr kumimoji="1" lang="en-US" altLang="zh-TW" dirty="0" smtClean="0"/>
              <a:t>likelihood</a:t>
            </a:r>
            <a:r>
              <a:rPr kumimoji="1" lang="zh-TW" altLang="en-US" dirty="0" smtClean="0"/>
              <a:t> </a:t>
            </a:r>
            <a:r>
              <a:rPr kumimoji="1" lang="en-US" altLang="zh-TW" dirty="0" smtClean="0"/>
              <a:t>function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2462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1306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49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08391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50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76328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9976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77FA3-ED58-954D-93EE-5A50C81F90E6}" type="slidenum">
              <a:rPr kumimoji="1" lang="zh-TW" altLang="en-US" smtClean="0"/>
              <a:t>57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3845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 smtClean="0"/>
              <a:t>按一下以編輯母片子標題樣式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607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528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088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9092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436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908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3244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158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52964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605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95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smtClean="0"/>
              <a:t>按一下以編輯母片標題樣式</a:t>
            </a:r>
            <a:endParaRPr kumimoji="1"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smtClean="0"/>
              <a:t>按一下以編輯母片文字樣式</a:t>
            </a:r>
          </a:p>
          <a:p>
            <a:pPr lvl="1"/>
            <a:r>
              <a:rPr kumimoji="1" lang="zh-TW" altLang="en-US" smtClean="0"/>
              <a:t>第二層</a:t>
            </a:r>
          </a:p>
          <a:p>
            <a:pPr lvl="2"/>
            <a:r>
              <a:rPr kumimoji="1" lang="zh-TW" altLang="en-US" smtClean="0"/>
              <a:t>第三層</a:t>
            </a:r>
          </a:p>
          <a:p>
            <a:pPr lvl="3"/>
            <a:r>
              <a:rPr kumimoji="1" lang="zh-TW" altLang="en-US" smtClean="0"/>
              <a:t>第四層</a:t>
            </a:r>
          </a:p>
          <a:p>
            <a:pPr lvl="4"/>
            <a:r>
              <a:rPr kumimoji="1" lang="zh-TW" altLang="en-US" smtClean="0"/>
              <a:t>第五層</a:t>
            </a:r>
            <a:endParaRPr kumimoji="1"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86994-0AAD-AC4F-B725-0788550852D9}" type="datetimeFigureOut">
              <a:rPr kumimoji="1" lang="zh-TW" altLang="en-US" smtClean="0"/>
              <a:t>2014/7/3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44073-E9E3-A543-8AB3-59E01B42EAE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9608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png"/><Relationship Id="rId4" Type="http://schemas.openxmlformats.org/officeDocument/2006/relationships/image" Target="../media/image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2.wmf"/><Relationship Id="rId4" Type="http://schemas.openxmlformats.org/officeDocument/2006/relationships/image" Target="../media/image23.png"/><Relationship Id="rId9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9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5.png"/><Relationship Id="rId5" Type="http://schemas.openxmlformats.org/officeDocument/2006/relationships/image" Target="../media/image29.wmf"/><Relationship Id="rId4" Type="http://schemas.openxmlformats.org/officeDocument/2006/relationships/oleObject" Target="../embeddings/oleObject3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1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8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1.png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40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3.png"/><Relationship Id="rId5" Type="http://schemas.openxmlformats.org/officeDocument/2006/relationships/image" Target="../media/image36.wmf"/><Relationship Id="rId4" Type="http://schemas.openxmlformats.org/officeDocument/2006/relationships/oleObject" Target="../embeddings/oleObject4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0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2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分析死亡率模型在評價</a:t>
            </a:r>
            <a:r>
              <a:rPr kumimoji="1"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GLWB</a:t>
            </a:r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保險費用的影</a:t>
            </a:r>
            <a:r>
              <a:rPr kumimoji="1"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響</a:t>
            </a:r>
          </a:p>
        </p:txBody>
      </p:sp>
      <p:sp>
        <p:nvSpPr>
          <p:cNvPr id="3" name="子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指導老師：戴天時、李漢星</a:t>
            </a:r>
            <a:endParaRPr kumimoji="1"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學生：徐健勳</a:t>
            </a:r>
            <a:endParaRPr kumimoji="1" lang="en-US" altLang="zh-TW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</p:spTree>
    <p:extLst>
      <p:ext uri="{BB962C8B-B14F-4D97-AF65-F5344CB8AC3E}">
        <p14:creationId xmlns:p14="http://schemas.microsoft.com/office/powerpoint/2010/main" val="1101313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研究動機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GLWB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介紹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死亡率介紹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文獻探討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死亡率模型參數估計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死亡率預測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</a:rPr>
              <a:t>模型比較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分析比較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1414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研究動機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張國培</a:t>
            </a:r>
            <a:r>
              <a:rPr kumimoji="1"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（</a:t>
            </a:r>
            <a:r>
              <a:rPr kumimoji="1"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2012</a:t>
            </a:r>
            <a:r>
              <a:rPr kumimoji="1"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）提出在隨機利率及隨機死亡率評價保證終身提領給付附約</a:t>
            </a:r>
            <a:endParaRPr kumimoji="1"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pPr marL="0" indent="0">
              <a:buNone/>
            </a:pP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Guaranteed Lifelong Withdrawal Benefit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GLWB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kumimoji="1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考慮了</a:t>
            </a:r>
            <a:r>
              <a:rPr kumimoji="1"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GLWB</a:t>
            </a:r>
            <a:r>
              <a:rPr kumimoji="1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合約</a:t>
            </a:r>
            <a:r>
              <a:rPr kumimoji="1"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的</a:t>
            </a:r>
            <a:r>
              <a:rPr kumimoji="1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附加條款</a:t>
            </a:r>
            <a:endParaRPr kumimoji="1"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pPr lvl="1"/>
            <a:r>
              <a:rPr kumimoji="1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使用</a:t>
            </a:r>
            <a:r>
              <a:rPr kumimoji="1"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Biffs</a:t>
            </a:r>
            <a:r>
              <a:rPr kumimoji="1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（</a:t>
            </a:r>
            <a:r>
              <a:rPr kumimoji="1"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2005a</a:t>
            </a:r>
            <a:r>
              <a:rPr kumimoji="1"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）的隨機死亡率模型</a:t>
            </a:r>
            <a:endParaRPr kumimoji="1"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endParaRPr kumimoji="1"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各國所適用之死亡率模型不同</a:t>
            </a:r>
            <a:endParaRPr kumimoji="1"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endParaRPr kumimoji="1"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比較不同死亡率模型的預測值對評價結果之影</a:t>
            </a:r>
            <a:r>
              <a:rPr kumimoji="1"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響</a:t>
            </a:r>
            <a:endParaRPr kumimoji="1"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534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GLWB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介紹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871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GLWB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線單箭頭接點 4"/>
          <p:cNvCxnSpPr/>
          <p:nvPr/>
        </p:nvCxnSpPr>
        <p:spPr>
          <a:xfrm flipV="1">
            <a:off x="662473" y="2158482"/>
            <a:ext cx="7343192" cy="27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3387012" y="1719943"/>
            <a:ext cx="0" cy="914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166326" y="129783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遞延期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842504" y="130026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提領期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506739" y="2637486"/>
            <a:ext cx="771236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遞延期：無法提領帳戶價值，主要為累積帳戶價值用，在期初時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 要繳交一筆資金。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提領期：投保人每期可透過約定好的提領比率領取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GLWB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報酬，直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 到投保人死亡。而超過約定金額的部份須乘上懲罰比率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        當違約金。提前解約就是領取帳戶價值全部的金額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在遞延期或提領期投保人死亡時，皆可提領死亡當時的帳戶價值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為死亡保險金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79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GLWB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之公平保費率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持有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GLWB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未來所能領取報酬的折現值稱為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GLWB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的價值，而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GLWB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的價值受到保費</a:t>
                </a:r>
                <a:r>
                  <a:rPr lang="zh-TW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費率（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</a:t>
                </a:r>
                <a:r>
                  <a:rPr lang="zh-TW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多寡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zh-TW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影響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，當評價結果</a:t>
                </a:r>
                <a:r>
                  <a:rPr lang="zh-TW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GLWB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價值扣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掉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期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初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所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繳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的資</a:t>
                </a: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金</a:t>
                </a:r>
                <a:r>
                  <a:rPr lang="zh-TW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等於零時，此時的保費率稱為公平保費率</a:t>
                </a:r>
                <a:r>
                  <a:rPr lang="zh-TW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Fair Charge</a:t>
                </a:r>
                <a:r>
                  <a:rPr lang="zh-TW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0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一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開始並不清楚公平保費率為多少，因此透過</a:t>
                </a:r>
                <a:r>
                  <a:rPr lang="en-US" altLang="zh-TW" sz="2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Bisection</a:t>
                </a:r>
                <a:r>
                  <a:rPr lang="zh-TW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法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來求出公平保費率。當評價結果大於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0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時，調高保費；當評價結果小於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0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時，降低保費。直到評價結果趨近於</a:t>
                </a:r>
                <a:r>
                  <a:rPr lang="en-US" altLang="zh-TW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0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，此時的保費率便是公平保費率</a:t>
                </a:r>
                <a:r>
                  <a:rPr lang="zh-TW" altLang="en-US" sz="20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000" dirty="0" smtClean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/>
                </a:r>
                <a:br>
                  <a:rPr lang="en-US" altLang="zh-TW" dirty="0"/>
                </a:b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r="-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09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死亡率介紹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03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名詞定義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中央死亡率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年且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歲的死亡人口除上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年且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歲的平均存活人口</a:t>
                </a: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zh-TW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死亡力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 smtClean="0"/>
                  <a:t>          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歲且時間為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年的瞬間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死亡率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zh-TW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死亡率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 smtClean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表示某人恰好在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年為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歲，該人在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年到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年間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死亡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的機率</a:t>
                </a:r>
                <a:r>
                  <a:rPr lang="zh-TW" altLang="zh-TW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表示該人在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年到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+1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年死亡的機率。</a:t>
                </a:r>
              </a:p>
              <a:p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存活率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</a:p>
              <a:p>
                <a:pPr marL="0" indent="0">
                  <a:buNone/>
                </a:pPr>
                <a:r>
                  <a:rPr lang="zh-TW" altLang="en-US" dirty="0" smtClean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表示某人恰好在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年為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歲，該人會存活到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年的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機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率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表示該人在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年到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+1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年存活的機率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5" t="-1617" r="-7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064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322747" y="1753393"/>
            <a:ext cx="56380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根據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Cairns et al. 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2009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假設、瞬間死亡率在</a:t>
            </a:r>
            <a:r>
              <a:rPr kumimoji="1" lang="en-US" altLang="zh-TW" sz="24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歲</a:t>
            </a:r>
            <a:r>
              <a:rPr kumimoji="1" lang="en-US" altLang="zh-TW" sz="24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年裡都不變，即</a:t>
            </a:r>
            <a:endParaRPr kumimoji="1"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endParaRPr kumimoji="1"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733310"/>
              </p:ext>
            </p:extLst>
          </p:nvPr>
        </p:nvGraphicFramePr>
        <p:xfrm>
          <a:off x="1255891" y="3309063"/>
          <a:ext cx="5922508" cy="555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0" name="方程式" r:id="rId3" imgW="2298600" imgH="215640" progId="Equation.3">
                  <p:embed/>
                </p:oleObj>
              </mc:Choice>
              <mc:Fallback>
                <p:oleObj name="方程式" r:id="rId3" imgW="229860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5891" y="3309063"/>
                        <a:ext cx="5922508" cy="555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625578"/>
              </p:ext>
            </p:extLst>
          </p:nvPr>
        </p:nvGraphicFramePr>
        <p:xfrm>
          <a:off x="942926" y="4287530"/>
          <a:ext cx="6548438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31" name="方程式" r:id="rId5" imgW="2730240" imgH="457200" progId="Equation.3">
                  <p:embed/>
                </p:oleObj>
              </mc:Choice>
              <mc:Fallback>
                <p:oleObj name="方程式" r:id="rId5" imgW="273024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42926" y="4287530"/>
                        <a:ext cx="6548438" cy="109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標題 1"/>
              <p:cNvSpPr txBox="1">
                <a:spLocks/>
              </p:cNvSpPr>
              <p:nvPr/>
            </p:nvSpPr>
            <p:spPr>
              <a:xfrm>
                <a:off x="457200" y="218507"/>
                <a:ext cx="8229600" cy="1143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4572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TW" b="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與</a:t>
                </a:r>
                <a14:m>
                  <m:oMath xmlns:m="http://schemas.openxmlformats.org/officeDocument/2006/math">
                    <m:r>
                      <a:rPr lang="en-US" altLang="zh-TW" b="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的關係</a:t>
                </a:r>
                <a:endParaRPr kumimoji="1"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標題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18507"/>
                <a:ext cx="8229600" cy="1143000"/>
              </a:xfrm>
              <a:prstGeom prst="rect">
                <a:avLst/>
              </a:prstGeom>
              <a:blipFill rotWithShape="0">
                <a:blip r:embed="rId7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813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832003" y="-112647"/>
                <a:ext cx="8129117" cy="1143000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中央死亡率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𝑚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𝑥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資料形式</a:t>
                </a: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2003" y="-112647"/>
                <a:ext cx="8129117" cy="1143000"/>
              </a:xfrm>
              <a:blipFill rotWithShape="0">
                <a:blip r:embed="rId2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0282" y="804506"/>
            <a:ext cx="5274310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7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文獻探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討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968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Cairns et al. 2009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討論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下列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個模型，及其參數最佳估計值的方法，並以英格蘭和威爾斯在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1961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2004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89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歲以及美國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1968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2003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89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歲的資料做為研究分析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Bayesian Information Criterion</a:t>
            </a:r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（</a:t>
            </a:r>
            <a:r>
              <a:rPr kumimoji="1" lang="en-US" altLang="zh-TW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BIC</a:t>
            </a:r>
            <a:r>
              <a:rPr kumimoji="1"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）為判斷模型參數估計是否精確的依據</a:t>
            </a:r>
            <a:endParaRPr kumimoji="1" lang="en-US" altLang="zh-TW" sz="24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</p:spTree>
    <p:extLst>
      <p:ext uri="{BB962C8B-B14F-4D97-AF65-F5344CB8AC3E}">
        <p14:creationId xmlns:p14="http://schemas.microsoft.com/office/powerpoint/2010/main" val="215086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217"/>
            <a:ext cx="8229600" cy="1143000"/>
          </a:xfrm>
        </p:spPr>
        <p:txBody>
          <a:bodyPr/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死亡率模型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p:sp>
        <p:nvSpPr>
          <p:cNvPr id="3" name="Rectangle 38"/>
          <p:cNvSpPr>
            <a:spLocks noChangeArrowheads="1"/>
          </p:cNvSpPr>
          <p:nvPr/>
        </p:nvSpPr>
        <p:spPr bwMode="auto">
          <a:xfrm>
            <a:off x="457200" y="1257217"/>
            <a:ext cx="1166572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" name="Rectangle 41"/>
          <p:cNvSpPr>
            <a:spLocks noChangeArrowheads="1"/>
          </p:cNvSpPr>
          <p:nvPr/>
        </p:nvSpPr>
        <p:spPr bwMode="auto">
          <a:xfrm flipV="1">
            <a:off x="1306285" y="5820228"/>
            <a:ext cx="1265181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739867"/>
              </p:ext>
            </p:extLst>
          </p:nvPr>
        </p:nvGraphicFramePr>
        <p:xfrm>
          <a:off x="1306285" y="5575413"/>
          <a:ext cx="3294743" cy="882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2" name="方程式" r:id="rId3" imgW="1864800" imgH="493560" progId="Equation.3">
                  <p:embed/>
                </p:oleObj>
              </mc:Choice>
              <mc:Fallback>
                <p:oleObj name="方程式" r:id="rId3" imgW="1864800" imgH="49356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285" y="5575413"/>
                        <a:ext cx="3294743" cy="8829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81"/>
          <p:cNvSpPr>
            <a:spLocks noChangeArrowheads="1"/>
          </p:cNvSpPr>
          <p:nvPr/>
        </p:nvSpPr>
        <p:spPr bwMode="auto">
          <a:xfrm>
            <a:off x="131188" y="1608689"/>
            <a:ext cx="118774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021921"/>
              </p:ext>
            </p:extLst>
          </p:nvPr>
        </p:nvGraphicFramePr>
        <p:xfrm>
          <a:off x="131188" y="1608690"/>
          <a:ext cx="9012812" cy="3660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93" name="方程式" r:id="rId5" imgW="4775200" imgH="1981200" progId="Equation.3">
                  <p:embed/>
                </p:oleObj>
              </mc:Choice>
              <mc:Fallback>
                <p:oleObj name="方程式" r:id="rId5" imgW="4775200" imgH="1981200" progId="Equation.3">
                  <p:embed/>
                  <p:pic>
                    <p:nvPicPr>
                      <p:cNvPr id="0" name="Object 4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88" y="1608690"/>
                        <a:ext cx="9012812" cy="36609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147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Lee, Wang, Huang, 2012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在風險中立測度時，無法直接帶入真實世界下的死亡率，而須使用風險中立測度下的死亡率，因此本文使用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Wang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Transform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將真實世界下的死亡率轉換為風險中立機率下的死亡率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其中上標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Q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表示風險中立機率；無上標代表真實世界的機率；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為風險中立調整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因子</a:t>
                </a:r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63" t="-1078" r="-5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453653"/>
              </p:ext>
            </p:extLst>
          </p:nvPr>
        </p:nvGraphicFramePr>
        <p:xfrm>
          <a:off x="1656184" y="3321666"/>
          <a:ext cx="5826968" cy="830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4" name="方程式" r:id="rId4" imgW="1600200" imgH="228600" progId="Equation.3">
                  <p:embed/>
                </p:oleObj>
              </mc:Choice>
              <mc:Fallback>
                <p:oleObj name="方程式" r:id="rId4" imgW="16002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56184" y="3321666"/>
                        <a:ext cx="5826968" cy="830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97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Renshaw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Haberman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49359" y="2116299"/>
                <a:ext cx="8229600" cy="5421086"/>
              </a:xfrm>
            </p:spPr>
            <p:txBody>
              <a:bodyPr>
                <a:normAutofit/>
              </a:bodyPr>
              <a:lstStyle/>
              <a:p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提出藉由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ARMA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模型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預測時間序列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其預測方式如下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8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為預測死亡率；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TW" altLang="zh-TW" sz="2400" smtClean="0">
                        <a:latin typeface="Cambria Math" panose="02040503050406030204" pitchFamily="18" charset="0"/>
                      </a:rPr>
                      <m:t>年且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TW" altLang="zh-TW" sz="2400">
                        <a:latin typeface="Cambria Math" panose="02040503050406030204" pitchFamily="18" charset="0"/>
                      </a:rPr>
                      <m:t>歲</m:t>
                    </m:r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的歷史資料；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為預測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函數</a:t>
                </a:r>
                <a:endParaRPr lang="en-US" altLang="zh-TW" sz="28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i="1" dirty="0" smtClean="0">
                  <a:latin typeface="Cambria Math" panose="02040503050406030204" pitchFamily="18" charset="0"/>
                </a:endParaRPr>
              </a:p>
              <a:p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endParaRPr lang="en-US" altLang="zh-TW" sz="2000" i="1" dirty="0" smtClean="0">
                  <a:latin typeface="Cambria Math" panose="02040503050406030204" pitchFamily="18" charset="0"/>
                </a:endParaRPr>
              </a:p>
              <a:p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359" y="2116299"/>
                <a:ext cx="8229600" cy="5421086"/>
              </a:xfrm>
              <a:blipFill rotWithShape="0">
                <a:blip r:embed="rId3"/>
                <a:stretch>
                  <a:fillRect l="-963" t="-9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502050"/>
              </p:ext>
            </p:extLst>
          </p:nvPr>
        </p:nvGraphicFramePr>
        <p:xfrm>
          <a:off x="2084602" y="3152776"/>
          <a:ext cx="5259178" cy="742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5" name="方程式" r:id="rId4" imgW="1752600" imgH="228600" progId="Equation.3">
                  <p:embed/>
                </p:oleObj>
              </mc:Choice>
              <mc:Fallback>
                <p:oleObj name="方程式" r:id="rId4" imgW="17526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602" y="3152776"/>
                        <a:ext cx="5259178" cy="7429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22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26595"/>
            <a:ext cx="8229600" cy="1143000"/>
          </a:xfrm>
        </p:spPr>
        <p:txBody>
          <a:bodyPr>
            <a:normAutofit/>
          </a:bodyPr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張國培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2012</a:t>
            </a:r>
            <a:endParaRPr kumimoji="1"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701948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該篇研究旨在隨機死亡率及隨機利率下找出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GLWB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商品之公平保費率，亦探討分期繳費機制對保費的影響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表示一個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歲的人購買一個未來第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j</a:t>
                </a:r>
                <a:r>
                  <a:rPr lang="zh-TW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</a:t>
                </a:r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會支付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元</a:t>
                </a:r>
                <a:r>
                  <a:rPr lang="zh-TW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</a:t>
                </a:r>
                <a:r>
                  <a:rPr lang="en-US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GLWB</a:t>
                </a:r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的報酬折</a:t>
                </a:r>
                <a:r>
                  <a:rPr lang="zh-TW" altLang="zh-TW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現</a:t>
                </a:r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值（即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GLWB</a:t>
                </a:r>
                <a:r>
                  <a:rPr lang="zh-TW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的價值）。</a:t>
                </a:r>
                <a:endParaRPr lang="en-US" altLang="zh-TW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701948"/>
                <a:ext cx="8229600" cy="4525963"/>
              </a:xfrm>
              <a:blipFill rotWithShape="0">
                <a:blip r:embed="rId3"/>
                <a:stretch>
                  <a:fillRect l="-1704" t="-2826" r="-1630" b="-30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75"/>
          <p:cNvSpPr>
            <a:spLocks noChangeArrowheads="1"/>
          </p:cNvSpPr>
          <p:nvPr/>
        </p:nvSpPr>
        <p:spPr bwMode="auto">
          <a:xfrm>
            <a:off x="1090709" y="3360577"/>
            <a:ext cx="1200963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000150"/>
              </p:ext>
            </p:extLst>
          </p:nvPr>
        </p:nvGraphicFramePr>
        <p:xfrm>
          <a:off x="1090709" y="3354455"/>
          <a:ext cx="6952614" cy="1220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5" name="方程式" r:id="rId4" imgW="3302000" imgH="584200" progId="Equation.3">
                  <p:embed/>
                </p:oleObj>
              </mc:Choice>
              <mc:Fallback>
                <p:oleObj name="方程式" r:id="rId4" imgW="3302000" imgH="584200" progId="Equation.3">
                  <p:embed/>
                  <p:pic>
                    <p:nvPicPr>
                      <p:cNvPr id="0" name="Object 4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709" y="3354455"/>
                        <a:ext cx="6952614" cy="12209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888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死亡率模型參數估計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77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Poisson Distribution</a:t>
            </a:r>
            <a:endParaRPr kumimoji="1"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894354"/>
              </p:ext>
            </p:extLst>
          </p:nvPr>
        </p:nvGraphicFramePr>
        <p:xfrm>
          <a:off x="798513" y="2477180"/>
          <a:ext cx="7566025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1" name="方程式" r:id="rId3" imgW="2323800" imgH="215640" progId="Equation.3">
                  <p:embed/>
                </p:oleObj>
              </mc:Choice>
              <mc:Fallback>
                <p:oleObj name="方程式" r:id="rId3" imgW="232380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8513" y="2477180"/>
                        <a:ext cx="7566025" cy="70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798513" y="3621647"/>
                <a:ext cx="6563340" cy="1191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假定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歲暴露在死亡風險的人數為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而死亡人數為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zh-TW" altLang="en-US" sz="24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</a:endParaRPr>
              </a:p>
              <a:p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zh-TW" dirty="0"/>
                  <a:t>。</a:t>
                </a: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513" y="3621647"/>
                <a:ext cx="6563340" cy="1191801"/>
              </a:xfrm>
              <a:prstGeom prst="rect">
                <a:avLst/>
              </a:prstGeom>
              <a:blipFill rotWithShape="0">
                <a:blip r:embed="rId5"/>
                <a:stretch>
                  <a:fillRect l="-1486" t="-4082" b="-112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14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最大概似函數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p:sp>
        <p:nvSpPr>
          <p:cNvPr id="3" name="Rectangle 168"/>
          <p:cNvSpPr>
            <a:spLocks noChangeArrowheads="1"/>
          </p:cNvSpPr>
          <p:nvPr/>
        </p:nvSpPr>
        <p:spPr bwMode="auto">
          <a:xfrm>
            <a:off x="525625" y="1709746"/>
            <a:ext cx="1183590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895917"/>
              </p:ext>
            </p:extLst>
          </p:nvPr>
        </p:nvGraphicFramePr>
        <p:xfrm>
          <a:off x="525625" y="1417638"/>
          <a:ext cx="8161175" cy="961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7" name="方程式" r:id="rId3" imgW="3797300" imgH="444500" progId="Equation.3">
                  <p:embed/>
                </p:oleObj>
              </mc:Choice>
              <mc:Fallback>
                <p:oleObj name="方程式" r:id="rId3" imgW="3797300" imgH="444500" progId="Equation.3">
                  <p:embed/>
                  <p:pic>
                    <p:nvPicPr>
                      <p:cNvPr id="0" name="Object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625" y="1417638"/>
                        <a:ext cx="8161175" cy="961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74"/>
          <p:cNvSpPr>
            <a:spLocks noChangeArrowheads="1"/>
          </p:cNvSpPr>
          <p:nvPr/>
        </p:nvSpPr>
        <p:spPr bwMode="auto">
          <a:xfrm>
            <a:off x="525626" y="2638694"/>
            <a:ext cx="11641558" cy="48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1246448"/>
              </p:ext>
            </p:extLst>
          </p:nvPr>
        </p:nvGraphicFramePr>
        <p:xfrm>
          <a:off x="457199" y="2467244"/>
          <a:ext cx="8292215" cy="4133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8" name="方程式" r:id="rId5" imgW="6121400" imgH="3048000" progId="Equation.3">
                  <p:embed/>
                </p:oleObj>
              </mc:Choice>
              <mc:Fallback>
                <p:oleObj name="方程式" r:id="rId5" imgW="6121400" imgH="3048000" progId="Equation.3">
                  <p:embed/>
                  <p:pic>
                    <p:nvPicPr>
                      <p:cNvPr id="0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199" y="2467244"/>
                        <a:ext cx="8292215" cy="41335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468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M1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1512126"/>
              </p:ext>
            </p:extLst>
          </p:nvPr>
        </p:nvGraphicFramePr>
        <p:xfrm>
          <a:off x="1662113" y="1862656"/>
          <a:ext cx="61087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6" name="方程式" r:id="rId4" imgW="2133360" imgH="241200" progId="Equation.3">
                  <p:embed/>
                </p:oleObj>
              </mc:Choice>
              <mc:Fallback>
                <p:oleObj name="方程式" r:id="rId4" imgW="213336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62113" y="1862656"/>
                        <a:ext cx="6108700" cy="690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250950" y="3543368"/>
            <a:ext cx="78776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kumimoji="1"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 </a:t>
            </a:r>
            <a:r>
              <a:rPr kumimoji="1"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年齡在</a:t>
            </a:r>
            <a:r>
              <a:rPr kumimoji="1"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年時的中央死亡率</a:t>
            </a:r>
            <a:endParaRPr kumimoji="1"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kumimoji="1"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kumimoji="1"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年時的死亡率強度（趨勢）</a:t>
            </a:r>
            <a:endParaRPr kumimoji="1"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kumimoji="1"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kumimoji="1"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年齡死亡率取</a:t>
            </a:r>
            <a:r>
              <a:rPr kumimoji="1"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的平均值</a:t>
            </a:r>
            <a:endParaRPr kumimoji="1"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kumimoji="1"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kumimoji="1"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年齡相對死亡率的變化速度</a:t>
            </a:r>
            <a:r>
              <a:rPr kumimoji="1"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（趨勢的反應程度）</a:t>
            </a:r>
            <a:endParaRPr kumimoji="1"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  <a:p>
            <a:r>
              <a:rPr kumimoji="1" lang="en-US" altLang="zh-TW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kumimoji="1"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 </a:t>
            </a:r>
            <a:r>
              <a:rPr kumimoji="1"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模型的殘差項</a:t>
            </a:r>
            <a:endParaRPr kumimoji="1"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131682"/>
              </p:ext>
            </p:extLst>
          </p:nvPr>
        </p:nvGraphicFramePr>
        <p:xfrm>
          <a:off x="457200" y="3688801"/>
          <a:ext cx="793750" cy="215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7" name="方程式" r:id="rId6" imgW="431640" imgH="1168200" progId="Equation.3">
                  <p:embed/>
                </p:oleObj>
              </mc:Choice>
              <mc:Fallback>
                <p:oleObj name="方程式" r:id="rId6" imgW="431640" imgH="1168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200" y="3688801"/>
                        <a:ext cx="793750" cy="2151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43"/>
          <p:cNvSpPr>
            <a:spLocks noChangeArrowheads="1"/>
          </p:cNvSpPr>
          <p:nvPr/>
        </p:nvSpPr>
        <p:spPr bwMode="auto">
          <a:xfrm>
            <a:off x="1752600" y="5354883"/>
            <a:ext cx="1671523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250950" y="2817461"/>
            <a:ext cx="5490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Lee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Carter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1992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）發表的死亡率</a:t>
            </a:r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28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M1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Lee</a:t>
                </a:r>
                <a:r>
                  <a:rPr lang="en-US" altLang="zh-TW" sz="2400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Carter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模型在估計上會有參數不唯一的問題，舉例如下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對於一組解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可透過上述式子得到另一組解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。為了規避這問題，在模型中加入以下限制式：</a:t>
                </a:r>
              </a:p>
              <a:p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63" t="-1887" r="-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659953"/>
              </p:ext>
            </p:extLst>
          </p:nvPr>
        </p:nvGraphicFramePr>
        <p:xfrm>
          <a:off x="1660877" y="5497663"/>
          <a:ext cx="3929744" cy="1053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89" name="方程式" r:id="rId4" imgW="1701800" imgH="444500" progId="Equation.3">
                  <p:embed/>
                </p:oleObj>
              </mc:Choice>
              <mc:Fallback>
                <p:oleObj name="方程式" r:id="rId4" imgW="1701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877" y="5497663"/>
                        <a:ext cx="3929744" cy="10531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808049"/>
              </p:ext>
            </p:extLst>
          </p:nvPr>
        </p:nvGraphicFramePr>
        <p:xfrm>
          <a:off x="1660877" y="2201146"/>
          <a:ext cx="3937490" cy="2198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90" name="方程式" r:id="rId6" imgW="2108200" imgH="1168400" progId="Equation.3">
                  <p:embed/>
                </p:oleObj>
              </mc:Choice>
              <mc:Fallback>
                <p:oleObj name="方程式" r:id="rId6" imgW="2108200" imgH="1168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877" y="2201146"/>
                        <a:ext cx="3937490" cy="21982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9415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M1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59837" y="3671306"/>
                <a:ext cx="8229600" cy="2645845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將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Model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M1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代入最大概似估計函數，且不考慮殘差項</a:t>
                </a:r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(2)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存在雙線性項（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Bilinear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(2)</m:t>
                        </m:r>
                      </m:sup>
                    </m:sSubSup>
                    <m:sSub>
                      <m:sSubPr>
                        <m:ctrlPr>
                          <a:rPr lang="zh-TW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</a:t>
                </a:r>
                <a:r>
                  <a:rPr lang="zh-TW" altLang="zh-TW" sz="24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因此</a:t>
                </a:r>
                <a:r>
                  <a:rPr lang="zh-TW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我們利用遞迴的方式估計含雙線性項的模型參數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en-US" altLang="zh-TW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9837" y="3671306"/>
                <a:ext cx="8229600" cy="2645845"/>
              </a:xfrm>
              <a:blipFill rotWithShape="0">
                <a:blip r:embed="rId4"/>
                <a:stretch>
                  <a:fillRect l="-1037" t="-18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782945"/>
              </p:ext>
            </p:extLst>
          </p:nvPr>
        </p:nvGraphicFramePr>
        <p:xfrm>
          <a:off x="401638" y="2777963"/>
          <a:ext cx="82423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5" name="方程式" r:id="rId5" imgW="5003640" imgH="457200" progId="Equation.3">
                  <p:embed/>
                </p:oleObj>
              </mc:Choice>
              <mc:Fallback>
                <p:oleObj name="方程式" r:id="rId5" imgW="500364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2777963"/>
                        <a:ext cx="8242300" cy="752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 flipV="1">
            <a:off x="3130809" y="5597075"/>
            <a:ext cx="103453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0" name="物件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291288"/>
              </p:ext>
            </p:extLst>
          </p:nvPr>
        </p:nvGraphicFramePr>
        <p:xfrm>
          <a:off x="2673608" y="5315340"/>
          <a:ext cx="2698492" cy="1123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6" name="方程式" r:id="rId7" imgW="1549400" imgH="647700" progId="Equation.3">
                  <p:embed/>
                </p:oleObj>
              </mc:Choice>
              <mc:Fallback>
                <p:oleObj name="方程式" r:id="rId7" imgW="1549400" imgH="647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608" y="5315340"/>
                        <a:ext cx="2698492" cy="11231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內容版面配置區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876726"/>
              </p:ext>
            </p:extLst>
          </p:nvPr>
        </p:nvGraphicFramePr>
        <p:xfrm>
          <a:off x="1801456" y="1564078"/>
          <a:ext cx="5442663" cy="61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7" name="方程式" r:id="rId9" imgW="2133360" imgH="241200" progId="Equation.3">
                  <p:embed/>
                </p:oleObj>
              </mc:Choice>
              <mc:Fallback>
                <p:oleObj name="方程式" r:id="rId9" imgW="213336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01456" y="1564078"/>
                        <a:ext cx="5442663" cy="615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328564"/>
              </p:ext>
            </p:extLst>
          </p:nvPr>
        </p:nvGraphicFramePr>
        <p:xfrm>
          <a:off x="1367712" y="2153856"/>
          <a:ext cx="6357063" cy="748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88" name="方程式" r:id="rId11" imgW="3797300" imgH="444500" progId="Equation.3">
                  <p:embed/>
                </p:oleObj>
              </mc:Choice>
              <mc:Fallback>
                <p:oleObj name="方程式" r:id="rId11" imgW="3797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712" y="2153856"/>
                        <a:ext cx="6357063" cy="7486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0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遞迴公式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11888"/>
              </p:ext>
            </p:extLst>
          </p:nvPr>
        </p:nvGraphicFramePr>
        <p:xfrm>
          <a:off x="457200" y="2371434"/>
          <a:ext cx="8299450" cy="408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1" name="方程式" r:id="rId3" imgW="4749480" imgH="2336760" progId="Equation.3">
                  <p:embed/>
                </p:oleObj>
              </mc:Choice>
              <mc:Fallback>
                <p:oleObj name="方程式" r:id="rId3" imgW="4749480" imgH="23367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2371434"/>
                        <a:ext cx="8299450" cy="4084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9172463"/>
              </p:ext>
            </p:extLst>
          </p:nvPr>
        </p:nvGraphicFramePr>
        <p:xfrm>
          <a:off x="401638" y="1518298"/>
          <a:ext cx="82423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2" name="方程式" r:id="rId5" imgW="5003640" imgH="457200" progId="Equation.3">
                  <p:embed/>
                </p:oleObj>
              </mc:Choice>
              <mc:Fallback>
                <p:oleObj name="方程式" r:id="rId5" imgW="50036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38" y="1518298"/>
                        <a:ext cx="8242300" cy="752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4747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最大概似估計法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5" name="內容版面配置區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017275"/>
              </p:ext>
            </p:extLst>
          </p:nvPr>
        </p:nvGraphicFramePr>
        <p:xfrm>
          <a:off x="221321" y="1703355"/>
          <a:ext cx="8701358" cy="3727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3" name="方程式" r:id="rId3" imgW="5752800" imgH="2463480" progId="Equation.3">
                  <p:embed/>
                </p:oleObj>
              </mc:Choice>
              <mc:Fallback>
                <p:oleObj name="方程式" r:id="rId3" imgW="5752800" imgH="246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1321" y="1703355"/>
                        <a:ext cx="8701358" cy="3727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9963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M2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0378806"/>
              </p:ext>
            </p:extLst>
          </p:nvPr>
        </p:nvGraphicFramePr>
        <p:xfrm>
          <a:off x="1517650" y="1918838"/>
          <a:ext cx="61087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1" name="方程式" r:id="rId4" imgW="2730240" imgH="241200" progId="Equation.3">
                  <p:embed/>
                </p:oleObj>
              </mc:Choice>
              <mc:Fallback>
                <p:oleObj name="方程式" r:id="rId4" imgW="273024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17650" y="1918838"/>
                        <a:ext cx="6108700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981075" y="4067179"/>
            <a:ext cx="7877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kumimoji="1" lang="en-US" altLang="zh-TW" sz="2800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/>
              </a:rPr>
              <a:t> </a:t>
            </a:r>
            <a:r>
              <a:rPr kumimoji="1"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t-x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的世代死亡率趨勢</a:t>
            </a:r>
            <a:endParaRPr kumimoji="1"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298087"/>
              </p:ext>
            </p:extLst>
          </p:nvPr>
        </p:nvGraphicFramePr>
        <p:xfrm>
          <a:off x="514350" y="4118445"/>
          <a:ext cx="4667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2" name="方程式" r:id="rId6" imgW="253800" imgH="228600" progId="Equation.3">
                  <p:embed/>
                </p:oleObj>
              </mc:Choice>
              <mc:Fallback>
                <p:oleObj name="方程式" r:id="rId6" imgW="2538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4350" y="4118445"/>
                        <a:ext cx="466725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713792" y="3119535"/>
            <a:ext cx="7716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Renshaw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Haberman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2006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）將世代效應納入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Lee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Carter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模型。含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cohort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effect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的死亡率模型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328333"/>
              </p:ext>
            </p:extLst>
          </p:nvPr>
        </p:nvGraphicFramePr>
        <p:xfrm>
          <a:off x="2400300" y="4707045"/>
          <a:ext cx="3181350" cy="1645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83" name="方程式" r:id="rId8" imgW="1752600" imgH="914400" progId="Equation.3">
                  <p:embed/>
                </p:oleObj>
              </mc:Choice>
              <mc:Fallback>
                <p:oleObj name="方程式" r:id="rId8" imgW="1752600" imgH="914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4707045"/>
                        <a:ext cx="3181350" cy="16459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166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M2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68192"/>
              </p:ext>
            </p:extLst>
          </p:nvPr>
        </p:nvGraphicFramePr>
        <p:xfrm>
          <a:off x="106362" y="1950733"/>
          <a:ext cx="8902185" cy="66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5" name="方程式" r:id="rId4" imgW="6083280" imgH="457200" progId="Equation.3">
                  <p:embed/>
                </p:oleObj>
              </mc:Choice>
              <mc:Fallback>
                <p:oleObj name="方程式" r:id="rId4" imgW="60832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" y="1950733"/>
                        <a:ext cx="8902185" cy="6686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內容版面配置區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282911"/>
              </p:ext>
            </p:extLst>
          </p:nvPr>
        </p:nvGraphicFramePr>
        <p:xfrm>
          <a:off x="1228725" y="3110495"/>
          <a:ext cx="6361113" cy="328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6" name="方程式" r:id="rId6" imgW="4203360" imgH="2171520" progId="Equation.3">
                  <p:embed/>
                </p:oleObj>
              </mc:Choice>
              <mc:Fallback>
                <p:oleObj name="方程式" r:id="rId6" imgW="4203360" imgH="21715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28725" y="3110495"/>
                        <a:ext cx="6361113" cy="3284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44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M3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122020"/>
              </p:ext>
            </p:extLst>
          </p:nvPr>
        </p:nvGraphicFramePr>
        <p:xfrm>
          <a:off x="2043113" y="1997373"/>
          <a:ext cx="50561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7" name="方程式" r:id="rId4" imgW="2260440" imgH="241200" progId="Equation.3">
                  <p:embed/>
                </p:oleObj>
              </mc:Choice>
              <mc:Fallback>
                <p:oleObj name="方程式" r:id="rId4" imgW="226044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43113" y="1997373"/>
                        <a:ext cx="5056187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014412" y="3352904"/>
            <a:ext cx="58162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Currie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2006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提出簡化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M2</a:t>
            </a:r>
            <a:r>
              <a:rPr lang="zh-TW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zh-TW" altLang="en-US" sz="2400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49204" y="4400720"/>
            <a:ext cx="121096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1" name="物件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902861"/>
              </p:ext>
            </p:extLst>
          </p:nvPr>
        </p:nvGraphicFramePr>
        <p:xfrm>
          <a:off x="2758281" y="4446439"/>
          <a:ext cx="36258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08" name="方程式" r:id="rId6" imgW="1790640" imgH="457200" progId="Equation.3">
                  <p:embed/>
                </p:oleObj>
              </mc:Choice>
              <mc:Fallback>
                <p:oleObj name="方程式" r:id="rId6" imgW="179064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281" y="4446439"/>
                        <a:ext cx="3625850" cy="96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773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M3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077225"/>
              </p:ext>
            </p:extLst>
          </p:nvPr>
        </p:nvGraphicFramePr>
        <p:xfrm>
          <a:off x="784225" y="1951038"/>
          <a:ext cx="7545388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14" name="方程式" r:id="rId4" imgW="5155920" imgH="457200" progId="Equation.3">
                  <p:embed/>
                </p:oleObj>
              </mc:Choice>
              <mc:Fallback>
                <p:oleObj name="方程式" r:id="rId4" imgW="5155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1951038"/>
                        <a:ext cx="7545388" cy="668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內容版面配置區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333991"/>
              </p:ext>
            </p:extLst>
          </p:nvPr>
        </p:nvGraphicFramePr>
        <p:xfrm>
          <a:off x="1574006" y="3152775"/>
          <a:ext cx="5995987" cy="245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15" name="方程式" r:id="rId6" imgW="3962160" imgH="1625400" progId="Equation.3">
                  <p:embed/>
                </p:oleObj>
              </mc:Choice>
              <mc:Fallback>
                <p:oleObj name="方程式" r:id="rId6" imgW="3962160" imgH="1625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74006" y="3152775"/>
                        <a:ext cx="5995987" cy="2459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69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M4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49204" y="4400720"/>
            <a:ext cx="121096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17145"/>
              </p:ext>
            </p:extLst>
          </p:nvPr>
        </p:nvGraphicFramePr>
        <p:xfrm>
          <a:off x="1889242" y="2083609"/>
          <a:ext cx="5363925" cy="5584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1" name="方程式" r:id="rId4" imgW="2387600" imgH="241300" progId="Equation.3">
                  <p:embed/>
                </p:oleObj>
              </mc:Choice>
              <mc:Fallback>
                <p:oleObj name="方程式" r:id="rId4" imgW="2387600" imgH="24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242" y="2083609"/>
                        <a:ext cx="5363925" cy="5584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457200" y="3320078"/>
            <a:ext cx="81438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Cairns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Blake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Down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2006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CBD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）提出的死亡率模型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499267" y="4042349"/>
                <a:ext cx="756840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zh-TW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zh-TW" altLang="zh-TW" sz="2400" dirty="0"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</a:t>
                </a:r>
                <a:r>
                  <a:rPr lang="zh-TW" altLang="zh-TW" sz="2400" dirty="0" smtClean="0"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年齡</a:t>
                </a:r>
                <a:r>
                  <a:rPr lang="zh-TW" altLang="en-US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離均值越</a:t>
                </a: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遠</a:t>
                </a:r>
                <a:r>
                  <a:rPr lang="zh-TW" altLang="zh-TW" sz="2400" dirty="0" smtClean="0"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對死亡率的</a:t>
                </a:r>
                <a:r>
                  <a:rPr lang="zh-TW" altLang="zh-TW" sz="2400" dirty="0"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影響也越大。</a:t>
                </a:r>
                <a:endParaRPr lang="zh-TW" altLang="en-US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67" y="4042349"/>
                <a:ext cx="7568407" cy="461665"/>
              </a:xfrm>
              <a:prstGeom prst="rect">
                <a:avLst/>
              </a:prstGeom>
              <a:blipFill rotWithShape="0"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741206"/>
              </p:ext>
            </p:extLst>
          </p:nvPr>
        </p:nvGraphicFramePr>
        <p:xfrm>
          <a:off x="1889242" y="5013370"/>
          <a:ext cx="3294743" cy="882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2" name="方程式" r:id="rId7" imgW="1864800" imgH="493560" progId="Equation.3">
                  <p:embed/>
                </p:oleObj>
              </mc:Choice>
              <mc:Fallback>
                <p:oleObj name="方程式" r:id="rId7" imgW="1864800" imgH="493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242" y="5013370"/>
                        <a:ext cx="3294743" cy="8829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48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M4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49204" y="4400720"/>
            <a:ext cx="121096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9" name="物件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549897"/>
              </p:ext>
            </p:extLst>
          </p:nvPr>
        </p:nvGraphicFramePr>
        <p:xfrm>
          <a:off x="114300" y="1576692"/>
          <a:ext cx="8896350" cy="812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40" name="方程式" r:id="rId4" imgW="5041800" imgH="457200" progId="Equation.3">
                  <p:embed/>
                </p:oleObj>
              </mc:Choice>
              <mc:Fallback>
                <p:oleObj name="方程式" r:id="rId4" imgW="5041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1576692"/>
                        <a:ext cx="8896350" cy="8129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物件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674600"/>
              </p:ext>
            </p:extLst>
          </p:nvPr>
        </p:nvGraphicFramePr>
        <p:xfrm>
          <a:off x="1641198" y="3269684"/>
          <a:ext cx="3880403" cy="353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41" name="方程式" r:id="rId6" imgW="2273040" imgH="2006280" progId="Equation.3">
                  <p:embed/>
                </p:oleObj>
              </mc:Choice>
              <mc:Fallback>
                <p:oleObj name="方程式" r:id="rId6" imgW="2273040" imgH="2006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198" y="3269684"/>
                        <a:ext cx="3880403" cy="3530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物件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75698"/>
              </p:ext>
            </p:extLst>
          </p:nvPr>
        </p:nvGraphicFramePr>
        <p:xfrm>
          <a:off x="1847850" y="2630313"/>
          <a:ext cx="5429250" cy="639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642" name="方程式" r:id="rId8" imgW="3797300" imgH="444500" progId="Equation.3">
                  <p:embed/>
                </p:oleObj>
              </mc:Choice>
              <mc:Fallback>
                <p:oleObj name="方程式" r:id="rId8" imgW="37973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630313"/>
                        <a:ext cx="5429250" cy="6393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343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M4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49204" y="4400720"/>
            <a:ext cx="121096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953874"/>
              </p:ext>
            </p:extLst>
          </p:nvPr>
        </p:nvGraphicFramePr>
        <p:xfrm>
          <a:off x="311272" y="2636171"/>
          <a:ext cx="8699378" cy="362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66" name="方程式" r:id="rId4" imgW="6108480" imgH="2539800" progId="Equation.3">
                  <p:embed/>
                </p:oleObj>
              </mc:Choice>
              <mc:Fallback>
                <p:oleObj name="方程式" r:id="rId4" imgW="6108480" imgH="2539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1272" y="2636171"/>
                        <a:ext cx="8699378" cy="3620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物件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17470"/>
              </p:ext>
            </p:extLst>
          </p:nvPr>
        </p:nvGraphicFramePr>
        <p:xfrm>
          <a:off x="114300" y="1576692"/>
          <a:ext cx="8896350" cy="812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67" name="方程式" r:id="rId6" imgW="5041800" imgH="457200" progId="Equation.3">
                  <p:embed/>
                </p:oleObj>
              </mc:Choice>
              <mc:Fallback>
                <p:oleObj name="方程式" r:id="rId6" imgW="5041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1576692"/>
                        <a:ext cx="8896350" cy="8129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988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M5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49204" y="4400720"/>
            <a:ext cx="121096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19250" y="2318513"/>
            <a:ext cx="1016240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020295"/>
              </p:ext>
            </p:extLst>
          </p:nvPr>
        </p:nvGraphicFramePr>
        <p:xfrm>
          <a:off x="1737876" y="2234377"/>
          <a:ext cx="5668248" cy="510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44" name="方程式" r:id="rId4" imgW="2743200" imgH="241300" progId="Equation.3">
                  <p:embed/>
                </p:oleObj>
              </mc:Choice>
              <mc:Fallback>
                <p:oleObj name="方程式" r:id="rId4" imgW="2743200" imgH="24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876" y="2234377"/>
                        <a:ext cx="5668248" cy="5104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209676" y="3505317"/>
            <a:ext cx="7200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Cairns et al.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2007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）考慮將世代效應納入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CBD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37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M6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49204" y="4400720"/>
            <a:ext cx="121096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19250" y="2318513"/>
            <a:ext cx="1016240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 flipV="1">
            <a:off x="647700" y="2407087"/>
            <a:ext cx="95736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13" name="物件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613739"/>
              </p:ext>
            </p:extLst>
          </p:nvPr>
        </p:nvGraphicFramePr>
        <p:xfrm>
          <a:off x="114300" y="2338260"/>
          <a:ext cx="8924925" cy="560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1" name="方程式" r:id="rId4" imgW="3937000" imgH="254000" progId="Equation.3">
                  <p:embed/>
                </p:oleObj>
              </mc:Choice>
              <mc:Fallback>
                <p:oleObj name="方程式" r:id="rId4" imgW="39370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2338260"/>
                        <a:ext cx="8924925" cy="5605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647700" y="2943638"/>
                <a:ext cx="3848101" cy="8776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TW" altLang="zh-TW" sz="2400" kern="1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TW" sz="2400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TW" altLang="zh-TW" sz="2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sz="2400" i="1" kern="100">
                                    <a:effectLst/>
                                    <a:latin typeface="Cambria Math" panose="02040503050406030204" pitchFamily="18" charset="0"/>
                                    <a:ea typeface="標楷體" panose="03000509000000000000" pitchFamily="65" charset="-12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TW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標楷體" panose="03000509000000000000" pitchFamily="65" charset="-12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endParaRPr lang="zh-TW" altLang="zh-TW" sz="2400" kern="100" dirty="0"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2943638"/>
                <a:ext cx="3848101" cy="877676"/>
              </a:xfrm>
              <a:prstGeom prst="rect">
                <a:avLst/>
              </a:prstGeom>
              <a:blipFill rotWithShape="0">
                <a:blip r:embed="rId6"/>
                <a:stretch>
                  <a:fillRect l="-23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647700" y="4273274"/>
                <a:ext cx="8039100" cy="878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C</a:t>
                </a:r>
                <a:r>
                  <a:rPr lang="en-US" altLang="zh-TW" sz="2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airns et al.</a:t>
                </a:r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2007</a:t>
                </a:r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）提出某些死亡率資料，以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4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logit</m:t>
                    </m:r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zh-TW" altLang="zh-TW" sz="24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TW" sz="2400" i="1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描點繪圖時會有曲線的出現，因此在</a:t>
                </a:r>
                <a:r>
                  <a:rPr lang="en-US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M5</a:t>
                </a:r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加入二次項的模型</a:t>
                </a:r>
                <a:endParaRPr lang="zh-TW" altLang="en-US" sz="24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" y="4273274"/>
                <a:ext cx="8039100" cy="878510"/>
              </a:xfrm>
              <a:prstGeom prst="rect">
                <a:avLst/>
              </a:prstGeom>
              <a:blipFill rotWithShape="0">
                <a:blip r:embed="rId7"/>
                <a:stretch>
                  <a:fillRect l="-1137" t="-2778" b="-152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49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M7</a:t>
            </a:r>
            <a:r>
              <a:rPr kumimoji="1" lang="zh-TW" altLang="en-US" b="1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2266950" y="4707045"/>
            <a:ext cx="117918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949204" y="4400720"/>
            <a:ext cx="1210962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619250" y="2318513"/>
            <a:ext cx="1016240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 flipV="1">
            <a:off x="647700" y="2407087"/>
            <a:ext cx="957363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108811" y="3899622"/>
            <a:ext cx="86963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Cairns et al.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2007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）根據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M2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模型考慮年齡對於世代的反應程度，因此提出與之類似的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M7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57200" y="2129110"/>
            <a:ext cx="953588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物件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768581"/>
              </p:ext>
            </p:extLst>
          </p:nvPr>
        </p:nvGraphicFramePr>
        <p:xfrm>
          <a:off x="457199" y="2129110"/>
          <a:ext cx="8347937" cy="647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4" name="方程式" r:id="rId4" imgW="3175000" imgH="241300" progId="Equation.3">
                  <p:embed/>
                </p:oleObj>
              </mc:Choice>
              <mc:Fallback>
                <p:oleObj name="方程式" r:id="rId4" imgW="3175000" imgH="2413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199" y="2129110"/>
                        <a:ext cx="8347937" cy="647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8042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死亡率預測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81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時間序列模型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427768" y="2929811"/>
                <a:ext cx="6288463" cy="13173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8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TW" altLang="en-US" sz="2800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TW" altLang="en-US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768" y="2929811"/>
                <a:ext cx="6288463" cy="131734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65921" y="4750948"/>
                <a:ext cx="8612155" cy="11791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55600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TW" sz="2400" i="1" kern="10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zh-TW" altLang="zh-TW" sz="2400" i="1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zh-TW" altLang="zh-TW" sz="2400" i="1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、</m:t>
                    </m:r>
                    <m:sSub>
                      <m:sSub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依序為</a:t>
                </a: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drift</a:t>
                </a:r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AR</a:t>
                </a:r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參數與</a:t>
                </a: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MA</a:t>
                </a:r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參數；而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𝑁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由參數校準估出</a:t>
                </a: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21" y="4750948"/>
                <a:ext cx="8612155" cy="1179169"/>
              </a:xfrm>
              <a:prstGeom prst="rect">
                <a:avLst/>
              </a:prstGeom>
              <a:blipFill rotWithShape="0">
                <a:blip r:embed="rId3"/>
                <a:stretch>
                  <a:fillRect r="-4674" b="-108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634131" y="2123919"/>
            <a:ext cx="2802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ARMA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</a:rPr>
              <a:t>p, q</a:t>
            </a: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）模型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862617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5400" i="1" dirty="0" smtClean="0">
                <a:latin typeface="Times New Roman"/>
                <a:cs typeface="Times New Roman"/>
              </a:rPr>
              <a:t>Stationary</a:t>
            </a:r>
            <a:endParaRPr kumimoji="1" lang="zh-TW" altLang="en-US" sz="5400" i="1" dirty="0">
              <a:latin typeface="Times New Roman"/>
              <a:cs typeface="Times New Roman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805473"/>
            <a:ext cx="8229600" cy="4525963"/>
          </a:xfrm>
        </p:spPr>
        <p:txBody>
          <a:bodyPr>
            <a:normAutofit/>
          </a:bodyPr>
          <a:lstStyle/>
          <a:p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單位根檢驗（</a:t>
            </a:r>
            <a:r>
              <a:rPr kumimoji="1" lang="en-US" altLang="zh-TW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Unit Root Test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kumimoji="1"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kumimoji="1"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單位根檢驗是檢測資料序列是否定</a:t>
            </a:r>
            <a:r>
              <a:rPr kumimoji="1"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態</a:t>
            </a:r>
            <a:endParaRPr kumimoji="1"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kumimoji="1"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非定</a:t>
            </a:r>
            <a:r>
              <a:rPr kumimoji="1"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態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時間序列可透過差分方法來消除單位根進一步得到定</a:t>
            </a:r>
            <a:r>
              <a:rPr kumimoji="1" lang="zh-TW" altLang="en-US" sz="2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態</a:t>
            </a:r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時間序列</a:t>
            </a:r>
            <a:endParaRPr kumimoji="1"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kumimoji="1"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單位根檢驗方法：</a:t>
            </a:r>
            <a:endParaRPr kumimoji="1"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ADF-test, PP-test, KPSS-test </a:t>
            </a:r>
            <a:r>
              <a:rPr kumimoji="1"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</a:t>
            </a:r>
            <a:r>
              <a:rPr kumimoji="1"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..</a:t>
            </a:r>
            <a:endParaRPr kumimoji="1"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5248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模型配適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078403"/>
              </p:ext>
            </p:extLst>
          </p:nvPr>
        </p:nvGraphicFramePr>
        <p:xfrm>
          <a:off x="2301291" y="2200048"/>
          <a:ext cx="4215262" cy="1121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" name="方程式" r:id="rId4" imgW="1358640" imgH="393480" progId="Equation.3">
                  <p:embed/>
                </p:oleObj>
              </mc:Choice>
              <mc:Fallback>
                <p:oleObj name="方程式" r:id="rId4" imgW="1358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291" y="2200048"/>
                        <a:ext cx="4215262" cy="11216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57200" y="3745657"/>
                <a:ext cx="8553451" cy="1640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acc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表示最大概似估計值；</a:t>
                </a:r>
                <a14:m>
                  <m:oMath xmlns:m="http://schemas.openxmlformats.org/officeDocument/2006/math"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</m:acc>
                      </m:e>
                    </m:d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表示最大概似估計值取</a:t>
                </a: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</a:t>
                </a:r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</a:t>
                </a:r>
                <a:r>
                  <a:rPr lang="en-US" altLang="zh-TW" sz="2400" i="1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為資料個數；</a:t>
                </a:r>
                <a14:m>
                  <m:oMath xmlns:m="http://schemas.openxmlformats.org/officeDocument/2006/math"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𝜈</m:t>
                    </m:r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是參數個數。</a:t>
                </a:r>
              </a:p>
              <a:p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換言之</a:t>
                </a:r>
                <a:r>
                  <a:rPr lang="zh-TW" altLang="zh-TW" sz="2400" dirty="0" smtClean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2400" dirty="0" smtClean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BIC</a:t>
                </a:r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越大表示其模型參數估計較為精確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745657"/>
                <a:ext cx="8553451" cy="1640962"/>
              </a:xfrm>
              <a:prstGeom prst="rect">
                <a:avLst/>
              </a:prstGeom>
              <a:blipFill rotWithShape="0">
                <a:blip r:embed="rId6"/>
                <a:stretch>
                  <a:fillRect l="-1069" r="-1069" b="-70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9033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61251"/>
            <a:ext cx="8229600" cy="1143000"/>
          </a:xfrm>
        </p:spPr>
        <p:txBody>
          <a:bodyPr>
            <a:normAutofit fontScale="90000"/>
          </a:bodyPr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預測死亡率</a:t>
            </a:r>
            <a:r>
              <a:rPr kumimoji="1" lang="en-US" altLang="zh-TW" dirty="0">
                <a:latin typeface="BiauKai"/>
                <a:ea typeface="BiauKai"/>
                <a:cs typeface="BiauKai"/>
              </a:rPr>
              <a:t/>
            </a:r>
            <a:br>
              <a:rPr kumimoji="1" lang="en-US" altLang="zh-TW" dirty="0">
                <a:latin typeface="BiauKai"/>
                <a:ea typeface="BiauKai"/>
                <a:cs typeface="BiauKai"/>
              </a:rPr>
            </a:br>
            <a:r>
              <a:rPr kumimoji="1" lang="en-US" altLang="zh-TW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Lee-Carter</a:t>
            </a:r>
            <a:br>
              <a:rPr kumimoji="1" lang="en-US" altLang="zh-TW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</a:br>
            <a:r>
              <a:rPr kumimoji="1" lang="en-US" altLang="zh-TW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M1</a:t>
            </a:r>
            <a:endParaRPr kumimoji="1" lang="zh-TW" altLang="en-US" dirty="0">
              <a:latin typeface="Times New Roman" panose="02020603050405020304" pitchFamily="18" charset="0"/>
              <a:ea typeface="BiauKai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1290417"/>
              </p:ext>
            </p:extLst>
          </p:nvPr>
        </p:nvGraphicFramePr>
        <p:xfrm>
          <a:off x="1389856" y="2142331"/>
          <a:ext cx="6359525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9" name="方程式" r:id="rId3" imgW="2006280" imgH="241200" progId="Equation.3">
                  <p:embed/>
                </p:oleObj>
              </mc:Choice>
              <mc:Fallback>
                <p:oleObj name="方程式" r:id="rId3" imgW="200628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9856" y="2142331"/>
                        <a:ext cx="6359525" cy="763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9061405"/>
              </p:ext>
            </p:extLst>
          </p:nvPr>
        </p:nvGraphicFramePr>
        <p:xfrm>
          <a:off x="349250" y="3049588"/>
          <a:ext cx="84407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0" name="方程式" r:id="rId5" imgW="2882880" imgH="266400" progId="Equation.3">
                  <p:embed/>
                </p:oleObj>
              </mc:Choice>
              <mc:Fallback>
                <p:oleObj name="方程式" r:id="rId5" imgW="2882880" imgH="266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250" y="3049588"/>
                        <a:ext cx="8440738" cy="78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847043"/>
              </p:ext>
            </p:extLst>
          </p:nvPr>
        </p:nvGraphicFramePr>
        <p:xfrm>
          <a:off x="1502568" y="3974307"/>
          <a:ext cx="6134100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71" name="方程式" r:id="rId7" imgW="3632040" imgH="1371600" progId="Equation.3">
                  <p:embed/>
                </p:oleObj>
              </mc:Choice>
              <mc:Fallback>
                <p:oleObj name="方程式" r:id="rId7" imgW="363204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568" y="3974307"/>
                        <a:ext cx="6134100" cy="23780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6394298" y="6403975"/>
            <a:ext cx="2710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參照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Renshaw與Haberman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857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88436"/>
            <a:ext cx="8229600" cy="1143000"/>
          </a:xfrm>
        </p:spPr>
        <p:txBody>
          <a:bodyPr>
            <a:normAutofit fontScale="90000"/>
          </a:bodyPr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預測死亡率</a:t>
            </a:r>
            <a:r>
              <a:rPr kumimoji="1" lang="en-US" altLang="zh-TW" dirty="0">
                <a:latin typeface="BiauKai"/>
                <a:ea typeface="BiauKai"/>
                <a:cs typeface="BiauKai"/>
              </a:rPr>
              <a:t/>
            </a:r>
            <a:br>
              <a:rPr kumimoji="1" lang="en-US" altLang="zh-TW" dirty="0">
                <a:latin typeface="BiauKai"/>
                <a:ea typeface="BiauKai"/>
                <a:cs typeface="BiauKai"/>
              </a:rPr>
            </a:br>
            <a:r>
              <a:rPr kumimoji="1" lang="en-US" altLang="zh-TW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CBD</a:t>
            </a:r>
            <a:br>
              <a:rPr kumimoji="1" lang="en-US" altLang="zh-TW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</a:br>
            <a:r>
              <a:rPr kumimoji="1" lang="en-US" altLang="zh-TW" dirty="0" smtClean="0">
                <a:latin typeface="Times New Roman" panose="02020603050405020304" pitchFamily="18" charset="0"/>
                <a:ea typeface="BiauKai"/>
                <a:cs typeface="Times New Roman" panose="02020603050405020304" pitchFamily="18" charset="0"/>
              </a:rPr>
              <a:t>Model M4</a:t>
            </a:r>
            <a:endParaRPr kumimoji="1" lang="zh-TW" altLang="en-US" dirty="0">
              <a:latin typeface="Times New Roman" panose="02020603050405020304" pitchFamily="18" charset="0"/>
              <a:ea typeface="BiauKai"/>
              <a:cs typeface="Times New Roman" panose="02020603050405020304" pitchFamily="18" charset="0"/>
            </a:endParaRPr>
          </a:p>
        </p:txBody>
      </p:sp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737395"/>
              </p:ext>
            </p:extLst>
          </p:nvPr>
        </p:nvGraphicFramePr>
        <p:xfrm>
          <a:off x="346722" y="3909527"/>
          <a:ext cx="8430071" cy="1297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93" name="方程式" r:id="rId3" imgW="3466800" imgH="533160" progId="Equation.3">
                  <p:embed/>
                </p:oleObj>
              </mc:Choice>
              <mc:Fallback>
                <p:oleObj name="方程式" r:id="rId3" imgW="3466800" imgH="5331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6722" y="3909527"/>
                        <a:ext cx="8430071" cy="1297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410317"/>
              </p:ext>
            </p:extLst>
          </p:nvPr>
        </p:nvGraphicFramePr>
        <p:xfrm>
          <a:off x="778899" y="2176916"/>
          <a:ext cx="7569083" cy="7880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94" name="方程式" r:id="rId5" imgW="2387600" imgH="241300" progId="Equation.3">
                  <p:embed/>
                </p:oleObj>
              </mc:Choice>
              <mc:Fallback>
                <p:oleObj name="方程式" r:id="rId5" imgW="2387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899" y="2176916"/>
                        <a:ext cx="7569083" cy="7880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437635"/>
              </p:ext>
            </p:extLst>
          </p:nvPr>
        </p:nvGraphicFramePr>
        <p:xfrm>
          <a:off x="1668463" y="5456238"/>
          <a:ext cx="36512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695" name="方程式" r:id="rId7" imgW="1511280" imgH="228600" progId="Equation.3">
                  <p:embed/>
                </p:oleObj>
              </mc:Choice>
              <mc:Fallback>
                <p:oleObj name="方程式" r:id="rId7" imgW="15112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8463" y="5456238"/>
                        <a:ext cx="3651250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780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模型比較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8470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38507"/>
            <a:ext cx="8229600" cy="1143000"/>
          </a:xfrm>
        </p:spPr>
        <p:txBody>
          <a:bodyPr>
            <a:normAutofit fontScale="90000"/>
          </a:bodyPr>
          <a:lstStyle/>
          <a:p>
            <a:r>
              <a:rPr kumimoji="1"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模型比較</a:t>
            </a:r>
            <a:r>
              <a:rPr kumimoji="1"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/>
            </a:r>
            <a:br>
              <a:rPr kumimoji="1"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</a:br>
            <a:r>
              <a:rPr kumimoji="1"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</a:rPr>
              <a:t>MAPE and BIC</a:t>
            </a:r>
            <a:endParaRPr kumimoji="1"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BiauKai"/>
            </a:endParaRPr>
          </a:p>
        </p:txBody>
      </p:sp>
      <p:graphicFrame>
        <p:nvGraphicFramePr>
          <p:cNvPr id="5" name="物件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143967"/>
              </p:ext>
            </p:extLst>
          </p:nvPr>
        </p:nvGraphicFramePr>
        <p:xfrm>
          <a:off x="458474" y="1923201"/>
          <a:ext cx="8445611" cy="1761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0" name="方程式" r:id="rId3" imgW="3403440" imgH="711000" progId="Equation.3">
                  <p:embed/>
                </p:oleObj>
              </mc:Choice>
              <mc:Fallback>
                <p:oleObj name="方程式" r:id="rId3" imgW="3403440" imgH="711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8474" y="1923201"/>
                        <a:ext cx="8445611" cy="1761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114"/>
          <p:cNvSpPr>
            <a:spLocks noChangeArrowheads="1"/>
          </p:cNvSpPr>
          <p:nvPr/>
        </p:nvSpPr>
        <p:spPr bwMode="auto">
          <a:xfrm>
            <a:off x="457199" y="4312942"/>
            <a:ext cx="16645533" cy="5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" name="物件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472003"/>
              </p:ext>
            </p:extLst>
          </p:nvPr>
        </p:nvGraphicFramePr>
        <p:xfrm>
          <a:off x="457198" y="4000474"/>
          <a:ext cx="3533267" cy="932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1" name="方程式" r:id="rId5" imgW="1371600" imgH="393700" progId="Equation.3">
                  <p:embed/>
                </p:oleObj>
              </mc:Choice>
              <mc:Fallback>
                <p:oleObj name="方程式" r:id="rId5" imgW="1371600" imgH="393700" progId="Equation.3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198" y="4000474"/>
                        <a:ext cx="3533267" cy="9323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15"/>
          <p:cNvSpPr>
            <a:spLocks noChangeArrowheads="1"/>
          </p:cNvSpPr>
          <p:nvPr/>
        </p:nvSpPr>
        <p:spPr bwMode="auto">
          <a:xfrm>
            <a:off x="457199" y="4674892"/>
            <a:ext cx="16645533" cy="57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457198" y="4822430"/>
                <a:ext cx="8553451" cy="16409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zh-TW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400" i="1" kern="100">
                            <a:effectLst/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acc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表示最大概似估計值；</a:t>
                </a:r>
                <a14:m>
                  <m:oMath xmlns:m="http://schemas.openxmlformats.org/officeDocument/2006/math"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𝑙</m:t>
                    </m:r>
                    <m:d>
                      <m:d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TW" altLang="zh-TW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 kern="100">
                                <a:effectLst/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</m:acc>
                      </m:e>
                    </m:d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表示最大概似估計值取</a:t>
                </a: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</a:t>
                </a:r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；</a:t>
                </a:r>
                <a:r>
                  <a:rPr lang="en-US" altLang="zh-TW" sz="2400" i="1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為資料個數；</a:t>
                </a:r>
                <a14:m>
                  <m:oMath xmlns:m="http://schemas.openxmlformats.org/officeDocument/2006/math">
                    <m:r>
                      <a:rPr lang="en-US" altLang="zh-TW" sz="2400" i="1" kern="100">
                        <a:effectLst/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𝜈</m:t>
                    </m:r>
                  </m:oMath>
                </a14:m>
                <a:r>
                  <a:rPr lang="zh-TW" altLang="zh-TW" sz="2400" kern="1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是參數個數。</a:t>
                </a:r>
              </a:p>
              <a:p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換言之，</a:t>
                </a:r>
                <a:r>
                  <a:rPr lang="en-US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</a:rPr>
                  <a:t>BIC</a:t>
                </a:r>
                <a:r>
                  <a:rPr lang="zh-TW" altLang="zh-TW" sz="2400" dirty="0"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越大表示其模型參數估計較為精確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8" y="4822430"/>
                <a:ext cx="8553451" cy="1640962"/>
              </a:xfrm>
              <a:prstGeom prst="rect">
                <a:avLst/>
              </a:prstGeom>
              <a:blipFill rotWithShape="0">
                <a:blip r:embed="rId7"/>
                <a:stretch>
                  <a:fillRect l="-1069" r="-1069" b="-74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98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01612"/>
            <a:ext cx="8229600" cy="1143000"/>
          </a:xfrm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比較結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果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149005"/>
              </p:ext>
            </p:extLst>
          </p:nvPr>
        </p:nvGraphicFramePr>
        <p:xfrm>
          <a:off x="824204" y="886333"/>
          <a:ext cx="7321420" cy="5409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0355"/>
                <a:gridCol w="1830355"/>
                <a:gridCol w="1830355"/>
                <a:gridCol w="1830355"/>
              </a:tblGrid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BIC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MAPE</a:t>
                      </a:r>
                      <a:r>
                        <a:rPr lang="zh-TW" altLang="en-US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estimation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MAPE 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forecast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M1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-33656.9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3.67%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M2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-26496.3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2.02%</a:t>
                      </a:r>
                      <a:endParaRPr lang="en-US" altLang="zh-TW" sz="2800" b="0" i="0" u="none" strike="noStrike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5.06%</a:t>
                      </a:r>
                      <a:endParaRPr lang="en-US" altLang="zh-TW" sz="28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M3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-33961.3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5.16%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2.47%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M4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-71061.4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6.38%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3.45%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M5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-51282.9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5.53%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M6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-44192.4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5.28%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5.05%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M7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-47588.8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4.84%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5.38%</a:t>
                      </a:r>
                    </a:p>
                  </a:txBody>
                  <a:tcPr marL="9525" marR="9525" marT="9525" marB="0" anchor="ctr"/>
                </a:tc>
              </a:tr>
              <a:tr h="5156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History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 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 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5.62%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699797" y="6430738"/>
            <a:ext cx="276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年齡範圍：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40-105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歲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0809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01612"/>
            <a:ext cx="8229600" cy="1143000"/>
          </a:xfrm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比較結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果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135970"/>
              </p:ext>
            </p:extLst>
          </p:nvPr>
        </p:nvGraphicFramePr>
        <p:xfrm>
          <a:off x="824204" y="821385"/>
          <a:ext cx="7321420" cy="54096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0355"/>
                <a:gridCol w="1830355"/>
                <a:gridCol w="1830355"/>
                <a:gridCol w="1830355"/>
              </a:tblGrid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BIC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MAPE</a:t>
                      </a:r>
                      <a:r>
                        <a:rPr lang="zh-TW" altLang="en-US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estimation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MAPE 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forecast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M1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-48153.1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3.10%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3.70%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M2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-24554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1.79%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3.54%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M3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-49554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5.16%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2.15%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M4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-85790.1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7.01%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4.33%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M5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-41519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6.00%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9.10%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M6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-33477.2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3.64%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14.40%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0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M7</a:t>
                      </a:r>
                      <a:endParaRPr lang="zh-TW" altLang="en-US" sz="20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-32185.2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3.01%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5.21%</a:t>
                      </a:r>
                    </a:p>
                  </a:txBody>
                  <a:tcPr marL="9525" marR="9525" marT="9525" marB="0" anchor="ctr"/>
                </a:tc>
              </a:tr>
              <a:tr h="4762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History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 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 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Arial" panose="020B0604020202020204" pitchFamily="34" charset="0"/>
                        </a:rPr>
                        <a:t>6.2325%</a:t>
                      </a:r>
                      <a:endParaRPr lang="zh-TW" sz="2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699797" y="6430738"/>
            <a:ext cx="276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年齡範圍：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0-105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歲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3196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公平保費率分析比較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65689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不同投保年齡之公平保費率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7094666"/>
              </p:ext>
            </p:extLst>
          </p:nvPr>
        </p:nvGraphicFramePr>
        <p:xfrm>
          <a:off x="457200" y="1600200"/>
          <a:ext cx="8229600" cy="360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2.298889%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1.749573%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1.410370%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1.263256%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1.097260%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2.694397%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2.168427%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1.647606%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1.344452%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1.106873%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2.647533%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1.996765%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1.518860%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1.300507%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1.114426%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2.249451%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1.694641%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1.387024%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1.260681%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1.090393%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1.734467%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1.425476%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1.318016%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1.230125%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1.037521%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1.463928%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1.343079%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1.312695%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1.229782%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0.964050%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2.140961%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1.590271%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1.365051%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1.266174%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1.119919%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2.210999%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1.719017%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1.414490%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1.279221%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1.124725%</a:t>
                      </a:r>
                      <a:endParaRPr lang="zh-TW" sz="14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699795" y="5370321"/>
                <a:ext cx="7277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-0.25; deferred term=10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有提前解約；年提領比率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5%</a:t>
                </a:r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95" y="5370321"/>
                <a:ext cx="7277878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36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與歷史資料之比較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923908"/>
              </p:ext>
            </p:extLst>
          </p:nvPr>
        </p:nvGraphicFramePr>
        <p:xfrm>
          <a:off x="457200" y="1600200"/>
          <a:ext cx="8229599" cy="3235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48650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平均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(MAPE</a:t>
                      </a:r>
                      <a:r>
                        <a:rPr lang="en-US" altLang="zh-TW" sz="1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3.975159%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1.777516%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0.291257%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1.247986%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2.442001%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1.946784%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21.863357%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26.143401%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16.480587%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5.099300%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1.587294%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14.234788%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19.743790%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16.157379%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7.378647%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1.663982%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0.915744%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9.171908%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1.739133%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1.418014%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1.941746%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1.449273%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3.052496%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1.920132%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21.552792%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17.076091%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6.820382%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3.837899%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7.753351%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11.408103%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33.788820%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21.869382%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7.196602%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3.864736%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14.285711%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16.201050%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3.167700%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7.489513%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3.495140%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1.019863%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0.427349%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3.119913%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7852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期望存活率與公平保費率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53856"/>
              </p:ext>
            </p:extLst>
          </p:nvPr>
        </p:nvGraphicFramePr>
        <p:xfrm>
          <a:off x="105506" y="2016369"/>
          <a:ext cx="2098432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9216"/>
                <a:gridCol w="1049216"/>
              </a:tblGrid>
              <a:tr h="637976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2.298889%</a:t>
                      </a:r>
                    </a:p>
                  </a:txBody>
                  <a:tcPr marL="9525" marR="9525" marT="9525" marB="0" anchor="ctr"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2.694397%</a:t>
                      </a:r>
                    </a:p>
                  </a:txBody>
                  <a:tcPr marL="9525" marR="9525" marT="9525" marB="0" anchor="ctr"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2.647533%</a:t>
                      </a:r>
                    </a:p>
                  </a:txBody>
                  <a:tcPr marL="9525" marR="9525" marT="9525" marB="0" anchor="ctr"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2.249451%</a:t>
                      </a:r>
                    </a:p>
                  </a:txBody>
                  <a:tcPr marL="9525" marR="9525" marT="9525" marB="0" anchor="ctr"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1.734467%</a:t>
                      </a:r>
                    </a:p>
                  </a:txBody>
                  <a:tcPr marL="9525" marR="9525" marT="9525" marB="0" anchor="ctr"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1.463928%</a:t>
                      </a:r>
                    </a:p>
                  </a:txBody>
                  <a:tcPr marL="9525" marR="9525" marT="9525" marB="0" anchor="ctr"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2.140961%</a:t>
                      </a:r>
                    </a:p>
                  </a:txBody>
                  <a:tcPr marL="9525" marR="9525" marT="9525" marB="0" anchor="ctr"/>
                </a:tc>
              </a:tr>
              <a:tr h="3645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600" kern="1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2.210999%</a:t>
                      </a:r>
                      <a:endParaRPr lang="zh-TW" altLang="zh-TW" sz="1400" kern="100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圖表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0355140"/>
              </p:ext>
            </p:extLst>
          </p:nvPr>
        </p:nvGraphicFramePr>
        <p:xfrm>
          <a:off x="2282987" y="2016369"/>
          <a:ext cx="6403813" cy="3863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1892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不同遞延期之公平保費率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59431"/>
              </p:ext>
            </p:extLst>
          </p:nvPr>
        </p:nvGraphicFramePr>
        <p:xfrm>
          <a:off x="457200" y="1600200"/>
          <a:ext cx="8229600" cy="388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deferred</a:t>
                      </a:r>
                    </a:p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</a:p>
                    <a:p>
                      <a:pPr algn="l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4.781799%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2.298889%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1.223602%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0.749817%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0.444260%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5.413513%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2.694397%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1.515770%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0.899506%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0.532834%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5.492477%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2.647533%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1.421356%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0.850067%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0.515671%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4.743347%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2.249451%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1.190643%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0.735741%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0.442200%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3.639221%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1.734467%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1.013489%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0.628967%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0.328903%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3.018494%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1.463928%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0.954437%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0.590515%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0.197067%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4.597435%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2.140961%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1.136398%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0.716858%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0.432587%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4.597092%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2.210999%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1.190643%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0.730548%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0.431213%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57200" y="5570376"/>
                <a:ext cx="737118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-0.25; age=60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r>
                  <a:rPr lang="zh-TW" altLang="en-US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有提前解約；年提領比率</a:t>
                </a:r>
                <a:r>
                  <a:rPr lang="en-US" altLang="zh-TW" sz="2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5%</a:t>
                </a:r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570376"/>
                <a:ext cx="7371184" cy="707886"/>
              </a:xfrm>
              <a:prstGeom prst="rect">
                <a:avLst/>
              </a:prstGeom>
              <a:blipFill rotWithShape="0">
                <a:blip r:embed="rId3"/>
                <a:stretch>
                  <a:fillRect t="-51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343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與歷史資料之比較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269394"/>
              </p:ext>
            </p:extLst>
          </p:nvPr>
        </p:nvGraphicFramePr>
        <p:xfrm>
          <a:off x="457200" y="1600200"/>
          <a:ext cx="8229599" cy="3510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48650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deferred</a:t>
                      </a:r>
                    </a:p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</a:t>
                      </a:r>
                    </a:p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平均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(MAPE)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4.017923%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3.975159%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2.768167%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2.637608%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3.025477%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3.284867%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17.759522%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21.863357%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27.306810%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23.127535%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23.566256%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22.724696%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19.477221%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19.743790%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19.377164%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16.360220%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19.585988%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18.908876%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3.181479%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1.739133%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0.0000000%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0.710803%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2.547771%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1.635837%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20.836445%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21.552792%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14.878889%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13.904716%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23.726114%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18.979791%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34.339058%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33.788820%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19.838523%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19.168183%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54.299363%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32.286789%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0.007468%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3.167700%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4.555940%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1.873935%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0.318471%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1.984703%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7207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lambda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之公平保費率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226343"/>
              </p:ext>
            </p:extLst>
          </p:nvPr>
        </p:nvGraphicFramePr>
        <p:xfrm>
          <a:off x="1502226" y="1903447"/>
          <a:ext cx="6512768" cy="374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8192"/>
                <a:gridCol w="1628192"/>
                <a:gridCol w="1628192"/>
                <a:gridCol w="1628192"/>
              </a:tblGrid>
              <a:tr h="794362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lambda</a:t>
                      </a:r>
                    </a:p>
                    <a:p>
                      <a:pPr algn="l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2.298889%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2.298889%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1.223602%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2.694397%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2.694397%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1.515770%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2.647533%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2.647533%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1.421356%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2.249451%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2.249451%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1.190643%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1.734467%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1.734467%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1.013489%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1.463928%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1.463928%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0.954437%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2.140961%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2.140961%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1.136398%</a:t>
                      </a:r>
                    </a:p>
                  </a:txBody>
                  <a:tcPr marL="9525" marR="9525" marT="9525" marB="0" anchor="ctr"/>
                </a:tc>
              </a:tr>
              <a:tr h="35305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2.210999%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2.112122%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2.018738%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57199" y="5823444"/>
            <a:ext cx="662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Deferred term=10 ; age=60</a:t>
            </a:r>
            <a:r>
              <a:rPr lang="zh-TW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有提前解約；年提領比率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5%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03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lambda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之公平保費率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279600"/>
              </p:ext>
            </p:extLst>
          </p:nvPr>
        </p:nvGraphicFramePr>
        <p:xfrm>
          <a:off x="314325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7064240" y="6116638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Model M1為例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598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與歷史資料之比較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內容版面配置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94397492"/>
                  </p:ext>
                </p:extLst>
              </p:nvPr>
            </p:nvGraphicFramePr>
            <p:xfrm>
              <a:off x="1331528" y="1903443"/>
              <a:ext cx="6552838" cy="3752203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082134"/>
                    <a:gridCol w="1367281"/>
                    <a:gridCol w="1368071"/>
                    <a:gridCol w="1367281"/>
                    <a:gridCol w="1368071"/>
                  </a:tblGrid>
                  <a:tr h="871843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oMath>
                            </m:oMathPara>
                          </a14:m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Model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-0.25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-0.15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-0.05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TW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平均</a:t>
                          </a: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M1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3.975159%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3.901167%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3.809524%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3.895283%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M2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21.863357%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22.752762%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23.945576%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22.853898%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M3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19.743790%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19.343304%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18.775509%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19.287534%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M4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1.739133%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1.820544%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1.972787%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1.844155%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M5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21.552792%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20.708713%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19.795919%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20.685808%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M6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33.788820%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32.152145%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30.204081%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32.048349%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M7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3.167700%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2.535763%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1.904764%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2.536076%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內容版面配置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94397492"/>
                  </p:ext>
                </p:extLst>
              </p:nvPr>
            </p:nvGraphicFramePr>
            <p:xfrm>
              <a:off x="1331528" y="1903443"/>
              <a:ext cx="6552838" cy="3750908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082134"/>
                    <a:gridCol w="1367281"/>
                    <a:gridCol w="1368071"/>
                    <a:gridCol w="1367281"/>
                    <a:gridCol w="1368071"/>
                  </a:tblGrid>
                  <a:tr h="871843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68580" marR="68580" marT="0" marB="0"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 rotWithShape="0">
                          <a:blip r:embed="rId2"/>
                          <a:stretch>
                            <a:fillRect l="-562" t="-699" r="-505618" b="-3419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-0.25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-0.15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-0.05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30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zh-TW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平均</a:t>
                          </a: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M1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3.975159%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3.901167%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3.809524%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3.895283%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M2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21.863357%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22.752762%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23.945576%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22.853898%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M3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19.743790%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19.343304%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18.775509%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19.287534%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M4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1.739133%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1.820544%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1.972787%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1.844155%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M5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21.552792%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20.708713%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19.795919%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20.685808%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M6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33.788820%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32.152145%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30.204081%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32.048349%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  <a:tr h="41129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M7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3.167700%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2.535763%</a:t>
                          </a:r>
                          <a:endParaRPr lang="zh-TW" sz="1800" kern="10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1.904764%</a:t>
                          </a:r>
                          <a:endParaRPr lang="zh-TW" sz="1800" kern="10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effectLst/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2.536076%</a:t>
                          </a:r>
                          <a:endParaRPr lang="zh-TW" sz="1800" kern="100" dirty="0">
                            <a:effectLst/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19087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是否提前解約的公平保費率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711513"/>
              </p:ext>
            </p:extLst>
          </p:nvPr>
        </p:nvGraphicFramePr>
        <p:xfrm>
          <a:off x="557090" y="1553850"/>
          <a:ext cx="7999080" cy="455314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99408"/>
                <a:gridCol w="1772906"/>
                <a:gridCol w="1987420"/>
                <a:gridCol w="2239346"/>
              </a:tblGrid>
              <a:tr h="895541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是否提前解約</a:t>
                      </a: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Model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有提前解約</a:t>
                      </a: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zh-TW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沒有提前解約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lang="en-US" altLang="zh-TW" sz="20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Option Premium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M1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2.298889%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1.932221%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0.366669%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M2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2.694397%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2.227478%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0.466919%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M3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2.647533%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2.156067%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0.491467%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M4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2.249451%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1.888962%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0.360489%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M5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1.734467%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1.592674%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0.141792%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M6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1.463928%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1.430969%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0.032959%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M7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2.140961%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1.811371%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0.329590%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1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History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2.210999%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1.882782%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0.328217%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06952" y="6276783"/>
                <a:ext cx="566289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Deferred term=10 ; age=60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=−0.25</m:t>
                    </m:r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；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年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提領比率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5%</a:t>
                </a:r>
                <a:endParaRPr lang="zh-TW" altLang="en-US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2" y="6276783"/>
                <a:ext cx="5662897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861" t="-5660" r="-3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3715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不同提領比率的公平保費率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336121"/>
              </p:ext>
            </p:extLst>
          </p:nvPr>
        </p:nvGraphicFramePr>
        <p:xfrm>
          <a:off x="457200" y="1517929"/>
          <a:ext cx="8061648" cy="44909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15412"/>
                <a:gridCol w="2015412"/>
                <a:gridCol w="2015412"/>
                <a:gridCol w="2015412"/>
              </a:tblGrid>
              <a:tr h="4989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     </a:t>
                      </a:r>
                      <a:r>
                        <a:rPr lang="en-US" sz="1400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sz="1800" b="0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sz="14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1.216736%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2.298889%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4.237976%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1.356468%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2.694397%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5.045471%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1.318016%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2.647533%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5.053024%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1.196137%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2.249451%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4.155579%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1.086960%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1.734467%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2.947083%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1.081467%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1.463928%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2.263012%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1.163178%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2.140961%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3.946838%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1.196137%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2.210999%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4.029236%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06952" y="6211669"/>
                <a:ext cx="51242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Deferred term=10 ; age=60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=−0.25</m:t>
                    </m:r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；</m:t>
                    </m:r>
                  </m:oMath>
                </a14:m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提前解約</a:t>
                </a: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2" y="6211669"/>
                <a:ext cx="5124288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51" t="-9836" r="-3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7323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公平保費率的變化量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585112"/>
              </p:ext>
            </p:extLst>
          </p:nvPr>
        </p:nvGraphicFramePr>
        <p:xfrm>
          <a:off x="1203648" y="1517929"/>
          <a:ext cx="6447453" cy="449098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49151"/>
                <a:gridCol w="2149151"/>
                <a:gridCol w="2149151"/>
              </a:tblGrid>
              <a:tr h="49899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     </a:t>
                      </a:r>
                      <a:r>
                        <a:rPr lang="en-US" sz="1400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</a:t>
                      </a:r>
                      <a:r>
                        <a:rPr lang="en-US" sz="1800" b="0" kern="1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sz="1400" b="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0.03</a:t>
                      </a: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0.05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0.05</a:t>
                      </a:r>
                      <a:r>
                        <a:rPr lang="zh-TW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0.07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1.082153%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1.939087%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1.337929%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2.351074%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1.329517%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2.405491%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1.053314%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1.906128%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0.647507%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1.212616%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0.382462%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0.799084%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0.977783%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1.805878%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99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1.014862%</a:t>
                      </a:r>
                      <a:endParaRPr lang="zh-TW" sz="20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1.818237%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306952" y="6211669"/>
                <a:ext cx="51242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Deferred term=10 ; age=60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=−0.25</m:t>
                    </m:r>
                    <m:r>
                      <a:rPr lang="zh-TW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；</m:t>
                    </m:r>
                  </m:oMath>
                </a14:m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提前解約</a:t>
                </a:r>
                <a:endParaRPr lang="zh-TW" altLang="en-US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52" y="6211669"/>
                <a:ext cx="5124288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951" t="-9836" r="-3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0156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不同投保年齡之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GMWB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公平保費率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699795" y="5370321"/>
                <a:ext cx="7277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TW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-0.05; deferred term=1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；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有提前解約；年提領</a:t>
                </a:r>
                <a:r>
                  <a:rPr lang="zh-TW" altLang="en-US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比率</a:t>
                </a:r>
                <a:r>
                  <a:rPr lang="en-US" altLang="zh-TW" sz="2000" dirty="0" smtClean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20%</a:t>
                </a:r>
                <a:endParaRPr lang="zh-TW" altLang="en-US" sz="2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95" y="5370321"/>
                <a:ext cx="7277878" cy="400110"/>
              </a:xfrm>
              <a:prstGeom prst="rect">
                <a:avLst/>
              </a:prstGeom>
              <a:blipFill rotWithShape="0">
                <a:blip r:embed="rId3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86564"/>
              </p:ext>
            </p:extLst>
          </p:nvPr>
        </p:nvGraphicFramePr>
        <p:xfrm>
          <a:off x="457200" y="1323978"/>
          <a:ext cx="8229600" cy="401418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0938"/>
                <a:gridCol w="1370938"/>
                <a:gridCol w="1371931"/>
                <a:gridCol w="1371931"/>
                <a:gridCol w="1371931"/>
                <a:gridCol w="1371931"/>
              </a:tblGrid>
              <a:tr h="754351">
                <a:tc>
                  <a:txBody>
                    <a:bodyPr/>
                    <a:lstStyle/>
                    <a:p>
                      <a:pPr algn="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Age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Model</a:t>
                      </a:r>
                      <a:endParaRPr lang="zh-TW" sz="16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60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65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70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75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80</a:t>
                      </a:r>
                      <a:endParaRPr lang="zh-TW" sz="20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M1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13.0791%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12.6151%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11.9353%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10.9575%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9.5080%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M2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13.0449%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12.6974%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12.0122%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11.1099%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9.5403%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M3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13.1053%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12.6775%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11.9833%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11.0399%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9.5622%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M4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13.1534%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12.6920%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11.9964%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10.9836%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9.4839%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M5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13.0734%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12.5515%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11.7986%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10.7817%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9.2216%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M6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13.1108%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12.5670%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11.7581%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10.6705%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9.0170%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M7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13.2988%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12.7110%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12.0348%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11.1003%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9.6432%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History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13.0325%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12.5517%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11.8474%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10.8421%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9.3851%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8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Realized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13.1094%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12.6755%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11.9778%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11.0275%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9.6666%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050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真實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之比較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57458"/>
              </p:ext>
            </p:extLst>
          </p:nvPr>
        </p:nvGraphicFramePr>
        <p:xfrm>
          <a:off x="457200" y="1600200"/>
          <a:ext cx="8229599" cy="3891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486508"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  <a:p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平均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(MAPE</a:t>
                      </a:r>
                      <a:r>
                        <a:rPr lang="en-US" altLang="zh-TW" sz="1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400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0.2311%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0.4767%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0.3554%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0.6351%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1.6409%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0.6678%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0.4924%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0.1734%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0.2866%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0.7472%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1.3070%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0.6013%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0.0314%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0.0163%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0.0459%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0.1121%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1.0797%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0.2571%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0.3352%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0.1300%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0.1548%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0.3985%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1.8895%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0.5816%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0.2750%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0.9778%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1.4962%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2.2291%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4.6029%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1.9162%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0.0105%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0.8559%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1.8344%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3.2379%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6.7197%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2.5317%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1.4443%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0.2803%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0.4758%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0.6600%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0.2415%</a:t>
                      </a:r>
                      <a:endParaRPr lang="zh-TW" sz="1800" kern="10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0.6204%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0.5866%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0.9764%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1.0892%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1.6812%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2.9124%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1.4492%</a:t>
                      </a:r>
                      <a:endParaRPr lang="zh-TW" sz="18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2546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結論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不論是死亡率的估計或是預測都以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Lee-Carter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系列（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至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M3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）優異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公平保費率部份則以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M1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M4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近似歷史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zh-TW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zh-TW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）歷史資料</a:t>
            </a:r>
            <a:r>
              <a:rPr lang="zh-TW" altLang="en-US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僅考慮</a:t>
            </a:r>
            <a:r>
              <a:rPr lang="en-US" altLang="zh-TW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age-effect</a:t>
            </a:r>
          </a:p>
          <a:p>
            <a:pPr marL="0" indent="0">
              <a:buNone/>
            </a:pPr>
            <a:endParaRPr lang="en-US" altLang="zh-TW" b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zh-TW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zh-TW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zh-TW" altLang="en-US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預測死亡率的比較年份不足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5428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listening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88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23633</TotalTime>
  <Words>2651</Words>
  <Application>Microsoft Office PowerPoint</Application>
  <PresentationFormat>如螢幕大小 (4:3)</PresentationFormat>
  <Paragraphs>850</Paragraphs>
  <Slides>60</Slides>
  <Notes>20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69" baseType="lpstr">
      <vt:lpstr>BiauKai</vt:lpstr>
      <vt:lpstr>新細明體</vt:lpstr>
      <vt:lpstr>標楷體</vt:lpstr>
      <vt:lpstr>Arial</vt:lpstr>
      <vt:lpstr>Calibri</vt:lpstr>
      <vt:lpstr>Cambria Math</vt:lpstr>
      <vt:lpstr>Times New Roman</vt:lpstr>
      <vt:lpstr>Office 佈景主題</vt:lpstr>
      <vt:lpstr>方程式</vt:lpstr>
      <vt:lpstr>分析死亡率模型在評價GLWB保險費用的影響</vt:lpstr>
      <vt:lpstr>大綱</vt:lpstr>
      <vt:lpstr>研究動機</vt:lpstr>
      <vt:lpstr>GLWB介紹</vt:lpstr>
      <vt:lpstr>GLWB</vt:lpstr>
      <vt:lpstr>GLWB之公平保費率</vt:lpstr>
      <vt:lpstr>死亡率介紹</vt:lpstr>
      <vt:lpstr>名詞定義</vt:lpstr>
      <vt:lpstr>PowerPoint 簡報</vt:lpstr>
      <vt:lpstr>中央死亡率m(x,t)資料形式</vt:lpstr>
      <vt:lpstr>文獻探討</vt:lpstr>
      <vt:lpstr>Cairns et al. 2009</vt:lpstr>
      <vt:lpstr>死亡率模型</vt:lpstr>
      <vt:lpstr>Lee, Wang, Huang, 2012</vt:lpstr>
      <vt:lpstr>Renshaw, Haberman, 2006</vt:lpstr>
      <vt:lpstr>張國培, 2012</vt:lpstr>
      <vt:lpstr>死亡率模型參數估計</vt:lpstr>
      <vt:lpstr>Poisson Distribution</vt:lpstr>
      <vt:lpstr>最大概似函數</vt:lpstr>
      <vt:lpstr>Model M1 </vt:lpstr>
      <vt:lpstr>Model M1</vt:lpstr>
      <vt:lpstr>Model M1 </vt:lpstr>
      <vt:lpstr>遞迴公式</vt:lpstr>
      <vt:lpstr>最大概似估計法</vt:lpstr>
      <vt:lpstr>Model M2 </vt:lpstr>
      <vt:lpstr>Model M2 </vt:lpstr>
      <vt:lpstr>Model M3 </vt:lpstr>
      <vt:lpstr>Model M3 </vt:lpstr>
      <vt:lpstr>Model M4 </vt:lpstr>
      <vt:lpstr>Model M4 </vt:lpstr>
      <vt:lpstr>Model M4 </vt:lpstr>
      <vt:lpstr>Model M5 </vt:lpstr>
      <vt:lpstr>Model M6 </vt:lpstr>
      <vt:lpstr>Model M7 </vt:lpstr>
      <vt:lpstr>死亡率預測</vt:lpstr>
      <vt:lpstr>時間序列模型</vt:lpstr>
      <vt:lpstr>Stationary</vt:lpstr>
      <vt:lpstr>模型配適</vt:lpstr>
      <vt:lpstr>預測死亡率 Lee-Carter Model M1</vt:lpstr>
      <vt:lpstr>預測死亡率 CBD Model M4</vt:lpstr>
      <vt:lpstr>模型比較</vt:lpstr>
      <vt:lpstr>模型比較 MAPE and BIC</vt:lpstr>
      <vt:lpstr>比較結果</vt:lpstr>
      <vt:lpstr>比較結果</vt:lpstr>
      <vt:lpstr>公平保費率分析比較</vt:lpstr>
      <vt:lpstr>不同投保年齡之公平保費率</vt:lpstr>
      <vt:lpstr>與歷史資料之比較</vt:lpstr>
      <vt:lpstr>期望存活率與公平保費率</vt:lpstr>
      <vt:lpstr>不同遞延期之公平保費率</vt:lpstr>
      <vt:lpstr>與歷史資料之比較</vt:lpstr>
      <vt:lpstr>不同lambda之公平保費率</vt:lpstr>
      <vt:lpstr>不同lambda之公平保費率</vt:lpstr>
      <vt:lpstr>與歷史資料之比較</vt:lpstr>
      <vt:lpstr>是否提前解約的公平保費率</vt:lpstr>
      <vt:lpstr>不同提領比率的公平保費率</vt:lpstr>
      <vt:lpstr>公平保費率的變化量</vt:lpstr>
      <vt:lpstr>不同投保年齡之GMWB公平保費率</vt:lpstr>
      <vt:lpstr>與真實資料之比較</vt:lpstr>
      <vt:lpstr>結論</vt:lpstr>
      <vt:lpstr>Thank you for listening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 ChienHsun Hsu</dc:creator>
  <cp:lastModifiedBy>JasonHsu</cp:lastModifiedBy>
  <cp:revision>290</cp:revision>
  <dcterms:created xsi:type="dcterms:W3CDTF">2014-01-25T12:34:30Z</dcterms:created>
  <dcterms:modified xsi:type="dcterms:W3CDTF">2014-07-03T04:04:36Z</dcterms:modified>
</cp:coreProperties>
</file>